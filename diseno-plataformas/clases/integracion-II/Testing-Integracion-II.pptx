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9"/>
    <p:sldId id="258" r:id="rId10"/>
    <p:sldId id="259" r:id="rId11"/>
    <p:sldId id="260" r:id="rId12"/>
    <p:sldId id="261" r:id="rId13"/>
    <p:sldId id="262" r:id="rId14"/>
    <p:sldId id="263" r:id="rId15"/>
    <p:sldId id="264" r:id="rId16"/>
    <p:sldId id="265" r:id="rId17"/>
    <p:sldId id="266" r:id="rId18"/>
    <p:sldId id="267" r:id="rId19"/>
    <p:sldId id="268" r:id="rId20"/>
    <p:sldId id="269" r:id="rId21"/>
    <p:sldId id="270" r:id="rId22"/>
    <p:sldId id="271" r:id="rId23"/>
    <p:sldId id="272" r:id="rId24"/>
    <p:sldId id="273" r:id="rId25"/>
    <p:sldId id="274" r:id="rId26"/>
    <p:sldId id="275" r:id="rId27"/>
    <p:sldId id="276" r:id="rId28"/>
    <p:sldId id="277" r:id="rId29"/>
    <p:sldId id="278" r:id="rId30"/>
    <p:sldId id="279" r:id="rId31"/>
    <p:sldId id="280" r:id="rId32"/>
    <p:sldId id="281" r:id="rId33"/>
    <p:sldId id="282" r:id="rId3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notesMaster" Target="notesMasters/notesMaster1.xml"/><Relationship Id="rId9" Type="http://schemas.openxmlformats.org/officeDocument/2006/relationships/slide" Target="slides/slide2.xml"/><Relationship Id="rId10" Type="http://schemas.openxmlformats.org/officeDocument/2006/relationships/slide" Target="slides/slide3.xml"/><Relationship Id="rId11" Type="http://schemas.openxmlformats.org/officeDocument/2006/relationships/slide" Target="slides/slide4.xml"/><Relationship Id="rId12" Type="http://schemas.openxmlformats.org/officeDocument/2006/relationships/slide" Target="slides/slide5.xml"/><Relationship Id="rId13" Type="http://schemas.openxmlformats.org/officeDocument/2006/relationships/slide" Target="slides/slide6.xml"/><Relationship Id="rId14" Type="http://schemas.openxmlformats.org/officeDocument/2006/relationships/slide" Target="slides/slide7.xml"/><Relationship Id="rId15" Type="http://schemas.openxmlformats.org/officeDocument/2006/relationships/slide" Target="slides/slide8.xml"/><Relationship Id="rId16" Type="http://schemas.openxmlformats.org/officeDocument/2006/relationships/slide" Target="slides/slide9.xml"/><Relationship Id="rId17" Type="http://schemas.openxmlformats.org/officeDocument/2006/relationships/slide" Target="slides/slide10.xml"/><Relationship Id="rId18" Type="http://schemas.openxmlformats.org/officeDocument/2006/relationships/slide" Target="slides/slide11.xml"/><Relationship Id="rId19" Type="http://schemas.openxmlformats.org/officeDocument/2006/relationships/slide" Target="slides/slide12.xml"/><Relationship Id="rId20" Type="http://schemas.openxmlformats.org/officeDocument/2006/relationships/slide" Target="slides/slide13.xml"/><Relationship Id="rId21" Type="http://schemas.openxmlformats.org/officeDocument/2006/relationships/slide" Target="slides/slide14.xml"/><Relationship Id="rId22" Type="http://schemas.openxmlformats.org/officeDocument/2006/relationships/slide" Target="slides/slide15.xml"/><Relationship Id="rId23" Type="http://schemas.openxmlformats.org/officeDocument/2006/relationships/slide" Target="slides/slide16.xml"/><Relationship Id="rId24" Type="http://schemas.openxmlformats.org/officeDocument/2006/relationships/slide" Target="slides/slide17.xml"/><Relationship Id="rId25" Type="http://schemas.openxmlformats.org/officeDocument/2006/relationships/slide" Target="slides/slide18.xml"/><Relationship Id="rId26" Type="http://schemas.openxmlformats.org/officeDocument/2006/relationships/slide" Target="slides/slide19.xml"/><Relationship Id="rId27" Type="http://schemas.openxmlformats.org/officeDocument/2006/relationships/slide" Target="slides/slide20.xml"/><Relationship Id="rId28" Type="http://schemas.openxmlformats.org/officeDocument/2006/relationships/slide" Target="slides/slide21.xml"/><Relationship Id="rId29" Type="http://schemas.openxmlformats.org/officeDocument/2006/relationships/slide" Target="slides/slide22.xml"/><Relationship Id="rId30" Type="http://schemas.openxmlformats.org/officeDocument/2006/relationships/slide" Target="slides/slide23.xml"/><Relationship Id="rId31" Type="http://schemas.openxmlformats.org/officeDocument/2006/relationships/slide" Target="slides/slide24.xml"/><Relationship Id="rId32" Type="http://schemas.openxmlformats.org/officeDocument/2006/relationships/slide" Target="slides/slide25.xml"/><Relationship Id="rId33" Type="http://schemas.openxmlformats.org/officeDocument/2006/relationships/slide" Target="slides/slide26.xml"/><Relationship Id="rId34" Type="http://schemas.openxmlformats.org/officeDocument/2006/relationships/slide" Target="slides/slide2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p="http://schemas.openxmlformats.org/presentationml/2006/main" xmlns:r="http://schemas.openxmlformats.org/officeDocument/2006/relationships">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7200"/>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7200"/>
          </a:xfrm>
          <a:prstGeom prst="rect">
            <a:avLst/>
          </a:prstGeom>
        </p:spPr>
        <p:txBody>
          <a:bodyPr vert="horz" lIns="91440" tIns="45720" rIns="91440" bIns="45720" rtlCol="0"/>
          <a:lstStyle>
            <a:lvl1pPr algn="r">
              <a:defRPr sz="1200"/>
            </a:lvl1pPr>
          </a:lstStyle>
          <a:p>
            <a:fld id="{0F89C1C7-3DCD-1040-A9CF-14679D8B5DDD}" type="datetimeFigureOut">
              <a:rPr lang="en-US" smtClean="0"/>
              <a:t>10/17/16</a:t>
            </a:fld>
            <a:endParaRPr lang="en-US"/>
          </a:p>
        </p:txBody>
      </p:sp>
      <p:sp>
        <p:nvSpPr>
          <p:cNvPr id="4" name="Slide Image Placeholder 3"/>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6" name="Footer Placeholder 5"/>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7200"/>
          </a:xfrm>
          <a:prstGeom prst="rect">
            <a:avLst/>
          </a:prstGeom>
        </p:spPr>
        <p:txBody>
          <a:bodyPr vert="horz" lIns="91440" tIns="45720" rIns="91440" bIns="45720" rtlCol="0" anchor="b"/>
          <a:lstStyle>
            <a:lvl1pPr algn="r">
              <a:defRPr sz="1200"/>
            </a:lvl1pPr>
          </a:lstStyle>
          <a:p>
            <a:fld id="{BB5E49A5-4136-284D-997B-48E1D791AD67}" type="slidenum">
              <a:rPr lang="en-US" smtClean="0"/>
              <a:t>‹#›</a:t>
            </a:fld>
            <a:endParaRPr lang="en-US"/>
          </a:p>
        </p:txBody>
      </p:sp>
    </p:spTree>
    <p:extLst>
      <p:ext uri="{BB962C8B-B14F-4D97-AF65-F5344CB8AC3E}">
        <p14:creationId xmlns:p14="http://schemas.microsoft.com/office/powerpoint/2010/main" val="2623252185"/>
      </p:ext>
    </p:extLst>
  </p:cSld>
  <p:clrMap bg1="lt1" tx1="dk1" bg2="lt2" tx2="dk2" accent1="accent1" accent2="accent2" accent3="accent3" accent4="accent4" accent5="accent5" accent6="accent6" hlink="hlink" folHlink="folHlink"/>
  <p:notesStyle>
    <a:lvl1pPr marL="0" algn="l" defTabSz="457200" rtl="0" eaLnBrk="1" latinLnBrk="0" hangingPunct="1">
      <a:defRPr sz="1200" kern="1200">
        <a:solidFill>
          <a:schemeClr val="tx1"/>
        </a:solidFill>
        <a:latin typeface="+mn-lt"/>
        <a:ea typeface="+mn-ea"/>
        <a:cs typeface="+mn-cs"/>
      </a:defRPr>
    </a:lvl1pPr>
    <a:lvl2pPr marL="457200" algn="l" defTabSz="457200" rtl="0" eaLnBrk="1" latinLnBrk="0" hangingPunct="1">
      <a:defRPr sz="1200" kern="1200">
        <a:solidFill>
          <a:schemeClr val="tx1"/>
        </a:solidFill>
        <a:latin typeface="+mn-lt"/>
        <a:ea typeface="+mn-ea"/>
        <a:cs typeface="+mn-cs"/>
      </a:defRPr>
    </a:lvl2pPr>
    <a:lvl3pPr marL="914400" algn="l" defTabSz="457200" rtl="0" eaLnBrk="1" latinLnBrk="0" hangingPunct="1">
      <a:defRPr sz="1200" kern="1200">
        <a:solidFill>
          <a:schemeClr val="tx1"/>
        </a:solidFill>
        <a:latin typeface="+mn-lt"/>
        <a:ea typeface="+mn-ea"/>
        <a:cs typeface="+mn-cs"/>
      </a:defRPr>
    </a:lvl3pPr>
    <a:lvl4pPr marL="1371600" algn="l" defTabSz="457200" rtl="0" eaLnBrk="1" latinLnBrk="0" hangingPunct="1">
      <a:defRPr sz="1200" kern="1200">
        <a:solidFill>
          <a:schemeClr val="tx1"/>
        </a:solidFill>
        <a:latin typeface="+mn-lt"/>
        <a:ea typeface="+mn-ea"/>
        <a:cs typeface="+mn-cs"/>
      </a:defRPr>
    </a:lvl4pPr>
    <a:lvl5pPr marL="1828800" algn="l" defTabSz="457200" rtl="0" eaLnBrk="1" latinLnBrk="0" hangingPunct="1">
      <a:defRPr sz="1200" kern="1200">
        <a:solidFill>
          <a:schemeClr val="tx1"/>
        </a:solidFill>
        <a:latin typeface="+mn-lt"/>
        <a:ea typeface="+mn-ea"/>
        <a:cs typeface="+mn-cs"/>
      </a:defRPr>
    </a:lvl5pPr>
    <a:lvl6pPr marL="2286000" algn="l" defTabSz="457200" rtl="0" eaLnBrk="1" latinLnBrk="0" hangingPunct="1">
      <a:defRPr sz="1200" kern="1200">
        <a:solidFill>
          <a:schemeClr val="tx1"/>
        </a:solidFill>
        <a:latin typeface="+mn-lt"/>
        <a:ea typeface="+mn-ea"/>
        <a:cs typeface="+mn-cs"/>
      </a:defRPr>
    </a:lvl6pPr>
    <a:lvl7pPr marL="2743200" algn="l" defTabSz="457200" rtl="0" eaLnBrk="1" latinLnBrk="0" hangingPunct="1">
      <a:defRPr sz="1200" kern="1200">
        <a:solidFill>
          <a:schemeClr val="tx1"/>
        </a:solidFill>
        <a:latin typeface="+mn-lt"/>
        <a:ea typeface="+mn-ea"/>
        <a:cs typeface="+mn-cs"/>
      </a:defRPr>
    </a:lvl7pPr>
    <a:lvl8pPr marL="3200400" algn="l" defTabSz="457200" rtl="0" eaLnBrk="1" latinLnBrk="0" hangingPunct="1">
      <a:defRPr sz="1200" kern="1200">
        <a:solidFill>
          <a:schemeClr val="tx1"/>
        </a:solidFill>
        <a:latin typeface="+mn-lt"/>
        <a:ea typeface="+mn-ea"/>
        <a:cs typeface="+mn-cs"/>
      </a:defRPr>
    </a:lvl8pPr>
    <a:lvl9pPr marL="3657600" algn="l" defTabSz="4572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_rels/notesSlide2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2.xml"/></Relationships>
</file>

<file path=ppt/notesSlides/_rels/notesSlide2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3.xml"/></Relationships>
</file>

<file path=ppt/notesSlides/_rels/notesSlide2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4.xml"/></Relationships>
</file>

<file path=ppt/notesSlides/_rels/notesSlide2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5.xml"/></Relationships>
</file>

<file path=ppt/notesSlides/_rels/notesSlide2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6.xml"/></Relationships>
</file>

<file path=ppt/notesSlides/_rels/notesSlide2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7.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presentación de la clase y continuidad con «Testing de integración».</a:t>
            </a:r>
          </a:p>
          <a:p>
            <a:r>
              <a:t>CONTEXTO: seguimos con el proyecto nave + asteroides (Crashteroids, basado en el tutorial de Kodeco) y su TestSuite de 7 tests de Play Mode.</a:t>
            </a:r>
          </a:p>
          <a:p>
            <a:r>
              <a:t>OBJETIVO DE LA CLASE: no se trata de escribir más tests por escribirlos, sino de pasar de una colección de tests a una estrategia: qué probar, cómo aislar cada test, cómo saber si los resultados son confiables y cómo organizar la suite.</a:t>
            </a:r>
          </a:p>
          <a:p>
            <a:r>
              <a:t>IDEA PARA ABRIR: una suite en verde no es lo mismo que un juego sin defectos. Es uno de los 7 principios del testing (Unidad I): las pruebas muestran la presencia de defectos, no su ausencia.</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el punto de partida; qué cubren los 7 tests y qué dejan afuera.</a:t>
            </a:r>
          </a:p>
          <a:p>
            <a:r>
              <a:t>REPASO (no reexplicar): en la clase anterior se vieron niveles vs. tipos de prueba, que Play Mode es un modo de ejecución y no un nivel, la clasificación de estos 7 tests y dos límites: el texto del HUD no se verifica y las esperas son fijas.</a:t>
            </a:r>
          </a:p>
          <a:p>
            <a:r>
              <a:t>TEORÍA: una suite se evalúa por lo que deja afuera, no solo por lo que pasa. Tres preguntas para cualquier suite: ¿prueba lo que NO debe pasar? ¿prueba los límites? ¿cada test es independiente de los demás?</a:t>
            </a:r>
          </a:p>
          <a:p>
            <a:r>
              <a:t>ACLARACIONES — huecos que abre esta clase:</a:t>
            </a:r>
          </a:p>
          <a:p>
            <a:r>
              <a:t>(1) Los 7 son casos positivos: no hay negativos ni bordes.</a:t>
            </a:r>
          </a:p>
          <a:p>
            <a:r>
              <a:t>(2) El test 03 parte de un Game Over falso: pone isGameOver = true a mano, un estado que el juego nunca produce así.</a:t>
            </a:r>
          </a:p>
          <a:p>
            <a:r>
              <a:t>(3) El TearDown solo destruye el prefab Game: asteroides y láseres quedan en escena para el test siguiente.</a:t>
            </a:r>
          </a:p>
          <a:p>
            <a:r>
              <a:t>(4) Ningún test ejercita la entrada del jugador.</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los seis objetivos, en el mismo orden que los bloques.</a:t>
            </a:r>
          </a:p>
          <a:p>
            <a:r>
              <a:t>ACLARACIONES — relación con los bloques: Bloque 1 → objetivo 1 (diseño de casos). Bloque 2 → objetivos 2 y 3 (fixtures y tests frágiles). Bloque 3 → objetivo 4 (dependencias y dobles de prueba). Bloque 4 → objetivos 5 y 6 (cobertura, regresión y organización de la suite).</a:t>
            </a:r>
          </a:p>
          <a:p>
            <a:r>
              <a:t>TEORÍA: todos apuntan a una misma idea: la confianza en una suite depende de qué casos tiene, de que sus resultados sean reproducibles y de que se interprete bien lo que mide.</a:t>
            </a:r>
          </a:p>
          <a:p>
            <a:r>
              <a:t>RELACIÓN CON EL PROGRAMA: Unidad I (partición de equivalencia, valores frontera, testing negativo, falsos positivos y negativos), Unidad II (regresión vs. retesting, casos de prueba, tickets) y Unidad III (Unity Test Framework, pruebas manuales vs. automatizadas).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la estructura de la clase.</a:t>
            </a:r>
          </a:p>
          <a:p>
            <a:r>
              <a:t>ACLARACIONES: cada bloque sigue el mismo patrón: concepto → ejemplo simple → aplicación al juego → actividad con resolución.</a:t>
            </a:r>
          </a:p>
          <a:p>
            <a:r>
              <a:t>Las resoluciones se hacen en plenario inmediatamente después de cada actividad, para corregir los errores mientras la consigna está fresca.</a:t>
            </a:r>
          </a:p>
          <a:p>
            <a:r>
              <a:t>Las actividades 1, 2 y 4 son sin código. La 3 es de lectura y análisis de un test real del proyecto.</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el problema que motiva la clase.</a:t>
            </a:r>
          </a:p>
          <a:p>
            <a:r>
              <a:t>TEORÍA: «la suite pasa» solo dice que los casos que existen se comportan como se esperaba. Si no hay un caso para una situación, la suite no opina sobre ella. Por eso la pregunta correcta no es «¿pasa?» sino «¿qué situaciones prueba?».</a:t>
            </a:r>
          </a:p>
          <a:p>
            <a:r>
              <a:t>ACLARACIONES — las cuatro preguntas son el mapa de la clase:</a:t>
            </a:r>
          </a:p>
          <a:p>
            <a:r>
              <a:t>1 → Actividad 3 (INT-AST-14: reinicio con asteroides en pantalla).</a:t>
            </a:r>
          </a:p>
          <a:p>
            <a:r>
              <a:t>2 → Actividad 2 (INT-AST-13: doble impacto).</a:t>
            </a:r>
          </a:p>
          <a:p>
            <a:r>
              <a:t>3 → Actividad 1 (INT-AST-11: choque entre asteroides).</a:t>
            </a:r>
          </a:p>
          <a:p>
            <a:r>
              <a:t>4 → Bloque 4 (cobertura).</a:t>
            </a:r>
          </a:p>
          <a:p>
            <a:r>
              <a:t>Respuesta a la pregunta de la diapositiva: ninguna de las cuatro está cubierta hoy.</a:t>
            </a:r>
          </a:p>
          <a:p>
            <a:r>
              <a:t>DATOS VERIFICADOS: la suite de 7 tests pasa completa (7/7) en Unity 6000.3.11f1 en batchmode. Cobertura regenerada en una carpeta limpia: 73,6 % de las líneas de GameAssembly; Game.cs, 100 %.</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los tres tipos de caso y cómo se trasladan de un método a una interacción.</a:t>
            </a:r>
          </a:p>
          <a:p>
            <a:r>
              <a:t>TEORÍA:</a:t>
            </a:r>
          </a:p>
          <a:p>
            <a:r>
              <a:t>- Positivo: entrada válida → comportamiento esperado.</a:t>
            </a:r>
          </a:p>
          <a:p>
            <a:r>
              <a:t>- Negativo (testing negativo, Unidad I): entrada inválida o no prevista → el sistema la ignora o la rechaza sin romperse.</a:t>
            </a:r>
          </a:p>
          <a:p>
            <a:r>
              <a:t>- Borde: valores en el límite de una partición (análisis de valores frontera): justo antes, justo en y justo después del límite.</a:t>
            </a:r>
          </a:p>
          <a:p>
            <a:r>
              <a:t>Estas técnicas nacieron para métodos con entradas numéricas. En integración se aplican a interacciones: qué colisiona con qué, cuándo y cuántas veces.</a:t>
            </a:r>
          </a:p>
          <a:p>
            <a:r>
              <a:t>ACLARACIONES: error frecuente: «caso negativo» NO significa «test que tiene que fallar». El test de un caso negativo PASA cuando el sistema se comporta bien ante la entrada indebida. Ejemplo: un asteroide que choca con otro no debe dar Game Over; si no da Game Over, el test pasa.</a:t>
            </a:r>
          </a:p>
          <a:p>
            <a:r>
              <a:t>EN EL JUEGO: Asteroid.cs 54 decide el Game Over comparando el nombre del objeto con «ShipModel». Esa condición define las particiones: «choques con la nave» y «choques con cualquier otra cosa».</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dónde buscar bordes cuando lo que se prueba es una interacción.</a:t>
            </a:r>
          </a:p>
          <a:p>
            <a:r>
              <a:t>TEORÍA — en integración, el límite no es solo un número:</a:t>
            </a:r>
          </a:p>
          <a:p>
            <a:r>
              <a:t>- Valor / posición: el umbral de un dato (y &lt; −5).</a:t>
            </a:r>
          </a:p>
          <a:p>
            <a:r>
              <a:t>- Tiempo: intervalos y cooldowns (0,4 s).</a:t>
            </a:r>
          </a:p>
          <a:p>
            <a:r>
              <a:t>- Cantidad / simultaneidad: 0, 1 o 2 eventos en el mismo instante.</a:t>
            </a:r>
          </a:p>
          <a:p>
            <a:r>
              <a:t>- Repetición: llamar dos veces algo pensado para una.</a:t>
            </a:r>
          </a:p>
          <a:p>
            <a:r>
              <a:t>- Orden: eventos que llegan en una secuencia inesperada.</a:t>
            </a:r>
          </a:p>
          <a:p>
            <a:r>
              <a:t>ACLARACIONES: la simultaneidad es clave en Unity porque Destroy() no destruye en el acto: marca el objeto y lo elimina después del ciclo de actualización. Todas las colisiones del mismo paso de física se procesan antes, por eso dos láseres pueden «ver» vivo al mismo asteroide.</a:t>
            </a:r>
          </a:p>
          <a:p>
            <a:r>
              <a:t>Algunos bordes no tienen respuesta en el código: la decide el diseño (¿un láser que toca dos asteroides suma 1 o 2?). Quien prueba no la inventa: la registra como pregunta.</a:t>
            </a:r>
          </a:p>
          <a:p>
            <a:r>
              <a:t>DEMO SUGERIDA: en el Editor, pausar y avanzar frame a frame (botón Step) mientras dos láseres llegan a un asteroide.</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la ficha de 8 campos que se usa en todas las actividades.</a:t>
            </a:r>
          </a:p>
          <a:p>
            <a:r>
              <a:t>TEORÍA: amplía la ficha de caso de prueba de la Unidad II (identificador, precondiciones, pasos, datos, resultado esperado) con tres campos propios de integración:</a:t>
            </a:r>
          </a:p>
          <a:p>
            <a:r>
              <a:t>- Componentes: qué piezas reales participan.</a:t>
            </a:r>
          </a:p>
          <a:p>
            <a:r>
              <a:t>- Bug que detecta: para qué existe el caso. Si no se puede completar, probablemente el caso no aporta.</a:t>
            </a:r>
          </a:p>
          <a:p>
            <a:r>
              <a:t>- ¿Por qué integración?: qué costura (conexión entre componentes) prueba.</a:t>
            </a:r>
          </a:p>
          <a:p>
            <a:r>
              <a:t>ACLARACIONES: el ejemplo es un caso negativo. Los asteroides aparecen en una x aleatoria entre −8 y 8 (Spawner.cs 101–107), así que el choque entre asteroides es posible en el juego real.</a:t>
            </a:r>
          </a:p>
          <a:p>
            <a:r>
              <a:t>DATO VERIFICADO: en los prefabs, los cuatro asteroides tienen Rigidbody dinámico sin gravedad y BoxCollider que no es trigger, así que el choque genera OnCollisionEnter. Sin Rigidbody en al menos uno de los dos objetos no habría evento de colisión y el caso no probaría nada.</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diseñar casos positivos y negativos sin duplicar la suite actual.</a:t>
            </a:r>
          </a:p>
          <a:p>
            <a:r>
              <a:t>CÓMO GUIAR: para encontrar negativos, preguntar «¿qué NO debería pasar en este flujo?». Para encontrar positivos nuevos, preguntar «¿qué efecto de este flujo no verifica nadie hoy?».</a:t>
            </a:r>
          </a:p>
          <a:p>
            <a:r>
              <a:t>RESULTADO ESPERADO: 6 fichas completas, 2 por flujo.</a:t>
            </a:r>
          </a:p>
          <a:p>
            <a:r>
              <a:t>PREGUNTAS PARA LA DISCUSIÓN: ¿un caso negativo necesita datos de prueba especiales? ¿Un positivo nuevo aporta más que agregar otro assert a un test existente?</a:t>
            </a:r>
          </a:p>
          <a:p>
            <a:r>
              <a:t>La resolución está en la diapositiva siguiente.</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la resolución de la Actividad 1.</a:t>
            </a:r>
          </a:p>
          <a:p>
            <a:r>
              <a:t>PUNTOS A REMARCAR:</a:t>
            </a:r>
          </a:p>
          <a:p>
            <a:r>
              <a:t>(1) El flujo B ya tiene positivos (02 y 04). Si un grupo propone «el Game Over muestra el texto de Game Over» (gameOverText, Game.cs 64), es un positivo válido.</a:t>
            </a:r>
          </a:p>
          <a:p>
            <a:r>
              <a:t>(2) INT-AST-08 reemplaza con ventaja al 03: el 03 simula el Game Over con isGameOver = true, un estado artificial; el 08 llega al Game Over por el camino real (un choque), como un jugador.</a:t>
            </a:r>
          </a:p>
          <a:p>
            <a:r>
              <a:t>(3) INT-AST-10 necesita un objeto que no existe en el juego (un cubo con collider): es el primer ejemplo de dato de prueba artificial, un «dummy» (se retoma en el Bloque 3).</a:t>
            </a:r>
          </a:p>
          <a:p>
            <a:r>
              <a:t>(4) El caso C− (llamar a NewGame con una partida en curso) conecta con INT-AST-15.</a:t>
            </a:r>
          </a:p>
          <a:p>
            <a:r>
              <a:t>DATOS VERIFICADOS: el prefab Laser tiene Rigidbody dinámico y BoxCollider, así que alcanza con un cubo con collider para que ocurra OnCollisionEnter. El ScoreText está dentro del prefab Game (UICanvas), así que INT-AST-09 se puede automatizar sin cambiar el código del juego.</a:t>
            </a:r>
          </a:p>
        </p:txBody>
      </p:sp>
      <p:sp>
        <p:nvSpPr>
          <p:cNvPr id="4" name="Slide Number Placeholder 3"/>
          <p:cNvSpPr>
            <a:spLocks noGrp="1"/>
          </p:cNvSpPr>
          <p:nvPr>
            <p:ph type="sldNum" idx="5" sz="quarter"/>
          </p:nvPr>
        </p:nvSpPr>
        <p:spPr/>
      </p:sp>
    </p:spTree>
  </p:cSld>
  <p:clrMapOvr>
    <a:masterClrMapping/>
  </p:clrMapOvr>
</p:notes>
</file>

<file path=ppt/notesSlides/notesSlide1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aplicar el análisis de valores frontera a interacciones entre componentes.</a:t>
            </a:r>
          </a:p>
          <a:p>
            <a:r>
              <a:t>CÓMO GUIAR: pedir valores concretos (−4,99; −5,00; −5,01), no «valores cercanos al límite». Para la dimensión tiempo, recordar que el cooldown del disparo es de 0,4 s.</a:t>
            </a:r>
          </a:p>
          <a:p>
            <a:r>
              <a:t>RESULTADO ESPERADO: 5 filas con valores concretos y al menos 2 marcadas con ⚠.</a:t>
            </a:r>
          </a:p>
          <a:p>
            <a:r>
              <a:t>PREGUNTAS PARA LA DISCUSIÓN: ¿qué diferencia hay entre un borde que se responde leyendo el código (y = −5) y uno que requiere una decisión de diseño (un láser contra dos asteroides)? ¿Quién decide el resultado esperado de una fila ⚠? Respuesta: el diseño o el responsable del producto; quien prueba lo registra como pregunta.</a:t>
            </a:r>
          </a:p>
        </p:txBody>
      </p:sp>
      <p:sp>
        <p:nvSpPr>
          <p:cNvPr id="4" name="Slide Number Placeholder 3"/>
          <p:cNvSpPr>
            <a:spLocks noGrp="1"/>
          </p:cNvSpPr>
          <p:nvPr>
            <p:ph type="sldNum" idx="5" sz="quarter"/>
          </p:nvPr>
        </p:nvSpPr>
        <p:spPr/>
      </p:sp>
    </p:spTree>
  </p:cSld>
  <p:clrMapOvr>
    <a:masterClrMapping/>
  </p:clrMapOvr>
</p:notes>
</file>

<file path=ppt/notesSlides/notesSlide1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la resolución de la Actividad 2 y los resultados reales de dos casos borde.</a:t>
            </a:r>
          </a:p>
          <a:p>
            <a:r>
              <a:t>TEORÍA: el resultado esperado sale de la especificación o del diseño, no de lo que hace el código hoy. Si la especificación no lo dice, el caso queda pendiente y se registra la pregunta; no se resuelve por inferencia.</a:t>
            </a:r>
          </a:p>
          <a:p>
            <a:r>
              <a:t>ACLARACIONES POR FILA: Valor: la condición es estricta (y &lt; −5), así que en −5,00 el asteroide sigue vivo. Tiempo: hoy no se puede automatizar porque la regla del cooldown depende del teclado (ver Bloque 3).</a:t>
            </a:r>
          </a:p>
          <a:p>
            <a:r>
              <a:t>RESULTADOS REALES (Unity 6000.3.11f1, batchmode, Assets/Tests/IntegrationHypothesesTests.cs):</a:t>
            </a:r>
          </a:p>
          <a:p>
            <a:r>
              <a:t>- INT-AST-13: FALLA con «InvalidOperationException: Trying to release an object that has already been released to the pool» en Laser.cs:52. En una corrida de diagnóstico que ignoraba la excepción, el puntaje quedó en 2. Causa: los dos OnCollisionEnter se ejecutan antes de que Destroy se haga efectivo.</a:t>
            </a:r>
          </a:p>
          <a:p>
            <a:r>
              <a:t>- INT-AST-15: FALLA. 5 asteroides en 2,1 s con una llamada a NewGame; 8 con dos llamadas seguidas (con la nave alejada para evitar un Game Over). Causa: StartCoroutine sobre el mismo IEnumerator (Spawner.cs 49–62).</a:t>
            </a:r>
          </a:p>
        </p:txBody>
      </p:sp>
      <p:sp>
        <p:nvSpPr>
          <p:cNvPr id="4" name="Slide Number Placeholder 3"/>
          <p:cNvSpPr>
            <a:spLocks noGrp="1"/>
          </p:cNvSpPr>
          <p:nvPr>
            <p:ph type="sldNum" idx="5" sz="quarter"/>
          </p:nvPr>
        </p:nvSpPr>
        <p:spPr/>
      </p:sp>
    </p:spTree>
  </p:cSld>
  <p:clrMapOvr>
    <a:masterClrMapping/>
  </p:clrMapOvr>
</p:notes>
</file>

<file path=ppt/notesSlides/notesSlide1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qué es una fixture y por qué la suite actual no aísla los tests.</a:t>
            </a:r>
          </a:p>
          <a:p>
            <a:r>
              <a:t>TEORÍA: una fixture es el estado conocido desde el que arranca cada test (SetUp) más la limpieza al terminar (TearDown). Su objetivo es el aislamiento: cada test tiene que poder correr solo y en cualquier orden con el mismo resultado. Si un test depende de lo que dejó otro, un fallo puede aparecer o desaparecer según el orden de ejecución.</a:t>
            </a:r>
          </a:p>
          <a:p>
            <a:r>
              <a:t>Los datos de prueba son valores y objetos preparados a propósito, y deben ser reproducibles: si hay azar, se controla con una semilla.</a:t>
            </a:r>
          </a:p>
          <a:p>
            <a:r>
              <a:t>ACLARACIONES — los tres problemas de la suite actual:</a:t>
            </a:r>
          </a:p>
          <a:p>
            <a:r>
              <a:t>(1) Objetos que sobreviven: Spawner.SpawnAsteroid y Ship.SpawnLaser usan Instantiate sin padre, así que quedan como objetos raíz y el TearDown (que solo destruye el prefab Game) no los alcanza.</a:t>
            </a:r>
          </a:p>
          <a:p>
            <a:r>
              <a:t>(2) Estado estático: Game.instance es static; hasta que corre el Start() del test nuevo, apunta al Game destruido del test anterior.</a:t>
            </a:r>
          </a:p>
          <a:p>
            <a:r>
              <a:t>(3) Azar: el Spawner usa Random.Range sin semilla.</a:t>
            </a:r>
          </a:p>
          <a:p>
            <a:r>
              <a:t>Su efecto concreto depende del orden de ejecución (ver la diapositiva de tests frágiles).</a:t>
            </a:r>
          </a:p>
        </p:txBody>
      </p:sp>
      <p:sp>
        <p:nvSpPr>
          <p:cNvPr id="4" name="Slide Number Placeholder 3"/>
          <p:cNvSpPr>
            <a:spLocks noGrp="1"/>
          </p:cNvSpPr>
          <p:nvPr>
            <p:ph type="sldNum" idx="5" sz="quarter"/>
          </p:nvPr>
        </p:nvSpPr>
        <p:spPr/>
      </p:sp>
    </p:spTree>
  </p:cSld>
  <p:clrMapOvr>
    <a:masterClrMapping/>
  </p:clrMapOvr>
</p:notes>
</file>

<file path=ppt/notesSlides/notesSlide1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una fixture que resuelve los tres problemas de la diapositiva anterior.</a:t>
            </a:r>
          </a:p>
          <a:p>
            <a:r>
              <a:t>TEORÍA: [UnitySetUp] y [UnityTearDown] son la versión de SetUp y TearDown del Unity Test Framework que permite usar yield, es decir, esperar frames. Hace falta porque Start() recién se ejecuta en el frame siguiente a Instantiate, y Destroy() recién se completa después del ciclo de actualización.</a:t>
            </a:r>
          </a:p>
          <a:p>
            <a:r>
              <a:t>ACLARACIONES — línea por línea:</a:t>
            </a:r>
          </a:p>
          <a:p>
            <a:r>
              <a:t>- Random.InitState fija la semilla: mismas posiciones en cada corrida.</a:t>
            </a:r>
          </a:p>
          <a:p>
            <a:r>
              <a:t>- El primer yield return null deja correr Start(): Game.instance queda asignado.</a:t>
            </a:r>
          </a:p>
          <a:p>
            <a:r>
              <a:t>- El TearDown destruye también asteroides y láseres.</a:t>
            </a:r>
          </a:p>
          <a:p>
            <a:r>
              <a:t>- El último yield deja que Destroy se complete antes del test siguiente.</a:t>
            </a:r>
          </a:p>
          <a:p>
            <a:r>
              <a:t>Detalle: FindObjectsByType ignora por defecto los objetos inactivos, así que no toca la plantilla inactiva del láser que está dentro del prefab.</a:t>
            </a:r>
          </a:p>
          <a:p>
            <a:r>
              <a:t>EVIDENCIA: una limpieza equivalente se usa en IntegrationHypothesesTests.cs y corrió en batchmode. La semilla (Random.InitState) todavía no se ejecutó: su estado es UNKNOWN.</a:t>
            </a:r>
          </a:p>
        </p:txBody>
      </p:sp>
      <p:sp>
        <p:nvSpPr>
          <p:cNvPr id="4" name="Slide Number Placeholder 3"/>
          <p:cNvSpPr>
            <a:spLocks noGrp="1"/>
          </p:cNvSpPr>
          <p:nvPr>
            <p:ph type="sldNum" idx="5" sz="quarter"/>
          </p:nvPr>
        </p:nvSpPr>
        <p:spPr/>
      </p:sp>
    </p:spTree>
  </p:cSld>
  <p:clrMapOvr>
    <a:masterClrMapping/>
  </p:clrMapOvr>
</p:notes>
</file>

<file path=ppt/notesSlides/notesSlide1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qué es un test frágil, sus causas y un riesgo concreto de la suite.</a:t>
            </a:r>
          </a:p>
          <a:p>
            <a:r>
              <a:t>TEORÍA: un test frágil (flaky) pasa o falla sin que cambie el código. Es grave porque destruye la confianza: cuando un test falla «a veces», el equipo empieza a ignorar los fallos, incluidos los reales. Causas típicas (Martin Fowler, «Eradicating Non-Determinism in Tests»): tiempo, estado compartido, orden, azar y recursos externos.</a:t>
            </a:r>
          </a:p>
          <a:p>
            <a:r>
              <a:t>Terminología de la Unidad I: falso positivo = el test reporta un defecto que no existe; falso negativo = el test no detecta un defecto que sí existe.</a:t>
            </a:r>
          </a:p>
          <a:p>
            <a:r>
              <a:t>ACLARACIONES — riesgo en la suite: el test 04 (TestSuite.cs 88–115) cuenta TODOS los asteroides de la escena antes y después de esperar 0,5 s.</a:t>
            </a:r>
          </a:p>
          <a:p>
            <a:r>
              <a:t>- Si un asteroide sobrante de otro test cae por debajo de y = −5 durante la espera, el conteo baja y el test FALLA aunque el spawner se haya detenido: falso positivo.</a:t>
            </a:r>
          </a:p>
          <a:p>
            <a:r>
              <a:t>- Si el spawner NO se detuvo pero en ese lapso un asteroide sobrante se autodestruye, los conteos pueden coincidir y el test PASA: falso negativo.</a:t>
            </a:r>
          </a:p>
          <a:p>
            <a:r>
              <a:t>Este escenario depende del orden y de las posiciones, y no se confirmó ejecutándolo: presentarlo como un riesgo, no como un fallo observado.</a:t>
            </a:r>
          </a:p>
        </p:txBody>
      </p:sp>
      <p:sp>
        <p:nvSpPr>
          <p:cNvPr id="4" name="Slide Number Placeholder 3"/>
          <p:cNvSpPr>
            <a:spLocks noGrp="1"/>
          </p:cNvSpPr>
          <p:nvPr>
            <p:ph type="sldNum" idx="5" sz="quarter"/>
          </p:nvPr>
        </p:nvSpPr>
        <p:spPr/>
      </p:sp>
    </p:spTree>
  </p:cSld>
  <p:clrMapOvr>
    <a:masterClrMapping/>
  </p:clrMapOvr>
</p:notes>
</file>

<file path=ppt/notesSlides/notesSlide1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cómo eliminar la causa «tiempo» de los tests frágiles.</a:t>
            </a:r>
          </a:p>
          <a:p>
            <a:r>
              <a:t>TEORÍA: una espera fija (WaitForSeconds) apuesta a que «en X segundos ya pasó». En una máquina lenta o cargada la apuesta falla (falso positivo) y en una rápida se pierde tiempo. Una espera por condición con tiempo máximo termina apenas se cumple lo esperado y, si nunca se cumple, falla con un mensaje claro.</a:t>
            </a:r>
          </a:p>
          <a:p>
            <a:r>
              <a:t>Para la física, la unidad de espera correcta es el paso de física: yield return new WaitForFixedUpdate().</a:t>
            </a:r>
          </a:p>
          <a:p>
            <a:r>
              <a:t>ACLARACIONES: un GameObject destruido no es null para C#, pero «== null» devuelve true por la sobrecarga de UnityEngine.Object. El Assert.IsNull(obj) de NUnit puede no detectarlo; por eso se usa Assert.IsTrue(obj == null).</a:t>
            </a:r>
          </a:p>
          <a:p>
            <a:r>
              <a:t>El mensaje del Assert explica qué se esperaba: cuando el test falla, ese mensaje es el primer dato del diagnóstico.</a:t>
            </a:r>
          </a:p>
        </p:txBody>
      </p:sp>
      <p:sp>
        <p:nvSpPr>
          <p:cNvPr id="4" name="Slide Number Placeholder 3"/>
          <p:cNvSpPr>
            <a:spLocks noGrp="1"/>
          </p:cNvSpPr>
          <p:nvPr>
            <p:ph type="sldNum" idx="5" sz="quarter"/>
          </p:nvPr>
        </p:nvSpPr>
        <p:spPr/>
      </p:sp>
    </p:spTree>
  </p:cSld>
  <p:clrMapOvr>
    <a:masterClrMapping/>
  </p:clrMapOvr>
</p:notes>
</file>

<file path=ppt/notesSlides/notesSlide1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analizar la causa raíz de un fallo de integración.</a:t>
            </a:r>
          </a:p>
          <a:p>
            <a:r>
              <a:t>TEORÍA: ante un test en rojo hay dos hipótesis iniciales: falla el juego o falla el test. Antes de levantar un ticket hay que descartar la segunda: ¿el test prepara bien el escenario? ¿El resultado esperado está respaldado por el diseño?</a:t>
            </a:r>
          </a:p>
          <a:p>
            <a:r>
              <a:t>CÓMO GUIAR: seguir la cadena desde el assert hacia atrás: ¿qué objeto se esperaba destruido? ¿Qué método debía destruirlo? ¿Qué hace realmente ese método?</a:t>
            </a:r>
          </a:p>
          <a:p>
            <a:r>
              <a:t>LA SALIDA ES REAL: Unity 6000.3.11f1 en batchmode; test en Assets/Tests/IntegrationHypothesesTests.cs.</a:t>
            </a:r>
          </a:p>
          <a:p>
            <a:r>
              <a:t>ACLARACIÓN: la primera línea (yield return null) es necesaria. Sin ella, Game.GameOver() se ejecuta antes de que Start() asigne Game.instance y el test fallaría por un motivo ajeno a lo que se quiere probar: sería un error del test, no del juego.</a:t>
            </a:r>
          </a:p>
          <a:p>
            <a:r>
              <a:t>RESULTADO ESPERADO: una cadena causal con archivo y líneas, y un ticket.</a:t>
            </a:r>
          </a:p>
          <a:p>
            <a:r>
              <a:t>PREGUNTA PARA LA DISCUSIÓN: ¿cómo sabemos que el resultado esperado es correcto?</a:t>
            </a:r>
          </a:p>
        </p:txBody>
      </p:sp>
      <p:sp>
        <p:nvSpPr>
          <p:cNvPr id="4" name="Slide Number Placeholder 3"/>
          <p:cNvSpPr>
            <a:spLocks noGrp="1"/>
          </p:cNvSpPr>
          <p:nvPr>
            <p:ph type="sldNum" idx="5" sz="quarter"/>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la resolución de la Actividad 3.</a:t>
            </a:r>
          </a:p>
          <a:p>
            <a:r>
              <a:t>TEORÍA: la causa raíz (Unidad I) es el origen del defecto, no su síntoma. El síntoma es «el asteroide sobrevive al reinicio»; la causa es «el pool de asteroides no se usa de forma consistente».</a:t>
            </a:r>
          </a:p>
          <a:p>
            <a:r>
              <a:t>RESOLUCIÓN:</a:t>
            </a:r>
          </a:p>
          <a:p>
            <a:r>
              <a:t>(1) ¿Juego o test? El test está bien construido: el asteroide está lejos de la nave, el spawner automático recién crea uno nuevo a los 0,4 s y se espera un solo frame. El nombre ClearAsteroids sugiere la intención, pero el requisito no se infiere: se confirma con diseño. Si el diseño dijera que los asteroides deben seguir cayendo, el que está mal es el test.</a:t>
            </a:r>
          </a:p>
          <a:p>
            <a:r>
              <a:t>(2) Causa: el pool se crea con SpawnAsteroid como función de creación (Spawner.cs 52–53), pero nunca se llama a Get(): SpawnAsteroid se usa directamente con Instantiate. ClearAsteroids llama a Dispose(), que vacía un pool que no contiene los asteroides en pantalla. Además, Laser.cs 52 hace Release de objetos que nunca se pidieron al pool: es la misma raíz del fallo de INT-AST-13.</a:t>
            </a:r>
          </a:p>
          <a:p>
            <a:r>
              <a:t>(3) Impacto para el jugador: con un reinicio rápido, un asteroide viejo puede chocar la nave recién reparada en (0,0,0) y provocar un Game Over inmediato.</a:t>
            </a:r>
          </a:p>
          <a:p>
            <a:r>
              <a:t>(4) Ticket: título, pasos, esperado/actual, evidencia (salida del test), severidad y prioridad.</a:t>
            </a:r>
          </a:p>
          <a:p>
            <a:r>
              <a:t>(5) Regresión: el test queda en rojo hasta el arreglo y después protege contra la reaparición del defecto.</a:t>
            </a:r>
          </a:p>
          <a:p>
            <a:r>
              <a:t>ACLARACIÓN: destruir los asteroides en ClearAsteroids resuelve INT-AST-14, pero no el doble Release de INT-AST-13. Arreglar el uso del pool ataca la causa común.</a:t>
            </a:r>
          </a:p>
        </p:txBody>
      </p:sp>
      <p:sp>
        <p:nvSpPr>
          <p:cNvPr id="4" name="Slide Number Placeholder 3"/>
          <p:cNvSpPr>
            <a:spLocks noGrp="1"/>
          </p:cNvSpPr>
          <p:nvPr>
            <p:ph type="sldNum" idx="5" sz="quarter"/>
          </p:nvPr>
        </p:nvSpPr>
        <p:spPr/>
      </p:sp>
    </p:spTree>
  </p:cSld>
  <p:clrMapOvr>
    <a:masterClrMapping/>
  </p:clrMapOvr>
</p:notes>
</file>

<file path=ppt/notesSlides/notesSlide1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los tipos de dobles de prueba y cuándo usarlos en integración.</a:t>
            </a:r>
          </a:p>
          <a:p>
            <a:r>
              <a:t>TEORÍA: un doble de prueba (test double, término de Gerard Meszaros difundido por Martin Fowler) reemplaza a un colaborador real durante el test.</a:t>
            </a:r>
          </a:p>
          <a:p>
            <a:r>
              <a:t>- Dummy: solo ocupa un lugar.</a:t>
            </a:r>
          </a:p>
          <a:p>
            <a:r>
              <a:t>- Stub: devuelve respuestas fijas.</a:t>
            </a:r>
          </a:p>
          <a:p>
            <a:r>
              <a:t>- Spy: registra cómo se lo usó, para revisarlo después.</a:t>
            </a:r>
          </a:p>
          <a:p>
            <a:r>
              <a:t>- Mock: tiene expectativas programadas y falla si no se cumplen.</a:t>
            </a:r>
          </a:p>
          <a:p>
            <a:r>
              <a:t>- Fake: implementación simplificada pero que funciona.</a:t>
            </a:r>
          </a:p>
          <a:p>
            <a:r>
              <a:t>REGLA PARA INTEGRACIÓN: lo que está en la costura que se quiere probar va REAL; se reemplaza solo lo no determinista o lo que queda fuera de alcance. Con demasiados dobles, el test deja de ser de integración y se vuelve unitario.</a:t>
            </a:r>
          </a:p>
          <a:p>
            <a:r>
              <a:t>ACLARACIONES — dependencias reales del proyecto y su estrategia:</a:t>
            </a:r>
          </a:p>
          <a:p>
            <a:r>
              <a:t>- Entrada (Ship.cs 61–71): reemplazar con un stub o evitarla.</a:t>
            </a:r>
          </a:p>
          <a:p>
            <a:r>
              <a:t>- Azar (Spawner.cs 75 y 103): controlar con una semilla, sin doble.</a:t>
            </a:r>
          </a:p>
          <a:p>
            <a:r>
              <a:t>- Tiempo (corrutinas de 0,4 s): esperar por condición.</a:t>
            </a:r>
          </a:p>
          <a:p>
            <a:r>
              <a:t>- Física: WaitForFixedUpdate.</a:t>
            </a:r>
          </a:p>
          <a:p>
            <a:r>
              <a:t>- Estado estático (Game.instance): resolver con la fixture.</a:t>
            </a:r>
          </a:p>
          <a:p>
            <a:r>
              <a:t>Varios ejemplos de la tabla son PROPUESTA: Game usa métodos estáticos (GameOver, AsteroidDestroyed), que no se pueden reemplazar por un doble sin modificar el código.</a:t>
            </a:r>
          </a:p>
          <a:p>
            <a:r>
              <a:t>El proyecto no tiene sistemas externos (red, archivos, tiendas); ese tema queda para una clase futura.</a:t>
            </a:r>
          </a:p>
        </p:txBody>
      </p:sp>
      <p:sp>
        <p:nvSpPr>
          <p:cNvPr id="4" name="Slide Number Placeholder 3"/>
          <p:cNvSpPr>
            <a:spLocks noGrp="1"/>
          </p:cNvSpPr>
          <p:nvPr>
            <p:ph type="sldNum" idx="5" sz="quarter"/>
          </p:nvPr>
        </p:nvSpPr>
        <p:spPr/>
      </p:sp>
    </p:spTree>
  </p:cSld>
  <p:clrMapOvr>
    <a:masterClrMapping/>
  </p:clrMapOvr>
</p:notes>
</file>

<file path=ppt/notesSlides/notesSlide2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una regla de juego que no se puede probar por cómo está escrita.</a:t>
            </a:r>
          </a:p>
          <a:p>
            <a:r>
              <a:t>TEORÍA: una regla de juego es testeable cuando se puede ejecutar sin su fuente de entrada real. Si la regla está mezclada con la lectura del dispositivo, para probarla hay que simular el dispositivo. Separar «qué quiere hacer el jugador» de «cómo lo pide» crea una costura (seam) donde se puede enchufar un stub.</a:t>
            </a:r>
          </a:p>
          <a:p>
            <a:r>
              <a:t>ACLARACIONES: la regla (canShoot) se evalúa en Update junto a Input.GetKey (Ship.cs 61). ShootLaser (77–80) no la respeta: dos llamadas seguidas crean dos láseres. Respuesta a la pregunta: 3 láseres en 1 s (t = 0; 0,4; 0,8).</a:t>
            </a:r>
          </a:p>
          <a:p>
            <a:r>
              <a:t>Conexión con la clase de plataformas: la misma separación de la entrada que permite portar el juego a móvil es la que permite testear la regla.</a:t>
            </a:r>
          </a:p>
          <a:p>
            <a:r>
              <a:t>DATOS VERIFICADOS: Packages/manifest.json no incluye el paquete Input System, así que la opción A requiere instalarlo (no hacerlo sin autorización). En el reporte regenerado, Ship.cs 61–74 no se ejecuta nunca: durante los tests la nave está «muerta» (isDead empieza en true y solo RepairShip lo cambia), así que Update termina en la línea 57.</a:t>
            </a:r>
          </a:p>
        </p:txBody>
      </p:sp>
      <p:sp>
        <p:nvSpPr>
          <p:cNvPr id="4" name="Slide Number Placeholder 3"/>
          <p:cNvSpPr>
            <a:spLocks noGrp="1"/>
          </p:cNvSpPr>
          <p:nvPr>
            <p:ph type="sldNum" idx="5" sz="quarter"/>
          </p:nvPr>
        </p:nvSpPr>
        <p:spPr/>
      </p:sp>
    </p:spTree>
  </p:cSld>
  <p:clrMapOvr>
    <a:masterClrMapping/>
  </p:clrMapOvr>
</p:notes>
</file>

<file path=ppt/notesSlides/notesSlide2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cómo leer un reporte de cobertura sin sobreestimarlo.</a:t>
            </a:r>
          </a:p>
          <a:p>
            <a:r>
              <a:t>TEORÍA: la cobertura de código mide qué líneas (o métodos, o ramas) se EJECUTARON durante los tests. No mide si algún assert verificó su efecto. Sirve para encontrar código que ningún test toca; no sirve para afirmar que el código está bien probado.</a:t>
            </a:r>
          </a:p>
          <a:p>
            <a:r>
              <a:t>Cobertura de líneas ≠ cobertura de ramas: una línea con un if puede ejecutarse sin recorrer sus dos salidas.</a:t>
            </a:r>
          </a:p>
          <a:p>
            <a:r>
              <a:t>Para leer un reporte hay que saber de qué corrida viene: qué tests, qué assemblies y qué fecha.</a:t>
            </a:r>
          </a:p>
          <a:p>
            <a:r>
              <a:t>ACLARACIONES:</a:t>
            </a:r>
          </a:p>
          <a:p>
            <a:r>
              <a:t>- Reporte VIEJO (Asteroides/asteroide-final/CodeCoverage): combinaba 6 archivos de 3 carpetas de resultados (15/09 y 18/09), incluía el código de los tests y su vista línea por línea correspondía a una corrida de un solo test. Su 65,5 % no describía la suite.</a:t>
            </a:r>
          </a:p>
          <a:p>
            <a:r>
              <a:t>- Reporte REGENERADO (7/7 PASS, solo GameAssembly, carpeta limpia): 137 de 186 líneas (73,6 %) y 27 de 31 métodos (87 %). Asteroid 84,2 %, Game 100 %, Laser 81,2 %, Ship 43 %, Spawner 86,9 %.</a:t>
            </a:r>
          </a:p>
          <a:p>
            <a:r>
              <a:t>- Sin cubrir: Ship 61–74 (entrada) y 99–115 (movimiento lateral); Asteroid 48 (destrucción bajo y = −5); Spawner 69 (spawn automático); Laser 42 (láser fuera de pantalla).</a:t>
            </a:r>
          </a:p>
          <a:p>
            <a:r>
              <a:t>- Respuesta a la pregunta: Game.cs tiene 100 %, pero la línea 85 (texto del HUD) se ejecuta en los tests 06 y 07 sin que ningún assert la compruebe. 100 % de cobertura no es 100 % verificado.</a:t>
            </a:r>
          </a:p>
          <a:p>
            <a:r>
              <a:t>Paquete usado: Code Coverage 1.3.</a:t>
            </a:r>
          </a:p>
        </p:txBody>
      </p:sp>
      <p:sp>
        <p:nvSpPr>
          <p:cNvPr id="4" name="Slide Number Placeholder 3"/>
          <p:cNvSpPr>
            <a:spLocks noGrp="1"/>
          </p:cNvSpPr>
          <p:nvPr>
            <p:ph type="sldNum" idx="5" sz="quarter"/>
          </p:nvPr>
        </p:nvSpPr>
        <p:spPr/>
      </p:sp>
    </p:spTree>
  </p:cSld>
  <p:clrMapOvr>
    <a:masterClrMapping/>
  </p:clrMapOvr>
</p:notes>
</file>

<file path=ppt/notesSlides/notesSlide2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el ciclo que convierte un defecto encontrado en protección permanente.</a:t>
            </a:r>
          </a:p>
          <a:p>
            <a:r>
              <a:t>TEORÍA (Unidad II): retesting = volver a probar el arreglo de un defecto concreto. Testing de regresión = volver a probar lo que ya funcionaba para detectar si un cambio lo rompió. Un test automatizado que nace de un bug cumple las dos funciones: primero confirma el arreglo y después queda vigilando.</a:t>
            </a:r>
          </a:p>
          <a:p>
            <a:r>
              <a:t>ACLARACIONES: el orden importa. El test se ve primero en ROJO, con el defecto presente: esa es la prueba de que es capaz de detectarlo. Un test de regresión que nunca se vio fallar puede estar pasando por la razón equivocada (por ejemplo, porque no prepara bien el escenario).</a:t>
            </a:r>
          </a:p>
          <a:p>
            <a:r>
              <a:t>APLICACIÓN: INT-AST-13, 14 y 15 ya están en rojo en IntegrationHypothesesTests.cs. Cuando se corrijan los defectos pasarán a verde y quedarán en la suite.</a:t>
            </a:r>
          </a:p>
        </p:txBody>
      </p:sp>
      <p:sp>
        <p:nvSpPr>
          <p:cNvPr id="4" name="Slide Number Placeholder 3"/>
          <p:cNvSpPr>
            <a:spLocks noGrp="1"/>
          </p:cNvSpPr>
          <p:nvPr>
            <p:ph type="sldNum" idx="5" sz="quarter"/>
          </p:nvPr>
        </p:nvSpPr>
        <p:spPr/>
      </p:sp>
    </p:spTree>
  </p:cSld>
  <p:clrMapOvr>
    <a:masterClrMapping/>
  </p:clrMapOvr>
</p:notes>
</file>

<file path=ppt/notesSlides/notesSlide2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OBJETIVO: priorizar y organizar una suite, no escribir código.</a:t>
            </a:r>
          </a:p>
          <a:p>
            <a:r>
              <a:t>TEORÍA: una suite es un producto con costo: tiempo de ejecución y mantenimiento. Se organiza por propósito:</a:t>
            </a:r>
          </a:p>
          <a:p>
            <a:r>
              <a:t>- Smoke: pocos tests rápidos que verifican que lo esencial funciona; corren en cada cambio.</a:t>
            </a:r>
          </a:p>
          <a:p>
            <a:r>
              <a:t>- Integración: los flujos principales entre componentes.</a:t>
            </a:r>
          </a:p>
          <a:p>
            <a:r>
              <a:t>- Borde: los límites y los casos raros.</a:t>
            </a:r>
          </a:p>
          <a:p>
            <a:r>
              <a:t>- Regresión: defectos ya encontrados que no deben volver.</a:t>
            </a:r>
          </a:p>
          <a:p>
            <a:r>
              <a:t>En Unity se pueden etiquetar con [Category("Smoke")] y filtrar al ejecutar.</a:t>
            </a:r>
          </a:p>
          <a:p>
            <a:r>
              <a:t>RESULTADO ESPERADO: una tabla de hasta 12 tests con categoría, momento de ejecución y decisión (queda / reescribir / fusionar / sale).</a:t>
            </a:r>
          </a:p>
          <a:p>
            <a:r>
              <a:t>PREGUNTAS PARA LA DISCUSIÓN: ¿fusionar dos tests mejora o empeora el diagnóstico cuando uno falla? ¿Qué se corre en cada commit y qué de noche?</a:t>
            </a:r>
          </a:p>
        </p:txBody>
      </p:sp>
      <p:sp>
        <p:nvSpPr>
          <p:cNvPr id="4" name="Slide Number Placeholder 3"/>
          <p:cNvSpPr>
            <a:spLocks noGrp="1"/>
          </p:cNvSpPr>
          <p:nvPr>
            <p:ph type="sldNum" idx="5" sz="quarter"/>
          </p:nvPr>
        </p:nvSpPr>
        <p:spPr/>
      </p:sp>
    </p:spTree>
  </p:cSld>
  <p:clrMapOvr>
    <a:masterClrMapping/>
  </p:clrMapOvr>
</p:notes>
</file>

<file path=ppt/notesSlides/notesSlide2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la resolución de la Actividad 4. Suite final: 11 tests.</a:t>
            </a:r>
          </a:p>
          <a:p>
            <a:r>
              <a:t>ACLARACIONES — decisiones:</a:t>
            </a:r>
          </a:p>
          <a:p>
            <a:r>
              <a:t>- El 03 sale: simula un Game Over que el juego no produce; el 08 cubre el mismo reinicio por el camino real.</a:t>
            </a:r>
          </a:p>
          <a:p>
            <a:r>
              <a:t>- El 07 queda absorbido por el 09, que verifica el puntaje y el texto. En contra: si el 09 falla, hay que leer el mensaje del Assert para saber cuál de los dos efectos falló (se pierde granularidad).</a:t>
            </a:r>
          </a:p>
          <a:p>
            <a:r>
              <a:t>- El 01 y el 05 verifican el movimiento de un solo componente: van a una carpeta de tests por componente, no a la de integración.</a:t>
            </a:r>
          </a:p>
          <a:p>
            <a:r>
              <a:t>- El 04 se reescribe con la fixture de limpieza y contando solo los asteroides que crea el propio test.</a:t>
            </a:r>
          </a:p>
          <a:p>
            <a:r>
              <a:t>- El 13, el 14 y el 15 ya se ejecutaron y FALLAN: quedan en rojo como regresión hasta que se corrijan los defectos.</a:t>
            </a:r>
          </a:p>
          <a:p>
            <a:r>
              <a:t>- El 16 queda pendiente del refactor de la entrada.</a:t>
            </a:r>
          </a:p>
          <a:p>
            <a:r>
              <a:t>CRITERIO GENERAL: independencia (cada test corre solo y en cualquier orden) y un nombre que diga qué flujo se prueba, en qué condición y con qué resultado: Flujo_Condición_Resultado.</a:t>
            </a:r>
          </a:p>
        </p:txBody>
      </p:sp>
      <p:sp>
        <p:nvSpPr>
          <p:cNvPr id="4" name="Slide Number Placeholder 3"/>
          <p:cNvSpPr>
            <a:spLocks noGrp="1"/>
          </p:cNvSpPr>
          <p:nvPr>
            <p:ph type="sldNum" idx="5" sz="quarter"/>
          </p:nvPr>
        </p:nvSpPr>
        <p:spPr/>
      </p:sp>
    </p:spTree>
  </p:cSld>
  <p:clrMapOvr>
    <a:masterClrMapping/>
  </p:clrMapOvr>
</p:notes>
</file>

<file path=ppt/notesSlides/notesSlide2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las cinco ideas de la clase.</a:t>
            </a:r>
          </a:p>
          <a:p>
            <a:r>
              <a:t>TEORÍA — resumen:</a:t>
            </a:r>
          </a:p>
          <a:p>
            <a:r>
              <a:t>(1) Una suite solo de casos positivos no prueba lo que el juego NO debe hacer.</a:t>
            </a:r>
          </a:p>
          <a:p>
            <a:r>
              <a:t>(2) En integración, el borde también es tiempo, cantidad, repetición y orden.</a:t>
            </a:r>
          </a:p>
          <a:p>
            <a:r>
              <a:t>(3) Sin fixtures que limpien, los tests se contaminan entre sí y se vuelven frágiles.</a:t>
            </a:r>
          </a:p>
          <a:p>
            <a:r>
              <a:t>(4) Los dobles de prueba se usan para lo que no está bajo prueba, no para todo.</a:t>
            </a:r>
          </a:p>
          <a:p>
            <a:r>
              <a:t>(5) La cobertura dice qué se ejecutó, no qué se verificó.</a:t>
            </a:r>
          </a:p>
          <a:p>
            <a:r>
              <a:t>ACTIVIDAD: el ticket de salida pide transferir lo aprendido a un juego propio: un caso negativo y uno de borde.</a:t>
            </a:r>
          </a:p>
          <a:p>
            <a:r>
              <a:t>PREGUNTA EXTRA: ¿qué test de la suite actual les da menos confianza y por qué?</a:t>
            </a:r>
          </a:p>
        </p:txBody>
      </p:sp>
      <p:sp>
        <p:nvSpPr>
          <p:cNvPr id="4" name="Slide Number Placeholder 3"/>
          <p:cNvSpPr>
            <a:spLocks noGrp="1"/>
          </p:cNvSpPr>
          <p:nvPr>
            <p:ph type="sldNum" idx="5" sz="quarter"/>
          </p:nvPr>
        </p:nvSpPr>
        <p:spPr/>
      </p:sp>
    </p:spTree>
  </p:cSld>
  <p:clrMapOvr>
    <a:masterClrMapping/>
  </p:clrMapOvr>
</p:notes>
</file>

<file path=ppt/notesSlides/notesSlide2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referencia rápida de los 9 casos nuevos.</a:t>
            </a:r>
          </a:p>
          <a:p>
            <a:r>
              <a:t>ESTADOS: PROPUESTA = el caso está diseñado pero todavía no existe en el proyecto. EJECUTADO · FAIL = el test existe en Assets/Tests/IntegrationHypothesesTests.cs, se corrió en Unity 6000.3.11f1 (batchmode) y falla porque documenta un defecto real.</a:t>
            </a:r>
          </a:p>
          <a:p>
            <a:r>
              <a:t>RESULTADOS: 13 → excepción en Laser.cs:52 y puntaje 2. 14 → el asteroide de la partida anterior sobrevive a NewGame. 15 → 8 asteroides en 2,1 s con doble NewGame, contra 5 con uno.</a:t>
            </a:r>
          </a:p>
          <a:p>
            <a:r>
              <a:t>ACLARACIÓN: 13 y 14 comparten la raíz: el ObjectPool del Spawner no se usa de forma consistente (nunca se llama a Get()).</a:t>
            </a:r>
          </a:p>
        </p:txBody>
      </p:sp>
      <p:sp>
        <p:nvSpPr>
          <p:cNvPr id="4" name="Slide Number Placeholder 3"/>
          <p:cNvSpPr>
            <a:spLocks noGrp="1"/>
          </p:cNvSpPr>
          <p:nvPr>
            <p:ph type="sldNum" idx="5" sz="quarter"/>
          </p:nvPr>
        </p:nvSpPr>
        <p:spPr/>
      </p:sp>
    </p:spTree>
  </p:cSld>
  <p:clrMapOvr>
    <a:masterClrMapping/>
  </p:clrMapOvr>
</p:notes>
</file>

<file path=ppt/notesSlides/notesSlide2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QUÉ SE TOCA: temas valiosos que no entran en esta clase.</a:t>
            </a:r>
          </a:p>
          <a:p>
            <a:r>
              <a:t>ACLARACIONES:</a:t>
            </a:r>
          </a:p>
          <a:p>
            <a:r>
              <a:t>- Sistemas externos (guardado del récord, tabla online): requieren fakes o entornos de prueba.</a:t>
            </a:r>
          </a:p>
          <a:p>
            <a:r>
              <a:t>- Input System + InputTestFixture: permite simular teclado y táctil; requiere instalar el paquete.</a:t>
            </a:r>
          </a:p>
          <a:p>
            <a:r>
              <a:t>- Tests parametrizados ([TestCase], [ValueSource]): evitan escribir un test por cada valor de borde.</a:t>
            </a:r>
          </a:p>
          <a:p>
            <a:r>
              <a:t>- LogAssert: permite esperar o prohibir mensajes en el log (útil para INT-AST-13).</a:t>
            </a:r>
          </a:p>
          <a:p>
            <a:r>
              <a:t>- Batchmode y CI: automatizan la ejecución en cada cambio.</a:t>
            </a:r>
          </a:p>
          <a:p>
            <a:r>
              <a:t>- Cobertura de ramas: mide caminos, no solo líneas.</a:t>
            </a:r>
          </a:p>
          <a:p>
            <a:r>
              <a:t>REFERENCIAS VERIFICADAS (versiones del proyecto: Test Framework 1.6.0, Code Coverage 1.3.0): docs.unity3d.com/Packages/com.unity.test-framework@1.6 · docs.unity3d.com/Packages/com.unity.inputsystem@1.11/manual/Testing.html · docs.unity3d.com/Packages/com.unity.test-framework@1.4/api/UnityEngine.TestTools.LogAssert.html · docs.unity3d.com/ScriptReference/Pool.ObjectPool_1.html · docs.unity3d.com/Packages/com.unity.testtools.codecoverage@1.3</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685800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41605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extBox 3"/>
          <p:cNvSpPr txBox="1"/>
          <p:nvPr/>
        </p:nvSpPr>
        <p:spPr>
          <a:xfrm>
            <a:off x="914400" y="1737360"/>
            <a:ext cx="10332720" cy="457200"/>
          </a:xfrm>
          <a:prstGeom prst="rect">
            <a:avLst/>
          </a:prstGeom>
          <a:noFill/>
        </p:spPr>
        <p:txBody>
          <a:bodyPr wrap="square" anchor="t" lIns="0" rIns="0" tIns="0" bIns="0">
            <a:spAutoFit/>
          </a:bodyPr>
          <a:lstStyle/>
          <a:p>
            <a:pPr algn="l"/>
            <a:r>
              <a:rPr sz="2000" b="1" i="0">
                <a:solidFill>
                  <a:srgbClr val="9CC9C5"/>
                </a:solidFill>
                <a:latin typeface="Calibri"/>
              </a:rPr>
              <a:t>CONTINUACIÓN DE «TESTING DE INTEGRACIÓN»</a:t>
            </a:r>
          </a:p>
        </p:txBody>
      </p:sp>
      <p:sp>
        <p:nvSpPr>
          <p:cNvPr id="5" name="TextBox 4"/>
          <p:cNvSpPr txBox="1"/>
          <p:nvPr/>
        </p:nvSpPr>
        <p:spPr>
          <a:xfrm>
            <a:off x="914400" y="2240280"/>
            <a:ext cx="10332720" cy="1280160"/>
          </a:xfrm>
          <a:prstGeom prst="rect">
            <a:avLst/>
          </a:prstGeom>
          <a:noFill/>
        </p:spPr>
        <p:txBody>
          <a:bodyPr wrap="square" anchor="t" lIns="0" rIns="0" tIns="0" bIns="0">
            <a:spAutoFit/>
          </a:bodyPr>
          <a:lstStyle/>
          <a:p>
            <a:pPr algn="l"/>
            <a:r>
              <a:rPr sz="4200" b="1" i="0">
                <a:solidFill>
                  <a:srgbClr val="FFFFFF"/>
                </a:solidFill>
                <a:latin typeface="Calibri"/>
              </a:rPr>
              <a:t>Testing de integración II</a:t>
            </a:r>
          </a:p>
        </p:txBody>
      </p:sp>
      <p:sp>
        <p:nvSpPr>
          <p:cNvPr id="6" name="TextBox 5"/>
          <p:cNvSpPr txBox="1"/>
          <p:nvPr/>
        </p:nvSpPr>
        <p:spPr>
          <a:xfrm>
            <a:off x="914400" y="3520440"/>
            <a:ext cx="10332720" cy="548640"/>
          </a:xfrm>
          <a:prstGeom prst="rect">
            <a:avLst/>
          </a:prstGeom>
          <a:noFill/>
        </p:spPr>
        <p:txBody>
          <a:bodyPr wrap="square" anchor="t" lIns="0" rIns="0" tIns="0" bIns="0">
            <a:spAutoFit/>
          </a:bodyPr>
          <a:lstStyle/>
          <a:p>
            <a:pPr algn="l"/>
            <a:r>
              <a:rPr sz="2000" b="0" i="0">
                <a:solidFill>
                  <a:srgbClr val="D1D5DB"/>
                </a:solidFill>
                <a:latin typeface="Calibri"/>
              </a:rPr>
              <a:t>De 7 tests a una estrategia · Diseño según Plataformas de Juego · 120 min</a:t>
            </a:r>
          </a:p>
        </p:txBody>
      </p:sp>
      <p:sp>
        <p:nvSpPr>
          <p:cNvPr id="7" name="TextBox 6"/>
          <p:cNvSpPr txBox="1"/>
          <p:nvPr/>
        </p:nvSpPr>
        <p:spPr>
          <a:xfrm>
            <a:off x="914400" y="4389120"/>
            <a:ext cx="10332720" cy="457200"/>
          </a:xfrm>
          <a:prstGeom prst="rect">
            <a:avLst/>
          </a:prstGeom>
          <a:noFill/>
        </p:spPr>
        <p:txBody>
          <a:bodyPr wrap="square" anchor="t" lIns="0" rIns="0" tIns="0" bIns="0">
            <a:spAutoFit/>
          </a:bodyPr>
          <a:lstStyle/>
          <a:p>
            <a:pPr algn="l"/>
            <a:r>
              <a:rPr sz="1400" b="0" i="1">
                <a:solidFill>
                  <a:srgbClr val="9CC9C5"/>
                </a:solidFill>
                <a:latin typeface="Calibri"/>
              </a:rPr>
              <a:t>Ing. Elsa Daniela Ramírez · FI – UNJu · 2026</a:t>
            </a:r>
          </a:p>
        </p:txBody>
      </p:sp>
      <p:sp>
        <p:nvSpPr>
          <p:cNvPr id="8" name="TextBox 7"/>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9" name="TextBox 8"/>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1/27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DIAGNÓSTICO · CLASE ANTERIOR</a:t>
            </a:r>
          </a:p>
          <a:p>
            <a:r>
              <a:rPr sz="2600" b="1" i="0">
                <a:solidFill>
                  <a:srgbClr val="FFFFFF"/>
                </a:solidFill>
                <a:latin typeface="Calibri"/>
              </a:rPr>
              <a:t>Dónde quedamos: la suite actual</a:t>
            </a:r>
          </a:p>
        </p:txBody>
      </p:sp>
      <p:graphicFrame>
        <p:nvGraphicFramePr>
          <p:cNvPr id="6" name="Table 5"/>
          <p:cNvGraphicFramePr>
            <a:graphicFrameLocks noGrp="1"/>
          </p:cNvGraphicFramePr>
          <p:nvPr/>
        </p:nvGraphicFramePr>
        <p:xfrm>
          <a:off x="502920" y="1280160"/>
          <a:ext cx="11185853" cy="2633472"/>
        </p:xfrm>
        <a:graphic>
          <a:graphicData uri="http://schemas.openxmlformats.org/drawingml/2006/table">
            <a:tbl>
              <a:tblPr firstRow="1" bandRow="1">
                <a:tableStyleId>{5C22544A-7EE6-4342-B048-85BDC9FD1C3A}</a:tableStyleId>
              </a:tblPr>
              <a:tblGrid>
                <a:gridCol w="517863"/>
                <a:gridCol w="4350054"/>
                <a:gridCol w="4453627"/>
                <a:gridCol w="1864309"/>
              </a:tblGrid>
              <a:tr h="329184">
                <a:tc>
                  <a:txBody>
                    <a:bodyPr/>
                    <a:lstStyle/>
                    <a:p>
                      <a:r>
                        <a:rPr sz="1400" b="1" i="0">
                          <a:solidFill>
                            <a:srgbClr val="FFFFFF"/>
                          </a:solidFill>
                          <a:latin typeface="Calibri"/>
                        </a:rPr>
                        <a:t>#</a:t>
                      </a:r>
                    </a:p>
                  </a:txBody>
                  <a:tcPr>
                    <a:solidFill>
                      <a:srgbClr val="1F2A44"/>
                    </a:solidFill>
                  </a:tcPr>
                </a:tc>
                <a:tc>
                  <a:txBody>
                    <a:bodyPr/>
                    <a:lstStyle/>
                    <a:p>
                      <a:r>
                        <a:rPr sz="1400" b="1" i="0">
                          <a:solidFill>
                            <a:srgbClr val="FFFFFF"/>
                          </a:solidFill>
                          <a:latin typeface="Calibri"/>
                        </a:rPr>
                        <a:t>Test (TestSuite.cs)</a:t>
                      </a:r>
                    </a:p>
                  </a:txBody>
                  <a:tcPr>
                    <a:solidFill>
                      <a:srgbClr val="1F2A44"/>
                    </a:solidFill>
                  </a:tcPr>
                </a:tc>
                <a:tc>
                  <a:txBody>
                    <a:bodyPr/>
                    <a:lstStyle/>
                    <a:p>
                      <a:r>
                        <a:rPr sz="1400" b="1" i="0">
                          <a:solidFill>
                            <a:srgbClr val="FFFFFF"/>
                          </a:solidFill>
                          <a:latin typeface="Calibri"/>
                        </a:rPr>
                        <a:t>Flujo que cubre</a:t>
                      </a:r>
                    </a:p>
                  </a:txBody>
                  <a:tcPr>
                    <a:solidFill>
                      <a:srgbClr val="1F2A44"/>
                    </a:solidFill>
                  </a:tcPr>
                </a:tc>
                <a:tc>
                  <a:txBody>
                    <a:bodyPr/>
                    <a:lstStyle/>
                    <a:p>
                      <a:r>
                        <a:rPr sz="1400" b="1" i="0">
                          <a:solidFill>
                            <a:srgbClr val="FFFFFF"/>
                          </a:solidFill>
                          <a:latin typeface="Calibri"/>
                        </a:rPr>
                        <a:t>Tipo de caso</a:t>
                      </a:r>
                    </a:p>
                  </a:txBody>
                  <a:tcPr>
                    <a:solidFill>
                      <a:srgbClr val="1F2A44"/>
                    </a:solidFill>
                  </a:tcPr>
                </a:tc>
              </a:tr>
              <a:tr h="329184">
                <a:tc>
                  <a:txBody>
                    <a:bodyPr/>
                    <a:lstStyle/>
                    <a:p>
                      <a:r>
                        <a:rPr sz="1300" b="1" i="0">
                          <a:solidFill>
                            <a:srgbClr val="1F2937"/>
                          </a:solidFill>
                          <a:latin typeface="Calibri"/>
                        </a:rPr>
                        <a:t>01</a:t>
                      </a:r>
                    </a:p>
                  </a:txBody>
                  <a:tcPr marT="36576" marB="36576">
                    <a:solidFill>
                      <a:srgbClr val="FFFFFF"/>
                    </a:solidFill>
                  </a:tcPr>
                </a:tc>
                <a:tc>
                  <a:txBody>
                    <a:bodyPr/>
                    <a:lstStyle/>
                    <a:p>
                      <a:r>
                        <a:rPr sz="1300" b="0" i="0">
                          <a:solidFill>
                            <a:srgbClr val="1F2937"/>
                          </a:solidFill>
                          <a:latin typeface="Calibri"/>
                        </a:rPr>
                        <a:t>AsteroidsMoveDown</a:t>
                      </a:r>
                    </a:p>
                  </a:txBody>
                  <a:tcPr marT="36576" marB="36576">
                    <a:solidFill>
                      <a:srgbClr val="FFFFFF"/>
                    </a:solidFill>
                  </a:tcPr>
                </a:tc>
                <a:tc>
                  <a:txBody>
                    <a:bodyPr/>
                    <a:lstStyle/>
                    <a:p>
                      <a:r>
                        <a:rPr sz="1300" b="0" i="0">
                          <a:solidFill>
                            <a:srgbClr val="1F2937"/>
                          </a:solidFill>
                          <a:latin typeface="Calibri"/>
                        </a:rPr>
                        <a:t>El asteroide se desplaza</a:t>
                      </a:r>
                    </a:p>
                  </a:txBody>
                  <a:tcPr marT="36576" marB="36576">
                    <a:solidFill>
                      <a:srgbClr val="FFFFFF"/>
                    </a:solidFill>
                  </a:tcPr>
                </a:tc>
                <a:tc>
                  <a:txBody>
                    <a:bodyPr/>
                    <a:lstStyle/>
                    <a:p>
                      <a:r>
                        <a:rPr sz="1300" b="0" i="0">
                          <a:solidFill>
                            <a:srgbClr val="1F2937"/>
                          </a:solidFill>
                          <a:latin typeface="Calibri"/>
                        </a:rPr>
                        <a:t>Positivo</a:t>
                      </a:r>
                    </a:p>
                  </a:txBody>
                  <a:tcPr marT="36576" marB="36576">
                    <a:solidFill>
                      <a:srgbClr val="FFFFFF"/>
                    </a:solidFill>
                  </a:tcPr>
                </a:tc>
              </a:tr>
              <a:tr h="329184">
                <a:tc>
                  <a:txBody>
                    <a:bodyPr/>
                    <a:lstStyle/>
                    <a:p>
                      <a:r>
                        <a:rPr sz="1300" b="1" i="0">
                          <a:solidFill>
                            <a:srgbClr val="1F2937"/>
                          </a:solidFill>
                          <a:latin typeface="Calibri"/>
                        </a:rPr>
                        <a:t>02</a:t>
                      </a:r>
                    </a:p>
                  </a:txBody>
                  <a:tcPr marT="36576" marB="36576">
                    <a:solidFill>
                      <a:srgbClr val="F3F4F6"/>
                    </a:solidFill>
                  </a:tcPr>
                </a:tc>
                <a:tc>
                  <a:txBody>
                    <a:bodyPr/>
                    <a:lstStyle/>
                    <a:p>
                      <a:r>
                        <a:rPr sz="1300" b="0" i="0">
                          <a:solidFill>
                            <a:srgbClr val="1F2937"/>
                          </a:solidFill>
                          <a:latin typeface="Calibri"/>
                        </a:rPr>
                        <a:t>GameOverOccursOnAsteroidCollision</a:t>
                      </a:r>
                    </a:p>
                  </a:txBody>
                  <a:tcPr marT="36576" marB="36576">
                    <a:solidFill>
                      <a:srgbClr val="F3F4F6"/>
                    </a:solidFill>
                  </a:tcPr>
                </a:tc>
                <a:tc>
                  <a:txBody>
                    <a:bodyPr/>
                    <a:lstStyle/>
                    <a:p>
                      <a:r>
                        <a:rPr sz="1300" b="0" i="0">
                          <a:solidFill>
                            <a:srgbClr val="1F2937"/>
                          </a:solidFill>
                          <a:latin typeface="Calibri"/>
                        </a:rPr>
                        <a:t>Asteroide + nave → Game Over</a:t>
                      </a:r>
                    </a:p>
                  </a:txBody>
                  <a:tcPr marT="36576" marB="36576">
                    <a:solidFill>
                      <a:srgbClr val="F3F4F6"/>
                    </a:solidFill>
                  </a:tcPr>
                </a:tc>
                <a:tc>
                  <a:txBody>
                    <a:bodyPr/>
                    <a:lstStyle/>
                    <a:p>
                      <a:r>
                        <a:rPr sz="1300" b="0" i="0">
                          <a:solidFill>
                            <a:srgbClr val="1F2937"/>
                          </a:solidFill>
                          <a:latin typeface="Calibri"/>
                        </a:rPr>
                        <a:t>Positivo</a:t>
                      </a:r>
                    </a:p>
                  </a:txBody>
                  <a:tcPr marT="36576" marB="36576">
                    <a:solidFill>
                      <a:srgbClr val="F3F4F6"/>
                    </a:solidFill>
                  </a:tcPr>
                </a:tc>
              </a:tr>
              <a:tr h="329184">
                <a:tc>
                  <a:txBody>
                    <a:bodyPr/>
                    <a:lstStyle/>
                    <a:p>
                      <a:r>
                        <a:rPr sz="1300" b="1" i="0">
                          <a:solidFill>
                            <a:srgbClr val="1F2937"/>
                          </a:solidFill>
                          <a:latin typeface="Calibri"/>
                        </a:rPr>
                        <a:t>03</a:t>
                      </a:r>
                    </a:p>
                  </a:txBody>
                  <a:tcPr marT="36576" marB="36576">
                    <a:solidFill>
                      <a:srgbClr val="FFFFFF"/>
                    </a:solidFill>
                  </a:tcPr>
                </a:tc>
                <a:tc>
                  <a:txBody>
                    <a:bodyPr/>
                    <a:lstStyle/>
                    <a:p>
                      <a:r>
                        <a:rPr sz="1300" b="0" i="0">
                          <a:solidFill>
                            <a:srgbClr val="1F2937"/>
                          </a:solidFill>
                          <a:latin typeface="Calibri"/>
                        </a:rPr>
                        <a:t>NewGameRestartsGame</a:t>
                      </a:r>
                    </a:p>
                  </a:txBody>
                  <a:tcPr marT="36576" marB="36576">
                    <a:solidFill>
                      <a:srgbClr val="FFFFFF"/>
                    </a:solidFill>
                  </a:tcPr>
                </a:tc>
                <a:tc>
                  <a:txBody>
                    <a:bodyPr/>
                    <a:lstStyle/>
                    <a:p>
                      <a:r>
                        <a:rPr sz="1300" b="0" i="0">
                          <a:solidFill>
                            <a:srgbClr val="1F2937"/>
                          </a:solidFill>
                          <a:latin typeface="Calibri"/>
                        </a:rPr>
                        <a:t>Reinicio (Game Over simulado a mano)</a:t>
                      </a:r>
                    </a:p>
                  </a:txBody>
                  <a:tcPr marT="36576" marB="36576">
                    <a:solidFill>
                      <a:srgbClr val="FFFFFF"/>
                    </a:solidFill>
                  </a:tcPr>
                </a:tc>
                <a:tc>
                  <a:txBody>
                    <a:bodyPr/>
                    <a:lstStyle/>
                    <a:p>
                      <a:r>
                        <a:rPr sz="1300" b="0" i="0">
                          <a:solidFill>
                            <a:srgbClr val="1F2937"/>
                          </a:solidFill>
                          <a:latin typeface="Calibri"/>
                        </a:rPr>
                        <a:t>Positivo</a:t>
                      </a:r>
                    </a:p>
                  </a:txBody>
                  <a:tcPr marT="36576" marB="36576">
                    <a:solidFill>
                      <a:srgbClr val="FFFFFF"/>
                    </a:solidFill>
                  </a:tcPr>
                </a:tc>
              </a:tr>
              <a:tr h="329184">
                <a:tc>
                  <a:txBody>
                    <a:bodyPr/>
                    <a:lstStyle/>
                    <a:p>
                      <a:r>
                        <a:rPr sz="1300" b="1" i="0">
                          <a:solidFill>
                            <a:srgbClr val="1F2937"/>
                          </a:solidFill>
                          <a:latin typeface="Calibri"/>
                        </a:rPr>
                        <a:t>04</a:t>
                      </a:r>
                    </a:p>
                  </a:txBody>
                  <a:tcPr marT="36576" marB="36576">
                    <a:solidFill>
                      <a:srgbClr val="F3F4F6"/>
                    </a:solidFill>
                  </a:tcPr>
                </a:tc>
                <a:tc>
                  <a:txBody>
                    <a:bodyPr/>
                    <a:lstStyle/>
                    <a:p>
                      <a:r>
                        <a:rPr sz="1300" b="0" i="0">
                          <a:solidFill>
                            <a:srgbClr val="1F2937"/>
                          </a:solidFill>
                          <a:latin typeface="Calibri"/>
                        </a:rPr>
                        <a:t>GameOverStopsSpawningAndDisablesShip</a:t>
                      </a:r>
                    </a:p>
                  </a:txBody>
                  <a:tcPr marT="36576" marB="36576">
                    <a:solidFill>
                      <a:srgbClr val="F3F4F6"/>
                    </a:solidFill>
                  </a:tcPr>
                </a:tc>
                <a:tc>
                  <a:txBody>
                    <a:bodyPr/>
                    <a:lstStyle/>
                    <a:p>
                      <a:r>
                        <a:rPr sz="1300" b="0" i="0">
                          <a:solidFill>
                            <a:srgbClr val="1F2937"/>
                          </a:solidFill>
                          <a:latin typeface="Calibri"/>
                        </a:rPr>
                        <a:t>Game Over detiene spawner y nave</a:t>
                      </a:r>
                    </a:p>
                  </a:txBody>
                  <a:tcPr marT="36576" marB="36576">
                    <a:solidFill>
                      <a:srgbClr val="F3F4F6"/>
                    </a:solidFill>
                  </a:tcPr>
                </a:tc>
                <a:tc>
                  <a:txBody>
                    <a:bodyPr/>
                    <a:lstStyle/>
                    <a:p>
                      <a:r>
                        <a:rPr sz="1300" b="0" i="0">
                          <a:solidFill>
                            <a:srgbClr val="1F2937"/>
                          </a:solidFill>
                          <a:latin typeface="Calibri"/>
                        </a:rPr>
                        <a:t>Positivo</a:t>
                      </a:r>
                    </a:p>
                  </a:txBody>
                  <a:tcPr marT="36576" marB="36576">
                    <a:solidFill>
                      <a:srgbClr val="F3F4F6"/>
                    </a:solidFill>
                  </a:tcPr>
                </a:tc>
              </a:tr>
              <a:tr h="329184">
                <a:tc>
                  <a:txBody>
                    <a:bodyPr/>
                    <a:lstStyle/>
                    <a:p>
                      <a:r>
                        <a:rPr sz="1300" b="1" i="0">
                          <a:solidFill>
                            <a:srgbClr val="1F2937"/>
                          </a:solidFill>
                          <a:latin typeface="Calibri"/>
                        </a:rPr>
                        <a:t>05</a:t>
                      </a:r>
                    </a:p>
                  </a:txBody>
                  <a:tcPr marT="36576" marB="36576">
                    <a:solidFill>
                      <a:srgbClr val="FFFFFF"/>
                    </a:solidFill>
                  </a:tcPr>
                </a:tc>
                <a:tc>
                  <a:txBody>
                    <a:bodyPr/>
                    <a:lstStyle/>
                    <a:p>
                      <a:r>
                        <a:rPr sz="1300" b="0" i="0">
                          <a:solidFill>
                            <a:srgbClr val="1F2937"/>
                          </a:solidFill>
                          <a:latin typeface="Calibri"/>
                        </a:rPr>
                        <a:t>LaserMovesUp</a:t>
                      </a:r>
                    </a:p>
                  </a:txBody>
                  <a:tcPr marT="36576" marB="36576">
                    <a:solidFill>
                      <a:srgbClr val="FFFFFF"/>
                    </a:solidFill>
                  </a:tcPr>
                </a:tc>
                <a:tc>
                  <a:txBody>
                    <a:bodyPr/>
                    <a:lstStyle/>
                    <a:p>
                      <a:r>
                        <a:rPr sz="1300" b="0" i="0">
                          <a:solidFill>
                            <a:srgbClr val="1F2937"/>
                          </a:solidFill>
                          <a:latin typeface="Calibri"/>
                        </a:rPr>
                        <a:t>El láser se desplaza</a:t>
                      </a:r>
                    </a:p>
                  </a:txBody>
                  <a:tcPr marT="36576" marB="36576">
                    <a:solidFill>
                      <a:srgbClr val="FFFFFF"/>
                    </a:solidFill>
                  </a:tcPr>
                </a:tc>
                <a:tc>
                  <a:txBody>
                    <a:bodyPr/>
                    <a:lstStyle/>
                    <a:p>
                      <a:r>
                        <a:rPr sz="1300" b="0" i="0">
                          <a:solidFill>
                            <a:srgbClr val="1F2937"/>
                          </a:solidFill>
                          <a:latin typeface="Calibri"/>
                        </a:rPr>
                        <a:t>Positivo</a:t>
                      </a:r>
                    </a:p>
                  </a:txBody>
                  <a:tcPr marT="36576" marB="36576">
                    <a:solidFill>
                      <a:srgbClr val="FFFFFF"/>
                    </a:solidFill>
                  </a:tcPr>
                </a:tc>
              </a:tr>
              <a:tr h="329184">
                <a:tc>
                  <a:txBody>
                    <a:bodyPr/>
                    <a:lstStyle/>
                    <a:p>
                      <a:r>
                        <a:rPr sz="1300" b="1" i="0">
                          <a:solidFill>
                            <a:srgbClr val="1F2937"/>
                          </a:solidFill>
                          <a:latin typeface="Calibri"/>
                        </a:rPr>
                        <a:t>06</a:t>
                      </a:r>
                    </a:p>
                  </a:txBody>
                  <a:tcPr marT="36576" marB="36576">
                    <a:solidFill>
                      <a:srgbClr val="F3F4F6"/>
                    </a:solidFill>
                  </a:tcPr>
                </a:tc>
                <a:tc>
                  <a:txBody>
                    <a:bodyPr/>
                    <a:lstStyle/>
                    <a:p>
                      <a:r>
                        <a:rPr sz="1300" b="0" i="0">
                          <a:solidFill>
                            <a:srgbClr val="1F2937"/>
                          </a:solidFill>
                          <a:latin typeface="Calibri"/>
                        </a:rPr>
                        <a:t>LaserDestroysAsteroid</a:t>
                      </a:r>
                    </a:p>
                  </a:txBody>
                  <a:tcPr marT="36576" marB="36576">
                    <a:solidFill>
                      <a:srgbClr val="F3F4F6"/>
                    </a:solidFill>
                  </a:tcPr>
                </a:tc>
                <a:tc>
                  <a:txBody>
                    <a:bodyPr/>
                    <a:lstStyle/>
                    <a:p>
                      <a:r>
                        <a:rPr sz="1300" b="0" i="0">
                          <a:solidFill>
                            <a:srgbClr val="1F2937"/>
                          </a:solidFill>
                          <a:latin typeface="Calibri"/>
                        </a:rPr>
                        <a:t>Láser + asteroide → destrucción</a:t>
                      </a:r>
                    </a:p>
                  </a:txBody>
                  <a:tcPr marT="36576" marB="36576">
                    <a:solidFill>
                      <a:srgbClr val="F3F4F6"/>
                    </a:solidFill>
                  </a:tcPr>
                </a:tc>
                <a:tc>
                  <a:txBody>
                    <a:bodyPr/>
                    <a:lstStyle/>
                    <a:p>
                      <a:r>
                        <a:rPr sz="1300" b="0" i="0">
                          <a:solidFill>
                            <a:srgbClr val="1F2937"/>
                          </a:solidFill>
                          <a:latin typeface="Calibri"/>
                        </a:rPr>
                        <a:t>Positivo</a:t>
                      </a:r>
                    </a:p>
                  </a:txBody>
                  <a:tcPr marT="36576" marB="36576">
                    <a:solidFill>
                      <a:srgbClr val="F3F4F6"/>
                    </a:solidFill>
                  </a:tcPr>
                </a:tc>
              </a:tr>
              <a:tr h="329184">
                <a:tc>
                  <a:txBody>
                    <a:bodyPr/>
                    <a:lstStyle/>
                    <a:p>
                      <a:r>
                        <a:rPr sz="1300" b="1" i="0">
                          <a:solidFill>
                            <a:srgbClr val="1F2937"/>
                          </a:solidFill>
                          <a:latin typeface="Calibri"/>
                        </a:rPr>
                        <a:t>07</a:t>
                      </a:r>
                    </a:p>
                  </a:txBody>
                  <a:tcPr marT="36576" marB="36576">
                    <a:solidFill>
                      <a:srgbClr val="FFFFFF"/>
                    </a:solidFill>
                  </a:tcPr>
                </a:tc>
                <a:tc>
                  <a:txBody>
                    <a:bodyPr/>
                    <a:lstStyle/>
                    <a:p>
                      <a:r>
                        <a:rPr sz="1300" b="0" i="0">
                          <a:solidFill>
                            <a:srgbClr val="1F2937"/>
                          </a:solidFill>
                          <a:latin typeface="Calibri"/>
                        </a:rPr>
                        <a:t>DestroyedAsteroidRaisesScore</a:t>
                      </a:r>
                    </a:p>
                  </a:txBody>
                  <a:tcPr marT="36576" marB="36576">
                    <a:solidFill>
                      <a:srgbClr val="FFFFFF"/>
                    </a:solidFill>
                  </a:tcPr>
                </a:tc>
                <a:tc>
                  <a:txBody>
                    <a:bodyPr/>
                    <a:lstStyle/>
                    <a:p>
                      <a:r>
                        <a:rPr sz="1300" b="0" i="0">
                          <a:solidFill>
                            <a:srgbClr val="1F2937"/>
                          </a:solidFill>
                          <a:latin typeface="Calibri"/>
                        </a:rPr>
                        <a:t>Láser + asteroide → puntaje</a:t>
                      </a:r>
                    </a:p>
                  </a:txBody>
                  <a:tcPr marT="36576" marB="36576">
                    <a:solidFill>
                      <a:srgbClr val="FFFFFF"/>
                    </a:solidFill>
                  </a:tcPr>
                </a:tc>
                <a:tc>
                  <a:txBody>
                    <a:bodyPr/>
                    <a:lstStyle/>
                    <a:p>
                      <a:r>
                        <a:rPr sz="1300" b="0" i="0">
                          <a:solidFill>
                            <a:srgbClr val="1F2937"/>
                          </a:solidFill>
                          <a:latin typeface="Calibri"/>
                        </a:rPr>
                        <a:t>Positivo</a:t>
                      </a:r>
                    </a:p>
                  </a:txBody>
                  <a:tcPr marT="36576" marB="36576">
                    <a:solidFill>
                      <a:srgbClr val="FFFFFF"/>
                    </a:solidFill>
                  </a:tcPr>
                </a:tc>
              </a:tr>
            </a:tbl>
          </a:graphicData>
        </a:graphic>
      </p:graphicFrame>
      <p:sp>
        <p:nvSpPr>
          <p:cNvPr id="7" name="Rectangle 6"/>
          <p:cNvSpPr/>
          <p:nvPr/>
        </p:nvSpPr>
        <p:spPr>
          <a:xfrm>
            <a:off x="502920" y="502920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02920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TestSuite.cs 53–149</a:t>
            </a:r>
          </a:p>
        </p:txBody>
      </p:sp>
      <p:sp>
        <p:nvSpPr>
          <p:cNvPr id="9" name="Rectangle 8"/>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Todos son casos positivos. Sin negativos, sin bordes, sin HUD, sin limpieza entre tests.</a:t>
            </a:r>
          </a:p>
        </p:txBody>
      </p:sp>
      <p:sp>
        <p:nvSpPr>
          <p:cNvPr id="11" name="TextBox 10"/>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2" name="TextBox 11"/>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2/27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3</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AL FINALIZAR PODRÁN</a:t>
            </a:r>
          </a:p>
          <a:p>
            <a:r>
              <a:rPr sz="2600" b="1" i="0">
                <a:solidFill>
                  <a:srgbClr val="FFFFFF"/>
                </a:solidFill>
                <a:latin typeface="Calibri"/>
              </a:rPr>
              <a:t>Objetivos de la clase</a:t>
            </a:r>
          </a:p>
        </p:txBody>
      </p:sp>
      <p:sp>
        <p:nvSpPr>
          <p:cNvPr id="6" name="TextBox 5"/>
          <p:cNvSpPr txBox="1"/>
          <p:nvPr/>
        </p:nvSpPr>
        <p:spPr>
          <a:xfrm>
            <a:off x="502920" y="1280160"/>
            <a:ext cx="7315200" cy="2707640"/>
          </a:xfrm>
          <a:prstGeom prst="rect">
            <a:avLst/>
          </a:prstGeom>
          <a:noFill/>
        </p:spPr>
        <p:txBody>
          <a:bodyPr wrap="square" anchor="t" lIns="0" rIns="0" tIns="0" bIns="0">
            <a:spAutoFit/>
          </a:bodyPr>
          <a:lstStyle/>
          <a:p>
            <a:pPr>
              <a:spcAft>
                <a:spcPts val="600"/>
              </a:spcAft>
            </a:pPr>
            <a:r>
              <a:rPr sz="1300" b="1" i="0">
                <a:solidFill>
                  <a:srgbClr val="0D9488"/>
                </a:solidFill>
                <a:latin typeface="Calibri"/>
              </a:rPr>
              <a:t>■  </a:t>
            </a:r>
            <a:r>
              <a:rPr sz="1700" b="0" i="0">
                <a:solidFill>
                  <a:srgbClr val="1F2937"/>
                </a:solidFill>
                <a:latin typeface="Calibri"/>
              </a:rPr>
              <a:t>Diseñar casos de integración positivos, negativos y de borde para un flujo de juego</a:t>
            </a:r>
          </a:p>
          <a:p>
            <a:pPr>
              <a:spcAft>
                <a:spcPts val="600"/>
              </a:spcAft>
            </a:pPr>
            <a:r>
              <a:rPr sz="1300" b="1" i="0">
                <a:solidFill>
                  <a:srgbClr val="0D9488"/>
                </a:solidFill>
                <a:latin typeface="Calibri"/>
              </a:rPr>
              <a:t>■  </a:t>
            </a:r>
            <a:r>
              <a:rPr sz="1700" b="0" i="0">
                <a:solidFill>
                  <a:srgbClr val="1F2937"/>
                </a:solidFill>
                <a:latin typeface="Calibri"/>
              </a:rPr>
              <a:t>Preparar fixtures y datos de prueba que aíslen cada test</a:t>
            </a:r>
          </a:p>
          <a:p>
            <a:pPr>
              <a:spcAft>
                <a:spcPts val="600"/>
              </a:spcAft>
            </a:pPr>
            <a:r>
              <a:rPr sz="1300" b="1" i="0">
                <a:solidFill>
                  <a:srgbClr val="0D9488"/>
                </a:solidFill>
                <a:latin typeface="Calibri"/>
              </a:rPr>
              <a:t>■  </a:t>
            </a:r>
            <a:r>
              <a:rPr sz="1700" b="0" i="0">
                <a:solidFill>
                  <a:srgbClr val="1F2937"/>
                </a:solidFill>
                <a:latin typeface="Calibri"/>
              </a:rPr>
              <a:t>Reconocer las causas de un test frágil (flaky) y corregirlas</a:t>
            </a:r>
          </a:p>
          <a:p>
            <a:pPr>
              <a:spcAft>
                <a:spcPts val="600"/>
              </a:spcAft>
            </a:pPr>
            <a:r>
              <a:rPr sz="1300" b="1" i="0">
                <a:solidFill>
                  <a:srgbClr val="0D9488"/>
                </a:solidFill>
                <a:latin typeface="Calibri"/>
              </a:rPr>
              <a:t>■  </a:t>
            </a:r>
            <a:r>
              <a:rPr sz="1700" b="0" i="0">
                <a:solidFill>
                  <a:srgbClr val="1F2937"/>
                </a:solidFill>
                <a:latin typeface="Calibri"/>
              </a:rPr>
              <a:t>Elegir qué dependencias usar reales y cuáles reemplazar por dobles de prueba</a:t>
            </a:r>
          </a:p>
          <a:p>
            <a:pPr>
              <a:spcAft>
                <a:spcPts val="600"/>
              </a:spcAft>
            </a:pPr>
            <a:r>
              <a:rPr sz="1300" b="1" i="0">
                <a:solidFill>
                  <a:srgbClr val="0D9488"/>
                </a:solidFill>
                <a:latin typeface="Calibri"/>
              </a:rPr>
              <a:t>■  </a:t>
            </a:r>
            <a:r>
              <a:rPr sz="1700" b="0" i="0">
                <a:solidFill>
                  <a:srgbClr val="1F2937"/>
                </a:solidFill>
                <a:latin typeface="Calibri"/>
              </a:rPr>
              <a:t>Interpretar un reporte de cobertura sin sobreestimarlo</a:t>
            </a:r>
          </a:p>
          <a:p>
            <a:pPr>
              <a:spcAft>
                <a:spcPts val="600"/>
              </a:spcAft>
            </a:pPr>
            <a:r>
              <a:rPr sz="1300" b="1" i="0">
                <a:solidFill>
                  <a:srgbClr val="0D9488"/>
                </a:solidFill>
                <a:latin typeface="Calibri"/>
              </a:rPr>
              <a:t>■  </a:t>
            </a:r>
            <a:r>
              <a:rPr sz="1700" b="0" i="0">
                <a:solidFill>
                  <a:srgbClr val="1F2937"/>
                </a:solidFill>
                <a:latin typeface="Calibri"/>
              </a:rPr>
              <a:t>Organizar una mini-suite de integración priorizada</a:t>
            </a:r>
          </a:p>
        </p:txBody>
      </p:sp>
      <p:sp>
        <p:nvSpPr>
          <p:cNvPr id="7" name="Rectangle 6"/>
          <p:cNvSpPr/>
          <p:nvPr/>
        </p:nvSpPr>
        <p:spPr>
          <a:xfrm>
            <a:off x="8092440" y="1280160"/>
            <a:ext cx="3593592" cy="498348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Diagrama de evolución: «7 tests positivos» → «suite con positivos, negativos, bordes y regresión» (dos columnas con flecha).</a:t>
            </a:r>
          </a:p>
        </p:txBody>
      </p:sp>
      <p:sp>
        <p:nvSpPr>
          <p:cNvPr id="8" name="TextBox 7"/>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9" name="TextBox 8"/>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3/27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4</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ORGANIZACIÓN</a:t>
            </a:r>
          </a:p>
          <a:p>
            <a:r>
              <a:rPr sz="2600" b="1" i="0">
                <a:solidFill>
                  <a:srgbClr val="FFFFFF"/>
                </a:solidFill>
                <a:latin typeface="Calibri"/>
              </a:rPr>
              <a:t>Agenda (120 min)</a:t>
            </a:r>
          </a:p>
        </p:txBody>
      </p:sp>
      <p:graphicFrame>
        <p:nvGraphicFramePr>
          <p:cNvPr id="6" name="Table 5"/>
          <p:cNvGraphicFramePr>
            <a:graphicFrameLocks noGrp="1"/>
          </p:cNvGraphicFramePr>
          <p:nvPr/>
        </p:nvGraphicFramePr>
        <p:xfrm>
          <a:off x="502920" y="1280160"/>
          <a:ext cx="11185852" cy="3950208"/>
        </p:xfrm>
        <a:graphic>
          <a:graphicData uri="http://schemas.openxmlformats.org/drawingml/2006/table">
            <a:tbl>
              <a:tblPr firstRow="1" bandRow="1">
                <a:tableStyleId>{5C22544A-7EE6-4342-B048-85BDC9FD1C3A}</a:tableStyleId>
              </a:tblPr>
              <a:tblGrid>
                <a:gridCol w="5250503"/>
                <a:gridCol w="913131"/>
                <a:gridCol w="1141413"/>
                <a:gridCol w="1141413"/>
                <a:gridCol w="1255555"/>
                <a:gridCol w="1483837"/>
              </a:tblGrid>
              <a:tr h="329184">
                <a:tc>
                  <a:txBody>
                    <a:bodyPr/>
                    <a:lstStyle/>
                    <a:p>
                      <a:r>
                        <a:rPr sz="1400" b="1" i="0">
                          <a:solidFill>
                            <a:srgbClr val="FFFFFF"/>
                          </a:solidFill>
                          <a:latin typeface="Calibri"/>
                        </a:rPr>
                        <a:t>Bloque</a:t>
                      </a:r>
                    </a:p>
                  </a:txBody>
                  <a:tcPr>
                    <a:solidFill>
                      <a:srgbClr val="1F2A44"/>
                    </a:solidFill>
                  </a:tcPr>
                </a:tc>
                <a:tc>
                  <a:txBody>
                    <a:bodyPr/>
                    <a:lstStyle/>
                    <a:p>
                      <a:r>
                        <a:rPr sz="1400" b="1" i="0">
                          <a:solidFill>
                            <a:srgbClr val="FFFFFF"/>
                          </a:solidFill>
                          <a:latin typeface="Calibri"/>
                        </a:rPr>
                        <a:t>Min</a:t>
                      </a:r>
                    </a:p>
                  </a:txBody>
                  <a:tcPr>
                    <a:solidFill>
                      <a:srgbClr val="1F2A44"/>
                    </a:solidFill>
                  </a:tcPr>
                </a:tc>
                <a:tc>
                  <a:txBody>
                    <a:bodyPr/>
                    <a:lstStyle/>
                    <a:p>
                      <a:r>
                        <a:rPr sz="1400" b="1" i="0">
                          <a:solidFill>
                            <a:srgbClr val="FFFFFF"/>
                          </a:solidFill>
                          <a:latin typeface="Calibri"/>
                        </a:rPr>
                        <a:t>Teoría</a:t>
                      </a:r>
                    </a:p>
                  </a:txBody>
                  <a:tcPr>
                    <a:solidFill>
                      <a:srgbClr val="1F2A44"/>
                    </a:solidFill>
                  </a:tcPr>
                </a:tc>
                <a:tc>
                  <a:txBody>
                    <a:bodyPr/>
                    <a:lstStyle/>
                    <a:p>
                      <a:r>
                        <a:rPr sz="1400" b="1" i="0">
                          <a:solidFill>
                            <a:srgbClr val="FFFFFF"/>
                          </a:solidFill>
                          <a:latin typeface="Calibri"/>
                        </a:rPr>
                        <a:t>Demo</a:t>
                      </a:r>
                    </a:p>
                  </a:txBody>
                  <a:tcPr>
                    <a:solidFill>
                      <a:srgbClr val="1F2A44"/>
                    </a:solidFill>
                  </a:tcPr>
                </a:tc>
                <a:tc>
                  <a:txBody>
                    <a:bodyPr/>
                    <a:lstStyle/>
                    <a:p>
                      <a:r>
                        <a:rPr sz="1400" b="1" i="0">
                          <a:solidFill>
                            <a:srgbClr val="FFFFFF"/>
                          </a:solidFill>
                          <a:latin typeface="Calibri"/>
                        </a:rPr>
                        <a:t>Práctica</a:t>
                      </a:r>
                    </a:p>
                  </a:txBody>
                  <a:tcPr>
                    <a:solidFill>
                      <a:srgbClr val="1F2A44"/>
                    </a:solidFill>
                  </a:tcPr>
                </a:tc>
                <a:tc>
                  <a:txBody>
                    <a:bodyPr/>
                    <a:lstStyle/>
                    <a:p>
                      <a:r>
                        <a:rPr sz="1400" b="1" i="0">
                          <a:solidFill>
                            <a:srgbClr val="FFFFFF"/>
                          </a:solidFill>
                          <a:latin typeface="Calibri"/>
                        </a:rPr>
                        <a:t>Resolución</a:t>
                      </a:r>
                    </a:p>
                  </a:txBody>
                  <a:tcPr>
                    <a:solidFill>
                      <a:srgbClr val="1F2A44"/>
                    </a:solidFill>
                  </a:tcPr>
                </a:tc>
              </a:tr>
              <a:tr h="329184">
                <a:tc>
                  <a:txBody>
                    <a:bodyPr/>
                    <a:lstStyle/>
                    <a:p>
                      <a:r>
                        <a:rPr sz="1300" b="1" i="0">
                          <a:solidFill>
                            <a:srgbClr val="1F2937"/>
                          </a:solidFill>
                          <a:latin typeface="Calibri"/>
                        </a:rPr>
                        <a:t>Apertura y diagnóstico</a:t>
                      </a:r>
                    </a:p>
                  </a:txBody>
                  <a:tcPr marT="36576" marB="36576">
                    <a:solidFill>
                      <a:srgbClr val="FFFFFF"/>
                    </a:solidFill>
                  </a:tcPr>
                </a:tc>
                <a:tc>
                  <a:txBody>
                    <a:bodyPr/>
                    <a:lstStyle/>
                    <a:p>
                      <a:r>
                        <a:rPr sz="1300" b="0" i="0">
                          <a:solidFill>
                            <a:srgbClr val="1F2937"/>
                          </a:solidFill>
                          <a:latin typeface="Calibri"/>
                        </a:rPr>
                        <a:t>8</a:t>
                      </a:r>
                    </a:p>
                  </a:txBody>
                  <a:tcPr marT="36576" marB="36576">
                    <a:solidFill>
                      <a:srgbClr val="FFFFFF"/>
                    </a:solidFill>
                  </a:tcPr>
                </a:tc>
                <a:tc>
                  <a:txBody>
                    <a:bodyPr/>
                    <a:lstStyle/>
                    <a:p>
                      <a:r>
                        <a:rPr sz="1300" b="0" i="0">
                          <a:solidFill>
                            <a:srgbClr val="1F2937"/>
                          </a:solidFill>
                          <a:latin typeface="Calibri"/>
                        </a:rPr>
                        <a:t>5</a:t>
                      </a:r>
                    </a:p>
                  </a:txBody>
                  <a:tcPr marT="36576" marB="36576">
                    <a:solidFill>
                      <a:srgbClr val="FFFFFF"/>
                    </a:solidFill>
                  </a:tcPr>
                </a:tc>
                <a:tc>
                  <a:txBody>
                    <a:bodyPr/>
                    <a:lstStyle/>
                    <a:p>
                      <a:r>
                        <a:rPr sz="1300" b="0" i="0">
                          <a:solidFill>
                            <a:srgbClr val="1F2937"/>
                          </a:solidFill>
                          <a:latin typeface="Calibri"/>
                        </a:rPr>
                        <a:t>3</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r>
              <a:tr h="329184">
                <a:tc>
                  <a:txBody>
                    <a:bodyPr/>
                    <a:lstStyle/>
                    <a:p>
                      <a:r>
                        <a:rPr sz="1300" b="1" i="0">
                          <a:solidFill>
                            <a:srgbClr val="1F2937"/>
                          </a:solidFill>
                          <a:latin typeface="Calibri"/>
                        </a:rPr>
                        <a:t>1. Positivos, negativos y borde</a:t>
                      </a:r>
                    </a:p>
                  </a:txBody>
                  <a:tcPr marT="36576" marB="36576">
                    <a:solidFill>
                      <a:srgbClr val="F3F4F6"/>
                    </a:solidFill>
                  </a:tcPr>
                </a:tc>
                <a:tc>
                  <a:txBody>
                    <a:bodyPr/>
                    <a:lstStyle/>
                    <a:p>
                      <a:r>
                        <a:rPr sz="1300" b="0" i="0">
                          <a:solidFill>
                            <a:srgbClr val="1F2937"/>
                          </a:solidFill>
                          <a:latin typeface="Calibri"/>
                        </a:rPr>
                        <a:t>12</a:t>
                      </a:r>
                    </a:p>
                  </a:txBody>
                  <a:tcPr marT="36576" marB="36576">
                    <a:solidFill>
                      <a:srgbClr val="F3F4F6"/>
                    </a:solidFill>
                  </a:tcPr>
                </a:tc>
                <a:tc>
                  <a:txBody>
                    <a:bodyPr/>
                    <a:lstStyle/>
                    <a:p>
                      <a:r>
                        <a:rPr sz="1300" b="0" i="0">
                          <a:solidFill>
                            <a:srgbClr val="1F2937"/>
                          </a:solidFill>
                          <a:latin typeface="Calibri"/>
                        </a:rPr>
                        <a:t>8</a:t>
                      </a:r>
                    </a:p>
                  </a:txBody>
                  <a:tcPr marT="36576" marB="36576">
                    <a:solidFill>
                      <a:srgbClr val="F3F4F6"/>
                    </a:solidFill>
                  </a:tcPr>
                </a:tc>
                <a:tc>
                  <a:txBody>
                    <a:bodyPr/>
                    <a:lstStyle/>
                    <a:p>
                      <a:r>
                        <a:rPr sz="1300" b="0" i="0">
                          <a:solidFill>
                            <a:srgbClr val="1F2937"/>
                          </a:solidFill>
                          <a:latin typeface="Calibri"/>
                        </a:rPr>
                        <a:t>4</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r>
              <a:tr h="329184">
                <a:tc>
                  <a:txBody>
                    <a:bodyPr/>
                    <a:lstStyle/>
                    <a:p>
                      <a:r>
                        <a:rPr sz="1300" b="1" i="0">
                          <a:solidFill>
                            <a:srgbClr val="1F2937"/>
                          </a:solidFill>
                          <a:latin typeface="Calibri"/>
                        </a:rPr>
                        <a:t>   Actividad 1 · diseñar casos</a:t>
                      </a:r>
                    </a:p>
                  </a:txBody>
                  <a:tcPr marT="36576" marB="36576">
                    <a:solidFill>
                      <a:srgbClr val="FFFFFF"/>
                    </a:solidFill>
                  </a:tcPr>
                </a:tc>
                <a:tc>
                  <a:txBody>
                    <a:bodyPr/>
                    <a:lstStyle/>
                    <a:p>
                      <a:r>
                        <a:rPr sz="1300" b="0" i="0">
                          <a:solidFill>
                            <a:srgbClr val="1F2937"/>
                          </a:solidFill>
                          <a:latin typeface="Calibri"/>
                        </a:rPr>
                        <a:t>17</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12</a:t>
                      </a:r>
                    </a:p>
                  </a:txBody>
                  <a:tcPr marT="36576" marB="36576">
                    <a:solidFill>
                      <a:srgbClr val="FFFFFF"/>
                    </a:solidFill>
                  </a:tcPr>
                </a:tc>
                <a:tc>
                  <a:txBody>
                    <a:bodyPr/>
                    <a:lstStyle/>
                    <a:p>
                      <a:r>
                        <a:rPr sz="1300" b="0" i="0">
                          <a:solidFill>
                            <a:srgbClr val="1F2937"/>
                          </a:solidFill>
                          <a:latin typeface="Calibri"/>
                        </a:rPr>
                        <a:t>5</a:t>
                      </a:r>
                    </a:p>
                  </a:txBody>
                  <a:tcPr marT="36576" marB="36576">
                    <a:solidFill>
                      <a:srgbClr val="FFFFFF"/>
                    </a:solidFill>
                  </a:tcPr>
                </a:tc>
              </a:tr>
              <a:tr h="329184">
                <a:tc>
                  <a:txBody>
                    <a:bodyPr/>
                    <a:lstStyle/>
                    <a:p>
                      <a:r>
                        <a:rPr sz="1300" b="1" i="0">
                          <a:solidFill>
                            <a:srgbClr val="1F2937"/>
                          </a:solidFill>
                          <a:latin typeface="Calibri"/>
                        </a:rPr>
                        <a:t>   Actividad 2 · casos borde</a:t>
                      </a:r>
                    </a:p>
                  </a:txBody>
                  <a:tcPr marT="36576" marB="36576">
                    <a:solidFill>
                      <a:srgbClr val="F3F4F6"/>
                    </a:solidFill>
                  </a:tcPr>
                </a:tc>
                <a:tc>
                  <a:txBody>
                    <a:bodyPr/>
                    <a:lstStyle/>
                    <a:p>
                      <a:r>
                        <a:rPr sz="1300" b="0" i="0">
                          <a:solidFill>
                            <a:srgbClr val="1F2937"/>
                          </a:solidFill>
                          <a:latin typeface="Calibri"/>
                        </a:rPr>
                        <a:t>15</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10</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r>
              <a:tr h="329184">
                <a:tc>
                  <a:txBody>
                    <a:bodyPr/>
                    <a:lstStyle/>
                    <a:p>
                      <a:r>
                        <a:rPr sz="1300" b="1" i="0">
                          <a:solidFill>
                            <a:srgbClr val="1F2937"/>
                          </a:solidFill>
                          <a:latin typeface="Calibri"/>
                        </a:rPr>
                        <a:t>2. Fixtures, aislamiento y tests frágiles</a:t>
                      </a:r>
                    </a:p>
                  </a:txBody>
                  <a:tcPr marT="36576" marB="36576">
                    <a:solidFill>
                      <a:srgbClr val="FFFFFF"/>
                    </a:solidFill>
                  </a:tcPr>
                </a:tc>
                <a:tc>
                  <a:txBody>
                    <a:bodyPr/>
                    <a:lstStyle/>
                    <a:p>
                      <a:r>
                        <a:rPr sz="1300" b="0" i="0">
                          <a:solidFill>
                            <a:srgbClr val="1F2937"/>
                          </a:solidFill>
                          <a:latin typeface="Calibri"/>
                        </a:rPr>
                        <a:t>13</a:t>
                      </a:r>
                    </a:p>
                  </a:txBody>
                  <a:tcPr marT="36576" marB="36576">
                    <a:solidFill>
                      <a:srgbClr val="FFFFFF"/>
                    </a:solidFill>
                  </a:tcPr>
                </a:tc>
                <a:tc>
                  <a:txBody>
                    <a:bodyPr/>
                    <a:lstStyle/>
                    <a:p>
                      <a:r>
                        <a:rPr sz="1300" b="0" i="0">
                          <a:solidFill>
                            <a:srgbClr val="1F2937"/>
                          </a:solidFill>
                          <a:latin typeface="Calibri"/>
                        </a:rPr>
                        <a:t>8</a:t>
                      </a:r>
                    </a:p>
                  </a:txBody>
                  <a:tcPr marT="36576" marB="36576">
                    <a:solidFill>
                      <a:srgbClr val="FFFFFF"/>
                    </a:solidFill>
                  </a:tcPr>
                </a:tc>
                <a:tc>
                  <a:txBody>
                    <a:bodyPr/>
                    <a:lstStyle/>
                    <a:p>
                      <a:r>
                        <a:rPr sz="1300" b="0" i="0">
                          <a:solidFill>
                            <a:srgbClr val="1F2937"/>
                          </a:solidFill>
                          <a:latin typeface="Calibri"/>
                        </a:rPr>
                        <a:t>5</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r>
              <a:tr h="329184">
                <a:tc>
                  <a:txBody>
                    <a:bodyPr/>
                    <a:lstStyle/>
                    <a:p>
                      <a:r>
                        <a:rPr sz="1300" b="1" i="0">
                          <a:solidFill>
                            <a:srgbClr val="1F2937"/>
                          </a:solidFill>
                          <a:latin typeface="Calibri"/>
                        </a:rPr>
                        <a:t>   Actividad 3 · analizar un test fallido</a:t>
                      </a:r>
                    </a:p>
                  </a:txBody>
                  <a:tcPr marT="36576" marB="36576">
                    <a:solidFill>
                      <a:srgbClr val="F3F4F6"/>
                    </a:solidFill>
                  </a:tcPr>
                </a:tc>
                <a:tc>
                  <a:txBody>
                    <a:bodyPr/>
                    <a:lstStyle/>
                    <a:p>
                      <a:r>
                        <a:rPr sz="1300" b="0" i="0">
                          <a:solidFill>
                            <a:srgbClr val="1F2937"/>
                          </a:solidFill>
                          <a:latin typeface="Calibri"/>
                        </a:rPr>
                        <a:t>15</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10</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r>
              <a:tr h="329184">
                <a:tc>
                  <a:txBody>
                    <a:bodyPr/>
                    <a:lstStyle/>
                    <a:p>
                      <a:r>
                        <a:rPr sz="1300" b="1" i="0">
                          <a:solidFill>
                            <a:srgbClr val="1F2937"/>
                          </a:solidFill>
                          <a:latin typeface="Calibri"/>
                        </a:rPr>
                        <a:t>3. Dependencias y dobles de prueba</a:t>
                      </a:r>
                    </a:p>
                  </a:txBody>
                  <a:tcPr marT="36576" marB="36576">
                    <a:solidFill>
                      <a:srgbClr val="FFFFFF"/>
                    </a:solidFill>
                  </a:tcPr>
                </a:tc>
                <a:tc>
                  <a:txBody>
                    <a:bodyPr/>
                    <a:lstStyle/>
                    <a:p>
                      <a:r>
                        <a:rPr sz="1300" b="0" i="0">
                          <a:solidFill>
                            <a:srgbClr val="1F2937"/>
                          </a:solidFill>
                          <a:latin typeface="Calibri"/>
                        </a:rPr>
                        <a:t>8</a:t>
                      </a:r>
                    </a:p>
                  </a:txBody>
                  <a:tcPr marT="36576" marB="36576">
                    <a:solidFill>
                      <a:srgbClr val="FFFFFF"/>
                    </a:solidFill>
                  </a:tcPr>
                </a:tc>
                <a:tc>
                  <a:txBody>
                    <a:bodyPr/>
                    <a:lstStyle/>
                    <a:p>
                      <a:r>
                        <a:rPr sz="1300" b="0" i="0">
                          <a:solidFill>
                            <a:srgbClr val="1F2937"/>
                          </a:solidFill>
                          <a:latin typeface="Calibri"/>
                        </a:rPr>
                        <a:t>6</a:t>
                      </a:r>
                    </a:p>
                  </a:txBody>
                  <a:tcPr marT="36576" marB="36576">
                    <a:solidFill>
                      <a:srgbClr val="FFFFFF"/>
                    </a:solidFill>
                  </a:tcPr>
                </a:tc>
                <a:tc>
                  <a:txBody>
                    <a:bodyPr/>
                    <a:lstStyle/>
                    <a:p>
                      <a:r>
                        <a:rPr sz="1300" b="0" i="0">
                          <a:solidFill>
                            <a:srgbClr val="1F2937"/>
                          </a:solidFill>
                          <a:latin typeface="Calibri"/>
                        </a:rPr>
                        <a:t>2</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r>
              <a:tr h="329184">
                <a:tc>
                  <a:txBody>
                    <a:bodyPr/>
                    <a:lstStyle/>
                    <a:p>
                      <a:r>
                        <a:rPr sz="1300" b="1" i="0">
                          <a:solidFill>
                            <a:srgbClr val="1F2937"/>
                          </a:solidFill>
                          <a:latin typeface="Calibri"/>
                        </a:rPr>
                        <a:t>4. Cobertura y regresión</a:t>
                      </a:r>
                    </a:p>
                  </a:txBody>
                  <a:tcPr marT="36576" marB="36576">
                    <a:solidFill>
                      <a:srgbClr val="F3F4F6"/>
                    </a:solidFill>
                  </a:tcPr>
                </a:tc>
                <a:tc>
                  <a:txBody>
                    <a:bodyPr/>
                    <a:lstStyle/>
                    <a:p>
                      <a:r>
                        <a:rPr sz="1300" b="0" i="0">
                          <a:solidFill>
                            <a:srgbClr val="1F2937"/>
                          </a:solidFill>
                          <a:latin typeface="Calibri"/>
                        </a:rPr>
                        <a:t>8</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c>
                  <a:txBody>
                    <a:bodyPr/>
                    <a:lstStyle/>
                    <a:p>
                      <a:r>
                        <a:rPr sz="1300" b="0" i="0">
                          <a:solidFill>
                            <a:srgbClr val="1F2937"/>
                          </a:solidFill>
                          <a:latin typeface="Calibri"/>
                        </a:rPr>
                        <a:t>3</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r>
              <a:tr h="329184">
                <a:tc>
                  <a:txBody>
                    <a:bodyPr/>
                    <a:lstStyle/>
                    <a:p>
                      <a:r>
                        <a:rPr sz="1300" b="1" i="0">
                          <a:solidFill>
                            <a:srgbClr val="1F2937"/>
                          </a:solidFill>
                          <a:latin typeface="Calibri"/>
                        </a:rPr>
                        <a:t>   Actividad 4 · mini-suite</a:t>
                      </a:r>
                    </a:p>
                  </a:txBody>
                  <a:tcPr marT="36576" marB="36576">
                    <a:solidFill>
                      <a:srgbClr val="FFFFFF"/>
                    </a:solidFill>
                  </a:tcPr>
                </a:tc>
                <a:tc>
                  <a:txBody>
                    <a:bodyPr/>
                    <a:lstStyle/>
                    <a:p>
                      <a:r>
                        <a:rPr sz="1300" b="0" i="0">
                          <a:solidFill>
                            <a:srgbClr val="1F2937"/>
                          </a:solidFill>
                          <a:latin typeface="Calibri"/>
                        </a:rPr>
                        <a:t>19</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a:t>
                      </a:r>
                    </a:p>
                  </a:txBody>
                  <a:tcPr marT="36576" marB="36576">
                    <a:solidFill>
                      <a:srgbClr val="FFFFFF"/>
                    </a:solidFill>
                  </a:tcPr>
                </a:tc>
                <a:tc>
                  <a:txBody>
                    <a:bodyPr/>
                    <a:lstStyle/>
                    <a:p>
                      <a:r>
                        <a:rPr sz="1300" b="0" i="0">
                          <a:solidFill>
                            <a:srgbClr val="1F2937"/>
                          </a:solidFill>
                          <a:latin typeface="Calibri"/>
                        </a:rPr>
                        <a:t>14</a:t>
                      </a:r>
                    </a:p>
                  </a:txBody>
                  <a:tcPr marT="36576" marB="36576">
                    <a:solidFill>
                      <a:srgbClr val="FFFFFF"/>
                    </a:solidFill>
                  </a:tcPr>
                </a:tc>
                <a:tc>
                  <a:txBody>
                    <a:bodyPr/>
                    <a:lstStyle/>
                    <a:p>
                      <a:r>
                        <a:rPr sz="1300" b="0" i="0">
                          <a:solidFill>
                            <a:srgbClr val="1F2937"/>
                          </a:solidFill>
                          <a:latin typeface="Calibri"/>
                        </a:rPr>
                        <a:t>5</a:t>
                      </a:r>
                    </a:p>
                  </a:txBody>
                  <a:tcPr marT="36576" marB="36576">
                    <a:solidFill>
                      <a:srgbClr val="FFFFFF"/>
                    </a:solidFill>
                  </a:tcPr>
                </a:tc>
              </a:tr>
              <a:tr h="329184">
                <a:tc>
                  <a:txBody>
                    <a:bodyPr/>
                    <a:lstStyle/>
                    <a:p>
                      <a:r>
                        <a:rPr sz="1300" b="1" i="0">
                          <a:solidFill>
                            <a:srgbClr val="1F2937"/>
                          </a:solidFill>
                          <a:latin typeface="Calibri"/>
                        </a:rPr>
                        <a:t>Cierre</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c>
                  <a:txBody>
                    <a:bodyPr/>
                    <a:lstStyle/>
                    <a:p>
                      <a:r>
                        <a:rPr sz="1300" b="0" i="0">
                          <a:solidFill>
                            <a:srgbClr val="1F2937"/>
                          </a:solidFill>
                          <a:latin typeface="Calibri"/>
                        </a:rPr>
                        <a:t>5</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c>
                  <a:txBody>
                    <a:bodyPr/>
                    <a:lstStyle/>
                    <a:p>
                      <a:r>
                        <a:rPr sz="1300" b="0" i="0">
                          <a:solidFill>
                            <a:srgbClr val="1F2937"/>
                          </a:solidFill>
                          <a:latin typeface="Calibri"/>
                        </a:rPr>
                        <a:t>–</a:t>
                      </a:r>
                    </a:p>
                  </a:txBody>
                  <a:tcPr marT="36576" marB="36576">
                    <a:solidFill>
                      <a:srgbClr val="F3F4F6"/>
                    </a:solidFill>
                  </a:tcPr>
                </a:tc>
              </a:tr>
              <a:tr h="329184">
                <a:tc>
                  <a:txBody>
                    <a:bodyPr/>
                    <a:lstStyle/>
                    <a:p>
                      <a:r>
                        <a:rPr sz="1300" b="1" i="0">
                          <a:solidFill>
                            <a:srgbClr val="1F2937"/>
                          </a:solidFill>
                          <a:latin typeface="Calibri"/>
                        </a:rPr>
                        <a:t>Total</a:t>
                      </a:r>
                    </a:p>
                  </a:txBody>
                  <a:tcPr marT="36576" marB="36576">
                    <a:solidFill>
                      <a:srgbClr val="FFFFFF"/>
                    </a:solidFill>
                  </a:tcPr>
                </a:tc>
                <a:tc>
                  <a:txBody>
                    <a:bodyPr/>
                    <a:lstStyle/>
                    <a:p>
                      <a:r>
                        <a:rPr sz="1300" b="0" i="0">
                          <a:solidFill>
                            <a:srgbClr val="1F2937"/>
                          </a:solidFill>
                          <a:latin typeface="Calibri"/>
                        </a:rPr>
                        <a:t>120</a:t>
                      </a:r>
                    </a:p>
                  </a:txBody>
                  <a:tcPr marT="36576" marB="36576">
                    <a:solidFill>
                      <a:srgbClr val="FFFFFF"/>
                    </a:solidFill>
                  </a:tcPr>
                </a:tc>
                <a:tc>
                  <a:txBody>
                    <a:bodyPr/>
                    <a:lstStyle/>
                    <a:p>
                      <a:r>
                        <a:rPr sz="1300" b="0" i="0">
                          <a:solidFill>
                            <a:srgbClr val="1F2937"/>
                          </a:solidFill>
                          <a:latin typeface="Calibri"/>
                        </a:rPr>
                        <a:t>37</a:t>
                      </a:r>
                    </a:p>
                  </a:txBody>
                  <a:tcPr marT="36576" marB="36576">
                    <a:solidFill>
                      <a:srgbClr val="FFFFFF"/>
                    </a:solidFill>
                  </a:tcPr>
                </a:tc>
                <a:tc>
                  <a:txBody>
                    <a:bodyPr/>
                    <a:lstStyle/>
                    <a:p>
                      <a:r>
                        <a:rPr sz="1300" b="0" i="0">
                          <a:solidFill>
                            <a:srgbClr val="1F2937"/>
                          </a:solidFill>
                          <a:latin typeface="Calibri"/>
                        </a:rPr>
                        <a:t>17</a:t>
                      </a:r>
                    </a:p>
                  </a:txBody>
                  <a:tcPr marT="36576" marB="36576">
                    <a:solidFill>
                      <a:srgbClr val="FFFFFF"/>
                    </a:solidFill>
                  </a:tcPr>
                </a:tc>
                <a:tc>
                  <a:txBody>
                    <a:bodyPr/>
                    <a:lstStyle/>
                    <a:p>
                      <a:r>
                        <a:rPr sz="1300" b="0" i="0">
                          <a:solidFill>
                            <a:srgbClr val="1F2937"/>
                          </a:solidFill>
                          <a:latin typeface="Calibri"/>
                        </a:rPr>
                        <a:t>46</a:t>
                      </a:r>
                    </a:p>
                  </a:txBody>
                  <a:tcPr marT="36576" marB="36576">
                    <a:solidFill>
                      <a:srgbClr val="FFFFFF"/>
                    </a:solidFill>
                  </a:tcPr>
                </a:tc>
                <a:tc>
                  <a:txBody>
                    <a:bodyPr/>
                    <a:lstStyle/>
                    <a:p>
                      <a:r>
                        <a:rPr sz="1300" b="0" i="0">
                          <a:solidFill>
                            <a:srgbClr val="1F2937"/>
                          </a:solidFill>
                          <a:latin typeface="Calibri"/>
                        </a:rPr>
                        <a:t>20</a:t>
                      </a:r>
                    </a:p>
                  </a:txBody>
                  <a:tcPr marT="36576" marB="36576">
                    <a:solidFill>
                      <a:srgbClr val="FFFFFF"/>
                    </a:solidFill>
                  </a:tcPr>
                </a:tc>
              </a:tr>
            </a:tbl>
          </a:graphicData>
        </a:graphic>
      </p:graphicFrame>
      <p:sp>
        <p:nvSpPr>
          <p:cNvPr id="7" name="TextBox 6"/>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8" name="TextBox 7"/>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4/27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5</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APERTURA</a:t>
            </a:r>
          </a:p>
          <a:p>
            <a:r>
              <a:rPr sz="2600" b="1" i="0">
                <a:solidFill>
                  <a:srgbClr val="FFFFFF"/>
                </a:solidFill>
                <a:latin typeface="Calibri"/>
              </a:rPr>
              <a:t>La suite pasa… ¿y el juego?</a:t>
            </a:r>
          </a:p>
        </p:txBody>
      </p:sp>
      <p:sp>
        <p:nvSpPr>
          <p:cNvPr id="6" name="TextBox 5"/>
          <p:cNvSpPr txBox="1"/>
          <p:nvPr/>
        </p:nvSpPr>
        <p:spPr>
          <a:xfrm>
            <a:off x="502920" y="1280160"/>
            <a:ext cx="7315200" cy="2254885"/>
          </a:xfrm>
          <a:prstGeom prst="rect">
            <a:avLst/>
          </a:prstGeom>
          <a:noFill/>
        </p:spPr>
        <p:txBody>
          <a:bodyPr wrap="square" anchor="t" lIns="0" rIns="0" tIns="0" bIns="0">
            <a:spAutoFit/>
          </a:bodyPr>
          <a:lstStyle/>
          <a:p>
            <a:pPr>
              <a:spcAft>
                <a:spcPts val="600"/>
              </a:spcAft>
            </a:pPr>
            <a:r>
              <a:rPr sz="1300" b="1" i="0">
                <a:solidFill>
                  <a:srgbClr val="0D9488"/>
                </a:solidFill>
                <a:latin typeface="Calibri"/>
              </a:rPr>
              <a:t>■  </a:t>
            </a:r>
            <a:r>
              <a:rPr sz="1700" b="0" i="0">
                <a:solidFill>
                  <a:srgbClr val="1F2937"/>
                </a:solidFill>
                <a:latin typeface="Calibri"/>
              </a:rPr>
              <a:t>¿Qué pasa si reinicio la partida con asteroides todavía en pantalla?</a:t>
            </a:r>
          </a:p>
          <a:p>
            <a:pPr>
              <a:spcAft>
                <a:spcPts val="600"/>
              </a:spcAft>
            </a:pPr>
            <a:r>
              <a:rPr sz="1300" b="1" i="0">
                <a:solidFill>
                  <a:srgbClr val="0D9488"/>
                </a:solidFill>
                <a:latin typeface="Calibri"/>
              </a:rPr>
              <a:t>■  </a:t>
            </a:r>
            <a:r>
              <a:rPr sz="1700" b="0" i="0">
                <a:solidFill>
                  <a:srgbClr val="1F2937"/>
                </a:solidFill>
                <a:latin typeface="Calibri"/>
              </a:rPr>
              <a:t>¿Y si dos láseres golpean el mismo asteroide en el mismo instante?</a:t>
            </a:r>
          </a:p>
          <a:p>
            <a:pPr>
              <a:spcAft>
                <a:spcPts val="600"/>
              </a:spcAft>
            </a:pPr>
            <a:r>
              <a:rPr sz="1300" b="1" i="0">
                <a:solidFill>
                  <a:srgbClr val="0D9488"/>
                </a:solidFill>
                <a:latin typeface="Calibri"/>
              </a:rPr>
              <a:t>■  </a:t>
            </a:r>
            <a:r>
              <a:rPr sz="1700" b="0" i="0">
                <a:solidFill>
                  <a:srgbClr val="1F2937"/>
                </a:solidFill>
                <a:latin typeface="Calibri"/>
              </a:rPr>
              <a:t>¿Qué pasa si un asteroide choca con otro asteroide?</a:t>
            </a:r>
          </a:p>
          <a:p>
            <a:pPr>
              <a:spcAft>
                <a:spcPts val="600"/>
              </a:spcAft>
            </a:pPr>
            <a:r>
              <a:rPr sz="1300" b="1" i="0">
                <a:solidFill>
                  <a:srgbClr val="0D9488"/>
                </a:solidFill>
                <a:latin typeface="Calibri"/>
              </a:rPr>
              <a:t>■  </a:t>
            </a:r>
            <a:r>
              <a:rPr sz="1700" b="0" i="0">
                <a:solidFill>
                  <a:srgbClr val="1F2937"/>
                </a:solidFill>
                <a:latin typeface="Calibri"/>
              </a:rPr>
              <a:t>El reporte de cobertura dice 73,6 %, y Game.cs tiene 100 %. ¿Qué tan protegidos estamos?</a:t>
            </a:r>
          </a:p>
        </p:txBody>
      </p:sp>
      <p:sp>
        <p:nvSpPr>
          <p:cNvPr id="7" name="Rectangle 6"/>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¿Cuál de estas preguntas responde hoy la suite? (Respuesta: ninguna)</a:t>
            </a:r>
          </a:p>
        </p:txBody>
      </p:sp>
      <p:sp>
        <p:nvSpPr>
          <p:cNvPr id="9" name="Rectangle 8"/>
          <p:cNvSpPr/>
          <p:nvPr/>
        </p:nvSpPr>
        <p:spPr>
          <a:xfrm>
            <a:off x="8092440" y="1280160"/>
            <a:ext cx="3593592" cy="416052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Captura del Test Runner con los 7 tests en verde junto al resumen del reporte de cobertura regenerado (73,6 % de líneas).</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5/27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6</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1 · TEORÍA</a:t>
            </a:r>
          </a:p>
          <a:p>
            <a:r>
              <a:rPr sz="2600" b="1" i="0">
                <a:solidFill>
                  <a:srgbClr val="FFFFFF"/>
                </a:solidFill>
                <a:latin typeface="Calibri"/>
              </a:rPr>
              <a:t>Positivos, negativos y borde</a:t>
            </a:r>
          </a:p>
        </p:txBody>
      </p:sp>
      <p:sp>
        <p:nvSpPr>
          <p:cNvPr id="6" name="Rounded Rectangle 5"/>
          <p:cNvSpPr/>
          <p:nvPr/>
        </p:nvSpPr>
        <p:spPr>
          <a:xfrm>
            <a:off x="502920" y="1280160"/>
            <a:ext cx="2930652"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una puerta con cerradura</a:t>
            </a:r>
          </a:p>
        </p:txBody>
      </p:sp>
      <p:graphicFrame>
        <p:nvGraphicFramePr>
          <p:cNvPr id="7" name="Table 6"/>
          <p:cNvGraphicFramePr>
            <a:graphicFrameLocks noGrp="1"/>
          </p:cNvGraphicFramePr>
          <p:nvPr/>
        </p:nvGraphicFramePr>
        <p:xfrm>
          <a:off x="502920" y="1755648"/>
          <a:ext cx="11185853" cy="1316736"/>
        </p:xfrm>
        <a:graphic>
          <a:graphicData uri="http://schemas.openxmlformats.org/drawingml/2006/table">
            <a:tbl>
              <a:tblPr firstRow="1" bandRow="1">
                <a:tableStyleId>{5C22544A-7EE6-4342-B048-85BDC9FD1C3A}</a:tableStyleId>
              </a:tblPr>
              <a:tblGrid>
                <a:gridCol w="1657163"/>
                <a:gridCol w="3107181"/>
                <a:gridCol w="2692891"/>
                <a:gridCol w="3728618"/>
              </a:tblGrid>
              <a:tr h="329184">
                <a:tc>
                  <a:txBody>
                    <a:bodyPr/>
                    <a:lstStyle/>
                    <a:p>
                      <a:r>
                        <a:rPr sz="1400" b="1" i="0">
                          <a:solidFill>
                            <a:srgbClr val="FFFFFF"/>
                          </a:solidFill>
                          <a:latin typeface="Calibri"/>
                        </a:rPr>
                        <a:t>Tipo de caso</a:t>
                      </a:r>
                    </a:p>
                  </a:txBody>
                  <a:tcPr>
                    <a:solidFill>
                      <a:srgbClr val="1F2A44"/>
                    </a:solidFill>
                  </a:tcPr>
                </a:tc>
                <a:tc>
                  <a:txBody>
                    <a:bodyPr/>
                    <a:lstStyle/>
                    <a:p>
                      <a:r>
                        <a:rPr sz="1400" b="1" i="0">
                          <a:solidFill>
                            <a:srgbClr val="FFFFFF"/>
                          </a:solidFill>
                          <a:latin typeface="Calibri"/>
                        </a:rPr>
                        <a:t>Qué pregunta</a:t>
                      </a:r>
                    </a:p>
                  </a:txBody>
                  <a:tcPr>
                    <a:solidFill>
                      <a:srgbClr val="1F2A44"/>
                    </a:solidFill>
                  </a:tcPr>
                </a:tc>
                <a:tc>
                  <a:txBody>
                    <a:bodyPr/>
                    <a:lstStyle/>
                    <a:p>
                      <a:r>
                        <a:rPr sz="1400" b="1" i="0">
                          <a:solidFill>
                            <a:srgbClr val="FFFFFF"/>
                          </a:solidFill>
                          <a:latin typeface="Calibri"/>
                        </a:rPr>
                        <a:t>Puerta</a:t>
                      </a:r>
                    </a:p>
                  </a:txBody>
                  <a:tcPr>
                    <a:solidFill>
                      <a:srgbClr val="1F2A44"/>
                    </a:solidFill>
                  </a:tcPr>
                </a:tc>
                <a:tc>
                  <a:txBody>
                    <a:bodyPr/>
                    <a:lstStyle/>
                    <a:p>
                      <a:r>
                        <a:rPr sz="1400" b="1" i="0">
                          <a:solidFill>
                            <a:srgbClr val="FFFFFF"/>
                          </a:solidFill>
                          <a:latin typeface="Calibri"/>
                        </a:rPr>
                        <a:t>Nave + asteroides</a:t>
                      </a:r>
                    </a:p>
                  </a:txBody>
                  <a:tcPr>
                    <a:solidFill>
                      <a:srgbClr val="1F2A44"/>
                    </a:solidFill>
                  </a:tcPr>
                </a:tc>
              </a:tr>
              <a:tr h="329184">
                <a:tc>
                  <a:txBody>
                    <a:bodyPr/>
                    <a:lstStyle/>
                    <a:p>
                      <a:r>
                        <a:rPr sz="1300" b="1" i="0">
                          <a:solidFill>
                            <a:srgbClr val="1F2937"/>
                          </a:solidFill>
                          <a:latin typeface="Calibri"/>
                        </a:rPr>
                        <a:t>Positivo</a:t>
                      </a:r>
                    </a:p>
                  </a:txBody>
                  <a:tcPr marT="36576" marB="36576">
                    <a:solidFill>
                      <a:srgbClr val="FFFFFF"/>
                    </a:solidFill>
                  </a:tcPr>
                </a:tc>
                <a:tc>
                  <a:txBody>
                    <a:bodyPr/>
                    <a:lstStyle/>
                    <a:p>
                      <a:r>
                        <a:rPr sz="1300" b="0" i="0">
                          <a:solidFill>
                            <a:srgbClr val="1F2937"/>
                          </a:solidFill>
                          <a:latin typeface="Calibri"/>
                        </a:rPr>
                        <a:t>¿Hace lo que debe con una entrada válida?</a:t>
                      </a:r>
                    </a:p>
                  </a:txBody>
                  <a:tcPr marT="36576" marB="36576">
                    <a:solidFill>
                      <a:srgbClr val="FFFFFF"/>
                    </a:solidFill>
                  </a:tcPr>
                </a:tc>
                <a:tc>
                  <a:txBody>
                    <a:bodyPr/>
                    <a:lstStyle/>
                    <a:p>
                      <a:r>
                        <a:rPr sz="1300" b="0" i="0">
                          <a:solidFill>
                            <a:srgbClr val="1F2937"/>
                          </a:solidFill>
                          <a:latin typeface="Calibri"/>
                        </a:rPr>
                        <a:t>La llave correcta abre</a:t>
                      </a:r>
                    </a:p>
                  </a:txBody>
                  <a:tcPr marT="36576" marB="36576">
                    <a:solidFill>
                      <a:srgbClr val="FFFFFF"/>
                    </a:solidFill>
                  </a:tcPr>
                </a:tc>
                <a:tc>
                  <a:txBody>
                    <a:bodyPr/>
                    <a:lstStyle/>
                    <a:p>
                      <a:r>
                        <a:rPr sz="1300" b="0" i="0">
                          <a:solidFill>
                            <a:srgbClr val="1F2937"/>
                          </a:solidFill>
                          <a:latin typeface="Calibri"/>
                        </a:rPr>
                        <a:t>El láser destruye el asteroide y suma 1</a:t>
                      </a:r>
                    </a:p>
                  </a:txBody>
                  <a:tcPr marT="36576" marB="36576">
                    <a:solidFill>
                      <a:srgbClr val="FFFFFF"/>
                    </a:solidFill>
                  </a:tcPr>
                </a:tc>
              </a:tr>
              <a:tr h="329184">
                <a:tc>
                  <a:txBody>
                    <a:bodyPr/>
                    <a:lstStyle/>
                    <a:p>
                      <a:r>
                        <a:rPr sz="1300" b="1" i="0">
                          <a:solidFill>
                            <a:srgbClr val="1F2937"/>
                          </a:solidFill>
                          <a:latin typeface="Calibri"/>
                        </a:rPr>
                        <a:t>Negativo</a:t>
                      </a:r>
                    </a:p>
                  </a:txBody>
                  <a:tcPr marT="36576" marB="36576">
                    <a:solidFill>
                      <a:srgbClr val="F3F4F6"/>
                    </a:solidFill>
                  </a:tcPr>
                </a:tc>
                <a:tc>
                  <a:txBody>
                    <a:bodyPr/>
                    <a:lstStyle/>
                    <a:p>
                      <a:r>
                        <a:rPr sz="1300" b="0" i="0">
                          <a:solidFill>
                            <a:srgbClr val="1F2937"/>
                          </a:solidFill>
                          <a:latin typeface="Calibri"/>
                        </a:rPr>
                        <a:t>¿Ignora o rechaza lo que no corresponde?</a:t>
                      </a:r>
                    </a:p>
                  </a:txBody>
                  <a:tcPr marT="36576" marB="36576">
                    <a:solidFill>
                      <a:srgbClr val="F3F4F6"/>
                    </a:solidFill>
                  </a:tcPr>
                </a:tc>
                <a:tc>
                  <a:txBody>
                    <a:bodyPr/>
                    <a:lstStyle/>
                    <a:p>
                      <a:r>
                        <a:rPr sz="1300" b="0" i="0">
                          <a:solidFill>
                            <a:srgbClr val="1F2937"/>
                          </a:solidFill>
                          <a:latin typeface="Calibri"/>
                        </a:rPr>
                        <a:t>Otra llave no abre</a:t>
                      </a:r>
                    </a:p>
                  </a:txBody>
                  <a:tcPr marT="36576" marB="36576">
                    <a:solidFill>
                      <a:srgbClr val="F3F4F6"/>
                    </a:solidFill>
                  </a:tcPr>
                </a:tc>
                <a:tc>
                  <a:txBody>
                    <a:bodyPr/>
                    <a:lstStyle/>
                    <a:p>
                      <a:r>
                        <a:rPr sz="1300" b="0" i="0">
                          <a:solidFill>
                            <a:srgbClr val="1F2937"/>
                          </a:solidFill>
                          <a:latin typeface="Calibri"/>
                        </a:rPr>
                        <a:t>Un asteroide que choca con otro NO da Game Over</a:t>
                      </a:r>
                    </a:p>
                  </a:txBody>
                  <a:tcPr marT="36576" marB="36576">
                    <a:solidFill>
                      <a:srgbClr val="F3F4F6"/>
                    </a:solidFill>
                  </a:tcPr>
                </a:tc>
              </a:tr>
              <a:tr h="329184">
                <a:tc>
                  <a:txBody>
                    <a:bodyPr/>
                    <a:lstStyle/>
                    <a:p>
                      <a:r>
                        <a:rPr sz="1300" b="1" i="0">
                          <a:solidFill>
                            <a:srgbClr val="1F2937"/>
                          </a:solidFill>
                          <a:latin typeface="Calibri"/>
                        </a:rPr>
                        <a:t>Borde</a:t>
                      </a:r>
                    </a:p>
                  </a:txBody>
                  <a:tcPr marT="36576" marB="36576">
                    <a:solidFill>
                      <a:srgbClr val="FFFFFF"/>
                    </a:solidFill>
                  </a:tcPr>
                </a:tc>
                <a:tc>
                  <a:txBody>
                    <a:bodyPr/>
                    <a:lstStyle/>
                    <a:p>
                      <a:r>
                        <a:rPr sz="1300" b="0" i="0">
                          <a:solidFill>
                            <a:srgbClr val="1F2937"/>
                          </a:solidFill>
                          <a:latin typeface="Calibri"/>
                        </a:rPr>
                        <a:t>¿Qué pasa justo en el límite?</a:t>
                      </a:r>
                    </a:p>
                  </a:txBody>
                  <a:tcPr marT="36576" marB="36576">
                    <a:solidFill>
                      <a:srgbClr val="FFFFFF"/>
                    </a:solidFill>
                  </a:tcPr>
                </a:tc>
                <a:tc>
                  <a:txBody>
                    <a:bodyPr/>
                    <a:lstStyle/>
                    <a:p>
                      <a:r>
                        <a:rPr sz="1300" b="0" i="0">
                          <a:solidFill>
                            <a:srgbClr val="1F2937"/>
                          </a:solidFill>
                          <a:latin typeface="Calibri"/>
                        </a:rPr>
                        <a:t>La llave a medio girar</a:t>
                      </a:r>
                    </a:p>
                  </a:txBody>
                  <a:tcPr marT="36576" marB="36576">
                    <a:solidFill>
                      <a:srgbClr val="FFFFFF"/>
                    </a:solidFill>
                  </a:tcPr>
                </a:tc>
                <a:tc>
                  <a:txBody>
                    <a:bodyPr/>
                    <a:lstStyle/>
                    <a:p>
                      <a:r>
                        <a:rPr sz="1300" b="0" i="0">
                          <a:solidFill>
                            <a:srgbClr val="1F2937"/>
                          </a:solidFill>
                          <a:latin typeface="Calibri"/>
                        </a:rPr>
                        <a:t>Un asteroide en y = −5,0 exacto: ¿se destruye?</a:t>
                      </a:r>
                    </a:p>
                  </a:txBody>
                  <a:tcPr marT="36576" marB="36576">
                    <a:solidFill>
                      <a:srgbClr val="FFFFFF"/>
                    </a:solidFill>
                  </a:tcPr>
                </a:tc>
              </a:tr>
            </a:tbl>
          </a:graphicData>
        </a:graphic>
      </p:graphicFrame>
      <p:sp>
        <p:nvSpPr>
          <p:cNvPr id="8" name="TextBox 7"/>
          <p:cNvSpPr txBox="1"/>
          <p:nvPr/>
        </p:nvSpPr>
        <p:spPr>
          <a:xfrm>
            <a:off x="502920" y="3806698"/>
            <a:ext cx="11185855" cy="690880"/>
          </a:xfrm>
          <a:prstGeom prst="rect">
            <a:avLst/>
          </a:prstGeom>
          <a:noFill/>
        </p:spPr>
        <p:txBody>
          <a:bodyPr wrap="square" anchor="t" lIns="0" rIns="0" tIns="0" bIns="0">
            <a:spAutoFit/>
          </a:bodyPr>
          <a:lstStyle/>
          <a:p>
            <a:pPr>
              <a:spcAft>
                <a:spcPts val="600"/>
              </a:spcAft>
            </a:pPr>
            <a:r>
              <a:rPr sz="1200" b="1" i="0">
                <a:solidFill>
                  <a:srgbClr val="0D9488"/>
                </a:solidFill>
                <a:latin typeface="Calibri"/>
              </a:rPr>
              <a:t>■  </a:t>
            </a:r>
            <a:r>
              <a:rPr sz="1600" b="0" i="0">
                <a:solidFill>
                  <a:srgbClr val="1F2937"/>
                </a:solidFill>
                <a:latin typeface="Calibri"/>
              </a:rPr>
              <a:t>Negativo ≠ test que falla: el test pasa si el sistema ignora correctamente la entrada</a:t>
            </a:r>
          </a:p>
          <a:p>
            <a:pPr>
              <a:spcAft>
                <a:spcPts val="600"/>
              </a:spcAft>
            </a:pPr>
            <a:r>
              <a:rPr sz="1200" b="1" i="0">
                <a:solidFill>
                  <a:srgbClr val="0D9488"/>
                </a:solidFill>
                <a:latin typeface="Calibri"/>
              </a:rPr>
              <a:t>■  </a:t>
            </a:r>
            <a:r>
              <a:rPr sz="1600" b="0" i="0">
                <a:solidFill>
                  <a:srgbClr val="1F2937"/>
                </a:solidFill>
                <a:latin typeface="Calibri"/>
              </a:rPr>
              <a:t>En integración, el borde no es solo un número: también tiempo, cantidad, repetición y orden</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6/27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7</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1 · TEORÍA</a:t>
            </a:r>
          </a:p>
          <a:p>
            <a:r>
              <a:rPr sz="2600" b="1" i="0">
                <a:solidFill>
                  <a:srgbClr val="FFFFFF"/>
                </a:solidFill>
                <a:latin typeface="Calibri"/>
              </a:rPr>
              <a:t>Cinco dimensiones del borde en integración</a:t>
            </a:r>
          </a:p>
        </p:txBody>
      </p:sp>
      <p:graphicFrame>
        <p:nvGraphicFramePr>
          <p:cNvPr id="6" name="Table 5"/>
          <p:cNvGraphicFramePr>
            <a:graphicFrameLocks noGrp="1"/>
          </p:cNvGraphicFramePr>
          <p:nvPr/>
        </p:nvGraphicFramePr>
        <p:xfrm>
          <a:off x="502920" y="1280160"/>
          <a:ext cx="11185854" cy="1975104"/>
        </p:xfrm>
        <a:graphic>
          <a:graphicData uri="http://schemas.openxmlformats.org/drawingml/2006/table">
            <a:tbl>
              <a:tblPr firstRow="1" bandRow="1">
                <a:tableStyleId>{5C22544A-7EE6-4342-B048-85BDC9FD1C3A}</a:tableStyleId>
              </a:tblPr>
              <a:tblGrid>
                <a:gridCol w="1864309"/>
                <a:gridCol w="3728618"/>
                <a:gridCol w="5592927"/>
              </a:tblGrid>
              <a:tr h="329184">
                <a:tc>
                  <a:txBody>
                    <a:bodyPr/>
                    <a:lstStyle/>
                    <a:p>
                      <a:r>
                        <a:rPr sz="1400" b="1" i="0">
                          <a:solidFill>
                            <a:srgbClr val="FFFFFF"/>
                          </a:solidFill>
                          <a:latin typeface="Calibri"/>
                        </a:rPr>
                        <a:t>Dimensión</a:t>
                      </a:r>
                    </a:p>
                  </a:txBody>
                  <a:tcPr>
                    <a:solidFill>
                      <a:srgbClr val="1F2A44"/>
                    </a:solidFill>
                  </a:tcPr>
                </a:tc>
                <a:tc>
                  <a:txBody>
                    <a:bodyPr/>
                    <a:lstStyle/>
                    <a:p>
                      <a:r>
                        <a:rPr sz="1400" b="1" i="0">
                          <a:solidFill>
                            <a:srgbClr val="FFFFFF"/>
                          </a:solidFill>
                          <a:latin typeface="Calibri"/>
                        </a:rPr>
                        <a:t>Pregunta</a:t>
                      </a:r>
                    </a:p>
                  </a:txBody>
                  <a:tcPr>
                    <a:solidFill>
                      <a:srgbClr val="1F2A44"/>
                    </a:solidFill>
                  </a:tcPr>
                </a:tc>
                <a:tc>
                  <a:txBody>
                    <a:bodyPr/>
                    <a:lstStyle/>
                    <a:p>
                      <a:r>
                        <a:rPr sz="1400" b="1" i="0">
                          <a:solidFill>
                            <a:srgbClr val="FFFFFF"/>
                          </a:solidFill>
                          <a:latin typeface="Calibri"/>
                        </a:rPr>
                        <a:t>En el juego</a:t>
                      </a:r>
                    </a:p>
                  </a:txBody>
                  <a:tcPr>
                    <a:solidFill>
                      <a:srgbClr val="1F2A44"/>
                    </a:solidFill>
                  </a:tcPr>
                </a:tc>
              </a:tr>
              <a:tr h="329184">
                <a:tc>
                  <a:txBody>
                    <a:bodyPr/>
                    <a:lstStyle/>
                    <a:p>
                      <a:r>
                        <a:rPr sz="1300" b="1" i="0">
                          <a:solidFill>
                            <a:srgbClr val="1F2937"/>
                          </a:solidFill>
                          <a:latin typeface="Calibri"/>
                        </a:rPr>
                        <a:t>Valor / posición</a:t>
                      </a:r>
                    </a:p>
                  </a:txBody>
                  <a:tcPr marT="36576" marB="36576">
                    <a:solidFill>
                      <a:srgbClr val="FFFFFF"/>
                    </a:solidFill>
                  </a:tcPr>
                </a:tc>
                <a:tc>
                  <a:txBody>
                    <a:bodyPr/>
                    <a:lstStyle/>
                    <a:p>
                      <a:r>
                        <a:rPr sz="1300" b="0" i="0">
                          <a:solidFill>
                            <a:srgbClr val="1F2937"/>
                          </a:solidFill>
                          <a:latin typeface="Calibri"/>
                        </a:rPr>
                        <a:t>¿Justo en el límite?</a:t>
                      </a:r>
                    </a:p>
                  </a:txBody>
                  <a:tcPr marT="36576" marB="36576">
                    <a:solidFill>
                      <a:srgbClr val="FFFFFF"/>
                    </a:solidFill>
                  </a:tcPr>
                </a:tc>
                <a:tc>
                  <a:txBody>
                    <a:bodyPr/>
                    <a:lstStyle/>
                    <a:p>
                      <a:r>
                        <a:rPr sz="1300" b="0" i="0">
                          <a:solidFill>
                            <a:srgbClr val="1F2937"/>
                          </a:solidFill>
                          <a:latin typeface="Calibri"/>
                        </a:rPr>
                        <a:t>Asteroide en y = −4,99 / −5,00 / −5,01</a:t>
                      </a:r>
                    </a:p>
                  </a:txBody>
                  <a:tcPr marT="36576" marB="36576">
                    <a:solidFill>
                      <a:srgbClr val="FFFFFF"/>
                    </a:solidFill>
                  </a:tcPr>
                </a:tc>
              </a:tr>
              <a:tr h="329184">
                <a:tc>
                  <a:txBody>
                    <a:bodyPr/>
                    <a:lstStyle/>
                    <a:p>
                      <a:r>
                        <a:rPr sz="1300" b="1" i="0">
                          <a:solidFill>
                            <a:srgbClr val="1F2937"/>
                          </a:solidFill>
                          <a:latin typeface="Calibri"/>
                        </a:rPr>
                        <a:t>Tiempo</a:t>
                      </a:r>
                    </a:p>
                  </a:txBody>
                  <a:tcPr marT="36576" marB="36576">
                    <a:solidFill>
                      <a:srgbClr val="F3F4F6"/>
                    </a:solidFill>
                  </a:tcPr>
                </a:tc>
                <a:tc>
                  <a:txBody>
                    <a:bodyPr/>
                    <a:lstStyle/>
                    <a:p>
                      <a:r>
                        <a:rPr sz="1300" b="0" i="0">
                          <a:solidFill>
                            <a:srgbClr val="1F2937"/>
                          </a:solidFill>
                          <a:latin typeface="Calibri"/>
                        </a:rPr>
                        <a:t>¿Justo antes o después de un intervalo?</a:t>
                      </a:r>
                    </a:p>
                  </a:txBody>
                  <a:tcPr marT="36576" marB="36576">
                    <a:solidFill>
                      <a:srgbClr val="F3F4F6"/>
                    </a:solidFill>
                  </a:tcPr>
                </a:tc>
                <a:tc>
                  <a:txBody>
                    <a:bodyPr/>
                    <a:lstStyle/>
                    <a:p>
                      <a:r>
                        <a:rPr sz="1300" b="0" i="0">
                          <a:solidFill>
                            <a:srgbClr val="1F2937"/>
                          </a:solidFill>
                          <a:latin typeface="Calibri"/>
                        </a:rPr>
                        <a:t>Disparo a 0,39 s y a 0,41 s del anterior (cooldown 0,4 s)</a:t>
                      </a:r>
                    </a:p>
                  </a:txBody>
                  <a:tcPr marT="36576" marB="36576">
                    <a:solidFill>
                      <a:srgbClr val="F3F4F6"/>
                    </a:solidFill>
                  </a:tcPr>
                </a:tc>
              </a:tr>
              <a:tr h="329184">
                <a:tc>
                  <a:txBody>
                    <a:bodyPr/>
                    <a:lstStyle/>
                    <a:p>
                      <a:r>
                        <a:rPr sz="1300" b="1" i="0">
                          <a:solidFill>
                            <a:srgbClr val="1F2937"/>
                          </a:solidFill>
                          <a:latin typeface="Calibri"/>
                        </a:rPr>
                        <a:t>Cantidad / simultaneidad</a:t>
                      </a:r>
                    </a:p>
                  </a:txBody>
                  <a:tcPr marT="36576" marB="36576">
                    <a:solidFill>
                      <a:srgbClr val="FFFFFF"/>
                    </a:solidFill>
                  </a:tcPr>
                </a:tc>
                <a:tc>
                  <a:txBody>
                    <a:bodyPr/>
                    <a:lstStyle/>
                    <a:p>
                      <a:r>
                        <a:rPr sz="1300" b="0" i="0">
                          <a:solidFill>
                            <a:srgbClr val="1F2937"/>
                          </a:solidFill>
                          <a:latin typeface="Calibri"/>
                        </a:rPr>
                        <a:t>¿0, 1 o 2 eventos a la vez?</a:t>
                      </a:r>
                    </a:p>
                  </a:txBody>
                  <a:tcPr marT="36576" marB="36576">
                    <a:solidFill>
                      <a:srgbClr val="FFFFFF"/>
                    </a:solidFill>
                  </a:tcPr>
                </a:tc>
                <a:tc>
                  <a:txBody>
                    <a:bodyPr/>
                    <a:lstStyle/>
                    <a:p>
                      <a:r>
                        <a:rPr sz="1300" b="0" i="0">
                          <a:solidFill>
                            <a:srgbClr val="1F2937"/>
                          </a:solidFill>
                          <a:latin typeface="Calibri"/>
                        </a:rPr>
                        <a:t>Dos láseres contra el mismo asteroide en el mismo paso de física</a:t>
                      </a:r>
                    </a:p>
                  </a:txBody>
                  <a:tcPr marT="36576" marB="36576">
                    <a:solidFill>
                      <a:srgbClr val="FFFFFF"/>
                    </a:solidFill>
                  </a:tcPr>
                </a:tc>
              </a:tr>
              <a:tr h="329184">
                <a:tc>
                  <a:txBody>
                    <a:bodyPr/>
                    <a:lstStyle/>
                    <a:p>
                      <a:r>
                        <a:rPr sz="1300" b="1" i="0">
                          <a:solidFill>
                            <a:srgbClr val="1F2937"/>
                          </a:solidFill>
                          <a:latin typeface="Calibri"/>
                        </a:rPr>
                        <a:t>Repetición</a:t>
                      </a:r>
                    </a:p>
                  </a:txBody>
                  <a:tcPr marT="36576" marB="36576">
                    <a:solidFill>
                      <a:srgbClr val="F3F4F6"/>
                    </a:solidFill>
                  </a:tcPr>
                </a:tc>
                <a:tc>
                  <a:txBody>
                    <a:bodyPr/>
                    <a:lstStyle/>
                    <a:p>
                      <a:r>
                        <a:rPr sz="1300" b="0" i="0">
                          <a:solidFill>
                            <a:srgbClr val="1F2937"/>
                          </a:solidFill>
                          <a:latin typeface="Calibri"/>
                        </a:rPr>
                        <a:t>¿Qué pasa si se llama dos veces?</a:t>
                      </a:r>
                    </a:p>
                  </a:txBody>
                  <a:tcPr marT="36576" marB="36576">
                    <a:solidFill>
                      <a:srgbClr val="F3F4F6"/>
                    </a:solidFill>
                  </a:tcPr>
                </a:tc>
                <a:tc>
                  <a:txBody>
                    <a:bodyPr/>
                    <a:lstStyle/>
                    <a:p>
                      <a:r>
                        <a:rPr sz="1300" b="0" i="0">
                          <a:solidFill>
                            <a:srgbClr val="1F2937"/>
                          </a:solidFill>
                          <a:latin typeface="Calibri"/>
                        </a:rPr>
                        <a:t>NewGame() dos veces seguidas</a:t>
                      </a:r>
                    </a:p>
                  </a:txBody>
                  <a:tcPr marT="36576" marB="36576">
                    <a:solidFill>
                      <a:srgbClr val="F3F4F6"/>
                    </a:solidFill>
                  </a:tcPr>
                </a:tc>
              </a:tr>
              <a:tr h="329184">
                <a:tc>
                  <a:txBody>
                    <a:bodyPr/>
                    <a:lstStyle/>
                    <a:p>
                      <a:r>
                        <a:rPr sz="1300" b="1" i="0">
                          <a:solidFill>
                            <a:srgbClr val="1F2937"/>
                          </a:solidFill>
                          <a:latin typeface="Calibri"/>
                        </a:rPr>
                        <a:t>Orden</a:t>
                      </a:r>
                    </a:p>
                  </a:txBody>
                  <a:tcPr marT="36576" marB="36576">
                    <a:solidFill>
                      <a:srgbClr val="FFFFFF"/>
                    </a:solidFill>
                  </a:tcPr>
                </a:tc>
                <a:tc>
                  <a:txBody>
                    <a:bodyPr/>
                    <a:lstStyle/>
                    <a:p>
                      <a:r>
                        <a:rPr sz="1300" b="0" i="0">
                          <a:solidFill>
                            <a:srgbClr val="1F2937"/>
                          </a:solidFill>
                          <a:latin typeface="Calibri"/>
                        </a:rPr>
                        <a:t>¿Y si los eventos llegan al revés?</a:t>
                      </a:r>
                    </a:p>
                  </a:txBody>
                  <a:tcPr marT="36576" marB="36576">
                    <a:solidFill>
                      <a:srgbClr val="FFFFFF"/>
                    </a:solidFill>
                  </a:tcPr>
                </a:tc>
                <a:tc>
                  <a:txBody>
                    <a:bodyPr/>
                    <a:lstStyle/>
                    <a:p>
                      <a:r>
                        <a:rPr sz="1300" b="0" i="0">
                          <a:solidFill>
                            <a:srgbClr val="1F2937"/>
                          </a:solidFill>
                          <a:latin typeface="Calibri"/>
                        </a:rPr>
                        <a:t>Un punto que se suma en el mismo frame del Game Over</a:t>
                      </a:r>
                    </a:p>
                  </a:txBody>
                  <a:tcPr marT="36576" marB="36576">
                    <a:solidFill>
                      <a:srgbClr val="FFFFFF"/>
                    </a:solidFill>
                  </a:tcPr>
                </a:tc>
              </a:tr>
            </a:tbl>
          </a:graphicData>
        </a:graphic>
      </p:graphicFrame>
      <p:sp>
        <p:nvSpPr>
          <p:cNvPr id="7" name="Rectangle 6"/>
          <p:cNvSpPr/>
          <p:nvPr/>
        </p:nvSpPr>
        <p:spPr>
          <a:xfrm>
            <a:off x="502920" y="502920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40080" y="502920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Asteroid.cs 43–50 (límite −5) · Ship.cs 82–90 (cooldown 0,4 s) · Laser.cs 46–55 · Game.cs 67–80</a:t>
            </a:r>
          </a:p>
        </p:txBody>
      </p:sp>
      <p:sp>
        <p:nvSpPr>
          <p:cNvPr id="9" name="Rectangle 8"/>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Algunos bordes no tienen un resultado esperado obvio: lo decide el diseño, no quien prueba.</a:t>
            </a:r>
          </a:p>
        </p:txBody>
      </p:sp>
      <p:sp>
        <p:nvSpPr>
          <p:cNvPr id="11" name="TextBox 10"/>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2" name="TextBox 11"/>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7/27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8</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1 · CASO MODELO</a:t>
            </a:r>
          </a:p>
          <a:p>
            <a:r>
              <a:rPr sz="2600" b="1" i="0">
                <a:solidFill>
                  <a:srgbClr val="FFFFFF"/>
                </a:solidFill>
                <a:latin typeface="Calibri"/>
              </a:rPr>
              <a:t>Formato de un caso de integración</a:t>
            </a:r>
          </a:p>
        </p:txBody>
      </p:sp>
      <p:graphicFrame>
        <p:nvGraphicFramePr>
          <p:cNvPr id="6" name="Table 5"/>
          <p:cNvGraphicFramePr>
            <a:graphicFrameLocks noGrp="1"/>
          </p:cNvGraphicFramePr>
          <p:nvPr/>
        </p:nvGraphicFramePr>
        <p:xfrm>
          <a:off x="502920" y="1280160"/>
          <a:ext cx="11185854" cy="2962656"/>
        </p:xfrm>
        <a:graphic>
          <a:graphicData uri="http://schemas.openxmlformats.org/drawingml/2006/table">
            <a:tbl>
              <a:tblPr firstRow="1" bandRow="1">
                <a:tableStyleId>{5C22544A-7EE6-4342-B048-85BDC9FD1C3A}</a:tableStyleId>
              </a:tblPr>
              <a:tblGrid>
                <a:gridCol w="2278600"/>
                <a:gridCol w="8907254"/>
              </a:tblGrid>
              <a:tr h="329184">
                <a:tc>
                  <a:txBody>
                    <a:bodyPr/>
                    <a:lstStyle/>
                    <a:p>
                      <a:r>
                        <a:rPr sz="1400" b="1" i="0">
                          <a:solidFill>
                            <a:srgbClr val="FFFFFF"/>
                          </a:solidFill>
                          <a:latin typeface="Calibri"/>
                        </a:rPr>
                        <a:t>Campo</a:t>
                      </a:r>
                    </a:p>
                  </a:txBody>
                  <a:tcPr>
                    <a:solidFill>
                      <a:srgbClr val="1F2A44"/>
                    </a:solidFill>
                  </a:tcPr>
                </a:tc>
                <a:tc>
                  <a:txBody>
                    <a:bodyPr/>
                    <a:lstStyle/>
                    <a:p>
                      <a:r>
                        <a:rPr sz="1400" b="1" i="0">
                          <a:solidFill>
                            <a:srgbClr val="FFFFFF"/>
                          </a:solidFill>
                          <a:latin typeface="Calibri"/>
                        </a:rPr>
                        <a:t>INT-AST-11 · Choque entre asteroides (negativo)</a:t>
                      </a:r>
                    </a:p>
                  </a:txBody>
                  <a:tcPr>
                    <a:solidFill>
                      <a:srgbClr val="1F2A44"/>
                    </a:solidFill>
                  </a:tcPr>
                </a:tc>
              </a:tr>
              <a:tr h="329184">
                <a:tc>
                  <a:txBody>
                    <a:bodyPr/>
                    <a:lstStyle/>
                    <a:p>
                      <a:r>
                        <a:rPr sz="1300" b="1" i="0">
                          <a:solidFill>
                            <a:srgbClr val="1F2937"/>
                          </a:solidFill>
                          <a:latin typeface="Calibri"/>
                        </a:rPr>
                        <a:t>Objetivo</a:t>
                      </a:r>
                    </a:p>
                  </a:txBody>
                  <a:tcPr marT="36576" marB="36576">
                    <a:solidFill>
                      <a:srgbClr val="FFFFFF"/>
                    </a:solidFill>
                  </a:tcPr>
                </a:tc>
                <a:tc>
                  <a:txBody>
                    <a:bodyPr/>
                    <a:lstStyle/>
                    <a:p>
                      <a:r>
                        <a:rPr sz="1300" b="0" i="0">
                          <a:solidFill>
                            <a:srgbClr val="1F2937"/>
                          </a:solidFill>
                          <a:latin typeface="Calibri"/>
                        </a:rPr>
                        <a:t>Un choque entre dos asteroides no provoca Game Over</a:t>
                      </a:r>
                    </a:p>
                  </a:txBody>
                  <a:tcPr marT="36576" marB="36576">
                    <a:solidFill>
                      <a:srgbClr val="FFFFFF"/>
                    </a:solidFill>
                  </a:tcPr>
                </a:tc>
              </a:tr>
              <a:tr h="329184">
                <a:tc>
                  <a:txBody>
                    <a:bodyPr/>
                    <a:lstStyle/>
                    <a:p>
                      <a:r>
                        <a:rPr sz="1300" b="1" i="0">
                          <a:solidFill>
                            <a:srgbClr val="1F2937"/>
                          </a:solidFill>
                          <a:latin typeface="Calibri"/>
                        </a:rPr>
                        <a:t>Componentes</a:t>
                      </a:r>
                    </a:p>
                  </a:txBody>
                  <a:tcPr marT="36576" marB="36576">
                    <a:solidFill>
                      <a:srgbClr val="F3F4F6"/>
                    </a:solidFill>
                  </a:tcPr>
                </a:tc>
                <a:tc>
                  <a:txBody>
                    <a:bodyPr/>
                    <a:lstStyle/>
                    <a:p>
                      <a:r>
                        <a:rPr sz="1300" b="0" i="0">
                          <a:solidFill>
                            <a:srgbClr val="1F2937"/>
                          </a:solidFill>
                          <a:latin typeface="Calibri"/>
                        </a:rPr>
                        <a:t>Asteroid ×2 · física · Game</a:t>
                      </a:r>
                    </a:p>
                  </a:txBody>
                  <a:tcPr marT="36576" marB="36576">
                    <a:solidFill>
                      <a:srgbClr val="F3F4F6"/>
                    </a:solidFill>
                  </a:tcPr>
                </a:tc>
              </a:tr>
              <a:tr h="329184">
                <a:tc>
                  <a:txBody>
                    <a:bodyPr/>
                    <a:lstStyle/>
                    <a:p>
                      <a:r>
                        <a:rPr sz="1300" b="1" i="0">
                          <a:solidFill>
                            <a:srgbClr val="1F2937"/>
                          </a:solidFill>
                          <a:latin typeface="Calibri"/>
                        </a:rPr>
                        <a:t>Entrada</a:t>
                      </a:r>
                    </a:p>
                  </a:txBody>
                  <a:tcPr marT="36576" marB="36576">
                    <a:solidFill>
                      <a:srgbClr val="FFFFFF"/>
                    </a:solidFill>
                  </a:tcPr>
                </a:tc>
                <a:tc>
                  <a:txBody>
                    <a:bodyPr/>
                    <a:lstStyle/>
                    <a:p>
                      <a:r>
                        <a:rPr sz="1300" b="0" i="0">
                          <a:solidFill>
                            <a:srgbClr val="1F2937"/>
                          </a:solidFill>
                          <a:latin typeface="Calibri"/>
                        </a:rPr>
                        <a:t>Dos asteroides superpuestos, lejos de la nave</a:t>
                      </a:r>
                    </a:p>
                  </a:txBody>
                  <a:tcPr marT="36576" marB="36576">
                    <a:solidFill>
                      <a:srgbClr val="FFFFFF"/>
                    </a:solidFill>
                  </a:tcPr>
                </a:tc>
              </a:tr>
              <a:tr h="329184">
                <a:tc>
                  <a:txBody>
                    <a:bodyPr/>
                    <a:lstStyle/>
                    <a:p>
                      <a:r>
                        <a:rPr sz="1300" b="1" i="0">
                          <a:solidFill>
                            <a:srgbClr val="1F2937"/>
                          </a:solidFill>
                          <a:latin typeface="Calibri"/>
                        </a:rPr>
                        <a:t>Precondiciones</a:t>
                      </a:r>
                    </a:p>
                  </a:txBody>
                  <a:tcPr marT="36576" marB="36576">
                    <a:solidFill>
                      <a:srgbClr val="F3F4F6"/>
                    </a:solidFill>
                  </a:tcPr>
                </a:tc>
                <a:tc>
                  <a:txBody>
                    <a:bodyPr/>
                    <a:lstStyle/>
                    <a:p>
                      <a:r>
                        <a:rPr sz="1300" b="0" i="0">
                          <a:solidFill>
                            <a:srgbClr val="1F2937"/>
                          </a:solidFill>
                          <a:latin typeface="Calibri"/>
                        </a:rPr>
                        <a:t>Prefab Game instanciado · 1 frame (Start ejecutado) · isGameOver = false</a:t>
                      </a:r>
                    </a:p>
                  </a:txBody>
                  <a:tcPr marT="36576" marB="36576">
                    <a:solidFill>
                      <a:srgbClr val="F3F4F6"/>
                    </a:solidFill>
                  </a:tcPr>
                </a:tc>
              </a:tr>
              <a:tr h="329184">
                <a:tc>
                  <a:txBody>
                    <a:bodyPr/>
                    <a:lstStyle/>
                    <a:p>
                      <a:r>
                        <a:rPr sz="1300" b="1" i="0">
                          <a:solidFill>
                            <a:srgbClr val="1F2937"/>
                          </a:solidFill>
                          <a:latin typeface="Calibri"/>
                        </a:rPr>
                        <a:t>Pasos</a:t>
                      </a:r>
                    </a:p>
                  </a:txBody>
                  <a:tcPr marT="36576" marB="36576">
                    <a:solidFill>
                      <a:srgbClr val="FFFFFF"/>
                    </a:solidFill>
                  </a:tcPr>
                </a:tc>
                <a:tc>
                  <a:txBody>
                    <a:bodyPr/>
                    <a:lstStyle/>
                    <a:p>
                      <a:r>
                        <a:rPr sz="1300" b="0" i="0">
                          <a:solidFill>
                            <a:srgbClr val="1F2937"/>
                          </a:solidFill>
                          <a:latin typeface="Calibri"/>
                        </a:rPr>
                        <a:t>1. SpawnAsteroid() ×2  2. Ubicar ambos en (6, 3)  3. Esperar 2 FixedUpdate</a:t>
                      </a:r>
                    </a:p>
                  </a:txBody>
                  <a:tcPr marT="36576" marB="36576">
                    <a:solidFill>
                      <a:srgbClr val="FFFFFF"/>
                    </a:solidFill>
                  </a:tcPr>
                </a:tc>
              </a:tr>
              <a:tr h="329184">
                <a:tc>
                  <a:txBody>
                    <a:bodyPr/>
                    <a:lstStyle/>
                    <a:p>
                      <a:r>
                        <a:rPr sz="1300" b="1" i="0">
                          <a:solidFill>
                            <a:srgbClr val="1F2937"/>
                          </a:solidFill>
                          <a:latin typeface="Calibri"/>
                        </a:rPr>
                        <a:t>Resultado esperado</a:t>
                      </a:r>
                    </a:p>
                  </a:txBody>
                  <a:tcPr marT="36576" marB="36576">
                    <a:solidFill>
                      <a:srgbClr val="F3F4F6"/>
                    </a:solidFill>
                  </a:tcPr>
                </a:tc>
                <a:tc>
                  <a:txBody>
                    <a:bodyPr/>
                    <a:lstStyle/>
                    <a:p>
                      <a:r>
                        <a:rPr sz="1300" b="0" i="0">
                          <a:solidFill>
                            <a:srgbClr val="1F2937"/>
                          </a:solidFill>
                          <a:latin typeface="Calibri"/>
                        </a:rPr>
                        <a:t>isGameOver = false · ambos asteroides siguen existiendo · score sin cambios</a:t>
                      </a:r>
                    </a:p>
                  </a:txBody>
                  <a:tcPr marT="36576" marB="36576">
                    <a:solidFill>
                      <a:srgbClr val="F3F4F6"/>
                    </a:solidFill>
                  </a:tcPr>
                </a:tc>
              </a:tr>
              <a:tr h="329184">
                <a:tc>
                  <a:txBody>
                    <a:bodyPr/>
                    <a:lstStyle/>
                    <a:p>
                      <a:r>
                        <a:rPr sz="1300" b="1" i="0">
                          <a:solidFill>
                            <a:srgbClr val="1F2937"/>
                          </a:solidFill>
                          <a:latin typeface="Calibri"/>
                        </a:rPr>
                        <a:t>Bug que detecta</a:t>
                      </a:r>
                    </a:p>
                  </a:txBody>
                  <a:tcPr marT="36576" marB="36576">
                    <a:solidFill>
                      <a:srgbClr val="FFFFFF"/>
                    </a:solidFill>
                  </a:tcPr>
                </a:tc>
                <a:tc>
                  <a:txBody>
                    <a:bodyPr/>
                    <a:lstStyle/>
                    <a:p>
                      <a:r>
                        <a:rPr sz="1300" b="0" i="0">
                          <a:solidFill>
                            <a:srgbClr val="1F2937"/>
                          </a:solidFill>
                          <a:latin typeface="Calibri"/>
                        </a:rPr>
                        <a:t>Alguien relaja la condición de Asteroid.cs 54 y cualquier choque termina la partida</a:t>
                      </a:r>
                    </a:p>
                  </a:txBody>
                  <a:tcPr marT="36576" marB="36576">
                    <a:solidFill>
                      <a:srgbClr val="FFFFFF"/>
                    </a:solidFill>
                  </a:tcPr>
                </a:tc>
              </a:tr>
              <a:tr h="329184">
                <a:tc>
                  <a:txBody>
                    <a:bodyPr/>
                    <a:lstStyle/>
                    <a:p>
                      <a:r>
                        <a:rPr sz="1300" b="1" i="0">
                          <a:solidFill>
                            <a:srgbClr val="1F2937"/>
                          </a:solidFill>
                          <a:latin typeface="Calibri"/>
                        </a:rPr>
                        <a:t>¿Por qué integración?</a:t>
                      </a:r>
                    </a:p>
                  </a:txBody>
                  <a:tcPr marT="36576" marB="36576">
                    <a:solidFill>
                      <a:srgbClr val="F3F4F6"/>
                    </a:solidFill>
                  </a:tcPr>
                </a:tc>
                <a:tc>
                  <a:txBody>
                    <a:bodyPr/>
                    <a:lstStyle/>
                    <a:p>
                      <a:r>
                        <a:rPr sz="1300" b="0" i="0">
                          <a:solidFill>
                            <a:srgbClr val="1F2937"/>
                          </a:solidFill>
                          <a:latin typeface="Calibri"/>
                        </a:rPr>
                        <a:t>Verifica el contrato por nombre entre Asteroid y Game a través de la física real</a:t>
                      </a:r>
                    </a:p>
                  </a:txBody>
                  <a:tcPr marT="36576" marB="36576">
                    <a:solidFill>
                      <a:srgbClr val="F3F4F6"/>
                    </a:solidFill>
                  </a:tcPr>
                </a:tc>
              </a:tr>
            </a:tbl>
          </a:graphicData>
        </a:graphic>
      </p:graphicFrame>
      <p:sp>
        <p:nvSpPr>
          <p:cNvPr id="7" name="TextBox 6"/>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8" name="TextBox 7"/>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8/27</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9</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PRÁCTICA · EN GRUPOS</a:t>
            </a:r>
          </a:p>
          <a:p>
            <a:r>
              <a:rPr sz="2600" b="1" i="0">
                <a:solidFill>
                  <a:srgbClr val="FFFFFF"/>
                </a:solidFill>
                <a:latin typeface="Calibri"/>
              </a:rPr>
              <a:t>Actividad 1 · Diseñar casos nuevos (12 min)</a:t>
            </a:r>
          </a:p>
        </p:txBody>
      </p:sp>
      <p:sp>
        <p:nvSpPr>
          <p:cNvPr id="6" name="TextBox 5"/>
          <p:cNvSpPr txBox="1"/>
          <p:nvPr/>
        </p:nvSpPr>
        <p:spPr>
          <a:xfrm>
            <a:off x="502920" y="1280160"/>
            <a:ext cx="7315200" cy="1806575"/>
          </a:xfrm>
          <a:prstGeom prst="rect">
            <a:avLst/>
          </a:prstGeom>
          <a:noFill/>
        </p:spPr>
        <p:txBody>
          <a:bodyPr wrap="square" anchor="t" lIns="0" rIns="0" tIns="0" bIns="0">
            <a:spAutoFit/>
          </a:bodyPr>
          <a:lstStyle/>
          <a:p>
            <a:pPr>
              <a:spcAft>
                <a:spcPts val="600"/>
              </a:spcAft>
            </a:pPr>
            <a:r>
              <a:rPr sz="1300" b="1" i="0">
                <a:solidFill>
                  <a:srgbClr val="0D9488"/>
                </a:solidFill>
                <a:latin typeface="Calibri"/>
              </a:rPr>
              <a:t>■  </a:t>
            </a:r>
            <a:r>
              <a:rPr sz="1700" b="0" i="0">
                <a:solidFill>
                  <a:srgbClr val="1F2937"/>
                </a:solidFill>
                <a:latin typeface="Calibri"/>
              </a:rPr>
              <a:t>Flujo A: láser destruye asteroide → puntaje</a:t>
            </a:r>
          </a:p>
          <a:p>
            <a:pPr>
              <a:spcAft>
                <a:spcPts val="600"/>
              </a:spcAft>
            </a:pPr>
            <a:r>
              <a:rPr sz="1300" b="1" i="0">
                <a:solidFill>
                  <a:srgbClr val="0D9488"/>
                </a:solidFill>
                <a:latin typeface="Calibri"/>
              </a:rPr>
              <a:t>■  </a:t>
            </a:r>
            <a:r>
              <a:rPr sz="1700" b="0" i="0">
                <a:solidFill>
                  <a:srgbClr val="1F2937"/>
                </a:solidFill>
                <a:latin typeface="Calibri"/>
              </a:rPr>
              <a:t>Flujo B: asteroide choca la nave → Game Over</a:t>
            </a:r>
          </a:p>
          <a:p>
            <a:pPr>
              <a:spcAft>
                <a:spcPts val="600"/>
              </a:spcAft>
            </a:pPr>
            <a:r>
              <a:rPr sz="1300" b="1" i="0">
                <a:solidFill>
                  <a:srgbClr val="0D9488"/>
                </a:solidFill>
                <a:latin typeface="Calibri"/>
              </a:rPr>
              <a:t>■  </a:t>
            </a:r>
            <a:r>
              <a:rPr sz="1700" b="0" i="0">
                <a:solidFill>
                  <a:srgbClr val="1F2937"/>
                </a:solidFill>
                <a:latin typeface="Calibri"/>
              </a:rPr>
              <a:t>Flujo C: Game Over → nueva partida</a:t>
            </a:r>
          </a:p>
          <a:p>
            <a:pPr>
              <a:spcAft>
                <a:spcPts val="600"/>
              </a:spcAft>
            </a:pPr>
            <a:r>
              <a:rPr sz="1300" b="1" i="0">
                <a:solidFill>
                  <a:srgbClr val="0D9488"/>
                </a:solidFill>
                <a:latin typeface="Calibri"/>
              </a:rPr>
              <a:t>■  </a:t>
            </a:r>
            <a:r>
              <a:rPr sz="1700" b="0" i="0">
                <a:solidFill>
                  <a:srgbClr val="1F2937"/>
                </a:solidFill>
                <a:latin typeface="Calibri"/>
              </a:rPr>
              <a:t>Para cada flujo: un caso POSITIVO nuevo y un caso NEGATIVO</a:t>
            </a:r>
          </a:p>
          <a:p>
            <a:pPr>
              <a:spcAft>
                <a:spcPts val="600"/>
              </a:spcAft>
            </a:pPr>
            <a:r>
              <a:rPr sz="1300" b="1" i="0">
                <a:solidFill>
                  <a:srgbClr val="0D9488"/>
                </a:solidFill>
                <a:latin typeface="Calibri"/>
              </a:rPr>
              <a:t>■  </a:t>
            </a:r>
            <a:r>
              <a:rPr sz="1700" b="0" i="0">
                <a:solidFill>
                  <a:srgbClr val="1F2937"/>
                </a:solidFill>
                <a:latin typeface="Calibri"/>
              </a:rPr>
              <a:t>Usar la ficha de 8 campos · no repetir los tests 01–07</a:t>
            </a:r>
          </a:p>
        </p:txBody>
      </p:sp>
      <p:sp>
        <p:nvSpPr>
          <p:cNvPr id="7" name="Rectangle 6"/>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Entreguen 6 fichas (2 por flujo). Pista: ¿qué NO debería pasar en cada flujo?</a:t>
            </a:r>
          </a:p>
        </p:txBody>
      </p:sp>
      <p:sp>
        <p:nvSpPr>
          <p:cNvPr id="9" name="Rectangle 8"/>
          <p:cNvSpPr/>
          <p:nvPr/>
        </p:nvSpPr>
        <p:spPr>
          <a:xfrm>
            <a:off x="8092440" y="1280160"/>
            <a:ext cx="3593592" cy="416052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La ficha de 8 campos vacía (Objetivo · Componentes · Entrada · Precondiciones · Pasos · Resultado esperado · Bug que detecta · ¿Por qué integración?).</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9/27</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10</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RESOLUCIÓN DOCENTE</a:t>
            </a:r>
          </a:p>
          <a:p>
            <a:r>
              <a:rPr sz="2600" b="1" i="0">
                <a:solidFill>
                  <a:srgbClr val="FFFFFF"/>
                </a:solidFill>
                <a:latin typeface="Calibri"/>
              </a:rPr>
              <a:t>Actividad 1 · Resolución</a:t>
            </a:r>
          </a:p>
        </p:txBody>
      </p:sp>
      <p:graphicFrame>
        <p:nvGraphicFramePr>
          <p:cNvPr id="6" name="Table 5"/>
          <p:cNvGraphicFramePr>
            <a:graphicFrameLocks noGrp="1"/>
          </p:cNvGraphicFramePr>
          <p:nvPr/>
        </p:nvGraphicFramePr>
        <p:xfrm>
          <a:off x="502920" y="1280160"/>
          <a:ext cx="11185852" cy="2304288"/>
        </p:xfrm>
        <a:graphic>
          <a:graphicData uri="http://schemas.openxmlformats.org/drawingml/2006/table">
            <a:tbl>
              <a:tblPr firstRow="1" bandRow="1">
                <a:tableStyleId>{5C22544A-7EE6-4342-B048-85BDC9FD1C3A}</a:tableStyleId>
              </a:tblPr>
              <a:tblGrid>
                <a:gridCol w="798989"/>
                <a:gridCol w="3395705"/>
                <a:gridCol w="3595453"/>
                <a:gridCol w="3395705"/>
              </a:tblGrid>
              <a:tr h="329184">
                <a:tc>
                  <a:txBody>
                    <a:bodyPr/>
                    <a:lstStyle/>
                    <a:p>
                      <a:r>
                        <a:rPr sz="1300" b="1" i="0">
                          <a:solidFill>
                            <a:srgbClr val="FFFFFF"/>
                          </a:solidFill>
                          <a:latin typeface="Calibri"/>
                        </a:rPr>
                        <a:t>Flujo</a:t>
                      </a:r>
                    </a:p>
                  </a:txBody>
                  <a:tcPr>
                    <a:solidFill>
                      <a:srgbClr val="1F2A44"/>
                    </a:solidFill>
                  </a:tcPr>
                </a:tc>
                <a:tc>
                  <a:txBody>
                    <a:bodyPr/>
                    <a:lstStyle/>
                    <a:p>
                      <a:r>
                        <a:rPr sz="1300" b="1" i="0">
                          <a:solidFill>
                            <a:srgbClr val="FFFFFF"/>
                          </a:solidFill>
                          <a:latin typeface="Calibri"/>
                        </a:rPr>
                        <a:t>Caso</a:t>
                      </a:r>
                    </a:p>
                  </a:txBody>
                  <a:tcPr>
                    <a:solidFill>
                      <a:srgbClr val="1F2A44"/>
                    </a:solidFill>
                  </a:tcPr>
                </a:tc>
                <a:tc>
                  <a:txBody>
                    <a:bodyPr/>
                    <a:lstStyle/>
                    <a:p>
                      <a:r>
                        <a:rPr sz="1300" b="1" i="0">
                          <a:solidFill>
                            <a:srgbClr val="FFFFFF"/>
                          </a:solidFill>
                          <a:latin typeface="Calibri"/>
                        </a:rPr>
                        <a:t>Resultado esperado</a:t>
                      </a:r>
                    </a:p>
                  </a:txBody>
                  <a:tcPr>
                    <a:solidFill>
                      <a:srgbClr val="1F2A44"/>
                    </a:solidFill>
                  </a:tcPr>
                </a:tc>
                <a:tc>
                  <a:txBody>
                    <a:bodyPr/>
                    <a:lstStyle/>
                    <a:p>
                      <a:r>
                        <a:rPr sz="1300" b="1" i="0">
                          <a:solidFill>
                            <a:srgbClr val="FFFFFF"/>
                          </a:solidFill>
                          <a:latin typeface="Calibri"/>
                        </a:rPr>
                        <a:t>Bug que detecta</a:t>
                      </a:r>
                    </a:p>
                  </a:txBody>
                  <a:tcPr>
                    <a:solidFill>
                      <a:srgbClr val="1F2A44"/>
                    </a:solidFill>
                  </a:tcPr>
                </a:tc>
              </a:tr>
              <a:tr h="329184">
                <a:tc>
                  <a:txBody>
                    <a:bodyPr/>
                    <a:lstStyle/>
                    <a:p>
                      <a:r>
                        <a:rPr sz="1200" b="1" i="0">
                          <a:solidFill>
                            <a:srgbClr val="1F2937"/>
                          </a:solidFill>
                          <a:latin typeface="Calibri"/>
                        </a:rPr>
                        <a:t>A +</a:t>
                      </a:r>
                    </a:p>
                  </a:txBody>
                  <a:tcPr marT="36576" marB="36576">
                    <a:solidFill>
                      <a:srgbClr val="FFFFFF"/>
                    </a:solidFill>
                  </a:tcPr>
                </a:tc>
                <a:tc>
                  <a:txBody>
                    <a:bodyPr/>
                    <a:lstStyle/>
                    <a:p>
                      <a:r>
                        <a:rPr sz="1200" b="0" i="0">
                          <a:solidFill>
                            <a:srgbClr val="1F2937"/>
                          </a:solidFill>
                          <a:latin typeface="Calibri"/>
                        </a:rPr>
                        <a:t>INT-AST-09 · El HUD muestra el puntaje</a:t>
                      </a:r>
                    </a:p>
                  </a:txBody>
                  <a:tcPr marT="36576" marB="36576">
                    <a:solidFill>
                      <a:srgbClr val="FFFFFF"/>
                    </a:solidFill>
                  </a:tcPr>
                </a:tc>
                <a:tc>
                  <a:txBody>
                    <a:bodyPr/>
                    <a:lstStyle/>
                    <a:p>
                      <a:r>
                        <a:rPr sz="1200" b="0" i="0">
                          <a:solidFill>
                            <a:srgbClr val="1F2937"/>
                          </a:solidFill>
                          <a:latin typeface="Calibri"/>
                        </a:rPr>
                        <a:t>2 impactos → score = 2 y texto «Score: 2»</a:t>
                      </a:r>
                    </a:p>
                  </a:txBody>
                  <a:tcPr marT="36576" marB="36576">
                    <a:solidFill>
                      <a:srgbClr val="FFFFFF"/>
                    </a:solidFill>
                  </a:tcPr>
                </a:tc>
                <a:tc>
                  <a:txBody>
                    <a:bodyPr/>
                    <a:lstStyle/>
                    <a:p>
                      <a:r>
                        <a:rPr sz="1200" b="0" i="0">
                          <a:solidFill>
                            <a:srgbClr val="1F2937"/>
                          </a:solidFill>
                          <a:latin typeface="Calibri"/>
                        </a:rPr>
                        <a:t>Se borra la actualización del texto (Game.cs 85)</a:t>
                      </a:r>
                    </a:p>
                  </a:txBody>
                  <a:tcPr marT="36576" marB="36576">
                    <a:solidFill>
                      <a:srgbClr val="FFFFFF"/>
                    </a:solidFill>
                  </a:tcPr>
                </a:tc>
              </a:tr>
              <a:tr h="329184">
                <a:tc>
                  <a:txBody>
                    <a:bodyPr/>
                    <a:lstStyle/>
                    <a:p>
                      <a:r>
                        <a:rPr sz="1200" b="1" i="0">
                          <a:solidFill>
                            <a:srgbClr val="1F2937"/>
                          </a:solidFill>
                          <a:latin typeface="Calibri"/>
                        </a:rPr>
                        <a:t>A −</a:t>
                      </a:r>
                    </a:p>
                  </a:txBody>
                  <a:tcPr marT="36576" marB="36576">
                    <a:solidFill>
                      <a:srgbClr val="F3F4F6"/>
                    </a:solidFill>
                  </a:tcPr>
                </a:tc>
                <a:tc>
                  <a:txBody>
                    <a:bodyPr/>
                    <a:lstStyle/>
                    <a:p>
                      <a:r>
                        <a:rPr sz="1200" b="0" i="0">
                          <a:solidFill>
                            <a:srgbClr val="1F2937"/>
                          </a:solidFill>
                          <a:latin typeface="Calibri"/>
                        </a:rPr>
                        <a:t>INT-AST-10 · Láser contra objeto ajeno</a:t>
                      </a:r>
                    </a:p>
                  </a:txBody>
                  <a:tcPr marT="36576" marB="36576">
                    <a:solidFill>
                      <a:srgbClr val="F3F4F6"/>
                    </a:solidFill>
                  </a:tcPr>
                </a:tc>
                <a:tc>
                  <a:txBody>
                    <a:bodyPr/>
                    <a:lstStyle/>
                    <a:p>
                      <a:r>
                        <a:rPr sz="1200" b="0" i="0">
                          <a:solidFill>
                            <a:srgbClr val="1F2937"/>
                          </a:solidFill>
                          <a:latin typeface="Calibri"/>
                        </a:rPr>
                        <a:t>score = 0 · el objeto sigue intacto · sin excepción</a:t>
                      </a:r>
                    </a:p>
                  </a:txBody>
                  <a:tcPr marT="36576" marB="36576">
                    <a:solidFill>
                      <a:srgbClr val="F3F4F6"/>
                    </a:solidFill>
                  </a:tcPr>
                </a:tc>
                <a:tc>
                  <a:txBody>
                    <a:bodyPr/>
                    <a:lstStyle/>
                    <a:p>
                      <a:r>
                        <a:rPr sz="1200" b="0" i="0">
                          <a:solidFill>
                            <a:srgbClr val="1F2937"/>
                          </a:solidFill>
                          <a:latin typeface="Calibri"/>
                        </a:rPr>
                        <a:t>Se quita el filtro GetComponent&lt;Asteroid&gt;() (Laser.cs 48)</a:t>
                      </a:r>
                    </a:p>
                  </a:txBody>
                  <a:tcPr marT="36576" marB="36576">
                    <a:solidFill>
                      <a:srgbClr val="F3F4F6"/>
                    </a:solidFill>
                  </a:tcPr>
                </a:tc>
              </a:tr>
              <a:tr h="329184">
                <a:tc>
                  <a:txBody>
                    <a:bodyPr/>
                    <a:lstStyle/>
                    <a:p>
                      <a:r>
                        <a:rPr sz="1200" b="1" i="0">
                          <a:solidFill>
                            <a:srgbClr val="1F2937"/>
                          </a:solidFill>
                          <a:latin typeface="Calibri"/>
                        </a:rPr>
                        <a:t>B +</a:t>
                      </a:r>
                    </a:p>
                  </a:txBody>
                  <a:tcPr marT="36576" marB="36576">
                    <a:solidFill>
                      <a:srgbClr val="FFFFFF"/>
                    </a:solidFill>
                  </a:tcPr>
                </a:tc>
                <a:tc>
                  <a:txBody>
                    <a:bodyPr/>
                    <a:lstStyle/>
                    <a:p>
                      <a:r>
                        <a:rPr sz="1200" b="0" i="0">
                          <a:solidFill>
                            <a:srgbClr val="1F2937"/>
                          </a:solidFill>
                          <a:latin typeface="Calibri"/>
                        </a:rPr>
                        <a:t>(ya cubierto por 02 y 04)</a:t>
                      </a:r>
                    </a:p>
                  </a:txBody>
                  <a:tcPr marT="36576" marB="36576">
                    <a:solidFill>
                      <a:srgbClr val="FFFFFF"/>
                    </a:solidFill>
                  </a:tcPr>
                </a:tc>
                <a:tc>
                  <a:txBody>
                    <a:bodyPr/>
                    <a:lstStyle/>
                    <a:p>
                      <a:r>
                        <a:rPr sz="1200" b="0" i="0">
                          <a:solidFill>
                            <a:srgbClr val="1F2937"/>
                          </a:solidFill>
                          <a:latin typeface="Calibri"/>
                        </a:rPr>
                        <a:t>—</a:t>
                      </a:r>
                    </a:p>
                  </a:txBody>
                  <a:tcPr marT="36576" marB="36576">
                    <a:solidFill>
                      <a:srgbClr val="FFFFFF"/>
                    </a:solidFill>
                  </a:tcPr>
                </a:tc>
                <a:tc>
                  <a:txBody>
                    <a:bodyPr/>
                    <a:lstStyle/>
                    <a:p>
                      <a:r>
                        <a:rPr sz="1200" b="0" i="0">
                          <a:solidFill>
                            <a:srgbClr val="1F2937"/>
                          </a:solidFill>
                          <a:latin typeface="Calibri"/>
                        </a:rPr>
                        <a:t>—</a:t>
                      </a:r>
                    </a:p>
                  </a:txBody>
                  <a:tcPr marT="36576" marB="36576">
                    <a:solidFill>
                      <a:srgbClr val="FFFFFF"/>
                    </a:solidFill>
                  </a:tcPr>
                </a:tc>
              </a:tr>
              <a:tr h="329184">
                <a:tc>
                  <a:txBody>
                    <a:bodyPr/>
                    <a:lstStyle/>
                    <a:p>
                      <a:r>
                        <a:rPr sz="1200" b="1" i="0">
                          <a:solidFill>
                            <a:srgbClr val="1F2937"/>
                          </a:solidFill>
                          <a:latin typeface="Calibri"/>
                        </a:rPr>
                        <a:t>B −</a:t>
                      </a:r>
                    </a:p>
                  </a:txBody>
                  <a:tcPr marT="36576" marB="36576">
                    <a:solidFill>
                      <a:srgbClr val="F3F4F6"/>
                    </a:solidFill>
                  </a:tcPr>
                </a:tc>
                <a:tc>
                  <a:txBody>
                    <a:bodyPr/>
                    <a:lstStyle/>
                    <a:p>
                      <a:r>
                        <a:rPr sz="1200" b="0" i="0">
                          <a:solidFill>
                            <a:srgbClr val="1F2937"/>
                          </a:solidFill>
                          <a:latin typeface="Calibri"/>
                        </a:rPr>
                        <a:t>INT-AST-11 · Choque entre asteroides</a:t>
                      </a:r>
                    </a:p>
                  </a:txBody>
                  <a:tcPr marT="36576" marB="36576">
                    <a:solidFill>
                      <a:srgbClr val="F3F4F6"/>
                    </a:solidFill>
                  </a:tcPr>
                </a:tc>
                <a:tc>
                  <a:txBody>
                    <a:bodyPr/>
                    <a:lstStyle/>
                    <a:p>
                      <a:r>
                        <a:rPr sz="1200" b="0" i="0">
                          <a:solidFill>
                            <a:srgbClr val="1F2937"/>
                          </a:solidFill>
                          <a:latin typeface="Calibri"/>
                        </a:rPr>
                        <a:t>isGameOver = false</a:t>
                      </a:r>
                    </a:p>
                  </a:txBody>
                  <a:tcPr marT="36576" marB="36576">
                    <a:solidFill>
                      <a:srgbClr val="F3F4F6"/>
                    </a:solidFill>
                  </a:tcPr>
                </a:tc>
                <a:tc>
                  <a:txBody>
                    <a:bodyPr/>
                    <a:lstStyle/>
                    <a:p>
                      <a:r>
                        <a:rPr sz="1200" b="0" i="0">
                          <a:solidFill>
                            <a:srgbClr val="1F2937"/>
                          </a:solidFill>
                          <a:latin typeface="Calibri"/>
                        </a:rPr>
                        <a:t>Cualquier choque dispara Game Over</a:t>
                      </a:r>
                    </a:p>
                  </a:txBody>
                  <a:tcPr marT="36576" marB="36576">
                    <a:solidFill>
                      <a:srgbClr val="F3F4F6"/>
                    </a:solidFill>
                  </a:tcPr>
                </a:tc>
              </a:tr>
              <a:tr h="329184">
                <a:tc>
                  <a:txBody>
                    <a:bodyPr/>
                    <a:lstStyle/>
                    <a:p>
                      <a:r>
                        <a:rPr sz="1200" b="1" i="0">
                          <a:solidFill>
                            <a:srgbClr val="1F2937"/>
                          </a:solidFill>
                          <a:latin typeface="Calibri"/>
                        </a:rPr>
                        <a:t>C +</a:t>
                      </a:r>
                    </a:p>
                  </a:txBody>
                  <a:tcPr marT="36576" marB="36576">
                    <a:solidFill>
                      <a:srgbClr val="FFFFFF"/>
                    </a:solidFill>
                  </a:tcPr>
                </a:tc>
                <a:tc>
                  <a:txBody>
                    <a:bodyPr/>
                    <a:lstStyle/>
                    <a:p>
                      <a:r>
                        <a:rPr sz="1200" b="0" i="0">
                          <a:solidFill>
                            <a:srgbClr val="1F2937"/>
                          </a:solidFill>
                          <a:latin typeface="Calibri"/>
                        </a:rPr>
                        <a:t>INT-AST-08 · Reinicio tras Game Over real</a:t>
                      </a:r>
                    </a:p>
                  </a:txBody>
                  <a:tcPr marT="36576" marB="36576">
                    <a:solidFill>
                      <a:srgbClr val="FFFFFF"/>
                    </a:solidFill>
                  </a:tcPr>
                </a:tc>
                <a:tc>
                  <a:txBody>
                    <a:bodyPr/>
                    <a:lstStyle/>
                    <a:p>
                      <a:r>
                        <a:rPr sz="1200" b="0" i="0">
                          <a:solidFill>
                            <a:srgbClr val="1F2937"/>
                          </a:solidFill>
                          <a:latin typeface="Calibri"/>
                        </a:rPr>
                        <a:t>Nave viva en (0,0,0) · score 0 · spawner activo</a:t>
                      </a:r>
                    </a:p>
                  </a:txBody>
                  <a:tcPr marT="36576" marB="36576">
                    <a:solidFill>
                      <a:srgbClr val="FFFFFF"/>
                    </a:solidFill>
                  </a:tcPr>
                </a:tc>
                <a:tc>
                  <a:txBody>
                    <a:bodyPr/>
                    <a:lstStyle/>
                    <a:p>
                      <a:r>
                        <a:rPr sz="1200" b="0" i="0">
                          <a:solidFill>
                            <a:srgbClr val="1F2937"/>
                          </a:solidFill>
                          <a:latin typeface="Calibri"/>
                        </a:rPr>
                        <a:t>RepairShip o BeginSpawning omitidos</a:t>
                      </a:r>
                    </a:p>
                  </a:txBody>
                  <a:tcPr marT="36576" marB="36576">
                    <a:solidFill>
                      <a:srgbClr val="FFFFFF"/>
                    </a:solidFill>
                  </a:tcPr>
                </a:tc>
              </a:tr>
              <a:tr h="329184">
                <a:tc>
                  <a:txBody>
                    <a:bodyPr/>
                    <a:lstStyle/>
                    <a:p>
                      <a:r>
                        <a:rPr sz="1200" b="1" i="0">
                          <a:solidFill>
                            <a:srgbClr val="1F2937"/>
                          </a:solidFill>
                          <a:latin typeface="Calibri"/>
                        </a:rPr>
                        <a:t>C −</a:t>
                      </a:r>
                    </a:p>
                  </a:txBody>
                  <a:tcPr marT="36576" marB="36576">
                    <a:solidFill>
                      <a:srgbClr val="F3F4F6"/>
                    </a:solidFill>
                  </a:tcPr>
                </a:tc>
                <a:tc>
                  <a:txBody>
                    <a:bodyPr/>
                    <a:lstStyle/>
                    <a:p>
                      <a:r>
                        <a:rPr sz="1200" b="0" i="0">
                          <a:solidFill>
                            <a:srgbClr val="1F2937"/>
                          </a:solidFill>
                          <a:latin typeface="Calibri"/>
                        </a:rPr>
                        <a:t>NewGame con partida en curso</a:t>
                      </a:r>
                    </a:p>
                  </a:txBody>
                  <a:tcPr marT="36576" marB="36576">
                    <a:solidFill>
                      <a:srgbClr val="F3F4F6"/>
                    </a:solidFill>
                  </a:tcPr>
                </a:tc>
                <a:tc>
                  <a:txBody>
                    <a:bodyPr/>
                    <a:lstStyle/>
                    <a:p>
                      <a:r>
                        <a:rPr sz="1200" b="0" i="0">
                          <a:solidFill>
                            <a:srgbClr val="1F2937"/>
                          </a:solidFill>
                          <a:latin typeface="Calibri"/>
                        </a:rPr>
                        <a:t>Estado inicial, sin doble spawner</a:t>
                      </a:r>
                    </a:p>
                  </a:txBody>
                  <a:tcPr marT="36576" marB="36576">
                    <a:solidFill>
                      <a:srgbClr val="F3F4F6"/>
                    </a:solidFill>
                  </a:tcPr>
                </a:tc>
                <a:tc>
                  <a:txBody>
                    <a:bodyPr/>
                    <a:lstStyle/>
                    <a:p>
                      <a:r>
                        <a:rPr sz="1200" b="0" i="0">
                          <a:solidFill>
                            <a:srgbClr val="1F2937"/>
                          </a:solidFill>
                          <a:latin typeface="Calibri"/>
                        </a:rPr>
                        <a:t>Ver INT-AST-15 (repetición)</a:t>
                      </a:r>
                    </a:p>
                  </a:txBody>
                  <a:tcPr marT="36576" marB="36576">
                    <a:solidFill>
                      <a:srgbClr val="F3F4F6"/>
                    </a:solidFill>
                  </a:tcPr>
                </a:tc>
              </a:tr>
            </a:tbl>
          </a:graphicData>
        </a:graphic>
      </p:graphicFrame>
      <p:sp>
        <p:nvSpPr>
          <p:cNvPr id="7" name="Rectangle 6"/>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HUD: scoreText es privado, pero está dentro del prefab Game (UICanvas/ScoreText): el test puede encontrarlo con GetComponentsInChildren&lt;Text&gt;().</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10/27</a:t>
            </a:r>
          </a:p>
        </p:txBody>
      </p:sp>
    </p:spTree>
  </p:cSld>
  <p:clrMapOvr>
    <a:masterClrMapping/>
  </p:clrMapOvr>
</p:sld>
</file>

<file path=ppt/slides/slide1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11</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PRÁCTICA · ANÁLISIS SIN CÓDIGO</a:t>
            </a:r>
          </a:p>
          <a:p>
            <a:r>
              <a:rPr sz="2600" b="1" i="0">
                <a:solidFill>
                  <a:srgbClr val="FFFFFF"/>
                </a:solidFill>
                <a:latin typeface="Calibri"/>
              </a:rPr>
              <a:t>Actividad 2 · Casos borde (10 min)</a:t>
            </a:r>
          </a:p>
        </p:txBody>
      </p:sp>
      <p:sp>
        <p:nvSpPr>
          <p:cNvPr id="6" name="TextBox 5"/>
          <p:cNvSpPr txBox="1"/>
          <p:nvPr/>
        </p:nvSpPr>
        <p:spPr>
          <a:xfrm>
            <a:off x="502920" y="1280160"/>
            <a:ext cx="11185855" cy="652780"/>
          </a:xfrm>
          <a:prstGeom prst="rect">
            <a:avLst/>
          </a:prstGeom>
          <a:noFill/>
        </p:spPr>
        <p:txBody>
          <a:bodyPr wrap="square" anchor="t" lIns="0" rIns="0" tIns="0" bIns="0">
            <a:spAutoFit/>
          </a:bodyPr>
          <a:lstStyle/>
          <a:p>
            <a:pPr algn="l"/>
            <a:r>
              <a:rPr sz="1700" b="1" i="1">
                <a:solidFill>
                  <a:srgbClr val="1F2A44"/>
                </a:solidFill>
                <a:latin typeface="Calibri"/>
              </a:rPr>
              <a:t>Una fila por dimensión, con valores concretos y resultado esperado. Marquen con ⚠ las filas cuyo resultado no pueden decidir ustedes.</a:t>
            </a:r>
          </a:p>
        </p:txBody>
      </p:sp>
      <p:graphicFrame>
        <p:nvGraphicFramePr>
          <p:cNvPr id="7" name="Table 6"/>
          <p:cNvGraphicFramePr>
            <a:graphicFrameLocks noGrp="1"/>
          </p:cNvGraphicFramePr>
          <p:nvPr/>
        </p:nvGraphicFramePr>
        <p:xfrm>
          <a:off x="502920" y="2070100"/>
          <a:ext cx="11185852" cy="1975104"/>
        </p:xfrm>
        <a:graphic>
          <a:graphicData uri="http://schemas.openxmlformats.org/drawingml/2006/table">
            <a:tbl>
              <a:tblPr firstRow="1" bandRow="1">
                <a:tableStyleId>{5C22544A-7EE6-4342-B048-85BDC9FD1C3A}</a:tableStyleId>
              </a:tblPr>
              <a:tblGrid>
                <a:gridCol w="2193304"/>
                <a:gridCol w="3947948"/>
                <a:gridCol w="4386609"/>
                <a:gridCol w="657991"/>
              </a:tblGrid>
              <a:tr h="329184">
                <a:tc>
                  <a:txBody>
                    <a:bodyPr/>
                    <a:lstStyle/>
                    <a:p>
                      <a:r>
                        <a:rPr sz="1400" b="1" i="0">
                          <a:solidFill>
                            <a:srgbClr val="FFFFFF"/>
                          </a:solidFill>
                          <a:latin typeface="Calibri"/>
                        </a:rPr>
                        <a:t>Dimensión</a:t>
                      </a:r>
                    </a:p>
                  </a:txBody>
                  <a:tcPr>
                    <a:solidFill>
                      <a:srgbClr val="1F2A44"/>
                    </a:solidFill>
                  </a:tcPr>
                </a:tc>
                <a:tc>
                  <a:txBody>
                    <a:bodyPr/>
                    <a:lstStyle/>
                    <a:p>
                      <a:r>
                        <a:rPr sz="1400" b="1" i="0">
                          <a:solidFill>
                            <a:srgbClr val="FFFFFF"/>
                          </a:solidFill>
                          <a:latin typeface="Calibri"/>
                        </a:rPr>
                        <a:t>Valores a probar</a:t>
                      </a:r>
                    </a:p>
                  </a:txBody>
                  <a:tcPr>
                    <a:solidFill>
                      <a:srgbClr val="1F2A44"/>
                    </a:solidFill>
                  </a:tcPr>
                </a:tc>
                <a:tc>
                  <a:txBody>
                    <a:bodyPr/>
                    <a:lstStyle/>
                    <a:p>
                      <a:r>
                        <a:rPr sz="1400" b="1" i="0">
                          <a:solidFill>
                            <a:srgbClr val="FFFFFF"/>
                          </a:solidFill>
                          <a:latin typeface="Calibri"/>
                        </a:rPr>
                        <a:t>Resultado esperado</a:t>
                      </a:r>
                    </a:p>
                  </a:txBody>
                  <a:tcPr>
                    <a:solidFill>
                      <a:srgbClr val="1F2A44"/>
                    </a:solidFill>
                  </a:tcPr>
                </a:tc>
                <a:tc>
                  <a:txBody>
                    <a:bodyPr/>
                    <a:lstStyle/>
                    <a:p>
                      <a:r>
                        <a:rPr sz="1400" b="1" i="0">
                          <a:solidFill>
                            <a:srgbClr val="FFFFFF"/>
                          </a:solidFill>
                          <a:latin typeface="Calibri"/>
                        </a:rPr>
                        <a:t>⚠</a:t>
                      </a:r>
                    </a:p>
                  </a:txBody>
                  <a:tcPr>
                    <a:solidFill>
                      <a:srgbClr val="1F2A44"/>
                    </a:solidFill>
                  </a:tcPr>
                </a:tc>
              </a:tr>
              <a:tr h="329184">
                <a:tc>
                  <a:txBody>
                    <a:bodyPr/>
                    <a:lstStyle/>
                    <a:p>
                      <a:r>
                        <a:rPr sz="1300" b="1" i="0">
                          <a:solidFill>
                            <a:srgbClr val="1F2937"/>
                          </a:solidFill>
                          <a:latin typeface="Calibri"/>
                        </a:rPr>
                        <a:t>Valor</a:t>
                      </a:r>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r>
              <a:tr h="329184">
                <a:tc>
                  <a:txBody>
                    <a:bodyPr/>
                    <a:lstStyle/>
                    <a:p>
                      <a:r>
                        <a:rPr sz="1300" b="1" i="0">
                          <a:solidFill>
                            <a:srgbClr val="1F2937"/>
                          </a:solidFill>
                          <a:latin typeface="Calibri"/>
                        </a:rPr>
                        <a:t>Tiempo</a:t>
                      </a:r>
                    </a:p>
                  </a:txBody>
                  <a:tcPr marT="36576" marB="36576">
                    <a:solidFill>
                      <a:srgbClr val="F3F4F6"/>
                    </a:solidFill>
                  </a:tcPr>
                </a:tc>
                <a:tc>
                  <a:txBody>
                    <a:bodyPr/>
                    <a:lstStyle/>
                    <a:p/>
                  </a:txBody>
                  <a:tcPr marT="36576" marB="36576">
                    <a:solidFill>
                      <a:srgbClr val="F3F4F6"/>
                    </a:solidFill>
                  </a:tcPr>
                </a:tc>
                <a:tc>
                  <a:txBody>
                    <a:bodyPr/>
                    <a:lstStyle/>
                    <a:p/>
                  </a:txBody>
                  <a:tcPr marT="36576" marB="36576">
                    <a:solidFill>
                      <a:srgbClr val="F3F4F6"/>
                    </a:solidFill>
                  </a:tcPr>
                </a:tc>
                <a:tc>
                  <a:txBody>
                    <a:bodyPr/>
                    <a:lstStyle/>
                    <a:p/>
                  </a:txBody>
                  <a:tcPr marT="36576" marB="36576">
                    <a:solidFill>
                      <a:srgbClr val="F3F4F6"/>
                    </a:solidFill>
                  </a:tcPr>
                </a:tc>
              </a:tr>
              <a:tr h="329184">
                <a:tc>
                  <a:txBody>
                    <a:bodyPr/>
                    <a:lstStyle/>
                    <a:p>
                      <a:r>
                        <a:rPr sz="1300" b="1" i="0">
                          <a:solidFill>
                            <a:srgbClr val="1F2937"/>
                          </a:solidFill>
                          <a:latin typeface="Calibri"/>
                        </a:rPr>
                        <a:t>Simultaneidad</a:t>
                      </a:r>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r>
              <a:tr h="329184">
                <a:tc>
                  <a:txBody>
                    <a:bodyPr/>
                    <a:lstStyle/>
                    <a:p>
                      <a:r>
                        <a:rPr sz="1300" b="1" i="0">
                          <a:solidFill>
                            <a:srgbClr val="1F2937"/>
                          </a:solidFill>
                          <a:latin typeface="Calibri"/>
                        </a:rPr>
                        <a:t>Repetición</a:t>
                      </a:r>
                    </a:p>
                  </a:txBody>
                  <a:tcPr marT="36576" marB="36576">
                    <a:solidFill>
                      <a:srgbClr val="F3F4F6"/>
                    </a:solidFill>
                  </a:tcPr>
                </a:tc>
                <a:tc>
                  <a:txBody>
                    <a:bodyPr/>
                    <a:lstStyle/>
                    <a:p/>
                  </a:txBody>
                  <a:tcPr marT="36576" marB="36576">
                    <a:solidFill>
                      <a:srgbClr val="F3F4F6"/>
                    </a:solidFill>
                  </a:tcPr>
                </a:tc>
                <a:tc>
                  <a:txBody>
                    <a:bodyPr/>
                    <a:lstStyle/>
                    <a:p/>
                  </a:txBody>
                  <a:tcPr marT="36576" marB="36576">
                    <a:solidFill>
                      <a:srgbClr val="F3F4F6"/>
                    </a:solidFill>
                  </a:tcPr>
                </a:tc>
                <a:tc>
                  <a:txBody>
                    <a:bodyPr/>
                    <a:lstStyle/>
                    <a:p/>
                  </a:txBody>
                  <a:tcPr marT="36576" marB="36576">
                    <a:solidFill>
                      <a:srgbClr val="F3F4F6"/>
                    </a:solidFill>
                  </a:tcPr>
                </a:tc>
              </a:tr>
              <a:tr h="329184">
                <a:tc>
                  <a:txBody>
                    <a:bodyPr/>
                    <a:lstStyle/>
                    <a:p>
                      <a:r>
                        <a:rPr sz="1300" b="1" i="0">
                          <a:solidFill>
                            <a:srgbClr val="1F2937"/>
                          </a:solidFill>
                          <a:latin typeface="Calibri"/>
                        </a:rPr>
                        <a:t>Orden</a:t>
                      </a:r>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c>
                  <a:txBody>
                    <a:bodyPr/>
                    <a:lstStyle/>
                    <a:p/>
                  </a:txBody>
                  <a:tcPr marT="36576" marB="36576">
                    <a:solidFill>
                      <a:srgbClr val="FFFFFF"/>
                    </a:solidFill>
                  </a:tcPr>
                </a:tc>
              </a:tr>
            </a:tbl>
          </a:graphicData>
        </a:graphic>
      </p:graphicFrame>
      <p:sp>
        <p:nvSpPr>
          <p:cNvPr id="8" name="Rectangle 7"/>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¿Quién decide el resultado esperado de una fila marcada con ⚠?</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11/27</a:t>
            </a:r>
          </a:p>
        </p:txBody>
      </p:sp>
    </p:spTree>
  </p:cSld>
  <p:clrMapOvr>
    <a:masterClrMapping/>
  </p:clrMapOvr>
</p:sld>
</file>

<file path=ppt/slides/slide1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12</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RESOLUCIÓN DOCENTE</a:t>
            </a:r>
          </a:p>
          <a:p>
            <a:r>
              <a:rPr sz="2600" b="1" i="0">
                <a:solidFill>
                  <a:srgbClr val="FFFFFF"/>
                </a:solidFill>
                <a:latin typeface="Calibri"/>
              </a:rPr>
              <a:t>Actividad 2 · Resolución</a:t>
            </a:r>
          </a:p>
        </p:txBody>
      </p:sp>
      <p:graphicFrame>
        <p:nvGraphicFramePr>
          <p:cNvPr id="6" name="Table 5"/>
          <p:cNvGraphicFramePr>
            <a:graphicFrameLocks noGrp="1"/>
          </p:cNvGraphicFramePr>
          <p:nvPr/>
        </p:nvGraphicFramePr>
        <p:xfrm>
          <a:off x="502920" y="1280160"/>
          <a:ext cx="11185853" cy="2304288"/>
        </p:xfrm>
        <a:graphic>
          <a:graphicData uri="http://schemas.openxmlformats.org/drawingml/2006/table">
            <a:tbl>
              <a:tblPr firstRow="1" bandRow="1">
                <a:tableStyleId>{5C22544A-7EE6-4342-B048-85BDC9FD1C3A}</a:tableStyleId>
              </a:tblPr>
              <a:tblGrid>
                <a:gridCol w="1828457"/>
                <a:gridCol w="3872026"/>
                <a:gridCol w="4947589"/>
                <a:gridCol w="537781"/>
              </a:tblGrid>
              <a:tr h="329184">
                <a:tc>
                  <a:txBody>
                    <a:bodyPr/>
                    <a:lstStyle/>
                    <a:p>
                      <a:r>
                        <a:rPr sz="1300" b="1" i="0">
                          <a:solidFill>
                            <a:srgbClr val="FFFFFF"/>
                          </a:solidFill>
                          <a:latin typeface="Calibri"/>
                        </a:rPr>
                        <a:t>Dimensión</a:t>
                      </a:r>
                    </a:p>
                  </a:txBody>
                  <a:tcPr>
                    <a:solidFill>
                      <a:srgbClr val="1F2A44"/>
                    </a:solidFill>
                  </a:tcPr>
                </a:tc>
                <a:tc>
                  <a:txBody>
                    <a:bodyPr/>
                    <a:lstStyle/>
                    <a:p>
                      <a:r>
                        <a:rPr sz="1300" b="1" i="0">
                          <a:solidFill>
                            <a:srgbClr val="FFFFFF"/>
                          </a:solidFill>
                          <a:latin typeface="Calibri"/>
                        </a:rPr>
                        <a:t>Valores</a:t>
                      </a:r>
                    </a:p>
                  </a:txBody>
                  <a:tcPr>
                    <a:solidFill>
                      <a:srgbClr val="1F2A44"/>
                    </a:solidFill>
                  </a:tcPr>
                </a:tc>
                <a:tc>
                  <a:txBody>
                    <a:bodyPr/>
                    <a:lstStyle/>
                    <a:p>
                      <a:r>
                        <a:rPr sz="1300" b="1" i="0">
                          <a:solidFill>
                            <a:srgbClr val="FFFFFF"/>
                          </a:solidFill>
                          <a:latin typeface="Calibri"/>
                        </a:rPr>
                        <a:t>Resultado esperado</a:t>
                      </a:r>
                    </a:p>
                  </a:txBody>
                  <a:tcPr>
                    <a:solidFill>
                      <a:srgbClr val="1F2A44"/>
                    </a:solidFill>
                  </a:tcPr>
                </a:tc>
                <a:tc>
                  <a:txBody>
                    <a:bodyPr/>
                    <a:lstStyle/>
                    <a:p>
                      <a:r>
                        <a:rPr sz="1300" b="1" i="0">
                          <a:solidFill>
                            <a:srgbClr val="FFFFFF"/>
                          </a:solidFill>
                          <a:latin typeface="Calibri"/>
                        </a:rPr>
                        <a:t>⚠</a:t>
                      </a:r>
                    </a:p>
                  </a:txBody>
                  <a:tcPr>
                    <a:solidFill>
                      <a:srgbClr val="1F2A44"/>
                    </a:solidFill>
                  </a:tcPr>
                </a:tc>
              </a:tr>
              <a:tr h="329184">
                <a:tc>
                  <a:txBody>
                    <a:bodyPr/>
                    <a:lstStyle/>
                    <a:p>
                      <a:r>
                        <a:rPr sz="1200" b="1" i="0">
                          <a:solidFill>
                            <a:srgbClr val="1F2937"/>
                          </a:solidFill>
                          <a:latin typeface="Calibri"/>
                        </a:rPr>
                        <a:t>Valor</a:t>
                      </a:r>
                    </a:p>
                  </a:txBody>
                  <a:tcPr marT="36576" marB="36576">
                    <a:solidFill>
                      <a:srgbClr val="FFFFFF"/>
                    </a:solidFill>
                  </a:tcPr>
                </a:tc>
                <a:tc>
                  <a:txBody>
                    <a:bodyPr/>
                    <a:lstStyle/>
                    <a:p>
                      <a:r>
                        <a:rPr sz="1200" b="0" i="0">
                          <a:solidFill>
                            <a:srgbClr val="1F2937"/>
                          </a:solidFill>
                          <a:latin typeface="Calibri"/>
                        </a:rPr>
                        <a:t>Asteroide en y = −4,99 · −5,00 · −5,01</a:t>
                      </a:r>
                    </a:p>
                  </a:txBody>
                  <a:tcPr marT="36576" marB="36576">
                    <a:solidFill>
                      <a:srgbClr val="FFFFFF"/>
                    </a:solidFill>
                  </a:tcPr>
                </a:tc>
                <a:tc>
                  <a:txBody>
                    <a:bodyPr/>
                    <a:lstStyle/>
                    <a:p>
                      <a:r>
                        <a:rPr sz="1200" b="0" i="0">
                          <a:solidFill>
                            <a:srgbClr val="1F2937"/>
                          </a:solidFill>
                          <a:latin typeface="Calibri"/>
                        </a:rPr>
                        <a:t>Vivo · vivo · destruido (condición estricta «&lt; −5») → INT-AST-12</a:t>
                      </a:r>
                    </a:p>
                  </a:txBody>
                  <a:tcPr marT="36576" marB="36576">
                    <a:solidFill>
                      <a:srgbClr val="FFFFFF"/>
                    </a:solidFill>
                  </a:tcPr>
                </a:tc>
                <a:tc>
                  <a:txBody>
                    <a:bodyPr/>
                    <a:lstStyle/>
                    <a:p/>
                  </a:txBody>
                  <a:tcPr marT="36576" marB="36576">
                    <a:solidFill>
                      <a:srgbClr val="FFFFFF"/>
                    </a:solidFill>
                  </a:tcPr>
                </a:tc>
              </a:tr>
              <a:tr h="329184">
                <a:tc>
                  <a:txBody>
                    <a:bodyPr/>
                    <a:lstStyle/>
                    <a:p>
                      <a:r>
                        <a:rPr sz="1200" b="1" i="0">
                          <a:solidFill>
                            <a:srgbClr val="1F2937"/>
                          </a:solidFill>
                          <a:latin typeface="Calibri"/>
                        </a:rPr>
                        <a:t>Tiempo</a:t>
                      </a:r>
                    </a:p>
                  </a:txBody>
                  <a:tcPr marT="36576" marB="36576">
                    <a:solidFill>
                      <a:srgbClr val="F3F4F6"/>
                    </a:solidFill>
                  </a:tcPr>
                </a:tc>
                <a:tc>
                  <a:txBody>
                    <a:bodyPr/>
                    <a:lstStyle/>
                    <a:p>
                      <a:r>
                        <a:rPr sz="1200" b="0" i="0">
                          <a:solidFill>
                            <a:srgbClr val="1F2937"/>
                          </a:solidFill>
                          <a:latin typeface="Calibri"/>
                        </a:rPr>
                        <a:t>Disparo a 0,39 s y 0,41 s del anterior</a:t>
                      </a:r>
                    </a:p>
                  </a:txBody>
                  <a:tcPr marT="36576" marB="36576">
                    <a:solidFill>
                      <a:srgbClr val="F3F4F6"/>
                    </a:solidFill>
                  </a:tcPr>
                </a:tc>
                <a:tc>
                  <a:txBody>
                    <a:bodyPr/>
                    <a:lstStyle/>
                    <a:p>
                      <a:r>
                        <a:rPr sz="1200" b="0" i="0">
                          <a:solidFill>
                            <a:srgbClr val="1F2937"/>
                          </a:solidFill>
                          <a:latin typeface="Calibri"/>
                        </a:rPr>
                        <a:t>No dispara · dispara → INT-AST-16 (hoy no se puede automatizar)</a:t>
                      </a:r>
                    </a:p>
                  </a:txBody>
                  <a:tcPr marT="36576" marB="36576">
                    <a:solidFill>
                      <a:srgbClr val="F3F4F6"/>
                    </a:solidFill>
                  </a:tcPr>
                </a:tc>
                <a:tc>
                  <a:txBody>
                    <a:bodyPr/>
                    <a:lstStyle/>
                    <a:p/>
                  </a:txBody>
                  <a:tcPr marT="36576" marB="36576">
                    <a:solidFill>
                      <a:srgbClr val="F3F4F6"/>
                    </a:solidFill>
                  </a:tcPr>
                </a:tc>
              </a:tr>
              <a:tr h="329184">
                <a:tc>
                  <a:txBody>
                    <a:bodyPr/>
                    <a:lstStyle/>
                    <a:p>
                      <a:r>
                        <a:rPr sz="1200" b="1" i="0">
                          <a:solidFill>
                            <a:srgbClr val="1F2937"/>
                          </a:solidFill>
                          <a:latin typeface="Calibri"/>
                        </a:rPr>
                        <a:t>Simultaneidad</a:t>
                      </a:r>
                    </a:p>
                  </a:txBody>
                  <a:tcPr marT="36576" marB="36576">
                    <a:solidFill>
                      <a:srgbClr val="FFFFFF"/>
                    </a:solidFill>
                  </a:tcPr>
                </a:tc>
                <a:tc>
                  <a:txBody>
                    <a:bodyPr/>
                    <a:lstStyle/>
                    <a:p>
                      <a:r>
                        <a:rPr sz="1200" b="0" i="0">
                          <a:solidFill>
                            <a:srgbClr val="1F2937"/>
                          </a:solidFill>
                          <a:latin typeface="Calibri"/>
                        </a:rPr>
                        <a:t>2 láseres → 1 asteroide, mismo paso</a:t>
                      </a:r>
                    </a:p>
                  </a:txBody>
                  <a:tcPr marT="36576" marB="36576">
                    <a:solidFill>
                      <a:srgbClr val="FFFFFF"/>
                    </a:solidFill>
                  </a:tcPr>
                </a:tc>
                <a:tc>
                  <a:txBody>
                    <a:bodyPr/>
                    <a:lstStyle/>
                    <a:p>
                      <a:r>
                        <a:rPr sz="1200" b="0" i="0">
                          <a:solidFill>
                            <a:srgbClr val="1F2937"/>
                          </a:solidFill>
                          <a:latin typeface="Calibri"/>
                        </a:rPr>
                        <a:t>score +1 y sin excepción → INT-AST-13 (EJECUTADO: suma 2 y lanza excepción)</a:t>
                      </a:r>
                    </a:p>
                  </a:txBody>
                  <a:tcPr marT="36576" marB="36576">
                    <a:solidFill>
                      <a:srgbClr val="FFFFFF"/>
                    </a:solidFill>
                  </a:tcPr>
                </a:tc>
                <a:tc>
                  <a:txBody>
                    <a:bodyPr/>
                    <a:lstStyle/>
                    <a:p/>
                  </a:txBody>
                  <a:tcPr marT="36576" marB="36576">
                    <a:solidFill>
                      <a:srgbClr val="FFFFFF"/>
                    </a:solidFill>
                  </a:tcPr>
                </a:tc>
              </a:tr>
              <a:tr h="329184">
                <a:tc>
                  <a:txBody>
                    <a:bodyPr/>
                    <a:lstStyle/>
                    <a:p>
                      <a:r>
                        <a:rPr sz="1200" b="1" i="0">
                          <a:solidFill>
                            <a:srgbClr val="1F2937"/>
                          </a:solidFill>
                          <a:latin typeface="Calibri"/>
                        </a:rPr>
                        <a:t>Simultaneidad</a:t>
                      </a:r>
                    </a:p>
                  </a:txBody>
                  <a:tcPr marT="36576" marB="36576">
                    <a:solidFill>
                      <a:srgbClr val="F3F4F6"/>
                    </a:solidFill>
                  </a:tcPr>
                </a:tc>
                <a:tc>
                  <a:txBody>
                    <a:bodyPr/>
                    <a:lstStyle/>
                    <a:p>
                      <a:r>
                        <a:rPr sz="1200" b="0" i="0">
                          <a:solidFill>
                            <a:srgbClr val="1F2937"/>
                          </a:solidFill>
                          <a:latin typeface="Calibri"/>
                        </a:rPr>
                        <a:t>1 láser → 2 asteroides superpuestos</a:t>
                      </a:r>
                    </a:p>
                  </a:txBody>
                  <a:tcPr marT="36576" marB="36576">
                    <a:solidFill>
                      <a:srgbClr val="F3F4F6"/>
                    </a:solidFill>
                  </a:tcPr>
                </a:tc>
                <a:tc>
                  <a:txBody>
                    <a:bodyPr/>
                    <a:lstStyle/>
                    <a:p>
                      <a:r>
                        <a:rPr sz="1200" b="0" i="0">
                          <a:solidFill>
                            <a:srgbClr val="1F2937"/>
                          </a:solidFill>
                          <a:latin typeface="Calibri"/>
                        </a:rPr>
                        <a:t>¿+1 o +2? Decisión de diseño</a:t>
                      </a:r>
                    </a:p>
                  </a:txBody>
                  <a:tcPr marT="36576" marB="36576">
                    <a:solidFill>
                      <a:srgbClr val="F3F4F6"/>
                    </a:solidFill>
                  </a:tcPr>
                </a:tc>
                <a:tc>
                  <a:txBody>
                    <a:bodyPr/>
                    <a:lstStyle/>
                    <a:p>
                      <a:r>
                        <a:rPr sz="1200" b="0" i="0">
                          <a:solidFill>
                            <a:srgbClr val="1F2937"/>
                          </a:solidFill>
                          <a:latin typeface="Calibri"/>
                        </a:rPr>
                        <a:t>⚠</a:t>
                      </a:r>
                    </a:p>
                  </a:txBody>
                  <a:tcPr marT="36576" marB="36576">
                    <a:solidFill>
                      <a:srgbClr val="F3F4F6"/>
                    </a:solidFill>
                  </a:tcPr>
                </a:tc>
              </a:tr>
              <a:tr h="329184">
                <a:tc>
                  <a:txBody>
                    <a:bodyPr/>
                    <a:lstStyle/>
                    <a:p>
                      <a:r>
                        <a:rPr sz="1200" b="1" i="0">
                          <a:solidFill>
                            <a:srgbClr val="1F2937"/>
                          </a:solidFill>
                          <a:latin typeface="Calibri"/>
                        </a:rPr>
                        <a:t>Repetición</a:t>
                      </a:r>
                    </a:p>
                  </a:txBody>
                  <a:tcPr marT="36576" marB="36576">
                    <a:solidFill>
                      <a:srgbClr val="FFFFFF"/>
                    </a:solidFill>
                  </a:tcPr>
                </a:tc>
                <a:tc>
                  <a:txBody>
                    <a:bodyPr/>
                    <a:lstStyle/>
                    <a:p>
                      <a:r>
                        <a:rPr sz="1200" b="0" i="0">
                          <a:solidFill>
                            <a:srgbClr val="1F2937"/>
                          </a:solidFill>
                          <a:latin typeface="Calibri"/>
                        </a:rPr>
                        <a:t>NewGame() dos veces seguidas</a:t>
                      </a:r>
                    </a:p>
                  </a:txBody>
                  <a:tcPr marT="36576" marB="36576">
                    <a:solidFill>
                      <a:srgbClr val="FFFFFF"/>
                    </a:solidFill>
                  </a:tcPr>
                </a:tc>
                <a:tc>
                  <a:txBody>
                    <a:bodyPr/>
                    <a:lstStyle/>
                    <a:p>
                      <a:r>
                        <a:rPr sz="1200" b="0" i="0">
                          <a:solidFill>
                            <a:srgbClr val="1F2937"/>
                          </a:solidFill>
                          <a:latin typeface="Calibri"/>
                        </a:rPr>
                        <a:t>Misma tasa de aparición → INT-AST-15 (EJECUTADO: 8 asteroides vs. 5)</a:t>
                      </a:r>
                    </a:p>
                  </a:txBody>
                  <a:tcPr marT="36576" marB="36576">
                    <a:solidFill>
                      <a:srgbClr val="FFFFFF"/>
                    </a:solidFill>
                  </a:tcPr>
                </a:tc>
                <a:tc>
                  <a:txBody>
                    <a:bodyPr/>
                    <a:lstStyle/>
                    <a:p/>
                  </a:txBody>
                  <a:tcPr marT="36576" marB="36576">
                    <a:solidFill>
                      <a:srgbClr val="FFFFFF"/>
                    </a:solidFill>
                  </a:tcPr>
                </a:tc>
              </a:tr>
              <a:tr h="329184">
                <a:tc>
                  <a:txBody>
                    <a:bodyPr/>
                    <a:lstStyle/>
                    <a:p>
                      <a:r>
                        <a:rPr sz="1200" b="1" i="0">
                          <a:solidFill>
                            <a:srgbClr val="1F2937"/>
                          </a:solidFill>
                          <a:latin typeface="Calibri"/>
                        </a:rPr>
                        <a:t>Orden</a:t>
                      </a:r>
                    </a:p>
                  </a:txBody>
                  <a:tcPr marT="36576" marB="36576">
                    <a:solidFill>
                      <a:srgbClr val="F3F4F6"/>
                    </a:solidFill>
                  </a:tcPr>
                </a:tc>
                <a:tc>
                  <a:txBody>
                    <a:bodyPr/>
                    <a:lstStyle/>
                    <a:p>
                      <a:r>
                        <a:rPr sz="1200" b="0" i="0">
                          <a:solidFill>
                            <a:srgbClr val="1F2937"/>
                          </a:solidFill>
                          <a:latin typeface="Calibri"/>
                        </a:rPr>
                        <a:t>Punto sumado en el frame del Game Over</a:t>
                      </a:r>
                    </a:p>
                  </a:txBody>
                  <a:tcPr marT="36576" marB="36576">
                    <a:solidFill>
                      <a:srgbClr val="F3F4F6"/>
                    </a:solidFill>
                  </a:tcPr>
                </a:tc>
                <a:tc>
                  <a:txBody>
                    <a:bodyPr/>
                    <a:lstStyle/>
                    <a:p>
                      <a:r>
                        <a:rPr sz="1200" b="0" i="0">
                          <a:solidFill>
                            <a:srgbClr val="1F2937"/>
                          </a:solidFill>
                          <a:latin typeface="Calibri"/>
                        </a:rPr>
                        <a:t>¿Cuenta o no? Decisión de diseño</a:t>
                      </a:r>
                    </a:p>
                  </a:txBody>
                  <a:tcPr marT="36576" marB="36576">
                    <a:solidFill>
                      <a:srgbClr val="F3F4F6"/>
                    </a:solidFill>
                  </a:tcPr>
                </a:tc>
                <a:tc>
                  <a:txBody>
                    <a:bodyPr/>
                    <a:lstStyle/>
                    <a:p>
                      <a:r>
                        <a:rPr sz="1200" b="0" i="0">
                          <a:solidFill>
                            <a:srgbClr val="1F2937"/>
                          </a:solidFill>
                          <a:latin typeface="Calibri"/>
                        </a:rPr>
                        <a:t>⚠</a:t>
                      </a:r>
                    </a:p>
                  </a:txBody>
                  <a:tcPr marT="36576" marB="36576">
                    <a:solidFill>
                      <a:srgbClr val="F3F4F6"/>
                    </a:solidFill>
                  </a:tcPr>
                </a:tc>
              </a:tr>
            </a:tbl>
          </a:graphicData>
        </a:graphic>
      </p:graphicFrame>
      <p:sp>
        <p:nvSpPr>
          <p:cNvPr id="7" name="TextBox 6"/>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8" name="TextBox 7"/>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12/27</a:t>
            </a:r>
          </a:p>
        </p:txBody>
      </p:sp>
    </p:spTree>
  </p:cSld>
  <p:clrMapOvr>
    <a:masterClrMapping/>
  </p:clrMapOvr>
</p:sld>
</file>

<file path=ppt/slides/slide1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13</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2 · TEORÍA</a:t>
            </a:r>
          </a:p>
          <a:p>
            <a:r>
              <a:rPr sz="2600" b="1" i="0">
                <a:solidFill>
                  <a:srgbClr val="FFFFFF"/>
                </a:solidFill>
                <a:latin typeface="Calibri"/>
              </a:rPr>
              <a:t>Fixtures y datos de prueba</a:t>
            </a:r>
          </a:p>
        </p:txBody>
      </p:sp>
      <p:sp>
        <p:nvSpPr>
          <p:cNvPr id="6" name="Rounded Rectangle 5"/>
          <p:cNvSpPr/>
          <p:nvPr/>
        </p:nvSpPr>
        <p:spPr>
          <a:xfrm>
            <a:off x="502920" y="1280160"/>
            <a:ext cx="2153412"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un laboratorio</a:t>
            </a:r>
          </a:p>
        </p:txBody>
      </p:sp>
      <p:sp>
        <p:nvSpPr>
          <p:cNvPr id="7" name="TextBox 6"/>
          <p:cNvSpPr txBox="1"/>
          <p:nvPr/>
        </p:nvSpPr>
        <p:spPr>
          <a:xfrm>
            <a:off x="502920" y="1755648"/>
            <a:ext cx="7315200" cy="2929890"/>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Fixture: el estado conocido del que parte cada test (SetUp) y la limpieza al terminar (TearDown)</a:t>
            </a:r>
          </a:p>
          <a:p>
            <a:pPr>
              <a:spcAft>
                <a:spcPts val="600"/>
              </a:spcAft>
            </a:pPr>
            <a:r>
              <a:rPr sz="1100" b="1" i="0">
                <a:solidFill>
                  <a:srgbClr val="0D9488"/>
                </a:solidFill>
                <a:latin typeface="Calibri"/>
              </a:rPr>
              <a:t>■  </a:t>
            </a:r>
            <a:r>
              <a:rPr sz="1500" b="0" i="0">
                <a:solidFill>
                  <a:srgbClr val="1F2937"/>
                </a:solidFill>
                <a:latin typeface="Calibri"/>
              </a:rPr>
              <a:t>Como un laboratorio: mesada limpia antes del experimento, limpieza al terminar</a:t>
            </a:r>
          </a:p>
          <a:p>
            <a:pPr>
              <a:spcAft>
                <a:spcPts val="600"/>
              </a:spcAft>
            </a:pPr>
            <a:r>
              <a:rPr sz="1100" b="1" i="0">
                <a:solidFill>
                  <a:srgbClr val="0D9488"/>
                </a:solidFill>
                <a:latin typeface="Calibri"/>
              </a:rPr>
              <a:t>■  </a:t>
            </a:r>
            <a:r>
              <a:rPr sz="1500" b="0" i="0">
                <a:solidFill>
                  <a:srgbClr val="1F2937"/>
                </a:solidFill>
                <a:latin typeface="Calibri"/>
              </a:rPr>
              <a:t>En la suite actual, TearDown destruye solo el prefab Game</a:t>
            </a:r>
          </a:p>
          <a:p>
            <a:pPr>
              <a:spcAft>
                <a:spcPts val="600"/>
              </a:spcAft>
            </a:pPr>
            <a:r>
              <a:rPr sz="1100" b="1" i="0">
                <a:solidFill>
                  <a:srgbClr val="0D9488"/>
                </a:solidFill>
                <a:latin typeface="Calibri"/>
              </a:rPr>
              <a:t>■  </a:t>
            </a:r>
            <a:r>
              <a:rPr sz="1500" b="0" i="0">
                <a:solidFill>
                  <a:srgbClr val="1F2937"/>
                </a:solidFill>
                <a:latin typeface="Calibri"/>
              </a:rPr>
              <a:t>Asteroides y láseres se crean como objetos raíz: sobreviven al test y «ensucian» el siguiente</a:t>
            </a:r>
          </a:p>
          <a:p>
            <a:pPr>
              <a:spcAft>
                <a:spcPts val="600"/>
              </a:spcAft>
            </a:pPr>
            <a:r>
              <a:rPr sz="1100" b="1" i="0">
                <a:solidFill>
                  <a:srgbClr val="0D9488"/>
                </a:solidFill>
                <a:latin typeface="Calibri"/>
              </a:rPr>
              <a:t>■  </a:t>
            </a:r>
            <a:r>
              <a:rPr sz="1500" b="0" i="0">
                <a:solidFill>
                  <a:srgbClr val="1F2937"/>
                </a:solidFill>
                <a:latin typeface="Calibri"/>
              </a:rPr>
              <a:t>Game.instance es estático: puede apuntar a un Game ya destruido hasta que corra el siguiente Start()</a:t>
            </a:r>
          </a:p>
          <a:p>
            <a:pPr>
              <a:spcAft>
                <a:spcPts val="600"/>
              </a:spcAft>
            </a:pPr>
            <a:r>
              <a:rPr sz="1100" b="1" i="0">
                <a:solidFill>
                  <a:srgbClr val="0D9488"/>
                </a:solidFill>
                <a:latin typeface="Calibri"/>
              </a:rPr>
              <a:t>■  </a:t>
            </a:r>
            <a:r>
              <a:rPr sz="1500" b="0" i="0">
                <a:solidFill>
                  <a:srgbClr val="1F2937"/>
                </a:solidFill>
                <a:latin typeface="Calibri"/>
              </a:rPr>
              <a:t>Spawner usa Random sin semilla: cada corrida genera posiciones distintas</a:t>
            </a:r>
          </a:p>
        </p:txBody>
      </p:sp>
      <p:sp>
        <p:nvSpPr>
          <p:cNvPr id="8" name="Rectangle 7"/>
          <p:cNvSpPr/>
          <p:nvPr/>
        </p:nvSpPr>
        <p:spPr>
          <a:xfrm>
            <a:off x="502920" y="576072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76072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TestSuite.cs 40–51 · Spawner.cs 73–99 (Instantiate sin padre) y 103 (Random) · Game.cs 46 y 50 (instancia estática)</a:t>
            </a:r>
          </a:p>
        </p:txBody>
      </p:sp>
      <p:sp>
        <p:nvSpPr>
          <p:cNvPr id="10" name="Rectangle 9"/>
          <p:cNvSpPr/>
          <p:nvPr/>
        </p:nvSpPr>
        <p:spPr>
          <a:xfrm>
            <a:off x="8092440" y="1280160"/>
            <a:ext cx="3593592" cy="361188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Esquema de dos tests consecutivos: los asteroides del Test A siguen en escena cuando empieza el Test B (flecha roja entre ambos).</a:t>
            </a:r>
          </a:p>
        </p:txBody>
      </p:sp>
      <p:sp>
        <p:nvSpPr>
          <p:cNvPr id="11" name="TextBox 10"/>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2" name="TextBox 11"/>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13/27</a:t>
            </a:r>
          </a:p>
        </p:txBody>
      </p:sp>
    </p:spTree>
  </p:cSld>
  <p:clrMapOvr>
    <a:masterClrMapping/>
  </p:clrMapOvr>
</p:sld>
</file>

<file path=ppt/slides/slide1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14</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2 · DEMO</a:t>
            </a:r>
          </a:p>
          <a:p>
            <a:r>
              <a:rPr sz="2600" b="1" i="0">
                <a:solidFill>
                  <a:srgbClr val="FFFFFF"/>
                </a:solidFill>
                <a:latin typeface="Calibri"/>
              </a:rPr>
              <a:t>Fixture mejorada (PROPUESTA)</a:t>
            </a:r>
          </a:p>
        </p:txBody>
      </p:sp>
      <p:sp>
        <p:nvSpPr>
          <p:cNvPr id="6" name="Rectangle 5"/>
          <p:cNvSpPr/>
          <p:nvPr/>
        </p:nvSpPr>
        <p:spPr>
          <a:xfrm>
            <a:off x="502920" y="1280160"/>
            <a:ext cx="7223760" cy="42062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6766560" cy="3931920"/>
          </a:xfrm>
          <a:prstGeom prst="rect">
            <a:avLst/>
          </a:prstGeom>
          <a:noFill/>
        </p:spPr>
        <p:txBody>
          <a:bodyPr wrap="square" anchor="t" lIns="0" rIns="0" tIns="0" bIns="0">
            <a:spAutoFit/>
          </a:bodyPr>
          <a:lstStyle/>
          <a:p>
            <a:r>
              <a:rPr sz="1150" b="0" i="0">
                <a:solidFill>
                  <a:srgbClr val="E2E8F0"/>
                </a:solidFill>
                <a:latin typeface="Consolas"/>
              </a:rPr>
              <a:t>[UnitySetUp]</a:t>
            </a:r>
          </a:p>
          <a:p>
            <a:r>
              <a:rPr sz="1150" b="0" i="0">
                <a:solidFill>
                  <a:srgbClr val="E2E8F0"/>
                </a:solidFill>
                <a:latin typeface="Consolas"/>
              </a:rPr>
              <a:t>public IEnumerator SetUp()</a:t>
            </a:r>
          </a:p>
          <a:p>
            <a:r>
              <a:rPr sz="1150" b="0" i="0">
                <a:solidFill>
                  <a:srgbClr val="E2E8F0"/>
                </a:solidFill>
                <a:latin typeface="Consolas"/>
              </a:rPr>
              <a:t>{</a:t>
            </a:r>
          </a:p>
          <a:p>
            <a:r>
              <a:rPr sz="1150" b="0" i="0">
                <a:solidFill>
                  <a:srgbClr val="E2E8F0"/>
                </a:solidFill>
                <a:latin typeface="Consolas"/>
              </a:rPr>
              <a:t>    Random.InitState(12345);        // datos reproducibles</a:t>
            </a:r>
          </a:p>
          <a:p>
            <a:r>
              <a:rPr sz="1150" b="0" i="0">
                <a:solidFill>
                  <a:srgbClr val="E2E8F0"/>
                </a:solidFill>
                <a:latin typeface="Consolas"/>
              </a:rPr>
              <a:t>    var prefab = Resources.Load&lt;GameObject&gt;("Prefabs/Game");</a:t>
            </a:r>
          </a:p>
          <a:p>
            <a:r>
              <a:rPr sz="1150" b="0" i="0">
                <a:solidFill>
                  <a:srgbClr val="E2E8F0"/>
                </a:solidFill>
                <a:latin typeface="Consolas"/>
              </a:rPr>
              <a:t>    game = Object.Instantiate(prefab).GetComponent&lt;Game&gt;();</a:t>
            </a:r>
          </a:p>
          <a:p>
            <a:r>
              <a:rPr sz="1150" b="0" i="0">
                <a:solidFill>
                  <a:srgbClr val="E2E8F0"/>
                </a:solidFill>
                <a:latin typeface="Consolas"/>
              </a:rPr>
              <a:t>    yield return null;              // corre Start(): instance listo</a:t>
            </a:r>
          </a:p>
          <a:p>
            <a:r>
              <a:rPr sz="1150" b="0" i="0">
                <a:solidFill>
                  <a:srgbClr val="E2E8F0"/>
                </a:solidFill>
                <a:latin typeface="Consolas"/>
              </a:rPr>
              <a:t>}</a:t>
            </a:r>
          </a:p>
          <a:p>
            <a:r>
              <a:rPr sz="1150" b="0" i="0">
                <a:solidFill>
                  <a:srgbClr val="E2E8F0"/>
                </a:solidFill>
                <a:latin typeface="Consolas"/>
              </a:rPr>
              <a:t> </a:t>
            </a:r>
          </a:p>
          <a:p>
            <a:r>
              <a:rPr sz="1150" b="0" i="0">
                <a:solidFill>
                  <a:srgbClr val="E2E8F0"/>
                </a:solidFill>
                <a:latin typeface="Consolas"/>
              </a:rPr>
              <a:t>[UnityTearDown]</a:t>
            </a:r>
          </a:p>
          <a:p>
            <a:r>
              <a:rPr sz="1150" b="0" i="0">
                <a:solidFill>
                  <a:srgbClr val="E2E8F0"/>
                </a:solidFill>
                <a:latin typeface="Consolas"/>
              </a:rPr>
              <a:t>public IEnumerator TearDown()</a:t>
            </a:r>
          </a:p>
          <a:p>
            <a:r>
              <a:rPr sz="1150" b="0" i="0">
                <a:solidFill>
                  <a:srgbClr val="E2E8F0"/>
                </a:solidFill>
                <a:latin typeface="Consolas"/>
              </a:rPr>
              <a:t>{</a:t>
            </a:r>
          </a:p>
          <a:p>
            <a:r>
              <a:rPr sz="1150" b="0" i="0">
                <a:solidFill>
                  <a:srgbClr val="E2E8F0"/>
                </a:solidFill>
                <a:latin typeface="Consolas"/>
              </a:rPr>
              <a:t>    Object.Destroy(game.gameObject);</a:t>
            </a:r>
          </a:p>
          <a:p>
            <a:r>
              <a:rPr sz="1150" b="0" i="0">
                <a:solidFill>
                  <a:srgbClr val="E2E8F0"/>
                </a:solidFill>
                <a:latin typeface="Consolas"/>
              </a:rPr>
              <a:t>    var none = FindObjectsSortMode.None;</a:t>
            </a:r>
          </a:p>
          <a:p>
            <a:r>
              <a:rPr sz="1150" b="0" i="0">
                <a:solidFill>
                  <a:srgbClr val="E2E8F0"/>
                </a:solidFill>
                <a:latin typeface="Consolas"/>
              </a:rPr>
              <a:t>    foreach (var a in Object.FindObjectsByType&lt;Asteroid&gt;(none))</a:t>
            </a:r>
          </a:p>
          <a:p>
            <a:r>
              <a:rPr sz="1150" b="0" i="0">
                <a:solidFill>
                  <a:srgbClr val="E2E8F0"/>
                </a:solidFill>
                <a:latin typeface="Consolas"/>
              </a:rPr>
              <a:t>        Object.Destroy(a.gameObject);   // lo que el test dejó</a:t>
            </a:r>
          </a:p>
          <a:p>
            <a:r>
              <a:rPr sz="1150" b="0" i="0">
                <a:solidFill>
                  <a:srgbClr val="E2E8F0"/>
                </a:solidFill>
                <a:latin typeface="Consolas"/>
              </a:rPr>
              <a:t>    foreach (var l in Object.FindObjectsByType&lt;Laser&gt;(none))</a:t>
            </a:r>
          </a:p>
          <a:p>
            <a:r>
              <a:rPr sz="1150" b="0" i="0">
                <a:solidFill>
                  <a:srgbClr val="E2E8F0"/>
                </a:solidFill>
                <a:latin typeface="Consolas"/>
              </a:rPr>
              <a:t>        Object.Destroy(l.gameObject);</a:t>
            </a:r>
          </a:p>
          <a:p>
            <a:r>
              <a:rPr sz="1150" b="0" i="0">
                <a:solidFill>
                  <a:srgbClr val="E2E8F0"/>
                </a:solidFill>
                <a:latin typeface="Consolas"/>
              </a:rPr>
              <a:t>    yield return null;              // Destroy termina al final del frame</a:t>
            </a:r>
          </a:p>
          <a:p>
            <a:r>
              <a:rPr sz="1150" b="0" i="0">
                <a:solidFill>
                  <a:srgbClr val="E2E8F0"/>
                </a:solidFill>
                <a:latin typeface="Consolas"/>
              </a:rPr>
              <a:t>}</a:t>
            </a:r>
          </a:p>
        </p:txBody>
      </p:sp>
      <p:sp>
        <p:nvSpPr>
          <p:cNvPr id="8" name="Rectangle 7"/>
          <p:cNvSpPr/>
          <p:nvPr/>
        </p:nvSpPr>
        <p:spPr>
          <a:xfrm>
            <a:off x="8001000" y="1280160"/>
            <a:ext cx="3687775" cy="4114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280160"/>
            <a:ext cx="3504895" cy="411480"/>
          </a:xfrm>
          <a:prstGeom prst="rect">
            <a:avLst/>
          </a:prstGeom>
          <a:noFill/>
        </p:spPr>
        <p:txBody>
          <a:bodyPr wrap="square" anchor="ctr" lIns="0" rIns="0" tIns="0" bIns="0">
            <a:spAutoFit/>
          </a:bodyPr>
          <a:lstStyle/>
          <a:p>
            <a:r>
              <a:rPr sz="1400" b="1" i="0">
                <a:solidFill>
                  <a:srgbClr val="FFFFFF"/>
                </a:solidFill>
                <a:latin typeface="Calibri"/>
              </a:rPr>
              <a:t>Qué cambia</a:t>
            </a:r>
          </a:p>
        </p:txBody>
      </p:sp>
      <p:sp>
        <p:nvSpPr>
          <p:cNvPr id="10" name="TextBox 9"/>
          <p:cNvSpPr txBox="1"/>
          <p:nvPr/>
        </p:nvSpPr>
        <p:spPr>
          <a:xfrm>
            <a:off x="8001000" y="1828800"/>
            <a:ext cx="3687775" cy="1477010"/>
          </a:xfrm>
          <a:prstGeom prst="rect">
            <a:avLst/>
          </a:prstGeom>
          <a:noFill/>
        </p:spPr>
        <p:txBody>
          <a:bodyPr wrap="square" anchor="t" lIns="0" rIns="0" tIns="0" bIns="0">
            <a:spAutoFit/>
          </a:bodyPr>
          <a:lstStyle/>
          <a:p>
            <a:pPr>
              <a:spcAft>
                <a:spcPts val="600"/>
              </a:spcAft>
            </a:pPr>
            <a:r>
              <a:rPr sz="1000" b="1" i="0">
                <a:solidFill>
                  <a:srgbClr val="0D9488"/>
                </a:solidFill>
                <a:latin typeface="Calibri"/>
              </a:rPr>
              <a:t>■  </a:t>
            </a:r>
            <a:r>
              <a:rPr sz="1400" b="0" i="0">
                <a:solidFill>
                  <a:srgbClr val="1F2937"/>
                </a:solidFill>
                <a:latin typeface="Calibri"/>
              </a:rPr>
              <a:t>Semilla fija: datos reproducibles</a:t>
            </a:r>
          </a:p>
          <a:p>
            <a:pPr>
              <a:spcAft>
                <a:spcPts val="600"/>
              </a:spcAft>
            </a:pPr>
            <a:r>
              <a:rPr sz="1000" b="1" i="0">
                <a:solidFill>
                  <a:srgbClr val="0D9488"/>
                </a:solidFill>
                <a:latin typeface="Calibri"/>
              </a:rPr>
              <a:t>■  </a:t>
            </a:r>
            <a:r>
              <a:rPr sz="1400" b="0" i="0">
                <a:solidFill>
                  <a:srgbClr val="1F2937"/>
                </a:solidFill>
                <a:latin typeface="Calibri"/>
              </a:rPr>
              <a:t>Un frame de espera: Start() ya corrió</a:t>
            </a:r>
          </a:p>
          <a:p>
            <a:pPr>
              <a:spcAft>
                <a:spcPts val="600"/>
              </a:spcAft>
            </a:pPr>
            <a:r>
              <a:rPr sz="1000" b="1" i="0">
                <a:solidFill>
                  <a:srgbClr val="0D9488"/>
                </a:solidFill>
                <a:latin typeface="Calibri"/>
              </a:rPr>
              <a:t>■  </a:t>
            </a:r>
            <a:r>
              <a:rPr sz="1400" b="0" i="0">
                <a:solidFill>
                  <a:srgbClr val="1F2937"/>
                </a:solidFill>
                <a:latin typeface="Calibri"/>
              </a:rPr>
              <a:t>Limpieza total, no solo del prefab</a:t>
            </a:r>
          </a:p>
          <a:p>
            <a:pPr>
              <a:spcAft>
                <a:spcPts val="600"/>
              </a:spcAft>
            </a:pPr>
            <a:r>
              <a:rPr sz="1000" b="1" i="0">
                <a:solidFill>
                  <a:srgbClr val="0D9488"/>
                </a:solidFill>
                <a:latin typeface="Calibri"/>
              </a:rPr>
              <a:t>■  </a:t>
            </a:r>
            <a:r>
              <a:rPr sz="1400" b="0" i="0">
                <a:solidFill>
                  <a:srgbClr val="1F2937"/>
                </a:solidFill>
                <a:latin typeface="Calibri"/>
              </a:rPr>
              <a:t>Otro frame: el próximo test empieza limpio</a:t>
            </a:r>
          </a:p>
        </p:txBody>
      </p:sp>
      <p:sp>
        <p:nvSpPr>
          <p:cNvPr id="11" name="Rectangle 10"/>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Código propio de la cátedra. La limpieza (UnityTearDown) ya corre en IntegrationHypothesesTests.cs; la semilla no se probó.</a:t>
            </a:r>
          </a:p>
        </p:txBody>
      </p:sp>
      <p:sp>
        <p:nvSpPr>
          <p:cNvPr id="13" name="TextBox 12"/>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4" name="TextBox 13"/>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14/27</a:t>
            </a:r>
          </a:p>
        </p:txBody>
      </p:sp>
    </p:spTree>
  </p:cSld>
  <p:clrMapOvr>
    <a:masterClrMapping/>
  </p:clrMapOvr>
</p:sld>
</file>

<file path=ppt/slides/slide1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15</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2 · TEORÍA</a:t>
            </a:r>
          </a:p>
          <a:p>
            <a:r>
              <a:rPr sz="2600" b="1" i="0">
                <a:solidFill>
                  <a:srgbClr val="FFFFFF"/>
                </a:solidFill>
                <a:latin typeface="Calibri"/>
              </a:rPr>
              <a:t>Tests frágiles (flaky)</a:t>
            </a:r>
          </a:p>
        </p:txBody>
      </p:sp>
      <p:sp>
        <p:nvSpPr>
          <p:cNvPr id="6" name="Rounded Rectangle 5"/>
          <p:cNvSpPr/>
          <p:nvPr/>
        </p:nvSpPr>
        <p:spPr>
          <a:xfrm>
            <a:off x="502920" y="1280160"/>
            <a:ext cx="5262372"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Martin Fowler · «Eradicating Non-Determinism in Tests»</a:t>
            </a:r>
          </a:p>
        </p:txBody>
      </p:sp>
      <p:graphicFrame>
        <p:nvGraphicFramePr>
          <p:cNvPr id="7" name="Table 6"/>
          <p:cNvGraphicFramePr>
            <a:graphicFrameLocks noGrp="1"/>
          </p:cNvGraphicFramePr>
          <p:nvPr/>
        </p:nvGraphicFramePr>
        <p:xfrm>
          <a:off x="502920" y="1755648"/>
          <a:ext cx="11185854" cy="1975104"/>
        </p:xfrm>
        <a:graphic>
          <a:graphicData uri="http://schemas.openxmlformats.org/drawingml/2006/table">
            <a:tbl>
              <a:tblPr firstRow="1" bandRow="1">
                <a:tableStyleId>{5C22544A-7EE6-4342-B048-85BDC9FD1C3A}</a:tableStyleId>
              </a:tblPr>
              <a:tblGrid>
                <a:gridCol w="2071454"/>
                <a:gridCol w="5385782"/>
                <a:gridCol w="3728618"/>
              </a:tblGrid>
              <a:tr h="329184">
                <a:tc>
                  <a:txBody>
                    <a:bodyPr/>
                    <a:lstStyle/>
                    <a:p>
                      <a:r>
                        <a:rPr sz="1300" b="1" i="0">
                          <a:solidFill>
                            <a:srgbClr val="FFFFFF"/>
                          </a:solidFill>
                          <a:latin typeface="Calibri"/>
                        </a:rPr>
                        <a:t>Causa</a:t>
                      </a:r>
                    </a:p>
                  </a:txBody>
                  <a:tcPr>
                    <a:solidFill>
                      <a:srgbClr val="1F2A44"/>
                    </a:solidFill>
                  </a:tcPr>
                </a:tc>
                <a:tc>
                  <a:txBody>
                    <a:bodyPr/>
                    <a:lstStyle/>
                    <a:p>
                      <a:r>
                        <a:rPr sz="1300" b="1" i="0">
                          <a:solidFill>
                            <a:srgbClr val="FFFFFF"/>
                          </a:solidFill>
                          <a:latin typeface="Calibri"/>
                        </a:rPr>
                        <a:t>En la suite actual</a:t>
                      </a:r>
                    </a:p>
                  </a:txBody>
                  <a:tcPr>
                    <a:solidFill>
                      <a:srgbClr val="1F2A44"/>
                    </a:solidFill>
                  </a:tcPr>
                </a:tc>
                <a:tc>
                  <a:txBody>
                    <a:bodyPr/>
                    <a:lstStyle/>
                    <a:p>
                      <a:r>
                        <a:rPr sz="1300" b="1" i="0">
                          <a:solidFill>
                            <a:srgbClr val="FFFFFF"/>
                          </a:solidFill>
                          <a:latin typeface="Calibri"/>
                        </a:rPr>
                        <a:t>Remedio</a:t>
                      </a:r>
                    </a:p>
                  </a:txBody>
                  <a:tcPr>
                    <a:solidFill>
                      <a:srgbClr val="1F2A44"/>
                    </a:solidFill>
                  </a:tcPr>
                </a:tc>
              </a:tr>
              <a:tr h="329184">
                <a:tc>
                  <a:txBody>
                    <a:bodyPr/>
                    <a:lstStyle/>
                    <a:p>
                      <a:r>
                        <a:rPr sz="1200" b="1" i="0">
                          <a:solidFill>
                            <a:srgbClr val="1F2937"/>
                          </a:solidFill>
                          <a:latin typeface="Calibri"/>
                        </a:rPr>
                        <a:t>Tiempo fijo</a:t>
                      </a:r>
                    </a:p>
                  </a:txBody>
                  <a:tcPr marT="36576" marB="36576">
                    <a:solidFill>
                      <a:srgbClr val="FFFFFF"/>
                    </a:solidFill>
                  </a:tcPr>
                </a:tc>
                <a:tc>
                  <a:txBody>
                    <a:bodyPr/>
                    <a:lstStyle/>
                    <a:p>
                      <a:r>
                        <a:rPr sz="1200" b="0" i="0">
                          <a:solidFill>
                            <a:srgbClr val="1F2937"/>
                          </a:solidFill>
                          <a:latin typeface="Calibri"/>
                        </a:rPr>
                        <a:t>WaitForSeconds(0,1) depende de la máquina y de la física</a:t>
                      </a:r>
                    </a:p>
                  </a:txBody>
                  <a:tcPr marT="36576" marB="36576">
                    <a:solidFill>
                      <a:srgbClr val="FFFFFF"/>
                    </a:solidFill>
                  </a:tcPr>
                </a:tc>
                <a:tc>
                  <a:txBody>
                    <a:bodyPr/>
                    <a:lstStyle/>
                    <a:p>
                      <a:r>
                        <a:rPr sz="1200" b="0" i="0">
                          <a:solidFill>
                            <a:srgbClr val="1F2937"/>
                          </a:solidFill>
                          <a:latin typeface="Calibri"/>
                        </a:rPr>
                        <a:t>Esperar por condición, con tiempo máximo</a:t>
                      </a:r>
                    </a:p>
                  </a:txBody>
                  <a:tcPr marT="36576" marB="36576">
                    <a:solidFill>
                      <a:srgbClr val="FFFFFF"/>
                    </a:solidFill>
                  </a:tcPr>
                </a:tc>
              </a:tr>
              <a:tr h="329184">
                <a:tc>
                  <a:txBody>
                    <a:bodyPr/>
                    <a:lstStyle/>
                    <a:p>
                      <a:r>
                        <a:rPr sz="1200" b="1" i="0">
                          <a:solidFill>
                            <a:srgbClr val="1F2937"/>
                          </a:solidFill>
                          <a:latin typeface="Calibri"/>
                        </a:rPr>
                        <a:t>Estado compartido</a:t>
                      </a:r>
                    </a:p>
                  </a:txBody>
                  <a:tcPr marT="36576" marB="36576">
                    <a:solidFill>
                      <a:srgbClr val="F3F4F6"/>
                    </a:solidFill>
                  </a:tcPr>
                </a:tc>
                <a:tc>
                  <a:txBody>
                    <a:bodyPr/>
                    <a:lstStyle/>
                    <a:p>
                      <a:r>
                        <a:rPr sz="1200" b="0" i="0">
                          <a:solidFill>
                            <a:srgbClr val="1F2937"/>
                          </a:solidFill>
                          <a:latin typeface="Calibri"/>
                        </a:rPr>
                        <a:t>Asteroides de tests anteriores siguen en escena</a:t>
                      </a:r>
                    </a:p>
                  </a:txBody>
                  <a:tcPr marT="36576" marB="36576">
                    <a:solidFill>
                      <a:srgbClr val="F3F4F6"/>
                    </a:solidFill>
                  </a:tcPr>
                </a:tc>
                <a:tc>
                  <a:txBody>
                    <a:bodyPr/>
                    <a:lstStyle/>
                    <a:p>
                      <a:r>
                        <a:rPr sz="1200" b="0" i="0">
                          <a:solidFill>
                            <a:srgbClr val="1F2937"/>
                          </a:solidFill>
                          <a:latin typeface="Calibri"/>
                        </a:rPr>
                        <a:t>TearDown que limpia todo</a:t>
                      </a:r>
                    </a:p>
                  </a:txBody>
                  <a:tcPr marT="36576" marB="36576">
                    <a:solidFill>
                      <a:srgbClr val="F3F4F6"/>
                    </a:solidFill>
                  </a:tcPr>
                </a:tc>
              </a:tr>
              <a:tr h="329184">
                <a:tc>
                  <a:txBody>
                    <a:bodyPr/>
                    <a:lstStyle/>
                    <a:p>
                      <a:r>
                        <a:rPr sz="1200" b="1" i="0">
                          <a:solidFill>
                            <a:srgbClr val="1F2937"/>
                          </a:solidFill>
                          <a:latin typeface="Calibri"/>
                        </a:rPr>
                        <a:t>Orden</a:t>
                      </a:r>
                    </a:p>
                  </a:txBody>
                  <a:tcPr marT="36576" marB="36576">
                    <a:solidFill>
                      <a:srgbClr val="FFFFFF"/>
                    </a:solidFill>
                  </a:tcPr>
                </a:tc>
                <a:tc>
                  <a:txBody>
                    <a:bodyPr/>
                    <a:lstStyle/>
                    <a:p>
                      <a:r>
                        <a:rPr sz="1200" b="0" i="0">
                          <a:solidFill>
                            <a:srgbClr val="1F2937"/>
                          </a:solidFill>
                          <a:latin typeface="Calibri"/>
                        </a:rPr>
                        <a:t>04 cuenta TODOS los asteroides de la escena</a:t>
                      </a:r>
                    </a:p>
                  </a:txBody>
                  <a:tcPr marT="36576" marB="36576">
                    <a:solidFill>
                      <a:srgbClr val="FFFFFF"/>
                    </a:solidFill>
                  </a:tcPr>
                </a:tc>
                <a:tc>
                  <a:txBody>
                    <a:bodyPr/>
                    <a:lstStyle/>
                    <a:p>
                      <a:r>
                        <a:rPr sz="1200" b="0" i="0">
                          <a:solidFill>
                            <a:srgbClr val="1F2937"/>
                          </a:solidFill>
                          <a:latin typeface="Calibri"/>
                        </a:rPr>
                        <a:t>Contar solo lo que creó el test</a:t>
                      </a:r>
                    </a:p>
                  </a:txBody>
                  <a:tcPr marT="36576" marB="36576">
                    <a:solidFill>
                      <a:srgbClr val="FFFFFF"/>
                    </a:solidFill>
                  </a:tcPr>
                </a:tc>
              </a:tr>
              <a:tr h="329184">
                <a:tc>
                  <a:txBody>
                    <a:bodyPr/>
                    <a:lstStyle/>
                    <a:p>
                      <a:r>
                        <a:rPr sz="1200" b="1" i="0">
                          <a:solidFill>
                            <a:srgbClr val="1F2937"/>
                          </a:solidFill>
                          <a:latin typeface="Calibri"/>
                        </a:rPr>
                        <a:t>Azar</a:t>
                      </a:r>
                    </a:p>
                  </a:txBody>
                  <a:tcPr marT="36576" marB="36576">
                    <a:solidFill>
                      <a:srgbClr val="F3F4F6"/>
                    </a:solidFill>
                  </a:tcPr>
                </a:tc>
                <a:tc>
                  <a:txBody>
                    <a:bodyPr/>
                    <a:lstStyle/>
                    <a:p>
                      <a:r>
                        <a:rPr sz="1200" b="0" i="0">
                          <a:solidFill>
                            <a:srgbClr val="1F2937"/>
                          </a:solidFill>
                          <a:latin typeface="Calibri"/>
                        </a:rPr>
                        <a:t>Posición X aleatoria del spawner</a:t>
                      </a:r>
                    </a:p>
                  </a:txBody>
                  <a:tcPr marT="36576" marB="36576">
                    <a:solidFill>
                      <a:srgbClr val="F3F4F6"/>
                    </a:solidFill>
                  </a:tcPr>
                </a:tc>
                <a:tc>
                  <a:txBody>
                    <a:bodyPr/>
                    <a:lstStyle/>
                    <a:p>
                      <a:r>
                        <a:rPr sz="1200" b="0" i="0">
                          <a:solidFill>
                            <a:srgbClr val="1F2937"/>
                          </a:solidFill>
                          <a:latin typeface="Calibri"/>
                        </a:rPr>
                        <a:t>Random.InitState(semilla)</a:t>
                      </a:r>
                    </a:p>
                  </a:txBody>
                  <a:tcPr marT="36576" marB="36576">
                    <a:solidFill>
                      <a:srgbClr val="F3F4F6"/>
                    </a:solidFill>
                  </a:tcPr>
                </a:tc>
              </a:tr>
              <a:tr h="329184">
                <a:tc>
                  <a:txBody>
                    <a:bodyPr/>
                    <a:lstStyle/>
                    <a:p>
                      <a:r>
                        <a:rPr sz="1200" b="1" i="0">
                          <a:solidFill>
                            <a:srgbClr val="1F2937"/>
                          </a:solidFill>
                          <a:latin typeface="Calibri"/>
                        </a:rPr>
                        <a:t>Física</a:t>
                      </a:r>
                    </a:p>
                  </a:txBody>
                  <a:tcPr marT="36576" marB="36576">
                    <a:solidFill>
                      <a:srgbClr val="FFFFFF"/>
                    </a:solidFill>
                  </a:tcPr>
                </a:tc>
                <a:tc>
                  <a:txBody>
                    <a:bodyPr/>
                    <a:lstStyle/>
                    <a:p>
                      <a:r>
                        <a:rPr sz="1200" b="0" i="0">
                          <a:solidFill>
                            <a:srgbClr val="1F2937"/>
                          </a:solidFill>
                          <a:latin typeface="Calibri"/>
                        </a:rPr>
                        <a:t>Las colisiones ocurren en FixedUpdate</a:t>
                      </a:r>
                    </a:p>
                  </a:txBody>
                  <a:tcPr marT="36576" marB="36576">
                    <a:solidFill>
                      <a:srgbClr val="FFFFFF"/>
                    </a:solidFill>
                  </a:tcPr>
                </a:tc>
                <a:tc>
                  <a:txBody>
                    <a:bodyPr/>
                    <a:lstStyle/>
                    <a:p>
                      <a:r>
                        <a:rPr sz="1200" b="0" i="0">
                          <a:solidFill>
                            <a:srgbClr val="1F2937"/>
                          </a:solidFill>
                          <a:latin typeface="Calibri"/>
                        </a:rPr>
                        <a:t>yield return new WaitForFixedUpdate()</a:t>
                      </a:r>
                    </a:p>
                  </a:txBody>
                  <a:tcPr marT="36576" marB="36576">
                    <a:solidFill>
                      <a:srgbClr val="FFFFFF"/>
                    </a:solidFill>
                  </a:tcPr>
                </a:tc>
              </a:tr>
            </a:tbl>
          </a:graphicData>
        </a:graphic>
      </p:graphicFrame>
      <p:sp>
        <p:nvSpPr>
          <p:cNvPr id="8" name="Rectangle 7"/>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Flaky: pasa o falla sin que cambie el código. Destruye la confianza en toda la suite.</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15/27</a:t>
            </a:r>
          </a:p>
        </p:txBody>
      </p:sp>
    </p:spTree>
  </p:cSld>
  <p:clrMapOvr>
    <a:masterClrMapping/>
  </p:clrMapOvr>
</p:sld>
</file>

<file path=ppt/slides/slide1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16</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2 · DEMO</a:t>
            </a:r>
          </a:p>
          <a:p>
            <a:r>
              <a:rPr sz="2600" b="1" i="0">
                <a:solidFill>
                  <a:srgbClr val="FFFFFF"/>
                </a:solidFill>
                <a:latin typeface="Calibri"/>
              </a:rPr>
              <a:t>Esperar por condición, no por tiempo fijo (PROPUESTA)</a:t>
            </a:r>
          </a:p>
        </p:txBody>
      </p:sp>
      <p:sp>
        <p:nvSpPr>
          <p:cNvPr id="6" name="Rectangle 5"/>
          <p:cNvSpPr/>
          <p:nvPr/>
        </p:nvSpPr>
        <p:spPr>
          <a:xfrm>
            <a:off x="502920" y="1280160"/>
            <a:ext cx="7223760" cy="42062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6766560" cy="3931920"/>
          </a:xfrm>
          <a:prstGeom prst="rect">
            <a:avLst/>
          </a:prstGeom>
          <a:noFill/>
        </p:spPr>
        <p:txBody>
          <a:bodyPr wrap="square" anchor="t" lIns="0" rIns="0" tIns="0" bIns="0">
            <a:spAutoFit/>
          </a:bodyPr>
          <a:lstStyle/>
          <a:p>
            <a:r>
              <a:rPr sz="1250" b="0" i="0">
                <a:solidFill>
                  <a:srgbClr val="94A3B8"/>
                </a:solidFill>
                <a:latin typeface="Consolas"/>
              </a:rPr>
              <a:t>// Antes: espera fija (TestSuite.cs 134)</a:t>
            </a:r>
          </a:p>
          <a:p>
            <a:r>
              <a:rPr sz="1250" b="0" i="0">
                <a:solidFill>
                  <a:srgbClr val="E2E8F0"/>
                </a:solidFill>
                <a:latin typeface="Consolas"/>
              </a:rPr>
              <a:t>yield return new WaitForSeconds(0.1f);</a:t>
            </a:r>
          </a:p>
          <a:p>
            <a:r>
              <a:rPr sz="1250" b="0" i="0">
                <a:solidFill>
                  <a:srgbClr val="E2E8F0"/>
                </a:solidFill>
                <a:latin typeface="Consolas"/>
              </a:rPr>
              <a:t> </a:t>
            </a:r>
          </a:p>
          <a:p>
            <a:r>
              <a:rPr sz="1250" b="0" i="0">
                <a:solidFill>
                  <a:srgbClr val="94A3B8"/>
                </a:solidFill>
                <a:latin typeface="Consolas"/>
              </a:rPr>
              <a:t>// Después: espera hasta que se cumpla la condición o se agote el tiempo</a:t>
            </a:r>
          </a:p>
          <a:p>
            <a:r>
              <a:rPr sz="1250" b="0" i="0">
                <a:solidFill>
                  <a:srgbClr val="E2E8F0"/>
                </a:solidFill>
                <a:latin typeface="Consolas"/>
              </a:rPr>
              <a:t>float timeout = 2f;</a:t>
            </a:r>
          </a:p>
          <a:p>
            <a:r>
              <a:rPr sz="1250" b="0" i="0">
                <a:solidFill>
                  <a:srgbClr val="E2E8F0"/>
                </a:solidFill>
                <a:latin typeface="Consolas"/>
              </a:rPr>
              <a:t>while (asteroid != null &amp;&amp; timeout &gt; 0f)</a:t>
            </a:r>
          </a:p>
          <a:p>
            <a:r>
              <a:rPr sz="1250" b="0" i="0">
                <a:solidFill>
                  <a:srgbClr val="E2E8F0"/>
                </a:solidFill>
                <a:latin typeface="Consolas"/>
              </a:rPr>
              <a:t>{</a:t>
            </a:r>
          </a:p>
          <a:p>
            <a:r>
              <a:rPr sz="1250" b="0" i="0">
                <a:solidFill>
                  <a:srgbClr val="E2E8F0"/>
                </a:solidFill>
                <a:latin typeface="Consolas"/>
              </a:rPr>
              <a:t>    timeout -= Time.deltaTime;</a:t>
            </a:r>
          </a:p>
          <a:p>
            <a:r>
              <a:rPr sz="1250" b="0" i="0">
                <a:solidFill>
                  <a:srgbClr val="E2E8F0"/>
                </a:solidFill>
                <a:latin typeface="Consolas"/>
              </a:rPr>
              <a:t>    yield return null;</a:t>
            </a:r>
          </a:p>
          <a:p>
            <a:r>
              <a:rPr sz="1250" b="0" i="0">
                <a:solidFill>
                  <a:srgbClr val="E2E8F0"/>
                </a:solidFill>
                <a:latin typeface="Consolas"/>
              </a:rPr>
              <a:t>}</a:t>
            </a:r>
          </a:p>
          <a:p>
            <a:r>
              <a:rPr sz="1250" b="0" i="0">
                <a:solidFill>
                  <a:srgbClr val="E2E8F0"/>
                </a:solidFill>
                <a:latin typeface="Consolas"/>
              </a:rPr>
              <a:t>Assert.IsTrue(asteroid == null,</a:t>
            </a:r>
          </a:p>
          <a:p>
            <a:r>
              <a:rPr sz="1250" b="0" i="0">
                <a:solidFill>
                  <a:srgbClr val="E2E8F0"/>
                </a:solidFill>
                <a:latin typeface="Consolas"/>
              </a:rPr>
              <a:t>    "El asteroide debería destruirse al recibir el láser");</a:t>
            </a:r>
          </a:p>
        </p:txBody>
      </p:sp>
      <p:sp>
        <p:nvSpPr>
          <p:cNvPr id="8" name="Rectangle 7"/>
          <p:cNvSpPr/>
          <p:nvPr/>
        </p:nvSpPr>
        <p:spPr>
          <a:xfrm>
            <a:off x="8001000" y="1280160"/>
            <a:ext cx="3687775" cy="41148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8092440" y="1280160"/>
            <a:ext cx="3504895" cy="411480"/>
          </a:xfrm>
          <a:prstGeom prst="rect">
            <a:avLst/>
          </a:prstGeom>
          <a:noFill/>
        </p:spPr>
        <p:txBody>
          <a:bodyPr wrap="square" anchor="ctr" lIns="0" rIns="0" tIns="0" bIns="0">
            <a:spAutoFit/>
          </a:bodyPr>
          <a:lstStyle/>
          <a:p>
            <a:r>
              <a:rPr sz="1400" b="1" i="0">
                <a:solidFill>
                  <a:srgbClr val="FFFFFF"/>
                </a:solidFill>
                <a:latin typeface="Calibri"/>
              </a:rPr>
              <a:t>Por qué</a:t>
            </a:r>
          </a:p>
        </p:txBody>
      </p:sp>
      <p:sp>
        <p:nvSpPr>
          <p:cNvPr id="10" name="TextBox 9"/>
          <p:cNvSpPr txBox="1"/>
          <p:nvPr/>
        </p:nvSpPr>
        <p:spPr>
          <a:xfrm>
            <a:off x="8001000" y="1828800"/>
            <a:ext cx="3687775" cy="1477010"/>
          </a:xfrm>
          <a:prstGeom prst="rect">
            <a:avLst/>
          </a:prstGeom>
          <a:noFill/>
        </p:spPr>
        <p:txBody>
          <a:bodyPr wrap="square" anchor="t" lIns="0" rIns="0" tIns="0" bIns="0">
            <a:spAutoFit/>
          </a:bodyPr>
          <a:lstStyle/>
          <a:p>
            <a:pPr>
              <a:spcAft>
                <a:spcPts val="600"/>
              </a:spcAft>
            </a:pPr>
            <a:r>
              <a:rPr sz="1000" b="1" i="0">
                <a:solidFill>
                  <a:srgbClr val="0D9488"/>
                </a:solidFill>
                <a:latin typeface="Calibri"/>
              </a:rPr>
              <a:t>■  </a:t>
            </a:r>
            <a:r>
              <a:rPr sz="1400" b="0" i="0">
                <a:solidFill>
                  <a:srgbClr val="1F2937"/>
                </a:solidFill>
                <a:latin typeface="Calibri"/>
              </a:rPr>
              <a:t>Pasa apenas se cumple: más rápido</a:t>
            </a:r>
          </a:p>
          <a:p>
            <a:pPr>
              <a:spcAft>
                <a:spcPts val="600"/>
              </a:spcAft>
            </a:pPr>
            <a:r>
              <a:rPr sz="1000" b="1" i="0">
                <a:solidFill>
                  <a:srgbClr val="0D9488"/>
                </a:solidFill>
                <a:latin typeface="Calibri"/>
              </a:rPr>
              <a:t>■  </a:t>
            </a:r>
            <a:r>
              <a:rPr sz="1400" b="0" i="0">
                <a:solidFill>
                  <a:srgbClr val="1F2937"/>
                </a:solidFill>
                <a:latin typeface="Calibri"/>
              </a:rPr>
              <a:t>Tolera máquinas lentas</a:t>
            </a:r>
          </a:p>
          <a:p>
            <a:pPr>
              <a:spcAft>
                <a:spcPts val="600"/>
              </a:spcAft>
            </a:pPr>
            <a:r>
              <a:rPr sz="1000" b="1" i="0">
                <a:solidFill>
                  <a:srgbClr val="0D9488"/>
                </a:solidFill>
                <a:latin typeface="Calibri"/>
              </a:rPr>
              <a:t>■  </a:t>
            </a:r>
            <a:r>
              <a:rPr sz="1400" b="0" i="0">
                <a:solidFill>
                  <a:srgbClr val="1F2937"/>
                </a:solidFill>
                <a:latin typeface="Calibri"/>
              </a:rPr>
              <a:t>El timeout evita esperas infinitas</a:t>
            </a:r>
          </a:p>
          <a:p>
            <a:pPr>
              <a:spcAft>
                <a:spcPts val="600"/>
              </a:spcAft>
            </a:pPr>
            <a:r>
              <a:rPr sz="1000" b="1" i="0">
                <a:solidFill>
                  <a:srgbClr val="0D9488"/>
                </a:solidFill>
                <a:latin typeface="Calibri"/>
              </a:rPr>
              <a:t>■  </a:t>
            </a:r>
            <a:r>
              <a:rPr sz="1400" b="0" i="0">
                <a:solidFill>
                  <a:srgbClr val="1F2937"/>
                </a:solidFill>
                <a:latin typeface="Calibri"/>
              </a:rPr>
              <a:t>«asteroid == null» usa la comparación de Unity para objetos destruidos</a:t>
            </a:r>
          </a:p>
        </p:txBody>
      </p:sp>
      <p:sp>
        <p:nvSpPr>
          <p:cNvPr id="11" name="Rectangle 10"/>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Código propio (PROPUESTA). El mensaje del Assert explica QUÉ se esperaba: ayuda a diagnosticar.</a:t>
            </a:r>
          </a:p>
        </p:txBody>
      </p:sp>
      <p:sp>
        <p:nvSpPr>
          <p:cNvPr id="13" name="TextBox 12"/>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4" name="TextBox 13"/>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16/27</a:t>
            </a:r>
          </a:p>
        </p:txBody>
      </p:sp>
    </p:spTree>
  </p:cSld>
  <p:clrMapOvr>
    <a:masterClrMapping/>
  </p:clrMapOvr>
</p:sld>
</file>

<file path=ppt/slides/slide1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17</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PRÁCTICA · ANÁLISIS</a:t>
            </a:r>
          </a:p>
          <a:p>
            <a:r>
              <a:rPr sz="2600" b="1" i="0">
                <a:solidFill>
                  <a:srgbClr val="FFFFFF"/>
                </a:solidFill>
                <a:latin typeface="Calibri"/>
              </a:rPr>
              <a:t>Actividad 3 · Un test que falla (10 min)</a:t>
            </a:r>
          </a:p>
        </p:txBody>
      </p:sp>
      <p:sp>
        <p:nvSpPr>
          <p:cNvPr id="6" name="Rectangle 5"/>
          <p:cNvSpPr/>
          <p:nvPr/>
        </p:nvSpPr>
        <p:spPr>
          <a:xfrm>
            <a:off x="502920" y="1280160"/>
            <a:ext cx="11185855" cy="4206240"/>
          </a:xfrm>
          <a:prstGeom prst="rect">
            <a:avLst/>
          </a:prstGeom>
          <a:solidFill>
            <a:srgbClr val="0F172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31520" y="1417320"/>
            <a:ext cx="10728655" cy="3931920"/>
          </a:xfrm>
          <a:prstGeom prst="rect">
            <a:avLst/>
          </a:prstGeom>
          <a:noFill/>
        </p:spPr>
        <p:txBody>
          <a:bodyPr wrap="square" anchor="t" lIns="0" rIns="0" tIns="0" bIns="0">
            <a:spAutoFit/>
          </a:bodyPr>
          <a:lstStyle/>
          <a:p>
            <a:r>
              <a:rPr sz="1150" b="0" i="0">
                <a:solidFill>
                  <a:srgbClr val="E2E8F0"/>
                </a:solidFill>
                <a:latin typeface="Consolas"/>
              </a:rPr>
              <a:t>[UnityTest]  // INT-AST-14 · IntegrationHypothesesTests.cs</a:t>
            </a:r>
          </a:p>
          <a:p>
            <a:r>
              <a:rPr sz="1150" b="0" i="0">
                <a:solidFill>
                  <a:srgbClr val="E2E8F0"/>
                </a:solidFill>
                <a:latin typeface="Consolas"/>
              </a:rPr>
              <a:t>public IEnumerator NewGame_RemovesLeftoverAsteroids()</a:t>
            </a:r>
          </a:p>
          <a:p>
            <a:r>
              <a:rPr sz="1150" b="0" i="0">
                <a:solidFill>
                  <a:srgbClr val="E2E8F0"/>
                </a:solidFill>
                <a:latin typeface="Consolas"/>
              </a:rPr>
              <a:t>{</a:t>
            </a:r>
          </a:p>
          <a:p>
            <a:r>
              <a:rPr sz="1150" b="0" i="0">
                <a:solidFill>
                  <a:srgbClr val="E2E8F0"/>
                </a:solidFill>
                <a:latin typeface="Consolas"/>
              </a:rPr>
              <a:t>    yield return null;                     // Start() asigna Game.instance</a:t>
            </a:r>
          </a:p>
          <a:p>
            <a:r>
              <a:rPr sz="1150" b="0" i="0">
                <a:solidFill>
                  <a:srgbClr val="E2E8F0"/>
                </a:solidFill>
                <a:latin typeface="Consolas"/>
              </a:rPr>
              <a:t>    game.NewGame();</a:t>
            </a:r>
          </a:p>
          <a:p>
            <a:r>
              <a:rPr sz="1150" b="0" i="0">
                <a:solidFill>
                  <a:srgbClr val="E2E8F0"/>
                </a:solidFill>
                <a:latin typeface="Consolas"/>
              </a:rPr>
              <a:t>    GameObject leftover = game.GetSpawner().SpawnAsteroid();</a:t>
            </a:r>
          </a:p>
          <a:p>
            <a:r>
              <a:rPr sz="1150" b="0" i="0">
                <a:solidFill>
                  <a:srgbClr val="E2E8F0"/>
                </a:solidFill>
                <a:latin typeface="Consolas"/>
              </a:rPr>
              <a:t>    leftover.transform.position = new Vector3(6f, 3f, leftover.transform.position.z);</a:t>
            </a:r>
          </a:p>
          <a:p>
            <a:r>
              <a:rPr sz="1150" b="0" i="0">
                <a:solidFill>
                  <a:srgbClr val="E2E8F0"/>
                </a:solidFill>
                <a:latin typeface="Consolas"/>
              </a:rPr>
              <a:t>    Game.GameOver();</a:t>
            </a:r>
          </a:p>
          <a:p>
            <a:r>
              <a:rPr sz="1150" b="0" i="0">
                <a:solidFill>
                  <a:srgbClr val="E2E8F0"/>
                </a:solidFill>
                <a:latin typeface="Consolas"/>
              </a:rPr>
              <a:t>    yield return null;</a:t>
            </a:r>
          </a:p>
          <a:p>
            <a:r>
              <a:rPr sz="1150" b="0" i="0">
                <a:solidFill>
                  <a:srgbClr val="E2E8F0"/>
                </a:solidFill>
                <a:latin typeface="Consolas"/>
              </a:rPr>
              <a:t> </a:t>
            </a:r>
          </a:p>
          <a:p>
            <a:r>
              <a:rPr sz="1150" b="0" i="0">
                <a:solidFill>
                  <a:srgbClr val="E2E8F0"/>
                </a:solidFill>
                <a:latin typeface="Consolas"/>
              </a:rPr>
              <a:t>    game.NewGame();                        // el jugador reinicia</a:t>
            </a:r>
          </a:p>
          <a:p>
            <a:r>
              <a:rPr sz="1150" b="0" i="0">
                <a:solidFill>
                  <a:srgbClr val="E2E8F0"/>
                </a:solidFill>
                <a:latin typeface="Consolas"/>
              </a:rPr>
              <a:t>    yield return null;</a:t>
            </a:r>
          </a:p>
          <a:p>
            <a:r>
              <a:rPr sz="1150" b="0" i="0">
                <a:solidFill>
                  <a:srgbClr val="E2E8F0"/>
                </a:solidFill>
                <a:latin typeface="Consolas"/>
              </a:rPr>
              <a:t> </a:t>
            </a:r>
          </a:p>
          <a:p>
            <a:r>
              <a:rPr sz="1150" b="0" i="0">
                <a:solidFill>
                  <a:srgbClr val="E2E8F0"/>
                </a:solidFill>
                <a:latin typeface="Consolas"/>
              </a:rPr>
              <a:t>    Assert.IsTrue(leftover == null, "NewGame debería eliminar los asteroides previos");</a:t>
            </a:r>
          </a:p>
          <a:p>
            <a:r>
              <a:rPr sz="1150" b="0" i="0">
                <a:solidFill>
                  <a:srgbClr val="E2E8F0"/>
                </a:solidFill>
                <a:latin typeface="Consolas"/>
              </a:rPr>
              <a:t>}</a:t>
            </a:r>
          </a:p>
          <a:p>
            <a:r>
              <a:rPr sz="1150" b="0" i="0">
                <a:solidFill>
                  <a:srgbClr val="E2E8F0"/>
                </a:solidFill>
                <a:latin typeface="Consolas"/>
              </a:rPr>
              <a:t> </a:t>
            </a:r>
          </a:p>
          <a:p>
            <a:r>
              <a:rPr sz="1150" b="0" i="0">
                <a:solidFill>
                  <a:srgbClr val="FCA5A5"/>
                </a:solidFill>
                <a:latin typeface="Consolas"/>
              </a:rPr>
              <a:t>✗ FAIL (batchmode 28/09/2026) — NewGame debería eliminar los asteroides previos</a:t>
            </a:r>
          </a:p>
          <a:p>
            <a:r>
              <a:rPr sz="1150" b="0" i="0">
                <a:solidFill>
                  <a:srgbClr val="FCA5A5"/>
                </a:solidFill>
                <a:latin typeface="Consolas"/>
              </a:rPr>
              <a:t>  Expected: True   But was: False</a:t>
            </a:r>
          </a:p>
        </p:txBody>
      </p:sp>
      <p:sp>
        <p:nvSpPr>
          <p:cNvPr id="8" name="Rectangle 7"/>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1) ¿Falla el juego o el test?  2) Causa en el código  3) Impacto para el jugador  4) Ticket  5) ¿Y después del arreglo?</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17/27</a:t>
            </a:r>
          </a:p>
        </p:txBody>
      </p:sp>
    </p:spTree>
  </p:cSld>
  <p:clrMapOvr>
    <a:masterClrMapping/>
  </p:clrMapOvr>
</p:sld>
</file>

<file path=ppt/slides/slide18.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18</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RESOLUCIÓN DOCENTE</a:t>
            </a:r>
          </a:p>
          <a:p>
            <a:r>
              <a:rPr sz="2600" b="1" i="0">
                <a:solidFill>
                  <a:srgbClr val="FFFFFF"/>
                </a:solidFill>
                <a:latin typeface="Calibri"/>
              </a:rPr>
              <a:t>Actividad 3 · Resolución</a:t>
            </a:r>
          </a:p>
        </p:txBody>
      </p:sp>
      <p:sp>
        <p:nvSpPr>
          <p:cNvPr id="6" name="Rectangle 5"/>
          <p:cNvSpPr/>
          <p:nvPr/>
        </p:nvSpPr>
        <p:spPr>
          <a:xfrm>
            <a:off x="502920" y="128016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8016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SpawnAsteroid() crea con Instantiate y nunca pasa por el pool</a:t>
            </a:r>
          </a:p>
        </p:txBody>
      </p:sp>
      <p:sp>
        <p:nvSpPr>
          <p:cNvPr id="8" name="TextBox 7"/>
          <p:cNvSpPr txBox="1"/>
          <p:nvPr/>
        </p:nvSpPr>
        <p:spPr>
          <a:xfrm>
            <a:off x="502920" y="175564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9" name="Rectangle 8"/>
          <p:cNvSpPr/>
          <p:nvPr/>
        </p:nvSpPr>
        <p:spPr>
          <a:xfrm>
            <a:off x="502920" y="201168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NewGame() → ClearAsteroids() → asteroids.Dispose()</a:t>
            </a:r>
          </a:p>
        </p:txBody>
      </p:sp>
      <p:sp>
        <p:nvSpPr>
          <p:cNvPr id="11" name="TextBox 10"/>
          <p:cNvSpPr txBox="1"/>
          <p:nvPr/>
        </p:nvSpPr>
        <p:spPr>
          <a:xfrm>
            <a:off x="502920" y="248716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12" name="Rectangle 11"/>
          <p:cNvSpPr/>
          <p:nvPr/>
        </p:nvSpPr>
        <p:spPr>
          <a:xfrm>
            <a:off x="502920" y="274320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4320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Dispose() vacía el pool… que no contiene los asteroides en pantalla</a:t>
            </a:r>
          </a:p>
        </p:txBody>
      </p:sp>
      <p:sp>
        <p:nvSpPr>
          <p:cNvPr id="14" name="TextBox 13"/>
          <p:cNvSpPr txBox="1"/>
          <p:nvPr/>
        </p:nvSpPr>
        <p:spPr>
          <a:xfrm>
            <a:off x="502920" y="321868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15" name="Rectangle 14"/>
          <p:cNvSpPr/>
          <p:nvPr/>
        </p:nvSpPr>
        <p:spPr>
          <a:xfrm>
            <a:off x="502920" y="347472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El asteroide viejo sobrevive y puede chocar la nave recién reparada</a:t>
            </a:r>
          </a:p>
        </p:txBody>
      </p:sp>
      <p:sp>
        <p:nvSpPr>
          <p:cNvPr id="17" name="TextBox 16"/>
          <p:cNvSpPr txBox="1"/>
          <p:nvPr/>
        </p:nvSpPr>
        <p:spPr>
          <a:xfrm>
            <a:off x="502920" y="4087368"/>
            <a:ext cx="11185855" cy="1254760"/>
          </a:xfrm>
          <a:prstGeom prst="rect">
            <a:avLst/>
          </a:prstGeom>
          <a:noFill/>
        </p:spPr>
        <p:txBody>
          <a:bodyPr wrap="square" anchor="t" lIns="0" rIns="0" tIns="0" bIns="0">
            <a:spAutoFit/>
          </a:bodyPr>
          <a:lstStyle/>
          <a:p>
            <a:pPr>
              <a:spcAft>
                <a:spcPts val="600"/>
              </a:spcAft>
            </a:pPr>
            <a:r>
              <a:rPr sz="1000" b="1" i="0">
                <a:solidFill>
                  <a:srgbClr val="0D9488"/>
                </a:solidFill>
                <a:latin typeface="Calibri"/>
              </a:rPr>
              <a:t>■  </a:t>
            </a:r>
            <a:r>
              <a:rPr sz="1400" b="0" i="0">
                <a:solidFill>
                  <a:srgbClr val="1F2937"/>
                </a:solidFill>
                <a:latin typeface="Calibri"/>
              </a:rPr>
              <a:t>Falla el juego si el diseño exige limpiar; confirmarlo antes de levantar el ticket</a:t>
            </a:r>
          </a:p>
          <a:p>
            <a:pPr>
              <a:spcAft>
                <a:spcPts val="600"/>
              </a:spcAft>
            </a:pPr>
            <a:r>
              <a:rPr sz="1000" b="1" i="0">
                <a:solidFill>
                  <a:srgbClr val="0D9488"/>
                </a:solidFill>
                <a:latin typeface="Calibri"/>
              </a:rPr>
              <a:t>■  </a:t>
            </a:r>
            <a:r>
              <a:rPr sz="1400" b="0" i="0">
                <a:solidFill>
                  <a:srgbClr val="1F2937"/>
                </a:solidFill>
                <a:latin typeface="Calibri"/>
              </a:rPr>
              <a:t>Ticket: «Reiniciar no elimina asteroides previos: posible Game Over inmediato» · Severidad Media · Prioridad Alta</a:t>
            </a:r>
          </a:p>
          <a:p>
            <a:pPr>
              <a:spcAft>
                <a:spcPts val="600"/>
              </a:spcAft>
            </a:pPr>
            <a:r>
              <a:rPr sz="1000" b="1" i="0">
                <a:solidFill>
                  <a:srgbClr val="0D9488"/>
                </a:solidFill>
                <a:latin typeface="Calibri"/>
              </a:rPr>
              <a:t>■  </a:t>
            </a:r>
            <a:r>
              <a:rPr sz="1400" b="0" i="0">
                <a:solidFill>
                  <a:srgbClr val="1F2937"/>
                </a:solidFill>
                <a:latin typeface="Calibri"/>
              </a:rPr>
              <a:t>Arreglo: usar el pool de forma consistente (Get/Release) o destruir los Asteroid en ClearAsteroids</a:t>
            </a:r>
          </a:p>
          <a:p>
            <a:pPr>
              <a:spcAft>
                <a:spcPts val="600"/>
              </a:spcAft>
            </a:pPr>
            <a:r>
              <a:rPr sz="1000" b="1" i="0">
                <a:solidFill>
                  <a:srgbClr val="0D9488"/>
                </a:solidFill>
                <a:latin typeface="Calibri"/>
              </a:rPr>
              <a:t>■  </a:t>
            </a:r>
            <a:r>
              <a:rPr sz="1400" b="0" i="0">
                <a:solidFill>
                  <a:srgbClr val="1F2937"/>
                </a:solidFill>
                <a:latin typeface="Calibri"/>
              </a:rPr>
              <a:t>Después del arreglo, el test se queda en la suite como test de regresión</a:t>
            </a:r>
          </a:p>
        </p:txBody>
      </p:sp>
      <p:sp>
        <p:nvSpPr>
          <p:cNvPr id="18" name="Rectangle 17"/>
          <p:cNvSpPr/>
          <p:nvPr/>
        </p:nvSpPr>
        <p:spPr>
          <a:xfrm>
            <a:off x="502920" y="576072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40080" y="576072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Spawner.cs 73–99 (Instantiate) y 115–117 (Dispose) · Game.cs 78 (ClearAsteroids) · Spawner.cs 52–53 (creación del pool)</a:t>
            </a:r>
          </a:p>
        </p:txBody>
      </p:sp>
      <p:sp>
        <p:nvSpPr>
          <p:cNvPr id="20" name="TextBox 1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21" name="TextBox 2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18/27</a:t>
            </a:r>
          </a:p>
        </p:txBody>
      </p:sp>
    </p:spTree>
  </p:cSld>
  <p:clrMapOvr>
    <a:masterClrMapping/>
  </p:clrMapOvr>
</p:sld>
</file>

<file path=ppt/slides/slide19.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19</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3 · TEORÍA</a:t>
            </a:r>
          </a:p>
          <a:p>
            <a:r>
              <a:rPr sz="2600" b="1" i="0">
                <a:solidFill>
                  <a:srgbClr val="FFFFFF"/>
                </a:solidFill>
                <a:latin typeface="Calibri"/>
              </a:rPr>
              <a:t>Dependencias y dobles de prueba</a:t>
            </a:r>
          </a:p>
        </p:txBody>
      </p:sp>
      <p:sp>
        <p:nvSpPr>
          <p:cNvPr id="6" name="Rounded Rectangle 5"/>
          <p:cNvSpPr/>
          <p:nvPr/>
        </p:nvSpPr>
        <p:spPr>
          <a:xfrm>
            <a:off x="502920" y="1280160"/>
            <a:ext cx="5650992"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Martin Fowler · «TestDouble» (taxonomía de Gerard Meszaros)</a:t>
            </a:r>
          </a:p>
        </p:txBody>
      </p:sp>
      <p:graphicFrame>
        <p:nvGraphicFramePr>
          <p:cNvPr id="7" name="Table 6"/>
          <p:cNvGraphicFramePr>
            <a:graphicFrameLocks noGrp="1"/>
          </p:cNvGraphicFramePr>
          <p:nvPr/>
        </p:nvGraphicFramePr>
        <p:xfrm>
          <a:off x="502920" y="1755648"/>
          <a:ext cx="11185852" cy="1975104"/>
        </p:xfrm>
        <a:graphic>
          <a:graphicData uri="http://schemas.openxmlformats.org/drawingml/2006/table">
            <a:tbl>
              <a:tblPr firstRow="1" bandRow="1">
                <a:tableStyleId>{5C22544A-7EE6-4342-B048-85BDC9FD1C3A}</a:tableStyleId>
              </a:tblPr>
              <a:tblGrid>
                <a:gridCol w="1242872"/>
                <a:gridCol w="3107181"/>
                <a:gridCol w="3107181"/>
                <a:gridCol w="3728618"/>
              </a:tblGrid>
              <a:tr h="329184">
                <a:tc>
                  <a:txBody>
                    <a:bodyPr/>
                    <a:lstStyle/>
                    <a:p>
                      <a:r>
                        <a:rPr sz="1300" b="1" i="0">
                          <a:solidFill>
                            <a:srgbClr val="FFFFFF"/>
                          </a:solidFill>
                          <a:latin typeface="Calibri"/>
                        </a:rPr>
                        <a:t>Doble</a:t>
                      </a:r>
                    </a:p>
                  </a:txBody>
                  <a:tcPr>
                    <a:solidFill>
                      <a:srgbClr val="1F2A44"/>
                    </a:solidFill>
                  </a:tcPr>
                </a:tc>
                <a:tc>
                  <a:txBody>
                    <a:bodyPr/>
                    <a:lstStyle/>
                    <a:p>
                      <a:r>
                        <a:rPr sz="1300" b="1" i="0">
                          <a:solidFill>
                            <a:srgbClr val="FFFFFF"/>
                          </a:solidFill>
                          <a:latin typeface="Calibri"/>
                        </a:rPr>
                        <a:t>Qué hace</a:t>
                      </a:r>
                    </a:p>
                  </a:txBody>
                  <a:tcPr>
                    <a:solidFill>
                      <a:srgbClr val="1F2A44"/>
                    </a:solidFill>
                  </a:tcPr>
                </a:tc>
                <a:tc>
                  <a:txBody>
                    <a:bodyPr/>
                    <a:lstStyle/>
                    <a:p>
                      <a:r>
                        <a:rPr sz="1300" b="1" i="0">
                          <a:solidFill>
                            <a:srgbClr val="FFFFFF"/>
                          </a:solidFill>
                          <a:latin typeface="Calibri"/>
                        </a:rPr>
                        <a:t>Ejemplo simple</a:t>
                      </a:r>
                    </a:p>
                  </a:txBody>
                  <a:tcPr>
                    <a:solidFill>
                      <a:srgbClr val="1F2A44"/>
                    </a:solidFill>
                  </a:tcPr>
                </a:tc>
                <a:tc>
                  <a:txBody>
                    <a:bodyPr/>
                    <a:lstStyle/>
                    <a:p>
                      <a:r>
                        <a:rPr sz="1300" b="1" i="0">
                          <a:solidFill>
                            <a:srgbClr val="FFFFFF"/>
                          </a:solidFill>
                          <a:latin typeface="Calibri"/>
                        </a:rPr>
                        <a:t>En el juego</a:t>
                      </a:r>
                    </a:p>
                  </a:txBody>
                  <a:tcPr>
                    <a:solidFill>
                      <a:srgbClr val="1F2A44"/>
                    </a:solidFill>
                  </a:tcPr>
                </a:tc>
              </a:tr>
              <a:tr h="329184">
                <a:tc>
                  <a:txBody>
                    <a:bodyPr/>
                    <a:lstStyle/>
                    <a:p>
                      <a:r>
                        <a:rPr sz="1200" b="1" i="0">
                          <a:solidFill>
                            <a:srgbClr val="1F2937"/>
                          </a:solidFill>
                          <a:latin typeface="Calibri"/>
                        </a:rPr>
                        <a:t>Dummy</a:t>
                      </a:r>
                    </a:p>
                  </a:txBody>
                  <a:tcPr marT="36576" marB="36576">
                    <a:solidFill>
                      <a:srgbClr val="FFFFFF"/>
                    </a:solidFill>
                  </a:tcPr>
                </a:tc>
                <a:tc>
                  <a:txBody>
                    <a:bodyPr/>
                    <a:lstStyle/>
                    <a:p>
                      <a:r>
                        <a:rPr sz="1200" b="0" i="0">
                          <a:solidFill>
                            <a:srgbClr val="1F2937"/>
                          </a:solidFill>
                          <a:latin typeface="Calibri"/>
                        </a:rPr>
                        <a:t>Solo ocupa un lugar</a:t>
                      </a:r>
                    </a:p>
                  </a:txBody>
                  <a:tcPr marT="36576" marB="36576">
                    <a:solidFill>
                      <a:srgbClr val="FFFFFF"/>
                    </a:solidFill>
                  </a:tcPr>
                </a:tc>
                <a:tc>
                  <a:txBody>
                    <a:bodyPr/>
                    <a:lstStyle/>
                    <a:p>
                      <a:r>
                        <a:rPr sz="1200" b="0" i="0">
                          <a:solidFill>
                            <a:srgbClr val="1F2937"/>
                          </a:solidFill>
                          <a:latin typeface="Calibri"/>
                        </a:rPr>
                        <a:t>Un DNI de muestra para llenar un formulario</a:t>
                      </a:r>
                    </a:p>
                  </a:txBody>
                  <a:tcPr marT="36576" marB="36576">
                    <a:solidFill>
                      <a:srgbClr val="FFFFFF"/>
                    </a:solidFill>
                  </a:tcPr>
                </a:tc>
                <a:tc>
                  <a:txBody>
                    <a:bodyPr/>
                    <a:lstStyle/>
                    <a:p>
                      <a:r>
                        <a:rPr sz="1200" b="0" i="0">
                          <a:solidFill>
                            <a:srgbClr val="1F2937"/>
                          </a:solidFill>
                          <a:latin typeface="Calibri"/>
                        </a:rPr>
                        <a:t>Cubo con collider en INT-AST-10</a:t>
                      </a:r>
                    </a:p>
                  </a:txBody>
                  <a:tcPr marT="36576" marB="36576">
                    <a:solidFill>
                      <a:srgbClr val="FFFFFF"/>
                    </a:solidFill>
                  </a:tcPr>
                </a:tc>
              </a:tr>
              <a:tr h="329184">
                <a:tc>
                  <a:txBody>
                    <a:bodyPr/>
                    <a:lstStyle/>
                    <a:p>
                      <a:r>
                        <a:rPr sz="1200" b="1" i="0">
                          <a:solidFill>
                            <a:srgbClr val="1F2937"/>
                          </a:solidFill>
                          <a:latin typeface="Calibri"/>
                        </a:rPr>
                        <a:t>Stub</a:t>
                      </a:r>
                    </a:p>
                  </a:txBody>
                  <a:tcPr marT="36576" marB="36576">
                    <a:solidFill>
                      <a:srgbClr val="F3F4F6"/>
                    </a:solidFill>
                  </a:tcPr>
                </a:tc>
                <a:tc>
                  <a:txBody>
                    <a:bodyPr/>
                    <a:lstStyle/>
                    <a:p>
                      <a:r>
                        <a:rPr sz="1200" b="0" i="0">
                          <a:solidFill>
                            <a:srgbClr val="1F2937"/>
                          </a:solidFill>
                          <a:latin typeface="Calibri"/>
                        </a:rPr>
                        <a:t>Devuelve respuestas fijas</a:t>
                      </a:r>
                    </a:p>
                  </a:txBody>
                  <a:tcPr marT="36576" marB="36576">
                    <a:solidFill>
                      <a:srgbClr val="F3F4F6"/>
                    </a:solidFill>
                  </a:tcPr>
                </a:tc>
                <a:tc>
                  <a:txBody>
                    <a:bodyPr/>
                    <a:lstStyle/>
                    <a:p>
                      <a:r>
                        <a:rPr sz="1200" b="0" i="0">
                          <a:solidFill>
                            <a:srgbClr val="1F2937"/>
                          </a:solidFill>
                          <a:latin typeface="Calibri"/>
                        </a:rPr>
                        <a:t>Un reloj que siempre dice 7:00</a:t>
                      </a:r>
                    </a:p>
                  </a:txBody>
                  <a:tcPr marT="36576" marB="36576">
                    <a:solidFill>
                      <a:srgbClr val="F3F4F6"/>
                    </a:solidFill>
                  </a:tcPr>
                </a:tc>
                <a:tc>
                  <a:txBody>
                    <a:bodyPr/>
                    <a:lstStyle/>
                    <a:p>
                      <a:r>
                        <a:rPr sz="1200" b="0" i="0">
                          <a:solidFill>
                            <a:srgbClr val="1F2937"/>
                          </a:solidFill>
                          <a:latin typeface="Calibri"/>
                        </a:rPr>
                        <a:t>Entrada que siempre dice «Espacio presionado» (PROPUESTA)</a:t>
                      </a:r>
                    </a:p>
                  </a:txBody>
                  <a:tcPr marT="36576" marB="36576">
                    <a:solidFill>
                      <a:srgbClr val="F3F4F6"/>
                    </a:solidFill>
                  </a:tcPr>
                </a:tc>
              </a:tr>
              <a:tr h="329184">
                <a:tc>
                  <a:txBody>
                    <a:bodyPr/>
                    <a:lstStyle/>
                    <a:p>
                      <a:r>
                        <a:rPr sz="1200" b="1" i="0">
                          <a:solidFill>
                            <a:srgbClr val="1F2937"/>
                          </a:solidFill>
                          <a:latin typeface="Calibri"/>
                        </a:rPr>
                        <a:t>Spy</a:t>
                      </a:r>
                    </a:p>
                  </a:txBody>
                  <a:tcPr marT="36576" marB="36576">
                    <a:solidFill>
                      <a:srgbClr val="FFFFFF"/>
                    </a:solidFill>
                  </a:tcPr>
                </a:tc>
                <a:tc>
                  <a:txBody>
                    <a:bodyPr/>
                    <a:lstStyle/>
                    <a:p>
                      <a:r>
                        <a:rPr sz="1200" b="0" i="0">
                          <a:solidFill>
                            <a:srgbClr val="1F2937"/>
                          </a:solidFill>
                          <a:latin typeface="Calibri"/>
                        </a:rPr>
                        <a:t>Registra llamadas para revisarlas después</a:t>
                      </a:r>
                    </a:p>
                  </a:txBody>
                  <a:tcPr marT="36576" marB="36576">
                    <a:solidFill>
                      <a:srgbClr val="FFFFFF"/>
                    </a:solidFill>
                  </a:tcPr>
                </a:tc>
                <a:tc>
                  <a:txBody>
                    <a:bodyPr/>
                    <a:lstStyle/>
                    <a:p>
                      <a:r>
                        <a:rPr sz="1200" b="0" i="0">
                          <a:solidFill>
                            <a:srgbClr val="1F2937"/>
                          </a:solidFill>
                          <a:latin typeface="Calibri"/>
                        </a:rPr>
                        <a:t>Un contador de timbres</a:t>
                      </a:r>
                    </a:p>
                  </a:txBody>
                  <a:tcPr marT="36576" marB="36576">
                    <a:solidFill>
                      <a:srgbClr val="FFFFFF"/>
                    </a:solidFill>
                  </a:tcPr>
                </a:tc>
                <a:tc>
                  <a:txBody>
                    <a:bodyPr/>
                    <a:lstStyle/>
                    <a:p>
                      <a:r>
                        <a:rPr sz="1200" b="0" i="0">
                          <a:solidFill>
                            <a:srgbClr val="1F2937"/>
                          </a:solidFill>
                          <a:latin typeface="Calibri"/>
                        </a:rPr>
                        <a:t>Contar llamadas a AsteroidDestroyed (PROPUESTA)</a:t>
                      </a:r>
                    </a:p>
                  </a:txBody>
                  <a:tcPr marT="36576" marB="36576">
                    <a:solidFill>
                      <a:srgbClr val="FFFFFF"/>
                    </a:solidFill>
                  </a:tcPr>
                </a:tc>
              </a:tr>
              <a:tr h="329184">
                <a:tc>
                  <a:txBody>
                    <a:bodyPr/>
                    <a:lstStyle/>
                    <a:p>
                      <a:r>
                        <a:rPr sz="1200" b="1" i="0">
                          <a:solidFill>
                            <a:srgbClr val="1F2937"/>
                          </a:solidFill>
                          <a:latin typeface="Calibri"/>
                        </a:rPr>
                        <a:t>Mock</a:t>
                      </a:r>
                    </a:p>
                  </a:txBody>
                  <a:tcPr marT="36576" marB="36576">
                    <a:solidFill>
                      <a:srgbClr val="F3F4F6"/>
                    </a:solidFill>
                  </a:tcPr>
                </a:tc>
                <a:tc>
                  <a:txBody>
                    <a:bodyPr/>
                    <a:lstStyle/>
                    <a:p>
                      <a:r>
                        <a:rPr sz="1200" b="0" i="0">
                          <a:solidFill>
                            <a:srgbClr val="1F2937"/>
                          </a:solidFill>
                          <a:latin typeface="Calibri"/>
                        </a:rPr>
                        <a:t>Espera llamadas concretas y falla si no llegan</a:t>
                      </a:r>
                    </a:p>
                  </a:txBody>
                  <a:tcPr marT="36576" marB="36576">
                    <a:solidFill>
                      <a:srgbClr val="F3F4F6"/>
                    </a:solidFill>
                  </a:tcPr>
                </a:tc>
                <a:tc>
                  <a:txBody>
                    <a:bodyPr/>
                    <a:lstStyle/>
                    <a:p>
                      <a:r>
                        <a:rPr sz="1200" b="0" i="0">
                          <a:solidFill>
                            <a:srgbClr val="1F2937"/>
                          </a:solidFill>
                          <a:latin typeface="Calibri"/>
                        </a:rPr>
                        <a:t>«El timbre debe sonar una vez»</a:t>
                      </a:r>
                    </a:p>
                  </a:txBody>
                  <a:tcPr marT="36576" marB="36576">
                    <a:solidFill>
                      <a:srgbClr val="F3F4F6"/>
                    </a:solidFill>
                  </a:tcPr>
                </a:tc>
                <a:tc>
                  <a:txBody>
                    <a:bodyPr/>
                    <a:lstStyle/>
                    <a:p>
                      <a:r>
                        <a:rPr sz="1200" b="0" i="0">
                          <a:solidFill>
                            <a:srgbClr val="1F2937"/>
                          </a:solidFill>
                          <a:latin typeface="Calibri"/>
                        </a:rPr>
                        <a:t>GameOver llama a StopSpawning exactamente una vez (PROPUESTA)</a:t>
                      </a:r>
                    </a:p>
                  </a:txBody>
                  <a:tcPr marT="36576" marB="36576">
                    <a:solidFill>
                      <a:srgbClr val="F3F4F6"/>
                    </a:solidFill>
                  </a:tcPr>
                </a:tc>
              </a:tr>
              <a:tr h="329184">
                <a:tc>
                  <a:txBody>
                    <a:bodyPr/>
                    <a:lstStyle/>
                    <a:p>
                      <a:r>
                        <a:rPr sz="1200" b="1" i="0">
                          <a:solidFill>
                            <a:srgbClr val="1F2937"/>
                          </a:solidFill>
                          <a:latin typeface="Calibri"/>
                        </a:rPr>
                        <a:t>Fake</a:t>
                      </a:r>
                    </a:p>
                  </a:txBody>
                  <a:tcPr marT="36576" marB="36576">
                    <a:solidFill>
                      <a:srgbClr val="FFFFFF"/>
                    </a:solidFill>
                  </a:tcPr>
                </a:tc>
                <a:tc>
                  <a:txBody>
                    <a:bodyPr/>
                    <a:lstStyle/>
                    <a:p>
                      <a:r>
                        <a:rPr sz="1200" b="0" i="0">
                          <a:solidFill>
                            <a:srgbClr val="1F2937"/>
                          </a:solidFill>
                          <a:latin typeface="Calibri"/>
                        </a:rPr>
                        <a:t>Implementación simple que funciona</a:t>
                      </a:r>
                    </a:p>
                  </a:txBody>
                  <a:tcPr marT="36576" marB="36576">
                    <a:solidFill>
                      <a:srgbClr val="FFFFFF"/>
                    </a:solidFill>
                  </a:tcPr>
                </a:tc>
                <a:tc>
                  <a:txBody>
                    <a:bodyPr/>
                    <a:lstStyle/>
                    <a:p>
                      <a:r>
                        <a:rPr sz="1200" b="0" i="0">
                          <a:solidFill>
                            <a:srgbClr val="1F2937"/>
                          </a:solidFill>
                          <a:latin typeface="Calibri"/>
                        </a:rPr>
                        <a:t>Una agenda en papel en vez de la app</a:t>
                      </a:r>
                    </a:p>
                  </a:txBody>
                  <a:tcPr marT="36576" marB="36576">
                    <a:solidFill>
                      <a:srgbClr val="FFFFFF"/>
                    </a:solidFill>
                  </a:tcPr>
                </a:tc>
                <a:tc>
                  <a:txBody>
                    <a:bodyPr/>
                    <a:lstStyle/>
                    <a:p>
                      <a:r>
                        <a:rPr sz="1200" b="0" i="0">
                          <a:solidFill>
                            <a:srgbClr val="1F2937"/>
                          </a:solidFill>
                          <a:latin typeface="Calibri"/>
                        </a:rPr>
                        <a:t>Récord guardado en memoria en vez de un archivo (PROPUESTA)</a:t>
                      </a:r>
                    </a:p>
                  </a:txBody>
                  <a:tcPr marT="36576" marB="36576">
                    <a:solidFill>
                      <a:srgbClr val="FFFFFF"/>
                    </a:solidFill>
                  </a:tcPr>
                </a:tc>
              </a:tr>
            </a:tbl>
          </a:graphicData>
        </a:graphic>
      </p:graphicFrame>
      <p:sp>
        <p:nvSpPr>
          <p:cNvPr id="8" name="Rectangle 7"/>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En integración, lo que está en la costura bajo prueba va REAL; se reemplaza lo no determinista o lo que queda fuera de alcance.</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19/27</a:t>
            </a:r>
          </a:p>
        </p:txBody>
      </p:sp>
    </p:spTree>
  </p:cSld>
  <p:clrMapOvr>
    <a:masterClrMapping/>
  </p:clrMapOvr>
</p:sld>
</file>

<file path=ppt/slides/slide20.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20</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3 · APLICACIÓN</a:t>
            </a:r>
          </a:p>
          <a:p>
            <a:r>
              <a:rPr sz="2600" b="1" i="0">
                <a:solidFill>
                  <a:srgbClr val="FFFFFF"/>
                </a:solidFill>
                <a:latin typeface="Calibri"/>
              </a:rPr>
              <a:t>Caso: la regla del cooldown vive junto al teclado</a:t>
            </a:r>
          </a:p>
        </p:txBody>
      </p:sp>
      <p:sp>
        <p:nvSpPr>
          <p:cNvPr id="6" name="Rounded Rectangle 5"/>
          <p:cNvSpPr/>
          <p:nvPr/>
        </p:nvSpPr>
        <p:spPr>
          <a:xfrm>
            <a:off x="502920" y="1280160"/>
            <a:ext cx="2775204"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INT-AST-16 (PROPUESTA)</a:t>
            </a:r>
          </a:p>
        </p:txBody>
      </p:sp>
      <p:sp>
        <p:nvSpPr>
          <p:cNvPr id="7" name="TextBox 6"/>
          <p:cNvSpPr txBox="1"/>
          <p:nvPr/>
        </p:nvSpPr>
        <p:spPr>
          <a:xfrm>
            <a:off x="502920" y="1755648"/>
            <a:ext cx="7315200" cy="2691765"/>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Regla de juego: como máximo un láser cada 0,4 s aunque se mantenga Espacio</a:t>
            </a:r>
          </a:p>
          <a:p>
            <a:pPr>
              <a:spcAft>
                <a:spcPts val="600"/>
              </a:spcAft>
            </a:pPr>
            <a:r>
              <a:rPr sz="1100" b="1" i="0">
                <a:solidFill>
                  <a:srgbClr val="0D9488"/>
                </a:solidFill>
                <a:latin typeface="Calibri"/>
              </a:rPr>
              <a:t>■  </a:t>
            </a:r>
            <a:r>
              <a:rPr sz="1500" b="0" i="0">
                <a:solidFill>
                  <a:srgbClr val="1F2937"/>
                </a:solidFill>
                <a:latin typeface="Calibri"/>
              </a:rPr>
              <a:t>El chequeo de canShoot está en Update(), junto a Input.GetKey(Space)</a:t>
            </a:r>
          </a:p>
          <a:p>
            <a:pPr>
              <a:spcAft>
                <a:spcPts val="600"/>
              </a:spcAft>
            </a:pPr>
            <a:r>
              <a:rPr sz="1100" b="1" i="0">
                <a:solidFill>
                  <a:srgbClr val="0D9488"/>
                </a:solidFill>
                <a:latin typeface="Calibri"/>
              </a:rPr>
              <a:t>■  </a:t>
            </a:r>
            <a:r>
              <a:rPr sz="1500" b="0" i="0">
                <a:solidFill>
                  <a:srgbClr val="1F2937"/>
                </a:solidFill>
                <a:latin typeface="Calibri"/>
              </a:rPr>
              <a:t>ShootLaser() no respeta la regla: dos llamadas seguidas crean dos láseres</a:t>
            </a:r>
          </a:p>
          <a:p>
            <a:pPr>
              <a:spcAft>
                <a:spcPts val="600"/>
              </a:spcAft>
            </a:pPr>
            <a:r>
              <a:rPr sz="1100" b="1" i="0">
                <a:solidFill>
                  <a:srgbClr val="0D9488"/>
                </a:solidFill>
                <a:latin typeface="Calibri"/>
              </a:rPr>
              <a:t>■  </a:t>
            </a:r>
            <a:r>
              <a:rPr sz="1500" b="0" i="0">
                <a:solidFill>
                  <a:srgbClr val="1F2937"/>
                </a:solidFill>
                <a:latin typeface="Calibri"/>
              </a:rPr>
              <a:t>Sin simular el teclado, la regla no se puede probar</a:t>
            </a:r>
          </a:p>
          <a:p>
            <a:pPr>
              <a:spcAft>
                <a:spcPts val="600"/>
              </a:spcAft>
            </a:pPr>
            <a:r>
              <a:rPr sz="1100" b="1" i="0">
                <a:solidFill>
                  <a:srgbClr val="0D9488"/>
                </a:solidFill>
                <a:latin typeface="Calibri"/>
              </a:rPr>
              <a:t>■  </a:t>
            </a:r>
            <a:r>
              <a:rPr sz="1500" b="0" i="0">
                <a:solidFill>
                  <a:srgbClr val="1F2937"/>
                </a:solidFill>
                <a:latin typeface="Calibri"/>
              </a:rPr>
              <a:t>Opción A: Input System + InputTestFixture (requiere un paquete no confirmado en el proyecto)</a:t>
            </a:r>
          </a:p>
          <a:p>
            <a:pPr>
              <a:spcAft>
                <a:spcPts val="600"/>
              </a:spcAft>
            </a:pPr>
            <a:r>
              <a:rPr sz="1100" b="1" i="0">
                <a:solidFill>
                  <a:srgbClr val="0D9488"/>
                </a:solidFill>
                <a:latin typeface="Calibri"/>
              </a:rPr>
              <a:t>■  </a:t>
            </a:r>
            <a:r>
              <a:rPr sz="1500" b="0" i="0">
                <a:solidFill>
                  <a:srgbClr val="1F2937"/>
                </a:solidFill>
                <a:latin typeface="Calibri"/>
              </a:rPr>
              <a:t>Opción B: separar la lectura de entrada detrás de una interfaz y usar un stub (refactor)</a:t>
            </a:r>
          </a:p>
        </p:txBody>
      </p:sp>
      <p:sp>
        <p:nvSpPr>
          <p:cNvPr id="8" name="Rectangle 7"/>
          <p:cNvSpPr/>
          <p:nvPr/>
        </p:nvSpPr>
        <p:spPr>
          <a:xfrm>
            <a:off x="502920" y="502920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02920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Ship.cs 61–64 (regla + tecla) · Ship.cs 77–80 (ShootLaser sin chequeo) · Ship.cs 82–90 (cooldown)</a:t>
            </a:r>
          </a:p>
        </p:txBody>
      </p:sp>
      <p:sp>
        <p:nvSpPr>
          <p:cNvPr id="10" name="Rectangle 9"/>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Esperado con Espacio mantenido 1 s: ¿cuántos láseres? (Respuesta: 3, en t = 0; 0,4; 0,8)</a:t>
            </a:r>
          </a:p>
        </p:txBody>
      </p:sp>
      <p:sp>
        <p:nvSpPr>
          <p:cNvPr id="12" name="Rectangle 11"/>
          <p:cNvSpPr/>
          <p:nvPr/>
        </p:nvSpPr>
        <p:spPr>
          <a:xfrm>
            <a:off x="8092440" y="1280160"/>
            <a:ext cx="3593592" cy="361188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Diagrama: hoy «Teclado → Ship.Update (regla + movimiento)»; propuesta «Teclado / Stub → Entrada → Ship (regla)», con el stub resaltado.</a:t>
            </a:r>
          </a:p>
        </p:txBody>
      </p:sp>
      <p:sp>
        <p:nvSpPr>
          <p:cNvPr id="13" name="TextBox 12"/>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4" name="TextBox 13"/>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20/27</a:t>
            </a:r>
          </a:p>
        </p:txBody>
      </p:sp>
    </p:spTree>
  </p:cSld>
  <p:clrMapOvr>
    <a:masterClrMapping/>
  </p:clrMapOvr>
</p:sld>
</file>

<file path=ppt/slides/slide21.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21</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4 · CASO REAL DEL PROYECTO</a:t>
            </a:r>
          </a:p>
          <a:p>
            <a:r>
              <a:rPr sz="2600" b="1" i="0">
                <a:solidFill>
                  <a:srgbClr val="FFFFFF"/>
                </a:solidFill>
                <a:latin typeface="Calibri"/>
              </a:rPr>
              <a:t>Cobertura: qué mide y qué no</a:t>
            </a:r>
          </a:p>
        </p:txBody>
      </p:sp>
      <p:sp>
        <p:nvSpPr>
          <p:cNvPr id="6" name="Rounded Rectangle 5"/>
          <p:cNvSpPr/>
          <p:nvPr/>
        </p:nvSpPr>
        <p:spPr>
          <a:xfrm>
            <a:off x="502920" y="1280160"/>
            <a:ext cx="5340096" cy="310896"/>
          </a:xfrm>
          <a:prstGeom prst="roundRect">
            <a:avLst>
              <a:gd name="adj" fmla="val 50000"/>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73152" rIns="73152" tIns="9144" bIns="9144" wrap="none"/>
          <a:lstStyle/>
          <a:p>
            <a:pPr algn="ctr"/>
            <a:r>
              <a:rPr sz="1200" b="1" i="0">
                <a:solidFill>
                  <a:srgbClr val="FFFFFF"/>
                </a:solidFill>
                <a:latin typeface="Calibri"/>
              </a:rPr>
              <a:t>Ejemplo: Reporte regenerado: 7 tests, carpeta limpia, 28/09/2026</a:t>
            </a:r>
          </a:p>
        </p:txBody>
      </p:sp>
      <p:sp>
        <p:nvSpPr>
          <p:cNvPr id="7" name="TextBox 6"/>
          <p:cNvSpPr txBox="1"/>
          <p:nvPr/>
        </p:nvSpPr>
        <p:spPr>
          <a:xfrm>
            <a:off x="502920" y="1755648"/>
            <a:ext cx="7315200" cy="2600325"/>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Reporte viejo del repo: 65,5 %, mezclando 3 corridas (15/09 y 18/09) y el código de los tests</a:t>
            </a:r>
          </a:p>
          <a:p>
            <a:pPr>
              <a:spcAft>
                <a:spcPts val="600"/>
              </a:spcAft>
            </a:pPr>
            <a:r>
              <a:rPr sz="1100" b="1" i="0">
                <a:solidFill>
                  <a:srgbClr val="0D9488"/>
                </a:solidFill>
                <a:latin typeface="Calibri"/>
              </a:rPr>
              <a:t>■  </a:t>
            </a:r>
            <a:r>
              <a:rPr sz="1500" b="0" i="0">
                <a:solidFill>
                  <a:srgbClr val="1F2937"/>
                </a:solidFill>
                <a:latin typeface="Calibri"/>
              </a:rPr>
              <a:t>Regenerado: 73,6 % de líneas y 87 % de métodos de GameAssembly · Game.cs 100 % · Ship.cs 43 %</a:t>
            </a:r>
          </a:p>
          <a:p>
            <a:pPr>
              <a:spcAft>
                <a:spcPts val="600"/>
              </a:spcAft>
            </a:pPr>
            <a:r>
              <a:rPr sz="1100" b="1" i="0">
                <a:solidFill>
                  <a:srgbClr val="0D9488"/>
                </a:solidFill>
                <a:latin typeface="Calibri"/>
              </a:rPr>
              <a:t>■  </a:t>
            </a:r>
            <a:r>
              <a:rPr sz="1500" b="0" i="0">
                <a:solidFill>
                  <a:srgbClr val="1F2937"/>
                </a:solidFill>
                <a:latin typeface="Calibri"/>
              </a:rPr>
              <a:t>Game.cs 100 %… pero la línea del HUD (85) se ejecuta sin que ningún test la compruebe</a:t>
            </a:r>
          </a:p>
          <a:p>
            <a:pPr>
              <a:spcAft>
                <a:spcPts val="600"/>
              </a:spcAft>
            </a:pPr>
            <a:r>
              <a:rPr sz="1100" b="1" i="0">
                <a:solidFill>
                  <a:srgbClr val="0D9488"/>
                </a:solidFill>
                <a:latin typeface="Calibri"/>
              </a:rPr>
              <a:t>■  </a:t>
            </a:r>
            <a:r>
              <a:rPr sz="1500" b="0" i="0">
                <a:solidFill>
                  <a:srgbClr val="1F2937"/>
                </a:solidFill>
                <a:latin typeface="Calibri"/>
              </a:rPr>
              <a:t>Nunca ejecutado: entrada del jugador, movimiento lateral, asteroide que sale de pantalla, spawn automático</a:t>
            </a:r>
          </a:p>
          <a:p>
            <a:pPr>
              <a:spcAft>
                <a:spcPts val="600"/>
              </a:spcAft>
            </a:pPr>
            <a:r>
              <a:rPr sz="1100" b="1" i="0">
                <a:solidFill>
                  <a:srgbClr val="0D9488"/>
                </a:solidFill>
                <a:latin typeface="Calibri"/>
              </a:rPr>
              <a:t>■  </a:t>
            </a:r>
            <a:r>
              <a:rPr sz="1500" b="0" i="0">
                <a:solidFill>
                  <a:srgbClr val="1F2937"/>
                </a:solidFill>
                <a:latin typeface="Calibri"/>
              </a:rPr>
              <a:t>Cobertura de ramas: 0 de 0 → no se midió</a:t>
            </a:r>
          </a:p>
        </p:txBody>
      </p:sp>
      <p:sp>
        <p:nvSpPr>
          <p:cNvPr id="8" name="Rectangle 7"/>
          <p:cNvSpPr/>
          <p:nvPr/>
        </p:nvSpPr>
        <p:spPr>
          <a:xfrm>
            <a:off x="502920" y="5029200"/>
            <a:ext cx="11185855" cy="457200"/>
          </a:xfrm>
          <a:prstGeom prst="rect">
            <a:avLst/>
          </a:prstGeom>
          <a:solidFill>
            <a:srgbClr val="FEF3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640080" y="5029200"/>
            <a:ext cx="10911535" cy="457200"/>
          </a:xfrm>
          <a:prstGeom prst="rect">
            <a:avLst/>
          </a:prstGeom>
          <a:noFill/>
        </p:spPr>
        <p:txBody>
          <a:bodyPr wrap="square" anchor="ctr" lIns="0" rIns="0" tIns="0" bIns="0">
            <a:spAutoFit/>
          </a:bodyPr>
          <a:lstStyle/>
          <a:p>
            <a:r>
              <a:rPr sz="1200" b="1" i="0">
                <a:solidFill>
                  <a:srgbClr val="D97706"/>
                </a:solidFill>
                <a:latin typeface="Calibri"/>
              </a:rPr>
              <a:t>💻 Ver en el código:  </a:t>
            </a:r>
            <a:r>
              <a:rPr sz="1200" b="0" i="0">
                <a:solidFill>
                  <a:srgbClr val="1F2937"/>
                </a:solidFill>
                <a:latin typeface="Calibri"/>
              </a:rPr>
              <a:t>Sin cubrir: Ship.cs 61–74 y 99–115 · Asteroid.cs 48 · Spawner.cs 69 · Laser.cs 42 — Ejecutada sin verificar: Game.cs 85</a:t>
            </a:r>
          </a:p>
        </p:txBody>
      </p:sp>
      <p:sp>
        <p:nvSpPr>
          <p:cNvPr id="10" name="Rectangle 9"/>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Game.cs tiene 100 % de cobertura: ¿está bien probado? ¿Usarían ese número para decidir si el juego está listo?</a:t>
            </a:r>
          </a:p>
        </p:txBody>
      </p:sp>
      <p:sp>
        <p:nvSpPr>
          <p:cNvPr id="12" name="Rectangle 11"/>
          <p:cNvSpPr/>
          <p:nvPr/>
        </p:nvSpPr>
        <p:spPr>
          <a:xfrm>
            <a:off x="8092440" y="1280160"/>
            <a:ext cx="3593592" cy="361188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Captura del reporte regenerado: resumen por clase (Game 100 %, Ship 43 %) y la vista línea por línea de Ship.cs con las líneas 61–74 en rojo.</a:t>
            </a:r>
          </a:p>
        </p:txBody>
      </p:sp>
      <p:sp>
        <p:nvSpPr>
          <p:cNvPr id="13" name="TextBox 12"/>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4" name="TextBox 13"/>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21/27</a:t>
            </a:r>
          </a:p>
        </p:txBody>
      </p:sp>
    </p:spTree>
  </p:cSld>
  <p:clrMapOvr>
    <a:masterClrMapping/>
  </p:clrMapOvr>
</p:sld>
</file>

<file path=ppt/slides/slide2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22</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BLOQUE 4 · TEORÍA</a:t>
            </a:r>
          </a:p>
          <a:p>
            <a:r>
              <a:rPr sz="2600" b="1" i="0">
                <a:solidFill>
                  <a:srgbClr val="FFFFFF"/>
                </a:solidFill>
                <a:latin typeface="Calibri"/>
              </a:rPr>
              <a:t>Regresión: del bug al test que lo vigila</a:t>
            </a:r>
          </a:p>
        </p:txBody>
      </p:sp>
      <p:sp>
        <p:nvSpPr>
          <p:cNvPr id="6" name="Rectangle 5"/>
          <p:cNvSpPr/>
          <p:nvPr/>
        </p:nvSpPr>
        <p:spPr>
          <a:xfrm>
            <a:off x="502920" y="128016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685800" y="128016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Se detecta el defecto (Actividad 3: asteroides que sobreviven al reinicio)</a:t>
            </a:r>
          </a:p>
        </p:txBody>
      </p:sp>
      <p:sp>
        <p:nvSpPr>
          <p:cNvPr id="8" name="TextBox 7"/>
          <p:cNvSpPr txBox="1"/>
          <p:nvPr/>
        </p:nvSpPr>
        <p:spPr>
          <a:xfrm>
            <a:off x="502920" y="175564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9" name="Rectangle 8"/>
          <p:cNvSpPr/>
          <p:nvPr/>
        </p:nvSpPr>
        <p:spPr>
          <a:xfrm>
            <a:off x="502920" y="201168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85800" y="201168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Se escribe el test y se ve en ROJO: prueba que el defecto existe</a:t>
            </a:r>
          </a:p>
        </p:txBody>
      </p:sp>
      <p:sp>
        <p:nvSpPr>
          <p:cNvPr id="11" name="TextBox 10"/>
          <p:cNvSpPr txBox="1"/>
          <p:nvPr/>
        </p:nvSpPr>
        <p:spPr>
          <a:xfrm>
            <a:off x="502920" y="248716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12" name="Rectangle 11"/>
          <p:cNvSpPr/>
          <p:nvPr/>
        </p:nvSpPr>
        <p:spPr>
          <a:xfrm>
            <a:off x="502920" y="2743200"/>
            <a:ext cx="11185855" cy="475488"/>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85800" y="274320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Se arregla el código y el test pasa a VERDE</a:t>
            </a:r>
          </a:p>
        </p:txBody>
      </p:sp>
      <p:sp>
        <p:nvSpPr>
          <p:cNvPr id="14" name="TextBox 13"/>
          <p:cNvSpPr txBox="1"/>
          <p:nvPr/>
        </p:nvSpPr>
        <p:spPr>
          <a:xfrm>
            <a:off x="502920" y="3218688"/>
            <a:ext cx="11185855" cy="256032"/>
          </a:xfrm>
          <a:prstGeom prst="rect">
            <a:avLst/>
          </a:prstGeom>
          <a:noFill/>
        </p:spPr>
        <p:txBody>
          <a:bodyPr wrap="square" anchor="ctr" lIns="0" rIns="0" tIns="0" bIns="0">
            <a:spAutoFit/>
          </a:bodyPr>
          <a:lstStyle/>
          <a:p>
            <a:pPr algn="ctr"/>
            <a:r>
              <a:rPr sz="1600" b="1" i="0">
                <a:solidFill>
                  <a:srgbClr val="0D9488"/>
                </a:solidFill>
                <a:latin typeface="Calibri"/>
              </a:rPr>
              <a:t>↓</a:t>
            </a:r>
          </a:p>
        </p:txBody>
      </p:sp>
      <p:sp>
        <p:nvSpPr>
          <p:cNvPr id="15" name="Rectangle 14"/>
          <p:cNvSpPr/>
          <p:nvPr/>
        </p:nvSpPr>
        <p:spPr>
          <a:xfrm>
            <a:off x="502920" y="3474720"/>
            <a:ext cx="11185855" cy="475488"/>
          </a:xfrm>
          <a:prstGeom prst="rect">
            <a:avLst/>
          </a:prstGeom>
          <a:solidFill>
            <a:srgbClr val="16A34A"/>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685800" y="3474720"/>
            <a:ext cx="10820095" cy="475488"/>
          </a:xfrm>
          <a:prstGeom prst="rect">
            <a:avLst/>
          </a:prstGeom>
          <a:noFill/>
        </p:spPr>
        <p:txBody>
          <a:bodyPr wrap="square" anchor="ctr" lIns="0" rIns="0" tIns="0" bIns="0">
            <a:spAutoFit/>
          </a:bodyPr>
          <a:lstStyle/>
          <a:p>
            <a:pPr algn="ctr"/>
            <a:r>
              <a:rPr sz="1400" b="1" i="0">
                <a:solidFill>
                  <a:srgbClr val="FFFFFF"/>
                </a:solidFill>
                <a:latin typeface="Calibri"/>
              </a:rPr>
              <a:t>El test queda en la suite: si el defecto vuelve, se entera la suite antes que el jugador</a:t>
            </a:r>
          </a:p>
        </p:txBody>
      </p:sp>
      <p:sp>
        <p:nvSpPr>
          <p:cNvPr id="17" name="Rectangle 16"/>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Retesting = volver a probar ESE arreglo. Regresión = volver a probar TODO lo que ya andaba (Unidad II).</a:t>
            </a:r>
          </a:p>
        </p:txBody>
      </p:sp>
      <p:sp>
        <p:nvSpPr>
          <p:cNvPr id="19" name="TextBox 1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20" name="TextBox 1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22/27</a:t>
            </a:r>
          </a:p>
        </p:txBody>
      </p:sp>
    </p:spTree>
  </p:cSld>
  <p:clrMapOvr>
    <a:masterClrMapping/>
  </p:clrMapOvr>
</p:sld>
</file>

<file path=ppt/slides/slide23.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23</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PRÁCTICA · EN GRUPOS</a:t>
            </a:r>
          </a:p>
          <a:p>
            <a:r>
              <a:rPr sz="2600" b="1" i="0">
                <a:solidFill>
                  <a:srgbClr val="FFFFFF"/>
                </a:solidFill>
                <a:latin typeface="Calibri"/>
              </a:rPr>
              <a:t>Actividad 4 · Diseñar una mini-suite (14 min)</a:t>
            </a:r>
          </a:p>
        </p:txBody>
      </p:sp>
      <p:sp>
        <p:nvSpPr>
          <p:cNvPr id="6" name="TextBox 5"/>
          <p:cNvSpPr txBox="1"/>
          <p:nvPr/>
        </p:nvSpPr>
        <p:spPr>
          <a:xfrm>
            <a:off x="502920" y="1280160"/>
            <a:ext cx="7315200" cy="2076450"/>
          </a:xfrm>
          <a:prstGeom prst="rect">
            <a:avLst/>
          </a:prstGeom>
          <a:noFill/>
        </p:spPr>
        <p:txBody>
          <a:bodyPr wrap="square" anchor="t" lIns="0" rIns="0" tIns="0" bIns="0">
            <a:spAutoFit/>
          </a:bodyPr>
          <a:lstStyle/>
          <a:p>
            <a:pPr>
              <a:spcAft>
                <a:spcPts val="600"/>
              </a:spcAft>
            </a:pPr>
            <a:r>
              <a:rPr sz="1300" b="1" i="0">
                <a:solidFill>
                  <a:srgbClr val="0D9488"/>
                </a:solidFill>
                <a:latin typeface="Calibri"/>
              </a:rPr>
              <a:t>■  </a:t>
            </a:r>
            <a:r>
              <a:rPr sz="1700" b="0" i="0">
                <a:solidFill>
                  <a:srgbClr val="1F2937"/>
                </a:solidFill>
                <a:latin typeface="Calibri"/>
              </a:rPr>
              <a:t>Tienen los 7 tests actuales + los casos nuevos de la clase</a:t>
            </a:r>
          </a:p>
          <a:p>
            <a:pPr>
              <a:spcAft>
                <a:spcPts val="600"/>
              </a:spcAft>
            </a:pPr>
            <a:r>
              <a:rPr sz="1300" b="1" i="0">
                <a:solidFill>
                  <a:srgbClr val="0D9488"/>
                </a:solidFill>
                <a:latin typeface="Calibri"/>
              </a:rPr>
              <a:t>■  </a:t>
            </a:r>
            <a:r>
              <a:rPr sz="1700" b="0" i="0">
                <a:solidFill>
                  <a:srgbClr val="1F2937"/>
                </a:solidFill>
                <a:latin typeface="Calibri"/>
              </a:rPr>
              <a:t>Máximo 12 tests en la suite de integración</a:t>
            </a:r>
          </a:p>
          <a:p>
            <a:pPr>
              <a:spcAft>
                <a:spcPts val="600"/>
              </a:spcAft>
            </a:pPr>
            <a:r>
              <a:rPr sz="1300" b="1" i="0">
                <a:solidFill>
                  <a:srgbClr val="0D9488"/>
                </a:solidFill>
                <a:latin typeface="Calibri"/>
              </a:rPr>
              <a:t>■  </a:t>
            </a:r>
            <a:r>
              <a:rPr sz="1700" b="0" i="0">
                <a:solidFill>
                  <a:srgbClr val="1F2937"/>
                </a:solidFill>
                <a:latin typeface="Calibri"/>
              </a:rPr>
              <a:t>Categorías: Smoke (cada cambio) · Integración · Borde · Regresión</a:t>
            </a:r>
          </a:p>
          <a:p>
            <a:pPr>
              <a:spcAft>
                <a:spcPts val="600"/>
              </a:spcAft>
            </a:pPr>
            <a:r>
              <a:rPr sz="1300" b="1" i="0">
                <a:solidFill>
                  <a:srgbClr val="0D9488"/>
                </a:solidFill>
                <a:latin typeface="Calibri"/>
              </a:rPr>
              <a:t>■  </a:t>
            </a:r>
            <a:r>
              <a:rPr sz="1700" b="0" i="0">
                <a:solidFill>
                  <a:srgbClr val="1F2937"/>
                </a:solidFill>
                <a:latin typeface="Calibri"/>
              </a:rPr>
              <a:t>Definan la fixture común y una convención de nombres</a:t>
            </a:r>
          </a:p>
          <a:p>
            <a:pPr>
              <a:spcAft>
                <a:spcPts val="600"/>
              </a:spcAft>
            </a:pPr>
            <a:r>
              <a:rPr sz="1300" b="1" i="0">
                <a:solidFill>
                  <a:srgbClr val="0D9488"/>
                </a:solidFill>
                <a:latin typeface="Calibri"/>
              </a:rPr>
              <a:t>■  </a:t>
            </a:r>
            <a:r>
              <a:rPr sz="1700" b="0" i="0">
                <a:solidFill>
                  <a:srgbClr val="1F2937"/>
                </a:solidFill>
                <a:latin typeface="Calibri"/>
              </a:rPr>
              <a:t>Decidan qué tests existentes se quedan, se reescriben, se fusionan o salen</a:t>
            </a:r>
          </a:p>
        </p:txBody>
      </p:sp>
      <p:sp>
        <p:nvSpPr>
          <p:cNvPr id="7" name="Rectangle 6"/>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Entreguen la suite en una tabla: test · categoría · cuándo corre · decisión (queda / reescribir / fusionar / sale).</a:t>
            </a:r>
          </a:p>
        </p:txBody>
      </p:sp>
      <p:sp>
        <p:nvSpPr>
          <p:cNvPr id="9" name="Rectangle 8"/>
          <p:cNvSpPr/>
          <p:nvPr/>
        </p:nvSpPr>
        <p:spPr>
          <a:xfrm>
            <a:off x="8092440" y="1280160"/>
            <a:ext cx="3593592" cy="4160520"/>
          </a:xfrm>
          <a:prstGeom prst="rect">
            <a:avLst/>
          </a:prstGeom>
          <a:solidFill>
            <a:srgbClr val="F8FAFC"/>
          </a:solidFill>
          <a:ln w="19050">
            <a:solidFill>
              <a:srgbClr val="94A3B8"/>
            </a:solidFill>
            <a:prstDash val="dash"/>
          </a:ln>
          <a:effectLst/>
        </p:spPr>
        <p:style>
          <a:lnRef idx="1">
            <a:schemeClr val="accent1"/>
          </a:lnRef>
          <a:fillRef idx="3">
            <a:schemeClr val="accent1"/>
          </a:fillRef>
          <a:effectRef idx="2">
            <a:schemeClr val="accent1"/>
          </a:effectRef>
          <a:fontRef idx="minor">
            <a:schemeClr val="lt1"/>
          </a:fontRef>
        </p:style>
        <p:txBody>
          <a:bodyPr rtlCol="0" anchor="ctr" wrap="square" lIns="182880" rIns="182880"/>
          <a:lstStyle/>
          <a:p>
            <a:pPr algn="ctr"/>
            <a:r>
              <a:rPr sz="1400" b="1" i="0">
                <a:solidFill>
                  <a:srgbClr val="6B7280"/>
                </a:solidFill>
                <a:latin typeface="Calibri"/>
              </a:rPr>
              <a:t>🖼  IMAGEN</a:t>
            </a:r>
          </a:p>
          <a:p>
            <a:pPr algn="ctr">
              <a:spcBef>
                <a:spcPts val="600"/>
              </a:spcBef>
            </a:pPr>
            <a:r>
              <a:rPr sz="1200" b="0" i="1">
                <a:solidFill>
                  <a:srgbClr val="6B7280"/>
                </a:solidFill>
                <a:latin typeface="Calibri"/>
              </a:rPr>
              <a:t>Tablero de cuatro columnas (Smoke · Integración · Borde · Regresión) con tarjetas de los tests para ubicar.</a:t>
            </a:r>
          </a:p>
        </p:txBody>
      </p:sp>
      <p:sp>
        <p:nvSpPr>
          <p:cNvPr id="10" name="TextBox 9"/>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1" name="TextBox 10"/>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23/27</a:t>
            </a:r>
          </a:p>
        </p:txBody>
      </p:sp>
    </p:spTree>
  </p:cSld>
  <p:clrMapOvr>
    <a:masterClrMapping/>
  </p:clrMapOvr>
</p:sld>
</file>

<file path=ppt/slides/slide24.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24</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RESOLUCIÓN DOCENTE</a:t>
            </a:r>
          </a:p>
          <a:p>
            <a:r>
              <a:rPr sz="2600" b="1" i="0">
                <a:solidFill>
                  <a:srgbClr val="FFFFFF"/>
                </a:solidFill>
                <a:latin typeface="Calibri"/>
              </a:rPr>
              <a:t>Actividad 4 · Resolución</a:t>
            </a:r>
          </a:p>
        </p:txBody>
      </p:sp>
      <p:graphicFrame>
        <p:nvGraphicFramePr>
          <p:cNvPr id="6" name="Table 5"/>
          <p:cNvGraphicFramePr>
            <a:graphicFrameLocks noGrp="1"/>
          </p:cNvGraphicFramePr>
          <p:nvPr/>
        </p:nvGraphicFramePr>
        <p:xfrm>
          <a:off x="502920" y="1280160"/>
          <a:ext cx="11185854" cy="1975104"/>
        </p:xfrm>
        <a:graphic>
          <a:graphicData uri="http://schemas.openxmlformats.org/drawingml/2006/table">
            <a:tbl>
              <a:tblPr firstRow="1" bandRow="1">
                <a:tableStyleId>{5C22544A-7EE6-4342-B048-85BDC9FD1C3A}</a:tableStyleId>
              </a:tblPr>
              <a:tblGrid>
                <a:gridCol w="1864309"/>
                <a:gridCol w="6835800"/>
                <a:gridCol w="2485745"/>
              </a:tblGrid>
              <a:tr h="329184">
                <a:tc>
                  <a:txBody>
                    <a:bodyPr/>
                    <a:lstStyle/>
                    <a:p>
                      <a:r>
                        <a:rPr sz="1300" b="1" i="0">
                          <a:solidFill>
                            <a:srgbClr val="FFFFFF"/>
                          </a:solidFill>
                          <a:latin typeface="Calibri"/>
                        </a:rPr>
                        <a:t>Categoría</a:t>
                      </a:r>
                    </a:p>
                  </a:txBody>
                  <a:tcPr>
                    <a:solidFill>
                      <a:srgbClr val="1F2A44"/>
                    </a:solidFill>
                  </a:tcPr>
                </a:tc>
                <a:tc>
                  <a:txBody>
                    <a:bodyPr/>
                    <a:lstStyle/>
                    <a:p>
                      <a:r>
                        <a:rPr sz="1300" b="1" i="0">
                          <a:solidFill>
                            <a:srgbClr val="FFFFFF"/>
                          </a:solidFill>
                          <a:latin typeface="Calibri"/>
                        </a:rPr>
                        <a:t>Tests</a:t>
                      </a:r>
                    </a:p>
                  </a:txBody>
                  <a:tcPr>
                    <a:solidFill>
                      <a:srgbClr val="1F2A44"/>
                    </a:solidFill>
                  </a:tcPr>
                </a:tc>
                <a:tc>
                  <a:txBody>
                    <a:bodyPr/>
                    <a:lstStyle/>
                    <a:p>
                      <a:r>
                        <a:rPr sz="1300" b="1" i="0">
                          <a:solidFill>
                            <a:srgbClr val="FFFFFF"/>
                          </a:solidFill>
                          <a:latin typeface="Calibri"/>
                        </a:rPr>
                        <a:t>Cuándo corre</a:t>
                      </a:r>
                    </a:p>
                  </a:txBody>
                  <a:tcPr>
                    <a:solidFill>
                      <a:srgbClr val="1F2A44"/>
                    </a:solidFill>
                  </a:tcPr>
                </a:tc>
              </a:tr>
              <a:tr h="329184">
                <a:tc>
                  <a:txBody>
                    <a:bodyPr/>
                    <a:lstStyle/>
                    <a:p>
                      <a:r>
                        <a:rPr sz="1200" b="1" i="0">
                          <a:solidFill>
                            <a:srgbClr val="1F2937"/>
                          </a:solidFill>
                          <a:latin typeface="Calibri"/>
                        </a:rPr>
                        <a:t>Smoke</a:t>
                      </a:r>
                    </a:p>
                  </a:txBody>
                  <a:tcPr marT="36576" marB="36576">
                    <a:solidFill>
                      <a:srgbClr val="FFFFFF"/>
                    </a:solidFill>
                  </a:tcPr>
                </a:tc>
                <a:tc>
                  <a:txBody>
                    <a:bodyPr/>
                    <a:lstStyle/>
                    <a:p>
                      <a:r>
                        <a:rPr sz="1200" b="0" i="0">
                          <a:solidFill>
                            <a:srgbClr val="1F2937"/>
                          </a:solidFill>
                          <a:latin typeface="Calibri"/>
                        </a:rPr>
                        <a:t>02 Game Over por choque · 06 Láser destruye asteroide · 08 Reinicio tras Game Over</a:t>
                      </a:r>
                    </a:p>
                  </a:txBody>
                  <a:tcPr marT="36576" marB="36576">
                    <a:solidFill>
                      <a:srgbClr val="FFFFFF"/>
                    </a:solidFill>
                  </a:tcPr>
                </a:tc>
                <a:tc>
                  <a:txBody>
                    <a:bodyPr/>
                    <a:lstStyle/>
                    <a:p>
                      <a:r>
                        <a:rPr sz="1200" b="0" i="0">
                          <a:solidFill>
                            <a:srgbClr val="1F2937"/>
                          </a:solidFill>
                          <a:latin typeface="Calibri"/>
                        </a:rPr>
                        <a:t>Cada cambio (segundos)</a:t>
                      </a:r>
                    </a:p>
                  </a:txBody>
                  <a:tcPr marT="36576" marB="36576">
                    <a:solidFill>
                      <a:srgbClr val="FFFFFF"/>
                    </a:solidFill>
                  </a:tcPr>
                </a:tc>
              </a:tr>
              <a:tr h="329184">
                <a:tc>
                  <a:txBody>
                    <a:bodyPr/>
                    <a:lstStyle/>
                    <a:p>
                      <a:r>
                        <a:rPr sz="1200" b="1" i="0">
                          <a:solidFill>
                            <a:srgbClr val="1F2937"/>
                          </a:solidFill>
                          <a:latin typeface="Calibri"/>
                        </a:rPr>
                        <a:t>Integración</a:t>
                      </a:r>
                    </a:p>
                  </a:txBody>
                  <a:tcPr marT="36576" marB="36576">
                    <a:solidFill>
                      <a:srgbClr val="F3F4F6"/>
                    </a:solidFill>
                  </a:tcPr>
                </a:tc>
                <a:tc>
                  <a:txBody>
                    <a:bodyPr/>
                    <a:lstStyle/>
                    <a:p>
                      <a:r>
                        <a:rPr sz="1200" b="0" i="0">
                          <a:solidFill>
                            <a:srgbClr val="1F2937"/>
                          </a:solidFill>
                          <a:latin typeface="Calibri"/>
                        </a:rPr>
                        <a:t>04 reescrito (limpieza + conteo propio) · 09 HUD (absorbe 07) · 10 Láser vs. objeto ajeno · 11 Asteroide vs. asteroide</a:t>
                      </a:r>
                    </a:p>
                  </a:txBody>
                  <a:tcPr marT="36576" marB="36576">
                    <a:solidFill>
                      <a:srgbClr val="F3F4F6"/>
                    </a:solidFill>
                  </a:tcPr>
                </a:tc>
                <a:tc>
                  <a:txBody>
                    <a:bodyPr/>
                    <a:lstStyle/>
                    <a:p>
                      <a:r>
                        <a:rPr sz="1200" b="0" i="0">
                          <a:solidFill>
                            <a:srgbClr val="1F2937"/>
                          </a:solidFill>
                          <a:latin typeface="Calibri"/>
                        </a:rPr>
                        <a:t>Cada commit</a:t>
                      </a:r>
                    </a:p>
                  </a:txBody>
                  <a:tcPr marT="36576" marB="36576">
                    <a:solidFill>
                      <a:srgbClr val="F3F4F6"/>
                    </a:solidFill>
                  </a:tcPr>
                </a:tc>
              </a:tr>
              <a:tr h="329184">
                <a:tc>
                  <a:txBody>
                    <a:bodyPr/>
                    <a:lstStyle/>
                    <a:p>
                      <a:r>
                        <a:rPr sz="1200" b="1" i="0">
                          <a:solidFill>
                            <a:srgbClr val="1F2937"/>
                          </a:solidFill>
                          <a:latin typeface="Calibri"/>
                        </a:rPr>
                        <a:t>Borde</a:t>
                      </a:r>
                    </a:p>
                  </a:txBody>
                  <a:tcPr marT="36576" marB="36576">
                    <a:solidFill>
                      <a:srgbClr val="FFFFFF"/>
                    </a:solidFill>
                  </a:tcPr>
                </a:tc>
                <a:tc>
                  <a:txBody>
                    <a:bodyPr/>
                    <a:lstStyle/>
                    <a:p>
                      <a:r>
                        <a:rPr sz="1200" b="0" i="0">
                          <a:solidFill>
                            <a:srgbClr val="1F2937"/>
                          </a:solidFill>
                          <a:latin typeface="Calibri"/>
                        </a:rPr>
                        <a:t>12 Límite y = −5 · 13 Doble impacto · 15 Doble NewGame</a:t>
                      </a:r>
                    </a:p>
                  </a:txBody>
                  <a:tcPr marT="36576" marB="36576">
                    <a:solidFill>
                      <a:srgbClr val="FFFFFF"/>
                    </a:solidFill>
                  </a:tcPr>
                </a:tc>
                <a:tc>
                  <a:txBody>
                    <a:bodyPr/>
                    <a:lstStyle/>
                    <a:p>
                      <a:r>
                        <a:rPr sz="1200" b="0" i="0">
                          <a:solidFill>
                            <a:srgbClr val="1F2937"/>
                          </a:solidFill>
                          <a:latin typeface="Calibri"/>
                        </a:rPr>
                        <a:t>Cada commit</a:t>
                      </a:r>
                    </a:p>
                  </a:txBody>
                  <a:tcPr marT="36576" marB="36576">
                    <a:solidFill>
                      <a:srgbClr val="FFFFFF"/>
                    </a:solidFill>
                  </a:tcPr>
                </a:tc>
              </a:tr>
              <a:tr h="329184">
                <a:tc>
                  <a:txBody>
                    <a:bodyPr/>
                    <a:lstStyle/>
                    <a:p>
                      <a:r>
                        <a:rPr sz="1200" b="1" i="0">
                          <a:solidFill>
                            <a:srgbClr val="1F2937"/>
                          </a:solidFill>
                          <a:latin typeface="Calibri"/>
                        </a:rPr>
                        <a:t>Regresión</a:t>
                      </a:r>
                    </a:p>
                  </a:txBody>
                  <a:tcPr marT="36576" marB="36576">
                    <a:solidFill>
                      <a:srgbClr val="F3F4F6"/>
                    </a:solidFill>
                  </a:tcPr>
                </a:tc>
                <a:tc>
                  <a:txBody>
                    <a:bodyPr/>
                    <a:lstStyle/>
                    <a:p>
                      <a:r>
                        <a:rPr sz="1200" b="0" i="0">
                          <a:solidFill>
                            <a:srgbClr val="1F2937"/>
                          </a:solidFill>
                          <a:latin typeface="Calibri"/>
                        </a:rPr>
                        <a:t>14 Reinicio limpia asteroides (en rojo hasta el arreglo)</a:t>
                      </a:r>
                    </a:p>
                  </a:txBody>
                  <a:tcPr marT="36576" marB="36576">
                    <a:solidFill>
                      <a:srgbClr val="F3F4F6"/>
                    </a:solidFill>
                  </a:tcPr>
                </a:tc>
                <a:tc>
                  <a:txBody>
                    <a:bodyPr/>
                    <a:lstStyle/>
                    <a:p>
                      <a:r>
                        <a:rPr sz="1200" b="0" i="0">
                          <a:solidFill>
                            <a:srgbClr val="1F2937"/>
                          </a:solidFill>
                          <a:latin typeface="Calibri"/>
                        </a:rPr>
                        <a:t>Cada commit</a:t>
                      </a:r>
                    </a:p>
                  </a:txBody>
                  <a:tcPr marT="36576" marB="36576">
                    <a:solidFill>
                      <a:srgbClr val="F3F4F6"/>
                    </a:solidFill>
                  </a:tcPr>
                </a:tc>
              </a:tr>
              <a:tr h="329184">
                <a:tc>
                  <a:txBody>
                    <a:bodyPr/>
                    <a:lstStyle/>
                    <a:p>
                      <a:r>
                        <a:rPr sz="1200" b="1" i="0">
                          <a:solidFill>
                            <a:srgbClr val="1F2937"/>
                          </a:solidFill>
                          <a:latin typeface="Calibri"/>
                        </a:rPr>
                        <a:t>Fuera de esta suite</a:t>
                      </a:r>
                    </a:p>
                  </a:txBody>
                  <a:tcPr marT="36576" marB="36576">
                    <a:solidFill>
                      <a:srgbClr val="FFFFFF"/>
                    </a:solidFill>
                  </a:tcPr>
                </a:tc>
                <a:tc>
                  <a:txBody>
                    <a:bodyPr/>
                    <a:lstStyle/>
                    <a:p>
                      <a:r>
                        <a:rPr sz="1200" b="0" i="0">
                          <a:solidFill>
                            <a:srgbClr val="1F2937"/>
                          </a:solidFill>
                          <a:latin typeface="Calibri"/>
                        </a:rPr>
                        <a:t>01 y 05 → movimiento de un solo componente · 03 → reemplazado por 08 · 16 → pendiente del refactor de entrada</a:t>
                      </a:r>
                    </a:p>
                  </a:txBody>
                  <a:tcPr marT="36576" marB="36576">
                    <a:solidFill>
                      <a:srgbClr val="FFFFFF"/>
                    </a:solidFill>
                  </a:tcPr>
                </a:tc>
                <a:tc>
                  <a:txBody>
                    <a:bodyPr/>
                    <a:lstStyle/>
                    <a:p>
                      <a:r>
                        <a:rPr sz="1200" b="0" i="0">
                          <a:solidFill>
                            <a:srgbClr val="1F2937"/>
                          </a:solidFill>
                          <a:latin typeface="Calibri"/>
                        </a:rPr>
                        <a:t>—</a:t>
                      </a:r>
                    </a:p>
                  </a:txBody>
                  <a:tcPr marT="36576" marB="36576">
                    <a:solidFill>
                      <a:srgbClr val="FFFFFF"/>
                    </a:solidFill>
                  </a:tcPr>
                </a:tc>
              </a:tr>
            </a:tbl>
          </a:graphicData>
        </a:graphic>
      </p:graphicFrame>
      <p:sp>
        <p:nvSpPr>
          <p:cNvPr id="7" name="Rectangle 6"/>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Fixture común: semilla fija + limpieza total · Nombres: Flujo_Condición_Resultado · [Category("Smoke")]</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24/27</a:t>
            </a:r>
          </a:p>
        </p:txBody>
      </p:sp>
    </p:spTree>
  </p:cSld>
  <p:clrMapOvr>
    <a:masterClrMapping/>
  </p:clrMapOvr>
</p:sld>
</file>

<file path=ppt/slides/slide25.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25</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IDEAS PARA LLEVARSE</a:t>
            </a:r>
          </a:p>
          <a:p>
            <a:r>
              <a:rPr sz="2600" b="1" i="0">
                <a:solidFill>
                  <a:srgbClr val="FFFFFF"/>
                </a:solidFill>
                <a:latin typeface="Calibri"/>
              </a:rPr>
              <a:t>Cierre</a:t>
            </a:r>
          </a:p>
        </p:txBody>
      </p:sp>
      <p:sp>
        <p:nvSpPr>
          <p:cNvPr id="6" name="TextBox 5"/>
          <p:cNvSpPr txBox="1"/>
          <p:nvPr/>
        </p:nvSpPr>
        <p:spPr>
          <a:xfrm>
            <a:off x="502920" y="1280160"/>
            <a:ext cx="11185855" cy="1885950"/>
          </a:xfrm>
          <a:prstGeom prst="rect">
            <a:avLst/>
          </a:prstGeom>
          <a:noFill/>
        </p:spPr>
        <p:txBody>
          <a:bodyPr wrap="square" anchor="t" lIns="0" rIns="0" tIns="0" bIns="0">
            <a:spAutoFit/>
          </a:bodyPr>
          <a:lstStyle/>
          <a:p>
            <a:pPr>
              <a:spcAft>
                <a:spcPts val="600"/>
              </a:spcAft>
            </a:pPr>
            <a:r>
              <a:rPr sz="1400" b="1" i="0">
                <a:solidFill>
                  <a:srgbClr val="0D9488"/>
                </a:solidFill>
                <a:latin typeface="Calibri"/>
              </a:rPr>
              <a:t>■  </a:t>
            </a:r>
            <a:r>
              <a:rPr sz="1800" b="0" i="0">
                <a:solidFill>
                  <a:srgbClr val="1F2937"/>
                </a:solidFill>
                <a:latin typeface="Calibri"/>
              </a:rPr>
              <a:t>Una suite solo de casos positivos deja sin probar lo que el juego NO debe hacer</a:t>
            </a:r>
          </a:p>
          <a:p>
            <a:pPr>
              <a:spcAft>
                <a:spcPts val="600"/>
              </a:spcAft>
            </a:pPr>
            <a:r>
              <a:rPr sz="1400" b="1" i="0">
                <a:solidFill>
                  <a:srgbClr val="0D9488"/>
                </a:solidFill>
                <a:latin typeface="Calibri"/>
              </a:rPr>
              <a:t>■  </a:t>
            </a:r>
            <a:r>
              <a:rPr sz="1800" b="0" i="0">
                <a:solidFill>
                  <a:srgbClr val="1F2937"/>
                </a:solidFill>
                <a:latin typeface="Calibri"/>
              </a:rPr>
              <a:t>El borde en integración también es tiempo, cantidad, repetición y orden</a:t>
            </a:r>
          </a:p>
          <a:p>
            <a:pPr>
              <a:spcAft>
                <a:spcPts val="600"/>
              </a:spcAft>
            </a:pPr>
            <a:r>
              <a:rPr sz="1400" b="1" i="0">
                <a:solidFill>
                  <a:srgbClr val="0D9488"/>
                </a:solidFill>
                <a:latin typeface="Calibri"/>
              </a:rPr>
              <a:t>■  </a:t>
            </a:r>
            <a:r>
              <a:rPr sz="1800" b="0" i="0">
                <a:solidFill>
                  <a:srgbClr val="1F2937"/>
                </a:solidFill>
                <a:latin typeface="Calibri"/>
              </a:rPr>
              <a:t>Sin fixtures que limpien, los tests se contaminan entre sí y se vuelven frágiles</a:t>
            </a:r>
          </a:p>
          <a:p>
            <a:pPr>
              <a:spcAft>
                <a:spcPts val="600"/>
              </a:spcAft>
            </a:pPr>
            <a:r>
              <a:rPr sz="1400" b="1" i="0">
                <a:solidFill>
                  <a:srgbClr val="0D9488"/>
                </a:solidFill>
                <a:latin typeface="Calibri"/>
              </a:rPr>
              <a:t>■  </a:t>
            </a:r>
            <a:r>
              <a:rPr sz="1800" b="0" i="0">
                <a:solidFill>
                  <a:srgbClr val="1F2937"/>
                </a:solidFill>
                <a:latin typeface="Calibri"/>
              </a:rPr>
              <a:t>Un doble de prueba se usa para lo que no está bajo prueba, no para todo</a:t>
            </a:r>
          </a:p>
          <a:p>
            <a:pPr>
              <a:spcAft>
                <a:spcPts val="600"/>
              </a:spcAft>
            </a:pPr>
            <a:r>
              <a:rPr sz="1400" b="1" i="0">
                <a:solidFill>
                  <a:srgbClr val="0D9488"/>
                </a:solidFill>
                <a:latin typeface="Calibri"/>
              </a:rPr>
              <a:t>■  </a:t>
            </a:r>
            <a:r>
              <a:rPr sz="1800" b="0" i="0">
                <a:solidFill>
                  <a:srgbClr val="1F2937"/>
                </a:solidFill>
                <a:latin typeface="Calibri"/>
              </a:rPr>
              <a:t>La cobertura dice qué se ejecutó, no qué se verificó</a:t>
            </a:r>
          </a:p>
        </p:txBody>
      </p:sp>
      <p:sp>
        <p:nvSpPr>
          <p:cNvPr id="7" name="Rectangle 6"/>
          <p:cNvSpPr/>
          <p:nvPr/>
        </p:nvSpPr>
        <p:spPr>
          <a:xfrm>
            <a:off x="502920" y="5623560"/>
            <a:ext cx="11185855" cy="658368"/>
          </a:xfrm>
          <a:prstGeom prst="rect">
            <a:avLst/>
          </a:prstGeom>
          <a:solidFill>
            <a:srgbClr val="EAF2F1"/>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500" b="1" i="1">
                <a:solidFill>
                  <a:srgbClr val="1F2A44"/>
                </a:solidFill>
                <a:latin typeface="Calibri"/>
              </a:rPr>
              <a:t>✍ Actividad:  Ticket de salida: un caso negativo y un caso borde para un juego propio.</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25/27</a:t>
            </a:r>
          </a:p>
        </p:txBody>
      </p:sp>
    </p:spTree>
  </p:cSld>
  <p:clrMapOvr>
    <a:masterClrMapping/>
  </p:clrMapOvr>
</p:sld>
</file>

<file path=ppt/slides/slide26.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26</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REFERENCIA</a:t>
            </a:r>
          </a:p>
          <a:p>
            <a:r>
              <a:rPr sz="2600" b="1" i="0">
                <a:solidFill>
                  <a:srgbClr val="FFFFFF"/>
                </a:solidFill>
                <a:latin typeface="Calibri"/>
              </a:rPr>
              <a:t>Anexo · Catálogo de casos nuevos</a:t>
            </a:r>
          </a:p>
        </p:txBody>
      </p:sp>
      <p:graphicFrame>
        <p:nvGraphicFramePr>
          <p:cNvPr id="6" name="Table 5"/>
          <p:cNvGraphicFramePr>
            <a:graphicFrameLocks noGrp="1"/>
          </p:cNvGraphicFramePr>
          <p:nvPr/>
        </p:nvGraphicFramePr>
        <p:xfrm>
          <a:off x="502920" y="1280160"/>
          <a:ext cx="11185853" cy="3291840"/>
        </p:xfrm>
        <a:graphic>
          <a:graphicData uri="http://schemas.openxmlformats.org/drawingml/2006/table">
            <a:tbl>
              <a:tblPr firstRow="1" bandRow="1">
                <a:tableStyleId>{5C22544A-7EE6-4342-B048-85BDC9FD1C3A}</a:tableStyleId>
              </a:tblPr>
              <a:tblGrid>
                <a:gridCol w="1423654"/>
                <a:gridCol w="5897996"/>
                <a:gridCol w="2033791"/>
                <a:gridCol w="1830412"/>
              </a:tblGrid>
              <a:tr h="329184">
                <a:tc>
                  <a:txBody>
                    <a:bodyPr/>
                    <a:lstStyle/>
                    <a:p>
                      <a:r>
                        <a:rPr sz="1300" b="1" i="0">
                          <a:solidFill>
                            <a:srgbClr val="FFFFFF"/>
                          </a:solidFill>
                          <a:latin typeface="Calibri"/>
                        </a:rPr>
                        <a:t>ID</a:t>
                      </a:r>
                    </a:p>
                  </a:txBody>
                  <a:tcPr>
                    <a:solidFill>
                      <a:srgbClr val="1F2A44"/>
                    </a:solidFill>
                  </a:tcPr>
                </a:tc>
                <a:tc>
                  <a:txBody>
                    <a:bodyPr/>
                    <a:lstStyle/>
                    <a:p>
                      <a:r>
                        <a:rPr sz="1300" b="1" i="0">
                          <a:solidFill>
                            <a:srgbClr val="FFFFFF"/>
                          </a:solidFill>
                          <a:latin typeface="Calibri"/>
                        </a:rPr>
                        <a:t>Caso</a:t>
                      </a:r>
                    </a:p>
                  </a:txBody>
                  <a:tcPr>
                    <a:solidFill>
                      <a:srgbClr val="1F2A44"/>
                    </a:solidFill>
                  </a:tcPr>
                </a:tc>
                <a:tc>
                  <a:txBody>
                    <a:bodyPr/>
                    <a:lstStyle/>
                    <a:p>
                      <a:r>
                        <a:rPr sz="1300" b="1" i="0">
                          <a:solidFill>
                            <a:srgbClr val="FFFFFF"/>
                          </a:solidFill>
                          <a:latin typeface="Calibri"/>
                        </a:rPr>
                        <a:t>Tipo</a:t>
                      </a:r>
                    </a:p>
                  </a:txBody>
                  <a:tcPr>
                    <a:solidFill>
                      <a:srgbClr val="1F2A44"/>
                    </a:solidFill>
                  </a:tcPr>
                </a:tc>
                <a:tc>
                  <a:txBody>
                    <a:bodyPr/>
                    <a:lstStyle/>
                    <a:p>
                      <a:r>
                        <a:rPr sz="1300" b="1" i="0">
                          <a:solidFill>
                            <a:srgbClr val="FFFFFF"/>
                          </a:solidFill>
                          <a:latin typeface="Calibri"/>
                        </a:rPr>
                        <a:t>Estado</a:t>
                      </a:r>
                    </a:p>
                  </a:txBody>
                  <a:tcPr>
                    <a:solidFill>
                      <a:srgbClr val="1F2A44"/>
                    </a:solidFill>
                  </a:tcPr>
                </a:tc>
              </a:tr>
              <a:tr h="329184">
                <a:tc>
                  <a:txBody>
                    <a:bodyPr/>
                    <a:lstStyle/>
                    <a:p>
                      <a:r>
                        <a:rPr sz="1200" b="1" i="0">
                          <a:solidFill>
                            <a:srgbClr val="1F2937"/>
                          </a:solidFill>
                          <a:latin typeface="Calibri"/>
                        </a:rPr>
                        <a:t>INT-AST-08</a:t>
                      </a:r>
                    </a:p>
                  </a:txBody>
                  <a:tcPr marT="36576" marB="36576">
                    <a:solidFill>
                      <a:srgbClr val="FFFFFF"/>
                    </a:solidFill>
                  </a:tcPr>
                </a:tc>
                <a:tc>
                  <a:txBody>
                    <a:bodyPr/>
                    <a:lstStyle/>
                    <a:p>
                      <a:r>
                        <a:rPr sz="1200" b="0" i="0">
                          <a:solidFill>
                            <a:srgbClr val="1F2937"/>
                          </a:solidFill>
                          <a:latin typeface="Calibri"/>
                        </a:rPr>
                        <a:t>Reinicio completo tras un Game Over real</a:t>
                      </a:r>
                    </a:p>
                  </a:txBody>
                  <a:tcPr marT="36576" marB="36576">
                    <a:solidFill>
                      <a:srgbClr val="FFFFFF"/>
                    </a:solidFill>
                  </a:tcPr>
                </a:tc>
                <a:tc>
                  <a:txBody>
                    <a:bodyPr/>
                    <a:lstStyle/>
                    <a:p>
                      <a:r>
                        <a:rPr sz="1200" b="0" i="0">
                          <a:solidFill>
                            <a:srgbClr val="1F2937"/>
                          </a:solidFill>
                          <a:latin typeface="Calibri"/>
                        </a:rPr>
                        <a:t>Positivo · flujo</a:t>
                      </a:r>
                    </a:p>
                  </a:txBody>
                  <a:tcPr marT="36576" marB="36576">
                    <a:solidFill>
                      <a:srgbClr val="FFFFFF"/>
                    </a:solidFill>
                  </a:tcPr>
                </a:tc>
                <a:tc>
                  <a:txBody>
                    <a:bodyPr/>
                    <a:lstStyle/>
                    <a:p>
                      <a:r>
                        <a:rPr sz="1200" b="0" i="0">
                          <a:solidFill>
                            <a:srgbClr val="1F2937"/>
                          </a:solidFill>
                          <a:latin typeface="Calibri"/>
                        </a:rPr>
                        <a:t>PROPUESTA</a:t>
                      </a:r>
                    </a:p>
                  </a:txBody>
                  <a:tcPr marT="36576" marB="36576">
                    <a:solidFill>
                      <a:srgbClr val="FFFFFF"/>
                    </a:solidFill>
                  </a:tcPr>
                </a:tc>
              </a:tr>
              <a:tr h="329184">
                <a:tc>
                  <a:txBody>
                    <a:bodyPr/>
                    <a:lstStyle/>
                    <a:p>
                      <a:r>
                        <a:rPr sz="1200" b="1" i="0">
                          <a:solidFill>
                            <a:srgbClr val="1F2937"/>
                          </a:solidFill>
                          <a:latin typeface="Calibri"/>
                        </a:rPr>
                        <a:t>INT-AST-09</a:t>
                      </a:r>
                    </a:p>
                  </a:txBody>
                  <a:tcPr marT="36576" marB="36576">
                    <a:solidFill>
                      <a:srgbClr val="F3F4F6"/>
                    </a:solidFill>
                  </a:tcPr>
                </a:tc>
                <a:tc>
                  <a:txBody>
                    <a:bodyPr/>
                    <a:lstStyle/>
                    <a:p>
                      <a:r>
                        <a:rPr sz="1200" b="0" i="0">
                          <a:solidFill>
                            <a:srgbClr val="1F2937"/>
                          </a:solidFill>
                          <a:latin typeface="Calibri"/>
                        </a:rPr>
                        <a:t>El HUD muestra el puntaje</a:t>
                      </a:r>
                    </a:p>
                  </a:txBody>
                  <a:tcPr marT="36576" marB="36576">
                    <a:solidFill>
                      <a:srgbClr val="F3F4F6"/>
                    </a:solidFill>
                  </a:tcPr>
                </a:tc>
                <a:tc>
                  <a:txBody>
                    <a:bodyPr/>
                    <a:lstStyle/>
                    <a:p>
                      <a:r>
                        <a:rPr sz="1200" b="0" i="0">
                          <a:solidFill>
                            <a:srgbClr val="1F2937"/>
                          </a:solidFill>
                          <a:latin typeface="Calibri"/>
                        </a:rPr>
                        <a:t>Positivo · regresión</a:t>
                      </a:r>
                    </a:p>
                  </a:txBody>
                  <a:tcPr marT="36576" marB="36576">
                    <a:solidFill>
                      <a:srgbClr val="F3F4F6"/>
                    </a:solidFill>
                  </a:tcPr>
                </a:tc>
                <a:tc>
                  <a:txBody>
                    <a:bodyPr/>
                    <a:lstStyle/>
                    <a:p>
                      <a:r>
                        <a:rPr sz="1200" b="0" i="0">
                          <a:solidFill>
                            <a:srgbClr val="1F2937"/>
                          </a:solidFill>
                          <a:latin typeface="Calibri"/>
                        </a:rPr>
                        <a:t>PROPUESTA</a:t>
                      </a:r>
                    </a:p>
                  </a:txBody>
                  <a:tcPr marT="36576" marB="36576">
                    <a:solidFill>
                      <a:srgbClr val="F3F4F6"/>
                    </a:solidFill>
                  </a:tcPr>
                </a:tc>
              </a:tr>
              <a:tr h="329184">
                <a:tc>
                  <a:txBody>
                    <a:bodyPr/>
                    <a:lstStyle/>
                    <a:p>
                      <a:r>
                        <a:rPr sz="1200" b="1" i="0">
                          <a:solidFill>
                            <a:srgbClr val="1F2937"/>
                          </a:solidFill>
                          <a:latin typeface="Calibri"/>
                        </a:rPr>
                        <a:t>INT-AST-10</a:t>
                      </a:r>
                    </a:p>
                  </a:txBody>
                  <a:tcPr marT="36576" marB="36576">
                    <a:solidFill>
                      <a:srgbClr val="FFFFFF"/>
                    </a:solidFill>
                  </a:tcPr>
                </a:tc>
                <a:tc>
                  <a:txBody>
                    <a:bodyPr/>
                    <a:lstStyle/>
                    <a:p>
                      <a:r>
                        <a:rPr sz="1200" b="0" i="0">
                          <a:solidFill>
                            <a:srgbClr val="1F2937"/>
                          </a:solidFill>
                          <a:latin typeface="Calibri"/>
                        </a:rPr>
                        <a:t>Láser contra un objeto que no es asteroide</a:t>
                      </a:r>
                    </a:p>
                  </a:txBody>
                  <a:tcPr marT="36576" marB="36576">
                    <a:solidFill>
                      <a:srgbClr val="FFFFFF"/>
                    </a:solidFill>
                  </a:tcPr>
                </a:tc>
                <a:tc>
                  <a:txBody>
                    <a:bodyPr/>
                    <a:lstStyle/>
                    <a:p>
                      <a:r>
                        <a:rPr sz="1200" b="0" i="0">
                          <a:solidFill>
                            <a:srgbClr val="1F2937"/>
                          </a:solidFill>
                          <a:latin typeface="Calibri"/>
                        </a:rPr>
                        <a:t>Negativo</a:t>
                      </a:r>
                    </a:p>
                  </a:txBody>
                  <a:tcPr marT="36576" marB="36576">
                    <a:solidFill>
                      <a:srgbClr val="FFFFFF"/>
                    </a:solidFill>
                  </a:tcPr>
                </a:tc>
                <a:tc>
                  <a:txBody>
                    <a:bodyPr/>
                    <a:lstStyle/>
                    <a:p>
                      <a:r>
                        <a:rPr sz="1200" b="0" i="0">
                          <a:solidFill>
                            <a:srgbClr val="1F2937"/>
                          </a:solidFill>
                          <a:latin typeface="Calibri"/>
                        </a:rPr>
                        <a:t>PROPUESTA</a:t>
                      </a:r>
                    </a:p>
                  </a:txBody>
                  <a:tcPr marT="36576" marB="36576">
                    <a:solidFill>
                      <a:srgbClr val="FFFFFF"/>
                    </a:solidFill>
                  </a:tcPr>
                </a:tc>
              </a:tr>
              <a:tr h="329184">
                <a:tc>
                  <a:txBody>
                    <a:bodyPr/>
                    <a:lstStyle/>
                    <a:p>
                      <a:r>
                        <a:rPr sz="1200" b="1" i="0">
                          <a:solidFill>
                            <a:srgbClr val="1F2937"/>
                          </a:solidFill>
                          <a:latin typeface="Calibri"/>
                        </a:rPr>
                        <a:t>INT-AST-11</a:t>
                      </a:r>
                    </a:p>
                  </a:txBody>
                  <a:tcPr marT="36576" marB="36576">
                    <a:solidFill>
                      <a:srgbClr val="F3F4F6"/>
                    </a:solidFill>
                  </a:tcPr>
                </a:tc>
                <a:tc>
                  <a:txBody>
                    <a:bodyPr/>
                    <a:lstStyle/>
                    <a:p>
                      <a:r>
                        <a:rPr sz="1200" b="0" i="0">
                          <a:solidFill>
                            <a:srgbClr val="1F2937"/>
                          </a:solidFill>
                          <a:latin typeface="Calibri"/>
                        </a:rPr>
                        <a:t>Choque entre asteroides no da Game Over</a:t>
                      </a:r>
                    </a:p>
                  </a:txBody>
                  <a:tcPr marT="36576" marB="36576">
                    <a:solidFill>
                      <a:srgbClr val="F3F4F6"/>
                    </a:solidFill>
                  </a:tcPr>
                </a:tc>
                <a:tc>
                  <a:txBody>
                    <a:bodyPr/>
                    <a:lstStyle/>
                    <a:p>
                      <a:r>
                        <a:rPr sz="1200" b="0" i="0">
                          <a:solidFill>
                            <a:srgbClr val="1F2937"/>
                          </a:solidFill>
                          <a:latin typeface="Calibri"/>
                        </a:rPr>
                        <a:t>Negativo</a:t>
                      </a:r>
                    </a:p>
                  </a:txBody>
                  <a:tcPr marT="36576" marB="36576">
                    <a:solidFill>
                      <a:srgbClr val="F3F4F6"/>
                    </a:solidFill>
                  </a:tcPr>
                </a:tc>
                <a:tc>
                  <a:txBody>
                    <a:bodyPr/>
                    <a:lstStyle/>
                    <a:p>
                      <a:r>
                        <a:rPr sz="1200" b="0" i="0">
                          <a:solidFill>
                            <a:srgbClr val="1F2937"/>
                          </a:solidFill>
                          <a:latin typeface="Calibri"/>
                        </a:rPr>
                        <a:t>PROPUESTA</a:t>
                      </a:r>
                    </a:p>
                  </a:txBody>
                  <a:tcPr marT="36576" marB="36576">
                    <a:solidFill>
                      <a:srgbClr val="F3F4F6"/>
                    </a:solidFill>
                  </a:tcPr>
                </a:tc>
              </a:tr>
              <a:tr h="329184">
                <a:tc>
                  <a:txBody>
                    <a:bodyPr/>
                    <a:lstStyle/>
                    <a:p>
                      <a:r>
                        <a:rPr sz="1200" b="1" i="0">
                          <a:solidFill>
                            <a:srgbClr val="1F2937"/>
                          </a:solidFill>
                          <a:latin typeface="Calibri"/>
                        </a:rPr>
                        <a:t>INT-AST-12</a:t>
                      </a:r>
                    </a:p>
                  </a:txBody>
                  <a:tcPr marT="36576" marB="36576">
                    <a:solidFill>
                      <a:srgbClr val="FFFFFF"/>
                    </a:solidFill>
                  </a:tcPr>
                </a:tc>
                <a:tc>
                  <a:txBody>
                    <a:bodyPr/>
                    <a:lstStyle/>
                    <a:p>
                      <a:r>
                        <a:rPr sz="1200" b="0" i="0">
                          <a:solidFill>
                            <a:srgbClr val="1F2937"/>
                          </a:solidFill>
                          <a:latin typeface="Calibri"/>
                        </a:rPr>
                        <a:t>Asteroide que cruza y = −5</a:t>
                      </a:r>
                    </a:p>
                  </a:txBody>
                  <a:tcPr marT="36576" marB="36576">
                    <a:solidFill>
                      <a:srgbClr val="FFFFFF"/>
                    </a:solidFill>
                  </a:tcPr>
                </a:tc>
                <a:tc>
                  <a:txBody>
                    <a:bodyPr/>
                    <a:lstStyle/>
                    <a:p>
                      <a:r>
                        <a:rPr sz="1200" b="0" i="0">
                          <a:solidFill>
                            <a:srgbClr val="1F2937"/>
                          </a:solidFill>
                          <a:latin typeface="Calibri"/>
                        </a:rPr>
                        <a:t>Borde · valor</a:t>
                      </a:r>
                    </a:p>
                  </a:txBody>
                  <a:tcPr marT="36576" marB="36576">
                    <a:solidFill>
                      <a:srgbClr val="FFFFFF"/>
                    </a:solidFill>
                  </a:tcPr>
                </a:tc>
                <a:tc>
                  <a:txBody>
                    <a:bodyPr/>
                    <a:lstStyle/>
                    <a:p>
                      <a:r>
                        <a:rPr sz="1200" b="0" i="0">
                          <a:solidFill>
                            <a:srgbClr val="1F2937"/>
                          </a:solidFill>
                          <a:latin typeface="Calibri"/>
                        </a:rPr>
                        <a:t>PROPUESTA</a:t>
                      </a:r>
                    </a:p>
                  </a:txBody>
                  <a:tcPr marT="36576" marB="36576">
                    <a:solidFill>
                      <a:srgbClr val="FFFFFF"/>
                    </a:solidFill>
                  </a:tcPr>
                </a:tc>
              </a:tr>
              <a:tr h="329184">
                <a:tc>
                  <a:txBody>
                    <a:bodyPr/>
                    <a:lstStyle/>
                    <a:p>
                      <a:r>
                        <a:rPr sz="1200" b="1" i="0">
                          <a:solidFill>
                            <a:srgbClr val="1F2937"/>
                          </a:solidFill>
                          <a:latin typeface="Calibri"/>
                        </a:rPr>
                        <a:t>INT-AST-13</a:t>
                      </a:r>
                    </a:p>
                  </a:txBody>
                  <a:tcPr marT="36576" marB="36576">
                    <a:solidFill>
                      <a:srgbClr val="F3F4F6"/>
                    </a:solidFill>
                  </a:tcPr>
                </a:tc>
                <a:tc>
                  <a:txBody>
                    <a:bodyPr/>
                    <a:lstStyle/>
                    <a:p>
                      <a:r>
                        <a:rPr sz="1200" b="0" i="0">
                          <a:solidFill>
                            <a:srgbClr val="1F2937"/>
                          </a:solidFill>
                          <a:latin typeface="Calibri"/>
                        </a:rPr>
                        <a:t>Dos láseres contra el mismo asteroide</a:t>
                      </a:r>
                    </a:p>
                  </a:txBody>
                  <a:tcPr marT="36576" marB="36576">
                    <a:solidFill>
                      <a:srgbClr val="F3F4F6"/>
                    </a:solidFill>
                  </a:tcPr>
                </a:tc>
                <a:tc>
                  <a:txBody>
                    <a:bodyPr/>
                    <a:lstStyle/>
                    <a:p>
                      <a:r>
                        <a:rPr sz="1200" b="0" i="0">
                          <a:solidFill>
                            <a:srgbClr val="1F2937"/>
                          </a:solidFill>
                          <a:latin typeface="Calibri"/>
                        </a:rPr>
                        <a:t>Borde · simultaneidad</a:t>
                      </a:r>
                    </a:p>
                  </a:txBody>
                  <a:tcPr marT="36576" marB="36576">
                    <a:solidFill>
                      <a:srgbClr val="F3F4F6"/>
                    </a:solidFill>
                  </a:tcPr>
                </a:tc>
                <a:tc>
                  <a:txBody>
                    <a:bodyPr/>
                    <a:lstStyle/>
                    <a:p>
                      <a:r>
                        <a:rPr sz="1200" b="0" i="0">
                          <a:solidFill>
                            <a:srgbClr val="1F2937"/>
                          </a:solidFill>
                          <a:latin typeface="Calibri"/>
                        </a:rPr>
                        <a:t>EJECUTADO · FAIL</a:t>
                      </a:r>
                    </a:p>
                  </a:txBody>
                  <a:tcPr marT="36576" marB="36576">
                    <a:solidFill>
                      <a:srgbClr val="F3F4F6"/>
                    </a:solidFill>
                  </a:tcPr>
                </a:tc>
              </a:tr>
              <a:tr h="329184">
                <a:tc>
                  <a:txBody>
                    <a:bodyPr/>
                    <a:lstStyle/>
                    <a:p>
                      <a:r>
                        <a:rPr sz="1200" b="1" i="0">
                          <a:solidFill>
                            <a:srgbClr val="1F2937"/>
                          </a:solidFill>
                          <a:latin typeface="Calibri"/>
                        </a:rPr>
                        <a:t>INT-AST-14</a:t>
                      </a:r>
                    </a:p>
                  </a:txBody>
                  <a:tcPr marT="36576" marB="36576">
                    <a:solidFill>
                      <a:srgbClr val="FFFFFF"/>
                    </a:solidFill>
                  </a:tcPr>
                </a:tc>
                <a:tc>
                  <a:txBody>
                    <a:bodyPr/>
                    <a:lstStyle/>
                    <a:p>
                      <a:r>
                        <a:rPr sz="1200" b="0" i="0">
                          <a:solidFill>
                            <a:srgbClr val="1F2937"/>
                          </a:solidFill>
                          <a:latin typeface="Calibri"/>
                        </a:rPr>
                        <a:t>NewGame elimina los asteroides previos</a:t>
                      </a:r>
                    </a:p>
                  </a:txBody>
                  <a:tcPr marT="36576" marB="36576">
                    <a:solidFill>
                      <a:srgbClr val="FFFFFF"/>
                    </a:solidFill>
                  </a:tcPr>
                </a:tc>
                <a:tc>
                  <a:txBody>
                    <a:bodyPr/>
                    <a:lstStyle/>
                    <a:p>
                      <a:r>
                        <a:rPr sz="1200" b="0" i="0">
                          <a:solidFill>
                            <a:srgbClr val="1F2937"/>
                          </a:solidFill>
                          <a:latin typeface="Calibri"/>
                        </a:rPr>
                        <a:t>Regresión</a:t>
                      </a:r>
                    </a:p>
                  </a:txBody>
                  <a:tcPr marT="36576" marB="36576">
                    <a:solidFill>
                      <a:srgbClr val="FFFFFF"/>
                    </a:solidFill>
                  </a:tcPr>
                </a:tc>
                <a:tc>
                  <a:txBody>
                    <a:bodyPr/>
                    <a:lstStyle/>
                    <a:p>
                      <a:r>
                        <a:rPr sz="1200" b="0" i="0">
                          <a:solidFill>
                            <a:srgbClr val="1F2937"/>
                          </a:solidFill>
                          <a:latin typeface="Calibri"/>
                        </a:rPr>
                        <a:t>EJECUTADO · FAIL</a:t>
                      </a:r>
                    </a:p>
                  </a:txBody>
                  <a:tcPr marT="36576" marB="36576">
                    <a:solidFill>
                      <a:srgbClr val="FFFFFF"/>
                    </a:solidFill>
                  </a:tcPr>
                </a:tc>
              </a:tr>
              <a:tr h="329184">
                <a:tc>
                  <a:txBody>
                    <a:bodyPr/>
                    <a:lstStyle/>
                    <a:p>
                      <a:r>
                        <a:rPr sz="1200" b="1" i="0">
                          <a:solidFill>
                            <a:srgbClr val="1F2937"/>
                          </a:solidFill>
                          <a:latin typeface="Calibri"/>
                        </a:rPr>
                        <a:t>INT-AST-15</a:t>
                      </a:r>
                    </a:p>
                  </a:txBody>
                  <a:tcPr marT="36576" marB="36576">
                    <a:solidFill>
                      <a:srgbClr val="F3F4F6"/>
                    </a:solidFill>
                  </a:tcPr>
                </a:tc>
                <a:tc>
                  <a:txBody>
                    <a:bodyPr/>
                    <a:lstStyle/>
                    <a:p>
                      <a:r>
                        <a:rPr sz="1200" b="0" i="0">
                          <a:solidFill>
                            <a:srgbClr val="1F2937"/>
                          </a:solidFill>
                          <a:latin typeface="Calibri"/>
                        </a:rPr>
                        <a:t>NewGame dos veces seguidas</a:t>
                      </a:r>
                    </a:p>
                  </a:txBody>
                  <a:tcPr marT="36576" marB="36576">
                    <a:solidFill>
                      <a:srgbClr val="F3F4F6"/>
                    </a:solidFill>
                  </a:tcPr>
                </a:tc>
                <a:tc>
                  <a:txBody>
                    <a:bodyPr/>
                    <a:lstStyle/>
                    <a:p>
                      <a:r>
                        <a:rPr sz="1200" b="0" i="0">
                          <a:solidFill>
                            <a:srgbClr val="1F2937"/>
                          </a:solidFill>
                          <a:latin typeface="Calibri"/>
                        </a:rPr>
                        <a:t>Borde · repetición</a:t>
                      </a:r>
                    </a:p>
                  </a:txBody>
                  <a:tcPr marT="36576" marB="36576">
                    <a:solidFill>
                      <a:srgbClr val="F3F4F6"/>
                    </a:solidFill>
                  </a:tcPr>
                </a:tc>
                <a:tc>
                  <a:txBody>
                    <a:bodyPr/>
                    <a:lstStyle/>
                    <a:p>
                      <a:r>
                        <a:rPr sz="1200" b="0" i="0">
                          <a:solidFill>
                            <a:srgbClr val="1F2937"/>
                          </a:solidFill>
                          <a:latin typeface="Calibri"/>
                        </a:rPr>
                        <a:t>EJECUTADO · FAIL</a:t>
                      </a:r>
                    </a:p>
                  </a:txBody>
                  <a:tcPr marT="36576" marB="36576">
                    <a:solidFill>
                      <a:srgbClr val="F3F4F6"/>
                    </a:solidFill>
                  </a:tcPr>
                </a:tc>
              </a:tr>
              <a:tr h="329184">
                <a:tc>
                  <a:txBody>
                    <a:bodyPr/>
                    <a:lstStyle/>
                    <a:p>
                      <a:r>
                        <a:rPr sz="1200" b="1" i="0">
                          <a:solidFill>
                            <a:srgbClr val="1F2937"/>
                          </a:solidFill>
                          <a:latin typeface="Calibri"/>
                        </a:rPr>
                        <a:t>INT-AST-16</a:t>
                      </a:r>
                    </a:p>
                  </a:txBody>
                  <a:tcPr marT="36576" marB="36576">
                    <a:solidFill>
                      <a:srgbClr val="FFFFFF"/>
                    </a:solidFill>
                  </a:tcPr>
                </a:tc>
                <a:tc>
                  <a:txBody>
                    <a:bodyPr/>
                    <a:lstStyle/>
                    <a:p>
                      <a:r>
                        <a:rPr sz="1200" b="0" i="0">
                          <a:solidFill>
                            <a:srgbClr val="1F2937"/>
                          </a:solidFill>
                          <a:latin typeface="Calibri"/>
                        </a:rPr>
                        <a:t>Cooldown de disparo con tecla mantenida</a:t>
                      </a:r>
                    </a:p>
                  </a:txBody>
                  <a:tcPr marT="36576" marB="36576">
                    <a:solidFill>
                      <a:srgbClr val="FFFFFF"/>
                    </a:solidFill>
                  </a:tcPr>
                </a:tc>
                <a:tc>
                  <a:txBody>
                    <a:bodyPr/>
                    <a:lstStyle/>
                    <a:p>
                      <a:r>
                        <a:rPr sz="1200" b="0" i="0">
                          <a:solidFill>
                            <a:srgbClr val="1F2937"/>
                          </a:solidFill>
                          <a:latin typeface="Calibri"/>
                        </a:rPr>
                        <a:t>Dependencia de entrada</a:t>
                      </a:r>
                    </a:p>
                  </a:txBody>
                  <a:tcPr marT="36576" marB="36576">
                    <a:solidFill>
                      <a:srgbClr val="FFFFFF"/>
                    </a:solidFill>
                  </a:tcPr>
                </a:tc>
                <a:tc>
                  <a:txBody>
                    <a:bodyPr/>
                    <a:lstStyle/>
                    <a:p>
                      <a:r>
                        <a:rPr sz="1200" b="0" i="0">
                          <a:solidFill>
                            <a:srgbClr val="1F2937"/>
                          </a:solidFill>
                          <a:latin typeface="Calibri"/>
                        </a:rPr>
                        <a:t>PROPUESTA (refactor)</a:t>
                      </a:r>
                    </a:p>
                  </a:txBody>
                  <a:tcPr marT="36576" marB="36576">
                    <a:solidFill>
                      <a:srgbClr val="FFFFFF"/>
                    </a:solidFill>
                  </a:tcPr>
                </a:tc>
              </a:tr>
            </a:tbl>
          </a:graphicData>
        </a:graphic>
      </p:graphicFrame>
      <p:sp>
        <p:nvSpPr>
          <p:cNvPr id="7" name="Rectangle 6"/>
          <p:cNvSpPr/>
          <p:nvPr/>
        </p:nvSpPr>
        <p:spPr>
          <a:xfrm>
            <a:off x="502920" y="5623560"/>
            <a:ext cx="11185855" cy="658368"/>
          </a:xfrm>
          <a:prstGeom prst="rect">
            <a:avLst/>
          </a:prstGeom>
          <a:solidFill>
            <a:srgbClr val="F3F4F6"/>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5623560"/>
            <a:ext cx="10820095" cy="658368"/>
          </a:xfrm>
          <a:prstGeom prst="rect">
            <a:avLst/>
          </a:prstGeom>
          <a:noFill/>
        </p:spPr>
        <p:txBody>
          <a:bodyPr wrap="square" anchor="ctr" lIns="0" rIns="0" tIns="0" bIns="0">
            <a:spAutoFit/>
          </a:bodyPr>
          <a:lstStyle/>
          <a:p>
            <a:r>
              <a:rPr sz="1400" b="1" i="1">
                <a:solidFill>
                  <a:srgbClr val="6B7280"/>
                </a:solidFill>
                <a:latin typeface="Calibri"/>
              </a:rPr>
              <a:t>ℹ  PROPUESTA: todavía no existe en el proyecto. EJECUTADO: en Assets/Tests/IntegrationHypothesesTests.cs (batchmode, 28/09/2026).</a:t>
            </a:r>
          </a:p>
        </p:txBody>
      </p:sp>
      <p:sp>
        <p:nvSpPr>
          <p:cNvPr id="9" name="TextBox 8"/>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0" name="TextBox 9"/>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26/27</a:t>
            </a:r>
          </a:p>
        </p:txBody>
      </p:sp>
    </p:spTree>
  </p:cSld>
  <p:clrMapOvr>
    <a:masterClrMapping/>
  </p:clrMapOvr>
</p:sld>
</file>

<file path=ppt/slides/slide27.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Rectangle 1"/>
          <p:cNvSpPr/>
          <p:nvPr/>
        </p:nvSpPr>
        <p:spPr>
          <a:xfrm>
            <a:off x="0" y="0"/>
            <a:ext cx="12191695" cy="960120"/>
          </a:xfrm>
          <a:prstGeom prst="rect">
            <a:avLst/>
          </a:prstGeom>
          <a:solidFill>
            <a:srgbClr val="1F2A44"/>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Rectangle 2"/>
          <p:cNvSpPr/>
          <p:nvPr/>
        </p:nvSpPr>
        <p:spPr>
          <a:xfrm>
            <a:off x="0" y="960120"/>
            <a:ext cx="12191695" cy="381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Oval 3"/>
          <p:cNvSpPr/>
          <p:nvPr/>
        </p:nvSpPr>
        <p:spPr>
          <a:xfrm>
            <a:off x="274320" y="219456"/>
            <a:ext cx="530352" cy="530352"/>
          </a:xfrm>
          <a:prstGeom prst="ellipse">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1800" b="1" i="0">
                <a:solidFill>
                  <a:srgbClr val="FFFFFF"/>
                </a:solidFill>
                <a:latin typeface="Calibri"/>
              </a:rPr>
              <a:t>27</a:t>
            </a:r>
          </a:p>
        </p:txBody>
      </p:sp>
      <p:sp>
        <p:nvSpPr>
          <p:cNvPr id="5" name="TextBox 4"/>
          <p:cNvSpPr txBox="1"/>
          <p:nvPr/>
        </p:nvSpPr>
        <p:spPr>
          <a:xfrm>
            <a:off x="960120" y="109728"/>
            <a:ext cx="8869680" cy="777240"/>
          </a:xfrm>
          <a:prstGeom prst="rect">
            <a:avLst/>
          </a:prstGeom>
          <a:noFill/>
        </p:spPr>
        <p:txBody>
          <a:bodyPr wrap="square" anchor="ctr" lIns="0" rIns="0" tIns="0" bIns="0">
            <a:spAutoFit/>
          </a:bodyPr>
          <a:lstStyle/>
          <a:p>
            <a:r>
              <a:rPr sz="1100" b="1" i="0">
                <a:solidFill>
                  <a:srgbClr val="9CC9C5"/>
                </a:solidFill>
                <a:latin typeface="Calibri"/>
              </a:rPr>
              <a:t>CONTENIDO RESERVADO</a:t>
            </a:r>
          </a:p>
          <a:p>
            <a:r>
              <a:rPr sz="2600" b="1" i="0">
                <a:solidFill>
                  <a:srgbClr val="FFFFFF"/>
                </a:solidFill>
                <a:latin typeface="Calibri"/>
              </a:rPr>
              <a:t>Anexo · Para una clase futura</a:t>
            </a:r>
          </a:p>
        </p:txBody>
      </p:sp>
      <p:sp>
        <p:nvSpPr>
          <p:cNvPr id="6" name="Rectangle 5"/>
          <p:cNvSpPr/>
          <p:nvPr/>
        </p:nvSpPr>
        <p:spPr>
          <a:xfrm>
            <a:off x="502920" y="1280160"/>
            <a:ext cx="5432907" cy="457200"/>
          </a:xfrm>
          <a:prstGeom prst="rect">
            <a:avLst/>
          </a:prstGeom>
          <a:solidFill>
            <a:srgbClr val="33416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02920" y="1280160"/>
            <a:ext cx="5432907" cy="457200"/>
          </a:xfrm>
          <a:prstGeom prst="rect">
            <a:avLst/>
          </a:prstGeom>
          <a:noFill/>
        </p:spPr>
        <p:txBody>
          <a:bodyPr wrap="square" anchor="ctr" lIns="0" rIns="0" tIns="0" bIns="0">
            <a:spAutoFit/>
          </a:bodyPr>
          <a:lstStyle/>
          <a:p>
            <a:pPr algn="ctr"/>
            <a:r>
              <a:rPr sz="1600" b="1" i="0">
                <a:solidFill>
                  <a:srgbClr val="FFFFFF"/>
                </a:solidFill>
                <a:latin typeface="Calibri"/>
              </a:rPr>
              <a:t>Técnicas</a:t>
            </a:r>
          </a:p>
        </p:txBody>
      </p:sp>
      <p:sp>
        <p:nvSpPr>
          <p:cNvPr id="8" name="TextBox 7"/>
          <p:cNvSpPr txBox="1"/>
          <p:nvPr/>
        </p:nvSpPr>
        <p:spPr>
          <a:xfrm>
            <a:off x="502920" y="1874520"/>
            <a:ext cx="5432907" cy="2032635"/>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Integración con sistemas externos: guardado del récord, tabla online</a:t>
            </a:r>
          </a:p>
          <a:p>
            <a:pPr>
              <a:spcAft>
                <a:spcPts val="600"/>
              </a:spcAft>
            </a:pPr>
            <a:r>
              <a:rPr sz="1100" b="1" i="0">
                <a:solidFill>
                  <a:srgbClr val="0D9488"/>
                </a:solidFill>
                <a:latin typeface="Calibri"/>
              </a:rPr>
              <a:t>■  </a:t>
            </a:r>
            <a:r>
              <a:rPr sz="1500" b="0" i="0">
                <a:solidFill>
                  <a:srgbClr val="1F2937"/>
                </a:solidFill>
                <a:latin typeface="Calibri"/>
              </a:rPr>
              <a:t>Input System + InputTestFixture para simular teclado y táctil</a:t>
            </a:r>
          </a:p>
          <a:p>
            <a:pPr>
              <a:spcAft>
                <a:spcPts val="600"/>
              </a:spcAft>
            </a:pPr>
            <a:r>
              <a:rPr sz="1100" b="1" i="0">
                <a:solidFill>
                  <a:srgbClr val="0D9488"/>
                </a:solidFill>
                <a:latin typeface="Calibri"/>
              </a:rPr>
              <a:t>■  </a:t>
            </a:r>
            <a:r>
              <a:rPr sz="1500" b="0" i="0">
                <a:solidFill>
                  <a:srgbClr val="1F2937"/>
                </a:solidFill>
                <a:latin typeface="Calibri"/>
              </a:rPr>
              <a:t>Tests parametrizados ([TestCase], [ValueSource]) para bordes</a:t>
            </a:r>
          </a:p>
          <a:p>
            <a:pPr>
              <a:spcAft>
                <a:spcPts val="600"/>
              </a:spcAft>
            </a:pPr>
            <a:r>
              <a:rPr sz="1100" b="1" i="0">
                <a:solidFill>
                  <a:srgbClr val="0D9488"/>
                </a:solidFill>
                <a:latin typeface="Calibri"/>
              </a:rPr>
              <a:t>■  </a:t>
            </a:r>
            <a:r>
              <a:rPr sz="1500" b="0" i="0">
                <a:solidFill>
                  <a:srgbClr val="1F2937"/>
                </a:solidFill>
                <a:latin typeface="Calibri"/>
              </a:rPr>
              <a:t>LogAssert para esperar o prohibir mensajes en el log</a:t>
            </a:r>
          </a:p>
        </p:txBody>
      </p:sp>
      <p:sp>
        <p:nvSpPr>
          <p:cNvPr id="9" name="Rectangle 8"/>
          <p:cNvSpPr/>
          <p:nvPr/>
        </p:nvSpPr>
        <p:spPr>
          <a:xfrm>
            <a:off x="6255867" y="1280160"/>
            <a:ext cx="5432907" cy="457200"/>
          </a:xfrm>
          <a:prstGeom prst="rect">
            <a:avLst/>
          </a:prstGeom>
          <a:solidFill>
            <a:srgbClr val="0D948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255867" y="1280160"/>
            <a:ext cx="5432907" cy="457200"/>
          </a:xfrm>
          <a:prstGeom prst="rect">
            <a:avLst/>
          </a:prstGeom>
          <a:noFill/>
        </p:spPr>
        <p:txBody>
          <a:bodyPr wrap="square" anchor="ctr" lIns="0" rIns="0" tIns="0" bIns="0">
            <a:spAutoFit/>
          </a:bodyPr>
          <a:lstStyle/>
          <a:p>
            <a:pPr algn="ctr"/>
            <a:r>
              <a:rPr sz="1600" b="1" i="0">
                <a:solidFill>
                  <a:srgbClr val="FFFFFF"/>
                </a:solidFill>
                <a:latin typeface="Calibri"/>
              </a:rPr>
              <a:t>Proceso</a:t>
            </a:r>
          </a:p>
        </p:txBody>
      </p:sp>
      <p:sp>
        <p:nvSpPr>
          <p:cNvPr id="11" name="TextBox 10"/>
          <p:cNvSpPr txBox="1"/>
          <p:nvPr/>
        </p:nvSpPr>
        <p:spPr>
          <a:xfrm>
            <a:off x="6255867" y="1874520"/>
            <a:ext cx="5432907" cy="1556385"/>
          </a:xfrm>
          <a:prstGeom prst="rect">
            <a:avLst/>
          </a:prstGeom>
          <a:noFill/>
        </p:spPr>
        <p:txBody>
          <a:bodyPr wrap="square" anchor="t" lIns="0" rIns="0" tIns="0" bIns="0">
            <a:spAutoFit/>
          </a:bodyPr>
          <a:lstStyle/>
          <a:p>
            <a:pPr>
              <a:spcAft>
                <a:spcPts val="600"/>
              </a:spcAft>
            </a:pPr>
            <a:r>
              <a:rPr sz="1100" b="1" i="0">
                <a:solidFill>
                  <a:srgbClr val="0D9488"/>
                </a:solidFill>
                <a:latin typeface="Calibri"/>
              </a:rPr>
              <a:t>■  </a:t>
            </a:r>
            <a:r>
              <a:rPr sz="1500" b="0" i="0">
                <a:solidFill>
                  <a:srgbClr val="1F2937"/>
                </a:solidFill>
                <a:latin typeface="Calibri"/>
              </a:rPr>
              <a:t>Ejecución en batchmode y CI (tests en cada push)</a:t>
            </a:r>
          </a:p>
          <a:p>
            <a:pPr>
              <a:spcAft>
                <a:spcPts val="600"/>
              </a:spcAft>
            </a:pPr>
            <a:r>
              <a:rPr sz="1100" b="1" i="0">
                <a:solidFill>
                  <a:srgbClr val="0D9488"/>
                </a:solidFill>
                <a:latin typeface="Calibri"/>
              </a:rPr>
              <a:t>■  </a:t>
            </a:r>
            <a:r>
              <a:rPr sz="1500" b="0" i="0">
                <a:solidFill>
                  <a:srgbClr val="1F2937"/>
                </a:solidFill>
                <a:latin typeface="Calibri"/>
              </a:rPr>
              <a:t>Cobertura de ramas y umbrales mínimos</a:t>
            </a:r>
          </a:p>
          <a:p>
            <a:pPr>
              <a:spcAft>
                <a:spcPts val="600"/>
              </a:spcAft>
            </a:pPr>
            <a:r>
              <a:rPr sz="1100" b="1" i="0">
                <a:solidFill>
                  <a:srgbClr val="0D9488"/>
                </a:solidFill>
                <a:latin typeface="Calibri"/>
              </a:rPr>
              <a:t>■  </a:t>
            </a:r>
            <a:r>
              <a:rPr sz="1500" b="0" i="0">
                <a:solidFill>
                  <a:srgbClr val="1F2937"/>
                </a:solidFill>
                <a:latin typeface="Calibri"/>
              </a:rPr>
              <a:t>Tests de rendimiento (Performance Testing)</a:t>
            </a:r>
          </a:p>
          <a:p>
            <a:pPr>
              <a:spcAft>
                <a:spcPts val="600"/>
              </a:spcAft>
            </a:pPr>
            <a:r>
              <a:rPr sz="1100" b="1" i="0">
                <a:solidFill>
                  <a:srgbClr val="0D9488"/>
                </a:solidFill>
                <a:latin typeface="Calibri"/>
              </a:rPr>
              <a:t>■  </a:t>
            </a:r>
            <a:r>
              <a:rPr sz="1500" b="0" i="0">
                <a:solidFill>
                  <a:srgbClr val="1F2937"/>
                </a:solidFill>
                <a:latin typeface="Calibri"/>
              </a:rPr>
              <a:t>Relación con la plataforma: la misma suite en PC y en móvil</a:t>
            </a:r>
          </a:p>
        </p:txBody>
      </p:sp>
      <p:sp>
        <p:nvSpPr>
          <p:cNvPr id="12" name="TextBox 11"/>
          <p:cNvSpPr txBox="1"/>
          <p:nvPr/>
        </p:nvSpPr>
        <p:spPr>
          <a:xfrm>
            <a:off x="502920" y="6473952"/>
            <a:ext cx="9144000" cy="274320"/>
          </a:xfrm>
          <a:prstGeom prst="rect">
            <a:avLst/>
          </a:prstGeom>
          <a:noFill/>
        </p:spPr>
        <p:txBody>
          <a:bodyPr wrap="square" anchor="t" lIns="0" rIns="0" tIns="0" bIns="0">
            <a:spAutoFit/>
          </a:bodyPr>
          <a:lstStyle/>
          <a:p>
            <a:pPr algn="l"/>
            <a:r>
              <a:rPr sz="1000" b="0" i="1">
                <a:solidFill>
                  <a:srgbClr val="6B7280"/>
                </a:solidFill>
                <a:latin typeface="Calibri"/>
              </a:rPr>
              <a:t>Diseño según Plataformas de Juego · Testing de integración II · Hilo conductor: nave + asteroides</a:t>
            </a:r>
          </a:p>
        </p:txBody>
      </p:sp>
      <p:sp>
        <p:nvSpPr>
          <p:cNvPr id="13" name="TextBox 12"/>
          <p:cNvSpPr txBox="1"/>
          <p:nvPr/>
        </p:nvSpPr>
        <p:spPr>
          <a:xfrm>
            <a:off x="11064240" y="6473952"/>
            <a:ext cx="822960" cy="274320"/>
          </a:xfrm>
          <a:prstGeom prst="rect">
            <a:avLst/>
          </a:prstGeom>
          <a:noFill/>
        </p:spPr>
        <p:txBody>
          <a:bodyPr wrap="square" anchor="t" lIns="0" rIns="0" tIns="0" bIns="0">
            <a:spAutoFit/>
          </a:bodyPr>
          <a:lstStyle/>
          <a:p>
            <a:pPr algn="r"/>
            <a:r>
              <a:rPr sz="1000" b="0" i="0">
                <a:solidFill>
                  <a:srgbClr val="6B7280"/>
                </a:solidFill>
                <a:latin typeface="Calibri"/>
              </a:rPr>
              <a:t>27/27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