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Continuidad directa con la Unidad III (pruebas unitarias) y la Unidad II (tickets).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1 reformulado respecto del borrador original: 'funcional' no es un nivel sino un tipo de prueba (Unidad I del programa).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borrador original sumaba 135 min. Se recortaron recuperación (−5), teoría (−5), análisis (−10) y Jira (−10); se amplió la puesta en común (+10) para que todos los grupos presenten.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min. Mecanismo: tras ver el tutorial del anciano en Ciudad Verde, el nombre del jugador queda en la zona de memoria que luego se usa como datos de encuentro; la costa este de Isla Canela no carga su propia tabla y lee esos restos. Respuesta esperada: ninguna — el defecto está en la interacción. No nombrar todavía 'integración'.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min. No reexplicar la Unidad III: solo anclar vocabulario. La pregunta final abre el concepto de integración.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min. Corrección conceptual del borrador: 'Funcional' NO es un nivel entre integración y sistema; es un tipo. 'Comprar, equipar y usar' puede probarse a nivel de integración o de sistema. Se agrega el nivel Aceptación, que está en el programa (Unidad 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Respuestas: 1 integración · funcional | 2 unitario · funcional | 3 sistema · no funcional (rendimiento) | 4 sistema · funcional | 5 aceptación (funcional y no funcional). Referencia: 'Automated Testing of Gameplay Features in Sea of Thieves', Robert Masella, GDC 2019 (verificada en docs/unidad03/06-investigacion-recursos.md).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Integración = verificar las costuras entre componentes, no cada componente. Cada flecha es una interfaz: un método llamado, un dato que cruza, una condición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Es el ejemplo más claro de dependencia implícita: el contrato no está escrito en ninguna interfaz.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Respuestas orientativas — AsteroidsMoveDown (53–61) y LaserMovesUp (117–125): el comportamiento es de una sola clase pero depende del Spawner/Ship y del prefab → discutible, buen debate. GameOverOccursOnAsteroidCollision (63–71): integración (Spawner, Asteroid, física, Game). NewGameRestartsGame (73–80): integración (NewGame toca Spawner, Ship y UI aunque el assert mire solo un flag). GameOverStopsSpawningAndDisablesShip (88–115): integración. LaserDestroysAsteroid (127–137) y DestroyedAsteroidRaisesScore (139–149): integración. Conclusión: el comentario de 82–87 es impreciso — la cantidad de asserts no define el nivel.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min. Correcciones respecto del borrador: (1) 'la barra se actualiza' no es verificable → 'barra = 75/100'; (2) sin 'una sola colisión' el contacto sostenido aplica daño varias veces; (3) el flujo incluía la derrota pero ningún caso la probaba → INT-002 con valores frontera (Unidad I); (4) 'Pasado/Fallido' según el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 (disparador de la práctica). Terminología de la Unidad I: falso negativo = el test pasa aunque hay defecto; falso positivo = el test falla sin que haya defecto. 'Las pruebas muestran la presencia de defectos, no su ausencia' es uno de los 7 principios.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Incluido en teoría. Una prueba de integración manual y documentada sigue siendo una prueba de integración. Referencia: 'Automated Testing and Profiling for Call of Duty', GDC (ver docs/unidad03/06-investigacion-recursos.md): aun automatizando a escala mantienen QA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como máximo. Se completan los campos que el borrador pedía pero el ejemplo omitía (entorno, build, asignado).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defecto sembrado garantiza que todos los grupos ejerciten el ticket aunque sus pruebas pasen (en el borrador, si la prueba pasaba, el objetivo 'registrar errores' quedaba sin evidencia).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Rúbrica ajustada: el ticket baja de 20 % a 15 % (Jira es un puente de la Unidad II, no el tema de la clase) y el diseño de casos sube de 25 % a 30 %.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los grupos que escuchan una pregunta concreta por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Preguntas extra si sobra tiempo: ¿qué sistema fue más difícil de probar? ¿qué información hizo falta para reproducir el error?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9CC9C5"/>
                </a:solidFill>
                <a:latin typeface="Calibri"/>
              </a:rPr>
              <a:t>UNIDADES I · II ·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Testing de integración en videojuegos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1D5DB"/>
                </a:solidFill>
                <a:latin typeface="Calibri"/>
              </a:rPr>
              <a:t>Diseño según Plataformas de Juego · Clase teórico-práctica (120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C9C5"/>
                </a:solidFill>
                <a:latin typeface="Calibri"/>
              </a:rPr>
              <a:t>Ing. Elsa Daniela Ramírez · FI – UNJu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AL FINALIZAR PODRÁN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25488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Diferenciar los NIVELES de prueba (unitario, integración, sistema, aceptación) y reconocer el TIPO funcional como un eje independiente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Identificar los sistemas de un juego que deben probarse en conjunto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Diseñar casos de prueba de integración, incluido un caso de valor frontera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Ejecutar una prueba de integración en Unity, automatizada o manual documentada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Registrar un defecto con un ticket completo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Reconocer qué NO detecta una prueba de integración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ORGANIZACIÓN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(120 min)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5854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6211"/>
                <a:gridCol w="1198484"/>
                <a:gridCol w="6991159"/>
              </a:tblGrid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Minutos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Qué hacemos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1. Problema y recuperación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Un caso real y lo que ya sabemos de la prueba unitaria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2. Teoría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Niveles y tipos · integración · Play Mode · diseño de casos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3. Análisis del proyecto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Clasificar la suite del proyecto nave + asteroides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4. Puente: ticket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Del fallo al ticket (detalle en Unidad II)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Práctica principal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Diseñar y ejecutar una prueba de integración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5. Puesta en común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≈ 3 min por grupo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6. Cierre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Ticket de salida individual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EL PROBLEMA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Cada pieza funciona… y el juego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552444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Pokémon Rojo / Azul · MissingNo.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2076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sistema de encuentros salvajes funciona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sistema que guarda el nombre del jugador funciona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Juntos: en la costa de Isla Canela, la tabla de encuentros lee datos que dejó el nombre del jugador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Resultado: aparece un Pokémon que no existe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Ninguna prueba de una sola pieza lo habría encontrado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prueba unitaria habría detectado este fallo?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 MissingNo. en combate (Pokémon Rojo/Azul). Opcional: esquema de dos cajas «Nombre del jugador» → «Tabla de encuentros» con la flecha marcada en rojo.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RECUPERACIÓN · UNIDAD III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ya sabemos: la prueba unitaria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86334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Cryptbound · PlayerHealth.TakeDamage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1445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Verifica UN comportamiento de UNA unidad aislada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Vida 100 → TakeDamage(25) → vida 75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Rápida, determinista, fácil de diagnosticar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No verifica cómo esa unidad se conecta con las demás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Si cada componente pasa sus tests… ¿el juego funciona?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del Test Runner de la Unidad III con los tests de PlayerHealth en verde.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UNIDAD I · MARCO CONCEPTUAL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Niveles y tipos: dos ejes distintos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NIVELES — ¿qué alcance tiene la prueba?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27632"/>
          <a:ext cx="1118585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430"/>
                <a:gridCol w="4221077"/>
                <a:gridCol w="5276346"/>
              </a:tblGrid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verifica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Unitario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Una unidad de código aislada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AgregarVida(20) suma 20 y no supera la vida máxima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Integración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La comunicación entre dos o más componentes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Recoger una poción y que aparezca en el inventario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El juego completo, en una build similar a la real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Completar Nivel01 de principio a fin en la build de PC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Aceptación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Que cumple los criterios acordados con quien lo recibe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El playtest / publisher aprueba el nivel según lo acordado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70122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TIPOS — ¿qué aspecto mira? (se aplican en cualquier nivel)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117594"/>
          <a:ext cx="11185853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430"/>
                <a:gridCol w="4221077"/>
                <a:gridCol w="5276346"/>
              </a:tblGrid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verifica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Funcional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QUÉ hace el juego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Comprar, equipar y usar un objeto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F2937"/>
                          </a:solidFill>
                          <a:latin typeface="Calibri"/>
                        </a:rPr>
                        <a:t>No funcional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CÓMO lo hace: rendimiento, usabilidad…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La pelea del jefe se mantiene en 60 FPS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6B7280"/>
                </a:solidFill>
                <a:latin typeface="Calibri"/>
              </a:rPr>
              <a:t>ℹ  Manual / automatizado no son niveles: son formas de ejecutar una prueba, combinables con cualquier nivel.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PRÁCTICA RÁPIDA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Clasificar: ¿qué nivel? ¿qué tipo?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552444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Sea of Thieves (Rare) · GDC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2707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1. Comprar un arma descuenta el oro correcto y la agrega al inventario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2. CalcularDaño(crítico) devuelve el doble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3. La pelea del jefe se mantiene en 60 FPS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4. El Nivel 1 se completa de principio a fin en la build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5. El publisher aprueba la demo según lo acordado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En Sea of Thieves, Rare combina tests unitarios, de integración y pruebas nocturnas de rendimiento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Ubiquen cada caso en la matriz nivel × tipo (votación a mano alzada).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Matriz de dos ejes vacía (filas: unitario / integración / sistema / aceptación; columnas: funcional / no funcional) para ubicar los casos. Opcional: la pirámide de tests de la charla de Rare (GDC 2019).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TEORÍA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Integración: seguir el flujo entre sistemas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417423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Proyecto nave + asteroides (repositorio)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7315200" cy="47548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6949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El láser choca con un asteroide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7315200" cy="47548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6949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Laser detecta la colisión y avisa a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18688"/>
            <a:ext cx="7315200" cy="47548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18688"/>
            <a:ext cx="6949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Game suma 1 al puntaje (score)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9417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50208"/>
            <a:ext cx="7315200" cy="47548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6949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Game actualiza el texto del HUD (scoreText)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29200"/>
            <a:ext cx="11185855" cy="45720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97706"/>
                </a:solidFill>
                <a:latin typeface="Calibri"/>
              </a:rPr>
              <a:t>💻 Ver en el código: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Laser.cs 46–55 (llamada a Game en 50) · Game.cs 82–86 (score en 84, HUD en 85)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¿En qué flecha se puede romper este flujo? Marquen cada costura.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1280160"/>
            <a:ext cx="3593592" cy="361188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Diagrama de secuencia: Láser → Asteroide → Game → HUD, con cada «costura» (flecha entre sistemas) resaltada en rojo.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TEORÍA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Contratos invisibles entre sistemas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417423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Proyecto nave + asteroides (repositorio)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1985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asteroide reconoce a la nave comparando el NOMBRE del objeto con «ShipModel»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Ese nombre vive en la escena / prefab, no en el código de la nave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Si alguien renombra el objeto: no hay Game Over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Ningún test del asteroide solo lo detecta; sí una prueba que junta Asteroide + Nave + Game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11185855" cy="45720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97706"/>
                </a:solidFill>
                <a:latin typeface="Calibri"/>
              </a:rPr>
              <a:t>💻 Ver en el código: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Asteroid.cs 52–59 (comparación de nombre en 54) · TestSuite.cs 63–71 (test que lo cubre)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otros contratos invisibles hay en sus proyectos? (nombres, tags, layers, orden de escenas)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280160"/>
            <a:ext cx="3593592" cy="361188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 la jerarquía o del Inspector de Unity con el objeto «ShipModel» resaltado.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UNIDAD III → INTEGRACIÓN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Play Mode no es lo mismo que integración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440740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TestSuite.cs del proyecto nave + asteroides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261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Edit Mode / Play Mode = DÓNDE corre el test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Unitario / integración = QUÉ alcance tiene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Una clase aislada probada en Play Mode sigue siendo una prueba unitaria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La suite del proyecto carga el prefab completo Game → casi todos sus tests integran varios sistemas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comentario del código dice que solo uno es de integración: ¿es cierto?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11185855" cy="45720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97706"/>
                </a:solidFill>
                <a:latin typeface="Calibri"/>
              </a:rPr>
              <a:t>💻 Ver en el código: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TestSuite.cs 40–45 (carga del prefab en 43) · comentario 82–87 · tests en 53–149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En grupos: clasifiquen los 7 tests de TestSuite.cs y justifiquen (10 min).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280160"/>
            <a:ext cx="3593592" cy="361188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del Test Runner con los 7 tests de la suite (sin clasificar).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UNIDAD II → INTEGRACIÓN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Diseñar un caso de integración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5853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6209"/>
                <a:gridCol w="4669822"/>
                <a:gridCol w="4669822"/>
              </a:tblGrid>
              <a:tr h="32918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INT-001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INT-002 (valor frontera)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Nombre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Recibir daño actualiza vida y barra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Daño letal activa la derrota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Precondiciones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Vida 100/100 · UNA sola colisión · sin invulnerabilidad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Igual que INT-001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Datos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Daño del enemigo: 25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Daño: 100 (y 99 como contraste)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Pasos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1. Iniciar escena de prueba  2. Provocar una colisión  3. Leer vida y barra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Igual que INT-001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Resultado esperado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Vida = 75 · barra = 75/100 · sin derrota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100 → vida 0 y derrota · 99 → vida 1 y sin derrota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Resultado obtenido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(completar al ejecutar)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(completar al ejecutar)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Pasado / Fallido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Pasado / Fallido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En parejas: completen INT-002 antes de ver la respuesta.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LÍMITES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el test no 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24154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DestroyedAsteroidRaisesScore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1985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test verifica score… pero no el texto del HUD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Si se borra la línea que actualiza scoreText, la suite sigue en verde → falso negativo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Las esperas fijas (0,1 s) dependen de la máquina y de la física: el test puede fallar sin defecto → falso positivo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Una suite en verde no demuestra que no haya defectos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11185855" cy="45720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97706"/>
                </a:solidFill>
                <a:latin typeface="Calibri"/>
              </a:rPr>
              <a:t>💻 Ver en el código: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TestSuite.cs 139–149 (assert en 148) · Game.cs 85 (HUD) · esperas en TestSuite.cs 58, 68, 134, 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¿Qué assert agregarían para cubrir el HUD?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280160"/>
            <a:ext cx="3593592" cy="361188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Pantalla dividida: a la izquierda, el Test Runner con DestroyedAsteroidRaisesScore en verde; a la derecha, el juego con el asteroide destruido y el HUD en «Score: 0» (bug provocado).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UNIDAD III · MANUAL VS. AUTOMATIZADA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¿Automatizar o no?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47472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Call of Duty (Activision) · GDC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5432907" cy="457200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4329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Conviene automatizar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5432907" cy="1318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Flujos que se repiten en cada build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Resultado verificable por código (valores, estados)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Riesgo de regresión frecuente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Ej.: daño → vida · asteroide → puntaje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755648"/>
            <a:ext cx="5432907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1755648"/>
            <a:ext cx="54329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Conviene manual documentada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2350008"/>
            <a:ext cx="5432907" cy="15563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Lo que se ve o se siente (legibilidad, animación, feedback)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Flujos largos y costosos de montar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Primera exploración de un sistema nuevo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Ej.: menú → cambio de escena con transición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Clasifiquen los 5 flujos del análisis: ¿automatizable o manual?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UNIDAD II · 5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Puente: del fallo al ticket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3832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Ver Unidad II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7315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</a:tblGrid>
              <a:tr h="32918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Título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La barra de vida no se actualiza tras recibir daño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Pasos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1. Abrir Nivel01  2. Iniciar  3. Una colisión con el enemigo  4. Observar la barra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Esperado / Actual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Vida y barra 100 → 75  /  vida interna 75 (Inspector), barra en 100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Severidad / Prioridad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Media / Alta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Entorno / Build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Build 0.x · Windows 11 · Unity 6000.x (completar)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Evidencia / Asignado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Captura o video / (completar)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6B7280"/>
                </a:solidFill>
                <a:latin typeface="Calibri"/>
              </a:rPr>
              <a:t>ℹ  Severidad ≠ prioridad. No profundizar: el detalle está en la Unidad II.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 un ticket real en Jira con estos campos señalados.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ACTIVIDAD PRINCIPAL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Consigna práctica (45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7315200" cy="261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1. Elegir un flujo con al menos dos sistemas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2. Dibujar el diagrama: evento → sistema A → sistema B → resultado observable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3. Escribir un caso de integración + un caso de valor frontera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4. Ejecutar (automatizado o manual documentado) y registrar el resultado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5. El proyecto trae un defecto sembrado: si lo encuentran, redacten el ticket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6B7280"/>
                </a:solidFill>
                <a:latin typeface="Calibri"/>
              </a:rPr>
              <a:t>ℹ  Opciones de flujo: recolección + inventario · daño + UI · enemigo + puntaje · fin de nivel + desbloqueo · guardado + carga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Plantilla vacía del diagrama de flujo: cuatro cajas (Evento · Sistema A · Sistema B · Resultado observable) unidas por flechas.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EVALUACIÓN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Entrega y rúbrica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5854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2982"/>
                <a:gridCol w="1242872"/>
              </a:tblGrid>
              <a:tr h="329184"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F2937"/>
                          </a:solidFill>
                          <a:latin typeface="Calibri"/>
                        </a:rPr>
                        <a:t>Identificación de los sistemas involucrados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F2937"/>
                          </a:solidFill>
                          <a:latin typeface="Calibri"/>
                        </a:rPr>
                        <a:t>Diseño de los casos (incluye el caso frontera)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F29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F2937"/>
                          </a:solidFill>
                          <a:latin typeface="Calibri"/>
                        </a:rPr>
                        <a:t>Ejecución y registro de resultados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F2937"/>
                          </a:solidFill>
                          <a:latin typeface="Calibri"/>
                        </a:rPr>
                        <a:t>Calidad del ticket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1F2937"/>
                          </a:solidFill>
                          <a:latin typeface="Calibri"/>
                        </a:rPr>
                        <a:t>Presentación y reflexión final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6B7280"/>
                </a:solidFill>
                <a:latin typeface="Calibri"/>
              </a:rPr>
              <a:t>ℹ  Entrega: diagrama del flujo · casos de prueba · evidencia de ejecución · ticket · conclusión breve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≈ 3 MIN POR GRUPO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Puesta en común (20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Flujo elegido y sistemas involucrados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Caso de prueba y resultado obtenido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Ticket, si encontraron el defecto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¿Qué dependencia implicó más riesgo?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Los demás grupos: ¿qué costura no se probó?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IDEAS PARA LLEVARSE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1885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La prueba unitaria verifica piezas; la de integración verifica las costuras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Play Mode no define el nivel de la prueba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Funcional es un tipo, no un nivel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Todo caso necesita un resultado esperado verificable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Una suite en verde no garantiza que no haya defectos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Ticket de salida: un ejemplo propio de prueba unitaria vs. prueba de integración.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Testing de integración (Unidades I–III)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