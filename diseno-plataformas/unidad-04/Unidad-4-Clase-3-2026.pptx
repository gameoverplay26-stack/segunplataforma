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cambiamos de restricción: ya no es el hardware ni la mano, son las reglas de la tienda y cómo probamos lo que diseñamos.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Respuesta buscada: las dos cosas. Una decisión de interfaz (dónde va un botón, qué confirma una compra) tuvo consecuencias legales. Desde hoy la monetización se analiza como diseño con reglas y con ética.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Agregar el modelo premium es una corrección al programa, que solo nombra freemium e híbridos. Ninguno es "el bueno": cada uno cambia el juego de distinta manera.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Remarcar la diferencia de consentimiento: el rewarded lo pide el jugador, el interstitial se lo imponen. Eso cambia la experiencia y, como vamos a ver, también las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Discutir la pregunta: si cada partida es corta y cada Game Over muestra un anuncio, se acerca a "después de cada acción". No hay respuesta automática: hay que leer la política y justificar. Dato de herramienta: Unity recomienda migrar de Unity Ads directo a LevelPlay (mediación) desde abril de 2026; no se integra en esta materia.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IAP no es una estrategia libre: la tienda la impone y la regula. Por eso el diseño de la tienda interna empieza leyendo estas políticas.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Respuesta posible: la cantidad de vidas, la velocidad de los asteroides y la duración de la partida; además, cómo se calcula el puntaje si alguien continúa. Es el puente entre economía y game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Cuidar la precisión: no decir que las loot boxes "causan" adicción; la evidencia citable es correlacional. Zagal et al. se cita sin enlace hasta verificar una copia legal (pendiente en el status).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P3 viola políticas (interstitial al abrir; probabilidades no informadas) y manipula la dificultad. P2 cumple, pero cambia el balance. P1 es viable con menor alcance. Vale cualquier elección defendida con criterios y fuentes.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la escalera que conecta con la U3: cada nivel tiene un "qué no prueba". Android vitals mide fallas como la tasa de cierres inesperados (umbral general 1,09 %) y de ANR (0,47 %); la memoria pasa a afectar la visibilidad en la tienda desde febrero de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reglas de tienda cambian todos los años: un juego publicado en 2025 puede necesitar cambios en 2026 sin que nadie toque el diseño. Decir explícitamente el límite del curso con iOS; no esconderlo.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Requiere tener en el repositorio la versión con el defecto (tarea del status). Mostrar el rojo y no corregir: lo corrigen los grupos. Recordar el ciclo de la U3: rojo, corrección, verde, regresión.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Respuesta esperada de "qué no demuestra": que el sistema operativo llame al callback cuando corresponde; qué pasa si el sistema mata el proceso (no se llama nada); el caso del teclado en pantalla en Android. Cierre: lo que el test no demuestra lo probamos la próxima clase en el teléfono.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0"/>
            <a:ext cx="12191695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185855" cy="3291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1400" b="1" i="0">
                <a:solidFill>
                  <a:srgbClr val="99F6E4"/>
                </a:solidFill>
                <a:latin typeface="Calibri"/>
              </a:rPr>
              <a:t>UNIDAD IV · CLASE 3 DE 4</a:t>
            </a:r>
          </a:p>
          <a:p>
            <a:r>
              <a:rPr sz="4000" b="1" i="0">
                <a:solidFill>
                  <a:srgbClr val="FFFFFF"/>
                </a:solidFill>
                <a:latin typeface="Calibri"/>
              </a:rPr>
              <a:t>El negocio y la prueba</a:t>
            </a:r>
          </a:p>
          <a:p>
            <a:pPr>
              <a:spcBef>
                <a:spcPts val="600"/>
              </a:spcBef>
            </a:pPr>
            <a:r>
              <a:rPr sz="2000" b="0" i="0">
                <a:solidFill>
                  <a:srgbClr val="CBD5E1"/>
                </a:solidFill>
                <a:latin typeface="Calibri"/>
              </a:rPr>
              <a:t>Monetización como decisión de diseño · Testing en móvil</a:t>
            </a:r>
          </a:p>
          <a:p>
            <a:pPr>
              <a:spcBef>
                <a:spcPts val="600"/>
              </a:spcBef>
            </a:pPr>
            <a:r>
              <a:rPr sz="2000" b="0" i="0">
                <a:solidFill>
                  <a:srgbClr val="CBD5E1"/>
                </a:solidFill>
                <a:latin typeface="Calibri"/>
              </a:rPr>
              <a:t>Diseño según Plataformas de Juego · FI – UNJu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>
                <a:solidFill>
                  <a:srgbClr val="CBD5E1"/>
                </a:solidFill>
                <a:latin typeface="Calibri"/>
              </a:rPr>
              <a:t>Unidad IV · Clase 3 ·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APERTURA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USD 520 millones por una pantalla de compra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FTC, comunicado de prensa del 19/12/2022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0972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5577840"/>
            <a:ext cx="11076127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PREGUNTA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¿Monetizar es una decisión de negocio o de diseño?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56855" y="1234440"/>
            <a:ext cx="3931920" cy="4206240"/>
          </a:xfrm>
          <a:prstGeom prst="rect">
            <a:avLst/>
          </a:prstGeom>
          <a:solidFill>
            <a:srgbClr val="F3F4F6"/>
          </a:solidFill>
          <a:ln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b="1" i="0">
                <a:solidFill>
                  <a:srgbClr val="6B7280"/>
                </a:solidFill>
                <a:latin typeface="Calibri"/>
              </a:rPr>
              <a:t>[IMAGEN SUGERIDA]</a:t>
            </a:r>
          </a:p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Titular del comunicado oficial de la FTC del 19/12/2022.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34440"/>
            <a:ext cx="697961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2022: la FTC (EE. UU.) acusó a Epic Games por Fortnite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USD 275 millones por privacidad de menores (COPPA) + USD 245 millones en reembolsos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Motivo: "dark patterns" en la compra; botones "counterintuitive, inconsistent, and confusing"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MONETIZACIÓN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App Store — Alto’s Adventure (ficha consultada 2026-10-04)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234440"/>
          <a:ext cx="11185854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336"/>
                <a:gridCol w="3536173"/>
                <a:gridCol w="6206345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Quién paga y cuándo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Qué cambia en el diseño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Al comprar, una vez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Sin interrupciones; menor alcance (Alto’s Adventure: pago único, sin ads ni IAP)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Freemium + IAP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Algunos jugadores, dentro del juego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Progresión y tienda interna pensadas para vender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Con anuncios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El anunciante; el jugador "paga" con tiempo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Hay que decidir en qué momento interrumpir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Híbrido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Combinación (ads + "quitar anuncios")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Todas las anteriores a la vez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MONETIZACIÓN · ADS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Tres formatos de anuncio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4/13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Google AdMob — Rewarded ads; Interstitial ad guidance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56855" y="1234440"/>
            <a:ext cx="3931920" cy="4754880"/>
          </a:xfrm>
          <a:prstGeom prst="rect">
            <a:avLst/>
          </a:prstGeom>
          <a:solidFill>
            <a:srgbClr val="F3F4F6"/>
          </a:solidFill>
          <a:ln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b="1" i="0">
                <a:solidFill>
                  <a:srgbClr val="6B7280"/>
                </a:solidFill>
                <a:latin typeface="Calibri"/>
              </a:rPr>
              <a:t>[IMAGEN SUGERIDA]</a:t>
            </a:r>
          </a:p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Tres mockups de pantalla de Asteroides, uno con cada formato.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6979613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615"/>
                <a:gridCol w="2843546"/>
                <a:gridCol w="320545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Formato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Cómo funciona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Regla clave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Rewarded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El jugador elige verlo a cambio de una recompensa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"served after a user explicitly chooses to view" (AdMob)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Interstitial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Pantalla completa entre momentos del juego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Solo en transiciones naturales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Banner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Franja fija en pantalla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F2937"/>
                          </a:solidFill>
                          <a:latin typeface="Calibri"/>
                        </a:rPr>
                        <a:t>Ocupa espacio de la UI y de la safe area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MONETIZACIÓN · REGLAS EXTERNAS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AdMob prohíbe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5/13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Google AdMob — Disallowed interstitial implementations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0972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5577840"/>
            <a:ext cx="11076127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PREGUNTA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¿Un anuncio en cada Game Over de Asteroides cumple estas reglas?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34440"/>
            <a:ext cx="1118585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Interstitials al abrir o al salir de la app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Un interstitial después de cada acción (como máximo, uno cada dos acciones)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Un interstitial inmediatamente después de otro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Interstitials inesperados mientras el usuario está jugando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MONETIZACIÓN · REGLAS EXTERNAS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La tienda pone las reglas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6/13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Apple App Review Guidelines 3.1.1 y 1.3; Google Play — Payments policy y Families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11185855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Apple 3.1.1: para desbloquear contenido digital se debe usar la compra integrada (IAP)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Apple y Google: las cajas con premios al azar deben mostrar las probabilidades antes de comprar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Google Play Billing es obligatorio (con excepciones por país)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Apps para niños: sin publicidad personalizada ni SDKs no certificados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MONETIZACIÓN = GAME DESIGN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Monetizar cambia el juego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7/13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Kotaku (2023), citando a poncle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0972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5577840"/>
            <a:ext cx="11076127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PREGUNTA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Si Asteroides ofrece "continuar" con un rewarded, ¿qué parámetros del juego habría que rebalancear?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34440"/>
            <a:ext cx="1118585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"Continuar con un anuncio" cambia el significado del Game Over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Subir la dificultad para vender vidas cambia el balance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Las pausas para anuncios cambian el ritmo de la sesión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Vampire Survivors en móvil: monetización "designed to never interrupt your game, always be optional"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ÉTICA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El lado oscuro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8/13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PLOS ONE 2018; Journal of Business Ethics 2022; UK Gambling Commission (enfoques internacionales)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09728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5577840"/>
            <a:ext cx="11076127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VIDEO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"Dark Patterns: How Good UX Can Be Bad UX", Anisa Sanusi, GDC 2017 (GDC Vault, gratuito). Fragmento a definir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34440"/>
            <a:ext cx="1118585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Dark patterns: diseños que juegan en contra del interés del jugador (Zagal, Björk y Lewis, 2013)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Loot boxes: asociadas con el juego problemático (Zendle y Cairns, 2018, n = 7.422); es una correlación, no una causa demostrada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35 técnicas de monetización percibidas como predatorias (Petrovskaya y Zendle, 2022)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Regulación: Bélgica prohibió mecánicas de loot box en 2018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ACTIVIDAD · 25 MIN · GRUPOS + DEBATE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A4.5: ¿cuál publicarían?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9/13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577840"/>
            <a:ext cx="109728" cy="457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" y="5577840"/>
            <a:ext cx="11076127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/>
              </a:rPr>
              <a:t>ACTIVIDAD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Para cada una: ¿cumple las políticas? ¿Qué cambia en el diseño? ¿Qué riesgos éticos tiene? Elijan una y defiéndanla.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185854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994298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Premium, US$ 2,99, sin anuncios ni compras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Gratis, rewarded "continuar con 1 vida" (una vez por partida) + IAP "quitar anuncios"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Gratis, interstitial al abrir y en cada Game Over + cofres pagos al azar sin probabilidades + dificultad aumentada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TESTING EN MÓVIL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¿Qué prueba cada herramienta?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Unity 6.3 — Device Simulator, Run tests in a Player, Profiling on target; Firebase Game Loop; AWS Device Farm; Android vitals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234440"/>
          <a:ext cx="11185853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342"/>
                <a:gridCol w="4758162"/>
                <a:gridCol w="409034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Prueba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 prueba</a:t>
                      </a:r>
                    </a:p>
                  </a:txBody>
                  <a:tcPr marL="73152" marR="73152" marT="36576" marB="36576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1. Device Simulator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Layout, safe area, rotación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Rendimiento, memoria, render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2. Emulador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Lógica y flujos funcionales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Rendimiento real, térmica, GPU del teléfono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3. Teléfono + Profiler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Rendimiento real, GC, frame time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Otros modelos de teléfono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4. Tests en el Player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Tests automáticos en el dispositivo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Lo que no está escrito como test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5. Granjas en la nube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Muchos modelos (Firebase Test Lab, AWS Device Farm)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Ergonomía, comodidad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6. Android vitals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Fallas reales después de publicar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Nada antes de publicar</a:t>
                      </a:r>
                    </a:p>
                  </a:txBody>
                  <a:tcPr marL="73152" marR="73152" marT="36576" marB="36576" anchor="ctr">
                    <a:solidFill>
                      <a:srgbClr val="E6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DISTRIBUCIÓN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La plataforma se mueve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11/13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Android — target API level requirement; Unity 6.3 — Android/iOS requirements y build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11185855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Google Play exige AAB y, desde el 31/08/2026, apuntar a Android 16 (API 36)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Unity 6.3 soporta Android 7.1 (API 25) o superior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iOS: Unity genera un proyecto de Xcode, y Xcode solo corre en macOS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En la cátedra no hay Mac: iOS se estudia de forma conceptual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DEMO EN VIVO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Demo: el test de pausa en rojo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12/13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26480"/>
            <a:ext cx="1118585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6B7280"/>
                </a:solidFill>
                <a:latin typeface="Calibri"/>
              </a:rPr>
              <a:t>Fuente: 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Unity 6.3 — Unity Test Framework (Edit/Play mode; Run Play mode tests in a Player)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11185855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Versión de Asteroides con un sistema de pausa defectuoso: al volver, reanuda solo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Test de Edit Mode sobre la regla de pausa: rojo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Test de Play Mode sobre el adaptador: rojo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La pestaña Player del Test Runner la usamos en la Clase 4, en el teléfono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"/>
            <a:ext cx="107286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9F6E4"/>
                </a:solidFill>
                <a:latin typeface="Calibri"/>
              </a:rPr>
              <a:t>ACTIVIDAD · 25 MIN · GRUPOS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A4.4: la llamada que mata la nave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 i="0">
                <a:solidFill>
                  <a:srgbClr val="6B7280"/>
                </a:solidFill>
                <a:latin typeface="Calibri"/>
              </a:rPr>
              <a:t>Diseño según Plataformas de Juego · Unidad IV · Clase 3 · El negocio y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13/13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577840"/>
            <a:ext cx="109728" cy="457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" y="5577840"/>
            <a:ext cx="11076127" cy="457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/>
              </a:rPr>
              <a:t>ACTIVIDAD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El test de Play Mode y la corrección se terminan en el TP 3; el QA manual, en la Clase 4 con sus teléfonos.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56855" y="1234440"/>
            <a:ext cx="3931920" cy="4206240"/>
          </a:xfrm>
          <a:prstGeom prst="rect">
            <a:avLst/>
          </a:prstGeom>
          <a:solidFill>
            <a:srgbClr val="F3F4F6"/>
          </a:solidFill>
          <a:ln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300" b="1" i="0">
                <a:solidFill>
                  <a:srgbClr val="6B7280"/>
                </a:solidFill>
                <a:latin typeface="Calibri"/>
              </a:rPr>
              <a:t>[IMAGEN SUGERIDA]</a:t>
            </a:r>
          </a:p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Diagrama: sistema operativo → adaptador (MonoBehaviour) → regla de pausa (C# puro) → estado del juego.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34440"/>
            <a:ext cx="697961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Escriban el comportamiento esperado ante una interrupción, como criterio verificable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Separen la regla (C# puro) del adaptador (MonoBehaviour que recibe OnApplicationPause)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Escriban el test de Edit Mode de la regla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Completen: ¿qué NO demuestra este test?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