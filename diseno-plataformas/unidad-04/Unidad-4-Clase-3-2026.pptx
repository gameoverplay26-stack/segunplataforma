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Último encuentro de la unidad. Antes de empezar: cables, depuración USB y Android Build Support verificados; APK de la docente (IL2CPP + ARM64) en un pendrive y en Drive para el plan B.</a:t>
            </a:r>
          </a:p>
          <a:p>
            <a:r>
              <a:t>Reparto: teoría 36 min (apertura 3, repaso de la build 6, testing 9, monetización 13, TP 3 1, cierre 4) = 40 %; práctica 54 min (build e instalación 12, medición 8, A4.6 3, QA manual 10, matriz 4, A4.8 10, A4.5 7) = 60 %.</a:t>
            </a:r>
          </a:p>
          <a:p>
            <a:r>
              <a:t>Orden pensado para el tiempo: la build va primero porque es lo que más puede fallar; mientras un grupo espera, otro ya mide.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Editor: el entorno de Unity en la PC, donde se arma y prueba el juego.</a:t>
            </a:r>
          </a:p>
          <a:p>
            <a:r>
              <a:t>Situación: todo lo que probamos hasta ahora fue en el editor; la columna "qué no demuestra" de A4.4 sigue abierta. Hoy vemos cómo se comporta el juego en un teléfono real.</a:t>
            </a:r>
          </a:p>
          <a:p>
            <a:r>
              <a:t>Que anoten su predicción: sirve para contrastarla al final de la clase.</a:t>
            </a:r>
          </a:p>
          <a:p>
            <a:r>
              <a:t>Imagen sugerida (opcional, sin recuadro en la slide): editor de Unity y teléfono, con un signo de pregunta entre ambos.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Scripting Backend: cómo compila Unity el código C#: Mono (código intermedio) o IL2CPP (código nativo).</a:t>
            </a:r>
          </a:p>
          <a:p>
            <a:r>
              <a:t>• Package Name: identificador único de la app en el teléfono y en Google Play (com.empresa.juego).</a:t>
            </a:r>
          </a:p>
          <a:p>
            <a:r>
              <a:t>• Target Architectures: tipos de procesador para los que se compila (ARMv7 de 32 bits, ARM64 de 64 bits).</a:t>
            </a:r>
          </a:p>
          <a:p>
            <a:r>
              <a:t>Es la captura real del proyecto (Unity 6000.3.11f1, 2026-10-12), con cuatro marcas rojas: Package Name, Scripting Backend = Mono, Active Input Handling = Both y ARM64 en gris.</a:t>
            </a:r>
          </a:p>
          <a:p>
            <a:r>
              <a:t>Respuesta esperada: ARM64 está en gris porque el backend es Mono; según la documentación de Unity 6.3, ARM64 "se habilita solo cuando Scripting Backend es IL2CPP". Sin ARM64, la app no corre en los teléfonos que solo aceptan 64 bits (según Android, los Pixel 7 fueron los primeros con soporte solo para apps de 64 bits; Google Play exige la versión de 64 bits).</a:t>
            </a:r>
          </a:p>
          <a:p>
            <a:r>
              <a:t>Que la lean en sus máquinas: abrir Edit &gt; Project Settings &gt; Player &gt; Android &gt; Other Settings y comparar con la captura.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Profile: perfil de compilación de Unity 6; puede tener sus propios Player Settings, que pisan los del proyecto.</a:t>
            </a:r>
          </a:p>
          <a:p>
            <a:r>
              <a:t>• Fuente de verdad: el único lugar donde se decide un valor.</a:t>
            </a:r>
          </a:p>
          <a:p>
            <a:r>
              <a:t>Dos caminos: Build crea solo el archivo; Build and Run además lo instala en el Run Device (manual de Unity 6.3). Sin teléfono, siempre Build, en la carpeta Builds/ fuera de Assets. La plataforma se mueve: Google Play exige AAB y, desde el 31/08/2026, apuntar a API 36; Unity 6.3 soporta Android 7.1 (API 25) o superior. iOS: Unity genera un proyecto de Xcode, que solo corre en macOS; en la cátedra, iOS es conceptual.</a:t>
            </a:r>
          </a:p>
          <a:p>
            <a:r>
              <a:t>Los valores resaltados son los que hay que cambiar; el resto ya viene bien. El Package Name se arma solo con Company y Product (com.Unju.AsteroideTest) mientras "Override Default Package Name" esté destildado.</a:t>
            </a:r>
          </a:p>
          <a:p>
            <a:r>
              <a:t>Una sola fuente: cambiar todo en Edit &gt; Project Settings &gt; Player. Si se edita la sección Player Settings dentro del Build Profile, el perfil guarda una copia propia; en el proyecto pasó: Company y Product quedaron en Assets/Settings/Build Profiles/Android™.asset y no en ProjectSettings. Dos lugares para el mismo dato es una fuente de errores difícil de ver.</a:t>
            </a:r>
          </a:p>
          <a:p>
            <a:r>
              <a:t>Active Input Handling = Both: la documentación de Unity 6.3 dice que no está soportado en Android. Se mantiene porque el menú usa el StandaloneInputModule clásico; al compilar se toca Ignore y queda registrado. Evidencia (2026-10-12): la build en batchmode terminó bien y el aviso solo apareció en el log. La corrección de fondo es reemplazar el módulo del EventSystem (prefab Game) por InputSystemUIInputModule y dejar solo Input System; no se hizo en el repositorio.</a:t>
            </a:r>
          </a:p>
          <a:p>
            <a:r>
              <a:t>Orientación: la decide cada grupo según su esquema de A4.3 (Resolution and Presentation &gt; Default Orientation).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Aviso (warning): Unity informa un riesgo, pero deja seguir.</a:t>
            </a:r>
          </a:p>
          <a:p>
            <a:r>
              <a:t>• Error: Unity no puede terminar la tarea.</a:t>
            </a:r>
          </a:p>
          <a:p>
            <a:r>
              <a:t>• adb (Android Debug Bridge): herramienta de línea de comandos que conecta la PC con el teléfono.</a:t>
            </a:r>
          </a:p>
          <a:p>
            <a:r>
              <a:t>Cartel 1, "Unsupported Input Handling on Android": es un aviso. Ignore sigue con la build; Cancel Build la corta. Causa: Active Input Handling = Both (ver la slide anterior).</a:t>
            </a:r>
          </a:p>
          <a:p>
            <a:r>
              <a:t>Cartel 2, "No Android devices connected": aparece con Build and Run cuando la PC no ve ningún teléfono. Qué hacer: OK y usar Build; o conectar con un cable de datos, aceptar en el teléfono "¿Permitir depuración USB?" y tocar Refresh en Run Device. Comprobar con adb devices (el teléfono tiene que figurar como "device"; "unauthorized" significa que falta aceptar el diálogo). En Windows puede hacer falta el driver USB del fabricante.</a:t>
            </a:r>
          </a:p>
          <a:p>
            <a:r>
              <a:t>Tercer caso, sin captura: el APK se copia, pero el teléfono no lo instala o no lo abre. Primera sospecha: se compiló sin ARM64. En el curso todavía no se vio; está documentado por Android para los teléfonos que solo aceptan 64 bits.</a:t>
            </a:r>
          </a:p>
          <a:p>
            <a:r>
              <a:t>Respuesta a la pregunta: el primero es un aviso (deja seguir); el segundo frena Build and Run, pero no Build.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versión compilada del juego, lista para instalar.</a:t>
            </a:r>
          </a:p>
          <a:p>
            <a:r>
              <a:t>• Development Build: build con información de depuración que permite conectar el Profiler.</a:t>
            </a:r>
          </a:p>
          <a:p>
            <a:r>
              <a:t>• Autoconnect Profiler: opción para que el Profiler se conecte solo al iniciar el juego.</a:t>
            </a:r>
          </a:p>
          <a:p>
            <a:r>
              <a:t>• Build and Run: compilar, instalar y abrir en el dispositivo conectado, en un solo paso.</a:t>
            </a:r>
          </a:p>
          <a:p>
            <a:r>
              <a:t>Plan B: si la build falla en la máquina del grupo, se instala el APK de la docente (cable y adb install -r, o Drive y aceptar «Instalar apps de fuentes desconocidas»). Se pierde el Profiler; no se pierden el QA manual ni la matriz. Lo que no se pudo medir se declara en el dossier. El APK de depuración no se publica: para Google Play hacen falta firma propia y un .aab.</a:t>
            </a:r>
          </a:p>
          <a:p>
            <a:r>
              <a:t>Pasos con cable (para medir con el Profiler): en Build Profiles, Android activo; Development Build y Autoconnect Profiler tildados; teléfono conectado con la depuración activada; Build and Run. Según el manual de Unity 6.3, con Development Build y Build and Run Unity prepara el túnel del Profiler antes de abrir la app. Primero lo hace la docente; después cada grupo, con el teléfono de un integrante.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GC (garbage collector): proceso que libera memoria que ya no se usa; si trabaja mucho, produce tirones.</a:t>
            </a:r>
          </a:p>
          <a:p>
            <a:r>
              <a:t>• GC Alloc: memoria reservada en cada frame que después tendrá que liberar el GC.</a:t>
            </a:r>
          </a:p>
          <a:p>
            <a:r>
              <a:t>• Hipótesis: suposición que se comprueba midiendo.</a:t>
            </a:r>
          </a:p>
          <a:p>
            <a:r>
              <a:t>Versión final: la partida de medición dura 5 minutos; en el TP 3 pueden extenderla a 10.</a:t>
            </a:r>
          </a:p>
          <a:p>
            <a:r>
              <a:t>Hipótesis completas: H1, ¿cada disparo (Instantiate del láser) genera picos de GC? Métrica: GC Alloc por frame. H2, ¿el juego sostiene el fps durante 10 minutos? Métrica: tiempo de frame a lo largo del tiempo. Registrar modelo de teléfono, versión de Android y temperatura percibida.</a:t>
            </a:r>
          </a:p>
          <a:p>
            <a:r>
              <a:t>Advertencia honesta: Asteroides es liviano y lo más probable es que ande bien en casi cualquier teléfono. Si la medición no muestra problemas, la respuesta correcta es decirlo con los datos. El objetivo es aprender a formular y medir hipótesis.</a:t>
            </a:r>
          </a:p>
          <a:p>
            <a:r>
              <a:t>Imagen sugerida (opcional, sin recuadro en la slide): Profiler conectado a un teléfono con un pico de GC marcado.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promedio: cantidad media de imágenes por segundo durante la medición.</a:t>
            </a:r>
          </a:p>
          <a:p>
            <a:r>
              <a:t>• Tiempo de frame máximo: el cuadro que más tardó; muestra los tirones que el promedio esconde.</a:t>
            </a:r>
          </a:p>
          <a:p>
            <a:r>
              <a:t>Conclusión esperada: el número del editor no predice el del teléfono. Pasar a A4.6 (slide siguiente), que muestra el mismo problema con datos de 10 minutos.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versión 3, A4.6 se hace acá, con el teléfono y el Profiler a mano.]</a:t>
            </a:r>
          </a:p>
          <a:p>
            <a:r>
              <a:t>Glosario (conceptos cortos para la docente):</a:t>
            </a:r>
          </a:p>
          <a:p>
            <a:r>
              <a:t>• Cuello de botella: la parte del sistema que limita el rendimiento.</a:t>
            </a:r>
          </a:p>
          <a:p>
            <a:r>
              <a:t>• Métrica: valor que se mide (por ejemplo, el tiempo de frame).</a:t>
            </a:r>
          </a:p>
          <a:p>
            <a:r>
              <a:t>• Throttling térmico: el teléfono baja la frecuencia del procesador para no calentarse.</a:t>
            </a:r>
          </a:p>
          <a:p>
            <a:r>
              <a:t>Situación completa: "60 fps al empezar, 35–40 fps a los 8 minutos en un teléfono de gama media; en el editor, 200 fps".</a:t>
            </a:r>
          </a:p>
          <a:p>
            <a:r>
              <a:t>Respuesta esperada: throttling térmico agravado por el overdraw de las partículas; medir el tiempo de frame a lo largo del tiempo y el estado térmico con el Profiler en el dispositivo; fijar 30 fps o un presupuesto del 65 % y reducir el overdraw. El editor y el Device Simulator no sirven para esto.</a:t>
            </a:r>
          </a:p>
          <a:p>
            <a:r>
              <a:t>Contrastar con la medición de 10 minutos que acaban de hacer: ¿su teléfono se comporta igual?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QA manual: prueba hecha por una persona, siguiendo pasos definidos.</a:t>
            </a:r>
          </a:p>
          <a:p>
            <a:r>
              <a:t>• Cierre forzado: terminar la app desde los ajustes del sistema.</a:t>
            </a:r>
          </a:p>
          <a:p>
            <a:r>
              <a:t>Casos completos: QA-01 llamada o alarma durante la partida (esperado: el juego se pausa y espera un toque); QA-02 botón de inicio y volver (pausado, sin daño a la nave); QA-03 bloquear y desbloquear la pantalla (pausado); QA-04 abrir el teclado en pantalla, si aplica (documentar qué pasa); QA-05 cierre forzado y reabrir (documentar qué se pierde).</a:t>
            </a:r>
          </a:p>
          <a:p>
            <a:r>
              <a:t>Casos nuevos de la versión 3 (controles portados): QA-06, mover con el joystick y disparar con el botón al mismo tiempo, con dos dedos (el Device Simulator simula un solo dedo, así que este caso solo se prueba acá); QA-07, medir que cada control tenga al menos 48 dp y comprobar que el pulgar no tape la zona por donde caen los asteroides.</a:t>
            </a:r>
          </a:p>
          <a:p>
            <a:r>
              <a:t>Mismo formato de caso de prueba de la Unidad 2 (esperado vs. real). Si los grupos todavía no corrigieron el defecto, probar la versión con defecto: el resultado real va a contradecir al esperado, y eso es un hallazgo.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compatibilidad: tabla que cruza dispositivos con resultados de prueba.</a:t>
            </a:r>
          </a:p>
          <a:p>
            <a:r>
              <a:t>• Muestra de conveniencia: los casos que se tienen a mano, no elegidos para representar al mercado.</a:t>
            </a:r>
          </a:p>
          <a:p>
            <a:r>
              <a:t>Respuesta esperada: no. Es una muestra de conveniencia; faltan gamas, fabricantes, versiones de Android y tablets. Por eso existen las granjas de dispositivos y Android vitals. Igual es evidencia real y vale más que el editor.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Profiler: herramienta de Unity que mide en qué se gasta el tiempo de cada frame.</a:t>
            </a:r>
          </a:p>
          <a:p>
            <a:r>
              <a:t>• Granja de dispositivos: servicio con muchos teléfonos reales para correr pruebas a distancia (Firebase Test Lab, AWS Device Farm).</a:t>
            </a:r>
          </a:p>
          <a:p>
            <a:r>
              <a:t>• Android vitals: métricas de calidad que Google Play mide sobre las apps publicadas.</a:t>
            </a:r>
          </a:p>
          <a:p>
            <a:r>
              <a:t>• ANR (Application Not Responding): la app deja de responder.</a:t>
            </a:r>
          </a:p>
          <a:p>
            <a:r>
              <a:t>Es la escalera que conecta con la Unidad 3: cada nivel tiene un "qué no prueba". El Device Simulator no prueba rendimiento, memoria ni render; el emulador no prueba térmica ni la GPU del teléfono.</a:t>
            </a:r>
          </a:p>
          <a:p>
            <a:r>
              <a:t>Android vitals mide fallas como la tasa de cierres inesperados (umbral general 1,09 %) y de ANR (0,47 %); la memoria pasa a afectar la visibilidad en la tienda desde febrero de 2027.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automático: prueba que corre sola y compara el resultado con lo esperado.</a:t>
            </a:r>
          </a:p>
          <a:p>
            <a:r>
              <a:t>Respuesta esperada: los tests protegen la regla y el adaptador ante regresiones; el QA manual comprueba que el sistema operativo dispare los callbacks y qué pasa cuando se cierra el proceso. Es la frontera entre automatización y hardware real, la misma de la Unidad 3 aplicada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Adaptador: clase que traduce lo que pasa afuera del juego (un dispositivo, un aviso del sistema operativo) en una orden para la lógica del juego.</a:t>
            </a:r>
          </a:p>
          <a:p>
            <a:r>
              <a:t>• Regla: lógica del juego que se puede probar sin el dispositivo real.</a:t>
            </a:r>
          </a:p>
          <a:p>
            <a:r>
              <a:t>• Test inestable (flaky): test que a veces pasa y a veces falla sin que cambie el código.</a:t>
            </a:r>
          </a:p>
          <a:p>
            <a:r>
              <a:t>• SO: sistema operativo (Android, iOS); es quien avisa al juego que pasa a segundo plano.</a:t>
            </a:r>
          </a:p>
          <a:p>
            <a:r>
              <a:t>Versión final: la pausa (A4.4) se resuelve en el dossier del TP 3, con este mismo patrón.</a:t>
            </a:r>
          </a:p>
          <a:p>
            <a:r>
              <a:t>Idea: el porteo de la entrada ya usó el mismo patrón que van a aplicar a la pausa en A4.4. ShipInputAdapter lee el teclado, el gamepad o los controles en pantalla y llama a Ship.SetIntent; los tests de ShipIntentTests prueban la nave con intenciones, sin ningún dispositivo, y desactivan el adaptador para aislarla.</a:t>
            </a:r>
          </a:p>
          <a:p>
            <a:r>
              <a:t>Evidencia real del repositorio (Test Runner en batchmode, Play Mode, 2026-10-10; XML en laboratorio-adaptacion/evidencia):</a:t>
            </a:r>
          </a:p>
          <a:p>
            <a:r>
              <a:t>1. Antes del porteo: 11 tests, 7 pasan y 4 fallan.</a:t>
            </a:r>
          </a:p>
          <a:p>
            <a:r>
              <a:t>2. Después del porteo: 14 tests (11 + 3 nuevos). En tres corridas pasaron 10, 11 y 10. Los 3 tests nuevos pasaron siempre.</a:t>
            </a:r>
          </a:p>
          <a:p>
            <a:r>
              <a:t>3. Tres fallas son siempre las mismas: las "hipótesis de integración" que detectan defectos reales del pool de asteroides (un asteroide se libera dos veces; NewGame no borra los asteroides viejos; un segundo NewGame acelera el spawn).</a:t>
            </a:r>
          </a:p>
          <a:p>
            <a:r>
              <a:t>4. Una falla cambia de test entre corridas (LaserMovesUp en una, GameOverStopsSpawningAndDisablesShip en otras): el stack trace lleva al mismo defecto del pool (Laser.cs:52 → Spawner.PlayExplosion). Es un test inestable causado por el código del juego, no por el porteo.</a:t>
            </a:r>
          </a:p>
          <a:p>
            <a:r>
              <a:t>Mensaje: un test en rojo no siempre es culpa del cambio que acabamos de hacer; hay que leer el stack trace antes de concluir. Es el ciclo de la Unidad 3 aplicado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de Edit Mode: test que corre en el editor sin dar Play; sirve para lógica pura y para leer la configuración del proyecto.</a:t>
            </a:r>
          </a:p>
          <a:p>
            <a:r>
              <a:t>• PlayerSettings: API de C# que lee y escribe los Player Settings.</a:t>
            </a:r>
          </a:p>
          <a:p>
            <a:r>
              <a:t>• NamedBuildTarget: identificador de la plataforma en la API (acá, Android).</a:t>
            </a:r>
          </a:p>
          <a:p>
            <a:r>
              <a:t>• Bandera (flag): valor que junta varias opciones; con &amp; se pregunta si una está prendida.</a:t>
            </a:r>
          </a:p>
          <a:p>
            <a:r>
              <a:t>Problema primero: el APK se instala en un teléfono y en otro no. Nadie tocó el código del juego: el proyecto estaba en Mono y solo ARMv7. ¿Se puede proteger la configuración con un test?</a:t>
            </a:r>
          </a:p>
          <a:p>
            <a:r>
              <a:t>Qué mostrar: dos de los cuatro tests de AndroidBuildConfigTests.cs. Los otros dos verifican que la API mínima sea 25 o más y que la build sea .apk y no .aab.</a:t>
            </a:r>
          </a:p>
          <a:p>
            <a:r>
              <a:t>Evidencia real (2026-10-12, Unity 6000.3.11f1, batchmode): con el proyecto en Mono + ARMv7, 2 tests en verde (API mínima, APK) y 2 en rojo (IL2CPP, ARM64). Archivo: laboratorio-adaptacion/evidencia/asteroides-05-android-config-editmode-red.xml.</a:t>
            </a:r>
          </a:p>
          <a:p>
            <a:r>
              <a:t>Datos de la documentación de Unity 6.3 (Android Player settings): ARM64 "se habilita solo cuando Scripting Backend es IL2CPP"; Active Input Handling = Both "no está soportado en Android".</a:t>
            </a:r>
          </a:p>
          <a:p>
            <a:r>
              <a:t>Límites: el test lee los Player Settings del proyecto; si un Build Profile tiene Player Settings propios, no está comprobado qué valores ve el test (UNKNOWN). Y una configuración correcta no demuestra que la app abra en el teléfono ni que los controles respondan.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Runner: ventana de Unity (Window &gt; General &gt; Test Runner) que ejecuta los tests y muestra verde o rojo.</a:t>
            </a:r>
          </a:p>
          <a:p>
            <a:r>
              <a:t>• Assembly definition (asmdef): archivo que agrupa scripts; los tests de editor van en uno que solo incluye la plataforma Editor.</a:t>
            </a:r>
          </a:p>
          <a:p>
            <a:r>
              <a:t>• Rojo a propósito: romper una condición para comprobar que el test es capaz de fallar.</a:t>
            </a:r>
          </a:p>
          <a:p>
            <a:r>
              <a:t>Consigna completa (sobre su copia del proyecto):</a:t>
            </a:r>
          </a:p>
          <a:p>
            <a:r>
              <a:t>1. Crear Assets/Tests/EditMode con un asmdef de tests que solo incluya la plataforma Editor (referencia: EditModeTests.asmdef del repositorio).</a:t>
            </a:r>
          </a:p>
          <a:p>
            <a:r>
              <a:t>2. Escribir dos tests: Scripting Backend = IL2CPP y ARM64 tildado, con la estructura de la slide anterior.</a:t>
            </a:r>
          </a:p>
          <a:p>
            <a:r>
              <a:t>3. Correrlos en el Test Runner, pestaña EditMode. Si hicieron la tarea de la build, deberían dar verde.</a:t>
            </a:r>
          </a:p>
          <a:p>
            <a:r>
              <a:t>4. Romper a propósito: pasar a Mono, correr de nuevo y ver el rojo. Restaurar IL2CPP y ver el verde. Un test que nunca vieron fallar no prueba nada.</a:t>
            </a:r>
          </a:p>
          <a:p>
            <a:r>
              <a:t>5. Escribir qué NO demuestra: que el teléfono acepte la app, que los controles respondan, el rendimiento.</a:t>
            </a:r>
          </a:p>
          <a:p>
            <a:r>
              <a:t>Extensión para el grupo que termina: BuildAndroid.cs (Assets/Editor) genera el APK desde código con BuildPipeline.BuildPlayer, sin abrir la ventana. Se corre en batchmode y deja un log como evidencia; es el primer paso hacia la integración continua. Evidencia (2026-10-12): build correcta en 42 s, APK de 20 MB (laboratorio-adaptacion/evidencia/asteroides-06-build-android-apk.log).</a:t>
            </a:r>
          </a:p>
          <a:p>
            <a:r>
              <a:t>Errores frecuentes: un asmdef de tests que incluye todas las plataformas (el código de UnityEditor no compila para el player); olvidar using UnityEditor.Build (NamedBuildTarget); correr los tests en la pestaña PlayMode.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FTC (Federal Trade Commission): organismo de EE. UU. que protege a los consumidores.</a:t>
            </a:r>
          </a:p>
          <a:p>
            <a:r>
              <a:t>• COPPA: ley de EE. UU. que protege la privacidad de los menores de 13 años en línea.</a:t>
            </a:r>
          </a:p>
          <a:p>
            <a:r>
              <a:t>• Dark patterns: diseños de interfaz que empujan al usuario a hacer algo que no quería.</a:t>
            </a:r>
          </a:p>
          <a:p>
            <a:r>
              <a:t>Caso completo: en 2022 la FTC acusó a Epic Games por Fortnite. Epic pagó USD 275 millones por privacidad de menores (COPPA) y USD 245 millones en reembolsos. El motivo: dark patterns en la compra, con una configuración de botones "counterintuitive, inconsistent, and confusing".</a:t>
            </a:r>
          </a:p>
          <a:p>
            <a:r>
              <a:t>Respuesta buscada: las dos cosas. Una decisión de interfaz (dónde va un botón, qué confirma una compra) tuvo consecuencias legales. Desde hoy la monetización se analiza como diseño, con reglas y con ética.</a:t>
            </a:r>
          </a:p>
          <a:p>
            <a:r>
              <a:t>Imagen sugerida (opcional, sin recuadro en la slide): titular del comunicado oficial de la FTC del 19/12/2022.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IAP: compra dentro de la app.</a:t>
            </a:r>
          </a:p>
          <a:p>
            <a:r>
              <a:t>• Rewarded: anuncio que el jugador elige ver a cambio de una recompensa.</a:t>
            </a:r>
          </a:p>
          <a:p>
            <a:r>
              <a:t>• Interstitial: anuncio de pantalla completa, en las transiciones.</a:t>
            </a:r>
          </a:p>
          <a:p>
            <a:r>
              <a:t>Modelos: premium (paga una vez; ejemplo, Alto's Adventure sin anuncios ni IAP); freemium + IAP (pagan algunos; la progresión y la tienda se piensan para vender); anuncios (paga el anunciante y el jugador "paga" con tiempo); híbrido. Agregar el premium corrige el programa, que solo nombra freemium e híbridos.</a:t>
            </a:r>
          </a:p>
          <a:p>
            <a:r>
              <a:t>Formatos de anuncio: rewarded, "served after a user explicitly chooses to view" (AdMob); interstitial, solo en transiciones naturales; banner, franja fija que ocupa UI y safe area. La diferencia clave es el consentimiento: el rewarded lo pide el jugador, el interstitial se lo imponen.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Política de tienda: reglas que una app debe cumplir para publicarse.</a:t>
            </a:r>
          </a:p>
          <a:p>
            <a:r>
              <a:t>• Loot box (caja con premios al azar): compra cuyo contenido se sortea.</a:t>
            </a:r>
          </a:p>
          <a:p>
            <a:r>
              <a:t>AdMob prohíbe interstitials al abrir o al salir de la app, después de cada acción del usuario (como máximo, uno cada dos acciones), inmediatamente después de otro interstitial y de forma inesperada durante el juego.</a:t>
            </a:r>
          </a:p>
          <a:p>
            <a:r>
              <a:t>Apple 3.1.1: el contenido digital se desbloquea con IAP. Apple y Google: las cajas al azar muestran las probabilidades antes de comprar. Google Play Billing es obligatorio, con excepciones por país. Apps para niños: sin publicidad personalizada ni SDKs no certificados.</a:t>
            </a:r>
          </a:p>
          <a:p>
            <a:r>
              <a:t>Pregunta: si cada partida es corta y cada Game Over muestra un anuncio, se acerca a "después de cada acción". No hay respuesta automática: hay que leer la política y justificar.</a:t>
            </a:r>
          </a:p>
          <a:p>
            <a:r>
              <a:t>Dato de herramienta: Unity recomienda migrar de Unity Ads directo a LevelPlay (mediación) desde abril de 2026; no se integra en esta materia.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Dark pattern: diseño que juega en contra del interés del jugador.</a:t>
            </a:r>
          </a:p>
          <a:p>
            <a:r>
              <a:t>• Balance: relación entre dificultad, recursos y habilidad.</a:t>
            </a:r>
          </a:p>
          <a:p>
            <a:r>
              <a:t>Detalle: "continuar con un anuncio" cambia el significado del Game Over; subir la dificultad para vender vidas cambia el balance; las pausas para anuncios cambian el ritmo. En Vampire Survivors para móvil, la monetización está "designed to never interrupt your game, always be optional" (Kotaku, 2023, citando a poncle).</a:t>
            </a:r>
          </a:p>
          <a:p>
            <a:r>
              <a:t>Ética: dark patterns (Zagal, Björk y Lewis, 2013; citar sin enlace hasta verificar una copia legal); loot boxes asociadas con el juego problemático (Zendle y Cairns, 2018, PLOS ONE, n = 7.422): correlación, no causa; 35 técnicas percibidas como predatorias (Petrovskaya y Zendle, 2022); Bélgica prohibió mecánicas de loot box en 2018 (UK Gambling Commission). No decir que las loot boxes "causan" adicción.</a:t>
            </a:r>
          </a:p>
          <a:p>
            <a:r>
              <a:t>Respuesta posible a la pregunta: cantidad de vidas, velocidad de los asteroides, duración de la partida y cómo se calcula el puntaje si alguien continúa.</a:t>
            </a:r>
          </a:p>
          <a:p>
            <a:r>
              <a:t>Video opcional de tarea: Anisa Sanusi, "Dark Patterns: How Good UX Can Be Bad UX" (GDC 2017).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Cofre al azar: equivalente a una loot box.</a:t>
            </a:r>
          </a:p>
          <a:p>
            <a:r>
              <a:t>Versión final: cada grupo vota y justifica en una frase; el debate largo va al foro del aula virtual.</a:t>
            </a:r>
          </a:p>
          <a:p>
            <a:r>
              <a:t>Propuestas completas: P1 premium a US$ 2,99, sin anuncios ni compras. P2 gratis, rewarded "continuar con 1 vida" (una vez por partida) + IAP "quitar anuncios". P3 gratis, interstitial al abrir y en cada Game Over + cofres pagos al azar sin probabilidades + dificultad aumentada para empujar a comprar.</a:t>
            </a:r>
          </a:p>
          <a:p>
            <a:r>
              <a:t>Respuesta esperada: P3 viola políticas (interstitial al abrir; probabilidades no informadas) y manipula la dificultad. P2 cumple, pero cambia el balance. P1 es viable, con menor alcance. Vale cualquier elección defendida con criterios y fuentes.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Coevaluación: los grupos se evalúan entre sí con criterios compartidos.</a:t>
            </a:r>
          </a:p>
          <a:p>
            <a:r>
              <a:t>• Decisión de plataforma (PDR): registro de contexto, opciones, decisión y consecuencias.</a:t>
            </a:r>
          </a:p>
          <a:p>
            <a:r>
              <a:t>Versión final (PROPUESTO, lo decide la titular): sin tiempo para la defensa en vivo, cada grupo sube un video de 3 minutos al aula virtual y coevalúa el de otro grupo con estos criterios.</a:t>
            </a:r>
          </a:p>
          <a:p>
            <a:r>
              <a:t>Contenido de la defensa: una decisión de plataforma (contexto, opciones, decisión, consecuencias); la evidencia del teléfono que la respalda o la contradice; lo que quedó sin probar, dicho explícitamente.</a:t>
            </a:r>
          </a:p>
          <a:p>
            <a:r>
              <a:t>A4.4, "La llamada que mata la nave", pasa al dossier: comportamiento esperado ante una interrupción; regla de pausa separada del adaptador (OnApplicationPause); test de Edit Mode de la regla; qué NO demuestra el test. El ejemplo para destrabar es ShipIntentTests.cs (aislar la regla del adaptador).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que hace el fabricante de la consola antes de permitir que un juego se publique.</a:t>
            </a:r>
          </a:p>
          <a:p>
            <a:r>
              <a:t>• Transferencia: aplicar lo aprendido en un caso a otro distinto.</a:t>
            </a:r>
          </a:p>
          <a:p>
            <a:r>
              <a:t>Síntesis: en móvil el límite lo ponen la energía, el calor, la memoria, la pantalla táctil, las interrupciones y las reglas de tienda. Lo que el editor no muestra, lo muestra el teléfono.</a:t>
            </a:r>
          </a:p>
          <a:p>
            <a:r>
              <a:t>Transferencia (1 min): el 2D Platformer ya tiene MobileMove, MobileJump y MobileShoot, pero su objeto MobileControls está vacío. El patrón adaptador → intención → personaje se reutiliza; el esquema no se copia: en un juego de plataformas importa el momento del salto (botón grande, bajo el pulgar; tolerancias como el coyote time).</a:t>
            </a:r>
          </a:p>
          <a:p>
            <a:r>
              <a:t>Puente técnico: las mismas acciones de Input System que usamos para el dedo ya aceptan un gamepad; para jugar en una consola no hay que reescribir la nave. Lo que cambia es todo lo demás.</a:t>
            </a:r>
          </a:p>
          <a:p>
            <a:r>
              <a:t>Pregunta puente: en consola, el fabricante certifica el juego antes de publicarlo (Microsoft publica sus requisitos; Sony y Nintendo, no). La idea transversal de las Unidades IV a VII: ¿quién pone el límite?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3 DE 3 · 90 MIN · PRÁCTICA EN DISPOSITIVO</a:t>
            </a:r>
          </a:p>
          <a:p>
            <a:r>
              <a:rPr sz="4000" b="1" i="0">
                <a:solidFill>
                  <a:srgbClr val="FFFFFF"/>
                </a:solidFill>
                <a:latin typeface="Calibri"/>
              </a:rPr>
              <a:t>Asteroides en tu bolsillo</a:t>
            </a:r>
          </a:p>
          <a:p>
            <a:pPr>
              <a:spcBef>
                <a:spcPts val="600"/>
              </a:spcBef>
            </a:pPr>
            <a:r>
              <a:rPr sz="2000" b="0" i="0">
                <a:solidFill>
                  <a:srgbClr val="CBD5E1"/>
                </a:solidFill>
                <a:latin typeface="Calibri"/>
              </a:rPr>
              <a:t>Build, medición, prueba y negocio en sus teléfonos</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3 · final · 1/23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 · 3 MIN</a:t>
            </a:r>
          </a:p>
          <a:p>
            <a:r>
              <a:rPr sz="2600" b="1" i="0">
                <a:solidFill>
                  <a:srgbClr val="FFFFFF"/>
                </a:solidFill>
                <a:latin typeface="Calibri"/>
              </a:rPr>
              <a:t>¿Qué no sabemos todavía?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2/23</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esperan que cambie?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Todo fue en el editor</a:t>
            </a:r>
          </a:p>
          <a:p>
            <a:pPr>
              <a:spcAft>
                <a:spcPts val="800"/>
              </a:spcAft>
            </a:pPr>
            <a:r>
              <a:rPr sz="1600" b="1" i="0">
                <a:solidFill>
                  <a:srgbClr val="0D9488"/>
                </a:solidFill>
                <a:latin typeface="Calibri"/>
              </a:rPr>
              <a:t>■  </a:t>
            </a:r>
            <a:r>
              <a:rPr sz="2200" b="0" i="0">
                <a:solidFill>
                  <a:srgbClr val="1F2937"/>
                </a:solidFill>
                <a:latin typeface="Calibri"/>
              </a:rPr>
              <a:t>"Qué no demuestra" sigue abierto</a:t>
            </a:r>
          </a:p>
          <a:p>
            <a:pPr>
              <a:spcAft>
                <a:spcPts val="800"/>
              </a:spcAft>
            </a:pPr>
            <a:r>
              <a:rPr sz="1600" b="1" i="0">
                <a:solidFill>
                  <a:srgbClr val="0D9488"/>
                </a:solidFill>
                <a:latin typeface="Calibri"/>
              </a:rPr>
              <a:t>■  </a:t>
            </a:r>
            <a:r>
              <a:rPr sz="2200" b="0" i="0">
                <a:solidFill>
                  <a:srgbClr val="1F2937"/>
                </a:solidFill>
                <a:latin typeface="Calibri"/>
              </a:rPr>
              <a:t>Hoy: el teléfono real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REPASO DE LA BUILD · 2 MIN</a:t>
            </a:r>
          </a:p>
          <a:p>
            <a:r>
              <a:rPr sz="2600" b="1" i="0">
                <a:solidFill>
                  <a:srgbClr val="FFFFFF"/>
                </a:solidFill>
                <a:latin typeface="Calibri"/>
              </a:rPr>
              <a:t>Antes de compilar: así viene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3/23</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de esto impide instalar en un teléfono de 64 bits?</a:t>
            </a:r>
          </a:p>
        </p:txBody>
      </p:sp>
      <p:pic>
        <p:nvPicPr>
          <p:cNvPr id="10" name="Picture 9" descr="u4-player-settings-android.png"/>
          <p:cNvPicPr>
            <a:picLocks noChangeAspect="1"/>
          </p:cNvPicPr>
          <p:nvPr/>
        </p:nvPicPr>
        <p:blipFill>
          <a:blip r:embed="rId2"/>
          <a:stretch>
            <a:fillRect/>
          </a:stretch>
        </p:blipFill>
        <p:spPr>
          <a:xfrm>
            <a:off x="541869" y="1234440"/>
            <a:ext cx="11107957" cy="3840480"/>
          </a:xfrm>
          <a:prstGeom prst="rect">
            <a:avLst/>
          </a:prstGeom>
          <a:ln w="12700">
            <a:solidFill>
              <a:srgbClr val="E5E7EB"/>
            </a:solidFill>
          </a:ln>
        </p:spPr>
      </p:pic>
      <p:sp>
        <p:nvSpPr>
          <p:cNvPr id="11" name="TextBox 10"/>
          <p:cNvSpPr txBox="1"/>
          <p:nvPr/>
        </p:nvSpPr>
        <p:spPr>
          <a:xfrm>
            <a:off x="502920" y="507492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Player Settings &gt; Other Settings de Asteroides en Unity 6000.3.11f1, antes de cambiar nada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 2 MIN</a:t>
            </a:r>
          </a:p>
          <a:p>
            <a:r>
              <a:rPr sz="2600" b="1" i="0">
                <a:solidFill>
                  <a:srgbClr val="FFFFFF"/>
                </a:solidFill>
                <a:latin typeface="Calibri"/>
              </a:rPr>
              <a:t>Así tiene que quedar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Build your application for Android</a:t>
            </a:r>
          </a:p>
        </p:txBody>
      </p:sp>
      <p:sp>
        <p:nvSpPr>
          <p:cNvPr id="9" name="Rectangle 8"/>
          <p:cNvSpPr/>
          <p:nvPr/>
        </p:nvSpPr>
        <p:spPr>
          <a:xfrm>
            <a:off x="5836615" y="1234440"/>
            <a:ext cx="5852160" cy="448056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19495" y="1234440"/>
            <a:ext cx="5486400" cy="457200"/>
          </a:xfrm>
          <a:prstGeom prst="rect">
            <a:avLst/>
          </a:prstGeom>
          <a:noFill/>
        </p:spPr>
        <p:txBody>
          <a:bodyPr wrap="square" anchor="ctr" lIns="0" rIns="0" tIns="0" bIns="0">
            <a:spAutoFit/>
          </a:bodyPr>
          <a:lstStyle/>
          <a:p>
            <a:r>
              <a:rPr sz="1500" b="1" i="0">
                <a:solidFill>
                  <a:srgbClr val="FFFFFF"/>
                </a:solidFill>
                <a:latin typeface="Calibri"/>
              </a:rPr>
              <a:t>Player Settings · Android</a:t>
            </a:r>
          </a:p>
        </p:txBody>
      </p:sp>
      <p:sp>
        <p:nvSpPr>
          <p:cNvPr id="11" name="Rectangle 10"/>
          <p:cNvSpPr/>
          <p:nvPr/>
        </p:nvSpPr>
        <p:spPr>
          <a:xfrm>
            <a:off x="5836615" y="16916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19495" y="1691640"/>
            <a:ext cx="2743200" cy="502920"/>
          </a:xfrm>
          <a:prstGeom prst="rect">
            <a:avLst/>
          </a:prstGeom>
          <a:noFill/>
        </p:spPr>
        <p:txBody>
          <a:bodyPr wrap="square" anchor="ctr" lIns="0" rIns="0" tIns="0" bIns="0">
            <a:spAutoFit/>
          </a:bodyPr>
          <a:lstStyle/>
          <a:p>
            <a:r>
              <a:rPr sz="1400" b="0" i="0">
                <a:solidFill>
                  <a:srgbClr val="D4D4D4"/>
                </a:solidFill>
                <a:latin typeface="Calibri"/>
              </a:rPr>
              <a:t>Company Name</a:t>
            </a:r>
          </a:p>
        </p:txBody>
      </p:sp>
      <p:sp>
        <p:nvSpPr>
          <p:cNvPr id="13" name="Rounded Rectangle 12"/>
          <p:cNvSpPr/>
          <p:nvPr/>
        </p:nvSpPr>
        <p:spPr>
          <a:xfrm>
            <a:off x="8762695" y="17647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Unju</a:t>
            </a:r>
          </a:p>
        </p:txBody>
      </p:sp>
      <p:sp>
        <p:nvSpPr>
          <p:cNvPr id="14" name="Rectangle 13"/>
          <p:cNvSpPr/>
          <p:nvPr/>
        </p:nvSpPr>
        <p:spPr>
          <a:xfrm>
            <a:off x="5836615" y="21945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9495" y="2194560"/>
            <a:ext cx="2743200" cy="502920"/>
          </a:xfrm>
          <a:prstGeom prst="rect">
            <a:avLst/>
          </a:prstGeom>
          <a:noFill/>
        </p:spPr>
        <p:txBody>
          <a:bodyPr wrap="square" anchor="ctr" lIns="0" rIns="0" tIns="0" bIns="0">
            <a:spAutoFit/>
          </a:bodyPr>
          <a:lstStyle/>
          <a:p>
            <a:r>
              <a:rPr sz="1400" b="0" i="0">
                <a:solidFill>
                  <a:srgbClr val="D4D4D4"/>
                </a:solidFill>
                <a:latin typeface="Calibri"/>
              </a:rPr>
              <a:t>Product Name</a:t>
            </a:r>
          </a:p>
        </p:txBody>
      </p:sp>
      <p:sp>
        <p:nvSpPr>
          <p:cNvPr id="16" name="Rounded Rectangle 15"/>
          <p:cNvSpPr/>
          <p:nvPr/>
        </p:nvSpPr>
        <p:spPr>
          <a:xfrm>
            <a:off x="8762695" y="226771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AsteroideTest</a:t>
            </a:r>
          </a:p>
        </p:txBody>
      </p:sp>
      <p:sp>
        <p:nvSpPr>
          <p:cNvPr id="17" name="Rectangle 16"/>
          <p:cNvSpPr/>
          <p:nvPr/>
        </p:nvSpPr>
        <p:spPr>
          <a:xfrm>
            <a:off x="5836615" y="26974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19495" y="2697480"/>
            <a:ext cx="2743200" cy="502920"/>
          </a:xfrm>
          <a:prstGeom prst="rect">
            <a:avLst/>
          </a:prstGeom>
          <a:noFill/>
        </p:spPr>
        <p:txBody>
          <a:bodyPr wrap="square" anchor="ctr" lIns="0" rIns="0" tIns="0" bIns="0">
            <a:spAutoFit/>
          </a:bodyPr>
          <a:lstStyle/>
          <a:p>
            <a:r>
              <a:rPr sz="1400" b="0" i="0">
                <a:solidFill>
                  <a:srgbClr val="D4D4D4"/>
                </a:solidFill>
                <a:latin typeface="Calibri"/>
              </a:rPr>
              <a:t>Package Name</a:t>
            </a:r>
          </a:p>
        </p:txBody>
      </p:sp>
      <p:sp>
        <p:nvSpPr>
          <p:cNvPr id="19" name="Rounded Rectangle 18"/>
          <p:cNvSpPr/>
          <p:nvPr/>
        </p:nvSpPr>
        <p:spPr>
          <a:xfrm>
            <a:off x="8762695" y="277063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com.Unju.AsteroideTest</a:t>
            </a:r>
          </a:p>
        </p:txBody>
      </p:sp>
      <p:sp>
        <p:nvSpPr>
          <p:cNvPr id="20" name="Rectangle 19"/>
          <p:cNvSpPr/>
          <p:nvPr/>
        </p:nvSpPr>
        <p:spPr>
          <a:xfrm>
            <a:off x="5836615" y="320040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19495" y="3200400"/>
            <a:ext cx="2743200" cy="502920"/>
          </a:xfrm>
          <a:prstGeom prst="rect">
            <a:avLst/>
          </a:prstGeom>
          <a:noFill/>
        </p:spPr>
        <p:txBody>
          <a:bodyPr wrap="square" anchor="ctr" lIns="0" rIns="0" tIns="0" bIns="0">
            <a:spAutoFit/>
          </a:bodyPr>
          <a:lstStyle/>
          <a:p>
            <a:r>
              <a:rPr sz="1400" b="0" i="0">
                <a:solidFill>
                  <a:srgbClr val="D4D4D4"/>
                </a:solidFill>
                <a:latin typeface="Calibri"/>
              </a:rPr>
              <a:t>Minimum API Level</a:t>
            </a:r>
          </a:p>
        </p:txBody>
      </p:sp>
      <p:sp>
        <p:nvSpPr>
          <p:cNvPr id="22" name="Rounded Rectangle 21"/>
          <p:cNvSpPr/>
          <p:nvPr/>
        </p:nvSpPr>
        <p:spPr>
          <a:xfrm>
            <a:off x="8762695" y="327355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API 25 (Android 7.1)</a:t>
            </a:r>
          </a:p>
        </p:txBody>
      </p:sp>
      <p:sp>
        <p:nvSpPr>
          <p:cNvPr id="23" name="Rectangle 22"/>
          <p:cNvSpPr/>
          <p:nvPr/>
        </p:nvSpPr>
        <p:spPr>
          <a:xfrm>
            <a:off x="5836615" y="370332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19495" y="3703320"/>
            <a:ext cx="2743200" cy="502920"/>
          </a:xfrm>
          <a:prstGeom prst="rect">
            <a:avLst/>
          </a:prstGeom>
          <a:noFill/>
        </p:spPr>
        <p:txBody>
          <a:bodyPr wrap="square" anchor="ctr" lIns="0" rIns="0" tIns="0" bIns="0">
            <a:spAutoFit/>
          </a:bodyPr>
          <a:lstStyle/>
          <a:p>
            <a:r>
              <a:rPr sz="1400" b="0" i="0">
                <a:solidFill>
                  <a:srgbClr val="D4D4D4"/>
                </a:solidFill>
                <a:latin typeface="Calibri"/>
              </a:rPr>
              <a:t>Scripting Backend</a:t>
            </a:r>
          </a:p>
        </p:txBody>
      </p:sp>
      <p:sp>
        <p:nvSpPr>
          <p:cNvPr id="25" name="Rounded Rectangle 24"/>
          <p:cNvSpPr/>
          <p:nvPr/>
        </p:nvSpPr>
        <p:spPr>
          <a:xfrm>
            <a:off x="8762695" y="377647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IL2CPP</a:t>
            </a:r>
          </a:p>
        </p:txBody>
      </p:sp>
      <p:sp>
        <p:nvSpPr>
          <p:cNvPr id="26" name="Rectangle 25"/>
          <p:cNvSpPr/>
          <p:nvPr/>
        </p:nvSpPr>
        <p:spPr>
          <a:xfrm>
            <a:off x="5836615" y="42062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19495" y="4206240"/>
            <a:ext cx="2743200" cy="502920"/>
          </a:xfrm>
          <a:prstGeom prst="rect">
            <a:avLst/>
          </a:prstGeom>
          <a:noFill/>
        </p:spPr>
        <p:txBody>
          <a:bodyPr wrap="square" anchor="ctr" lIns="0" rIns="0" tIns="0" bIns="0">
            <a:spAutoFit/>
          </a:bodyPr>
          <a:lstStyle/>
          <a:p>
            <a:r>
              <a:rPr sz="1400" b="0" i="0">
                <a:solidFill>
                  <a:srgbClr val="D4D4D4"/>
                </a:solidFill>
                <a:latin typeface="Calibri"/>
              </a:rPr>
              <a:t>Target Architectures</a:t>
            </a:r>
          </a:p>
        </p:txBody>
      </p:sp>
      <p:sp>
        <p:nvSpPr>
          <p:cNvPr id="28" name="Rounded Rectangle 27"/>
          <p:cNvSpPr/>
          <p:nvPr/>
        </p:nvSpPr>
        <p:spPr>
          <a:xfrm>
            <a:off x="8762695" y="42793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ARM64</a:t>
            </a:r>
          </a:p>
        </p:txBody>
      </p:sp>
      <p:sp>
        <p:nvSpPr>
          <p:cNvPr id="29" name="Rectangle 28"/>
          <p:cNvSpPr/>
          <p:nvPr/>
        </p:nvSpPr>
        <p:spPr>
          <a:xfrm>
            <a:off x="5836615" y="47091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19495" y="4709160"/>
            <a:ext cx="2743200" cy="502920"/>
          </a:xfrm>
          <a:prstGeom prst="rect">
            <a:avLst/>
          </a:prstGeom>
          <a:noFill/>
        </p:spPr>
        <p:txBody>
          <a:bodyPr wrap="square" anchor="ctr" lIns="0" rIns="0" tIns="0" bIns="0">
            <a:spAutoFit/>
          </a:bodyPr>
          <a:lstStyle/>
          <a:p>
            <a:r>
              <a:rPr sz="1400" b="0" i="0">
                <a:solidFill>
                  <a:srgbClr val="D4D4D4"/>
                </a:solidFill>
                <a:latin typeface="Calibri"/>
              </a:rPr>
              <a:t>Build App Bundle</a:t>
            </a:r>
          </a:p>
        </p:txBody>
      </p:sp>
      <p:sp>
        <p:nvSpPr>
          <p:cNvPr id="31" name="Rounded Rectangle 30"/>
          <p:cNvSpPr/>
          <p:nvPr/>
        </p:nvSpPr>
        <p:spPr>
          <a:xfrm>
            <a:off x="8762695" y="478231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No: sale un .apk</a:t>
            </a:r>
          </a:p>
        </p:txBody>
      </p:sp>
      <p:sp>
        <p:nvSpPr>
          <p:cNvPr id="32" name="Rectangle 31"/>
          <p:cNvSpPr/>
          <p:nvPr/>
        </p:nvSpPr>
        <p:spPr>
          <a:xfrm>
            <a:off x="5836615" y="52120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19495" y="5212080"/>
            <a:ext cx="2743200" cy="502920"/>
          </a:xfrm>
          <a:prstGeom prst="rect">
            <a:avLst/>
          </a:prstGeom>
          <a:noFill/>
        </p:spPr>
        <p:txBody>
          <a:bodyPr wrap="square" anchor="ctr" lIns="0" rIns="0" tIns="0" bIns="0">
            <a:spAutoFit/>
          </a:bodyPr>
          <a:lstStyle/>
          <a:p>
            <a:r>
              <a:rPr sz="1400" b="0" i="0">
                <a:solidFill>
                  <a:srgbClr val="D4D4D4"/>
                </a:solidFill>
                <a:latin typeface="Calibri"/>
              </a:rPr>
              <a:t>Development Build</a:t>
            </a:r>
          </a:p>
        </p:txBody>
      </p:sp>
      <p:sp>
        <p:nvSpPr>
          <p:cNvPr id="34" name="Rounded Rectangle 33"/>
          <p:cNvSpPr/>
          <p:nvPr/>
        </p:nvSpPr>
        <p:spPr>
          <a:xfrm>
            <a:off x="8762695" y="528523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Sí, para el Profiler</a:t>
            </a:r>
          </a:p>
        </p:txBody>
      </p:sp>
      <p:sp>
        <p:nvSpPr>
          <p:cNvPr id="35" name="TextBox 34"/>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sola fuente: Project Settings</a:t>
            </a:r>
          </a:p>
          <a:p>
            <a:pPr>
              <a:spcAft>
                <a:spcPts val="800"/>
              </a:spcAft>
            </a:pPr>
            <a:r>
              <a:rPr sz="1600" b="1" i="0">
                <a:solidFill>
                  <a:srgbClr val="0D9488"/>
                </a:solidFill>
                <a:latin typeface="Calibri"/>
              </a:rPr>
              <a:t>■  </a:t>
            </a:r>
            <a:r>
              <a:rPr sz="2200" b="0" i="0">
                <a:solidFill>
                  <a:srgbClr val="1F2937"/>
                </a:solidFill>
                <a:latin typeface="Calibri"/>
              </a:rPr>
              <a:t>El Build Profile puede pisarla</a:t>
            </a:r>
          </a:p>
          <a:p>
            <a:pPr>
              <a:spcAft>
                <a:spcPts val="800"/>
              </a:spcAft>
            </a:pPr>
            <a:r>
              <a:rPr sz="1600" b="1" i="0">
                <a:solidFill>
                  <a:srgbClr val="0D9488"/>
                </a:solidFill>
                <a:latin typeface="Calibri"/>
              </a:rPr>
              <a:t>■  </a:t>
            </a:r>
            <a:r>
              <a:rPr sz="2200" b="0" i="0">
                <a:solidFill>
                  <a:srgbClr val="1F2937"/>
                </a:solidFill>
                <a:latin typeface="Calibri"/>
              </a:rPr>
              <a:t>Both: aviso, no error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DIAGNÓSTICO · CARTELES REALES · 2 MIN</a:t>
            </a:r>
          </a:p>
          <a:p>
            <a:r>
              <a:rPr sz="2600" b="1" i="0">
                <a:solidFill>
                  <a:srgbClr val="FFFFFF"/>
                </a:solidFill>
                <a:latin typeface="Calibri"/>
              </a:rPr>
              <a:t>Cuando la build se frena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5/23</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es un error y cuál es un aviso?</a:t>
            </a:r>
          </a:p>
        </p:txBody>
      </p:sp>
      <p:pic>
        <p:nvPicPr>
          <p:cNvPr id="10" name="Picture 9" descr="u4-dialogo-input-handling.png"/>
          <p:cNvPicPr>
            <a:picLocks noChangeAspect="1"/>
          </p:cNvPicPr>
          <p:nvPr/>
        </p:nvPicPr>
        <p:blipFill>
          <a:blip r:embed="rId2"/>
          <a:stretch>
            <a:fillRect/>
          </a:stretch>
        </p:blipFill>
        <p:spPr>
          <a:xfrm>
            <a:off x="6744300" y="1234440"/>
            <a:ext cx="2939510" cy="1851660"/>
          </a:xfrm>
          <a:prstGeom prst="rect">
            <a:avLst/>
          </a:prstGeom>
          <a:ln w="12700">
            <a:solidFill>
              <a:srgbClr val="E5E7EB"/>
            </a:solidFill>
          </a:ln>
        </p:spPr>
      </p:pic>
      <p:pic>
        <p:nvPicPr>
          <p:cNvPr id="11" name="Picture 10" descr="u4-dialogo-sin-dispositivo.png"/>
          <p:cNvPicPr>
            <a:picLocks noChangeAspect="1"/>
          </p:cNvPicPr>
          <p:nvPr/>
        </p:nvPicPr>
        <p:blipFill>
          <a:blip r:embed="rId3"/>
          <a:stretch>
            <a:fillRect/>
          </a:stretch>
        </p:blipFill>
        <p:spPr>
          <a:xfrm>
            <a:off x="6008896" y="3223260"/>
            <a:ext cx="4410317" cy="185166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Los dos carteles, tal como aparecieron en Unity 6000.3.11f1</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Input: Ignore y anotar</a:t>
            </a:r>
          </a:p>
          <a:p>
            <a:pPr>
              <a:spcAft>
                <a:spcPts val="800"/>
              </a:spcAft>
            </a:pPr>
            <a:r>
              <a:rPr sz="1600" b="1" i="0">
                <a:solidFill>
                  <a:srgbClr val="0D9488"/>
                </a:solidFill>
                <a:latin typeface="Calibri"/>
              </a:rPr>
              <a:t>■  </a:t>
            </a:r>
            <a:r>
              <a:rPr sz="2200" b="0" i="0">
                <a:solidFill>
                  <a:srgbClr val="1F2937"/>
                </a:solidFill>
                <a:latin typeface="Calibri"/>
              </a:rPr>
              <a:t>Sin teléfono: usar Build</a:t>
            </a:r>
          </a:p>
          <a:p>
            <a:pPr>
              <a:spcAft>
                <a:spcPts val="800"/>
              </a:spcAft>
            </a:pPr>
            <a:r>
              <a:rPr sz="1600" b="1" i="0">
                <a:solidFill>
                  <a:srgbClr val="0D9488"/>
                </a:solidFill>
                <a:latin typeface="Calibri"/>
              </a:rPr>
              <a:t>■  </a:t>
            </a:r>
            <a:r>
              <a:rPr sz="2200" b="0" i="0">
                <a:solidFill>
                  <a:srgbClr val="1F2937"/>
                </a:solidFill>
                <a:latin typeface="Calibri"/>
              </a:rPr>
              <a:t>No instala: ¿y ARM64?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E INSTALACIÓN · 12 MIN · GRUPOS</a:t>
            </a:r>
          </a:p>
          <a:p>
            <a:r>
              <a:rPr sz="2600" b="1" i="0">
                <a:solidFill>
                  <a:srgbClr val="FFFFFF"/>
                </a:solidFill>
                <a:latin typeface="Calibri"/>
              </a:rPr>
              <a:t>De la PC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Build your application for Android; Collect performance data on a target platform</a:t>
            </a:r>
          </a:p>
        </p:txBody>
      </p:sp>
      <p:sp>
        <p:nvSpPr>
          <p:cNvPr id="9" name="Rounded Rectangle 8"/>
          <p:cNvSpPr/>
          <p:nvPr/>
        </p:nvSpPr>
        <p:spPr>
          <a:xfrm>
            <a:off x="7116775" y="123444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Profiles: Android activo</a:t>
            </a:r>
          </a:p>
        </p:txBody>
      </p:sp>
      <p:sp>
        <p:nvSpPr>
          <p:cNvPr id="10" name="Down Arrow 9"/>
          <p:cNvSpPr/>
          <p:nvPr/>
        </p:nvSpPr>
        <p:spPr>
          <a:xfrm>
            <a:off x="9201607" y="194401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25491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Player Settings: IL2CPP + ARM64</a:t>
            </a:r>
          </a:p>
        </p:txBody>
      </p:sp>
      <p:sp>
        <p:nvSpPr>
          <p:cNvPr id="12" name="Down Arrow 11"/>
          <p:cNvSpPr/>
          <p:nvPr/>
        </p:nvSpPr>
        <p:spPr>
          <a:xfrm>
            <a:off x="9201607" y="296448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27538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Teléfono con depuración USB</a:t>
            </a:r>
          </a:p>
        </p:txBody>
      </p:sp>
      <p:sp>
        <p:nvSpPr>
          <p:cNvPr id="14" name="Down Arrow 13"/>
          <p:cNvSpPr/>
          <p:nvPr/>
        </p:nvSpPr>
        <p:spPr>
          <a:xfrm>
            <a:off x="9201607" y="398495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29585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and Run (o Build → .apk)</a:t>
            </a:r>
          </a:p>
        </p:txBody>
      </p:sp>
      <p:sp>
        <p:nvSpPr>
          <p:cNvPr id="16" name="Down Arrow 15"/>
          <p:cNvSpPr/>
          <p:nvPr/>
        </p:nvSpPr>
        <p:spPr>
          <a:xfrm>
            <a:off x="9201607" y="500542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531632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abre en el teléfono</a:t>
            </a:r>
          </a:p>
        </p:txBody>
      </p:sp>
      <p:sp>
        <p:nvSpPr>
          <p:cNvPr id="18" name="TextBox 17"/>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¿Trajeron el APK? Instalar</a:t>
            </a:r>
          </a:p>
          <a:p>
            <a:pPr>
              <a:spcAft>
                <a:spcPts val="800"/>
              </a:spcAft>
            </a:pPr>
            <a:r>
              <a:rPr sz="1600" b="1" i="0">
                <a:solidFill>
                  <a:srgbClr val="0D9488"/>
                </a:solidFill>
                <a:latin typeface="Calibri"/>
              </a:rPr>
              <a:t>■  </a:t>
            </a:r>
            <a:r>
              <a:rPr sz="2200" b="0" i="0">
                <a:solidFill>
                  <a:srgbClr val="1F2937"/>
                </a:solidFill>
                <a:latin typeface="Calibri"/>
              </a:rPr>
              <a:t>¿No? Seguir los pasos</a:t>
            </a:r>
          </a:p>
          <a:p>
            <a:pPr>
              <a:spcAft>
                <a:spcPts val="800"/>
              </a:spcAft>
            </a:pPr>
            <a:r>
              <a:rPr sz="1600" b="1" i="0">
                <a:solidFill>
                  <a:srgbClr val="0D9488"/>
                </a:solidFill>
                <a:latin typeface="Calibri"/>
              </a:rPr>
              <a:t>■  </a:t>
            </a:r>
            <a:r>
              <a:rPr sz="2200" b="0" i="0">
                <a:solidFill>
                  <a:srgbClr val="1F2937"/>
                </a:solidFill>
                <a:latin typeface="Calibri"/>
              </a:rPr>
              <a:t>Con cable: Build and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MEDICIÓN · 8 MIN</a:t>
            </a:r>
          </a:p>
          <a:p>
            <a:r>
              <a:rPr sz="2600" b="1" i="0">
                <a:solidFill>
                  <a:srgbClr val="FFFFFF"/>
                </a:solidFill>
                <a:latin typeface="Calibri"/>
              </a:rPr>
              <a:t>Medir, no opinar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Profiling on a target device; e-book Unity 6, p. 11</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Capturen el Profiler y anoten los valores.</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H1: ¿picos de GC al disparar?</a:t>
            </a:r>
          </a:p>
          <a:p>
            <a:pPr>
              <a:spcAft>
                <a:spcPts val="800"/>
              </a:spcAft>
            </a:pPr>
            <a:r>
              <a:rPr sz="1600" b="1" i="0">
                <a:solidFill>
                  <a:srgbClr val="0D9488"/>
                </a:solidFill>
                <a:latin typeface="Calibri"/>
              </a:rPr>
              <a:t>■  </a:t>
            </a:r>
            <a:r>
              <a:rPr sz="2200" b="0" i="0">
                <a:solidFill>
                  <a:srgbClr val="1F2937"/>
                </a:solidFill>
                <a:latin typeface="Calibri"/>
              </a:rPr>
              <a:t>H2: ¿fps estable 5 minutos?</a:t>
            </a:r>
          </a:p>
          <a:p>
            <a:pPr>
              <a:spcAft>
                <a:spcPts val="800"/>
              </a:spcAft>
            </a:pPr>
            <a:r>
              <a:rPr sz="1600" b="1" i="0">
                <a:solidFill>
                  <a:srgbClr val="0D9488"/>
                </a:solidFill>
                <a:latin typeface="Calibri"/>
              </a:rPr>
              <a:t>■  </a:t>
            </a:r>
            <a:r>
              <a:rPr sz="2200" b="0" i="0">
                <a:solidFill>
                  <a:srgbClr val="1F2937"/>
                </a:solidFill>
                <a:latin typeface="Calibri"/>
              </a:rPr>
              <a:t>Anotar modelo y versión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COMPARAR</a:t>
            </a:r>
          </a:p>
          <a:p>
            <a:r>
              <a:rPr sz="2600" b="1" i="0">
                <a:solidFill>
                  <a:srgbClr val="FFFFFF"/>
                </a:solidFill>
                <a:latin typeface="Calibri"/>
              </a:rPr>
              <a:t>Editor vs.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8/23</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Completen con sus mediciones.</a:t>
            </a:r>
          </a:p>
        </p:txBody>
      </p:sp>
      <p:graphicFrame>
        <p:nvGraphicFramePr>
          <p:cNvPr id="10" name="Table 9"/>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5308541"/>
                <a:gridCol w="3223042"/>
                <a:gridCol w="2654270"/>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Editor (PC)</a:t>
                      </a:r>
                    </a:p>
                  </a:txBody>
                  <a:tcPr marL="73152" marR="73152" marT="36576" marB="36576" anchor="ctr">
                    <a:solidFill>
                      <a:srgbClr val="0D9488"/>
                    </a:solidFill>
                  </a:tcPr>
                </a:tc>
                <a:tc>
                  <a:txBody>
                    <a:bodyPr wrap="square"/>
                    <a:lstStyle/>
                    <a:p>
                      <a:r>
                        <a:rPr sz="1400" b="1" i="0">
                          <a:solidFill>
                            <a:srgbClr val="FFFFFF"/>
                          </a:solidFill>
                          <a:latin typeface="Calibri"/>
                        </a:rPr>
                        <a:t>Teléfono</a:t>
                      </a:r>
                    </a:p>
                  </a:txBody>
                  <a:tcPr marL="73152" marR="73152" marT="36576" marB="36576" anchor="ctr">
                    <a:solidFill>
                      <a:srgbClr val="0D9488"/>
                    </a:solidFill>
                  </a:tcPr>
                </a:tc>
              </a:tr>
              <a:tr h="566928">
                <a:tc>
                  <a:txBody>
                    <a:bodyPr wrap="square"/>
                    <a:lstStyle/>
                    <a:p>
                      <a:r>
                        <a:rPr sz="1400" b="0" i="0">
                          <a:solidFill>
                            <a:srgbClr val="1F2937"/>
                          </a:solidFill>
                          <a:latin typeface="Calibri"/>
                        </a:rPr>
                        <a:t>fps promedio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Tiempo de frame máximo</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GC Alloc por disparo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fps a los 5 minutos</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INDIVIDUAL · 3 MIN · ORAL</a:t>
            </a:r>
          </a:p>
          <a:p>
            <a:r>
              <a:rPr sz="2600" b="1" i="0">
                <a:solidFill>
                  <a:srgbClr val="FFFFFF"/>
                </a:solidFill>
                <a:latin typeface="Calibri"/>
              </a:rPr>
              <a:t>A4.6 — Anda bien los primeros 5 minutos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9/23</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¿Cuello de botella, métrica, herramienta? ¿Qué NO sirve?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60 fps al empezar</a:t>
            </a:r>
          </a:p>
          <a:p>
            <a:pPr>
              <a:spcAft>
                <a:spcPts val="800"/>
              </a:spcAft>
            </a:pPr>
            <a:r>
              <a:rPr sz="1600" b="1" i="0">
                <a:solidFill>
                  <a:srgbClr val="0D9488"/>
                </a:solidFill>
                <a:latin typeface="Calibri"/>
              </a:rPr>
              <a:t>■  </a:t>
            </a:r>
            <a:r>
              <a:rPr sz="2200" b="0" i="0">
                <a:solidFill>
                  <a:srgbClr val="1F2937"/>
                </a:solidFill>
                <a:latin typeface="Calibri"/>
              </a:rPr>
              <a:t>35–40 fps a los 8 minutos</a:t>
            </a:r>
          </a:p>
          <a:p>
            <a:pPr>
              <a:spcAft>
                <a:spcPts val="800"/>
              </a:spcAft>
            </a:pPr>
            <a:r>
              <a:rPr sz="1600" b="1" i="0">
                <a:solidFill>
                  <a:srgbClr val="0D9488"/>
                </a:solidFill>
                <a:latin typeface="Calibri"/>
              </a:rPr>
              <a:t>■  </a:t>
            </a:r>
            <a:r>
              <a:rPr sz="2200" b="0" i="0">
                <a:solidFill>
                  <a:srgbClr val="1F2937"/>
                </a:solidFill>
                <a:latin typeface="Calibri"/>
              </a:rPr>
              <a:t>En el editor: 200 fps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QA MANUAL · 10 MIN</a:t>
            </a:r>
          </a:p>
          <a:p>
            <a:r>
              <a:rPr sz="2600" b="1" i="0">
                <a:solidFill>
                  <a:srgbClr val="FFFFFF"/>
                </a:solidFill>
                <a:latin typeface="Calibri"/>
              </a:rPr>
              <a:t>Interrumpir a propósito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OnApplicationPause / OnApplicationFocus; Android — activity lifecycle</a:t>
            </a:r>
          </a:p>
        </p:txBody>
      </p:sp>
      <p:graphicFrame>
        <p:nvGraphicFramePr>
          <p:cNvPr id="9" name="Table 8"/>
          <p:cNvGraphicFramePr>
            <a:graphicFrameLocks noGrp="1"/>
          </p:cNvGraphicFramePr>
          <p:nvPr/>
        </p:nvGraphicFramePr>
        <p:xfrm>
          <a:off x="502920" y="1234440"/>
          <a:ext cx="11185853" cy="4535424"/>
        </p:xfrm>
        <a:graphic>
          <a:graphicData uri="http://schemas.openxmlformats.org/drawingml/2006/table">
            <a:tbl>
              <a:tblPr firstRow="1" bandRow="1">
                <a:tableStyleId>{5C22544A-7EE6-4342-B048-85BDC9FD1C3A}</a:tableStyleId>
              </a:tblPr>
              <a:tblGrid>
                <a:gridCol w="1519066"/>
                <a:gridCol w="4281006"/>
                <a:gridCol w="4004812"/>
                <a:gridCol w="1380969"/>
              </a:tblGrid>
              <a:tr h="566928">
                <a:tc>
                  <a:txBody>
                    <a:bodyPr wrap="square"/>
                    <a:lstStyle/>
                    <a:p>
                      <a:r>
                        <a:rPr sz="1200" b="1" i="0">
                          <a:solidFill>
                            <a:srgbClr val="FFFFFF"/>
                          </a:solidFill>
                          <a:latin typeface="Calibri"/>
                        </a:rPr>
                        <a:t>Caso</a:t>
                      </a:r>
                    </a:p>
                  </a:txBody>
                  <a:tcPr marL="73152" marR="73152" marT="36576" marB="36576" anchor="ctr">
                    <a:solidFill>
                      <a:srgbClr val="0D9488"/>
                    </a:solidFill>
                  </a:tcPr>
                </a:tc>
                <a:tc>
                  <a:txBody>
                    <a:bodyPr wrap="square"/>
                    <a:lstStyle/>
                    <a:p>
                      <a:r>
                        <a:rPr sz="1200" b="1" i="0">
                          <a:solidFill>
                            <a:srgbClr val="FFFFFF"/>
                          </a:solidFill>
                          <a:latin typeface="Calibri"/>
                        </a:rPr>
                        <a:t>Acción</a:t>
                      </a:r>
                    </a:p>
                  </a:txBody>
                  <a:tcPr marL="73152" marR="73152" marT="36576" marB="36576" anchor="ctr">
                    <a:solidFill>
                      <a:srgbClr val="0D9488"/>
                    </a:solidFill>
                  </a:tcPr>
                </a:tc>
                <a:tc>
                  <a:txBody>
                    <a:bodyPr wrap="square"/>
                    <a:lstStyle/>
                    <a:p>
                      <a:r>
                        <a:rPr sz="1200" b="1" i="0">
                          <a:solidFill>
                            <a:srgbClr val="FFFFFF"/>
                          </a:solidFill>
                          <a:latin typeface="Calibri"/>
                        </a:rPr>
                        <a:t>Esperado</a:t>
                      </a:r>
                    </a:p>
                  </a:txBody>
                  <a:tcPr marL="73152" marR="73152" marT="36576" marB="36576" anchor="ctr">
                    <a:solidFill>
                      <a:srgbClr val="0D9488"/>
                    </a:solidFill>
                  </a:tcPr>
                </a:tc>
                <a:tc>
                  <a:txBody>
                    <a:bodyPr wrap="square"/>
                    <a:lstStyle/>
                    <a:p>
                      <a:r>
                        <a:rPr sz="1200" b="1" i="0">
                          <a:solidFill>
                            <a:srgbClr val="FFFFFF"/>
                          </a:solidFill>
                          <a:latin typeface="Calibri"/>
                        </a:rPr>
                        <a:t>Real</a:t>
                      </a:r>
                    </a:p>
                  </a:txBody>
                  <a:tcPr marL="73152" marR="73152" marT="36576" marB="36576" anchor="ctr">
                    <a:solidFill>
                      <a:srgbClr val="0D9488"/>
                    </a:solidFill>
                  </a:tcPr>
                </a:tc>
              </a:tr>
              <a:tr h="566928">
                <a:tc>
                  <a:txBody>
                    <a:bodyPr wrap="square"/>
                    <a:lstStyle/>
                    <a:p>
                      <a:r>
                        <a:rPr sz="1200" b="0" i="0">
                          <a:solidFill>
                            <a:srgbClr val="1F2937"/>
                          </a:solidFill>
                          <a:latin typeface="Calibri"/>
                        </a:rPr>
                        <a:t>QA-01</a:t>
                      </a:r>
                    </a:p>
                  </a:txBody>
                  <a:tcPr marL="73152" marR="73152" marT="36576" marB="36576" anchor="ctr">
                    <a:solidFill>
                      <a:srgbClr val="FFFFFF"/>
                    </a:solidFill>
                  </a:tcPr>
                </a:tc>
                <a:tc>
                  <a:txBody>
                    <a:bodyPr wrap="square"/>
                    <a:lstStyle/>
                    <a:p>
                      <a:r>
                        <a:rPr sz="1200" b="0" i="0">
                          <a:solidFill>
                            <a:srgbClr val="1F2937"/>
                          </a:solidFill>
                          <a:latin typeface="Calibri"/>
                        </a:rPr>
                        <a:t>Llamada o alarma</a:t>
                      </a:r>
                    </a:p>
                  </a:txBody>
                  <a:tcPr marL="73152" marR="73152" marT="36576" marB="36576" anchor="ctr">
                    <a:solidFill>
                      <a:srgbClr val="FFFFFF"/>
                    </a:solidFill>
                  </a:tcPr>
                </a:tc>
                <a:tc>
                  <a:txBody>
                    <a:bodyPr wrap="square"/>
                    <a:lstStyle/>
                    <a:p>
                      <a:r>
                        <a:rPr sz="1200" b="0" i="0">
                          <a:solidFill>
                            <a:srgbClr val="1F2937"/>
                          </a:solidFill>
                          <a:latin typeface="Calibri"/>
                        </a:rPr>
                        <a:t>Pausa y espera un toque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QA-02</a:t>
                      </a:r>
                    </a:p>
                  </a:txBody>
                  <a:tcPr marL="73152" marR="73152" marT="36576" marB="36576" anchor="ctr">
                    <a:solidFill>
                      <a:srgbClr val="E6F4F2"/>
                    </a:solidFill>
                  </a:tcPr>
                </a:tc>
                <a:tc>
                  <a:txBody>
                    <a:bodyPr wrap="square"/>
                    <a:lstStyle/>
                    <a:p>
                      <a:r>
                        <a:rPr sz="1200" b="0" i="0">
                          <a:solidFill>
                            <a:srgbClr val="1F2937"/>
                          </a:solidFill>
                          <a:latin typeface="Calibri"/>
                        </a:rPr>
                        <a:t>Inicio y volver</a:t>
                      </a:r>
                    </a:p>
                  </a:txBody>
                  <a:tcPr marL="73152" marR="73152" marT="36576" marB="36576" anchor="ctr">
                    <a:solidFill>
                      <a:srgbClr val="E6F4F2"/>
                    </a:solidFill>
                  </a:tcPr>
                </a:tc>
                <a:tc>
                  <a:txBody>
                    <a:bodyPr wrap="square"/>
                    <a:lstStyle/>
                    <a:p>
                      <a:r>
                        <a:rPr sz="1200" b="0" i="0">
                          <a:solidFill>
                            <a:srgbClr val="1F2937"/>
                          </a:solidFill>
                          <a:latin typeface="Calibri"/>
                        </a:rPr>
                        <a:t>Pausado, sin daño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QA-03</a:t>
                      </a:r>
                    </a:p>
                  </a:txBody>
                  <a:tcPr marL="73152" marR="73152" marT="36576" marB="36576" anchor="ctr">
                    <a:solidFill>
                      <a:srgbClr val="FFFFFF"/>
                    </a:solidFill>
                  </a:tcPr>
                </a:tc>
                <a:tc>
                  <a:txBody>
                    <a:bodyPr wrap="square"/>
                    <a:lstStyle/>
                    <a:p>
                      <a:r>
                        <a:rPr sz="1200" b="0" i="0">
                          <a:solidFill>
                            <a:srgbClr val="1F2937"/>
                          </a:solidFill>
                          <a:latin typeface="Calibri"/>
                        </a:rPr>
                        <a:t>Bloquear la pantalla</a:t>
                      </a:r>
                    </a:p>
                  </a:txBody>
                  <a:tcPr marL="73152" marR="73152" marT="36576" marB="36576" anchor="ctr">
                    <a:solidFill>
                      <a:srgbClr val="FFFFFF"/>
                    </a:solidFill>
                  </a:tcPr>
                </a:tc>
                <a:tc>
                  <a:txBody>
                    <a:bodyPr wrap="square"/>
                    <a:lstStyle/>
                    <a:p>
                      <a:r>
                        <a:rPr sz="1200" b="0" i="0">
                          <a:solidFill>
                            <a:srgbClr val="1F2937"/>
                          </a:solidFill>
                          <a:latin typeface="Calibri"/>
                        </a:rPr>
                        <a:t>Pausado</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QA-04</a:t>
                      </a:r>
                    </a:p>
                  </a:txBody>
                  <a:tcPr marL="73152" marR="73152" marT="36576" marB="36576" anchor="ctr">
                    <a:solidFill>
                      <a:srgbClr val="E6F4F2"/>
                    </a:solidFill>
                  </a:tcPr>
                </a:tc>
                <a:tc>
                  <a:txBody>
                    <a:bodyPr wrap="square"/>
                    <a:lstStyle/>
                    <a:p>
                      <a:r>
                        <a:rPr sz="1200" b="0" i="0">
                          <a:solidFill>
                            <a:srgbClr val="1F2937"/>
                          </a:solidFill>
                          <a:latin typeface="Calibri"/>
                        </a:rPr>
                        <a:t>Teclado en pantalla</a:t>
                      </a:r>
                    </a:p>
                  </a:txBody>
                  <a:tcPr marL="73152" marR="73152" marT="36576" marB="36576" anchor="ctr">
                    <a:solidFill>
                      <a:srgbClr val="E6F4F2"/>
                    </a:solidFill>
                  </a:tcPr>
                </a:tc>
                <a:tc>
                  <a:txBody>
                    <a:bodyPr wrap="square"/>
                    <a:lstStyle/>
                    <a:p>
                      <a:r>
                        <a:rPr sz="1200" b="0" i="0">
                          <a:solidFill>
                            <a:srgbClr val="1F2937"/>
                          </a:solidFill>
                          <a:latin typeface="Calibri"/>
                        </a:rPr>
                        <a:t>Documentar</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QA-05</a:t>
                      </a:r>
                    </a:p>
                  </a:txBody>
                  <a:tcPr marL="73152" marR="73152" marT="36576" marB="36576" anchor="ctr">
                    <a:solidFill>
                      <a:srgbClr val="FFFFFF"/>
                    </a:solidFill>
                  </a:tcPr>
                </a:tc>
                <a:tc>
                  <a:txBody>
                    <a:bodyPr wrap="square"/>
                    <a:lstStyle/>
                    <a:p>
                      <a:r>
                        <a:rPr sz="1200" b="0" i="0">
                          <a:solidFill>
                            <a:srgbClr val="1F2937"/>
                          </a:solidFill>
                          <a:latin typeface="Calibri"/>
                        </a:rPr>
                        <a:t>Cierre forzado</a:t>
                      </a:r>
                    </a:p>
                  </a:txBody>
                  <a:tcPr marL="73152" marR="73152" marT="36576" marB="36576" anchor="ctr">
                    <a:solidFill>
                      <a:srgbClr val="FFFFFF"/>
                    </a:solidFill>
                  </a:tcPr>
                </a:tc>
                <a:tc>
                  <a:txBody>
                    <a:bodyPr wrap="square"/>
                    <a:lstStyle/>
                    <a:p>
                      <a:r>
                        <a:rPr sz="1200" b="0" i="0">
                          <a:solidFill>
                            <a:srgbClr val="1F2937"/>
                          </a:solidFill>
                          <a:latin typeface="Calibri"/>
                        </a:rPr>
                        <a:t>Qué se pierde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QA-06</a:t>
                      </a:r>
                    </a:p>
                  </a:txBody>
                  <a:tcPr marL="73152" marR="73152" marT="36576" marB="36576" anchor="ctr">
                    <a:solidFill>
                      <a:srgbClr val="E6F4F2"/>
                    </a:solidFill>
                  </a:tcPr>
                </a:tc>
                <a:tc>
                  <a:txBody>
                    <a:bodyPr wrap="square"/>
                    <a:lstStyle/>
                    <a:p>
                      <a:r>
                        <a:rPr sz="1200" b="0" i="0">
                          <a:solidFill>
                            <a:srgbClr val="1F2937"/>
                          </a:solidFill>
                          <a:latin typeface="Calibri"/>
                        </a:rPr>
                        <a:t>Mover y disparar a la vez</a:t>
                      </a:r>
                    </a:p>
                  </a:txBody>
                  <a:tcPr marL="73152" marR="73152" marT="36576" marB="36576" anchor="ctr">
                    <a:solidFill>
                      <a:srgbClr val="E6F4F2"/>
                    </a:solidFill>
                  </a:tcPr>
                </a:tc>
                <a:tc>
                  <a:txBody>
                    <a:bodyPr wrap="square"/>
                    <a:lstStyle/>
                    <a:p>
                      <a:r>
                        <a:rPr sz="1200" b="0" i="0">
                          <a:solidFill>
                            <a:srgbClr val="1F2937"/>
                          </a:solidFill>
                          <a:latin typeface="Calibri"/>
                        </a:rPr>
                        <a:t>Responden los dos</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QA-07</a:t>
                      </a:r>
                    </a:p>
                  </a:txBody>
                  <a:tcPr marL="73152" marR="73152" marT="36576" marB="36576" anchor="ctr">
                    <a:solidFill>
                      <a:srgbClr val="FFFFFF"/>
                    </a:solidFill>
                  </a:tcPr>
                </a:tc>
                <a:tc>
                  <a:txBody>
                    <a:bodyPr wrap="square"/>
                    <a:lstStyle/>
                    <a:p>
                      <a:r>
                        <a:rPr sz="1200" b="0" i="0">
                          <a:solidFill>
                            <a:srgbClr val="1F2937"/>
                          </a:solidFill>
                          <a:latin typeface="Calibri"/>
                        </a:rPr>
                        <a:t>Controles bajo el pulgar</a:t>
                      </a:r>
                    </a:p>
                  </a:txBody>
                  <a:tcPr marL="73152" marR="73152" marT="36576" marB="36576" anchor="ctr">
                    <a:solidFill>
                      <a:srgbClr val="FFFFFF"/>
                    </a:solidFill>
                  </a:tcPr>
                </a:tc>
                <a:tc>
                  <a:txBody>
                    <a:bodyPr wrap="square"/>
                    <a:lstStyle/>
                    <a:p>
                      <a:r>
                        <a:rPr sz="1200" b="0" i="0">
                          <a:solidFill>
                            <a:srgbClr val="1F2937"/>
                          </a:solidFill>
                          <a:latin typeface="Calibri"/>
                        </a:rPr>
                        <a:t>≥ 48 dp, no tapan</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COMPATIBILIDAD · 4 MIN</a:t>
            </a:r>
          </a:p>
          <a:p>
            <a:r>
              <a:rPr sz="2600" b="1" i="0">
                <a:solidFill>
                  <a:srgbClr val="FFFFFF"/>
                </a:solidFill>
                <a:latin typeface="Calibri"/>
              </a:rPr>
              <a:t>La matriz del curso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(probar en gama mínima y máxima, p. 20); Android vitals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para decir "anda en Android"?</a:t>
            </a:r>
          </a:p>
        </p:txBody>
      </p:sp>
      <p:graphicFrame>
        <p:nvGraphicFramePr>
          <p:cNvPr id="11" name="Table 10"/>
          <p:cNvGraphicFramePr>
            <a:graphicFrameLocks noGrp="1"/>
          </p:cNvGraphicFramePr>
          <p:nvPr/>
        </p:nvGraphicFramePr>
        <p:xfrm>
          <a:off x="502920" y="1234440"/>
          <a:ext cx="11185850" cy="2267712"/>
        </p:xfrm>
        <a:graphic>
          <a:graphicData uri="http://schemas.openxmlformats.org/drawingml/2006/table">
            <a:tbl>
              <a:tblPr firstRow="1" bandRow="1">
                <a:tableStyleId>{5C22544A-7EE6-4342-B048-85BDC9FD1C3A}</a:tableStyleId>
              </a:tblPr>
              <a:tblGrid>
                <a:gridCol w="1194605"/>
                <a:gridCol w="1303206"/>
                <a:gridCol w="1411806"/>
                <a:gridCol w="977404"/>
                <a:gridCol w="1737608"/>
                <a:gridCol w="977404"/>
                <a:gridCol w="3583817"/>
              </a:tblGrid>
              <a:tr h="566928">
                <a:tc>
                  <a:txBody>
                    <a:bodyPr wrap="square"/>
                    <a:lstStyle/>
                    <a:p>
                      <a:r>
                        <a:rPr sz="1600" b="1" i="0">
                          <a:solidFill>
                            <a:srgbClr val="FFFFFF"/>
                          </a:solidFill>
                          <a:latin typeface="Calibri"/>
                        </a:rPr>
                        <a:t>Grupo</a:t>
                      </a:r>
                    </a:p>
                  </a:txBody>
                  <a:tcPr marL="73152" marR="73152" marT="36576" marB="36576" anchor="ctr">
                    <a:solidFill>
                      <a:srgbClr val="0D9488"/>
                    </a:solidFill>
                  </a:tcPr>
                </a:tc>
                <a:tc>
                  <a:txBody>
                    <a:bodyPr wrap="square"/>
                    <a:lstStyle/>
                    <a:p>
                      <a:r>
                        <a:rPr sz="1600" b="1" i="0">
                          <a:solidFill>
                            <a:srgbClr val="FFFFFF"/>
                          </a:solidFill>
                          <a:latin typeface="Calibri"/>
                        </a:rPr>
                        <a:t>Modelo</a:t>
                      </a:r>
                    </a:p>
                  </a:txBody>
                  <a:tcPr marL="73152" marR="73152" marT="36576" marB="36576" anchor="ctr">
                    <a:solidFill>
                      <a:srgbClr val="0D9488"/>
                    </a:solidFill>
                  </a:tcPr>
                </a:tc>
                <a:tc>
                  <a:txBody>
                    <a:bodyPr wrap="square"/>
                    <a:lstStyle/>
                    <a:p>
                      <a:r>
                        <a:rPr sz="1600" b="1" i="0">
                          <a:solidFill>
                            <a:srgbClr val="FFFFFF"/>
                          </a:solidFill>
                          <a:latin typeface="Calibri"/>
                        </a:rPr>
                        <a:t>Android</a:t>
                      </a:r>
                    </a:p>
                  </a:txBody>
                  <a:tcPr marL="73152" marR="73152" marT="36576" marB="36576" anchor="ctr">
                    <a:solidFill>
                      <a:srgbClr val="0D9488"/>
                    </a:solidFill>
                  </a:tcPr>
                </a:tc>
                <a:tc>
                  <a:txBody>
                    <a:bodyPr wrap="square"/>
                    <a:lstStyle/>
                    <a:p>
                      <a:r>
                        <a:rPr sz="1600" b="1" i="0">
                          <a:solidFill>
                            <a:srgbClr val="FFFFFF"/>
                          </a:solidFill>
                          <a:latin typeface="Calibri"/>
                        </a:rPr>
                        <a:t>RAM</a:t>
                      </a:r>
                    </a:p>
                  </a:txBody>
                  <a:tcPr marL="73152" marR="73152" marT="36576" marB="36576" anchor="ctr">
                    <a:solidFill>
                      <a:srgbClr val="0D9488"/>
                    </a:solidFill>
                  </a:tcPr>
                </a:tc>
                <a:tc>
                  <a:txBody>
                    <a:bodyPr wrap="square"/>
                    <a:lstStyle/>
                    <a:p>
                      <a:r>
                        <a:rPr sz="1600" b="1" i="0">
                          <a:solidFill>
                            <a:srgbClr val="FFFFFF"/>
                          </a:solidFill>
                          <a:latin typeface="Calibri"/>
                        </a:rPr>
                        <a:t>Resolución</a:t>
                      </a:r>
                    </a:p>
                  </a:txBody>
                  <a:tcPr marL="73152" marR="73152" marT="36576" marB="36576" anchor="ctr">
                    <a:solidFill>
                      <a:srgbClr val="0D9488"/>
                    </a:solidFill>
                  </a:tcPr>
                </a:tc>
                <a:tc>
                  <a:txBody>
                    <a:bodyPr wrap="square"/>
                    <a:lstStyle/>
                    <a:p>
                      <a:r>
                        <a:rPr sz="1600" b="1" i="0">
                          <a:solidFill>
                            <a:srgbClr val="FFFFFF"/>
                          </a:solidFill>
                          <a:latin typeface="Calibri"/>
                        </a:rPr>
                        <a:t>fps</a:t>
                      </a:r>
                    </a:p>
                  </a:txBody>
                  <a:tcPr marL="73152" marR="73152" marT="36576" marB="36576" anchor="ctr">
                    <a:solidFill>
                      <a:srgbClr val="0D9488"/>
                    </a:solidFill>
                  </a:tcPr>
                </a:tc>
                <a:tc>
                  <a:txBody>
                    <a:bodyPr wrap="square"/>
                    <a:lstStyle/>
                    <a:p>
                      <a:r>
                        <a:rPr sz="1600" b="1" i="0">
                          <a:solidFill>
                            <a:srgbClr val="FFFFFF"/>
                          </a:solidFill>
                          <a:latin typeface="Calibri"/>
                        </a:rPr>
                        <a:t>¿Spawn visible en vertical?</a:t>
                      </a:r>
                    </a:p>
                  </a:txBody>
                  <a:tcPr marL="73152" marR="73152" marT="36576" marB="36576" anchor="ctr">
                    <a:solidFill>
                      <a:srgbClr val="0D9488"/>
                    </a:solidFill>
                  </a:tcPr>
                </a:tc>
              </a:tr>
              <a:tr h="566928">
                <a:tc>
                  <a:txBody>
                    <a:bodyPr wrap="square"/>
                    <a:lstStyle/>
                    <a:p>
                      <a:r>
                        <a:rPr sz="1600" b="0" i="0">
                          <a:solidFill>
                            <a:srgbClr val="1F2937"/>
                          </a:solidFill>
                          <a:latin typeface="Calibri"/>
                        </a:rPr>
                        <a:t>1</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2</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3</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EN MÓVIL · 3 MIN</a:t>
            </a:r>
          </a:p>
          <a:p>
            <a:r>
              <a:rPr sz="2600" b="1" i="0">
                <a:solidFill>
                  <a:srgbClr val="FFFFFF"/>
                </a:solidFill>
                <a:latin typeface="Calibri"/>
              </a:rPr>
              <a:t>¿Qué prueba cada herramienta?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Device Simulator, Run tests in a Player, Profiling on target; Firebase Game Loop; AWS Device Farm; Android vitals</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3519145"/>
                <a:gridCol w="3770512"/>
                <a:gridCol w="3896196"/>
              </a:tblGrid>
              <a:tr h="566928">
                <a:tc>
                  <a:txBody>
                    <a:bodyPr wrap="square"/>
                    <a:lstStyle/>
                    <a:p>
                      <a:r>
                        <a:rPr sz="1200" b="1" i="0">
                          <a:solidFill>
                            <a:srgbClr val="FFFFFF"/>
                          </a:solidFill>
                          <a:latin typeface="Calibri"/>
                        </a:rPr>
                        <a:t>Nivel</a:t>
                      </a:r>
                    </a:p>
                  </a:txBody>
                  <a:tcPr marL="73152" marR="73152" marT="36576" marB="36576" anchor="ctr">
                    <a:solidFill>
                      <a:srgbClr val="0D9488"/>
                    </a:solidFill>
                  </a:tcPr>
                </a:tc>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No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1. Device Simulator</a:t>
                      </a:r>
                    </a:p>
                  </a:txBody>
                  <a:tcPr marL="73152" marR="73152" marT="36576" marB="36576" anchor="ctr">
                    <a:solidFill>
                      <a:srgbClr val="FFFFFF"/>
                    </a:solidFill>
                  </a:tcPr>
                </a:tc>
                <a:tc>
                  <a:txBody>
                    <a:bodyPr wrap="square"/>
                    <a:lstStyle/>
                    <a:p>
                      <a:r>
                        <a:rPr sz="1200" b="0" i="0">
                          <a:solidFill>
                            <a:srgbClr val="1F2937"/>
                          </a:solidFill>
                          <a:latin typeface="Calibri"/>
                        </a:rPr>
                        <a:t>Layout, safe area</a:t>
                      </a:r>
                    </a:p>
                  </a:txBody>
                  <a:tcPr marL="73152" marR="73152" marT="36576" marB="36576" anchor="ctr">
                    <a:solidFill>
                      <a:srgbClr val="FFFFFF"/>
                    </a:solidFill>
                  </a:tcPr>
                </a:tc>
                <a:tc>
                  <a:txBody>
                    <a:bodyPr wrap="square"/>
                    <a:lstStyle/>
                    <a:p>
                      <a:r>
                        <a:rPr sz="1200" b="0" i="0">
                          <a:solidFill>
                            <a:srgbClr val="1F2937"/>
                          </a:solidFill>
                          <a:latin typeface="Calibri"/>
                        </a:rPr>
                        <a:t>Rendimiento, memoria</a:t>
                      </a:r>
                    </a:p>
                  </a:txBody>
                  <a:tcPr marL="73152" marR="73152" marT="36576" marB="36576" anchor="ctr">
                    <a:solidFill>
                      <a:srgbClr val="FFFFFF"/>
                    </a:solidFill>
                  </a:tcPr>
                </a:tc>
              </a:tr>
              <a:tr h="566928">
                <a:tc>
                  <a:txBody>
                    <a:bodyPr wrap="square"/>
                    <a:lstStyle/>
                    <a:p>
                      <a:r>
                        <a:rPr sz="1200" b="0" i="0">
                          <a:solidFill>
                            <a:srgbClr val="1F2937"/>
                          </a:solidFill>
                          <a:latin typeface="Calibri"/>
                        </a:rPr>
                        <a:t>2. Emulador</a:t>
                      </a:r>
                    </a:p>
                  </a:txBody>
                  <a:tcPr marL="73152" marR="73152" marT="36576" marB="36576" anchor="ctr">
                    <a:solidFill>
                      <a:srgbClr val="E6F4F2"/>
                    </a:solidFill>
                  </a:tcPr>
                </a:tc>
                <a:tc>
                  <a:txBody>
                    <a:bodyPr wrap="square"/>
                    <a:lstStyle/>
                    <a:p>
                      <a:r>
                        <a:rPr sz="1200" b="0" i="0">
                          <a:solidFill>
                            <a:srgbClr val="1F2937"/>
                          </a:solidFill>
                          <a:latin typeface="Calibri"/>
                        </a:rPr>
                        <a:t>Lógica y flujos</a:t>
                      </a:r>
                    </a:p>
                  </a:txBody>
                  <a:tcPr marL="73152" marR="73152" marT="36576" marB="36576" anchor="ctr">
                    <a:solidFill>
                      <a:srgbClr val="E6F4F2"/>
                    </a:solidFill>
                  </a:tcPr>
                </a:tc>
                <a:tc>
                  <a:txBody>
                    <a:bodyPr wrap="square"/>
                    <a:lstStyle/>
                    <a:p>
                      <a:r>
                        <a:rPr sz="1200" b="0" i="0">
                          <a:solidFill>
                            <a:srgbClr val="1F2937"/>
                          </a:solidFill>
                          <a:latin typeface="Calibri"/>
                        </a:rPr>
                        <a:t>Rendimiento real, térmica</a:t>
                      </a:r>
                    </a:p>
                  </a:txBody>
                  <a:tcPr marL="73152" marR="73152" marT="36576" marB="36576" anchor="ctr">
                    <a:solidFill>
                      <a:srgbClr val="E6F4F2"/>
                    </a:solidFill>
                  </a:tcPr>
                </a:tc>
              </a:tr>
              <a:tr h="566928">
                <a:tc>
                  <a:txBody>
                    <a:bodyPr wrap="square"/>
                    <a:lstStyle/>
                    <a:p>
                      <a:r>
                        <a:rPr sz="1200" b="0" i="0">
                          <a:solidFill>
                            <a:srgbClr val="1F2937"/>
                          </a:solidFill>
                          <a:latin typeface="Calibri"/>
                        </a:rPr>
                        <a:t>3. Teléfono + Profiler</a:t>
                      </a:r>
                    </a:p>
                  </a:txBody>
                  <a:tcPr marL="73152" marR="73152" marT="36576" marB="36576" anchor="ctr">
                    <a:solidFill>
                      <a:srgbClr val="FFFFFF"/>
                    </a:solidFill>
                  </a:tcPr>
                </a:tc>
                <a:tc>
                  <a:txBody>
                    <a:bodyPr wrap="square"/>
                    <a:lstStyle/>
                    <a:p>
                      <a:r>
                        <a:rPr sz="1200" b="0" i="0">
                          <a:solidFill>
                            <a:srgbClr val="1F2937"/>
                          </a:solidFill>
                          <a:latin typeface="Calibri"/>
                        </a:rPr>
                        <a:t>Rendimiento real</a:t>
                      </a:r>
                    </a:p>
                  </a:txBody>
                  <a:tcPr marL="73152" marR="73152" marT="36576" marB="36576" anchor="ctr">
                    <a:solidFill>
                      <a:srgbClr val="FFFFFF"/>
                    </a:solidFill>
                  </a:tcPr>
                </a:tc>
                <a:tc>
                  <a:txBody>
                    <a:bodyPr wrap="square"/>
                    <a:lstStyle/>
                    <a:p>
                      <a:r>
                        <a:rPr sz="1200" b="0" i="0">
                          <a:solidFill>
                            <a:srgbClr val="1F2937"/>
                          </a:solidFill>
                          <a:latin typeface="Calibri"/>
                        </a:rPr>
                        <a:t>Otros modelos</a:t>
                      </a:r>
                    </a:p>
                  </a:txBody>
                  <a:tcPr marL="73152" marR="73152" marT="36576" marB="36576" anchor="ctr">
                    <a:solidFill>
                      <a:srgbClr val="FFFFFF"/>
                    </a:solidFill>
                  </a:tcPr>
                </a:tc>
              </a:tr>
              <a:tr h="566928">
                <a:tc>
                  <a:txBody>
                    <a:bodyPr wrap="square"/>
                    <a:lstStyle/>
                    <a:p>
                      <a:r>
                        <a:rPr sz="1200" b="0" i="0">
                          <a:solidFill>
                            <a:srgbClr val="1F2937"/>
                          </a:solidFill>
                          <a:latin typeface="Calibri"/>
                        </a:rPr>
                        <a:t>4. Tests en el Player</a:t>
                      </a:r>
                    </a:p>
                  </a:txBody>
                  <a:tcPr marL="73152" marR="73152" marT="36576" marB="36576" anchor="ctr">
                    <a:solidFill>
                      <a:srgbClr val="E6F4F2"/>
                    </a:solidFill>
                  </a:tcPr>
                </a:tc>
                <a:tc>
                  <a:txBody>
                    <a:bodyPr wrap="square"/>
                    <a:lstStyle/>
                    <a:p>
                      <a:r>
                        <a:rPr sz="1200" b="0" i="0">
                          <a:solidFill>
                            <a:srgbClr val="1F2937"/>
                          </a:solidFill>
                          <a:latin typeface="Calibri"/>
                        </a:rPr>
                        <a:t>Tests en el dispositivo</a:t>
                      </a:r>
                    </a:p>
                  </a:txBody>
                  <a:tcPr marL="73152" marR="73152" marT="36576" marB="36576" anchor="ctr">
                    <a:solidFill>
                      <a:srgbClr val="E6F4F2"/>
                    </a:solidFill>
                  </a:tcPr>
                </a:tc>
                <a:tc>
                  <a:txBody>
                    <a:bodyPr wrap="square"/>
                    <a:lstStyle/>
                    <a:p>
                      <a:r>
                        <a:rPr sz="1200" b="0" i="0">
                          <a:solidFill>
                            <a:srgbClr val="1F2937"/>
                          </a:solidFill>
                          <a:latin typeface="Calibri"/>
                        </a:rPr>
                        <a:t>Lo no escrito como test</a:t>
                      </a:r>
                    </a:p>
                  </a:txBody>
                  <a:tcPr marL="73152" marR="73152" marT="36576" marB="36576" anchor="ctr">
                    <a:solidFill>
                      <a:srgbClr val="E6F4F2"/>
                    </a:solidFill>
                  </a:tcPr>
                </a:tc>
              </a:tr>
              <a:tr h="566928">
                <a:tc>
                  <a:txBody>
                    <a:bodyPr wrap="square"/>
                    <a:lstStyle/>
                    <a:p>
                      <a:r>
                        <a:rPr sz="1200" b="0" i="0">
                          <a:solidFill>
                            <a:srgbClr val="1F2937"/>
                          </a:solidFill>
                          <a:latin typeface="Calibri"/>
                        </a:rPr>
                        <a:t>5. Granjas en la nube</a:t>
                      </a:r>
                    </a:p>
                  </a:txBody>
                  <a:tcPr marL="73152" marR="73152" marT="36576" marB="36576" anchor="ctr">
                    <a:solidFill>
                      <a:srgbClr val="FFFFFF"/>
                    </a:solidFill>
                  </a:tcPr>
                </a:tc>
                <a:tc>
                  <a:txBody>
                    <a:bodyPr wrap="square"/>
                    <a:lstStyle/>
                    <a:p>
                      <a:r>
                        <a:rPr sz="1200" b="0" i="0">
                          <a:solidFill>
                            <a:srgbClr val="1F2937"/>
                          </a:solidFill>
                          <a:latin typeface="Calibri"/>
                        </a:rPr>
                        <a:t>Muchos modelos</a:t>
                      </a:r>
                    </a:p>
                  </a:txBody>
                  <a:tcPr marL="73152" marR="73152" marT="36576" marB="36576" anchor="ctr">
                    <a:solidFill>
                      <a:srgbClr val="FFFFFF"/>
                    </a:solidFill>
                  </a:tcPr>
                </a:tc>
                <a:tc>
                  <a:txBody>
                    <a:bodyPr wrap="square"/>
                    <a:lstStyle/>
                    <a:p>
                      <a:r>
                        <a:rPr sz="1200" b="0" i="0">
                          <a:solidFill>
                            <a:srgbClr val="1F2937"/>
                          </a:solidFill>
                          <a:latin typeface="Calibri"/>
                        </a:rPr>
                        <a:t>Ergonomía</a:t>
                      </a:r>
                    </a:p>
                  </a:txBody>
                  <a:tcPr marL="73152" marR="73152" marT="36576" marB="36576" anchor="ctr">
                    <a:solidFill>
                      <a:srgbClr val="FFFFFF"/>
                    </a:solidFill>
                  </a:tcPr>
                </a:tc>
              </a:tr>
              <a:tr h="566928">
                <a:tc>
                  <a:txBody>
                    <a:bodyPr wrap="square"/>
                    <a:lstStyle/>
                    <a:p>
                      <a:r>
                        <a:rPr sz="1200" b="0" i="0">
                          <a:solidFill>
                            <a:srgbClr val="1F2937"/>
                          </a:solidFill>
                          <a:latin typeface="Calibri"/>
                        </a:rPr>
                        <a:t>6. Android vitals</a:t>
                      </a:r>
                    </a:p>
                  </a:txBody>
                  <a:tcPr marL="73152" marR="73152" marT="36576" marB="36576" anchor="ctr">
                    <a:solidFill>
                      <a:srgbClr val="E6F4F2"/>
                    </a:solidFill>
                  </a:tcPr>
                </a:tc>
                <a:tc>
                  <a:txBody>
                    <a:bodyPr wrap="square"/>
                    <a:lstStyle/>
                    <a:p>
                      <a:r>
                        <a:rPr sz="1200" b="0" i="0">
                          <a:solidFill>
                            <a:srgbClr val="1F2937"/>
                          </a:solidFill>
                          <a:latin typeface="Calibri"/>
                        </a:rPr>
                        <a:t>Fallas reales publicadas</a:t>
                      </a:r>
                    </a:p>
                  </a:txBody>
                  <a:tcPr marL="73152" marR="73152" marT="36576" marB="36576" anchor="ctr">
                    <a:solidFill>
                      <a:srgbClr val="E6F4F2"/>
                    </a:solidFill>
                  </a:tcPr>
                </a:tc>
                <a:tc>
                  <a:txBody>
                    <a:bodyPr wrap="square"/>
                    <a:lstStyle/>
                    <a:p>
                      <a:r>
                        <a:rPr sz="1200" b="0" i="0">
                          <a:solidFill>
                            <a:srgbClr val="1F2937"/>
                          </a:solidFill>
                          <a:latin typeface="Calibri"/>
                        </a:rPr>
                        <a:t>Nada antes de publicar</a:t>
                      </a:r>
                    </a:p>
                  </a:txBody>
                  <a:tcPr marL="73152" marR="73152" marT="36576" marB="36576" anchor="ctr">
                    <a:solidFill>
                      <a:srgbClr val="E6F4F2"/>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LÍMITES · 2 MIN</a:t>
            </a:r>
          </a:p>
          <a:p>
            <a:r>
              <a:rPr sz="2600" b="1" i="0">
                <a:solidFill>
                  <a:srgbClr val="FFFFFF"/>
                </a:solidFill>
                <a:latin typeface="Calibri"/>
              </a:rPr>
              <a:t>Lo que el test automático no vio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13/23</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protege el test y qué solo el QA manual?</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¿Coinciden tests y QA manual?</a:t>
            </a:r>
          </a:p>
          <a:p>
            <a:pPr>
              <a:spcAft>
                <a:spcPts val="800"/>
              </a:spcAft>
            </a:pPr>
            <a:r>
              <a:rPr sz="1600" b="1" i="0">
                <a:solidFill>
                  <a:srgbClr val="0D9488"/>
                </a:solidFill>
                <a:latin typeface="Calibri"/>
              </a:rPr>
              <a:t>■  </a:t>
            </a:r>
            <a:r>
              <a:rPr sz="2200" b="0" i="0">
                <a:solidFill>
                  <a:srgbClr val="1F2937"/>
                </a:solidFill>
                <a:latin typeface="Calibri"/>
              </a:rPr>
              <a:t>¿Qué apareció solo en el teléfono?</a:t>
            </a:r>
          </a:p>
          <a:p>
            <a:pPr>
              <a:spcAft>
                <a:spcPts val="800"/>
              </a:spcAft>
            </a:pPr>
            <a:r>
              <a:rPr sz="1600" b="1" i="0">
                <a:solidFill>
                  <a:srgbClr val="0D9488"/>
                </a:solidFill>
                <a:latin typeface="Calibri"/>
              </a:rPr>
              <a:t>■  </a:t>
            </a:r>
            <a:r>
              <a:rPr sz="2200" b="0" i="0">
                <a:solidFill>
                  <a:srgbClr val="1F2937"/>
                </a:solidFill>
                <a:latin typeface="Calibri"/>
              </a:rPr>
              <a:t>¿Qué no se puede automatizar?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 ARQUITECTURA · 2 MIN</a:t>
            </a:r>
          </a:p>
          <a:p>
            <a:r>
              <a:rPr sz="2600" b="1" i="0">
                <a:solidFill>
                  <a:srgbClr val="FFFFFF"/>
                </a:solidFill>
                <a:latin typeface="Calibri"/>
              </a:rPr>
              <a:t>Mismo patrón, dos adaptadores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(ShipInputAdapter.cs, ShipIntentTests.cs); resultados del Test Runner en batchmode (2026-10-10)</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ENTRADA (YA PORTADA)</a:t>
            </a:r>
          </a:p>
        </p:txBody>
      </p:sp>
      <p:sp>
        <p:nvSpPr>
          <p:cNvPr id="10" name="Rounded Rectangle 9"/>
          <p:cNvSpPr/>
          <p:nvPr/>
        </p:nvSpPr>
        <p:spPr>
          <a:xfrm>
            <a:off x="6293815" y="28346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ShipInputAdapter</a:t>
            </a:r>
          </a:p>
        </p:txBody>
      </p:sp>
      <p:sp>
        <p:nvSpPr>
          <p:cNvPr id="11" name="Rounded Rectangle 10"/>
          <p:cNvSpPr/>
          <p:nvPr/>
        </p:nvSpPr>
        <p:spPr>
          <a:xfrm>
            <a:off x="6293815" y="36576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Ship.SetIntent</a:t>
            </a:r>
          </a:p>
        </p:txBody>
      </p:sp>
      <p:sp>
        <p:nvSpPr>
          <p:cNvPr id="12" name="TextBox 11"/>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3 tests de intención en verde</a:t>
            </a:r>
          </a:p>
        </p:txBody>
      </p:sp>
      <p:sp>
        <p:nvSpPr>
          <p:cNvPr id="13" name="TextBox 12"/>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PAUSA (A4.4)</a:t>
            </a:r>
          </a:p>
        </p:txBody>
      </p:sp>
      <p:sp>
        <p:nvSpPr>
          <p:cNvPr id="14" name="Rounded Rectangle 13"/>
          <p:cNvSpPr/>
          <p:nvPr/>
        </p:nvSpPr>
        <p:spPr>
          <a:xfrm>
            <a:off x="9265615" y="28346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Adaptador OnApplicationPause</a:t>
            </a:r>
          </a:p>
        </p:txBody>
      </p:sp>
      <p:sp>
        <p:nvSpPr>
          <p:cNvPr id="15" name="Rounded Rectangle 14"/>
          <p:cNvSpPr/>
          <p:nvPr/>
        </p:nvSpPr>
        <p:spPr>
          <a:xfrm>
            <a:off x="9265615" y="36576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Regla de pausa</a:t>
            </a:r>
          </a:p>
        </p:txBody>
      </p:sp>
      <p:sp>
        <p:nvSpPr>
          <p:cNvPr id="16" name="TextBox 15"/>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Su test de Edit Mode</a:t>
            </a:r>
          </a:p>
        </p:txBody>
      </p:sp>
      <p:sp>
        <p:nvSpPr>
          <p:cNvPr id="17" name="TextBox 16"/>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Entrada: dispositivo → intención → nave</a:t>
            </a:r>
          </a:p>
          <a:p>
            <a:pPr>
              <a:spcAft>
                <a:spcPts val="800"/>
              </a:spcAft>
            </a:pPr>
            <a:r>
              <a:rPr sz="1600" b="1" i="0">
                <a:solidFill>
                  <a:srgbClr val="0D9488"/>
                </a:solidFill>
                <a:latin typeface="Calibri"/>
              </a:rPr>
              <a:t>■  </a:t>
            </a:r>
            <a:r>
              <a:rPr sz="2200" b="0" i="0">
                <a:solidFill>
                  <a:srgbClr val="1F2937"/>
                </a:solidFill>
                <a:latin typeface="Calibri"/>
              </a:rPr>
              <a:t>Pausa: SO → adaptador → regla</a:t>
            </a:r>
          </a:p>
          <a:p>
            <a:pPr>
              <a:spcAft>
                <a:spcPts val="800"/>
              </a:spcAft>
            </a:pPr>
            <a:r>
              <a:rPr sz="1600" b="1" i="0">
                <a:solidFill>
                  <a:srgbClr val="0D9488"/>
                </a:solidFill>
                <a:latin typeface="Calibri"/>
              </a:rPr>
              <a:t>■  </a:t>
            </a:r>
            <a:r>
              <a:rPr sz="2200" b="0" i="0">
                <a:solidFill>
                  <a:srgbClr val="1F2937"/>
                </a:solidFill>
                <a:latin typeface="Calibri"/>
              </a:rPr>
              <a:t>Se prueba la regla, no el dispositivo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CÓDIGO REAL · TEST DE EDIT MODE · 2 MIN</a:t>
            </a:r>
          </a:p>
          <a:p>
            <a:r>
              <a:rPr sz="2600" b="1" i="0">
                <a:solidFill>
                  <a:srgbClr val="FFFFFF"/>
                </a:solidFill>
                <a:latin typeface="Calibri"/>
              </a:rPr>
              <a:t>La configuración también se prueba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PlayerSettings.GetScriptingBackend; PlayerSettings.Android.targetArchitectures; Android Player settings</a:t>
            </a:r>
          </a:p>
        </p:txBody>
      </p:sp>
      <p:sp>
        <p:nvSpPr>
          <p:cNvPr id="9" name="TextBox 8"/>
          <p:cNvSpPr txBox="1"/>
          <p:nvPr/>
        </p:nvSpPr>
        <p:spPr>
          <a:xfrm>
            <a:off x="502920" y="1234440"/>
            <a:ext cx="11185855" cy="320040"/>
          </a:xfrm>
          <a:prstGeom prst="rect">
            <a:avLst/>
          </a:prstGeom>
          <a:noFill/>
        </p:spPr>
        <p:txBody>
          <a:bodyPr wrap="square" anchor="ctr" lIns="0" rIns="0" tIns="0" bIns="0">
            <a:spAutoFit/>
          </a:bodyPr>
          <a:lstStyle/>
          <a:p>
            <a:r>
              <a:rPr sz="1200" b="1" i="0">
                <a:solidFill>
                  <a:srgbClr val="6B7280"/>
                </a:solidFill>
                <a:latin typeface="Calibri"/>
              </a:rPr>
              <a:t>AndroidBuildConfigTests.cs  ·  líneas 12–26</a:t>
            </a:r>
          </a:p>
        </p:txBody>
      </p:sp>
      <p:sp>
        <p:nvSpPr>
          <p:cNvPr id="10" name="Rounded Rectangle 9"/>
          <p:cNvSpPr/>
          <p:nvPr/>
        </p:nvSpPr>
        <p:spPr>
          <a:xfrm>
            <a:off x="502920" y="1600200"/>
            <a:ext cx="11185855" cy="43891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 12  </a:t>
            </a:r>
            <a:r>
              <a:rPr sz="1500" b="0" i="0">
                <a:solidFill>
                  <a:srgbClr val="E2E8F0"/>
                </a:solidFill>
                <a:latin typeface="Consolas"/>
              </a:rPr>
              <a:t>[Test]</a:t>
            </a:r>
          </a:p>
          <a:p>
            <a:pPr algn="l"/>
            <a:r>
              <a:rPr sz="1500" b="0" i="0">
                <a:solidFill>
                  <a:srgbClr val="64748B"/>
                </a:solidFill>
                <a:latin typeface="Consolas"/>
              </a:rPr>
              <a:t> 13  </a:t>
            </a:r>
            <a:r>
              <a:rPr sz="1500" b="0" i="0">
                <a:solidFill>
                  <a:srgbClr val="E2E8F0"/>
                </a:solidFill>
                <a:latin typeface="Consolas"/>
              </a:rPr>
              <a:t>public void ScriptingBackend_EsIL2CPP()</a:t>
            </a:r>
          </a:p>
          <a:p>
            <a:pPr algn="l"/>
            <a:r>
              <a:rPr sz="1500" b="0" i="0">
                <a:solidFill>
                  <a:srgbClr val="64748B"/>
                </a:solidFill>
                <a:latin typeface="Consolas"/>
              </a:rPr>
              <a:t> 14  </a:t>
            </a:r>
            <a:r>
              <a:rPr sz="1500" b="0" i="0">
                <a:solidFill>
                  <a:srgbClr val="E2E8F0"/>
                </a:solidFill>
                <a:latin typeface="Consolas"/>
              </a:rPr>
              <a:t>{</a:t>
            </a:r>
          </a:p>
          <a:p>
            <a:pPr algn="l"/>
            <a:r>
              <a:rPr sz="1500" b="0" i="0">
                <a:solidFill>
                  <a:srgbClr val="64748B"/>
                </a:solidFill>
                <a:latin typeface="Consolas"/>
              </a:rPr>
              <a:t> 15  </a:t>
            </a:r>
            <a:r>
              <a:rPr sz="1500" b="0" i="0">
                <a:solidFill>
                  <a:srgbClr val="E2E8F0"/>
                </a:solidFill>
                <a:latin typeface="Consolas"/>
              </a:rPr>
              <a:t>    // ARM64 solo se habilita con IL2CPP</a:t>
            </a:r>
          </a:p>
          <a:p>
            <a:pPr algn="l"/>
            <a:r>
              <a:rPr sz="1500" b="0" i="0">
                <a:solidFill>
                  <a:srgbClr val="64748B"/>
                </a:solidFill>
                <a:latin typeface="Consolas"/>
              </a:rPr>
              <a:t> 16  </a:t>
            </a:r>
            <a:r>
              <a:rPr sz="1500" b="0" i="0">
                <a:solidFill>
                  <a:srgbClr val="E2E8F0"/>
                </a:solidFill>
                <a:latin typeface="Consolas"/>
              </a:rPr>
              <a:t>    var backend = PlayerSettings.GetScriptingBackend(Android);</a:t>
            </a:r>
          </a:p>
          <a:p>
            <a:pPr algn="l"/>
            <a:r>
              <a:rPr sz="1500" b="0" i="0">
                <a:solidFill>
                  <a:srgbClr val="64748B"/>
                </a:solidFill>
                <a:latin typeface="Consolas"/>
              </a:rPr>
              <a:t> 17  </a:t>
            </a:r>
            <a:r>
              <a:rPr sz="1500" b="0" i="0">
                <a:solidFill>
                  <a:srgbClr val="E2E8F0"/>
                </a:solidFill>
                <a:latin typeface="Consolas"/>
              </a:rPr>
              <a:t>    Assert.AreEqual(ScriptingImplementation.IL2CPP, backend);</a:t>
            </a:r>
          </a:p>
          <a:p>
            <a:pPr algn="l"/>
            <a:r>
              <a:rPr sz="1500" b="0" i="0">
                <a:solidFill>
                  <a:srgbClr val="64748B"/>
                </a:solidFill>
                <a:latin typeface="Consolas"/>
              </a:rPr>
              <a:t> 18  </a:t>
            </a:r>
            <a:r>
              <a:rPr sz="1500" b="0" i="0">
                <a:solidFill>
                  <a:srgbClr val="E2E8F0"/>
                </a:solidFill>
                <a:latin typeface="Consolas"/>
              </a:rPr>
              <a:t>}</a:t>
            </a:r>
          </a:p>
          <a:p>
            <a:pPr algn="l"/>
            <a:r>
              <a:rPr sz="1500" b="0" i="0">
                <a:solidFill>
                  <a:srgbClr val="64748B"/>
                </a:solidFill>
                <a:latin typeface="Consolas"/>
              </a:rPr>
              <a:t> 19  </a:t>
            </a:r>
            <a:r>
              <a:rPr sz="1500" b="0" i="0">
                <a:solidFill>
                  <a:srgbClr val="E2E8F0"/>
                </a:solidFill>
                <a:latin typeface="Consolas"/>
              </a:rPr>
              <a:t> </a:t>
            </a:r>
          </a:p>
          <a:p>
            <a:pPr algn="l"/>
            <a:r>
              <a:rPr sz="1500" b="0" i="0">
                <a:solidFill>
                  <a:srgbClr val="64748B"/>
                </a:solidFill>
                <a:latin typeface="Consolas"/>
              </a:rPr>
              <a:t> 20  </a:t>
            </a:r>
            <a:r>
              <a:rPr sz="1500" b="0" i="0">
                <a:solidFill>
                  <a:srgbClr val="E2E8F0"/>
                </a:solidFill>
                <a:latin typeface="Consolas"/>
              </a:rPr>
              <a:t>[Test]</a:t>
            </a:r>
          </a:p>
          <a:p>
            <a:pPr algn="l"/>
            <a:r>
              <a:rPr sz="1500" b="0" i="0">
                <a:solidFill>
                  <a:srgbClr val="64748B"/>
                </a:solidFill>
                <a:latin typeface="Consolas"/>
              </a:rPr>
              <a:t> 21  </a:t>
            </a:r>
            <a:r>
              <a:rPr sz="1500" b="0" i="0">
                <a:solidFill>
                  <a:srgbClr val="E2E8F0"/>
                </a:solidFill>
                <a:latin typeface="Consolas"/>
              </a:rPr>
              <a:t>public void Arquitecturas_IncluyenARM64()</a:t>
            </a:r>
          </a:p>
          <a:p>
            <a:pPr algn="l"/>
            <a:r>
              <a:rPr sz="1500" b="0" i="0">
                <a:solidFill>
                  <a:srgbClr val="64748B"/>
                </a:solidFill>
                <a:latin typeface="Consolas"/>
              </a:rPr>
              <a:t> 22  </a:t>
            </a:r>
            <a:r>
              <a:rPr sz="1500" b="0" i="0">
                <a:solidFill>
                  <a:srgbClr val="E2E8F0"/>
                </a:solidFill>
                <a:latin typeface="Consolas"/>
              </a:rPr>
              <a:t>{</a:t>
            </a:r>
          </a:p>
          <a:p>
            <a:pPr algn="l"/>
            <a:r>
              <a:rPr sz="1500" b="0" i="0">
                <a:solidFill>
                  <a:srgbClr val="64748B"/>
                </a:solidFill>
                <a:latin typeface="Consolas"/>
              </a:rPr>
              <a:t> 23  </a:t>
            </a:r>
            <a:r>
              <a:rPr sz="1500" b="0" i="0">
                <a:solidFill>
                  <a:srgbClr val="E2E8F0"/>
                </a:solidFill>
                <a:latin typeface="Consolas"/>
              </a:rPr>
              <a:t>    // Hay teléfonos que solo aceptan apps de 64 bits</a:t>
            </a:r>
          </a:p>
          <a:p>
            <a:pPr algn="l"/>
            <a:r>
              <a:rPr sz="1500" b="0" i="0">
                <a:solidFill>
                  <a:srgbClr val="64748B"/>
                </a:solidFill>
                <a:latin typeface="Consolas"/>
              </a:rPr>
              <a:t> 24  </a:t>
            </a:r>
            <a:r>
              <a:rPr sz="1500" b="0" i="0">
                <a:solidFill>
                  <a:srgbClr val="E2E8F0"/>
                </a:solidFill>
                <a:latin typeface="Consolas"/>
              </a:rPr>
              <a:t>    var arqs = PlayerSettings.Android.targetArchitectures;</a:t>
            </a:r>
          </a:p>
          <a:p>
            <a:pPr algn="l"/>
            <a:r>
              <a:rPr sz="1500" b="0" i="0">
                <a:solidFill>
                  <a:srgbClr val="64748B"/>
                </a:solidFill>
                <a:latin typeface="Consolas"/>
              </a:rPr>
              <a:t> 25  </a:t>
            </a:r>
            <a:r>
              <a:rPr sz="1500" b="0" i="0">
                <a:solidFill>
                  <a:srgbClr val="E2E8F0"/>
                </a:solidFill>
                <a:latin typeface="Consolas"/>
              </a:rPr>
              <a:t>    Assert.IsTrue((arqs &amp; AndroidArchitecture.ARM64) != 0);</a:t>
            </a:r>
          </a:p>
          <a:p>
            <a:pPr algn="l"/>
            <a:r>
              <a:rPr sz="1500" b="0" i="0">
                <a:solidFill>
                  <a:srgbClr val="64748B"/>
                </a:solidFill>
                <a:latin typeface="Consolas"/>
              </a:rPr>
              <a:t> 26  </a:t>
            </a:r>
            <a:r>
              <a:rPr sz="1500" b="0" i="0">
                <a:solidFill>
                  <a:srgbClr val="E2E8F0"/>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10 MIN · GRUPOS · EN UNITY</a:t>
            </a:r>
          </a:p>
          <a:p>
            <a:r>
              <a:rPr sz="2600" b="1" i="0">
                <a:solidFill>
                  <a:srgbClr val="FFFFFF"/>
                </a:solidFill>
                <a:latin typeface="Calibri"/>
              </a:rPr>
              <a:t>Actividad A4.8: el test que cuida la build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16/23</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Entreguen la captura del Test Runner en rojo y en verde.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Crear el test de Edit Mode</a:t>
            </a:r>
          </a:p>
          <a:p>
            <a:pPr>
              <a:spcAft>
                <a:spcPts val="800"/>
              </a:spcAft>
            </a:pPr>
            <a:r>
              <a:rPr sz="1600" b="1" i="0">
                <a:solidFill>
                  <a:srgbClr val="0D9488"/>
                </a:solidFill>
                <a:latin typeface="Calibri"/>
              </a:rPr>
              <a:t>■  </a:t>
            </a:r>
            <a:r>
              <a:rPr sz="2200" b="0" i="0">
                <a:solidFill>
                  <a:srgbClr val="1F2937"/>
                </a:solidFill>
                <a:latin typeface="Calibri"/>
              </a:rPr>
              <a:t>Verlo en rojo a propósito</a:t>
            </a:r>
          </a:p>
          <a:p>
            <a:pPr>
              <a:spcAft>
                <a:spcPts val="800"/>
              </a:spcAft>
            </a:pPr>
            <a:r>
              <a:rPr sz="1600" b="1" i="0">
                <a:solidFill>
                  <a:srgbClr val="0D9488"/>
                </a:solidFill>
                <a:latin typeface="Calibri"/>
              </a:rPr>
              <a:t>■  </a:t>
            </a:r>
            <a:r>
              <a:rPr sz="2200" b="0" i="0">
                <a:solidFill>
                  <a:srgbClr val="1F2937"/>
                </a:solidFill>
                <a:latin typeface="Calibri"/>
              </a:rPr>
              <a:t>Arreglar la configuración</a:t>
            </a:r>
          </a:p>
          <a:p>
            <a:pPr>
              <a:spcAft>
                <a:spcPts val="800"/>
              </a:spcAft>
            </a:pPr>
            <a:r>
              <a:rPr sz="1600" b="1" i="0">
                <a:solidFill>
                  <a:srgbClr val="0D9488"/>
                </a:solidFill>
                <a:latin typeface="Calibri"/>
              </a:rPr>
              <a:t>■  </a:t>
            </a:r>
            <a:r>
              <a:rPr sz="2200" b="0" i="0">
                <a:solidFill>
                  <a:srgbClr val="1F2937"/>
                </a:solidFill>
                <a:latin typeface="Calibri"/>
              </a:rPr>
              <a:t>¿Qué NO demuestra?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APERTURA · 2 MIN</a:t>
            </a:r>
          </a:p>
          <a:p>
            <a:r>
              <a:rPr sz="2600" b="1" i="0">
                <a:solidFill>
                  <a:srgbClr val="FFFFFF"/>
                </a:solidFill>
                <a:latin typeface="Calibri"/>
              </a:rPr>
              <a:t>USD 520 millones por una pantalla de compra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FTC, comunicado de prensa del 19/12/2022</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¿Monetizar es negocio o diseño?</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FTC vs. Epic Games (2022)</a:t>
            </a:r>
          </a:p>
          <a:p>
            <a:pPr>
              <a:spcAft>
                <a:spcPts val="800"/>
              </a:spcAft>
            </a:pPr>
            <a:r>
              <a:rPr sz="1600" b="1" i="0">
                <a:solidFill>
                  <a:srgbClr val="0D9488"/>
                </a:solidFill>
                <a:latin typeface="Calibri"/>
              </a:rPr>
              <a:t>■  </a:t>
            </a:r>
            <a:r>
              <a:rPr sz="2200" b="0" i="0">
                <a:solidFill>
                  <a:srgbClr val="1F2937"/>
                </a:solidFill>
                <a:latin typeface="Calibri"/>
              </a:rPr>
              <a:t>USD 275 M + USD 245 M</a:t>
            </a:r>
          </a:p>
          <a:p>
            <a:pPr>
              <a:spcAft>
                <a:spcPts val="800"/>
              </a:spcAft>
            </a:pPr>
            <a:r>
              <a:rPr sz="1600" b="1" i="0">
                <a:solidFill>
                  <a:srgbClr val="0D9488"/>
                </a:solidFill>
                <a:latin typeface="Calibri"/>
              </a:rPr>
              <a:t>■  </a:t>
            </a:r>
            <a:r>
              <a:rPr sz="2200" b="0" i="0">
                <a:solidFill>
                  <a:srgbClr val="1F2937"/>
                </a:solidFill>
                <a:latin typeface="Calibri"/>
              </a:rPr>
              <a:t>Botones confusos al comprar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3 MIN</a:t>
            </a:r>
          </a:p>
          <a:p>
            <a:r>
              <a:rPr sz="2600" b="1" i="0">
                <a:solidFill>
                  <a:srgbClr val="FFFFFF"/>
                </a:solidFill>
                <a:latin typeface="Calibri"/>
              </a:rPr>
              <a:t>Modelos y formatos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 Store — Alto's Adventure (ficha consultada 2026-10-04); Google AdMob — Rewarded ads; Interstitial ad guidance</a:t>
            </a:r>
          </a:p>
        </p:txBody>
      </p:sp>
      <p:graphicFrame>
        <p:nvGraphicFramePr>
          <p:cNvPr id="9" name="Table 8"/>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107181"/>
                <a:gridCol w="3573259"/>
                <a:gridCol w="4505413"/>
              </a:tblGrid>
              <a:tr h="566928">
                <a:tc>
                  <a:txBody>
                    <a:bodyPr wrap="square"/>
                    <a:lstStyle/>
                    <a:p>
                      <a:r>
                        <a:rPr sz="1400" b="1" i="0">
                          <a:solidFill>
                            <a:srgbClr val="FFFFFF"/>
                          </a:solidFill>
                          <a:latin typeface="Calibri"/>
                        </a:rPr>
                        <a:t>Modelo</a:t>
                      </a:r>
                    </a:p>
                  </a:txBody>
                  <a:tcPr marL="73152" marR="73152" marT="36576" marB="36576" anchor="ctr">
                    <a:solidFill>
                      <a:srgbClr val="0D9488"/>
                    </a:solidFill>
                  </a:tcPr>
                </a:tc>
                <a:tc>
                  <a:txBody>
                    <a:bodyPr wrap="square"/>
                    <a:lstStyle/>
                    <a:p>
                      <a:r>
                        <a:rPr sz="1400" b="1" i="0">
                          <a:solidFill>
                            <a:srgbClr val="FFFFFF"/>
                          </a:solidFill>
                          <a:latin typeface="Calibri"/>
                        </a:rPr>
                        <a:t>Quién paga</a:t>
                      </a:r>
                    </a:p>
                  </a:txBody>
                  <a:tcPr marL="73152" marR="73152" marT="36576" marB="36576" anchor="ctr">
                    <a:solidFill>
                      <a:srgbClr val="0D9488"/>
                    </a:solidFill>
                  </a:tcPr>
                </a:tc>
                <a:tc>
                  <a:txBody>
                    <a:bodyPr wrap="square"/>
                    <a:lstStyle/>
                    <a:p>
                      <a:r>
                        <a:rPr sz="1400" b="1" i="0">
                          <a:solidFill>
                            <a:srgbClr val="FFFFFF"/>
                          </a:solidFill>
                          <a:latin typeface="Calibri"/>
                        </a:rPr>
                        <a:t>Qué cambia en el diseño</a:t>
                      </a:r>
                    </a:p>
                  </a:txBody>
                  <a:tcPr marL="73152" marR="73152" marT="36576" marB="36576" anchor="ctr">
                    <a:solidFill>
                      <a:srgbClr val="0D9488"/>
                    </a:solidFill>
                  </a:tcPr>
                </a:tc>
              </a:tr>
              <a:tr h="566928">
                <a:tc>
                  <a:txBody>
                    <a:bodyPr wrap="square"/>
                    <a:lstStyle/>
                    <a:p>
                      <a:r>
                        <a:rPr sz="1400" b="0" i="0">
                          <a:solidFill>
                            <a:srgbClr val="1F2937"/>
                          </a:solidFill>
                          <a:latin typeface="Calibri"/>
                        </a:rPr>
                        <a:t>Premium</a:t>
                      </a:r>
                    </a:p>
                  </a:txBody>
                  <a:tcPr marL="73152" marR="73152" marT="36576" marB="36576" anchor="ctr">
                    <a:solidFill>
                      <a:srgbClr val="FFFFFF"/>
                    </a:solidFill>
                  </a:tcPr>
                </a:tc>
                <a:tc>
                  <a:txBody>
                    <a:bodyPr wrap="square"/>
                    <a:lstStyle/>
                    <a:p>
                      <a:r>
                        <a:rPr sz="1400" b="0" i="0">
                          <a:solidFill>
                            <a:srgbClr val="1F2937"/>
                          </a:solidFill>
                          <a:latin typeface="Calibri"/>
                        </a:rPr>
                        <a:t>Al comprar</a:t>
                      </a:r>
                    </a:p>
                  </a:txBody>
                  <a:tcPr marL="73152" marR="73152" marT="36576" marB="36576" anchor="ctr">
                    <a:solidFill>
                      <a:srgbClr val="FFFFFF"/>
                    </a:solidFill>
                  </a:tcPr>
                </a:tc>
                <a:tc>
                  <a:txBody>
                    <a:bodyPr wrap="square"/>
                    <a:lstStyle/>
                    <a:p>
                      <a:r>
                        <a:rPr sz="1400" b="0" i="0">
                          <a:solidFill>
                            <a:srgbClr val="1F2937"/>
                          </a:solidFill>
                          <a:latin typeface="Calibri"/>
                        </a:rPr>
                        <a:t>Sin interrupciones</a:t>
                      </a:r>
                    </a:p>
                  </a:txBody>
                  <a:tcPr marL="73152" marR="73152" marT="36576" marB="36576" anchor="ctr">
                    <a:solidFill>
                      <a:srgbClr val="FFFFFF"/>
                    </a:solidFill>
                  </a:tcPr>
                </a:tc>
              </a:tr>
              <a:tr h="566928">
                <a:tc>
                  <a:txBody>
                    <a:bodyPr wrap="square"/>
                    <a:lstStyle/>
                    <a:p>
                      <a:r>
                        <a:rPr sz="1400" b="0" i="0">
                          <a:solidFill>
                            <a:srgbClr val="1F2937"/>
                          </a:solidFill>
                          <a:latin typeface="Calibri"/>
                        </a:rPr>
                        <a:t>Freemium + IAP</a:t>
                      </a:r>
                    </a:p>
                  </a:txBody>
                  <a:tcPr marL="73152" marR="73152" marT="36576" marB="36576" anchor="ctr">
                    <a:solidFill>
                      <a:srgbClr val="E6F4F2"/>
                    </a:solidFill>
                  </a:tcPr>
                </a:tc>
                <a:tc>
                  <a:txBody>
                    <a:bodyPr wrap="square"/>
                    <a:lstStyle/>
                    <a:p>
                      <a:r>
                        <a:rPr sz="1400" b="0" i="0">
                          <a:solidFill>
                            <a:srgbClr val="1F2937"/>
                          </a:solidFill>
                          <a:latin typeface="Calibri"/>
                        </a:rPr>
                        <a:t>Algunos jugadores</a:t>
                      </a:r>
                    </a:p>
                  </a:txBody>
                  <a:tcPr marL="73152" marR="73152" marT="36576" marB="36576" anchor="ctr">
                    <a:solidFill>
                      <a:srgbClr val="E6F4F2"/>
                    </a:solidFill>
                  </a:tcPr>
                </a:tc>
                <a:tc>
                  <a:txBody>
                    <a:bodyPr wrap="square"/>
                    <a:lstStyle/>
                    <a:p>
                      <a:r>
                        <a:rPr sz="1400" b="0" i="0">
                          <a:solidFill>
                            <a:srgbClr val="1F2937"/>
                          </a:solidFill>
                          <a:latin typeface="Calibri"/>
                        </a:rPr>
                        <a:t>Tienda y progresión</a:t>
                      </a:r>
                    </a:p>
                  </a:txBody>
                  <a:tcPr marL="73152" marR="73152" marT="36576" marB="36576" anchor="ctr">
                    <a:solidFill>
                      <a:srgbClr val="E6F4F2"/>
                    </a:solidFill>
                  </a:tcPr>
                </a:tc>
              </a:tr>
              <a:tr h="566928">
                <a:tc>
                  <a:txBody>
                    <a:bodyPr wrap="square"/>
                    <a:lstStyle/>
                    <a:p>
                      <a:r>
                        <a:rPr sz="1400" b="0" i="0">
                          <a:solidFill>
                            <a:srgbClr val="1F2937"/>
                          </a:solidFill>
                          <a:latin typeface="Calibri"/>
                        </a:rPr>
                        <a:t>Anuncios</a:t>
                      </a:r>
                    </a:p>
                  </a:txBody>
                  <a:tcPr marL="73152" marR="73152" marT="36576" marB="36576" anchor="ctr">
                    <a:solidFill>
                      <a:srgbClr val="FFFFFF"/>
                    </a:solidFill>
                  </a:tcPr>
                </a:tc>
                <a:tc>
                  <a:txBody>
                    <a:bodyPr wrap="square"/>
                    <a:lstStyle/>
                    <a:p>
                      <a:r>
                        <a:rPr sz="1400" b="0" i="0">
                          <a:solidFill>
                            <a:srgbClr val="1F2937"/>
                          </a:solidFill>
                          <a:latin typeface="Calibri"/>
                        </a:rPr>
                        <a:t>El anunciante</a:t>
                      </a:r>
                    </a:p>
                  </a:txBody>
                  <a:tcPr marL="73152" marR="73152" marT="36576" marB="36576" anchor="ctr">
                    <a:solidFill>
                      <a:srgbClr val="FFFFFF"/>
                    </a:solidFill>
                  </a:tcPr>
                </a:tc>
                <a:tc>
                  <a:txBody>
                    <a:bodyPr wrap="square"/>
                    <a:lstStyle/>
                    <a:p>
                      <a:r>
                        <a:rPr sz="1400" b="0" i="0">
                          <a:solidFill>
                            <a:srgbClr val="1F2937"/>
                          </a:solidFill>
                          <a:latin typeface="Calibri"/>
                        </a:rPr>
                        <a:t>Cuándo interrumpir</a:t>
                      </a:r>
                    </a:p>
                  </a:txBody>
                  <a:tcPr marL="73152" marR="73152" marT="36576" marB="36576" anchor="ctr">
                    <a:solidFill>
                      <a:srgbClr val="FFFFFF"/>
                    </a:solidFill>
                  </a:tcPr>
                </a:tc>
              </a:tr>
              <a:tr h="566928">
                <a:tc>
                  <a:txBody>
                    <a:bodyPr wrap="square"/>
                    <a:lstStyle/>
                    <a:p>
                      <a:r>
                        <a:rPr sz="1400" b="0" i="0">
                          <a:solidFill>
                            <a:srgbClr val="1F2937"/>
                          </a:solidFill>
                          <a:latin typeface="Calibri"/>
                        </a:rPr>
                        <a:t>Híbrido</a:t>
                      </a:r>
                    </a:p>
                  </a:txBody>
                  <a:tcPr marL="73152" marR="73152" marT="36576" marB="36576" anchor="ctr">
                    <a:solidFill>
                      <a:srgbClr val="E6F4F2"/>
                    </a:solidFill>
                  </a:tcPr>
                </a:tc>
                <a:tc>
                  <a:txBody>
                    <a:bodyPr wrap="square"/>
                    <a:lstStyle/>
                    <a:p>
                      <a:r>
                        <a:rPr sz="1400" b="0" i="0">
                          <a:solidFill>
                            <a:srgbClr val="1F2937"/>
                          </a:solidFill>
                          <a:latin typeface="Calibri"/>
                        </a:rPr>
                        <a:t>Combinación</a:t>
                      </a:r>
                    </a:p>
                  </a:txBody>
                  <a:tcPr marL="73152" marR="73152" marT="36576" marB="36576" anchor="ctr">
                    <a:solidFill>
                      <a:srgbClr val="E6F4F2"/>
                    </a:solidFill>
                  </a:tcPr>
                </a:tc>
                <a:tc>
                  <a:txBody>
                    <a:bodyPr wrap="square"/>
                    <a:lstStyle/>
                    <a:p>
                      <a:r>
                        <a:rPr sz="1400" b="0" i="0">
                          <a:solidFill>
                            <a:srgbClr val="1F2937"/>
                          </a:solidFill>
                          <a:latin typeface="Calibri"/>
                        </a:rPr>
                        <a:t>Todo lo anterior</a:t>
                      </a:r>
                    </a:p>
                  </a:txBody>
                  <a:tcPr marL="73152" marR="73152" marT="36576" marB="36576" anchor="ctr">
                    <a:solidFill>
                      <a:srgbClr val="E6F4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REGLAS EXTERNAS · 4 MIN</a:t>
            </a:r>
          </a:p>
          <a:p>
            <a:r>
              <a:rPr sz="2600" b="1" i="0">
                <a:solidFill>
                  <a:srgbClr val="FFFFFF"/>
                </a:solidFill>
                <a:latin typeface="Calibri"/>
              </a:rPr>
              <a:t>Las reglas las pone la tienda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AdMob — Disallowed interstitial implementations; Apple App Review Guidelines 3.1.1 y 1.3; Google Play — Payments y Families policy</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¿Un anuncio en cada Game Over cumple?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AdMob: nunca al abrir ni en cada acción</a:t>
            </a:r>
          </a:p>
          <a:p>
            <a:pPr>
              <a:spcAft>
                <a:spcPts val="800"/>
              </a:spcAft>
            </a:pPr>
            <a:r>
              <a:rPr sz="1600" b="1" i="0">
                <a:solidFill>
                  <a:srgbClr val="0D9488"/>
                </a:solidFill>
                <a:latin typeface="Calibri"/>
              </a:rPr>
              <a:t>■  </a:t>
            </a:r>
            <a:r>
              <a:rPr sz="2200" b="0" i="0">
                <a:solidFill>
                  <a:srgbClr val="1F2937"/>
                </a:solidFill>
                <a:latin typeface="Calibri"/>
              </a:rPr>
              <a:t>Apple 3.1.1: IAP obligatorio</a:t>
            </a:r>
          </a:p>
          <a:p>
            <a:pPr>
              <a:spcAft>
                <a:spcPts val="800"/>
              </a:spcAft>
            </a:pPr>
            <a:r>
              <a:rPr sz="1600" b="1" i="0">
                <a:solidFill>
                  <a:srgbClr val="0D9488"/>
                </a:solidFill>
                <a:latin typeface="Calibri"/>
              </a:rPr>
              <a:t>■  </a:t>
            </a:r>
            <a:r>
              <a:rPr sz="2200" b="0" i="0">
                <a:solidFill>
                  <a:srgbClr val="1F2937"/>
                </a:solidFill>
                <a:latin typeface="Calibri"/>
              </a:rPr>
              <a:t>Probabilidades visibles al comprar</a:t>
            </a:r>
          </a:p>
          <a:p>
            <a:pPr>
              <a:spcAft>
                <a:spcPts val="800"/>
              </a:spcAft>
            </a:pPr>
            <a:r>
              <a:rPr sz="1600" b="1" i="0">
                <a:solidFill>
                  <a:srgbClr val="0D9488"/>
                </a:solidFill>
                <a:latin typeface="Calibri"/>
              </a:rPr>
              <a:t>■  </a:t>
            </a:r>
            <a:r>
              <a:rPr sz="2200" b="0" i="0">
                <a:solidFill>
                  <a:srgbClr val="1F2937"/>
                </a:solidFill>
                <a:latin typeface="Calibri"/>
              </a:rPr>
              <a:t>Niños: sin publicidad personalizada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GAME DESIGN · ÉTICA · 4 MIN</a:t>
            </a:r>
          </a:p>
          <a:p>
            <a:r>
              <a:rPr sz="2600" b="1" i="0">
                <a:solidFill>
                  <a:srgbClr val="FFFFFF"/>
                </a:solidFill>
                <a:latin typeface="Calibri"/>
              </a:rPr>
              <a:t>Monetizar cambia el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20/23</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Kotaku (2023), citando a poncle; PLOS ONE 2018; Journal of Business Ethics 2022; UK Gambling Commission</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"continuar", ¿qué rebalancearían?</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"Continuar" cambia el Game Over</a:t>
            </a:r>
          </a:p>
          <a:p>
            <a:pPr>
              <a:spcAft>
                <a:spcPts val="800"/>
              </a:spcAft>
            </a:pPr>
            <a:r>
              <a:rPr sz="1600" b="1" i="0">
                <a:solidFill>
                  <a:srgbClr val="0D9488"/>
                </a:solidFill>
                <a:latin typeface="Calibri"/>
              </a:rPr>
              <a:t>■  </a:t>
            </a:r>
            <a:r>
              <a:rPr sz="2200" b="0" i="0">
                <a:solidFill>
                  <a:srgbClr val="1F2937"/>
                </a:solidFill>
                <a:latin typeface="Calibri"/>
              </a:rPr>
              <a:t>Dificultad para vender: cambia el balance</a:t>
            </a:r>
          </a:p>
          <a:p>
            <a:pPr>
              <a:spcAft>
                <a:spcPts val="800"/>
              </a:spcAft>
            </a:pPr>
            <a:r>
              <a:rPr sz="1600" b="1" i="0">
                <a:solidFill>
                  <a:srgbClr val="0D9488"/>
                </a:solidFill>
                <a:latin typeface="Calibri"/>
              </a:rPr>
              <a:t>■  </a:t>
            </a:r>
            <a:r>
              <a:rPr sz="2200" b="0" i="0">
                <a:solidFill>
                  <a:srgbClr val="1F2937"/>
                </a:solidFill>
                <a:latin typeface="Calibri"/>
              </a:rPr>
              <a:t>Vampire Survivors: nunca interrumpir</a:t>
            </a:r>
          </a:p>
          <a:p>
            <a:pPr>
              <a:spcAft>
                <a:spcPts val="800"/>
              </a:spcAft>
            </a:pPr>
            <a:r>
              <a:rPr sz="1600" b="1" i="0">
                <a:solidFill>
                  <a:srgbClr val="0D9488"/>
                </a:solidFill>
                <a:latin typeface="Calibri"/>
              </a:rPr>
              <a:t>■  </a:t>
            </a:r>
            <a:r>
              <a:rPr sz="2200" b="0" i="0">
                <a:solidFill>
                  <a:srgbClr val="1F2937"/>
                </a:solidFill>
                <a:latin typeface="Calibri"/>
              </a:rPr>
              <a:t>Dark patterns y loot boxes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7 MIN · GRUPOS + VOTO</a:t>
            </a:r>
          </a:p>
          <a:p>
            <a:r>
              <a:rPr sz="2600" b="1" i="0">
                <a:solidFill>
                  <a:srgbClr val="FFFFFF"/>
                </a:solidFill>
                <a:latin typeface="Calibri"/>
              </a:rPr>
              <a:t>Actividad A4.5: ¿cuál publicarían?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21/23</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¿Cumple políticas? ¿Qué cambia? ¿Riesgos éticos? Elijan una.</a:t>
            </a:r>
          </a:p>
        </p:txBody>
      </p:sp>
      <p:graphicFrame>
        <p:nvGraphicFramePr>
          <p:cNvPr id="10" name="Table 9"/>
          <p:cNvGraphicFramePr>
            <a:graphicFrameLocks noGrp="1"/>
          </p:cNvGraphicFramePr>
          <p:nvPr/>
        </p:nvGraphicFramePr>
        <p:xfrm>
          <a:off x="502920" y="1234440"/>
          <a:ext cx="11185854" cy="2267712"/>
        </p:xfrm>
        <a:graphic>
          <a:graphicData uri="http://schemas.openxmlformats.org/drawingml/2006/table">
            <a:tbl>
              <a:tblPr firstRow="1" bandRow="1">
                <a:tableStyleId>{5C22544A-7EE6-4342-B048-85BDC9FD1C3A}</a:tableStyleId>
              </a:tblPr>
              <a:tblGrid>
                <a:gridCol w="1712120"/>
                <a:gridCol w="9473734"/>
              </a:tblGrid>
              <a:tr h="566928">
                <a:tc>
                  <a:txBody>
                    <a:bodyPr wrap="square"/>
                    <a:lstStyle/>
                    <a:p>
                      <a:r>
                        <a:rPr sz="1400" b="1" i="0">
                          <a:solidFill>
                            <a:srgbClr val="FFFFFF"/>
                          </a:solidFill>
                          <a:latin typeface="Calibri"/>
                        </a:rPr>
                        <a:t>Propuesta</a:t>
                      </a:r>
                    </a:p>
                  </a:txBody>
                  <a:tcPr marL="73152" marR="73152" marT="36576" marB="36576" anchor="ctr">
                    <a:solidFill>
                      <a:srgbClr val="0D9488"/>
                    </a:solidFill>
                  </a:tcPr>
                </a:tc>
                <a:tc>
                  <a:txBody>
                    <a:bodyPr wrap="square"/>
                    <a:lstStyle/>
                    <a:p>
                      <a:r>
                        <a:rPr sz="1400" b="1" i="0">
                          <a:solidFill>
                            <a:srgbClr val="FFFFFF"/>
                          </a:solidFill>
                          <a:latin typeface="Calibri"/>
                        </a:rPr>
                        <a:t>Modelo</a:t>
                      </a:r>
                    </a:p>
                  </a:txBody>
                  <a:tcPr marL="73152" marR="73152" marT="36576" marB="36576" anchor="ctr">
                    <a:solidFill>
                      <a:srgbClr val="0D9488"/>
                    </a:solidFill>
                  </a:tcPr>
                </a:tc>
              </a:tr>
              <a:tr h="566928">
                <a:tc>
                  <a:txBody>
                    <a:bodyPr wrap="square"/>
                    <a:lstStyle/>
                    <a:p>
                      <a:r>
                        <a:rPr sz="1400" b="0" i="0">
                          <a:solidFill>
                            <a:srgbClr val="1F2937"/>
                          </a:solidFill>
                          <a:latin typeface="Calibri"/>
                        </a:rPr>
                        <a:t>P1</a:t>
                      </a:r>
                    </a:p>
                  </a:txBody>
                  <a:tcPr marL="73152" marR="73152" marT="36576" marB="36576" anchor="ctr">
                    <a:solidFill>
                      <a:srgbClr val="FFFFFF"/>
                    </a:solidFill>
                  </a:tcPr>
                </a:tc>
                <a:tc>
                  <a:txBody>
                    <a:bodyPr wrap="square"/>
                    <a:lstStyle/>
                    <a:p>
                      <a:r>
                        <a:rPr sz="1400" b="0" i="0">
                          <a:solidFill>
                            <a:srgbClr val="1F2937"/>
                          </a:solidFill>
                          <a:latin typeface="Calibri"/>
                        </a:rPr>
                        <a:t>Premium, US$ 2,99, sin anuncios ni compras</a:t>
                      </a:r>
                    </a:p>
                  </a:txBody>
                  <a:tcPr marL="73152" marR="73152" marT="36576" marB="36576" anchor="ctr">
                    <a:solidFill>
                      <a:srgbClr val="FFFFFF"/>
                    </a:solidFill>
                  </a:tcPr>
                </a:tc>
              </a:tr>
              <a:tr h="566928">
                <a:tc>
                  <a:txBody>
                    <a:bodyPr wrap="square"/>
                    <a:lstStyle/>
                    <a:p>
                      <a:r>
                        <a:rPr sz="1400" b="0" i="0">
                          <a:solidFill>
                            <a:srgbClr val="1F2937"/>
                          </a:solidFill>
                          <a:latin typeface="Calibri"/>
                        </a:rPr>
                        <a:t>P2</a:t>
                      </a:r>
                    </a:p>
                  </a:txBody>
                  <a:tcPr marL="73152" marR="73152" marT="36576" marB="36576" anchor="ctr">
                    <a:solidFill>
                      <a:srgbClr val="E6F4F2"/>
                    </a:solidFill>
                  </a:tcPr>
                </a:tc>
                <a:tc>
                  <a:txBody>
                    <a:bodyPr wrap="square"/>
                    <a:lstStyle/>
                    <a:p>
                      <a:r>
                        <a:rPr sz="1400" b="0" i="0">
                          <a:solidFill>
                            <a:srgbClr val="1F2937"/>
                          </a:solidFill>
                          <a:latin typeface="Calibri"/>
                        </a:rPr>
                        <a:t>Gratis + rewarded "continuar" + IAP "quitar anuncios"</a:t>
                      </a:r>
                    </a:p>
                  </a:txBody>
                  <a:tcPr marL="73152" marR="73152" marT="36576" marB="36576" anchor="ctr">
                    <a:solidFill>
                      <a:srgbClr val="E6F4F2"/>
                    </a:solidFill>
                  </a:tcPr>
                </a:tc>
              </a:tr>
              <a:tr h="566928">
                <a:tc>
                  <a:txBody>
                    <a:bodyPr wrap="square"/>
                    <a:lstStyle/>
                    <a:p>
                      <a:r>
                        <a:rPr sz="1400" b="0" i="0">
                          <a:solidFill>
                            <a:srgbClr val="1F2937"/>
                          </a:solidFill>
                          <a:latin typeface="Calibri"/>
                        </a:rPr>
                        <a:t>P3</a:t>
                      </a:r>
                    </a:p>
                  </a:txBody>
                  <a:tcPr marL="73152" marR="73152" marT="36576" marB="36576" anchor="ctr">
                    <a:solidFill>
                      <a:srgbClr val="FFFFFF"/>
                    </a:solidFill>
                  </a:tcPr>
                </a:tc>
                <a:tc>
                  <a:txBody>
                    <a:bodyPr wrap="square"/>
                    <a:lstStyle/>
                    <a:p>
                      <a:r>
                        <a:rPr sz="1400" b="0" i="0">
                          <a:solidFill>
                            <a:srgbClr val="1F2937"/>
                          </a:solidFill>
                          <a:latin typeface="Calibri"/>
                        </a:rPr>
                        <a:t>Interstitial al abrir y en cada Game Over + cofres al azar sin probabilidades</a:t>
                      </a:r>
                    </a:p>
                  </a:txBody>
                  <a:tcPr marL="73152" marR="73152" marT="36576" marB="36576"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3 · 1 MIN · CONSIGNA</a:t>
            </a:r>
          </a:p>
          <a:p>
            <a:r>
              <a:rPr sz="2600" b="1" i="0">
                <a:solidFill>
                  <a:srgbClr val="FFFFFF"/>
                </a:solidFill>
                <a:latin typeface="Calibri"/>
              </a:rPr>
              <a:t>TP 3: entrega y defensa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22/23</a:t>
            </a:r>
          </a:p>
        </p:txBody>
      </p:sp>
      <p:sp>
        <p:nvSpPr>
          <p:cNvPr id="8" name="TextBox 7"/>
          <p:cNvSpPr txBox="1"/>
          <p:nvPr/>
        </p:nvSpPr>
        <p:spPr>
          <a:xfrm>
            <a:off x="502920" y="1234440"/>
            <a:ext cx="11185855" cy="210312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decisión de plataforma</a:t>
            </a:r>
          </a:p>
          <a:p>
            <a:pPr>
              <a:spcAft>
                <a:spcPts val="800"/>
              </a:spcAft>
            </a:pPr>
            <a:r>
              <a:rPr sz="1600" b="1" i="0">
                <a:solidFill>
                  <a:srgbClr val="0D9488"/>
                </a:solidFill>
                <a:latin typeface="Calibri"/>
              </a:rPr>
              <a:t>■  </a:t>
            </a:r>
            <a:r>
              <a:rPr sz="2200" b="0" i="0">
                <a:solidFill>
                  <a:srgbClr val="1F2937"/>
                </a:solidFill>
                <a:latin typeface="Calibri"/>
              </a:rPr>
              <a:t>La evidencia del teléfono</a:t>
            </a:r>
          </a:p>
          <a:p>
            <a:pPr>
              <a:spcAft>
                <a:spcPts val="800"/>
              </a:spcAft>
            </a:pPr>
            <a:r>
              <a:rPr sz="1600" b="1" i="0">
                <a:solidFill>
                  <a:srgbClr val="0D9488"/>
                </a:solidFill>
                <a:latin typeface="Calibri"/>
              </a:rPr>
              <a:t>■  </a:t>
            </a:r>
            <a:r>
              <a:rPr sz="2200" b="0" i="0">
                <a:solidFill>
                  <a:srgbClr val="1F2937"/>
                </a:solidFill>
                <a:latin typeface="Calibri"/>
              </a:rPr>
              <a:t>Lo que quedó sin probar</a:t>
            </a:r>
          </a:p>
          <a:p>
            <a:pPr>
              <a:spcAft>
                <a:spcPts val="800"/>
              </a:spcAft>
            </a:pPr>
            <a:r>
              <a:rPr sz="1600" b="1" i="0">
                <a:solidFill>
                  <a:srgbClr val="0D9488"/>
                </a:solidFill>
                <a:latin typeface="Calibri"/>
              </a:rPr>
              <a:t>■  </a:t>
            </a:r>
            <a:r>
              <a:rPr sz="2200" b="0" i="0">
                <a:solidFill>
                  <a:srgbClr val="1F2937"/>
                </a:solidFill>
                <a:latin typeface="Calibri"/>
              </a:rPr>
              <a:t>A4.4 (la pausa) va en el dossier</a:t>
            </a:r>
          </a:p>
        </p:txBody>
      </p:sp>
      <p:graphicFrame>
        <p:nvGraphicFramePr>
          <p:cNvPr id="9" name="Table 8"/>
          <p:cNvGraphicFramePr>
            <a:graphicFrameLocks noGrp="1"/>
          </p:cNvGraphicFramePr>
          <p:nvPr/>
        </p:nvGraphicFramePr>
        <p:xfrm>
          <a:off x="502920" y="3337560"/>
          <a:ext cx="11185854" cy="2267712"/>
        </p:xfrm>
        <a:graphic>
          <a:graphicData uri="http://schemas.openxmlformats.org/drawingml/2006/table">
            <a:tbl>
              <a:tblPr firstRow="1" bandRow="1">
                <a:tableStyleId>{5C22544A-7EE6-4342-B048-85BDC9FD1C3A}</a:tableStyleId>
              </a:tblPr>
              <a:tblGrid>
                <a:gridCol w="6635676"/>
                <a:gridCol w="4550178"/>
              </a:tblGrid>
              <a:tr h="566928">
                <a:tc>
                  <a:txBody>
                    <a:bodyPr wrap="square"/>
                    <a:lstStyle/>
                    <a:p>
                      <a:r>
                        <a:rPr sz="1600" b="1" i="0">
                          <a:solidFill>
                            <a:srgbClr val="FFFFFF"/>
                          </a:solidFill>
                          <a:latin typeface="Calibri"/>
                        </a:rPr>
                        <a:t>Criterio de coevaluación</a:t>
                      </a:r>
                    </a:p>
                  </a:txBody>
                  <a:tcPr marL="73152" marR="73152" marT="36576" marB="36576" anchor="ctr">
                    <a:solidFill>
                      <a:srgbClr val="0D9488"/>
                    </a:solidFill>
                  </a:tcPr>
                </a:tc>
                <a:tc>
                  <a:txBody>
                    <a:bodyPr wrap="square"/>
                    <a:lstStyle/>
                    <a:p>
                      <a:r>
                        <a:rPr sz="1600" b="1" i="0">
                          <a:solidFill>
                            <a:srgbClr val="FFFFFF"/>
                          </a:solidFill>
                          <a:latin typeface="Calibri"/>
                        </a:rPr>
                        <a:t>Sí / En parte / No</a:t>
                      </a:r>
                    </a:p>
                  </a:txBody>
                  <a:tcPr marL="73152" marR="73152" marT="36576" marB="36576" anchor="ctr">
                    <a:solidFill>
                      <a:srgbClr val="0D9488"/>
                    </a:solidFill>
                  </a:tcPr>
                </a:tc>
              </a:tr>
              <a:tr h="566928">
                <a:tc>
                  <a:txBody>
                    <a:bodyPr wrap="square"/>
                    <a:lstStyle/>
                    <a:p>
                      <a:r>
                        <a:rPr sz="1600" b="0" i="0">
                          <a:solidFill>
                            <a:srgbClr val="1F2937"/>
                          </a:solidFill>
                          <a:latin typeface="Calibri"/>
                        </a:rPr>
                        <a:t>La decisión está justificada</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Hay evidencia del dispositivo</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Se declaran los límites</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 DE UNIDAD · 4 MIN · PUENTE A UNIDAD V</a:t>
            </a:r>
          </a:p>
          <a:p>
            <a:r>
              <a:rPr sz="2600" b="1" i="0">
                <a:solidFill>
                  <a:srgbClr val="FFFFFF"/>
                </a:solidFill>
                <a:latin typeface="Calibri"/>
              </a:rPr>
              <a:t>En móvil, el límite lo pone el dispositivo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23/23</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En consola, ¿quién decide si se publica?</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teléfono muestra lo que el editor no</a:t>
            </a:r>
          </a:p>
          <a:p>
            <a:pPr>
              <a:spcAft>
                <a:spcPts val="800"/>
              </a:spcAft>
            </a:pPr>
            <a:r>
              <a:rPr sz="1600" b="1" i="0">
                <a:solidFill>
                  <a:srgbClr val="0D9488"/>
                </a:solidFill>
                <a:latin typeface="Calibri"/>
              </a:rPr>
              <a:t>■  </a:t>
            </a:r>
            <a:r>
              <a:rPr sz="2200" b="0" i="0">
                <a:solidFill>
                  <a:srgbClr val="1F2937"/>
                </a:solidFill>
                <a:latin typeface="Calibri"/>
              </a:rPr>
              <a:t>Mismo patrón, otro juego: el Platformer</a:t>
            </a:r>
          </a:p>
          <a:p>
            <a:pPr>
              <a:spcAft>
                <a:spcPts val="800"/>
              </a:spcAft>
            </a:pPr>
            <a:r>
              <a:rPr sz="1600" b="1" i="0">
                <a:solidFill>
                  <a:srgbClr val="0D9488"/>
                </a:solidFill>
                <a:latin typeface="Calibri"/>
              </a:rPr>
              <a:t>■  </a:t>
            </a:r>
            <a:r>
              <a:rPr sz="2200" b="0" i="0">
                <a:solidFill>
                  <a:srgbClr val="1F2937"/>
                </a:solidFill>
                <a:latin typeface="Calibri"/>
              </a:rPr>
              <a:t>Mismo input, otro control: el gamepad</a:t>
            </a:r>
          </a:p>
          <a:p>
            <a:pPr>
              <a:spcAft>
                <a:spcPts val="800"/>
              </a:spcAft>
            </a:pPr>
            <a:r>
              <a:rPr sz="1600" b="1" i="0">
                <a:solidFill>
                  <a:srgbClr val="0D9488"/>
                </a:solidFill>
                <a:latin typeface="Calibri"/>
              </a:rPr>
              <a:t>■  </a:t>
            </a:r>
            <a:r>
              <a:rPr sz="2200" b="0" i="0">
                <a:solidFill>
                  <a:srgbClr val="1F2937"/>
                </a:solidFill>
                <a:latin typeface="Calibri"/>
              </a:rPr>
              <a:t>Consolas: el límite lo pone el fabricante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