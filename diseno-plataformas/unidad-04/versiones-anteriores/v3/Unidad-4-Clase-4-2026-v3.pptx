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100 % práctica. Antes de empezar, verificar cables, depuración USB y Android Build Support instalado.</a:t>
            </a:r>
          </a:p>
          <a:p>
            <a:r>
              <a:t>Versión 3: la build ya es jugable en el teléfono (joystick y botón de disparo del porteo de entrada). Sin ese porteo, en el teléfono solo se podía tocar "Start".</a:t>
            </a:r>
          </a:p>
          <a:p>
            <a:r>
              <a:t>Reparto en la versión 3: apertura 8, build 20, medición 18, A4.6 8, QA manual 20, matriz 10, defensa 22, transferencia 8, cierre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Editor: el entorno de Unity en la PC, donde se arma y prueba el juego.</a:t>
            </a:r>
          </a:p>
          <a:p>
            <a:r>
              <a:t>Situación: todo lo que probamos hasta ahora fue en el editor; la columna "qué no demuestra" de A4.4 sigue abierta. Hoy vemos cómo se comporta el juego en un teléfono real.</a:t>
            </a:r>
          </a:p>
          <a:p>
            <a:r>
              <a:t>Que anoten su predicción: sirve para contrastarla al final de la clase.</a:t>
            </a:r>
          </a:p>
          <a:p>
            <a:r>
              <a:t>Imagen sugerida (opcional, sin recuadro en la slide): editor de Unity y teléfono, con un signo de pregunta entre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Build: versión compilada del juego, lista para instalar.</a:t>
            </a:r>
          </a:p>
          <a:p>
            <a:r>
              <a:t>• Development Build: build con información de depuración que permite conectar el Profiler.</a:t>
            </a:r>
          </a:p>
          <a:p>
            <a:r>
              <a:t>• Autoconnect Profiler: opción para que el Profiler se conecte solo al iniciar el juego.</a:t>
            </a:r>
          </a:p>
          <a:p>
            <a:r>
              <a:t>• Build and Run: compilar e instalar en el dispositivo conectado en un solo paso.</a:t>
            </a:r>
          </a:p>
          <a:p>
            <a:r>
              <a:t>Pasos: en Build Profiles, elegir Android y marcar Development Build y Autoconnect Profiler; conectar el teléfono por USB con la depuración activada; Build and Run; el juego se instala y se abre en el teléfono. Primero lo hace la docente; después cada grupo, con el teléfono de un integrante.</a:t>
            </a:r>
          </a:p>
          <a:p>
            <a:r>
              <a:t>La primera build tarda: prever ese tiempo. Si un teléfono no aparece, revisar el cable (de datos, no solo de carga) y aceptar el diálogo de depuración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APK: archivo instalable de una app de Android.</a:t>
            </a:r>
          </a:p>
          <a:p>
            <a:r>
              <a:t>Detalle: si la build falla en la máquina del grupo, se instala el APK de la docente. Se pierde el Profiler conectado; no se pierden el QA manual de interrupciones ni la matriz de compatibilidad. Lo que no se pudo medir se declara en el dossier.</a:t>
            </a:r>
          </a:p>
          <a:p>
            <a:r>
              <a:t>Normalizar el plan B: en la industria también fallan las builds. Lo importante es documentar qué quedó sin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GC (garbage collector): proceso que libera memoria que ya no se usa; si trabaja mucho, produce tirones.</a:t>
            </a:r>
          </a:p>
          <a:p>
            <a:r>
              <a:t>• GC Alloc: memoria reservada en cada frame que después tendrá que liberar el GC.</a:t>
            </a:r>
          </a:p>
          <a:p>
            <a:r>
              <a:t>• Hipótesis: suposición que se comprueba midiendo.</a:t>
            </a:r>
          </a:p>
          <a:p>
            <a:r>
              <a:t>Hipótesis completas: H1, ¿cada disparo (Instantiate del láser) genera picos de GC? Métrica: GC Alloc por frame. H2, ¿el juego sostiene el fps durante 10 minutos? Métrica: tiempo de frame a lo largo del tiempo. Registrar modelo de teléfono, versión de Android y temperatura percibida.</a:t>
            </a:r>
          </a:p>
          <a:p>
            <a:r>
              <a:t>Advertencia honesta: Asteroides es liviano y lo más probable es que ande bien en casi cualquier teléfono. Si la medición no muestra problemas, la respuesta correcta es decirlo con los datos. El objetivo es aprender a formular y medir hipótesis.</a:t>
            </a:r>
          </a:p>
          <a:p>
            <a:r>
              <a:t>Imagen sugerida (opcional, sin recuadro en la slide): Profiler conectado a un teléfono con un pico de GC marcado.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fps promedio: cantidad media de imágenes por segundo durante la medición.</a:t>
            </a:r>
          </a:p>
          <a:p>
            <a:r>
              <a:t>• Tiempo de frame máximo: el cuadro que más tardó; muestra los tirones que el promedio esconde.</a:t>
            </a:r>
          </a:p>
          <a:p>
            <a:r>
              <a:t>Conclusión esperada: el número del editor no predice el del teléfono. Pasar a A4.6 (slide siguiente), que muestra el mismo problema con datos de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 la versión 3, A4.6 se hace acá, con el teléfono y el Profiler a mano.]</a:t>
            </a:r>
          </a:p>
          <a:p>
            <a:r>
              <a:t>Glosario (conceptos cortos para la docente):</a:t>
            </a:r>
          </a:p>
          <a:p>
            <a:r>
              <a:t>• Cuello de botella: la parte del sistema que limita el rendimiento.</a:t>
            </a:r>
          </a:p>
          <a:p>
            <a:r>
              <a:t>• Métrica: valor que se mide (por ejemplo, el tiempo de frame).</a:t>
            </a:r>
          </a:p>
          <a:p>
            <a:r>
              <a:t>• Throttling térmico: el teléfono baja la frecuencia del procesador para no calentarse.</a:t>
            </a:r>
          </a:p>
          <a:p>
            <a:r>
              <a:t>Situación completa: "60 fps al empezar, 35–40 fps a los 8 minutos en un teléfono de gama media; en el editor, 200 fps".</a:t>
            </a:r>
          </a:p>
          <a:p>
            <a:r>
              <a:t>Respuesta esperada: throttling térmico agravado por el overdraw de las partículas; medir el tiempo de frame a lo largo del tiempo y el estado térmico con el Profiler en el dispositivo; fijar 30 fps o un presupuesto del 65 % y reducir el overdraw. El editor y el Device Simulator no sirven para esto.</a:t>
            </a:r>
          </a:p>
          <a:p>
            <a:r>
              <a:t>Contrastar con la medición de 10 minutos que acaban de hacer: ¿su teléfono se comporta igual?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QA manual: prueba hecha por una persona, siguiendo pasos definidos.</a:t>
            </a:r>
          </a:p>
          <a:p>
            <a:r>
              <a:t>• Cierre forzado: terminar la app desde los ajustes del sistema.</a:t>
            </a:r>
          </a:p>
          <a:p>
            <a:r>
              <a:t>Casos completos: QA-01 llamada o alarma durante la partida (esperado: el juego se pausa y espera un toque); QA-02 botón de inicio y volver (pausado, sin daño a la nave); QA-03 bloquear y desbloquear la pantalla (pausado); QA-04 abrir el teclado en pantalla, si aplica (documentar qué pasa); QA-05 cierre forzado y reabrir (documentar qué se pierde).</a:t>
            </a:r>
          </a:p>
          <a:p>
            <a:r>
              <a:t>Casos nuevos de la versión 3 (controles portados): QA-06, mover con el joystick y disparar con el botón al mismo tiempo, con dos dedos (el Device Simulator simula un solo dedo, así que este caso solo se prueba acá); QA-07, medir que cada control tenga al menos 48 dp y comprobar que el pulgar no tape la zona por donde caen los asteroides.</a:t>
            </a:r>
          </a:p>
          <a:p>
            <a:r>
              <a:t>Mismo formato de caso de prueba de la Unidad 2 (esperado vs. real). Si los grupos todavía no corrigieron el defecto, probar la versión con defecto: el resultado real va a contradecir al esperado, y eso es un hallazgo.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Test automático: prueba que corre sola y compara el resultado con lo esperado.</a:t>
            </a:r>
          </a:p>
          <a:p>
            <a:r>
              <a:t>Respuesta esperada: los tests protegen la regla y el adaptador ante regresiones; el QA manual comprueba que el sistema operativo dispare los callbacks y qué pasa cuando se cierra el proceso. Es la frontera entre automatización y hardware real, la misma de la Unidad 3 aplicada a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Matriz de compatibilidad: tabla que cruza dispositivos con resultados de prueba.</a:t>
            </a:r>
          </a:p>
          <a:p>
            <a:r>
              <a:t>• Muestra de conveniencia: los casos que se tienen a mano, no elegidos para representar al mercado.</a:t>
            </a:r>
          </a:p>
          <a:p>
            <a:r>
              <a:t>Respuesta esperada: no. Es una muestra de conveniencia; faltan gamas, fabricantes, versiones de Android y tablets. Por eso existen las granjas de dispositivos y Android vitals. Igual es evidencia real y vale más que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Coevaluación: los grupos se evalúan entre sí con criterios compartidos.</a:t>
            </a:r>
          </a:p>
          <a:p>
            <a:r>
              <a:t>• Decisión de plataforma (PDR): registro de contexto, opciones, decisión y consecuencias.</a:t>
            </a:r>
          </a:p>
          <a:p>
            <a:r>
              <a:t>Formato de la defensa: una decisión de plataforma (contexto, opciones, decisión, consecuencias); la evidencia del teléfono que la respalda o la contradice; lo que quedó sin probar, dicho explícitamente.</a:t>
            </a:r>
          </a:p>
          <a:p>
            <a:r>
              <a:t>Los criterios de coevaluación son una versión reducida de la rúbrica del TP 3 (ver 05). La entrega final del dossier se sube al aula virtual.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3.]</a:t>
            </a:r>
          </a:p>
          <a:p>
            <a:r>
              <a:t>Glosario (conceptos cortos para la docente):</a:t>
            </a:r>
          </a:p>
          <a:p>
            <a:r>
              <a:t>• Transferencia: aplicar lo aprendido en un caso a otro distinto.</a:t>
            </a:r>
          </a:p>
          <a:p>
            <a:r>
              <a:t>• Doble salto: segundo salto en el aire; exige apretar en el momento justo.</a:t>
            </a:r>
          </a:p>
          <a:p>
            <a:r>
              <a:t>• Coyote time: pequeña tolerancia para saltar apenas después de dejar la plataforma.</a:t>
            </a:r>
          </a:p>
          <a:p>
            <a:r>
              <a:t>Datos verificados en el código del 2D Platformer: PlayerController ya tiene MobileMove, MobileJump y MobileShoot, y un modo de control (pc/mobile) elegido a mano en la escena; el objeto MobileControls de la escena está vacío (no hay botones); el juego pide salto y doble salto con tiempos precisos.</a:t>
            </a:r>
          </a:p>
          <a:p>
            <a:r>
              <a:t>Respuesta esperada: el patrón se reutiliza (adaptador → intención → personaje), pero el esquema no se copia: en un juego de plataformas importa más el momento del salto que la posición, así que el botón de salto tiene que ser grande y estar donde descansa el pulgar, y conviene evaluar tolerancias como el coyote time. Lo que es igual: probar en el teléfono, con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Certificación: revisión que hace el fabricante de la consola antes de permitir que un juego se publique.</a:t>
            </a:r>
          </a:p>
          <a:p>
            <a:r>
              <a:t>Síntesis: en móvil el límite lo ponen la energía, el calor, la memoria, la pantalla táctil, las interrupciones y las reglas de tienda. Lo que el editor no muestra, lo muestra el teléfono.</a:t>
            </a:r>
          </a:p>
          <a:p>
            <a:r>
              <a:t>Puente técnico: las mismas acciones de Input System que usamos para el dedo ya aceptan un gamepad (stick, D-pad y botón A); para jugar en una consola no hay que reescribir la nave. Lo que cambia es todo lo demás.</a:t>
            </a:r>
          </a:p>
          <a:p>
            <a:r>
              <a:t>Pregunta puente: en consola, el fabricante certifica el juego antes de publicarlo (Microsoft publica sus requisitos; Sony y Nintendo, no). La idea transversal de las Unidades IV a VII: ¿quién pone el límite?</a:t>
            </a:r>
          </a:p>
          <a:p>
            <a:r>
              <a:t>Imagen sugerida (opcional, sin recuadro en la slide): un teléfono que se transforma en un gamepad frente a una 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4 DE 4 · PRÁCTICA EN DISPOSITIVO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Asteroides en tu bolsillo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Build, medición y QA manual en sus teléfonos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4 · v3 ·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no sabemos todavía?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esperan que cambie?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Todo fue en el editor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"Qué no demuestra" sigue abierto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Hoy: el teléfono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+ GRUPOS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 la PC al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Build your application for Android; Collect performance data on a target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6775" y="1719072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Development Build + Autoconnect Profiler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01607" y="2441448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16775" y="2752344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Cable USB y depuración activada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01607" y="3474720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16775" y="3785616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Build and Run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201607" y="4507992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16775" y="4818888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El juego abre en el teléfono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339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Primero la docente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Después cada grupo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GESTIÓN DE RIESGO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Plan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Falla la build: APK de la docente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Se pierde: el Profiler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se pierde: QA y matriz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 no medido se declara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MEDICIÓN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Medir, no opinar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Profiling on a target device; e-book Unity 6, p.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Capturen el Profiler y anoten los valores.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H1: ¿picos de GC al disparar?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H2: ¿fps estable 10 minutos?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Anotar modelo y versión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COMPARAR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Editor vs.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Completen con sus mediciones.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541"/>
                <a:gridCol w="3223042"/>
                <a:gridCol w="265427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Medición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Editor (PC)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Teléfono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promedio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Tiempo de frame máximo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GC Alloc por disparo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a los 10 minutos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INDIVIDUAL · 8 MIN · FORMATIVA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A4.6 — Anda bien los primeros 5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¿Cuello de botella, métrica, herramienta? ¿Qué NO sirve?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60 fps al empezar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35–40 fps a los 8 minutos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el editor: 200 fps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QA MANUAL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Interrumpir a propósito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OnApplicationPause / OnApplicationFocus; Android — activity lifecycle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66"/>
                <a:gridCol w="4281006"/>
                <a:gridCol w="4004812"/>
                <a:gridCol w="138096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Esperado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Llamada o alarma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Pausa y espera un toque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Inicio y volver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Pausado, sin daño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Bloquear la pantalla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Pausado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QA-04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Teclado en pantalla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Documentar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Cierre forzado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Qué se pierde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QA-06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Mover y disparar a la vez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Responden los dos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QA-07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Controles bajo el pulgar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≥ 48 dp, no tapan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LÍMITES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el test automático no vio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protege el test y qué solo el QA manual?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¿Coinciden tests y QA manual?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apareció solo en el teléfono?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se puede automatizar?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COMPATIBILIDAD · 15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e-book (probar en gama mínima y máxima, p. 20); Android vitals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¿Alcanza para decir "anda en Android"?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34440"/>
          <a:ext cx="1118585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605"/>
                <a:gridCol w="1303206"/>
                <a:gridCol w="1411806"/>
                <a:gridCol w="977404"/>
                <a:gridCol w="1737608"/>
                <a:gridCol w="977404"/>
                <a:gridCol w="358381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Resolución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¿Spawn visible en vertical?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DEFENSA · 3 MIN POR GRUPO · COEVALUACIÓN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Defensa del TP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Una decisión de plataforma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La evidencia del teléfono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Lo que quedó sin probar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346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676"/>
                <a:gridCol w="455017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Criterio de coevaluación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Sí / En parte / 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La decisión está justificada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Hay evidencia del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Se declaran los límites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TRANSFERENCIA · 8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mismo porteo, otro 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Auditoría del 2D Platformer (laboratorio-adaptacion/PROJECT-DISCOVERY.md y MOBILE-ADAPTATION.md, 2026-10-10)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¿Alcanza con copiar el joystick de Asteroides?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2D Platformer: ¿qué se reutiliza?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Ya tiene MobileMove y MobileJump…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… pero no tiene botones en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Saltar exige más precisión que esquivar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CIERRE DE UNIDAD · PUENTE A UNIDAD V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 móvil, el límite lo pone el dispositivo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 consola, ¿quién decide si se publica?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Energía, calor, pantalla, interrupciones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teléfono muestra lo que el editor 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Mismo input, otro control: el gamepad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Consolas: el límite lo pone el fabricante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