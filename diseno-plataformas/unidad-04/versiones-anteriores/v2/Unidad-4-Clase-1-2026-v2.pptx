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Imagen sugerida (opcional, sin recuadro en la slide): Teléfono en vertical con Asteroides corriendo, sostenido con una mano.</a:t>
            </a:r>
          </a:p>
          <a:p>
            <a:r>
              <a:t>Presentar la unidad como continuación directa del panorama del 28/09: ese día recorrimos todas las plataformas; desde hoy, y durante cuatro clases, nos quedamos en el bolsillo del jugador.</a:t>
            </a:r>
          </a:p>
          <a:p>
            <a:r>
              <a:t>No anticipar contenidos: la clase arranca con un problema, no con una definición ni con una herramienta.</a:t>
            </a:r>
          </a:p>
          <a:p>
            <a:r>
              <a:t>Versión 2 de la clase (2026-10-05): incorpora conceptos del artículo "What Are the Best Platforms for Games?" de Kevuru Games (definición de plataforma, rol de las tiendas móviles, criterios para elegir plataforma), leído con mirada crítica (slide 20).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Bug: error o defecto que hace que el juego se comporte distinto de lo esperado.</a:t>
            </a:r>
          </a:p>
          <a:p>
            <a:r>
              <a:t>Imagen sugerida (opcional, sin recuadro en la slide): Captura del juego con tres íconos superpuestos: termómetro, batería baja y llamada entrante.</a:t>
            </a:r>
          </a:p>
          <a:p>
            <a:r>
              <a:t>Relato completo: "Asteroides funciona perfecto en la PC del aula. Lo instalamos en un teléfono: a los 10 minutos empieza a trabarse, el teléfono quema en la mano, y si entra una llamada y volvemos, la nave ya explotó y perdimos la partida".</a:t>
            </a:r>
          </a:p>
          <a:p>
            <a:r>
              <a:t>Dejar que discutan 3–4 minutos. Respuesta esperada: al menos tres problemas de distinta naturaleza: (1) calor y rendimiento sostenido, (2) consumo de batería, (3) interrupción del sistema operativo.</a:t>
            </a:r>
          </a:p>
          <a:p>
            <a:r>
              <a:t>Ninguno aparece en el editor y ninguno es un error de lógica en sentido estricto: son supuestos de PC que el juego trae consigo. Esa es la idea de toda la unidad.</a:t>
            </a:r>
          </a:p>
          <a:p>
            <a:r>
              <a:t>No dar todavía las explicaciones: anotarlas en el pizarrón para volver a ellas en las slides 11 a 16.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Zona segura (safe area): parte de la pantalla libre de muescas, bordes curvos y barras del sistema, donde la interfaz se ve completa.</a:t>
            </a:r>
          </a:p>
          <a:p>
            <a:r>
              <a:t>• Intención: lo que el jugador quiere hacer (mover, disparar), sin importar con qué control lo pide.</a:t>
            </a:r>
          </a:p>
          <a:p>
            <a:r>
              <a:t>• Dispositivo de entrada: el medio físico con el que el jugador da órdenes (teclado, pantalla táctil, gamepad).</a:t>
            </a:r>
          </a:p>
          <a:p>
            <a:r>
              <a:t>Recuperar, no repetir. Las cinco ideas del 28/09, completas:</a:t>
            </a:r>
          </a:p>
          <a:p>
            <a:r>
              <a:t>- Táctil: no hay respuesta física del botón y los dedos tapan la pantalla.</a:t>
            </a:r>
          </a:p>
          <a:p>
            <a:r>
              <a:t>- Pantallas muy variadas: muescas, bordes y zonas seguras.</a:t>
            </a:r>
          </a:p>
          <a:p>
            <a:r>
              <a:t>- Batería y temperatura: si el equipo se calienta, baja el rendimiento.</a:t>
            </a:r>
          </a:p>
          <a:p>
            <a:r>
              <a:t>- Interrupciones: llamadas, notificaciones, cambio de app.</a:t>
            </a:r>
          </a:p>
          <a:p>
            <a:r>
              <a:t>- Separar QUÉ quiere hacer el jugador (mover, disparar) de CÓMO lo pide (teclado, toque, mando).</a:t>
            </a:r>
          </a:p>
          <a:p>
            <a:r>
              <a:t>Diagrama de las tres capas (pedido por la titular, agregado en la v2):</a:t>
            </a:r>
          </a:p>
          <a:p>
            <a:r>
              <a:t>- Dispositivo: CÓMO pide el jugador la acción (teclado, pantalla táctil, gamepad). Es lo que cambia de una plataforma a otra.</a:t>
            </a:r>
          </a:p>
          <a:p>
            <a:r>
              <a:t>- Intención: QUÉ quiere hacer el jugador (mover, disparar). Es independiente del dispositivo.</a:t>
            </a:r>
          </a:p>
          <a:p>
            <a:r>
              <a:t>- Nave: la lógica del juego (movimiento, disparo, límites). No debería saber de dónde vino la orden.</a:t>
            </a:r>
          </a:p>
          <a:p>
            <a:r>
              <a:t>Leerlo de arriba hacia abajo: cada dispositivo se traduce a la misma intención, y la nave solo recibe intenciones. Así, llevar el juego a móvil significa agregar un dispositivo (táctil), no reescribir la nave.</a:t>
            </a:r>
          </a:p>
          <a:p>
            <a:r>
              <a:t>El problema real de Asteroides (nota en rojo de la slide): hoy Ship.cs (líneas 61–73) lee Input.GetKey(KeyCode.Space / LeftArrow / RightArrow) directamente, salteando la capa de intención. Por eso, para pasar a móvil habría que modificar la clase de la nave: es el supuesto S1 del caso práctico, que los alumnos van a encontrar en la actividad A4.2.</a:t>
            </a:r>
          </a:p>
          <a:p>
            <a:r>
              <a:t>En Unity, la capa de intención la ofrece el Input System: las Actions (Move, Fire) separan la acción de sus bindings (teclado, táctil, gamepad). Solo mencionarlo; se trabaja más adelante en la unidad, al diseñar los controles táctiles (On-Screen Controls).</a:t>
            </a:r>
          </a:p>
          <a:p>
            <a:r>
              <a:t>Preguntar: ¿qué partes de la nave NO deberían cambiar al pasar a móvil? Respuesta: la lógica de movimiento, disparo y límites; solo cambia la capa de dispositivo (y los límites, por el aspect ratio, como vamos a ver en la slide 18).</a:t>
            </a:r>
          </a:p>
          <a:p>
            <a:r>
              <a:t>Hoy vamos a ver por qué cada viñeta es una restricción de diseño, con números y fuentes oficiales.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Monetización: forma en que el juego genera ingresos (venta, anuncios, compras dentro del juego).</a:t>
            </a:r>
          </a:p>
          <a:p>
            <a:r>
              <a:t>• Supuesto de PC: algo que el juego da por hecho porque fue pensado para PC (por ejemplo, que hay teclado).</a:t>
            </a:r>
          </a:p>
          <a:p>
            <a:r>
              <a:t>Versión completa de los objetivos:</a:t>
            </a:r>
          </a:p>
          <a:p>
            <a:r>
              <a:t>1. Explicar por qué el rendimiento sostenido, la memoria y la batería condicionan el diseño.</a:t>
            </a:r>
          </a:p>
          <a:p>
            <a:r>
              <a:t>2. Detectar en un juego existente los supuestos de PC que fallan en móvil.</a:t>
            </a:r>
          </a:p>
          <a:p>
            <a:r>
              <a:t>3. Diseñar controles y HUD táctiles con medidas verificables (pt, dp, safe area).</a:t>
            </a:r>
          </a:p>
          <a:p>
            <a:r>
              <a:t>4. Elegir y defender un modelo de monetización con sus reglas de tienda y su ética.</a:t>
            </a:r>
          </a:p>
          <a:p>
            <a:r>
              <a:t>5. Decidir qué se prueba en el editor y qué exige un teléfono real.</a:t>
            </a:r>
          </a:p>
          <a:p>
            <a:r>
              <a:t>Remarcar los verbos: explicar, detectar, diseñar, defender, decidir. La unidad no evalúa memorizar especificaciones, sino tomar decisiones justificadas. El TP 3 recorre las cinco.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a:t>
            </a:r>
          </a:p>
          <a:p>
            <a:r>
              <a:t>Glosario (conceptos cortos para la docente):</a:t>
            </a:r>
          </a:p>
          <a:p>
            <a:r>
              <a:t>• Distribución: canal por el que el juego llega al jugador; en móvil, una tienda digital.</a:t>
            </a:r>
          </a:p>
          <a:p>
            <a:r>
              <a:t>• Servicio en la nube (cloud gaming): el juego corre en un servidor remoto y el jugador recibe la imagen por internet.</a:t>
            </a:r>
          </a:p>
          <a:p>
            <a:r>
              <a:t>• Streaming (Twitch, YouTube): transmisión de video en vivo; acá, gente mirando a otros jugar.</a:t>
            </a:r>
          </a:p>
          <a:p>
            <a:r>
              <a:t>El artículo de Kevuru Games define las plataformas como "la base de cómo los jugadores se conectan con los juegos", ya sea una consola física, un gabinete arcade o un servicio en la nube que corre todo en línea. Y usa una metáfora útil: la plataforma es el escenario donde el juego "actúa", y hay escenarios más grandes que otros.</a:t>
            </a:r>
          </a:p>
          <a:p>
            <a:r>
              <a:t>Pero el artículo mezcla bajo la palabra "plataforma" cuatro cosas distintas: hardware (PlayStation, Xbox, Nintendo), tiendas (Steam, Epic Games Store, Google Play, App Store), servicios de cloud gaming (GeForce Now) y sitios donde se mira jugar (Twitch, YouTube Gaming, Facebook Gaming). La tabla las separa en capas.</a:t>
            </a:r>
          </a:p>
          <a:p>
            <a:r>
              <a:t>Definición de trabajo de esta materia: plataforma = el entorno de ejecución (hardware + sistema operativo) MÁS las reglas de su ecosistema (tienda, certificación, políticas). Por eso en esta unidad hablamos del teléfono y también de Google Play y del App Store.</a:t>
            </a:r>
          </a:p>
          <a:p>
            <a:r>
              <a:t>Respuesta esperada a la pregunta: la capa de ejecución condiciona más el diseño (input, pantalla, rendimiento); la de distribución condiciona el negocio y las reglas (lo vemos más adelante en la unidad); la de comunidad influye en el diseño solo de forma indirecta (juegos pensados para ser vistos, como Among 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a:t>
            </a:r>
          </a:p>
          <a:p>
            <a:r>
              <a:t>Glosario (conceptos cortos para la docente):</a:t>
            </a:r>
          </a:p>
          <a:p>
            <a:r>
              <a:t>• Arcade: máquina de juego de uso público que funciona con fichas o monedas.</a:t>
            </a:r>
          </a:p>
          <a:p>
            <a:r>
              <a:t>• XR (realidad extendida): término que agrupa realidad virtual, aumentada y mixta.</a:t>
            </a:r>
          </a:p>
          <a:p>
            <a:r>
              <a:t>• App Store: tienda oficial de aplicaciones de Apple; Google Play es la de Android.</a:t>
            </a:r>
          </a:p>
          <a:p>
            <a:r>
              <a:t>Idea del artículo: cada época tuvo una plataforma que definió cómo se juega. Los arcades fueron las primeras plataformas reales, y además eran espacios sociales.</a:t>
            </a:r>
          </a:p>
          <a:p>
            <a:r>
              <a:t>Los ejemplos de arcade del artículo (Pong, Space Invaders, Pac-Man, Donkey Kong, Galaga, Street Fighter II y Mortal Kombat) se desarrollan con gráfico en la slide siguiente (7).</a:t>
            </a:r>
          </a:p>
          <a:p>
            <a:r>
              <a:t>Conexión con el diseño: el arcade se diseñaba para cobrar por partida (partidas cortas y difíciles, "insert coin"); la consola, para el sillón y la TV; el teléfono, para el bolsillo y las interrupciones. La plataforma siempre moldeó el diseño: no es un fenómeno nuevo.</a:t>
            </a:r>
          </a:p>
          <a:p>
            <a:r>
              <a:t>Dato a remarcar: Asteroids, el juego que inspira nuestro proyecto, es justamente un clásico arcade (Atari, 1979). Estamos llevando un diseño de arcade al teléfono.</a:t>
            </a:r>
          </a:p>
          <a:p>
            <a:r>
              <a:t>Cómo leer la cronología (pedido de la titular): cada barra arranca en el hito que abre una época y llega hasta hoy (2026). Las barras no "terminan" porque ninguna plataforma desapareció: los arcades, las consolas y la PC siguen vigentes, y cada época nueva se SUMA a las anteriores en lugar de reemplazarlas. La barra destacada es la del teléfono (2008, lanzamiento del App Store), la época de esta unidad.</a:t>
            </a:r>
          </a:p>
          <a:p>
            <a:r>
              <a:t>Hitos usados: Pong (1972, arcade); Atari 2600 (1977, popularizó la consola doméstica con cartuchos); IBM PC (1981); Game Boy (1989); App Store (10/07/2008, verificado en Apple Newsroom); Oculus Rift (28/03/2016, primer visor de VR de consumo masivo); GeForce Now (04/02/2020, lanzamiento comercial del cloud gaming de NVIDIA). Son hitos de referencia, no "inventos" de cada época: por ejemplo, la primera consola doméstica fue la Magnavox Odyssey (1972) y en PC se jugaba antes de 1981.</a:t>
            </a:r>
          </a:p>
          <a:p>
            <a:r>
              <a:t>Pregunta posible: ¿qué tiene de distinto la época del teléfono respecto de las anteriores? Respuesta esperada: el jugador no compra el dispositivo para jugar, porque ya lo lleva en el bolsillo por otros motivos; por eso el juego compite con llamadas, mensajes y notificaciones (lo que vemos hoy en las slides 13 y 14).</a:t>
            </a:r>
          </a:p>
          <a:p>
            <a:r>
              <a:t>No detenerse más de 3 minutos: es contexto, no contenido evaluable.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 pedida por la titular: los ejemplos del artículo, con gráfico.]</a:t>
            </a:r>
          </a:p>
          <a:p>
            <a:r>
              <a:t>Glosario (conceptos cortos para la docente):</a:t>
            </a:r>
          </a:p>
          <a:p>
            <a:r>
              <a:t>• Shooter: juego de disparos.</a:t>
            </a:r>
          </a:p>
          <a:p>
            <a:r>
              <a:t>• ESRB (Entertainment Software Rating Board): organismo que clasifica los videojuegos por edad en EE. UU. y Canadá.</a:t>
            </a:r>
          </a:p>
          <a:p>
            <a:r>
              <a:t>Los ejemplos que da el artículo de Kevuru Games, con lo que aportó cada uno:</a:t>
            </a:r>
          </a:p>
          <a:p>
            <a:r>
              <a:t>- Pong (1972): dos paletas y una pelota. Se lo llama "el abuelo de los videojuegos": para mucha gente fue la primera vez que una pantalla de TV resultó interactiva.</a:t>
            </a:r>
          </a:p>
          <a:p>
            <a:r>
              <a:t>- Space Invaders (1978): filas de alienígenas que bajan y una música que se acelera hasta poner nervioso a cualquiera. Según el artículo, prácticamente inventó la plantilla del género shooter.</a:t>
            </a:r>
          </a:p>
          <a:p>
            <a:r>
              <a:t>- Pac-Man (1980): un círculo amarillo comiendo puntos en un laberinto que se volvió un fenómeno cultural (dibujos animados, cereales y merchandising).</a:t>
            </a:r>
          </a:p>
          <a:p>
            <a:r>
              <a:t>- Donkey Kong (1981): primera aparición de Mario, entonces llamado "Jumpman". Subir escaleras y esquivar barriles: el comienzo de los juegos de plataformas.</a:t>
            </a:r>
          </a:p>
          <a:p>
            <a:r>
              <a:t>- Galaga (1981): los enemigos podían capturar tu nave y, si la recuperabas, duplicabas tu poder de fuego. Riesgo y recompensa en una sola mecánica.</a:t>
            </a:r>
          </a:p>
          <a:p>
            <a:r>
              <a:t>- Street Fighter II (1991): en los arcades de los 90 estaba en el centro de la escena; rivalidades y combos que construyeron la comunidad de los juegos de pelea.</a:t>
            </a:r>
          </a:p>
          <a:p>
            <a:r>
              <a:t>- Mortal Kombat (1992): tan conocido por su polémica como por su jugabilidad. Sus personajes digitalizados y las "Fatalities" contribuyeron a la creación de la ESRB. Dato verificado: tras las audiencias del Congreso de EE. UU. de diciembre de 1993, donde se mostraron Mortal Kombat y Night Trap, la industria creó en 1994 la ESRB como sistema voluntario de clasificación por edades (Game Developer, "A Brief History of the ESRB"). La retomamos en la Unidad V (certificación y clasificación).</a:t>
            </a:r>
          </a:p>
          <a:p>
            <a:r>
              <a:t>Las fechas son las de lanzamiento original en arcade, según el artículo. Coinciden con las fuentes de referencia habituales, pero no se verificaron una por una en esta sesión.</a:t>
            </a:r>
          </a:p>
          <a:p>
            <a:r>
              <a:t>Respuesta esperada a la pregunta: una máquina que cobra por ficha impone partidas cortas, dificultad creciente y un "Game Over" que invita a pagar de nuevo. Conexión con móvil: ese mismo patrón reaparece en el "continuar" con un anuncio o con una compra (lo analizamos más adelante en la unidad, al ver monetización). Y Asteroids, el juego que inspira nuestro proyecto, también es un clásico arcade de esa época (Atari, 1979).</a:t>
            </a:r>
          </a:p>
          <a:p>
            <a:r>
              <a:t>Recorrer el gráfico de izquierda a derecha y no detenerse más de 3 minutos.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a:t>
            </a:r>
          </a:p>
          <a:p>
            <a:r>
              <a:t>Glosario (conceptos cortos para la docente):</a:t>
            </a:r>
          </a:p>
          <a:p>
            <a:r>
              <a:t>• Juego casual: juego de reglas simples y partidas cortas, pensado para un público amplio.</a:t>
            </a:r>
          </a:p>
          <a:p>
            <a:r>
              <a:t>Idea del artículo: con Google Play y el App Store, "los estudios pequeños e incluso desarrolladores solos" pudieron poner sus juegos frente a millones de personas. Los ejemplos que da:</a:t>
            </a:r>
          </a:p>
          <a:p>
            <a:r>
              <a:t>- Éxitos casuales que atrajeron jugadores de todo el mundo: Candy Crush y Clash of Clans.</a:t>
            </a:r>
          </a:p>
          <a:p>
            <a:r>
              <a:t>- Among Us se volvió viral años después de su lanzamiento (salió en 2018 y explotó en 2020).</a:t>
            </a:r>
          </a:p>
          <a:p>
            <a:r>
              <a:t>- Marcas de consola que funcionan en el teléfono: PUBG Mobile y FIFA Mobile.</a:t>
            </a:r>
          </a:p>
          <a:p>
            <a:r>
              <a:t>Conclusión del artículo: el juego móvil no es una moda pasajera, es una parte central de la industria.</a:t>
            </a:r>
          </a:p>
          <a:p>
            <a:r>
              <a:t>Matiz docente (importante): que la tienda esté abierta no significa que no tenga reglas. Para publicar hay que cumplir políticas de pago, de anuncios, de privacidad y de nivel de API (lo vemos más adelante en la unidad). Y que cualquiera pueda publicar crea otro problema: la visibilidad entre millones de juegos.</a:t>
            </a:r>
          </a:p>
          <a:p>
            <a:r>
              <a:t>Respuesta esperada a la pregunta: la visibilidad depende de la propia tienda (búsqueda, destacados, calificaciones), de la comunidad (streamers, boca en boca) y de la calidad técnica (Android vitals puede bajar la visibilidad de un juego con muchos cierres inesperados; lo vemos más adelante en la unidad).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SoC (System on a Chip): un solo chip que integra CPU, GPU, memoria y otros componentes.</a:t>
            </a:r>
          </a:p>
          <a:p>
            <a:r>
              <a:t>• CPU (unidad central de procesamiento): ejecuta la lógica del juego (reglas, física, IA).</a:t>
            </a:r>
          </a:p>
          <a:p>
            <a:r>
              <a:t>• GPU (unidad de procesamiento gráfico): dibuja la imagen que se ve en pantalla.</a:t>
            </a:r>
          </a:p>
          <a:p>
            <a:r>
              <a:t>• Núcleo: cada unidad de procesamiento dentro de la CPU; los teléfonos combinan núcleos de distinta potencia.</a:t>
            </a:r>
          </a:p>
          <a:p>
            <a:r>
              <a:t>• Reloj (frecuencia): velocidad a la que trabaja un procesador; se mide en GHz.</a:t>
            </a:r>
          </a:p>
          <a:p>
            <a:r>
              <a:t>En un teléfono, CPU, GPU y memoria viven en un mismo chip (SoC, System on a Chip). Comparten la energía de la batería y el calor que generan. El calor se disipa por la carcasa: no hay ventilador.</a:t>
            </a:r>
          </a:p>
          <a:p>
            <a:r>
              <a:t>La documentación de Android (ADPF) menciona explícitamente la diversidad de topologías de núcleos (núcleos de distinto tamaño y potencia) y los relojes que cambian en tiempo real como complejidades propias del móvil, que no existen en PC ni en consola.</a:t>
            </a:r>
          </a:p>
          <a:p>
            <a:r>
              <a:t>No dar arquitectura de hardware: alcanza con la idea de que todo comparte energía y calor.</a:t>
            </a:r>
          </a:p>
          <a:p>
            <a:r>
              <a:t>Pregunta rápida: ¿qué pasa con la GPU si la CPU se calienta? Respuesta: comparten el presupuesto térmico; si uno se calienta, ambos pueden bajar su frecuencia.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Tile: porción rectangular de la pantalla; la GPU móvil dibuja la imagen tile por tile.</a:t>
            </a:r>
          </a:p>
          <a:p>
            <a:r>
              <a:t>• TBDR (Tile-Based Deferred Rendering): técnica de dibujo por tiles que usan las GPU móviles.</a:t>
            </a:r>
          </a:p>
          <a:p>
            <a:r>
              <a:t>• Ancho de banda de memoria: cantidad de datos que se pueden leer o escribir en memoria por segundo.</a:t>
            </a:r>
          </a:p>
          <a:p>
            <a:r>
              <a:t>• Overdraw: pintar el mismo píxel más de una vez en un mismo cuadro.</a:t>
            </a:r>
          </a:p>
          <a:p>
            <a:r>
              <a:t>• Píxel: cada punto de la imagen en pantalla.</a:t>
            </a:r>
          </a:p>
          <a:p>
            <a:r>
              <a:t>• Partículas: muchos elementos gráficos pequeños (chispas, humo) que forman un efecto.</a:t>
            </a:r>
          </a:p>
          <a:p>
            <a:r>
              <a:t>Las GPU móviles dibujan la pantalla por porciones (tiles): técnica TBDR, tile-based deferred rendering. Leer y escribir memoria consume ancho de banda, y el ancho de banda consume batería.</a:t>
            </a:r>
          </a:p>
          <a:p>
            <a:r>
              <a:t>Overdraw: pintar varias veces el mismo píxel, típico de transparencias y partículas. Por eso una explosión con muchas partículas pesa más en un teléfono que en una PC.</a:t>
            </a:r>
          </a:p>
          <a:p>
            <a:r>
              <a:t>Citas de Arm para leer en voz alta: "Overdraw causes excess memory bandwidth use" y "Excess memory bandwidth use causes excess power use".</a:t>
            </a:r>
          </a:p>
          <a:p>
            <a:r>
              <a:t>Llegar solo hasta acá: no explicar el pipeline de la GPU. Conectar con Asteroides: la explosión de la nave usa partículas con transparencia, candidata a medir en el teléfono, más adelante en la unidad.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fps (frames per second): cantidad de imágenes que el juego dibuja por segundo.</a:t>
            </a:r>
          </a:p>
          <a:p>
            <a:r>
              <a:t>• Throttling térmico: reducción automática de la frecuencia del procesador para que no se sobrecaliente.</a:t>
            </a:r>
          </a:p>
          <a:p>
            <a:r>
              <a:t>• Tiempo de frame (frame time): tiempo que tarda en prepararse un cuadro; a 30 fps son 33,3 ms y a 60 fps, 16,7 ms.</a:t>
            </a:r>
          </a:p>
          <a:p>
            <a:r>
              <a:t>• ms: milisegundo, la milésima parte de un segundo.</a:t>
            </a:r>
          </a:p>
          <a:p>
            <a:r>
              <a:t>• Refrigeración activa: ventiladores u otros sistemas que extraen el calor; los teléfonos no la tienen.</a:t>
            </a:r>
          </a:p>
          <a:p>
            <a:r>
              <a:t>Es el concepto más importante de la clase.</a:t>
            </a:r>
          </a:p>
          <a:p>
            <a:r>
              <a:t>Cadena causal: el chip se calienta → el sistema baja la frecuencia de CPU y GPU para protegerlo (throttling) → caen los fps. Lo que importa es el fps del minuto 10, no el del minuto 1.</a:t>
            </a:r>
          </a:p>
          <a:p>
            <a:r>
              <a:t>Recomendación de Unity: usar alrededor del 65 % del tiempo de frame disponible, es decir, ~22 ms a 30 fps y ~11 ms a 60 fps. Motivo oficial textual: "Most mobile devices do not have active cooling".</a:t>
            </a:r>
          </a:p>
          <a:p>
            <a:r>
              <a:t>Respuesta esperada a la pregunta: medir durante un tiempo largo (10 minutos o más), registrar el frame time (no solo el promedio de fps) y hacerlo en un dispositivo de gama baja.</a:t>
            </a:r>
          </a:p>
          <a:p>
            <a:r>
              <a:t>Para mencionar, sin profundizar: Android ofrece getThermalHeadroom e iOS ofrece thermalState para que el juego reaccione al calor; Unity 6.3 trae Adaptive Performance como módulo integrado.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targetFrameRate: opción de Unity que fija los fps objetivo del juego.</a:t>
            </a:r>
          </a:p>
          <a:p>
            <a:r>
              <a:t>• Frecuencia de refresco: veces por segundo que se actualiza la pantalla; se mide en Hz.</a:t>
            </a:r>
          </a:p>
          <a:p>
            <a:r>
              <a:t>• Frame pacing: entregar los cuadros a intervalos regulares, sincronizados con la pantalla.</a:t>
            </a:r>
          </a:p>
          <a:p>
            <a:r>
              <a:t>En Android e iOS, por defecto Unity renderiza a 30 fps fijos "to conserve battery power" (texto de la documentación de Application.targetFrameRate: abrir la página y leer la frase).</a:t>
            </a:r>
          </a:p>
          <a:p>
            <a:r>
              <a:t>60 fps duplica el trabajo por segundo: más calor y menos batería. Elegir el fps es una decisión de diseño, no un detalle técnico.</a:t>
            </a:r>
          </a:p>
          <a:p>
            <a:r>
              <a:t>En Asteroides no se define targetFrameRate: nadie tomó la decisión (supuesto S12 del caso práctico).</a:t>
            </a:r>
          </a:p>
          <a:p>
            <a:r>
              <a:t>Preguntar: ¿qué juegos necesitan 60 fps y cuáles no? Respuesta: acción rápida o competitiva sí; puzzle, estrategia o narrativa, generalmente no.</a:t>
            </a:r>
          </a:p>
          <a:p>
            <a:r>
              <a:t>Android recomienda además igualar la frecuencia de refresco de la pantalla al fps objetivo (frame pacing).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Segundo plano: estado de una app que sigue abierta pero no se ve ni recibe input.</a:t>
            </a:r>
          </a:p>
          <a:p>
            <a:r>
              <a:t>• Proceso: programa en ejecución.</a:t>
            </a:r>
          </a:p>
          <a:p>
            <a:r>
              <a:t>• Low Memory Killer: componente de Android que cierra procesos cuando falta memoria.</a:t>
            </a:r>
          </a:p>
          <a:p>
            <a:r>
              <a:t>• onTrimMemory: aviso de Android a una app para que libere memoria.</a:t>
            </a:r>
          </a:p>
          <a:p>
            <a:r>
              <a:t>• Estado: datos de la partida (posición, puntaje, vidas) que hay que guardar para poder retomarla.</a:t>
            </a:r>
          </a:p>
          <a:p>
            <a:r>
              <a:t>Cuando el jugador sale de la app (llamada, notificación, cambio de app), el juego pasa a segundo plano. Si falta memoria, el sistema operativo cierra procesos en segundo plano: en Android lo hace el Low Memory Killer; en iOS, el sistema termina la app si no libera memoria.</a:t>
            </a:r>
          </a:p>
          <a:p>
            <a:r>
              <a:t>Corrección de un mito frecuente: los callbacks onTrimMemory de Android NO evitan el cierre. Android los declara deprecados salvo dos niveles (UI_HIDDEN y BACKGROUND) y dice textualmente que "haven't been helpful at preventing low-memory kills".</a:t>
            </a:r>
          </a:p>
          <a:p>
            <a:r>
              <a:t>Conclusión de diseño: el juego puede morir sin aviso. Si puede retomarse, hay que guardar estado; si no puede, al menos no castigar al jugador por algo que hizo el sistema.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Callback: función que el motor o el sistema llama automáticamente cuando ocurre un evento.</a:t>
            </a:r>
          </a:p>
          <a:p>
            <a:r>
              <a:t>• OnApplicationPause / OnApplicationFocus: callbacks de Unity para cuando la app pasa a segundo plano o pierde el foco.</a:t>
            </a:r>
          </a:p>
          <a:p>
            <a:r>
              <a:t>• Foco: la app está al frente y recibe el input del jugador.</a:t>
            </a:r>
          </a:p>
          <a:p>
            <a:r>
              <a:t>• MonoBehaviour: clase base de los scripts de Unity.</a:t>
            </a:r>
          </a:p>
          <a:p>
            <a:r>
              <a:t>OnApplicationPause(bool) avisa que la app pasa a segundo plano o vuelve. OnApplicationFocus(bool) avisa que la app pierde o recupera el foco. Dato práctico: en Android, abrir el teclado en pantalla dispara OnApplicationFocus(false).</a:t>
            </a:r>
          </a:p>
          <a:p>
            <a:r>
              <a:t>Asteroides no implementa ninguno de los dos (supuesto S8 del caso práctico).</a:t>
            </a:r>
          </a:p>
          <a:p>
            <a:r>
              <a:t>No escribir código todavía: eso se hace más adelante en la unidad, con el defecto deliberado. Solo mostrar que el motor avisa y que el juego base no escucha.</a:t>
            </a:r>
          </a:p>
          <a:p>
            <a:r>
              <a:t>Anticipar: ¿alcanza con escuchar el aviso? No: si el sistema mata el proceso, no se llama nada.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Emulador: programa que imita un teléfono dentro de la PC.</a:t>
            </a:r>
          </a:p>
          <a:p>
            <a:r>
              <a:t>• Restricción de plataforma: límite que impone el dispositivo o su sistema operativo.</a:t>
            </a:r>
          </a:p>
          <a:p>
            <a:r>
              <a:t>• Evidencia: dato que permite confirmar un problema (modelo del teléfono, capturas, video, registros).</a:t>
            </a:r>
          </a:p>
          <a:p>
            <a:r>
              <a:t>Consigna completa: para cada reporte, indicar (a) la restricción de plataforma más probable, (b) qué evidencia le pedirían al tester, y (c) qué tipo de prueba lo habría detectado antes.</a:t>
            </a:r>
          </a:p>
          <a:p>
            <a:r>
              <a:t>Respuestas esperadas (detalle en 05, A4.1):</a:t>
            </a:r>
          </a:p>
          <a:p>
            <a:r>
              <a:t>1. Ciclo de vida / Low Memory Killer → QA manual en dispositivo.</a:t>
            </a:r>
          </a:p>
          <a:p>
            <a:r>
              <a:t>2. Térmica → rendimiento sostenido en dispositivo.</a:t>
            </a:r>
          </a:p>
          <a:p>
            <a:r>
              <a:t>3. Safe area → Device Simulator + dispositivo.</a:t>
            </a:r>
          </a:p>
          <a:p>
            <a:r>
              <a:t>4. Escalado de UI → Device Simulator con varios perfiles.</a:t>
            </a:r>
          </a:p>
          <a:p>
            <a:r>
              <a:t>5. fps y energía → medición en dispositivo.</a:t>
            </a:r>
          </a:p>
          <a:p>
            <a:r>
              <a:t>6. El emulador no representa el rendimiento → Profiler en un teléfono de gama baja.</a:t>
            </a:r>
          </a:p>
          <a:p>
            <a:r>
              <a:t>Error típico a corregir: proponer un unit test para los casos 2, 3 o 5. Recordar pedir siempre el modelo del dispositivo.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Player Settings: configuración del proyecto de Unity para cada plataforma de destino.</a:t>
            </a:r>
          </a:p>
          <a:p>
            <a:r>
              <a:t>• Device Simulator: ventana de Unity que muestra el juego con la forma de pantalla de un dispositivo real.</a:t>
            </a:r>
          </a:p>
          <a:p>
            <a:r>
              <a:t>• Nivel de API de Android: número que identifica cada versión de Android (por ejemplo, API 36 = Android 16).</a:t>
            </a:r>
          </a:p>
          <a:p>
            <a:r>
              <a:t>• Application Category: categoría con la que Unity declara la app ante Android; para juegos, "Game".</a:t>
            </a:r>
          </a:p>
          <a:p>
            <a:r>
              <a:t>• Giroscopio: sensor que mide la rotación del teléfono.</a:t>
            </a:r>
          </a:p>
          <a:p>
            <a:r>
              <a:t>Imagen sugerida (opcional, sin recuadro en la slide): Device Simulator con Asteroides en vertical y los asteroides apareciendo fuera de pantalla.</a:t>
            </a:r>
          </a:p>
          <a:p>
            <a:r>
              <a:t>Pasos de la demo:</a:t>
            </a:r>
          </a:p>
          <a:p>
            <a:r>
              <a:t>1. Player Settings de Android: Application Category = Game (por defecto en Unity 6.3; exime a los juegos del cambio de Android 16 que ignora la orientación en pantallas grandes), orientación y API mínima.</a:t>
            </a:r>
          </a:p>
          <a:p>
            <a:r>
              <a:t>2. Abrir la página oficial del Device Simulator y leer la lista de lo que NO simula ANTES de usarlo: rendimiento, memoria, capacidades de render y giroscopio. La herramienta llega con sus límites.</a:t>
            </a:r>
          </a:p>
          <a:p>
            <a:r>
              <a:t>3. Lo que sí simula: safe area, rotación y toque de un dedo.</a:t>
            </a:r>
          </a:p>
          <a:p>
            <a:r>
              <a:t>4. Poner Asteroides en un perfil de teléfono en vertical. Confirmar en vivo el supuesto de que la cámara está centrada en x = 0.</a:t>
            </a:r>
          </a:p>
          <a:p>
            <a:r>
              <a:t>No revelar todavía el problema del spawn: lo descubren en A4.2.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Spawn: aparición de un objeto en el juego; acá, los asteroides.</a:t>
            </a:r>
          </a:p>
          <a:p>
            <a:r>
              <a:t>• Prefab: objeto de Unity guardado como plantilla reutilizable.</a:t>
            </a:r>
          </a:p>
          <a:p>
            <a:r>
              <a:t>• Canvas: contenedor de la interfaz (UI) en Unity.</a:t>
            </a:r>
          </a:p>
          <a:p>
            <a:r>
              <a:t>• Input.GetKey: lectura directa de una tecla en el sistema de input clásico de Unity.</a:t>
            </a:r>
          </a:p>
          <a:p>
            <a:r>
              <a:t>Consigna completa: listar al menos 5 supuestos que dejan de valer en un teléfono, indicando dónde están (archivo:línea), qué pasaría en móvil y a qué eje pertenecen (input, pantalla, UI, ciclo de vida, rendimiento).</a:t>
            </a:r>
          </a:p>
          <a:p>
            <a:r>
              <a:t>La respuesta completa es la tabla S1–S13 de 02-caso-practico. Para aprobar alcanza con S1 (teclado), S3/S4/S5 (límites, cámara, spawn), S6 (Canvas en Constant Pixel Size) y S8 (sin pausa).</a:t>
            </a:r>
          </a:p>
          <a:p>
            <a:r>
              <a:t>Pista si se traban: "¿qué pasa con la cámara si la pantalla es más angosta que alta?".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Cámara ortográfica: cámara sin perspectiva; su tamaño (orthographicSize) es la mitad de la altura visible, en unidades del mundo.</a:t>
            </a:r>
          </a:p>
          <a:p>
            <a:r>
              <a:t>• Relación de aspecto (aspect ratio): ancho dividido por alto de la pantalla (16:9, 9:16).</a:t>
            </a:r>
          </a:p>
          <a:p>
            <a:r>
              <a:t>• Coordenadas de mundo: posiciones dentro de la escena, independientes de la pantalla.</a:t>
            </a:r>
          </a:p>
          <a:p>
            <a:r>
              <a:t>La cámara es ortográfica de tamaño 5: el semiancho visible es 5 × aspect. A 16:9 se ven ≈ 8,9 unidades a cada lado; en vertical 9:16, ≈ 2,8.</a:t>
            </a:r>
          </a:p>
          <a:p>
            <a:r>
              <a:t>El Spawner crea asteroides en x ∈ [−8, 8] (coordenadas de mundo). En vertical, la mayoría de los asteroides nace fuera de pantalla.</a:t>
            </a:r>
          </a:p>
          <a:p>
            <a:r>
              <a:t>No hay error de lógica: hay un supuesto de plataforma. Ningún archivo tiene un error por sí solo; el problema aparece en la combinación cámara + spawner + orientación.</a:t>
            </a:r>
          </a:p>
          <a:p>
            <a:r>
              <a:t>Mostrarlo en el Device Simulator. Conectar con el testing de integración de la U3: es un defecto de integración con la plataforma.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a:t>
            </a:r>
          </a:p>
          <a:p>
            <a:r>
              <a:t>Glosario (conceptos cortos para la docente):</a:t>
            </a:r>
          </a:p>
          <a:p>
            <a:r>
              <a:t>• Audiencia: público al que apunta el juego.</a:t>
            </a:r>
          </a:p>
          <a:p>
            <a:r>
              <a:t>• Vigencia (future-proofing): que la plataforma siga activa y evolucionando con el tiempo.</a:t>
            </a:r>
          </a:p>
          <a:p>
            <a:r>
              <a:t>El artículo de Kevuru propone cuatro consideraciones para elegir plataforma, y concluye que el desafío no es encontrar la "mejor" plataforma, sino la que encaja con la visión del juego y su público:</a:t>
            </a:r>
          </a:p>
          <a:p>
            <a:r>
              <a:t>1. Audiencia: saber para quién se construye. Un puzzle casual puede encontrar su público en móvil; un RPG con mucha narrativa puede funcionar mejor en consola o PC.</a:t>
            </a:r>
          </a:p>
          <a:p>
            <a:r>
              <a:t>2. Modelos de monetización: suscripción, free-to-play con compras integradas o venta premium. Cada plataforma se inclina por estrategias distintas y el modelo de ingresos tiene que coincidir.</a:t>
            </a:r>
          </a:p>
          <a:p>
            <a:r>
              <a:t>3. Integración y soporte: algunas plataformas ofrecen mejores herramientas, documentación o ayuda directa; una buena integración ahorra meses.</a:t>
            </a:r>
          </a:p>
          <a:p>
            <a:r>
              <a:t>4. Vigencia (future-proofing): preferir plataformas que sigan evolucionando para que el juego no quede desactualizado en uno o dos años.</a:t>
            </a:r>
          </a:p>
          <a:p>
            <a:r>
              <a:t>Lo que agrega la cátedra: un quinto criterio, las restricciones técnicas y de diseño de la plataforma (todo lo que vimos hoy: calor, batería, memoria, interrupciones, pantalla). El artículo no lo menciona y es justamente el núcleo de esta materia.</a:t>
            </a:r>
          </a:p>
          <a:p>
            <a:r>
              <a:t>Respuesta esperada a la pregunta: Asteroides encaja en móvil por audiencia (partidas cortas y casuales) y por sus requisitos técnicos bajos, pero exige rediseñar el control, la pantalla y la pausa (lo que encontramos en A4.2). La monetización se decide más adelante en la unidad.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a:t>
            </a:r>
          </a:p>
          <a:p>
            <a:r>
              <a:t>Glosario (conceptos cortos para la docente):</a:t>
            </a:r>
          </a:p>
          <a:p>
            <a:r>
              <a:t>• Fuente primaria: documento original de quien produce el dato (por ejemplo, el comunicado oficial de la empresa).</a:t>
            </a:r>
          </a:p>
          <a:p>
            <a:r>
              <a:t>• Stadia: servicio de cloud gaming de Google (2019–2023).</a:t>
            </a:r>
          </a:p>
          <a:p>
            <a:r>
              <a:t>• EA app: lanzador de juegos de PC de Electronic Arts, que reemplazó a Origin.</a:t>
            </a:r>
          </a:p>
          <a:p>
            <a:r>
              <a:t>El artículo que usamos para las slides 5, 6, 7, 8 y 19 es útil para los conceptos, pero tiene problemas que conviene mostrar:</a:t>
            </a:r>
          </a:p>
          <a:p>
            <a:r>
              <a:t>1. Es el blog de un estudio de desarrollo (Kevuru Games) que termina ofreciendo sus servicios y un formulario de cotización: es una fuente comercial, no una autoridad.</a:t>
            </a:r>
          </a:p>
          <a:p>
            <a:r>
              <a:t>2. Presenta Google Stadia como un servicio activo. Google anunció el cierre el 29/09/2022 y fue efectivo el 18/01/2023, con reembolsos (verificado en la investigación de la Unidad VII, fuente oficial de Google).</a:t>
            </a:r>
          </a:p>
          <a:p>
            <a:r>
              <a:t>3. Nombra la tienda "Origin" entre las plataformas de PC. EA anunció el 06/10/2022 que la EA app la reemplaza como su plataforma principal de PC (fuente oficial de EA).</a:t>
            </a:r>
          </a:p>
          <a:p>
            <a:r>
              <a:t>4. Da cifras de ingresos y usuarios proyectadas desde 2023 (por ejemplo, ingresos del sector y cantidad de usuarios a 2027) sin citar de dónde salen. No las usamos en clase.</a:t>
            </a:r>
          </a:p>
          <a:p>
            <a:r>
              <a:t>5. Mezcla bajo "plataforma" hardware, tiendas, cloud y sitios de streaming (lo ordenamos en la slide 5).</a:t>
            </a:r>
          </a:p>
          <a:p>
            <a:r>
              <a:t>Mensaje para los alumnos: el mismo criterio que aplicamos a los tests (¿qué demuestra y qué no?) se aplica a las fuentes. Un blog sirve para ideas; los datos se verifican en la documentación oficial o en papers. Es el mismo criterio que van a usar en el TP 3.</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Build Support: módulo de Unity que permite compilar el juego para una plataforma; acá, Android.</a:t>
            </a:r>
          </a:p>
          <a:p>
            <a:r>
              <a:t>• Depuración USB: opción de Android que permite a la PC instalar y analizar apps en el teléfono por cable.</a:t>
            </a:r>
          </a:p>
          <a:p>
            <a:r>
              <a:t>• TP: trabajo práctico.</a:t>
            </a:r>
          </a:p>
          <a:p>
            <a:r>
              <a:t>Cerrar con el límite de la herramienta, no con la herramienta: el simulador encontró el problema de la pantalla, pero no mide calor ni batería. Eso lo vamos a medir en sus teléfonos, más adelante en la unidad.</a:t>
            </a:r>
          </a:p>
          <a:p>
            <a:r>
              <a:t>TP 3: Dossier de plataforma, Asteroides móvil (consigna en el aula virtual).</a:t>
            </a:r>
          </a:p>
          <a:p>
            <a:r>
              <a:t>Tarea técnica obligatoria (sin ella no se puede hacer la práctica en el teléfono):</a:t>
            </a:r>
          </a:p>
          <a:p>
            <a:r>
              <a:t>1. Instalar el módulo Android Build Support (con OpenJDK, Android SDK y NDK) en Unity 6000.3.11f1 desde Unity Hub.</a:t>
            </a:r>
          </a:p>
          <a:p>
            <a:r>
              <a:t>2. En el teléfono: tocar 7 veces "Número de compilación" para habilitar las Opciones de desarrollador y activar "Depuración USB" (en Android 9 o superior: Ajustes &gt; Sistema &gt; Avanzado &gt; Opciones de desarrollador).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4754880"/>
            <a:ext cx="12191695" cy="50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0"/>
            <a:ext cx="11185855" cy="3291840"/>
          </a:xfrm>
          <a:prstGeom prst="rect">
            <a:avLst/>
          </a:prstGeom>
          <a:noFill/>
        </p:spPr>
        <p:txBody>
          <a:bodyPr wrap="square" anchor="b" lIns="0" rIns="0" tIns="0" bIns="0">
            <a:spAutoFit/>
          </a:bodyPr>
          <a:lstStyle/>
          <a:p>
            <a:r>
              <a:rPr sz="1400" b="1" i="0">
                <a:solidFill>
                  <a:srgbClr val="99F6E4"/>
                </a:solidFill>
                <a:latin typeface="Calibri"/>
              </a:rPr>
              <a:t>UNIDAD IV · CLASE 1 DE 4</a:t>
            </a:r>
          </a:p>
          <a:p>
            <a:r>
              <a:rPr sz="4000" b="1" i="0">
                <a:solidFill>
                  <a:srgbClr val="FFFFFF"/>
                </a:solidFill>
                <a:latin typeface="Calibri"/>
              </a:rPr>
              <a:t>Diseño según Plataforma Móvil</a:t>
            </a:r>
          </a:p>
          <a:p>
            <a:pPr>
              <a:spcBef>
                <a:spcPts val="600"/>
              </a:spcBef>
            </a:pPr>
            <a:r>
              <a:rPr sz="2000" b="0" i="0">
                <a:solidFill>
                  <a:srgbClr val="CBD5E1"/>
                </a:solidFill>
                <a:latin typeface="Calibri"/>
              </a:rPr>
              <a:t>Un teléfono no es una PC chica</a:t>
            </a:r>
          </a:p>
          <a:p>
            <a:pPr>
              <a:spcBef>
                <a:spcPts val="600"/>
              </a:spcBef>
            </a:pPr>
            <a:r>
              <a:rPr sz="2000" b="0" i="0">
                <a:solidFill>
                  <a:srgbClr val="CBD5E1"/>
                </a:solidFill>
                <a:latin typeface="Calibri"/>
              </a:rPr>
              <a:t>Diseño según Plataformas de Juego · Ing. Elsa Daniela Ramírez · FI – UNJu · 2026</a:t>
            </a:r>
          </a:p>
        </p:txBody>
      </p:sp>
      <p:sp>
        <p:nvSpPr>
          <p:cNvPr id="4" name="TextBox 3"/>
          <p:cNvSpPr txBox="1"/>
          <p:nvPr/>
        </p:nvSpPr>
        <p:spPr>
          <a:xfrm>
            <a:off x="502920" y="6035040"/>
            <a:ext cx="11185855" cy="365760"/>
          </a:xfrm>
          <a:prstGeom prst="rect">
            <a:avLst/>
          </a:prstGeom>
          <a:noFill/>
        </p:spPr>
        <p:txBody>
          <a:bodyPr wrap="square" anchor="t" lIns="0" rIns="0" tIns="0" bIns="0">
            <a:spAutoFit/>
          </a:bodyPr>
          <a:lstStyle/>
          <a:p>
            <a:r>
              <a:rPr sz="1200" b="0" i="0">
                <a:solidFill>
                  <a:srgbClr val="CBD5E1"/>
                </a:solidFill>
                <a:latin typeface="Calibri"/>
              </a:rPr>
              <a:t>Unidad IV · Clase 1 · v2 · 1/21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APERTURA</a:t>
            </a:r>
          </a:p>
          <a:p>
            <a:r>
              <a:rPr sz="2600" b="1" i="0">
                <a:solidFill>
                  <a:srgbClr val="FFFFFF"/>
                </a:solidFill>
                <a:latin typeface="Calibri"/>
              </a:rPr>
              <a:t>El juego que anda… hasta que no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2/21</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¿Cuántos problemas distintos hay? ¿Alguno es un "bug"?</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En la PC del aula: perfecto</a:t>
            </a:r>
          </a:p>
          <a:p>
            <a:pPr>
              <a:spcAft>
                <a:spcPts val="800"/>
              </a:spcAft>
            </a:pPr>
            <a:r>
              <a:rPr sz="1600" b="1" i="0">
                <a:solidFill>
                  <a:srgbClr val="0D9488"/>
                </a:solidFill>
                <a:latin typeface="Calibri"/>
              </a:rPr>
              <a:t>■  </a:t>
            </a:r>
            <a:r>
              <a:rPr sz="2200" b="0" i="0">
                <a:solidFill>
                  <a:srgbClr val="1F2937"/>
                </a:solidFill>
                <a:latin typeface="Calibri"/>
              </a:rPr>
              <a:t>En el teléfono, a los 10 min: se traba</a:t>
            </a:r>
          </a:p>
          <a:p>
            <a:pPr>
              <a:spcAft>
                <a:spcPts val="800"/>
              </a:spcAft>
            </a:pPr>
            <a:r>
              <a:rPr sz="1600" b="1" i="0">
                <a:solidFill>
                  <a:srgbClr val="0D9488"/>
                </a:solidFill>
                <a:latin typeface="Calibri"/>
              </a:rPr>
              <a:t>■  </a:t>
            </a:r>
            <a:r>
              <a:rPr sz="2200" b="0" i="0">
                <a:solidFill>
                  <a:srgbClr val="1F2937"/>
                </a:solidFill>
                <a:latin typeface="Calibri"/>
              </a:rPr>
              <a:t>El teléfono quema</a:t>
            </a:r>
          </a:p>
          <a:p>
            <a:pPr>
              <a:spcAft>
                <a:spcPts val="800"/>
              </a:spcAft>
            </a:pPr>
            <a:r>
              <a:rPr sz="1600" b="1" i="0">
                <a:solidFill>
                  <a:srgbClr val="0D9488"/>
                </a:solidFill>
                <a:latin typeface="Calibri"/>
              </a:rPr>
              <a:t>■  </a:t>
            </a:r>
            <a:r>
              <a:rPr sz="2200" b="0" i="0">
                <a:solidFill>
                  <a:srgbClr val="1F2937"/>
                </a:solidFill>
                <a:latin typeface="Calibri"/>
              </a:rPr>
              <a:t>Llamada, volvés… y la nave explotó</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CONTINUIDAD [RECICLADO 28/09]</a:t>
            </a:r>
          </a:p>
          <a:p>
            <a:r>
              <a:rPr sz="2600" b="1" i="0">
                <a:solidFill>
                  <a:srgbClr val="FFFFFF"/>
                </a:solidFill>
                <a:latin typeface="Calibri"/>
              </a:rPr>
              <a:t>Lo que ya vimos el 28/09</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Clase 28/09/2026 — Clase2-Plataformas.pptx; código del proyecto (Ship.cs 61–73)</a:t>
            </a:r>
          </a:p>
        </p:txBody>
      </p:sp>
      <p:sp>
        <p:nvSpPr>
          <p:cNvPr id="9" name="Rounded Rectangle 8"/>
          <p:cNvSpPr/>
          <p:nvPr/>
        </p:nvSpPr>
        <p:spPr>
          <a:xfrm>
            <a:off x="6568135" y="1234440"/>
            <a:ext cx="5120640" cy="1191768"/>
          </a:xfrm>
          <a:prstGeom prst="roundRect">
            <a:avLst>
              <a:gd name="adj" fmla="val 12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51015" y="1325880"/>
            <a:ext cx="4754880" cy="365760"/>
          </a:xfrm>
          <a:prstGeom prst="rect">
            <a:avLst/>
          </a:prstGeom>
          <a:noFill/>
        </p:spPr>
        <p:txBody>
          <a:bodyPr wrap="square" anchor="t" lIns="0" rIns="0" tIns="0" bIns="0">
            <a:spAutoFit/>
          </a:bodyPr>
          <a:lstStyle/>
          <a:p>
            <a:r>
              <a:rPr sz="1500" b="1" i="0">
                <a:solidFill>
                  <a:srgbClr val="0D9488"/>
                </a:solidFill>
                <a:latin typeface="Calibri"/>
              </a:rPr>
              <a:t>DISPOSITIVO</a:t>
            </a:r>
          </a:p>
        </p:txBody>
      </p:sp>
      <p:sp>
        <p:nvSpPr>
          <p:cNvPr id="11" name="Rounded Rectangle 10"/>
          <p:cNvSpPr/>
          <p:nvPr/>
        </p:nvSpPr>
        <p:spPr>
          <a:xfrm>
            <a:off x="6751015" y="1786128"/>
            <a:ext cx="149352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Teclado</a:t>
            </a:r>
          </a:p>
        </p:txBody>
      </p:sp>
      <p:sp>
        <p:nvSpPr>
          <p:cNvPr id="12" name="Rounded Rectangle 11"/>
          <p:cNvSpPr/>
          <p:nvPr/>
        </p:nvSpPr>
        <p:spPr>
          <a:xfrm>
            <a:off x="8381695" y="1786128"/>
            <a:ext cx="149352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Táctil</a:t>
            </a:r>
          </a:p>
        </p:txBody>
      </p:sp>
      <p:sp>
        <p:nvSpPr>
          <p:cNvPr id="13" name="Rounded Rectangle 12"/>
          <p:cNvSpPr/>
          <p:nvPr/>
        </p:nvSpPr>
        <p:spPr>
          <a:xfrm>
            <a:off x="10012375" y="1786128"/>
            <a:ext cx="149352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Gamepad</a:t>
            </a:r>
          </a:p>
        </p:txBody>
      </p:sp>
      <p:sp>
        <p:nvSpPr>
          <p:cNvPr id="14" name="Down Arrow 13"/>
          <p:cNvSpPr/>
          <p:nvPr/>
        </p:nvSpPr>
        <p:spPr>
          <a:xfrm>
            <a:off x="8899855" y="2462784"/>
            <a:ext cx="457200" cy="310896"/>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68135" y="2810256"/>
            <a:ext cx="5120640" cy="1191768"/>
          </a:xfrm>
          <a:prstGeom prst="roundRect">
            <a:avLst>
              <a:gd name="adj" fmla="val 12000"/>
            </a:avLst>
          </a:prstGeom>
          <a:solidFill>
            <a:srgbClr val="F3F4F6"/>
          </a:solidFill>
          <a:ln w="254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51015" y="2901696"/>
            <a:ext cx="4754880" cy="365760"/>
          </a:xfrm>
          <a:prstGeom prst="rect">
            <a:avLst/>
          </a:prstGeom>
          <a:noFill/>
        </p:spPr>
        <p:txBody>
          <a:bodyPr wrap="square" anchor="t" lIns="0" rIns="0" tIns="0" bIns="0">
            <a:spAutoFit/>
          </a:bodyPr>
          <a:lstStyle/>
          <a:p>
            <a:r>
              <a:rPr sz="1500" b="1" i="0">
                <a:solidFill>
                  <a:srgbClr val="D97706"/>
                </a:solidFill>
                <a:latin typeface="Calibri"/>
              </a:rPr>
              <a:t>INTENCIÓN</a:t>
            </a:r>
          </a:p>
        </p:txBody>
      </p:sp>
      <p:sp>
        <p:nvSpPr>
          <p:cNvPr id="17" name="Rounded Rectangle 16"/>
          <p:cNvSpPr/>
          <p:nvPr/>
        </p:nvSpPr>
        <p:spPr>
          <a:xfrm>
            <a:off x="6751015" y="3361944"/>
            <a:ext cx="2308860" cy="5029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Mover</a:t>
            </a:r>
          </a:p>
        </p:txBody>
      </p:sp>
      <p:sp>
        <p:nvSpPr>
          <p:cNvPr id="18" name="Rounded Rectangle 17"/>
          <p:cNvSpPr/>
          <p:nvPr/>
        </p:nvSpPr>
        <p:spPr>
          <a:xfrm>
            <a:off x="9197035" y="3361944"/>
            <a:ext cx="2308860" cy="5029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Disparar</a:t>
            </a:r>
          </a:p>
        </p:txBody>
      </p:sp>
      <p:sp>
        <p:nvSpPr>
          <p:cNvPr id="19" name="Down Arrow 18"/>
          <p:cNvSpPr/>
          <p:nvPr/>
        </p:nvSpPr>
        <p:spPr>
          <a:xfrm>
            <a:off x="8899855" y="4038600"/>
            <a:ext cx="457200" cy="310896"/>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568135" y="4386072"/>
            <a:ext cx="5120640" cy="1191768"/>
          </a:xfrm>
          <a:prstGeom prst="roundRect">
            <a:avLst>
              <a:gd name="adj" fmla="val 12000"/>
            </a:avLst>
          </a:prstGeom>
          <a:solidFill>
            <a:srgbClr val="F3F4F6"/>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51015" y="4477512"/>
            <a:ext cx="4754880" cy="365760"/>
          </a:xfrm>
          <a:prstGeom prst="rect">
            <a:avLst/>
          </a:prstGeom>
          <a:noFill/>
        </p:spPr>
        <p:txBody>
          <a:bodyPr wrap="square" anchor="t" lIns="0" rIns="0" tIns="0" bIns="0">
            <a:spAutoFit/>
          </a:bodyPr>
          <a:lstStyle/>
          <a:p>
            <a:r>
              <a:rPr sz="1500" b="1" i="0">
                <a:solidFill>
                  <a:srgbClr val="1F2A44"/>
                </a:solidFill>
                <a:latin typeface="Calibri"/>
              </a:rPr>
              <a:t>NAVE</a:t>
            </a:r>
          </a:p>
        </p:txBody>
      </p:sp>
      <p:sp>
        <p:nvSpPr>
          <p:cNvPr id="22" name="Rounded Rectangle 21"/>
          <p:cNvSpPr/>
          <p:nvPr/>
        </p:nvSpPr>
        <p:spPr>
          <a:xfrm>
            <a:off x="6751015" y="4937760"/>
            <a:ext cx="149352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Movimiento</a:t>
            </a:r>
          </a:p>
        </p:txBody>
      </p:sp>
      <p:sp>
        <p:nvSpPr>
          <p:cNvPr id="23" name="Rounded Rectangle 22"/>
          <p:cNvSpPr/>
          <p:nvPr/>
        </p:nvSpPr>
        <p:spPr>
          <a:xfrm>
            <a:off x="8381695" y="4937760"/>
            <a:ext cx="149352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Disparo</a:t>
            </a:r>
          </a:p>
        </p:txBody>
      </p:sp>
      <p:sp>
        <p:nvSpPr>
          <p:cNvPr id="24" name="Rounded Rectangle 23"/>
          <p:cNvSpPr/>
          <p:nvPr/>
        </p:nvSpPr>
        <p:spPr>
          <a:xfrm>
            <a:off x="10012375" y="4937760"/>
            <a:ext cx="149352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Límites</a:t>
            </a:r>
          </a:p>
        </p:txBody>
      </p:sp>
      <p:sp>
        <p:nvSpPr>
          <p:cNvPr id="25" name="TextBox 24"/>
          <p:cNvSpPr txBox="1"/>
          <p:nvPr/>
        </p:nvSpPr>
        <p:spPr>
          <a:xfrm>
            <a:off x="6568135" y="5669280"/>
            <a:ext cx="5120640" cy="320040"/>
          </a:xfrm>
          <a:prstGeom prst="rect">
            <a:avLst/>
          </a:prstGeom>
          <a:noFill/>
        </p:spPr>
        <p:txBody>
          <a:bodyPr wrap="square" anchor="ctr" lIns="0" rIns="0" tIns="0" bIns="0">
            <a:spAutoFit/>
          </a:bodyPr>
          <a:lstStyle/>
          <a:p>
            <a:pPr algn="ctr"/>
            <a:r>
              <a:rPr sz="1300" b="0" i="1">
                <a:solidFill>
                  <a:srgbClr val="DC2626"/>
                </a:solidFill>
                <a:latin typeface="Calibri"/>
              </a:rPr>
              <a:t>Hoy Ship.cs lee el teclado directo: falta la capa del medio</a:t>
            </a:r>
          </a:p>
        </p:txBody>
      </p:sp>
      <p:sp>
        <p:nvSpPr>
          <p:cNvPr id="26" name="TextBox 25"/>
          <p:cNvSpPr txBox="1"/>
          <p:nvPr/>
        </p:nvSpPr>
        <p:spPr>
          <a:xfrm>
            <a:off x="502920" y="1234440"/>
            <a:ext cx="5790895" cy="4754880"/>
          </a:xfrm>
          <a:prstGeom prst="rect">
            <a:avLst/>
          </a:prstGeom>
          <a:noFill/>
        </p:spPr>
        <p:txBody>
          <a:bodyPr wrap="square" anchor="t" lIns="0" rIns="0" tIns="0" bIns="0">
            <a:spAutoFit/>
          </a:bodyPr>
          <a:lstStyle/>
          <a:p>
            <a:pPr>
              <a:spcAft>
                <a:spcPts val="800"/>
              </a:spcAft>
            </a:pPr>
            <a:r>
              <a:rPr sz="1400" b="1" i="0">
                <a:solidFill>
                  <a:srgbClr val="0D9488"/>
                </a:solidFill>
                <a:latin typeface="Calibri"/>
              </a:rPr>
              <a:t>■  </a:t>
            </a:r>
            <a:r>
              <a:rPr sz="2000" b="0" i="0">
                <a:solidFill>
                  <a:srgbClr val="1F2937"/>
                </a:solidFill>
                <a:latin typeface="Calibri"/>
              </a:rPr>
              <a:t>Táctil sin botón físico</a:t>
            </a:r>
          </a:p>
          <a:p>
            <a:pPr>
              <a:spcAft>
                <a:spcPts val="800"/>
              </a:spcAft>
            </a:pPr>
            <a:r>
              <a:rPr sz="1400" b="1" i="0">
                <a:solidFill>
                  <a:srgbClr val="0D9488"/>
                </a:solidFill>
                <a:latin typeface="Calibri"/>
              </a:rPr>
              <a:t>■  </a:t>
            </a:r>
            <a:r>
              <a:rPr sz="2000" b="0" i="0">
                <a:solidFill>
                  <a:srgbClr val="1F2937"/>
                </a:solidFill>
                <a:latin typeface="Calibri"/>
              </a:rPr>
              <a:t>Pantallas y zonas seguras</a:t>
            </a:r>
          </a:p>
          <a:p>
            <a:pPr>
              <a:spcAft>
                <a:spcPts val="800"/>
              </a:spcAft>
            </a:pPr>
            <a:r>
              <a:rPr sz="1400" b="1" i="0">
                <a:solidFill>
                  <a:srgbClr val="0D9488"/>
                </a:solidFill>
                <a:latin typeface="Calibri"/>
              </a:rPr>
              <a:t>■  </a:t>
            </a:r>
            <a:r>
              <a:rPr sz="2000" b="0" i="0">
                <a:solidFill>
                  <a:srgbClr val="1F2937"/>
                </a:solidFill>
                <a:latin typeface="Calibri"/>
              </a:rPr>
              <a:t>Batería y temperatura</a:t>
            </a:r>
          </a:p>
          <a:p>
            <a:pPr>
              <a:spcAft>
                <a:spcPts val="800"/>
              </a:spcAft>
            </a:pPr>
            <a:r>
              <a:rPr sz="1400" b="1" i="0">
                <a:solidFill>
                  <a:srgbClr val="0D9488"/>
                </a:solidFill>
                <a:latin typeface="Calibri"/>
              </a:rPr>
              <a:t>■  </a:t>
            </a:r>
            <a:r>
              <a:rPr sz="2000" b="0" i="0">
                <a:solidFill>
                  <a:srgbClr val="1F2937"/>
                </a:solidFill>
                <a:latin typeface="Calibri"/>
              </a:rPr>
              <a:t>Interrupciones del sistema</a:t>
            </a:r>
          </a:p>
          <a:p>
            <a:pPr>
              <a:spcAft>
                <a:spcPts val="800"/>
              </a:spcAft>
            </a:pPr>
            <a:r>
              <a:rPr sz="1400" b="1" i="0">
                <a:solidFill>
                  <a:srgbClr val="0D9488"/>
                </a:solidFill>
                <a:latin typeface="Calibri"/>
              </a:rPr>
              <a:t>■  </a:t>
            </a:r>
            <a:r>
              <a:rPr sz="2000" b="0" i="0">
                <a:solidFill>
                  <a:srgbClr val="1F2937"/>
                </a:solidFill>
                <a:latin typeface="Calibri"/>
              </a:rPr>
              <a:t>Intención ≠ dispositivo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OBJETIVOS</a:t>
            </a:r>
          </a:p>
          <a:p>
            <a:r>
              <a:rPr sz="2600" b="1" i="0">
                <a:solidFill>
                  <a:srgbClr val="FFFFFF"/>
                </a:solidFill>
                <a:latin typeface="Calibri"/>
              </a:rPr>
              <a:t>Al terminar la unidad podrán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4/21</a:t>
            </a:r>
          </a:p>
        </p:txBody>
      </p:sp>
      <p:sp>
        <p:nvSpPr>
          <p:cNvPr id="8" name="TextBox 7"/>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400" b="1" i="0">
                <a:solidFill>
                  <a:srgbClr val="0D9488"/>
                </a:solidFill>
                <a:latin typeface="Calibri"/>
              </a:rPr>
              <a:t>■  </a:t>
            </a:r>
            <a:r>
              <a:rPr sz="2000" b="0" i="0">
                <a:solidFill>
                  <a:srgbClr val="1F2937"/>
                </a:solidFill>
                <a:latin typeface="Calibri"/>
              </a:rPr>
              <a:t>Explicar las restricciones del móvil</a:t>
            </a:r>
          </a:p>
          <a:p>
            <a:pPr>
              <a:spcAft>
                <a:spcPts val="800"/>
              </a:spcAft>
            </a:pPr>
            <a:r>
              <a:rPr sz="1400" b="1" i="0">
                <a:solidFill>
                  <a:srgbClr val="0D9488"/>
                </a:solidFill>
                <a:latin typeface="Calibri"/>
              </a:rPr>
              <a:t>■  </a:t>
            </a:r>
            <a:r>
              <a:rPr sz="2000" b="0" i="0">
                <a:solidFill>
                  <a:srgbClr val="1F2937"/>
                </a:solidFill>
                <a:latin typeface="Calibri"/>
              </a:rPr>
              <a:t>Detectar supuestos de PC en un juego</a:t>
            </a:r>
          </a:p>
          <a:p>
            <a:pPr>
              <a:spcAft>
                <a:spcPts val="800"/>
              </a:spcAft>
            </a:pPr>
            <a:r>
              <a:rPr sz="1400" b="1" i="0">
                <a:solidFill>
                  <a:srgbClr val="0D9488"/>
                </a:solidFill>
                <a:latin typeface="Calibri"/>
              </a:rPr>
              <a:t>■  </a:t>
            </a:r>
            <a:r>
              <a:rPr sz="2000" b="0" i="0">
                <a:solidFill>
                  <a:srgbClr val="1F2937"/>
                </a:solidFill>
                <a:latin typeface="Calibri"/>
              </a:rPr>
              <a:t>Diseñar controles táctiles medibles</a:t>
            </a:r>
          </a:p>
          <a:p>
            <a:pPr>
              <a:spcAft>
                <a:spcPts val="800"/>
              </a:spcAft>
            </a:pPr>
            <a:r>
              <a:rPr sz="1400" b="1" i="0">
                <a:solidFill>
                  <a:srgbClr val="0D9488"/>
                </a:solidFill>
                <a:latin typeface="Calibri"/>
              </a:rPr>
              <a:t>■  </a:t>
            </a:r>
            <a:r>
              <a:rPr sz="2000" b="0" i="0">
                <a:solidFill>
                  <a:srgbClr val="1F2937"/>
                </a:solidFill>
                <a:latin typeface="Calibri"/>
              </a:rPr>
              <a:t>Defender un modelo de monetización</a:t>
            </a:r>
          </a:p>
          <a:p>
            <a:pPr>
              <a:spcAft>
                <a:spcPts val="800"/>
              </a:spcAft>
            </a:pPr>
            <a:r>
              <a:rPr sz="1400" b="1" i="0">
                <a:solidFill>
                  <a:srgbClr val="0D9488"/>
                </a:solidFill>
                <a:latin typeface="Calibri"/>
              </a:rPr>
              <a:t>■  </a:t>
            </a:r>
            <a:r>
              <a:rPr sz="2000" b="0" i="0">
                <a:solidFill>
                  <a:srgbClr val="1F2937"/>
                </a:solidFill>
                <a:latin typeface="Calibri"/>
              </a:rPr>
              <a:t>Decidir qué probar y dónde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CONCEPTO</a:t>
            </a:r>
          </a:p>
          <a:p>
            <a:r>
              <a:rPr sz="2600" b="1" i="0">
                <a:solidFill>
                  <a:srgbClr val="FFFFFF"/>
                </a:solidFill>
                <a:latin typeface="Calibri"/>
              </a:rPr>
              <a:t>¿Qué es una plataforma?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"What Are the Best Platforms for Games?" (blog comercial, sin fecha visible; consultado 2026-10-05)</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¿Cuál de estas capas cambia más el diseño del juego?</a:t>
            </a:r>
          </a:p>
        </p:txBody>
      </p:sp>
      <p:graphicFrame>
        <p:nvGraphicFramePr>
          <p:cNvPr id="11" name="Table 10"/>
          <p:cNvGraphicFramePr>
            <a:graphicFrameLocks noGrp="1"/>
          </p:cNvGraphicFramePr>
          <p:nvPr/>
        </p:nvGraphicFramePr>
        <p:xfrm>
          <a:off x="502920" y="1234440"/>
          <a:ext cx="11185853" cy="2834640"/>
        </p:xfrm>
        <a:graphic>
          <a:graphicData uri="http://schemas.openxmlformats.org/drawingml/2006/table">
            <a:tbl>
              <a:tblPr firstRow="1" bandRow="1">
                <a:tableStyleId>{5C22544A-7EE6-4342-B048-85BDC9FD1C3A}</a:tableStyleId>
              </a:tblPr>
              <a:tblGrid>
                <a:gridCol w="3329123"/>
                <a:gridCol w="3195958"/>
                <a:gridCol w="4660772"/>
              </a:tblGrid>
              <a:tr h="566928">
                <a:tc>
                  <a:txBody>
                    <a:bodyPr wrap="square"/>
                    <a:lstStyle/>
                    <a:p>
                      <a:r>
                        <a:rPr sz="1400" b="1" i="0">
                          <a:solidFill>
                            <a:srgbClr val="FFFFFF"/>
                          </a:solidFill>
                          <a:latin typeface="Calibri"/>
                        </a:rPr>
                        <a:t>Capa</a:t>
                      </a:r>
                    </a:p>
                  </a:txBody>
                  <a:tcPr marL="73152" marR="73152" marT="36576" marB="36576" anchor="ctr">
                    <a:solidFill>
                      <a:srgbClr val="0D9488"/>
                    </a:solidFill>
                  </a:tcPr>
                </a:tc>
                <a:tc>
                  <a:txBody>
                    <a:bodyPr wrap="square"/>
                    <a:lstStyle/>
                    <a:p>
                      <a:r>
                        <a:rPr sz="1400" b="1" i="0">
                          <a:solidFill>
                            <a:srgbClr val="FFFFFF"/>
                          </a:solidFill>
                          <a:latin typeface="Calibri"/>
                        </a:rPr>
                        <a:t>Pregunta</a:t>
                      </a:r>
                    </a:p>
                  </a:txBody>
                  <a:tcPr marL="73152" marR="73152" marT="36576" marB="36576" anchor="ctr">
                    <a:solidFill>
                      <a:srgbClr val="0D9488"/>
                    </a:solidFill>
                  </a:tcPr>
                </a:tc>
                <a:tc>
                  <a:txBody>
                    <a:bodyPr wrap="square"/>
                    <a:lstStyle/>
                    <a:p>
                      <a:r>
                        <a:rPr sz="1400" b="1" i="0">
                          <a:solidFill>
                            <a:srgbClr val="FFFFFF"/>
                          </a:solidFill>
                          <a:latin typeface="Calibri"/>
                        </a:rPr>
                        <a:t>Ejemplos</a:t>
                      </a:r>
                    </a:p>
                  </a:txBody>
                  <a:tcPr marL="73152" marR="73152" marT="36576" marB="36576" anchor="ctr">
                    <a:solidFill>
                      <a:srgbClr val="0D9488"/>
                    </a:solidFill>
                  </a:tcPr>
                </a:tc>
              </a:tr>
              <a:tr h="566928">
                <a:tc>
                  <a:txBody>
                    <a:bodyPr wrap="square"/>
                    <a:lstStyle/>
                    <a:p>
                      <a:r>
                        <a:rPr sz="1400" b="0" i="0">
                          <a:solidFill>
                            <a:srgbClr val="1F2937"/>
                          </a:solidFill>
                          <a:latin typeface="Calibri"/>
                        </a:rPr>
                        <a:t>Ejecución</a:t>
                      </a:r>
                    </a:p>
                  </a:txBody>
                  <a:tcPr marL="73152" marR="73152" marT="36576" marB="36576" anchor="ctr">
                    <a:solidFill>
                      <a:srgbClr val="FFFFFF"/>
                    </a:solidFill>
                  </a:tcPr>
                </a:tc>
                <a:tc>
                  <a:txBody>
                    <a:bodyPr wrap="square"/>
                    <a:lstStyle/>
                    <a:p>
                      <a:r>
                        <a:rPr sz="1400" b="0" i="0">
                          <a:solidFill>
                            <a:srgbClr val="1F2937"/>
                          </a:solidFill>
                          <a:latin typeface="Calibri"/>
                        </a:rPr>
                        <a:t>¿Dónde corre?</a:t>
                      </a:r>
                    </a:p>
                  </a:txBody>
                  <a:tcPr marL="73152" marR="73152" marT="36576" marB="36576" anchor="ctr">
                    <a:solidFill>
                      <a:srgbClr val="FFFFFF"/>
                    </a:solidFill>
                  </a:tcPr>
                </a:tc>
                <a:tc>
                  <a:txBody>
                    <a:bodyPr wrap="square"/>
                    <a:lstStyle/>
                    <a:p>
                      <a:r>
                        <a:rPr sz="1400" b="0" i="0">
                          <a:solidFill>
                            <a:srgbClr val="1F2937"/>
                          </a:solidFill>
                          <a:latin typeface="Calibri"/>
                        </a:rPr>
                        <a:t>Teléfono, consola, PC</a:t>
                      </a:r>
                    </a:p>
                  </a:txBody>
                  <a:tcPr marL="73152" marR="73152" marT="36576" marB="36576" anchor="ctr">
                    <a:solidFill>
                      <a:srgbClr val="FFFFFF"/>
                    </a:solidFill>
                  </a:tcPr>
                </a:tc>
              </a:tr>
              <a:tr h="566928">
                <a:tc>
                  <a:txBody>
                    <a:bodyPr wrap="square"/>
                    <a:lstStyle/>
                    <a:p>
                      <a:r>
                        <a:rPr sz="1400" b="0" i="0">
                          <a:solidFill>
                            <a:srgbClr val="1F2937"/>
                          </a:solidFill>
                          <a:latin typeface="Calibri"/>
                        </a:rPr>
                        <a:t>Distribución</a:t>
                      </a:r>
                    </a:p>
                  </a:txBody>
                  <a:tcPr marL="73152" marR="73152" marT="36576" marB="36576" anchor="ctr">
                    <a:solidFill>
                      <a:srgbClr val="E6F4F2"/>
                    </a:solidFill>
                  </a:tcPr>
                </a:tc>
                <a:tc>
                  <a:txBody>
                    <a:bodyPr wrap="square"/>
                    <a:lstStyle/>
                    <a:p>
                      <a:r>
                        <a:rPr sz="1400" b="0" i="0">
                          <a:solidFill>
                            <a:srgbClr val="1F2937"/>
                          </a:solidFill>
                          <a:latin typeface="Calibri"/>
                        </a:rPr>
                        <a:t>¿Cómo llega?</a:t>
                      </a:r>
                    </a:p>
                  </a:txBody>
                  <a:tcPr marL="73152" marR="73152" marT="36576" marB="36576" anchor="ctr">
                    <a:solidFill>
                      <a:srgbClr val="E6F4F2"/>
                    </a:solidFill>
                  </a:tcPr>
                </a:tc>
                <a:tc>
                  <a:txBody>
                    <a:bodyPr wrap="square"/>
                    <a:lstStyle/>
                    <a:p>
                      <a:r>
                        <a:rPr sz="1400" b="0" i="0">
                          <a:solidFill>
                            <a:srgbClr val="1F2937"/>
                          </a:solidFill>
                          <a:latin typeface="Calibri"/>
                        </a:rPr>
                        <a:t>Google Play, App Store, Steam</a:t>
                      </a:r>
                    </a:p>
                  </a:txBody>
                  <a:tcPr marL="73152" marR="73152" marT="36576" marB="36576" anchor="ctr">
                    <a:solidFill>
                      <a:srgbClr val="E6F4F2"/>
                    </a:solidFill>
                  </a:tcPr>
                </a:tc>
              </a:tr>
              <a:tr h="566928">
                <a:tc>
                  <a:txBody>
                    <a:bodyPr wrap="square"/>
                    <a:lstStyle/>
                    <a:p>
                      <a:r>
                        <a:rPr sz="1400" b="0" i="0">
                          <a:solidFill>
                            <a:srgbClr val="1F2937"/>
                          </a:solidFill>
                          <a:latin typeface="Calibri"/>
                        </a:rPr>
                        <a:t>Servicio en la nube</a:t>
                      </a:r>
                    </a:p>
                  </a:txBody>
                  <a:tcPr marL="73152" marR="73152" marT="36576" marB="36576" anchor="ctr">
                    <a:solidFill>
                      <a:srgbClr val="FFFFFF"/>
                    </a:solidFill>
                  </a:tcPr>
                </a:tc>
                <a:tc>
                  <a:txBody>
                    <a:bodyPr wrap="square"/>
                    <a:lstStyle/>
                    <a:p>
                      <a:r>
                        <a:rPr sz="1400" b="0" i="0">
                          <a:solidFill>
                            <a:srgbClr val="1F2937"/>
                          </a:solidFill>
                          <a:latin typeface="Calibri"/>
                        </a:rPr>
                        <a:t>¿Dónde se procesa?</a:t>
                      </a:r>
                    </a:p>
                  </a:txBody>
                  <a:tcPr marL="73152" marR="73152" marT="36576" marB="36576" anchor="ctr">
                    <a:solidFill>
                      <a:srgbClr val="FFFFFF"/>
                    </a:solidFill>
                  </a:tcPr>
                </a:tc>
                <a:tc>
                  <a:txBody>
                    <a:bodyPr wrap="square"/>
                    <a:lstStyle/>
                    <a:p>
                      <a:r>
                        <a:rPr sz="1400" b="0" i="0">
                          <a:solidFill>
                            <a:srgbClr val="1F2937"/>
                          </a:solidFill>
                          <a:latin typeface="Calibri"/>
                        </a:rPr>
                        <a:t>GeForce Now</a:t>
                      </a:r>
                    </a:p>
                  </a:txBody>
                  <a:tcPr marL="73152" marR="73152" marT="36576" marB="36576" anchor="ctr">
                    <a:solidFill>
                      <a:srgbClr val="FFFFFF"/>
                    </a:solidFill>
                  </a:tcPr>
                </a:tc>
              </a:tr>
              <a:tr h="566928">
                <a:tc>
                  <a:txBody>
                    <a:bodyPr wrap="square"/>
                    <a:lstStyle/>
                    <a:p>
                      <a:r>
                        <a:rPr sz="1400" b="0" i="0">
                          <a:solidFill>
                            <a:srgbClr val="1F2937"/>
                          </a:solidFill>
                          <a:latin typeface="Calibri"/>
                        </a:rPr>
                        <a:t>Comunidad</a:t>
                      </a:r>
                    </a:p>
                  </a:txBody>
                  <a:tcPr marL="73152" marR="73152" marT="36576" marB="36576" anchor="ctr">
                    <a:solidFill>
                      <a:srgbClr val="E6F4F2"/>
                    </a:solidFill>
                  </a:tcPr>
                </a:tc>
                <a:tc>
                  <a:txBody>
                    <a:bodyPr wrap="square"/>
                    <a:lstStyle/>
                    <a:p>
                      <a:r>
                        <a:rPr sz="1400" b="0" i="0">
                          <a:solidFill>
                            <a:srgbClr val="1F2937"/>
                          </a:solidFill>
                          <a:latin typeface="Calibri"/>
                        </a:rPr>
                        <a:t>¿Dónde se mira?</a:t>
                      </a:r>
                    </a:p>
                  </a:txBody>
                  <a:tcPr marL="73152" marR="73152" marT="36576" marB="36576" anchor="ctr">
                    <a:solidFill>
                      <a:srgbClr val="E6F4F2"/>
                    </a:solidFill>
                  </a:tcPr>
                </a:tc>
                <a:tc>
                  <a:txBody>
                    <a:bodyPr wrap="square"/>
                    <a:lstStyle/>
                    <a:p>
                      <a:r>
                        <a:rPr sz="1400" b="0" i="0">
                          <a:solidFill>
                            <a:srgbClr val="1F2937"/>
                          </a:solidFill>
                          <a:latin typeface="Calibri"/>
                        </a:rPr>
                        <a:t>Twitch, YouTube</a:t>
                      </a:r>
                    </a:p>
                  </a:txBody>
                  <a:tcPr marL="73152" marR="73152" marT="36576" marB="36576" anchor="ctr">
                    <a:solidFill>
                      <a:srgbClr val="E6F4F2"/>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CONTEXTO HISTÓRICO</a:t>
            </a:r>
          </a:p>
          <a:p>
            <a:r>
              <a:rPr sz="2600" b="1" i="0">
                <a:solidFill>
                  <a:srgbClr val="FFFFFF"/>
                </a:solidFill>
                <a:latin typeface="Calibri"/>
              </a:rPr>
              <a:t>De los arcades al bolsillo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(blog); Apple Newsroom (App Store, 10/07/2008); lanzamientos de Oculus Rift (28/03/2016) y GeForce Now (04/02/2020)</a:t>
            </a:r>
          </a:p>
        </p:txBody>
      </p:sp>
      <p:sp>
        <p:nvSpPr>
          <p:cNvPr id="9" name="Rectangle 8"/>
          <p:cNvSpPr/>
          <p:nvPr/>
        </p:nvSpPr>
        <p:spPr>
          <a:xfrm>
            <a:off x="7071055"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05295"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1970</a:t>
            </a:r>
          </a:p>
        </p:txBody>
      </p:sp>
      <p:sp>
        <p:nvSpPr>
          <p:cNvPr id="11" name="Rectangle 10"/>
          <p:cNvSpPr/>
          <p:nvPr/>
        </p:nvSpPr>
        <p:spPr>
          <a:xfrm>
            <a:off x="7879319"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13559"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1980</a:t>
            </a:r>
          </a:p>
        </p:txBody>
      </p:sp>
      <p:sp>
        <p:nvSpPr>
          <p:cNvPr id="13" name="Rectangle 12"/>
          <p:cNvSpPr/>
          <p:nvPr/>
        </p:nvSpPr>
        <p:spPr>
          <a:xfrm>
            <a:off x="8687583"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823"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1990</a:t>
            </a:r>
          </a:p>
        </p:txBody>
      </p:sp>
      <p:sp>
        <p:nvSpPr>
          <p:cNvPr id="15" name="Rectangle 14"/>
          <p:cNvSpPr/>
          <p:nvPr/>
        </p:nvSpPr>
        <p:spPr>
          <a:xfrm>
            <a:off x="9495847"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30087"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2000</a:t>
            </a:r>
          </a:p>
        </p:txBody>
      </p:sp>
      <p:sp>
        <p:nvSpPr>
          <p:cNvPr id="17" name="Rectangle 16"/>
          <p:cNvSpPr/>
          <p:nvPr/>
        </p:nvSpPr>
        <p:spPr>
          <a:xfrm>
            <a:off x="10304112"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38352"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2010</a:t>
            </a:r>
          </a:p>
        </p:txBody>
      </p:sp>
      <p:sp>
        <p:nvSpPr>
          <p:cNvPr id="19" name="Rectangle 18"/>
          <p:cNvSpPr/>
          <p:nvPr/>
        </p:nvSpPr>
        <p:spPr>
          <a:xfrm>
            <a:off x="11112376"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746616"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2020</a:t>
            </a:r>
          </a:p>
        </p:txBody>
      </p:sp>
      <p:sp>
        <p:nvSpPr>
          <p:cNvPr id="21" name="TextBox 20"/>
          <p:cNvSpPr txBox="1"/>
          <p:nvPr/>
        </p:nvSpPr>
        <p:spPr>
          <a:xfrm>
            <a:off x="4922215" y="1272540"/>
            <a:ext cx="2011680" cy="505097"/>
          </a:xfrm>
          <a:prstGeom prst="rect">
            <a:avLst/>
          </a:prstGeom>
          <a:noFill/>
        </p:spPr>
        <p:txBody>
          <a:bodyPr wrap="square" anchor="ctr" lIns="0" rIns="0" tIns="0" bIns="0">
            <a:spAutoFit/>
          </a:bodyPr>
          <a:lstStyle/>
          <a:p>
            <a:pPr algn="r"/>
            <a:r>
              <a:rPr sz="1400" b="0" i="0">
                <a:solidFill>
                  <a:srgbClr val="1F2937"/>
                </a:solidFill>
                <a:latin typeface="Calibri"/>
              </a:rPr>
              <a:t>Arcade · Pong</a:t>
            </a:r>
          </a:p>
        </p:txBody>
      </p:sp>
      <p:sp>
        <p:nvSpPr>
          <p:cNvPr id="22" name="Rounded Rectangle 21"/>
          <p:cNvSpPr/>
          <p:nvPr/>
        </p:nvSpPr>
        <p:spPr>
          <a:xfrm>
            <a:off x="7232707" y="1272540"/>
            <a:ext cx="4364628"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1972</a:t>
            </a:r>
          </a:p>
        </p:txBody>
      </p:sp>
      <p:sp>
        <p:nvSpPr>
          <p:cNvPr id="23" name="TextBox 22"/>
          <p:cNvSpPr txBox="1"/>
          <p:nvPr/>
        </p:nvSpPr>
        <p:spPr>
          <a:xfrm>
            <a:off x="4922215" y="1853837"/>
            <a:ext cx="2011680" cy="505097"/>
          </a:xfrm>
          <a:prstGeom prst="rect">
            <a:avLst/>
          </a:prstGeom>
          <a:noFill/>
        </p:spPr>
        <p:txBody>
          <a:bodyPr wrap="square" anchor="ctr" lIns="0" rIns="0" tIns="0" bIns="0">
            <a:spAutoFit/>
          </a:bodyPr>
          <a:lstStyle/>
          <a:p>
            <a:pPr algn="r"/>
            <a:r>
              <a:rPr sz="1400" b="0" i="0">
                <a:solidFill>
                  <a:srgbClr val="1F2937"/>
                </a:solidFill>
                <a:latin typeface="Calibri"/>
              </a:rPr>
              <a:t>Consola · Atari 2600</a:t>
            </a:r>
          </a:p>
        </p:txBody>
      </p:sp>
      <p:sp>
        <p:nvSpPr>
          <p:cNvPr id="24" name="Rounded Rectangle 23"/>
          <p:cNvSpPr/>
          <p:nvPr/>
        </p:nvSpPr>
        <p:spPr>
          <a:xfrm>
            <a:off x="7636840" y="1853837"/>
            <a:ext cx="3960495"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1977</a:t>
            </a:r>
          </a:p>
        </p:txBody>
      </p:sp>
      <p:sp>
        <p:nvSpPr>
          <p:cNvPr id="25" name="TextBox 24"/>
          <p:cNvSpPr txBox="1"/>
          <p:nvPr/>
        </p:nvSpPr>
        <p:spPr>
          <a:xfrm>
            <a:off x="4922215" y="2435134"/>
            <a:ext cx="2011680" cy="505097"/>
          </a:xfrm>
          <a:prstGeom prst="rect">
            <a:avLst/>
          </a:prstGeom>
          <a:noFill/>
        </p:spPr>
        <p:txBody>
          <a:bodyPr wrap="square" anchor="ctr" lIns="0" rIns="0" tIns="0" bIns="0">
            <a:spAutoFit/>
          </a:bodyPr>
          <a:lstStyle/>
          <a:p>
            <a:pPr algn="r"/>
            <a:r>
              <a:rPr sz="1400" b="0" i="0">
                <a:solidFill>
                  <a:srgbClr val="1F2937"/>
                </a:solidFill>
                <a:latin typeface="Calibri"/>
              </a:rPr>
              <a:t>PC · IBM PC</a:t>
            </a:r>
          </a:p>
        </p:txBody>
      </p:sp>
      <p:sp>
        <p:nvSpPr>
          <p:cNvPr id="26" name="Rounded Rectangle 25"/>
          <p:cNvSpPr/>
          <p:nvPr/>
        </p:nvSpPr>
        <p:spPr>
          <a:xfrm>
            <a:off x="7960145" y="2435134"/>
            <a:ext cx="3637190"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1981</a:t>
            </a:r>
          </a:p>
        </p:txBody>
      </p:sp>
      <p:sp>
        <p:nvSpPr>
          <p:cNvPr id="27" name="TextBox 26"/>
          <p:cNvSpPr txBox="1"/>
          <p:nvPr/>
        </p:nvSpPr>
        <p:spPr>
          <a:xfrm>
            <a:off x="4922215" y="3016431"/>
            <a:ext cx="2011680" cy="505097"/>
          </a:xfrm>
          <a:prstGeom prst="rect">
            <a:avLst/>
          </a:prstGeom>
          <a:noFill/>
        </p:spPr>
        <p:txBody>
          <a:bodyPr wrap="square" anchor="ctr" lIns="0" rIns="0" tIns="0" bIns="0">
            <a:spAutoFit/>
          </a:bodyPr>
          <a:lstStyle/>
          <a:p>
            <a:pPr algn="r"/>
            <a:r>
              <a:rPr sz="1400" b="0" i="0">
                <a:solidFill>
                  <a:srgbClr val="1F2937"/>
                </a:solidFill>
                <a:latin typeface="Calibri"/>
              </a:rPr>
              <a:t>Portátil · Game Boy</a:t>
            </a:r>
          </a:p>
        </p:txBody>
      </p:sp>
      <p:sp>
        <p:nvSpPr>
          <p:cNvPr id="28" name="Rounded Rectangle 27"/>
          <p:cNvSpPr/>
          <p:nvPr/>
        </p:nvSpPr>
        <p:spPr>
          <a:xfrm>
            <a:off x="8606757" y="3016431"/>
            <a:ext cx="2990578"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1989</a:t>
            </a:r>
          </a:p>
        </p:txBody>
      </p:sp>
      <p:sp>
        <p:nvSpPr>
          <p:cNvPr id="29" name="TextBox 28"/>
          <p:cNvSpPr txBox="1"/>
          <p:nvPr/>
        </p:nvSpPr>
        <p:spPr>
          <a:xfrm>
            <a:off x="4922215" y="3597728"/>
            <a:ext cx="2011680" cy="505097"/>
          </a:xfrm>
          <a:prstGeom prst="rect">
            <a:avLst/>
          </a:prstGeom>
          <a:noFill/>
        </p:spPr>
        <p:txBody>
          <a:bodyPr wrap="square" anchor="ctr" lIns="0" rIns="0" tIns="0" bIns="0">
            <a:spAutoFit/>
          </a:bodyPr>
          <a:lstStyle/>
          <a:p>
            <a:pPr algn="r"/>
            <a:r>
              <a:rPr sz="1400" b="1" i="0">
                <a:solidFill>
                  <a:srgbClr val="1F2937"/>
                </a:solidFill>
                <a:latin typeface="Calibri"/>
              </a:rPr>
              <a:t>Teléfono · App Store</a:t>
            </a:r>
          </a:p>
        </p:txBody>
      </p:sp>
      <p:sp>
        <p:nvSpPr>
          <p:cNvPr id="30" name="Rounded Rectangle 29"/>
          <p:cNvSpPr/>
          <p:nvPr/>
        </p:nvSpPr>
        <p:spPr>
          <a:xfrm>
            <a:off x="10142459" y="3597728"/>
            <a:ext cx="1454876" cy="505097"/>
          </a:xfrm>
          <a:prstGeom prst="roundRect">
            <a:avLst>
              <a:gd name="adj" fmla="val 15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2008</a:t>
            </a:r>
          </a:p>
        </p:txBody>
      </p:sp>
      <p:sp>
        <p:nvSpPr>
          <p:cNvPr id="31" name="TextBox 30"/>
          <p:cNvSpPr txBox="1"/>
          <p:nvPr/>
        </p:nvSpPr>
        <p:spPr>
          <a:xfrm>
            <a:off x="4922215" y="4179025"/>
            <a:ext cx="2011680" cy="505097"/>
          </a:xfrm>
          <a:prstGeom prst="rect">
            <a:avLst/>
          </a:prstGeom>
          <a:noFill/>
        </p:spPr>
        <p:txBody>
          <a:bodyPr wrap="square" anchor="ctr" lIns="0" rIns="0" tIns="0" bIns="0">
            <a:spAutoFit/>
          </a:bodyPr>
          <a:lstStyle/>
          <a:p>
            <a:pPr algn="r"/>
            <a:r>
              <a:rPr sz="1400" b="0" i="0">
                <a:solidFill>
                  <a:srgbClr val="1F2937"/>
                </a:solidFill>
                <a:latin typeface="Calibri"/>
              </a:rPr>
              <a:t>XR · Oculus Rift</a:t>
            </a:r>
          </a:p>
        </p:txBody>
      </p:sp>
      <p:sp>
        <p:nvSpPr>
          <p:cNvPr id="32" name="Rounded Rectangle 31"/>
          <p:cNvSpPr/>
          <p:nvPr/>
        </p:nvSpPr>
        <p:spPr>
          <a:xfrm>
            <a:off x="10789070" y="4179025"/>
            <a:ext cx="808265"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2016</a:t>
            </a:r>
          </a:p>
        </p:txBody>
      </p:sp>
      <p:sp>
        <p:nvSpPr>
          <p:cNvPr id="33" name="TextBox 32"/>
          <p:cNvSpPr txBox="1"/>
          <p:nvPr/>
        </p:nvSpPr>
        <p:spPr>
          <a:xfrm>
            <a:off x="4922215" y="4760322"/>
            <a:ext cx="2011680" cy="505097"/>
          </a:xfrm>
          <a:prstGeom prst="rect">
            <a:avLst/>
          </a:prstGeom>
          <a:noFill/>
        </p:spPr>
        <p:txBody>
          <a:bodyPr wrap="square" anchor="ctr" lIns="0" rIns="0" tIns="0" bIns="0">
            <a:spAutoFit/>
          </a:bodyPr>
          <a:lstStyle/>
          <a:p>
            <a:pPr algn="r"/>
            <a:r>
              <a:rPr sz="1400" b="0" i="0">
                <a:solidFill>
                  <a:srgbClr val="1F2937"/>
                </a:solidFill>
                <a:latin typeface="Calibri"/>
              </a:rPr>
              <a:t>Nube · GeForce Now</a:t>
            </a:r>
          </a:p>
        </p:txBody>
      </p:sp>
      <p:sp>
        <p:nvSpPr>
          <p:cNvPr id="34" name="Rounded Rectangle 33"/>
          <p:cNvSpPr/>
          <p:nvPr/>
        </p:nvSpPr>
        <p:spPr>
          <a:xfrm>
            <a:off x="11112376" y="4760322"/>
            <a:ext cx="484959"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426576" y="4760322"/>
            <a:ext cx="621792" cy="505097"/>
          </a:xfrm>
          <a:prstGeom prst="rect">
            <a:avLst/>
          </a:prstGeom>
          <a:noFill/>
        </p:spPr>
        <p:txBody>
          <a:bodyPr wrap="square" anchor="ctr" lIns="0" rIns="0" tIns="0" bIns="0">
            <a:spAutoFit/>
          </a:bodyPr>
          <a:lstStyle/>
          <a:p>
            <a:pPr algn="r"/>
            <a:r>
              <a:rPr sz="1300" b="1" i="0">
                <a:solidFill>
                  <a:srgbClr val="1F2937"/>
                </a:solidFill>
                <a:latin typeface="Calibri"/>
              </a:rPr>
              <a:t>2020</a:t>
            </a:r>
          </a:p>
        </p:txBody>
      </p:sp>
      <p:sp>
        <p:nvSpPr>
          <p:cNvPr id="36" name="TextBox 35"/>
          <p:cNvSpPr txBox="1"/>
          <p:nvPr/>
        </p:nvSpPr>
        <p:spPr>
          <a:xfrm>
            <a:off x="4922215" y="5669280"/>
            <a:ext cx="6766560" cy="320040"/>
          </a:xfrm>
          <a:prstGeom prst="rect">
            <a:avLst/>
          </a:prstGeom>
          <a:noFill/>
        </p:spPr>
        <p:txBody>
          <a:bodyPr wrap="square" anchor="ctr" lIns="0" rIns="0" tIns="0" bIns="0">
            <a:spAutoFit/>
          </a:bodyPr>
          <a:lstStyle/>
          <a:p>
            <a:pPr algn="r"/>
            <a:r>
              <a:rPr sz="1100" b="0" i="1">
                <a:solidFill>
                  <a:srgbClr val="6B7280"/>
                </a:solidFill>
                <a:latin typeface="Calibri"/>
              </a:rPr>
              <a:t>Cada barra: desde el hito que abre la época hasta 2026</a:t>
            </a:r>
          </a:p>
        </p:txBody>
      </p:sp>
      <p:sp>
        <p:nvSpPr>
          <p:cNvPr id="37" name="TextBox 36"/>
          <p:cNvSpPr txBox="1"/>
          <p:nvPr/>
        </p:nvSpPr>
        <p:spPr>
          <a:xfrm>
            <a:off x="502920" y="1234440"/>
            <a:ext cx="4144975" cy="4754880"/>
          </a:xfrm>
          <a:prstGeom prst="rect">
            <a:avLst/>
          </a:prstGeom>
          <a:noFill/>
        </p:spPr>
        <p:txBody>
          <a:bodyPr wrap="square" anchor="t" lIns="0" rIns="0" tIns="0" bIns="0">
            <a:spAutoFit/>
          </a:bodyPr>
          <a:lstStyle/>
          <a:p>
            <a:pPr>
              <a:spcAft>
                <a:spcPts val="800"/>
              </a:spcAft>
            </a:pPr>
            <a:r>
              <a:rPr sz="1400" b="1" i="0">
                <a:solidFill>
                  <a:srgbClr val="0D9488"/>
                </a:solidFill>
                <a:latin typeface="Calibri"/>
              </a:rPr>
              <a:t>■  </a:t>
            </a:r>
            <a:r>
              <a:rPr sz="2000" b="0" i="0">
                <a:solidFill>
                  <a:srgbClr val="1F2937"/>
                </a:solidFill>
                <a:latin typeface="Calibri"/>
              </a:rPr>
              <a:t>Arcade: la primera plataforma (Pong, 1972)</a:t>
            </a:r>
          </a:p>
          <a:p>
            <a:pPr>
              <a:spcAft>
                <a:spcPts val="800"/>
              </a:spcAft>
            </a:pPr>
            <a:r>
              <a:rPr sz="1400" b="1" i="0">
                <a:solidFill>
                  <a:srgbClr val="0D9488"/>
                </a:solidFill>
                <a:latin typeface="Calibri"/>
              </a:rPr>
              <a:t>■  </a:t>
            </a:r>
            <a:r>
              <a:rPr sz="2000" b="0" i="0">
                <a:solidFill>
                  <a:srgbClr val="1F2937"/>
                </a:solidFill>
                <a:latin typeface="Calibri"/>
              </a:rPr>
              <a:t>Consola doméstica y PC</a:t>
            </a:r>
          </a:p>
          <a:p>
            <a:pPr>
              <a:spcAft>
                <a:spcPts val="800"/>
              </a:spcAft>
            </a:pPr>
            <a:r>
              <a:rPr sz="1400" b="1" i="0">
                <a:solidFill>
                  <a:srgbClr val="0D9488"/>
                </a:solidFill>
                <a:latin typeface="Calibri"/>
              </a:rPr>
              <a:t>■  </a:t>
            </a:r>
            <a:r>
              <a:rPr sz="2000" b="0" i="0">
                <a:solidFill>
                  <a:srgbClr val="1F2937"/>
                </a:solidFill>
                <a:latin typeface="Calibri"/>
              </a:rPr>
              <a:t>Portátiles: Game Boy</a:t>
            </a:r>
          </a:p>
          <a:p>
            <a:pPr>
              <a:spcAft>
                <a:spcPts val="800"/>
              </a:spcAft>
            </a:pPr>
            <a:r>
              <a:rPr sz="1400" b="1" i="0">
                <a:solidFill>
                  <a:srgbClr val="0D9488"/>
                </a:solidFill>
                <a:latin typeface="Calibri"/>
              </a:rPr>
              <a:t>■  </a:t>
            </a:r>
            <a:r>
              <a:rPr sz="2000" b="0" i="0">
                <a:solidFill>
                  <a:srgbClr val="1F2937"/>
                </a:solidFill>
                <a:latin typeface="Calibri"/>
              </a:rPr>
              <a:t>Teléfono: el juego va en el bolsillo</a:t>
            </a:r>
          </a:p>
          <a:p>
            <a:pPr>
              <a:spcAft>
                <a:spcPts val="800"/>
              </a:spcAft>
            </a:pPr>
            <a:r>
              <a:rPr sz="1400" b="1" i="0">
                <a:solidFill>
                  <a:srgbClr val="0D9488"/>
                </a:solidFill>
                <a:latin typeface="Calibri"/>
              </a:rPr>
              <a:t>■  </a:t>
            </a:r>
            <a:r>
              <a:rPr sz="2000" b="0" i="0">
                <a:solidFill>
                  <a:srgbClr val="1F2937"/>
                </a:solidFill>
                <a:latin typeface="Calibri"/>
              </a:rPr>
              <a:t>Hoy: XR y nube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CONTEXTO HISTÓRICO</a:t>
            </a:r>
          </a:p>
          <a:p>
            <a:r>
              <a:rPr sz="2600" b="1" i="0">
                <a:solidFill>
                  <a:srgbClr val="FFFFFF"/>
                </a:solidFill>
                <a:latin typeface="Calibri"/>
              </a:rPr>
              <a:t>Clásicos del arcade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(blog); ESRB: Game Developer, "A Brief History of the ESRB"</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¿Qué diseño impone una máquina que cobra por partida?</a:t>
            </a:r>
          </a:p>
        </p:txBody>
      </p:sp>
      <p:sp>
        <p:nvSpPr>
          <p:cNvPr id="11" name="Rectangle 10"/>
          <p:cNvSpPr/>
          <p:nvPr/>
        </p:nvSpPr>
        <p:spPr>
          <a:xfrm>
            <a:off x="1325880" y="3181350"/>
            <a:ext cx="9539935" cy="381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499235" y="288036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417320"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2920" y="210312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1972  </a:t>
            </a:r>
            <a:r>
              <a:rPr sz="1200" b="1" i="0">
                <a:solidFill>
                  <a:srgbClr val="1F2937"/>
                </a:solidFill>
                <a:latin typeface="Calibri"/>
              </a:rPr>
              <a:t>Pong</a:t>
            </a:r>
          </a:p>
          <a:p>
            <a:pPr algn="ctr"/>
            <a:r>
              <a:rPr sz="1100" b="0" i="0">
                <a:solidFill>
                  <a:srgbClr val="6B7280"/>
                </a:solidFill>
                <a:latin typeface="Calibri"/>
              </a:rPr>
              <a:t>tenis en pantalla</a:t>
            </a:r>
          </a:p>
        </p:txBody>
      </p:sp>
      <p:sp>
        <p:nvSpPr>
          <p:cNvPr id="15" name="Rectangle 14"/>
          <p:cNvSpPr/>
          <p:nvPr/>
        </p:nvSpPr>
        <p:spPr>
          <a:xfrm>
            <a:off x="3028264" y="320040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946349"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031949" y="352044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1978  </a:t>
            </a:r>
            <a:r>
              <a:rPr sz="1200" b="1" i="0">
                <a:solidFill>
                  <a:srgbClr val="1F2937"/>
                </a:solidFill>
                <a:latin typeface="Calibri"/>
              </a:rPr>
              <a:t>Space Invaders</a:t>
            </a:r>
          </a:p>
          <a:p>
            <a:pPr algn="ctr"/>
            <a:r>
              <a:rPr sz="1100" b="0" i="0">
                <a:solidFill>
                  <a:srgbClr val="6B7280"/>
                </a:solidFill>
                <a:latin typeface="Calibri"/>
              </a:rPr>
              <a:t>nace el shooter</a:t>
            </a:r>
          </a:p>
        </p:txBody>
      </p:sp>
      <p:sp>
        <p:nvSpPr>
          <p:cNvPr id="18" name="Rectangle 17"/>
          <p:cNvSpPr/>
          <p:nvPr/>
        </p:nvSpPr>
        <p:spPr>
          <a:xfrm>
            <a:off x="4557293" y="288036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75378"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560978" y="210312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1980  </a:t>
            </a:r>
            <a:r>
              <a:rPr sz="1200" b="1" i="0">
                <a:solidFill>
                  <a:srgbClr val="1F2937"/>
                </a:solidFill>
                <a:latin typeface="Calibri"/>
              </a:rPr>
              <a:t>Pac-Man</a:t>
            </a:r>
          </a:p>
          <a:p>
            <a:pPr algn="ctr"/>
            <a:r>
              <a:rPr sz="1100" b="0" i="0">
                <a:solidFill>
                  <a:srgbClr val="6B7280"/>
                </a:solidFill>
                <a:latin typeface="Calibri"/>
              </a:rPr>
              <a:t>fenómeno cultural</a:t>
            </a:r>
          </a:p>
        </p:txBody>
      </p:sp>
      <p:sp>
        <p:nvSpPr>
          <p:cNvPr id="21" name="Rectangle 20"/>
          <p:cNvSpPr/>
          <p:nvPr/>
        </p:nvSpPr>
        <p:spPr>
          <a:xfrm>
            <a:off x="6086322" y="320040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004407"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90007" y="352044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1981  </a:t>
            </a:r>
            <a:r>
              <a:rPr sz="1200" b="1" i="0">
                <a:solidFill>
                  <a:srgbClr val="1F2937"/>
                </a:solidFill>
                <a:latin typeface="Calibri"/>
              </a:rPr>
              <a:t>Donkey Kong</a:t>
            </a:r>
          </a:p>
          <a:p>
            <a:pPr algn="ctr"/>
            <a:r>
              <a:rPr sz="1100" b="0" i="0">
                <a:solidFill>
                  <a:srgbClr val="6B7280"/>
                </a:solidFill>
                <a:latin typeface="Calibri"/>
              </a:rPr>
              <a:t>debuta Mario</a:t>
            </a:r>
          </a:p>
        </p:txBody>
      </p:sp>
      <p:sp>
        <p:nvSpPr>
          <p:cNvPr id="24" name="Rectangle 23"/>
          <p:cNvSpPr/>
          <p:nvPr/>
        </p:nvSpPr>
        <p:spPr>
          <a:xfrm>
            <a:off x="7615351" y="288036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533436"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619036" y="210312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1981  </a:t>
            </a:r>
            <a:r>
              <a:rPr sz="1200" b="1" i="0">
                <a:solidFill>
                  <a:srgbClr val="1F2937"/>
                </a:solidFill>
                <a:latin typeface="Calibri"/>
              </a:rPr>
              <a:t>Galaga</a:t>
            </a:r>
          </a:p>
          <a:p>
            <a:pPr algn="ctr"/>
            <a:r>
              <a:rPr sz="1100" b="0" i="0">
                <a:solidFill>
                  <a:srgbClr val="6B7280"/>
                </a:solidFill>
                <a:latin typeface="Calibri"/>
              </a:rPr>
              <a:t>riesgo y recompensa</a:t>
            </a:r>
          </a:p>
        </p:txBody>
      </p:sp>
      <p:sp>
        <p:nvSpPr>
          <p:cNvPr id="27" name="Rectangle 26"/>
          <p:cNvSpPr/>
          <p:nvPr/>
        </p:nvSpPr>
        <p:spPr>
          <a:xfrm>
            <a:off x="9144380" y="320040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062465"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148065" y="352044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1991  </a:t>
            </a:r>
            <a:r>
              <a:rPr sz="1200" b="1" i="0">
                <a:solidFill>
                  <a:srgbClr val="1F2937"/>
                </a:solidFill>
                <a:latin typeface="Calibri"/>
              </a:rPr>
              <a:t>Street Fighter II</a:t>
            </a:r>
          </a:p>
          <a:p>
            <a:pPr algn="ctr"/>
            <a:r>
              <a:rPr sz="1100" b="0" i="0">
                <a:solidFill>
                  <a:srgbClr val="6B7280"/>
                </a:solidFill>
                <a:latin typeface="Calibri"/>
              </a:rPr>
              <a:t>comunidad de pelea</a:t>
            </a:r>
          </a:p>
        </p:txBody>
      </p:sp>
      <p:sp>
        <p:nvSpPr>
          <p:cNvPr id="30" name="Rectangle 29"/>
          <p:cNvSpPr/>
          <p:nvPr/>
        </p:nvSpPr>
        <p:spPr>
          <a:xfrm>
            <a:off x="10673410" y="288036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591495"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677095" y="210312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1992  </a:t>
            </a:r>
            <a:r>
              <a:rPr sz="1200" b="1" i="0">
                <a:solidFill>
                  <a:srgbClr val="1F2937"/>
                </a:solidFill>
                <a:latin typeface="Calibri"/>
              </a:rPr>
              <a:t>Mortal Kombat</a:t>
            </a:r>
          </a:p>
          <a:p>
            <a:pPr algn="ctr"/>
            <a:r>
              <a:rPr sz="1100" b="0" i="0">
                <a:solidFill>
                  <a:srgbClr val="6B7280"/>
                </a:solidFill>
                <a:latin typeface="Calibri"/>
              </a:rPr>
              <a:t>lleva a la ESRB</a:t>
            </a:r>
          </a:p>
        </p:txBody>
      </p:sp>
      <p:sp>
        <p:nvSpPr>
          <p:cNvPr id="33" name="TextBox 32"/>
          <p:cNvSpPr txBox="1"/>
          <p:nvPr/>
        </p:nvSpPr>
        <p:spPr>
          <a:xfrm>
            <a:off x="502920" y="5166360"/>
            <a:ext cx="11185855" cy="274320"/>
          </a:xfrm>
          <a:prstGeom prst="rect">
            <a:avLst/>
          </a:prstGeom>
          <a:noFill/>
        </p:spPr>
        <p:txBody>
          <a:bodyPr wrap="square" anchor="ctr" lIns="0" rIns="0" tIns="0" bIns="0">
            <a:spAutoFit/>
          </a:bodyPr>
          <a:lstStyle/>
          <a:p>
            <a:pPr algn="r"/>
            <a:r>
              <a:rPr sz="1100" b="0" i="1">
                <a:solidFill>
                  <a:srgbClr val="6B7280"/>
                </a:solidFill>
                <a:latin typeface="Calibri"/>
              </a:rPr>
              <a:t>Orden cronológico: la separación entre hitos no es proporcional al tiempo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DISTRIBUCIÓN MÓVIL</a:t>
            </a:r>
          </a:p>
          <a:p>
            <a:r>
              <a:rPr sz="2600" b="1" i="0">
                <a:solidFill>
                  <a:srgbClr val="FFFFFF"/>
                </a:solidFill>
                <a:latin typeface="Calibri"/>
              </a:rPr>
              <a:t>Las tiendas cambiaron quién publica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8/21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(blog, consultado 2026-10-05)</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Si cualquiera puede publicar, ¿qué hace que un juego se encuentre?</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Estudios chicos llegan a millones</a:t>
            </a:r>
          </a:p>
          <a:p>
            <a:pPr>
              <a:spcAft>
                <a:spcPts val="800"/>
              </a:spcAft>
            </a:pPr>
            <a:r>
              <a:rPr sz="1600" b="1" i="0">
                <a:solidFill>
                  <a:srgbClr val="0D9488"/>
                </a:solidFill>
                <a:latin typeface="Calibri"/>
              </a:rPr>
              <a:t>■  </a:t>
            </a:r>
            <a:r>
              <a:rPr sz="2200" b="0" i="0">
                <a:solidFill>
                  <a:srgbClr val="1F2937"/>
                </a:solidFill>
                <a:latin typeface="Calibri"/>
              </a:rPr>
              <a:t>Éxitos casuales: Candy Crush, Clash of Clans</a:t>
            </a:r>
          </a:p>
          <a:p>
            <a:pPr>
              <a:spcAft>
                <a:spcPts val="800"/>
              </a:spcAft>
            </a:pPr>
            <a:r>
              <a:rPr sz="1600" b="1" i="0">
                <a:solidFill>
                  <a:srgbClr val="0D9488"/>
                </a:solidFill>
                <a:latin typeface="Calibri"/>
              </a:rPr>
              <a:t>■  </a:t>
            </a:r>
            <a:r>
              <a:rPr sz="2200" b="0" i="0">
                <a:solidFill>
                  <a:srgbClr val="1F2937"/>
                </a:solidFill>
                <a:latin typeface="Calibri"/>
              </a:rPr>
              <a:t>Éxito tardío: Among Us</a:t>
            </a:r>
          </a:p>
          <a:p>
            <a:pPr>
              <a:spcAft>
                <a:spcPts val="800"/>
              </a:spcAft>
            </a:pPr>
            <a:r>
              <a:rPr sz="1600" b="1" i="0">
                <a:solidFill>
                  <a:srgbClr val="0D9488"/>
                </a:solidFill>
                <a:latin typeface="Calibri"/>
              </a:rPr>
              <a:t>■  </a:t>
            </a:r>
            <a:r>
              <a:rPr sz="2200" b="0" i="0">
                <a:solidFill>
                  <a:srgbClr val="1F2937"/>
                </a:solidFill>
                <a:latin typeface="Calibri"/>
              </a:rPr>
              <a:t>Marcas grandes también: PUBG Mobile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a:t>
            </a:r>
          </a:p>
          <a:p>
            <a:r>
              <a:rPr sz="2600" b="1" i="0">
                <a:solidFill>
                  <a:srgbClr val="FFFFFF"/>
                </a:solidFill>
                <a:latin typeface="Calibri"/>
              </a:rPr>
              <a:t>Adentro del teléfono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9/21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Android Developers — ADPF; Arm GPU Best Practices §2.3</a:t>
            </a:r>
          </a:p>
        </p:txBody>
      </p:sp>
      <p:sp>
        <p:nvSpPr>
          <p:cNvPr id="9" name="TextBox 8"/>
          <p:cNvSpPr txBox="1"/>
          <p:nvPr/>
        </p:nvSpPr>
        <p:spPr>
          <a:xfrm>
            <a:off x="6019495" y="1234440"/>
            <a:ext cx="2697480" cy="411480"/>
          </a:xfrm>
          <a:prstGeom prst="rect">
            <a:avLst/>
          </a:prstGeom>
          <a:noFill/>
        </p:spPr>
        <p:txBody>
          <a:bodyPr wrap="square" anchor="ctr" lIns="0" rIns="0" tIns="0" bIns="0">
            <a:spAutoFit/>
          </a:bodyPr>
          <a:lstStyle/>
          <a:p>
            <a:pPr algn="ctr"/>
            <a:r>
              <a:rPr sz="1600" b="1" i="0">
                <a:solidFill>
                  <a:srgbClr val="0D9488"/>
                </a:solidFill>
                <a:latin typeface="Calibri"/>
              </a:rPr>
              <a:t>TELÉFONO</a:t>
            </a:r>
          </a:p>
        </p:txBody>
      </p:sp>
      <p:sp>
        <p:nvSpPr>
          <p:cNvPr id="10" name="Rounded Rectangle 9"/>
          <p:cNvSpPr/>
          <p:nvPr/>
        </p:nvSpPr>
        <p:spPr>
          <a:xfrm>
            <a:off x="6019495" y="1737360"/>
            <a:ext cx="2697480" cy="3520440"/>
          </a:xfrm>
          <a:prstGeom prst="roundRect">
            <a:avLst>
              <a:gd name="adj" fmla="val 8000"/>
            </a:avLst>
          </a:prstGeom>
          <a:solidFill>
            <a:srgbClr val="F3F4F6"/>
          </a:solidFill>
          <a:ln w="3175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93815" y="2670048"/>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FFFFFF"/>
                </a:solidFill>
                <a:latin typeface="Calibri"/>
              </a:rPr>
              <a:t>CPU</a:t>
            </a:r>
          </a:p>
        </p:txBody>
      </p:sp>
      <p:sp>
        <p:nvSpPr>
          <p:cNvPr id="12" name="Rounded Rectangle 11"/>
          <p:cNvSpPr/>
          <p:nvPr/>
        </p:nvSpPr>
        <p:spPr>
          <a:xfrm>
            <a:off x="6293815" y="3246120"/>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FFFFFF"/>
                </a:solidFill>
                <a:latin typeface="Calibri"/>
              </a:rPr>
              <a:t>GPU</a:t>
            </a:r>
          </a:p>
        </p:txBody>
      </p:sp>
      <p:sp>
        <p:nvSpPr>
          <p:cNvPr id="13" name="Rounded Rectangle 12"/>
          <p:cNvSpPr/>
          <p:nvPr/>
        </p:nvSpPr>
        <p:spPr>
          <a:xfrm>
            <a:off x="6293815" y="3822192"/>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FFFFFF"/>
                </a:solidFill>
                <a:latin typeface="Calibri"/>
              </a:rPr>
              <a:t>Memoria</a:t>
            </a:r>
          </a:p>
        </p:txBody>
      </p:sp>
      <p:sp>
        <p:nvSpPr>
          <p:cNvPr id="14" name="TextBox 13"/>
          <p:cNvSpPr txBox="1"/>
          <p:nvPr/>
        </p:nvSpPr>
        <p:spPr>
          <a:xfrm>
            <a:off x="6019495" y="5349240"/>
            <a:ext cx="2697480" cy="640080"/>
          </a:xfrm>
          <a:prstGeom prst="rect">
            <a:avLst/>
          </a:prstGeom>
          <a:noFill/>
        </p:spPr>
        <p:txBody>
          <a:bodyPr wrap="square" anchor="t" lIns="0" rIns="0" tIns="0" bIns="0">
            <a:spAutoFit/>
          </a:bodyPr>
          <a:lstStyle/>
          <a:p>
            <a:pPr algn="ctr"/>
            <a:r>
              <a:rPr sz="1400" b="0" i="0">
                <a:solidFill>
                  <a:srgbClr val="1F2937"/>
                </a:solidFill>
                <a:latin typeface="Calibri"/>
              </a:rPr>
              <a:t>Un solo chip (SoC), sin ventilador</a:t>
            </a:r>
          </a:p>
        </p:txBody>
      </p:sp>
      <p:sp>
        <p:nvSpPr>
          <p:cNvPr id="15" name="TextBox 14"/>
          <p:cNvSpPr txBox="1"/>
          <p:nvPr/>
        </p:nvSpPr>
        <p:spPr>
          <a:xfrm>
            <a:off x="8991295" y="1234440"/>
            <a:ext cx="2697480" cy="411480"/>
          </a:xfrm>
          <a:prstGeom prst="rect">
            <a:avLst/>
          </a:prstGeom>
          <a:noFill/>
        </p:spPr>
        <p:txBody>
          <a:bodyPr wrap="square" anchor="ctr" lIns="0" rIns="0" tIns="0" bIns="0">
            <a:spAutoFit/>
          </a:bodyPr>
          <a:lstStyle/>
          <a:p>
            <a:pPr algn="ctr"/>
            <a:r>
              <a:rPr sz="1600" b="1" i="0">
                <a:solidFill>
                  <a:srgbClr val="1F2A44"/>
                </a:solidFill>
                <a:latin typeface="Calibri"/>
              </a:rPr>
              <a:t>PC</a:t>
            </a:r>
          </a:p>
        </p:txBody>
      </p:sp>
      <p:sp>
        <p:nvSpPr>
          <p:cNvPr id="16" name="Rounded Rectangle 15"/>
          <p:cNvSpPr/>
          <p:nvPr/>
        </p:nvSpPr>
        <p:spPr>
          <a:xfrm>
            <a:off x="9265615" y="242316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FFFFFF"/>
                </a:solidFill>
                <a:latin typeface="Calibri"/>
              </a:rPr>
              <a:t>CPU</a:t>
            </a:r>
          </a:p>
        </p:txBody>
      </p:sp>
      <p:sp>
        <p:nvSpPr>
          <p:cNvPr id="17" name="Rounded Rectangle 16"/>
          <p:cNvSpPr/>
          <p:nvPr/>
        </p:nvSpPr>
        <p:spPr>
          <a:xfrm>
            <a:off x="9265615" y="324612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FFFFFF"/>
                </a:solidFill>
                <a:latin typeface="Calibri"/>
              </a:rPr>
              <a:t>GPU dedicada</a:t>
            </a:r>
          </a:p>
        </p:txBody>
      </p:sp>
      <p:sp>
        <p:nvSpPr>
          <p:cNvPr id="18" name="Rounded Rectangle 17"/>
          <p:cNvSpPr/>
          <p:nvPr/>
        </p:nvSpPr>
        <p:spPr>
          <a:xfrm>
            <a:off x="9265615" y="406908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FFFFFF"/>
                </a:solidFill>
                <a:latin typeface="Calibri"/>
              </a:rPr>
              <a:t>RAM</a:t>
            </a:r>
          </a:p>
        </p:txBody>
      </p:sp>
      <p:sp>
        <p:nvSpPr>
          <p:cNvPr id="19" name="TextBox 18"/>
          <p:cNvSpPr txBox="1"/>
          <p:nvPr/>
        </p:nvSpPr>
        <p:spPr>
          <a:xfrm>
            <a:off x="8991295" y="5349240"/>
            <a:ext cx="2697480" cy="640080"/>
          </a:xfrm>
          <a:prstGeom prst="rect">
            <a:avLst/>
          </a:prstGeom>
          <a:noFill/>
        </p:spPr>
        <p:txBody>
          <a:bodyPr wrap="square" anchor="t" lIns="0" rIns="0" tIns="0" bIns="0">
            <a:spAutoFit/>
          </a:bodyPr>
          <a:lstStyle/>
          <a:p>
            <a:pPr algn="ctr"/>
            <a:r>
              <a:rPr sz="1400" b="0" i="0">
                <a:solidFill>
                  <a:srgbClr val="1F2937"/>
                </a:solidFill>
                <a:latin typeface="Calibri"/>
              </a:rPr>
              <a:t>Componentes separados, con ventiladores</a:t>
            </a:r>
          </a:p>
        </p:txBody>
      </p:sp>
      <p:sp>
        <p:nvSpPr>
          <p:cNvPr id="20" name="TextBox 19"/>
          <p:cNvSpPr txBox="1"/>
          <p:nvPr/>
        </p:nvSpPr>
        <p:spPr>
          <a:xfrm>
            <a:off x="502920" y="1234440"/>
            <a:ext cx="52422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CPU, GPU y memoria en un chip (SoC)</a:t>
            </a:r>
          </a:p>
          <a:p>
            <a:pPr>
              <a:spcAft>
                <a:spcPts val="800"/>
              </a:spcAft>
            </a:pPr>
            <a:r>
              <a:rPr sz="1600" b="1" i="0">
                <a:solidFill>
                  <a:srgbClr val="0D9488"/>
                </a:solidFill>
                <a:latin typeface="Calibri"/>
              </a:rPr>
              <a:t>■  </a:t>
            </a:r>
            <a:r>
              <a:rPr sz="2200" b="0" i="0">
                <a:solidFill>
                  <a:srgbClr val="1F2937"/>
                </a:solidFill>
                <a:latin typeface="Calibri"/>
              </a:rPr>
              <a:t>Comparten energía y calor</a:t>
            </a:r>
          </a:p>
          <a:p>
            <a:pPr>
              <a:spcAft>
                <a:spcPts val="800"/>
              </a:spcAft>
            </a:pPr>
            <a:r>
              <a:rPr sz="1600" b="1" i="0">
                <a:solidFill>
                  <a:srgbClr val="0D9488"/>
                </a:solidFill>
                <a:latin typeface="Calibri"/>
              </a:rPr>
              <a:t>■  </a:t>
            </a:r>
            <a:r>
              <a:rPr sz="2200" b="0" i="0">
                <a:solidFill>
                  <a:srgbClr val="1F2937"/>
                </a:solidFill>
                <a:latin typeface="Calibri"/>
              </a:rPr>
              <a:t>Núcleos y relojes variables</a:t>
            </a:r>
          </a:p>
          <a:p>
            <a:pPr>
              <a:spcAft>
                <a:spcPts val="800"/>
              </a:spcAft>
            </a:pPr>
            <a:r>
              <a:rPr sz="1600" b="1" i="0">
                <a:solidFill>
                  <a:srgbClr val="0D9488"/>
                </a:solidFill>
                <a:latin typeface="Calibri"/>
              </a:rPr>
              <a:t>■  </a:t>
            </a:r>
            <a:r>
              <a:rPr sz="2200" b="0" i="0">
                <a:solidFill>
                  <a:srgbClr val="1F2937"/>
                </a:solidFill>
                <a:latin typeface="Calibri"/>
              </a:rPr>
              <a:t>Sin ventilador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a:t>
            </a:r>
          </a:p>
          <a:p>
            <a:r>
              <a:rPr sz="2600" b="1" i="0">
                <a:solidFill>
                  <a:srgbClr val="FFFFFF"/>
                </a:solidFill>
                <a:latin typeface="Calibri"/>
              </a:rPr>
              <a:t>Dibujar dos veces cuesta más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10/21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Apple — Tailor your apps for Apple GPUs and TBDR; Arm GPU Best Practices §2.3, p. 15</a:t>
            </a:r>
          </a:p>
        </p:txBody>
      </p:sp>
      <p:sp>
        <p:nvSpPr>
          <p:cNvPr id="9" name="Rounded Rectangle 8"/>
          <p:cNvSpPr/>
          <p:nvPr/>
        </p:nvSpPr>
        <p:spPr>
          <a:xfrm>
            <a:off x="5928055" y="1325880"/>
            <a:ext cx="2286000" cy="4572000"/>
          </a:xfrm>
          <a:prstGeom prst="roundRect">
            <a:avLst>
              <a:gd name="adj" fmla="val 8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37783" y="1545336"/>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54419" y="1545336"/>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71055" y="1545336"/>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87691" y="1545336"/>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37783" y="2135777"/>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54419" y="2135777"/>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071055" y="2135777"/>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87691" y="2135777"/>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37783" y="2726218"/>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54419" y="2726218"/>
            <a:ext cx="516636" cy="590441"/>
          </a:xfrm>
          <a:prstGeom prst="rect">
            <a:avLst/>
          </a:prstGeom>
          <a:solidFill>
            <a:srgbClr val="0D9488"/>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71055" y="2726218"/>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587691" y="2726218"/>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37783" y="3316659"/>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54419" y="3316659"/>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71055" y="3316659"/>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587691" y="3316659"/>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37783" y="3907100"/>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554419" y="3907100"/>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071055" y="3907100"/>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587691" y="3907100"/>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37783" y="4497541"/>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54419" y="4497541"/>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071055" y="4497541"/>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587691" y="4497541"/>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37783" y="5087982"/>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54419" y="5087982"/>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71055" y="5087982"/>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587691" y="5087982"/>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071055" y="3008738"/>
            <a:ext cx="1874520" cy="254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037015" y="1783080"/>
            <a:ext cx="1280160" cy="1280160"/>
          </a:xfrm>
          <a:prstGeom prst="rect">
            <a:avLst/>
          </a:prstGeom>
          <a:solidFill>
            <a:srgbClr val="CCFBF1"/>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311335" y="2057400"/>
            <a:ext cx="1280160" cy="1280160"/>
          </a:xfrm>
          <a:prstGeom prst="rect">
            <a:avLst/>
          </a:prstGeom>
          <a:solidFill>
            <a:srgbClr val="5EEAD4"/>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585655" y="2331720"/>
            <a:ext cx="1280160" cy="1280160"/>
          </a:xfrm>
          <a:prstGeom prst="rect">
            <a:avLst/>
          </a:prstGeom>
          <a:solidFill>
            <a:srgbClr val="0D9488"/>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854135" y="1325880"/>
            <a:ext cx="2377440" cy="365760"/>
          </a:xfrm>
          <a:prstGeom prst="rect">
            <a:avLst/>
          </a:prstGeom>
          <a:noFill/>
        </p:spPr>
        <p:txBody>
          <a:bodyPr wrap="square" anchor="ctr" lIns="0" rIns="0" tIns="0" bIns="0">
            <a:spAutoFit/>
          </a:bodyPr>
          <a:lstStyle/>
          <a:p>
            <a:r>
              <a:rPr sz="1500" b="1" i="0">
                <a:solidFill>
                  <a:srgbClr val="1F2937"/>
                </a:solidFill>
                <a:latin typeface="Calibri"/>
              </a:rPr>
              <a:t>1 tile ampliado</a:t>
            </a:r>
          </a:p>
        </p:txBody>
      </p:sp>
      <p:sp>
        <p:nvSpPr>
          <p:cNvPr id="43" name="TextBox 42"/>
          <p:cNvSpPr txBox="1"/>
          <p:nvPr/>
        </p:nvSpPr>
        <p:spPr>
          <a:xfrm>
            <a:off x="8854135" y="3749040"/>
            <a:ext cx="2834640" cy="1097280"/>
          </a:xfrm>
          <a:prstGeom prst="rect">
            <a:avLst/>
          </a:prstGeom>
          <a:noFill/>
        </p:spPr>
        <p:txBody>
          <a:bodyPr wrap="square" anchor="t" lIns="0" rIns="0" tIns="0" bIns="0">
            <a:spAutoFit/>
          </a:bodyPr>
          <a:lstStyle/>
          <a:p>
            <a:r>
              <a:rPr sz="1500" b="0" i="0">
                <a:solidFill>
                  <a:srgbClr val="1F2937"/>
                </a:solidFill>
                <a:latin typeface="Calibri"/>
              </a:rPr>
              <a:t>Partículas superpuestas: el mismo píxel se pinta 3 veces (overdraw)</a:t>
            </a:r>
          </a:p>
        </p:txBody>
      </p:sp>
      <p:sp>
        <p:nvSpPr>
          <p:cNvPr id="44" name="TextBox 43"/>
          <p:cNvSpPr txBox="1"/>
          <p:nvPr/>
        </p:nvSpPr>
        <p:spPr>
          <a:xfrm>
            <a:off x="502920" y="1234440"/>
            <a:ext cx="505937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GPU por tiles (TBDR)</a:t>
            </a:r>
          </a:p>
          <a:p>
            <a:pPr>
              <a:spcAft>
                <a:spcPts val="800"/>
              </a:spcAft>
            </a:pPr>
            <a:r>
              <a:rPr sz="1600" b="1" i="0">
                <a:solidFill>
                  <a:srgbClr val="0D9488"/>
                </a:solidFill>
                <a:latin typeface="Calibri"/>
              </a:rPr>
              <a:t>■  </a:t>
            </a:r>
            <a:r>
              <a:rPr sz="2200" b="0" i="0">
                <a:solidFill>
                  <a:srgbClr val="1F2937"/>
                </a:solidFill>
                <a:latin typeface="Calibri"/>
              </a:rPr>
              <a:t>Memoria = ancho de banda = batería</a:t>
            </a:r>
          </a:p>
          <a:p>
            <a:pPr>
              <a:spcAft>
                <a:spcPts val="800"/>
              </a:spcAft>
            </a:pPr>
            <a:r>
              <a:rPr sz="1600" b="1" i="0">
                <a:solidFill>
                  <a:srgbClr val="0D9488"/>
                </a:solidFill>
                <a:latin typeface="Calibri"/>
              </a:rPr>
              <a:t>■  </a:t>
            </a:r>
            <a:r>
              <a:rPr sz="2200" b="0" i="0">
                <a:solidFill>
                  <a:srgbClr val="1F2937"/>
                </a:solidFill>
                <a:latin typeface="Calibri"/>
              </a:rPr>
              <a:t>Overdraw: el mismo píxel varias veces</a:t>
            </a:r>
          </a:p>
          <a:p>
            <a:pPr>
              <a:spcAft>
                <a:spcPts val="800"/>
              </a:spcAft>
            </a:pPr>
            <a:r>
              <a:rPr sz="1600" b="1" i="0">
                <a:solidFill>
                  <a:srgbClr val="0D9488"/>
                </a:solidFill>
                <a:latin typeface="Calibri"/>
              </a:rPr>
              <a:t>■  </a:t>
            </a:r>
            <a:r>
              <a:rPr sz="2200" b="0" i="0">
                <a:solidFill>
                  <a:srgbClr val="1F2937"/>
                </a:solidFill>
                <a:latin typeface="Calibri"/>
              </a:rPr>
              <a:t>Partículas y transparencias pesan más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 · CONCEPTO CLAVE</a:t>
            </a:r>
          </a:p>
          <a:p>
            <a:r>
              <a:rPr sz="2600" b="1" i="0">
                <a:solidFill>
                  <a:srgbClr val="FFFFFF"/>
                </a:solidFill>
                <a:latin typeface="Calibri"/>
              </a:rPr>
              <a:t>Pico vs. sostenido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11/21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e-book Optimize… mobile, XR and web (Unity 6), p. 19; Android Thermal API</a:t>
            </a:r>
          </a:p>
        </p:txBody>
      </p:sp>
      <p:sp>
        <p:nvSpPr>
          <p:cNvPr id="9" name="Rectangle 8"/>
          <p:cNvSpPr/>
          <p:nvPr/>
        </p:nvSpPr>
        <p:spPr>
          <a:xfrm>
            <a:off x="502920" y="5577840"/>
            <a:ext cx="109728" cy="4572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C2626"/>
                </a:solidFill>
                <a:latin typeface="Calibri"/>
              </a:rPr>
              <a:t>VIDEO  </a:t>
            </a:r>
            <a:r>
              <a:rPr sz="1400" b="0" i="0">
                <a:solidFill>
                  <a:srgbClr val="1F2937"/>
                </a:solidFill>
                <a:latin typeface="Calibri"/>
              </a:rPr>
              <a:t>WWDC19 sesión 422 (Apple), 19:40–31:00 — tarea</a:t>
            </a:r>
          </a:p>
        </p:txBody>
      </p:sp>
      <p:sp>
        <p:nvSpPr>
          <p:cNvPr id="11" name="Rectangle 10"/>
          <p:cNvSpPr/>
          <p:nvPr/>
        </p:nvSpPr>
        <p:spPr>
          <a:xfrm>
            <a:off x="502920" y="502920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2648" y="502920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¿Cómo medirían que un juego es "estable"?</a:t>
            </a:r>
          </a:p>
        </p:txBody>
      </p:sp>
      <p:sp>
        <p:nvSpPr>
          <p:cNvPr id="13" name="Rounded Rectangle 12"/>
          <p:cNvSpPr/>
          <p:nvPr/>
        </p:nvSpPr>
        <p:spPr>
          <a:xfrm>
            <a:off x="7116775" y="1234440"/>
            <a:ext cx="4572000" cy="550926"/>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Uso intenso del chip</a:t>
            </a:r>
          </a:p>
        </p:txBody>
      </p:sp>
      <p:sp>
        <p:nvSpPr>
          <p:cNvPr id="14" name="Down Arrow 13"/>
          <p:cNvSpPr/>
          <p:nvPr/>
        </p:nvSpPr>
        <p:spPr>
          <a:xfrm>
            <a:off x="9201607" y="1821942"/>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116775" y="2132838"/>
            <a:ext cx="4572000" cy="550926"/>
          </a:xfrm>
          <a:prstGeom prst="roundRect">
            <a:avLst>
              <a:gd name="adj" fmla="val 20000"/>
            </a:avLst>
          </a:prstGeom>
          <a:solidFill>
            <a:srgbClr val="F3F4F6"/>
          </a:solidFill>
          <a:ln w="254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Sube la temperatura</a:t>
            </a:r>
          </a:p>
        </p:txBody>
      </p:sp>
      <p:sp>
        <p:nvSpPr>
          <p:cNvPr id="16" name="Down Arrow 15"/>
          <p:cNvSpPr/>
          <p:nvPr/>
        </p:nvSpPr>
        <p:spPr>
          <a:xfrm>
            <a:off x="9201607" y="2720340"/>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116775" y="3031236"/>
            <a:ext cx="4572000" cy="550926"/>
          </a:xfrm>
          <a:prstGeom prst="roundRect">
            <a:avLst>
              <a:gd name="adj" fmla="val 20000"/>
            </a:avLst>
          </a:prstGeom>
          <a:solidFill>
            <a:srgbClr val="F3F4F6"/>
          </a:solidFill>
          <a:ln w="254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Throttling: baja la frecuencia</a:t>
            </a:r>
          </a:p>
        </p:txBody>
      </p:sp>
      <p:sp>
        <p:nvSpPr>
          <p:cNvPr id="18" name="Down Arrow 17"/>
          <p:cNvSpPr/>
          <p:nvPr/>
        </p:nvSpPr>
        <p:spPr>
          <a:xfrm>
            <a:off x="9201607" y="3618738"/>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116775" y="3929634"/>
            <a:ext cx="4572000" cy="550926"/>
          </a:xfrm>
          <a:prstGeom prst="roundRect">
            <a:avLst>
              <a:gd name="adj" fmla="val 20000"/>
            </a:avLst>
          </a:prstGeom>
          <a:solidFill>
            <a:srgbClr val="F3F4F6"/>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Caen los fps</a:t>
            </a:r>
          </a:p>
        </p:txBody>
      </p:sp>
      <p:sp>
        <p:nvSpPr>
          <p:cNvPr id="20" name="TextBox 19"/>
          <p:cNvSpPr txBox="1"/>
          <p:nvPr/>
        </p:nvSpPr>
        <p:spPr>
          <a:xfrm>
            <a:off x="7116775" y="4572000"/>
            <a:ext cx="4572000" cy="320040"/>
          </a:xfrm>
          <a:prstGeom prst="rect">
            <a:avLst/>
          </a:prstGeom>
          <a:noFill/>
        </p:spPr>
        <p:txBody>
          <a:bodyPr wrap="square" anchor="ctr" lIns="0" rIns="0" tIns="0" bIns="0">
            <a:spAutoFit/>
          </a:bodyPr>
          <a:lstStyle/>
          <a:p>
            <a:pPr algn="ctr"/>
            <a:r>
              <a:rPr sz="1300" b="0" i="1">
                <a:solidFill>
                  <a:srgbClr val="6B7280"/>
                </a:solidFill>
                <a:latin typeface="Calibri"/>
              </a:rPr>
              <a:t>Por eso importa el fps del minuto 10</a:t>
            </a:r>
          </a:p>
        </p:txBody>
      </p:sp>
      <p:sp>
        <p:nvSpPr>
          <p:cNvPr id="21" name="TextBox 20"/>
          <p:cNvSpPr txBox="1"/>
          <p:nvPr/>
        </p:nvSpPr>
        <p:spPr>
          <a:xfrm>
            <a:off x="502920" y="1234440"/>
            <a:ext cx="6339535" cy="365760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Calor → throttling → caen los fps</a:t>
            </a:r>
          </a:p>
          <a:p>
            <a:pPr>
              <a:spcAft>
                <a:spcPts val="800"/>
              </a:spcAft>
            </a:pPr>
            <a:r>
              <a:rPr sz="1600" b="1" i="0">
                <a:solidFill>
                  <a:srgbClr val="0D9488"/>
                </a:solidFill>
                <a:latin typeface="Calibri"/>
              </a:rPr>
              <a:t>■  </a:t>
            </a:r>
            <a:r>
              <a:rPr sz="2200" b="0" i="0">
                <a:solidFill>
                  <a:srgbClr val="1F2937"/>
                </a:solidFill>
                <a:latin typeface="Calibri"/>
              </a:rPr>
              <a:t>Importa el minuto 10, no el 1</a:t>
            </a:r>
          </a:p>
          <a:p>
            <a:pPr>
              <a:spcAft>
                <a:spcPts val="800"/>
              </a:spcAft>
            </a:pPr>
            <a:r>
              <a:rPr sz="1600" b="1" i="0">
                <a:solidFill>
                  <a:srgbClr val="0D9488"/>
                </a:solidFill>
                <a:latin typeface="Calibri"/>
              </a:rPr>
              <a:t>■  </a:t>
            </a:r>
            <a:r>
              <a:rPr sz="2200" b="0" i="0">
                <a:solidFill>
                  <a:srgbClr val="1F2937"/>
                </a:solidFill>
                <a:latin typeface="Calibri"/>
              </a:rPr>
              <a:t>Usar ~65 % del tiempo de frame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 · BATERÍA</a:t>
            </a:r>
          </a:p>
          <a:p>
            <a:r>
              <a:rPr sz="2600" b="1" i="0">
                <a:solidFill>
                  <a:srgbClr val="FFFFFF"/>
                </a:solidFill>
                <a:latin typeface="Calibri"/>
              </a:rPr>
              <a:t>30 fps no es un error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12/21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Scripting API — Application.targetFrameRate; Android — Optimize power efficiency</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Unity móvil: 30 fps por defecto</a:t>
            </a:r>
          </a:p>
          <a:p>
            <a:pPr>
              <a:spcAft>
                <a:spcPts val="800"/>
              </a:spcAft>
            </a:pPr>
            <a:r>
              <a:rPr sz="1600" b="1" i="0">
                <a:solidFill>
                  <a:srgbClr val="0D9488"/>
                </a:solidFill>
                <a:latin typeface="Calibri"/>
              </a:rPr>
              <a:t>■  </a:t>
            </a:r>
            <a:r>
              <a:rPr sz="2200" b="0" i="0">
                <a:solidFill>
                  <a:srgbClr val="1F2937"/>
                </a:solidFill>
                <a:latin typeface="Calibri"/>
              </a:rPr>
              <a:t>60 fps = el doble de trabajo</a:t>
            </a:r>
          </a:p>
          <a:p>
            <a:pPr>
              <a:spcAft>
                <a:spcPts val="800"/>
              </a:spcAft>
            </a:pPr>
            <a:r>
              <a:rPr sz="1600" b="1" i="0">
                <a:solidFill>
                  <a:srgbClr val="0D9488"/>
                </a:solidFill>
                <a:latin typeface="Calibri"/>
              </a:rPr>
              <a:t>■  </a:t>
            </a:r>
            <a:r>
              <a:rPr sz="2200" b="0" i="0">
                <a:solidFill>
                  <a:srgbClr val="1F2937"/>
                </a:solidFill>
                <a:latin typeface="Calibri"/>
              </a:rPr>
              <a:t>El fps es una decisión de diseño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 · CICLO DE VIDA</a:t>
            </a:r>
          </a:p>
          <a:p>
            <a:r>
              <a:rPr sz="2600" b="1" i="0">
                <a:solidFill>
                  <a:srgbClr val="FFFFFF"/>
                </a:solidFill>
                <a:latin typeface="Calibri"/>
              </a:rPr>
              <a:t>El sistema operativo manda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13/21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Android — Low memory killers (2026-09-21); Apple — applicationDidReceiveMemoryWarning</a:t>
            </a:r>
          </a:p>
        </p:txBody>
      </p:sp>
      <p:sp>
        <p:nvSpPr>
          <p:cNvPr id="9" name="Rounded Rectangle 8"/>
          <p:cNvSpPr/>
          <p:nvPr/>
        </p:nvSpPr>
        <p:spPr>
          <a:xfrm>
            <a:off x="7116775" y="1513332"/>
            <a:ext cx="4572000" cy="685800"/>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Jugando</a:t>
            </a:r>
          </a:p>
        </p:txBody>
      </p:sp>
      <p:sp>
        <p:nvSpPr>
          <p:cNvPr id="10" name="Down Arrow 9"/>
          <p:cNvSpPr/>
          <p:nvPr/>
        </p:nvSpPr>
        <p:spPr>
          <a:xfrm>
            <a:off x="9201607" y="2235708"/>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116775" y="2546604"/>
            <a:ext cx="4572000" cy="685800"/>
          </a:xfrm>
          <a:prstGeom prst="roundRect">
            <a:avLst>
              <a:gd name="adj" fmla="val 20000"/>
            </a:avLst>
          </a:prstGeom>
          <a:solidFill>
            <a:srgbClr val="F3F4F6"/>
          </a:solidFill>
          <a:ln w="254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Llamada o cambio de app</a:t>
            </a:r>
          </a:p>
        </p:txBody>
      </p:sp>
      <p:sp>
        <p:nvSpPr>
          <p:cNvPr id="12" name="Down Arrow 11"/>
          <p:cNvSpPr/>
          <p:nvPr/>
        </p:nvSpPr>
        <p:spPr>
          <a:xfrm>
            <a:off x="9201607" y="3268980"/>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116775" y="3579876"/>
            <a:ext cx="4572000" cy="685800"/>
          </a:xfrm>
          <a:prstGeom prst="roundRect">
            <a:avLst>
              <a:gd name="adj" fmla="val 20000"/>
            </a:avLst>
          </a:prstGeom>
          <a:solidFill>
            <a:srgbClr val="F3F4F6"/>
          </a:solidFill>
          <a:ln w="254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Segundo plano</a:t>
            </a:r>
          </a:p>
        </p:txBody>
      </p:sp>
      <p:sp>
        <p:nvSpPr>
          <p:cNvPr id="14" name="Down Arrow 13"/>
          <p:cNvSpPr/>
          <p:nvPr/>
        </p:nvSpPr>
        <p:spPr>
          <a:xfrm>
            <a:off x="9201607" y="4302252"/>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116775" y="4613148"/>
            <a:ext cx="4572000" cy="685800"/>
          </a:xfrm>
          <a:prstGeom prst="roundRect">
            <a:avLst>
              <a:gd name="adj" fmla="val 20000"/>
            </a:avLst>
          </a:prstGeom>
          <a:solidFill>
            <a:srgbClr val="F3F4F6"/>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Falta memoria: el sistema cierra el juego</a:t>
            </a:r>
          </a:p>
        </p:txBody>
      </p:sp>
      <p:sp>
        <p:nvSpPr>
          <p:cNvPr id="16" name="TextBox 15"/>
          <p:cNvSpPr txBox="1"/>
          <p:nvPr/>
        </p:nvSpPr>
        <p:spPr>
          <a:xfrm>
            <a:off x="7116775" y="5390388"/>
            <a:ext cx="4572000" cy="320040"/>
          </a:xfrm>
          <a:prstGeom prst="rect">
            <a:avLst/>
          </a:prstGeom>
          <a:noFill/>
        </p:spPr>
        <p:txBody>
          <a:bodyPr wrap="square" anchor="ctr" lIns="0" rIns="0" tIns="0" bIns="0">
            <a:spAutoFit/>
          </a:bodyPr>
          <a:lstStyle/>
          <a:p>
            <a:pPr algn="ctr"/>
            <a:r>
              <a:rPr sz="1300" b="0" i="1">
                <a:solidFill>
                  <a:srgbClr val="6B7280"/>
                </a:solidFill>
                <a:latin typeface="Calibri"/>
              </a:rPr>
              <a:t>Si no se guardó el estado, la partida se pierde</a:t>
            </a:r>
          </a:p>
        </p:txBody>
      </p:sp>
      <p:sp>
        <p:nvSpPr>
          <p:cNvPr id="17" name="TextBox 16"/>
          <p:cNvSpPr txBox="1"/>
          <p:nvPr/>
        </p:nvSpPr>
        <p:spPr>
          <a:xfrm>
            <a:off x="502920" y="1234440"/>
            <a:ext cx="633953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Salir de la app = segundo plano</a:t>
            </a:r>
          </a:p>
          <a:p>
            <a:pPr>
              <a:spcAft>
                <a:spcPts val="800"/>
              </a:spcAft>
            </a:pPr>
            <a:r>
              <a:rPr sz="1600" b="1" i="0">
                <a:solidFill>
                  <a:srgbClr val="0D9488"/>
                </a:solidFill>
                <a:latin typeface="Calibri"/>
              </a:rPr>
              <a:t>■  </a:t>
            </a:r>
            <a:r>
              <a:rPr sz="2200" b="0" i="0">
                <a:solidFill>
                  <a:srgbClr val="1F2937"/>
                </a:solidFill>
                <a:latin typeface="Calibri"/>
              </a:rPr>
              <a:t>Sin memoria, el SO cierra procesos</a:t>
            </a:r>
          </a:p>
          <a:p>
            <a:pPr>
              <a:spcAft>
                <a:spcPts val="800"/>
              </a:spcAft>
            </a:pPr>
            <a:r>
              <a:rPr sz="1600" b="1" i="0">
                <a:solidFill>
                  <a:srgbClr val="0D9488"/>
                </a:solidFill>
                <a:latin typeface="Calibri"/>
              </a:rPr>
              <a:t>■  </a:t>
            </a:r>
            <a:r>
              <a:rPr sz="2200" b="0" i="0">
                <a:solidFill>
                  <a:srgbClr val="1F2937"/>
                </a:solidFill>
                <a:latin typeface="Calibri"/>
              </a:rPr>
              <a:t>onTrimMemory no lo evita</a:t>
            </a:r>
          </a:p>
          <a:p>
            <a:pPr>
              <a:spcAft>
                <a:spcPts val="800"/>
              </a:spcAft>
            </a:pPr>
            <a:r>
              <a:rPr sz="1600" b="1" i="0">
                <a:solidFill>
                  <a:srgbClr val="0D9488"/>
                </a:solidFill>
                <a:latin typeface="Calibri"/>
              </a:rPr>
              <a:t>■  </a:t>
            </a:r>
            <a:r>
              <a:rPr sz="2200" b="0" i="0">
                <a:solidFill>
                  <a:srgbClr val="1F2937"/>
                </a:solidFill>
                <a:latin typeface="Calibri"/>
              </a:rPr>
              <a:t>Diseño: guardar estado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 · UNITY</a:t>
            </a:r>
          </a:p>
          <a:p>
            <a:r>
              <a:rPr sz="2600" b="1" i="0">
                <a:solidFill>
                  <a:srgbClr val="FFFFFF"/>
                </a:solidFill>
                <a:latin typeface="Calibri"/>
              </a:rPr>
              <a:t>Qué hace Unity con eso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14/21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Scripting API — MonoBehaviour.OnApplicationPause / OnApplicationFocus</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OnApplicationPause(bool)</a:t>
            </a:r>
          </a:p>
          <a:p>
            <a:pPr>
              <a:spcAft>
                <a:spcPts val="800"/>
              </a:spcAft>
            </a:pPr>
            <a:r>
              <a:rPr sz="1600" b="1" i="0">
                <a:solidFill>
                  <a:srgbClr val="0D9488"/>
                </a:solidFill>
                <a:latin typeface="Calibri"/>
              </a:rPr>
              <a:t>■  </a:t>
            </a:r>
            <a:r>
              <a:rPr sz="2200" b="0" i="0">
                <a:solidFill>
                  <a:srgbClr val="1F2937"/>
                </a:solidFill>
                <a:latin typeface="Calibri"/>
              </a:rPr>
              <a:t>OnApplicationFocus(bool)</a:t>
            </a:r>
          </a:p>
          <a:p>
            <a:pPr>
              <a:spcAft>
                <a:spcPts val="800"/>
              </a:spcAft>
            </a:pPr>
            <a:r>
              <a:rPr sz="1600" b="1" i="0">
                <a:solidFill>
                  <a:srgbClr val="0D9488"/>
                </a:solidFill>
                <a:latin typeface="Calibri"/>
              </a:rPr>
              <a:t>■  </a:t>
            </a:r>
            <a:r>
              <a:rPr sz="2200" b="0" i="0">
                <a:solidFill>
                  <a:srgbClr val="1F2937"/>
                </a:solidFill>
                <a:latin typeface="Calibri"/>
              </a:rPr>
              <a:t>Teclado en Android → pierde el foco</a:t>
            </a:r>
          </a:p>
          <a:p>
            <a:pPr>
              <a:spcAft>
                <a:spcPts val="800"/>
              </a:spcAft>
            </a:pPr>
            <a:r>
              <a:rPr sz="1600" b="1" i="0">
                <a:solidFill>
                  <a:srgbClr val="0D9488"/>
                </a:solidFill>
                <a:latin typeface="Calibri"/>
              </a:rPr>
              <a:t>■  </a:t>
            </a:r>
            <a:r>
              <a:rPr sz="2200" b="0" i="0">
                <a:solidFill>
                  <a:srgbClr val="1F2937"/>
                </a:solidFill>
                <a:latin typeface="Calibri"/>
              </a:rPr>
              <a:t>Asteroides no los usa (S8)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15 MIN · PAREJAS</a:t>
            </a:r>
          </a:p>
          <a:p>
            <a:r>
              <a:rPr sz="2600" b="1" i="0">
                <a:solidFill>
                  <a:srgbClr val="FFFFFF"/>
                </a:solidFill>
                <a:latin typeface="Calibri"/>
              </a:rPr>
              <a:t>Actividad A4.1 — Diagnóstico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15/21</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Una restricción por fila. Prohibido "el teléfono es lento".</a:t>
            </a:r>
          </a:p>
        </p:txBody>
      </p:sp>
      <p:graphicFrame>
        <p:nvGraphicFramePr>
          <p:cNvPr id="10" name="Table 9"/>
          <p:cNvGraphicFramePr>
            <a:graphicFrameLocks noGrp="1"/>
          </p:cNvGraphicFramePr>
          <p:nvPr/>
        </p:nvGraphicFramePr>
        <p:xfrm>
          <a:off x="502920" y="1234440"/>
          <a:ext cx="11185853" cy="3968496"/>
        </p:xfrm>
        <a:graphic>
          <a:graphicData uri="http://schemas.openxmlformats.org/drawingml/2006/table">
            <a:tbl>
              <a:tblPr firstRow="1" bandRow="1">
                <a:tableStyleId>{5C22544A-7EE6-4342-B048-85BDC9FD1C3A}</a:tableStyleId>
              </a:tblPr>
              <a:tblGrid>
                <a:gridCol w="5022220"/>
                <a:gridCol w="2168686"/>
                <a:gridCol w="1940403"/>
                <a:gridCol w="2054544"/>
              </a:tblGrid>
              <a:tr h="566928">
                <a:tc>
                  <a:txBody>
                    <a:bodyPr wrap="square"/>
                    <a:lstStyle/>
                    <a:p>
                      <a:r>
                        <a:rPr sz="1200" b="1" i="0">
                          <a:solidFill>
                            <a:srgbClr val="FFFFFF"/>
                          </a:solidFill>
                          <a:latin typeface="Calibri"/>
                        </a:rPr>
                        <a:t>Reporte del jugador</a:t>
                      </a:r>
                    </a:p>
                  </a:txBody>
                  <a:tcPr marL="73152" marR="73152" marT="36576" marB="36576" anchor="ctr">
                    <a:solidFill>
                      <a:srgbClr val="0D9488"/>
                    </a:solidFill>
                  </a:tcPr>
                </a:tc>
                <a:tc>
                  <a:txBody>
                    <a:bodyPr wrap="square"/>
                    <a:lstStyle/>
                    <a:p>
                      <a:r>
                        <a:rPr sz="1200" b="1" i="0">
                          <a:solidFill>
                            <a:srgbClr val="FFFFFF"/>
                          </a:solidFill>
                          <a:latin typeface="Calibri"/>
                        </a:rPr>
                        <a:t>¿Restricción?</a:t>
                      </a:r>
                    </a:p>
                  </a:txBody>
                  <a:tcPr marL="73152" marR="73152" marT="36576" marB="36576" anchor="ctr">
                    <a:solidFill>
                      <a:srgbClr val="0D9488"/>
                    </a:solidFill>
                  </a:tcPr>
                </a:tc>
                <a:tc>
                  <a:txBody>
                    <a:bodyPr wrap="square"/>
                    <a:lstStyle/>
                    <a:p>
                      <a:r>
                        <a:rPr sz="1200" b="1" i="0">
                          <a:solidFill>
                            <a:srgbClr val="FFFFFF"/>
                          </a:solidFill>
                          <a:latin typeface="Calibri"/>
                        </a:rPr>
                        <a:t>¿Evidencia?</a:t>
                      </a:r>
                    </a:p>
                  </a:txBody>
                  <a:tcPr marL="73152" marR="73152" marT="36576" marB="36576" anchor="ctr">
                    <a:solidFill>
                      <a:srgbClr val="0D9488"/>
                    </a:solidFill>
                  </a:tcPr>
                </a:tc>
                <a:tc>
                  <a:txBody>
                    <a:bodyPr wrap="square"/>
                    <a:lstStyle/>
                    <a:p>
                      <a:r>
                        <a:rPr sz="1200" b="1" i="0">
                          <a:solidFill>
                            <a:srgbClr val="FFFFFF"/>
                          </a:solidFill>
                          <a:latin typeface="Calibri"/>
                        </a:rPr>
                        <a:t>¿Qué prueba?</a:t>
                      </a:r>
                    </a:p>
                  </a:txBody>
                  <a:tcPr marL="73152" marR="73152" marT="36576" marB="36576" anchor="ctr">
                    <a:solidFill>
                      <a:srgbClr val="0D9488"/>
                    </a:solidFill>
                  </a:tcPr>
                </a:tc>
              </a:tr>
              <a:tr h="566928">
                <a:tc>
                  <a:txBody>
                    <a:bodyPr wrap="square"/>
                    <a:lstStyle/>
                    <a:p>
                      <a:r>
                        <a:rPr sz="1200" b="0" i="0">
                          <a:solidFill>
                            <a:srgbClr val="1F2937"/>
                          </a:solidFill>
                          <a:latin typeface="Calibri"/>
                        </a:rPr>
                        <a:t>Se cerró al volver de WhatsApp</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A los 10 min se traba y quema</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Pausa bajo la cámara</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Score diminuto en la tablet</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Sin batería en media hora</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En el emulador anda, en mi teléfono no</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DEMO EN VIVO</a:t>
            </a:r>
          </a:p>
          <a:p>
            <a:r>
              <a:rPr sz="2600" b="1" i="0">
                <a:solidFill>
                  <a:srgbClr val="FFFFFF"/>
                </a:solidFill>
                <a:latin typeface="Calibri"/>
              </a:rPr>
              <a:t>Demo: el simulador y sus límites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16/21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Manual — Device Simulator introduction; Android Player settings</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Player Settings de Android</a:t>
            </a:r>
          </a:p>
          <a:p>
            <a:pPr>
              <a:spcAft>
                <a:spcPts val="800"/>
              </a:spcAft>
            </a:pPr>
            <a:r>
              <a:rPr sz="1600" b="1" i="0">
                <a:solidFill>
                  <a:srgbClr val="0D9488"/>
                </a:solidFill>
                <a:latin typeface="Calibri"/>
              </a:rPr>
              <a:t>■  </a:t>
            </a:r>
            <a:r>
              <a:rPr sz="2200" b="0" i="0">
                <a:solidFill>
                  <a:srgbClr val="1F2937"/>
                </a:solidFill>
                <a:latin typeface="Calibri"/>
              </a:rPr>
              <a:t>Device Simulator: qué simula</a:t>
            </a:r>
          </a:p>
          <a:p>
            <a:pPr>
              <a:spcAft>
                <a:spcPts val="800"/>
              </a:spcAft>
            </a:pPr>
            <a:r>
              <a:rPr sz="1600" b="1" i="0">
                <a:solidFill>
                  <a:srgbClr val="0D9488"/>
                </a:solidFill>
                <a:latin typeface="Calibri"/>
              </a:rPr>
              <a:t>■  </a:t>
            </a:r>
            <a:r>
              <a:rPr sz="2200" b="0" i="0">
                <a:solidFill>
                  <a:srgbClr val="1F2937"/>
                </a:solidFill>
                <a:latin typeface="Calibri"/>
              </a:rPr>
              <a:t>Y qué NO simula</a:t>
            </a:r>
          </a:p>
          <a:p>
            <a:pPr>
              <a:spcAft>
                <a:spcPts val="800"/>
              </a:spcAft>
            </a:pPr>
            <a:r>
              <a:rPr sz="1600" b="1" i="0">
                <a:solidFill>
                  <a:srgbClr val="0D9488"/>
                </a:solidFill>
                <a:latin typeface="Calibri"/>
              </a:rPr>
              <a:t>■  </a:t>
            </a:r>
            <a:r>
              <a:rPr sz="2200" b="0" i="0">
                <a:solidFill>
                  <a:srgbClr val="1F2937"/>
                </a:solidFill>
                <a:latin typeface="Calibri"/>
              </a:rPr>
              <a:t>Asteroides en vertical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20 MIN · GRUPOS</a:t>
            </a:r>
          </a:p>
          <a:p>
            <a:r>
              <a:rPr sz="2600" b="1" i="0">
                <a:solidFill>
                  <a:srgbClr val="FFFFFF"/>
                </a:solidFill>
                <a:latin typeface="Calibri"/>
              </a:rPr>
              <a:t>Actividad A4.2 — Supuestos de PC</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17/21</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5 supuestos: dónde (archivo:línea), qué pasaría, qué eje.</a:t>
            </a:r>
          </a:p>
        </p:txBody>
      </p:sp>
      <p:sp>
        <p:nvSpPr>
          <p:cNvPr id="10" name="TextBox 9"/>
          <p:cNvSpPr txBox="1"/>
          <p:nvPr/>
        </p:nvSpPr>
        <p:spPr>
          <a:xfrm>
            <a:off x="5653735" y="1234440"/>
            <a:ext cx="6035040" cy="320040"/>
          </a:xfrm>
          <a:prstGeom prst="rect">
            <a:avLst/>
          </a:prstGeom>
          <a:noFill/>
        </p:spPr>
        <p:txBody>
          <a:bodyPr wrap="square" anchor="ctr" lIns="0" rIns="0" tIns="0" bIns="0">
            <a:spAutoFit/>
          </a:bodyPr>
          <a:lstStyle/>
          <a:p>
            <a:r>
              <a:rPr sz="1200" b="1" i="0">
                <a:solidFill>
                  <a:srgbClr val="6B7280"/>
                </a:solidFill>
                <a:latin typeface="Calibri"/>
              </a:rPr>
              <a:t>Ship.cs  ·  líneas 61–73</a:t>
            </a:r>
          </a:p>
        </p:txBody>
      </p:sp>
      <p:sp>
        <p:nvSpPr>
          <p:cNvPr id="11" name="Rounded Rectangle 10"/>
          <p:cNvSpPr/>
          <p:nvPr/>
        </p:nvSpPr>
        <p:spPr>
          <a:xfrm>
            <a:off x="5653735" y="1600200"/>
            <a:ext cx="6035040" cy="384048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28600"/>
          <a:lstStyle/>
          <a:p>
            <a:pPr algn="l"/>
            <a:r>
              <a:rPr sz="1500" b="0" i="0">
                <a:solidFill>
                  <a:srgbClr val="64748B"/>
                </a:solidFill>
                <a:latin typeface="Consolas"/>
              </a:rPr>
              <a:t> 61  </a:t>
            </a:r>
            <a:r>
              <a:rPr sz="1500" b="1" i="0">
                <a:solidFill>
                  <a:srgbClr val="D97706"/>
                </a:solidFill>
                <a:latin typeface="Consolas"/>
              </a:rPr>
              <a:t>if (Input.GetKey(KeyCode.Space) &amp;&amp; canShoot)</a:t>
            </a:r>
          </a:p>
          <a:p>
            <a:pPr algn="l"/>
            <a:r>
              <a:rPr sz="1500" b="0" i="0">
                <a:solidFill>
                  <a:srgbClr val="64748B"/>
                </a:solidFill>
                <a:latin typeface="Consolas"/>
              </a:rPr>
              <a:t> 62  </a:t>
            </a:r>
            <a:r>
              <a:rPr sz="1500" b="0" i="0">
                <a:solidFill>
                  <a:srgbClr val="E2E8F0"/>
                </a:solidFill>
                <a:latin typeface="Consolas"/>
              </a:rPr>
              <a:t>{</a:t>
            </a:r>
          </a:p>
          <a:p>
            <a:pPr algn="l"/>
            <a:r>
              <a:rPr sz="1500" b="0" i="0">
                <a:solidFill>
                  <a:srgbClr val="64748B"/>
                </a:solidFill>
                <a:latin typeface="Consolas"/>
              </a:rPr>
              <a:t> 63  </a:t>
            </a:r>
            <a:r>
              <a:rPr sz="1500" b="0" i="0">
                <a:solidFill>
                  <a:srgbClr val="E2E8F0"/>
                </a:solidFill>
                <a:latin typeface="Consolas"/>
              </a:rPr>
              <a:t>    ShootLaser();</a:t>
            </a:r>
          </a:p>
          <a:p>
            <a:pPr algn="l"/>
            <a:r>
              <a:rPr sz="1500" b="0" i="0">
                <a:solidFill>
                  <a:srgbClr val="64748B"/>
                </a:solidFill>
                <a:latin typeface="Consolas"/>
              </a:rPr>
              <a:t> 64  </a:t>
            </a:r>
            <a:r>
              <a:rPr sz="1500" b="0" i="0">
                <a:solidFill>
                  <a:srgbClr val="E2E8F0"/>
                </a:solidFill>
                <a:latin typeface="Consolas"/>
              </a:rPr>
              <a:t>}</a:t>
            </a:r>
          </a:p>
          <a:p>
            <a:pPr algn="l"/>
            <a:r>
              <a:rPr sz="1500" b="0" i="0">
                <a:solidFill>
                  <a:srgbClr val="64748B"/>
                </a:solidFill>
                <a:latin typeface="Consolas"/>
              </a:rPr>
              <a:t> 65  </a:t>
            </a:r>
            <a:r>
              <a:rPr sz="1500" b="0" i="0">
                <a:solidFill>
                  <a:srgbClr val="E2E8F0"/>
                </a:solidFill>
                <a:latin typeface="Consolas"/>
              </a:rPr>
              <a:t> </a:t>
            </a:r>
          </a:p>
          <a:p>
            <a:pPr algn="l"/>
            <a:r>
              <a:rPr sz="1500" b="0" i="0">
                <a:solidFill>
                  <a:srgbClr val="64748B"/>
                </a:solidFill>
                <a:latin typeface="Consolas"/>
              </a:rPr>
              <a:t> 66  </a:t>
            </a:r>
            <a:r>
              <a:rPr sz="1500" b="1" i="0">
                <a:solidFill>
                  <a:srgbClr val="D97706"/>
                </a:solidFill>
                <a:latin typeface="Consolas"/>
              </a:rPr>
              <a:t>if (Input.GetKey(KeyCode.LeftArrow))</a:t>
            </a:r>
          </a:p>
          <a:p>
            <a:pPr algn="l"/>
            <a:r>
              <a:rPr sz="1500" b="0" i="0">
                <a:solidFill>
                  <a:srgbClr val="64748B"/>
                </a:solidFill>
                <a:latin typeface="Consolas"/>
              </a:rPr>
              <a:t> 67  </a:t>
            </a:r>
            <a:r>
              <a:rPr sz="1500" b="0" i="0">
                <a:solidFill>
                  <a:srgbClr val="E2E8F0"/>
                </a:solidFill>
                <a:latin typeface="Consolas"/>
              </a:rPr>
              <a:t>{</a:t>
            </a:r>
          </a:p>
          <a:p>
            <a:pPr algn="l"/>
            <a:r>
              <a:rPr sz="1500" b="0" i="0">
                <a:solidFill>
                  <a:srgbClr val="64748B"/>
                </a:solidFill>
                <a:latin typeface="Consolas"/>
              </a:rPr>
              <a:t> 68  </a:t>
            </a:r>
            <a:r>
              <a:rPr sz="1500" b="0" i="0">
                <a:solidFill>
                  <a:srgbClr val="E2E8F0"/>
                </a:solidFill>
                <a:latin typeface="Consolas"/>
              </a:rPr>
              <a:t>    MoveLeft();</a:t>
            </a:r>
          </a:p>
          <a:p>
            <a:pPr algn="l"/>
            <a:r>
              <a:rPr sz="1500" b="0" i="0">
                <a:solidFill>
                  <a:srgbClr val="64748B"/>
                </a:solidFill>
                <a:latin typeface="Consolas"/>
              </a:rPr>
              <a:t> 69  </a:t>
            </a:r>
            <a:r>
              <a:rPr sz="1500" b="0" i="0">
                <a:solidFill>
                  <a:srgbClr val="E2E8F0"/>
                </a:solidFill>
                <a:latin typeface="Consolas"/>
              </a:rPr>
              <a:t>}</a:t>
            </a:r>
          </a:p>
          <a:p>
            <a:pPr algn="l"/>
            <a:r>
              <a:rPr sz="1500" b="0" i="0">
                <a:solidFill>
                  <a:srgbClr val="64748B"/>
                </a:solidFill>
                <a:latin typeface="Consolas"/>
              </a:rPr>
              <a:t> 70  </a:t>
            </a:r>
            <a:r>
              <a:rPr sz="1500" b="0" i="0">
                <a:solidFill>
                  <a:srgbClr val="E2E8F0"/>
                </a:solidFill>
                <a:latin typeface="Consolas"/>
              </a:rPr>
              <a:t> </a:t>
            </a:r>
          </a:p>
          <a:p>
            <a:pPr algn="l"/>
            <a:r>
              <a:rPr sz="1500" b="0" i="0">
                <a:solidFill>
                  <a:srgbClr val="64748B"/>
                </a:solidFill>
                <a:latin typeface="Consolas"/>
              </a:rPr>
              <a:t> 71  </a:t>
            </a:r>
            <a:r>
              <a:rPr sz="1500" b="1" i="0">
                <a:solidFill>
                  <a:srgbClr val="D97706"/>
                </a:solidFill>
                <a:latin typeface="Consolas"/>
              </a:rPr>
              <a:t>if (Input.GetKey(KeyCode.RightArrow))</a:t>
            </a:r>
          </a:p>
          <a:p>
            <a:pPr algn="l"/>
            <a:r>
              <a:rPr sz="1500" b="0" i="0">
                <a:solidFill>
                  <a:srgbClr val="64748B"/>
                </a:solidFill>
                <a:latin typeface="Consolas"/>
              </a:rPr>
              <a:t> 72  </a:t>
            </a:r>
            <a:r>
              <a:rPr sz="1500" b="0" i="0">
                <a:solidFill>
                  <a:srgbClr val="E2E8F0"/>
                </a:solidFill>
                <a:latin typeface="Consolas"/>
              </a:rPr>
              <a:t>{</a:t>
            </a:r>
          </a:p>
          <a:p>
            <a:pPr algn="l"/>
            <a:r>
              <a:rPr sz="1500" b="0" i="0">
                <a:solidFill>
                  <a:srgbClr val="64748B"/>
                </a:solidFill>
                <a:latin typeface="Consolas"/>
              </a:rPr>
              <a:t> 73  </a:t>
            </a:r>
            <a:r>
              <a:rPr sz="1500" b="0" i="0">
                <a:solidFill>
                  <a:srgbClr val="E2E8F0"/>
                </a:solidFill>
                <a:latin typeface="Consolas"/>
              </a:rPr>
              <a:t>    MoveRight();</a:t>
            </a:r>
          </a:p>
        </p:txBody>
      </p:sp>
      <p:sp>
        <p:nvSpPr>
          <p:cNvPr id="12" name="TextBox 11"/>
          <p:cNvSpPr txBox="1"/>
          <p:nvPr/>
        </p:nvSpPr>
        <p:spPr>
          <a:xfrm>
            <a:off x="502920" y="1234440"/>
            <a:ext cx="487649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Ship.cs 61–73: el control</a:t>
            </a:r>
          </a:p>
          <a:p>
            <a:pPr>
              <a:spcAft>
                <a:spcPts val="800"/>
              </a:spcAft>
            </a:pPr>
            <a:r>
              <a:rPr sz="1600" b="1" i="0">
                <a:solidFill>
                  <a:srgbClr val="0D9488"/>
                </a:solidFill>
                <a:latin typeface="Calibri"/>
              </a:rPr>
              <a:t>■  </a:t>
            </a:r>
            <a:r>
              <a:rPr sz="2200" b="0" i="0">
                <a:solidFill>
                  <a:srgbClr val="1F2937"/>
                </a:solidFill>
                <a:latin typeface="Calibri"/>
              </a:rPr>
              <a:t>Ship.cs 46–47 y 99–115: los límites</a:t>
            </a:r>
          </a:p>
          <a:p>
            <a:pPr>
              <a:spcAft>
                <a:spcPts val="800"/>
              </a:spcAft>
            </a:pPr>
            <a:r>
              <a:rPr sz="1600" b="1" i="0">
                <a:solidFill>
                  <a:srgbClr val="0D9488"/>
                </a:solidFill>
                <a:latin typeface="Calibri"/>
              </a:rPr>
              <a:t>■  </a:t>
            </a:r>
            <a:r>
              <a:rPr sz="2200" b="0" i="0">
                <a:solidFill>
                  <a:srgbClr val="1F2937"/>
                </a:solidFill>
                <a:latin typeface="Calibri"/>
              </a:rPr>
              <a:t>Spawner.cs 101–106: el spawn</a:t>
            </a:r>
          </a:p>
          <a:p>
            <a:pPr>
              <a:spcAft>
                <a:spcPts val="800"/>
              </a:spcAft>
            </a:pPr>
            <a:r>
              <a:rPr sz="1600" b="1" i="0">
                <a:solidFill>
                  <a:srgbClr val="0D9488"/>
                </a:solidFill>
                <a:latin typeface="Calibri"/>
              </a:rPr>
              <a:t>■  </a:t>
            </a:r>
            <a:r>
              <a:rPr sz="2200" b="0" i="0">
                <a:solidFill>
                  <a:srgbClr val="1F2937"/>
                </a:solidFill>
                <a:latin typeface="Calibri"/>
              </a:rPr>
              <a:t>Prefab Game: Canvas y cámara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PUESTA EN COMÚN</a:t>
            </a:r>
          </a:p>
          <a:p>
            <a:r>
              <a:rPr sz="2600" b="1" i="0">
                <a:solidFill>
                  <a:srgbClr val="FFFFFF"/>
                </a:solidFill>
                <a:latin typeface="Calibri"/>
              </a:rPr>
              <a:t>Lo que encontramos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18/21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Código del proyecto (Spawner.cs:101-106; prefab Game, Camera)</a:t>
            </a:r>
          </a:p>
        </p:txBody>
      </p:sp>
      <p:sp>
        <p:nvSpPr>
          <p:cNvPr id="9" name="Rectangle 8"/>
          <p:cNvSpPr/>
          <p:nvPr/>
        </p:nvSpPr>
        <p:spPr>
          <a:xfrm>
            <a:off x="5013655" y="1920240"/>
            <a:ext cx="3271393" cy="1840159"/>
          </a:xfrm>
          <a:prstGeom prst="rect">
            <a:avLst/>
          </a:prstGeom>
          <a:solidFill>
            <a:srgbClr val="F3F4F6"/>
          </a:solidFill>
          <a:ln w="3175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177224" y="1627632"/>
            <a:ext cx="2944255"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86311" y="3833551"/>
            <a:ext cx="2926080" cy="548640"/>
          </a:xfrm>
          <a:prstGeom prst="rect">
            <a:avLst/>
          </a:prstGeom>
          <a:noFill/>
        </p:spPr>
        <p:txBody>
          <a:bodyPr wrap="square" anchor="t" lIns="0" rIns="0" tIns="0" bIns="0">
            <a:spAutoFit/>
          </a:bodyPr>
          <a:lstStyle/>
          <a:p>
            <a:pPr algn="ctr"/>
            <a:r>
              <a:rPr sz="1500" b="1" i="0">
                <a:solidFill>
                  <a:srgbClr val="1F2937"/>
                </a:solidFill>
                <a:latin typeface="Calibri"/>
              </a:rPr>
              <a:t>16:9</a:t>
            </a:r>
          </a:p>
          <a:p>
            <a:pPr algn="ctr"/>
            <a:r>
              <a:rPr sz="1300" b="0" i="0">
                <a:solidFill>
                  <a:srgbClr val="6B7280"/>
                </a:solidFill>
                <a:latin typeface="Calibri"/>
              </a:rPr>
              <a:t>se ven ±8,9 unidades</a:t>
            </a:r>
          </a:p>
        </p:txBody>
      </p:sp>
      <p:sp>
        <p:nvSpPr>
          <p:cNvPr id="12" name="Rectangle 11"/>
          <p:cNvSpPr/>
          <p:nvPr/>
        </p:nvSpPr>
        <p:spPr>
          <a:xfrm>
            <a:off x="9607663" y="1920240"/>
            <a:ext cx="1035089" cy="1840159"/>
          </a:xfrm>
          <a:prstGeom prst="rect">
            <a:avLst/>
          </a:prstGeom>
          <a:solidFill>
            <a:srgbClr val="F3F4F6"/>
          </a:solidFill>
          <a:ln w="3175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653080" y="1627632"/>
            <a:ext cx="954583" cy="164592"/>
          </a:xfrm>
          <a:prstGeom prst="rect">
            <a:avLst/>
          </a:prstGeom>
          <a:solidFill>
            <a:srgbClr val="DC2626"/>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607663" y="1627632"/>
            <a:ext cx="1035089"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642752" y="1627632"/>
            <a:ext cx="954583" cy="16459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62167" y="3833551"/>
            <a:ext cx="2926080" cy="548640"/>
          </a:xfrm>
          <a:prstGeom prst="rect">
            <a:avLst/>
          </a:prstGeom>
          <a:noFill/>
        </p:spPr>
        <p:txBody>
          <a:bodyPr wrap="square" anchor="t" lIns="0" rIns="0" tIns="0" bIns="0">
            <a:spAutoFit/>
          </a:bodyPr>
          <a:lstStyle/>
          <a:p>
            <a:pPr algn="ctr"/>
            <a:r>
              <a:rPr sz="1500" b="1" i="0">
                <a:solidFill>
                  <a:srgbClr val="1F2937"/>
                </a:solidFill>
                <a:latin typeface="Calibri"/>
              </a:rPr>
              <a:t>9:16</a:t>
            </a:r>
          </a:p>
          <a:p>
            <a:pPr algn="ctr"/>
            <a:r>
              <a:rPr sz="1300" b="0" i="0">
                <a:solidFill>
                  <a:srgbClr val="6B7280"/>
                </a:solidFill>
                <a:latin typeface="Calibri"/>
              </a:rPr>
              <a:t>se ven ±2,8 unidades</a:t>
            </a:r>
          </a:p>
        </p:txBody>
      </p:sp>
      <p:sp>
        <p:nvSpPr>
          <p:cNvPr id="17" name="Rectangle 16"/>
          <p:cNvSpPr/>
          <p:nvPr/>
        </p:nvSpPr>
        <p:spPr>
          <a:xfrm>
            <a:off x="5013655" y="5404104"/>
            <a:ext cx="320040"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25135" y="5349240"/>
            <a:ext cx="2926080" cy="274320"/>
          </a:xfrm>
          <a:prstGeom prst="rect">
            <a:avLst/>
          </a:prstGeom>
          <a:noFill/>
        </p:spPr>
        <p:txBody>
          <a:bodyPr wrap="square" anchor="ctr" lIns="0" rIns="0" tIns="0" bIns="0">
            <a:spAutoFit/>
          </a:bodyPr>
          <a:lstStyle/>
          <a:p>
            <a:r>
              <a:rPr sz="1300" b="0" i="0">
                <a:solidFill>
                  <a:srgbClr val="1F2937"/>
                </a:solidFill>
                <a:latin typeface="Calibri"/>
              </a:rPr>
              <a:t>spawn dentro de la pantalla</a:t>
            </a:r>
          </a:p>
        </p:txBody>
      </p:sp>
      <p:sp>
        <p:nvSpPr>
          <p:cNvPr id="19" name="Rectangle 18"/>
          <p:cNvSpPr/>
          <p:nvPr/>
        </p:nvSpPr>
        <p:spPr>
          <a:xfrm>
            <a:off x="8214055" y="5404104"/>
            <a:ext cx="320040" cy="16459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5535" y="5349240"/>
            <a:ext cx="2926080" cy="274320"/>
          </a:xfrm>
          <a:prstGeom prst="rect">
            <a:avLst/>
          </a:prstGeom>
          <a:noFill/>
        </p:spPr>
        <p:txBody>
          <a:bodyPr wrap="square" anchor="ctr" lIns="0" rIns="0" tIns="0" bIns="0">
            <a:spAutoFit/>
          </a:bodyPr>
          <a:lstStyle/>
          <a:p>
            <a:r>
              <a:rPr sz="1300" b="0" i="0">
                <a:solidFill>
                  <a:srgbClr val="1F2937"/>
                </a:solidFill>
                <a:latin typeface="Calibri"/>
              </a:rPr>
              <a:t>spawn fuera de la pantalla</a:t>
            </a:r>
          </a:p>
        </p:txBody>
      </p:sp>
      <p:sp>
        <p:nvSpPr>
          <p:cNvPr id="21" name="TextBox 20"/>
          <p:cNvSpPr txBox="1"/>
          <p:nvPr/>
        </p:nvSpPr>
        <p:spPr>
          <a:xfrm>
            <a:off x="5013655" y="5669280"/>
            <a:ext cx="6766560" cy="274320"/>
          </a:xfrm>
          <a:prstGeom prst="rect">
            <a:avLst/>
          </a:prstGeom>
          <a:noFill/>
        </p:spPr>
        <p:txBody>
          <a:bodyPr wrap="square" anchor="ctr" lIns="0" rIns="0" tIns="0" bIns="0">
            <a:spAutoFit/>
          </a:bodyPr>
          <a:lstStyle/>
          <a:p>
            <a:r>
              <a:rPr sz="1100" b="0" i="1">
                <a:solidFill>
                  <a:srgbClr val="6B7280"/>
                </a:solidFill>
                <a:latin typeface="Calibri"/>
              </a:rPr>
              <a:t>Escala real: cámara ortográfica de tamaño 5; spawn en x ∈ [-8, 8]</a:t>
            </a:r>
          </a:p>
        </p:txBody>
      </p:sp>
      <p:sp>
        <p:nvSpPr>
          <p:cNvPr id="22" name="TextBox 21"/>
          <p:cNvSpPr txBox="1"/>
          <p:nvPr/>
        </p:nvSpPr>
        <p:spPr>
          <a:xfrm>
            <a:off x="502920" y="1234440"/>
            <a:ext cx="414497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Vista: 5 × aspect a cada lado</a:t>
            </a:r>
          </a:p>
          <a:p>
            <a:pPr>
              <a:spcAft>
                <a:spcPts val="800"/>
              </a:spcAft>
            </a:pPr>
            <a:r>
              <a:rPr sz="1600" b="1" i="0">
                <a:solidFill>
                  <a:srgbClr val="0D9488"/>
                </a:solidFill>
                <a:latin typeface="Calibri"/>
              </a:rPr>
              <a:t>■  </a:t>
            </a:r>
            <a:r>
              <a:rPr sz="2200" b="0" i="0">
                <a:solidFill>
                  <a:srgbClr val="1F2937"/>
                </a:solidFill>
                <a:latin typeface="Calibri"/>
              </a:rPr>
              <a:t>16:9 → ≈ 8,9 · vertical → ≈ 2,8</a:t>
            </a:r>
          </a:p>
          <a:p>
            <a:pPr>
              <a:spcAft>
                <a:spcPts val="800"/>
              </a:spcAft>
            </a:pPr>
            <a:r>
              <a:rPr sz="1600" b="1" i="0">
                <a:solidFill>
                  <a:srgbClr val="0D9488"/>
                </a:solidFill>
                <a:latin typeface="Calibri"/>
              </a:rPr>
              <a:t>■  </a:t>
            </a:r>
            <a:r>
              <a:rPr sz="2200" b="0" i="0">
                <a:solidFill>
                  <a:srgbClr val="1F2937"/>
                </a:solidFill>
                <a:latin typeface="Calibri"/>
              </a:rPr>
              <a:t>Spawn en x ∈ [−8, 8]</a:t>
            </a:r>
          </a:p>
          <a:p>
            <a:pPr>
              <a:spcAft>
                <a:spcPts val="800"/>
              </a:spcAft>
            </a:pPr>
            <a:r>
              <a:rPr sz="1600" b="1" i="0">
                <a:solidFill>
                  <a:srgbClr val="0D9488"/>
                </a:solidFill>
                <a:latin typeface="Calibri"/>
              </a:rPr>
              <a:t>■  </a:t>
            </a:r>
            <a:r>
              <a:rPr sz="2200" b="0" i="0">
                <a:solidFill>
                  <a:srgbClr val="1F2937"/>
                </a:solidFill>
                <a:latin typeface="Calibri"/>
              </a:rPr>
              <a:t>En vertical, nacen fuera de pantalla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DECISIÓN</a:t>
            </a:r>
          </a:p>
          <a:p>
            <a:r>
              <a:rPr sz="2600" b="1" i="0">
                <a:solidFill>
                  <a:srgbClr val="FFFFFF"/>
                </a:solidFill>
                <a:latin typeface="Calibri"/>
              </a:rPr>
              <a:t>¿Cómo se elige una plataforma?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19/21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(blog, consultado 2026-10-05) + criterio de la cátedra</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Con estos criterios: ¿Asteroides es un juego para móvil?</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400" b="1" i="0">
                <a:solidFill>
                  <a:srgbClr val="0D9488"/>
                </a:solidFill>
                <a:latin typeface="Calibri"/>
              </a:rPr>
              <a:t>■  </a:t>
            </a:r>
            <a:r>
              <a:rPr sz="2000" b="0" i="0">
                <a:solidFill>
                  <a:srgbClr val="1F2937"/>
                </a:solidFill>
                <a:latin typeface="Calibri"/>
              </a:rPr>
              <a:t>Audiencia</a:t>
            </a:r>
          </a:p>
          <a:p>
            <a:pPr>
              <a:spcAft>
                <a:spcPts val="800"/>
              </a:spcAft>
            </a:pPr>
            <a:r>
              <a:rPr sz="1400" b="1" i="0">
                <a:solidFill>
                  <a:srgbClr val="0D9488"/>
                </a:solidFill>
                <a:latin typeface="Calibri"/>
              </a:rPr>
              <a:t>■  </a:t>
            </a:r>
            <a:r>
              <a:rPr sz="2000" b="0" i="0">
                <a:solidFill>
                  <a:srgbClr val="1F2937"/>
                </a:solidFill>
                <a:latin typeface="Calibri"/>
              </a:rPr>
              <a:t>Modelo de monetización</a:t>
            </a:r>
          </a:p>
          <a:p>
            <a:pPr>
              <a:spcAft>
                <a:spcPts val="800"/>
              </a:spcAft>
            </a:pPr>
            <a:r>
              <a:rPr sz="1400" b="1" i="0">
                <a:solidFill>
                  <a:srgbClr val="0D9488"/>
                </a:solidFill>
                <a:latin typeface="Calibri"/>
              </a:rPr>
              <a:t>■  </a:t>
            </a:r>
            <a:r>
              <a:rPr sz="2000" b="0" i="0">
                <a:solidFill>
                  <a:srgbClr val="1F2937"/>
                </a:solidFill>
                <a:latin typeface="Calibri"/>
              </a:rPr>
              <a:t>Herramientas y soporte</a:t>
            </a:r>
          </a:p>
          <a:p>
            <a:pPr>
              <a:spcAft>
                <a:spcPts val="800"/>
              </a:spcAft>
            </a:pPr>
            <a:r>
              <a:rPr sz="1400" b="1" i="0">
                <a:solidFill>
                  <a:srgbClr val="0D9488"/>
                </a:solidFill>
                <a:latin typeface="Calibri"/>
              </a:rPr>
              <a:t>■  </a:t>
            </a:r>
            <a:r>
              <a:rPr sz="2000" b="0" i="0">
                <a:solidFill>
                  <a:srgbClr val="1F2937"/>
                </a:solidFill>
                <a:latin typeface="Calibri"/>
              </a:rPr>
              <a:t>Vigencia en el tiempo</a:t>
            </a:r>
          </a:p>
          <a:p>
            <a:pPr>
              <a:spcAft>
                <a:spcPts val="800"/>
              </a:spcAft>
            </a:pPr>
            <a:r>
              <a:rPr sz="1400" b="1" i="0">
                <a:solidFill>
                  <a:srgbClr val="0D9488"/>
                </a:solidFill>
                <a:latin typeface="Calibri"/>
              </a:rPr>
              <a:t>■  </a:t>
            </a:r>
            <a:r>
              <a:rPr sz="2000" b="0" i="0">
                <a:solidFill>
                  <a:srgbClr val="1F2937"/>
                </a:solidFill>
                <a:latin typeface="Calibri"/>
              </a:rPr>
              <a:t>+ Restricciones técnicas (hoy)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LECTURA CRÍTICA · 5 MIN</a:t>
            </a:r>
          </a:p>
          <a:p>
            <a:r>
              <a:rPr sz="2600" b="1" i="0">
                <a:solidFill>
                  <a:srgbClr val="FFFFFF"/>
                </a:solidFill>
                <a:latin typeface="Calibri"/>
              </a:rPr>
              <a:t>Leer con lupa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20/21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Google — mensaje oficial sobre el cierre de Stadia (2022); EA — anuncio de la EA app (06/10/2022)</a:t>
            </a:r>
          </a:p>
        </p:txBody>
      </p:sp>
      <p:sp>
        <p:nvSpPr>
          <p:cNvPr id="9" name="Rectangle 8"/>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Antes de citar un dato, busquen la fuente primaria.</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Lo escribe un estudio que vende servicios</a:t>
            </a:r>
          </a:p>
          <a:p>
            <a:pPr>
              <a:spcAft>
                <a:spcPts val="800"/>
              </a:spcAft>
            </a:pPr>
            <a:r>
              <a:rPr sz="1600" b="1" i="0">
                <a:solidFill>
                  <a:srgbClr val="0D9488"/>
                </a:solidFill>
                <a:latin typeface="Calibri"/>
              </a:rPr>
              <a:t>■  </a:t>
            </a:r>
            <a:r>
              <a:rPr sz="2200" b="0" i="0">
                <a:solidFill>
                  <a:srgbClr val="1F2937"/>
                </a:solidFill>
                <a:latin typeface="Calibri"/>
              </a:rPr>
              <a:t>Google Stadia: cerró el 18/01/2023</a:t>
            </a:r>
          </a:p>
          <a:p>
            <a:pPr>
              <a:spcAft>
                <a:spcPts val="800"/>
              </a:spcAft>
            </a:pPr>
            <a:r>
              <a:rPr sz="1600" b="1" i="0">
                <a:solidFill>
                  <a:srgbClr val="0D9488"/>
                </a:solidFill>
                <a:latin typeface="Calibri"/>
              </a:rPr>
              <a:t>■  </a:t>
            </a:r>
            <a:r>
              <a:rPr sz="2200" b="0" i="0">
                <a:solidFill>
                  <a:srgbClr val="1F2937"/>
                </a:solidFill>
                <a:latin typeface="Calibri"/>
              </a:rPr>
              <a:t>"Origin": reemplazada por la EA app (2022)</a:t>
            </a:r>
          </a:p>
          <a:p>
            <a:pPr>
              <a:spcAft>
                <a:spcPts val="800"/>
              </a:spcAft>
            </a:pPr>
            <a:r>
              <a:rPr sz="1600" b="1" i="0">
                <a:solidFill>
                  <a:srgbClr val="0D9488"/>
                </a:solidFill>
                <a:latin typeface="Calibri"/>
              </a:rPr>
              <a:t>■  </a:t>
            </a:r>
            <a:r>
              <a:rPr sz="2200" b="0" i="0">
                <a:solidFill>
                  <a:srgbClr val="1F2937"/>
                </a:solidFill>
                <a:latin typeface="Calibri"/>
              </a:rPr>
              <a:t>Cifras de mercado sin fuente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CIERRE</a:t>
            </a:r>
          </a:p>
          <a:p>
            <a:r>
              <a:rPr sz="2600" b="1" i="0">
                <a:solidFill>
                  <a:srgbClr val="FFFFFF"/>
                </a:solidFill>
                <a:latin typeface="Calibri"/>
              </a:rPr>
              <a:t>Qué no resuelve esto · TP 3</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21/21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Manual — Android environment setup; Android — Configure on-device developer options</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El simulador no mide calor ni batería</a:t>
            </a:r>
          </a:p>
          <a:p>
            <a:pPr>
              <a:spcAft>
                <a:spcPts val="800"/>
              </a:spcAft>
            </a:pPr>
            <a:r>
              <a:rPr sz="1600" b="1" i="0">
                <a:solidFill>
                  <a:srgbClr val="0D9488"/>
                </a:solidFill>
                <a:latin typeface="Calibri"/>
              </a:rPr>
              <a:t>■  </a:t>
            </a:r>
            <a:r>
              <a:rPr sz="2200" b="0" i="0">
                <a:solidFill>
                  <a:srgbClr val="1F2937"/>
                </a:solidFill>
                <a:latin typeface="Calibri"/>
              </a:rPr>
              <a:t>Eso se mide en su teléfono</a:t>
            </a:r>
          </a:p>
          <a:p>
            <a:pPr>
              <a:spcAft>
                <a:spcPts val="800"/>
              </a:spcAft>
            </a:pPr>
            <a:r>
              <a:rPr sz="1600" b="1" i="0">
                <a:solidFill>
                  <a:srgbClr val="0D9488"/>
                </a:solidFill>
                <a:latin typeface="Calibri"/>
              </a:rPr>
              <a:t>■  </a:t>
            </a:r>
            <a:r>
              <a:rPr sz="2200" b="0" i="0">
                <a:solidFill>
                  <a:srgbClr val="1F2937"/>
                </a:solidFill>
                <a:latin typeface="Calibri"/>
              </a:rPr>
              <a:t>TP 3: Dossier Asteroides móvil</a:t>
            </a:r>
          </a:p>
          <a:p>
            <a:pPr>
              <a:spcAft>
                <a:spcPts val="800"/>
              </a:spcAft>
            </a:pPr>
            <a:r>
              <a:rPr sz="1600" b="1" i="0">
                <a:solidFill>
                  <a:srgbClr val="0D9488"/>
                </a:solidFill>
                <a:latin typeface="Calibri"/>
              </a:rPr>
              <a:t>■  </a:t>
            </a:r>
            <a:r>
              <a:rPr sz="2200" b="0" i="0">
                <a:solidFill>
                  <a:srgbClr val="1F2937"/>
                </a:solidFill>
                <a:latin typeface="Calibri"/>
              </a:rPr>
              <a:t>Tarea: Build Support + depuración USB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