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Versión final de la unidad: quedan dos encuentros de 90 minutos. Este retoma la Clase 1 desde la slide 16 y suma la UI táctil y la implementación de los controles. El encuentro siguiente es la práctica en el teléfono, la prueba y el negocio.</a:t>
            </a:r>
          </a:p>
          <a:p>
            <a:r>
              <a:t>Reparto: teoría 36 min (apertura 3, simulador 4, plataforma 3, UI táctil 14, demos de Input System 7, vistazo de la build 3, cierre 2) = 40 %; práctica 54 min (A4.2 12, puesta en común 5, A4.7 30, playtest 7) = 60 %.</a:t>
            </a:r>
          </a:p>
          <a:p>
            <a:r>
              <a:t>Antes de empezar: proyecto Asteroides abierto en el Device Simulator; copia del proyecto original para los grupos; deck de la Clase 1 a mano por si hay que volver a A4.1.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Supuesto de plataforma: algo que el código da por cierto porque se pensó para una PC (teclado, pantalla horizontal, mouse).</a:t>
            </a:r>
          </a:p>
          <a:p>
            <a:r>
              <a:t>Recuperar A4.1 en un minuto: los síntomas (calor, tirones, partida perdida al atender una llamada) tenían causas en la máquina. Hoy pasamos del síntoma a la causa en el código y a las manos del jugador.</a:t>
            </a:r>
          </a:p>
          <a:p>
            <a:r>
              <a:t>Dejar la pregunta abierta: la respuesta aparece en A4.2 (Ship.cs lee teclas fijas). No dar la herramienta antes del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Player Settings: configuración del proyecto de Unity para cada plataforma de destino.</a:t>
            </a:r>
          </a:p>
          <a:p>
            <a:r>
              <a:t>• Device Simulator: ventana de Unity que muestra el juego con la forma de pantalla de un dispositivo real.</a:t>
            </a:r>
          </a:p>
          <a:p>
            <a:r>
              <a:t>• Nivel de API de Android: número que identifica cada versión de Android (por ejemplo, API 36 = Android 16).</a:t>
            </a:r>
          </a:p>
          <a:p>
            <a:r>
              <a:t>• Application Category: categoría con la que Unity declara la app ante Android; para juegos, "Game".</a:t>
            </a:r>
          </a:p>
          <a:p>
            <a:r>
              <a:t>• Giroscopio: sensor que mide la rotación del teléfono.</a:t>
            </a:r>
          </a:p>
          <a:p>
            <a:r>
              <a:t>Imagen sugerida (opcional, sin recuadro en la slide): Device Simulator con Asteroides en vertical y los asteroides apareciendo fuera de pantalla.</a:t>
            </a:r>
          </a:p>
          <a:p>
            <a:r>
              <a:t>Pasos de la demo:</a:t>
            </a:r>
          </a:p>
          <a:p>
            <a:r>
              <a:t>1. Player Settings de Android: Application Category = Game (por defecto en Unity 6.3; exime a los juegos del cambio de Android 16 que ignora la orientación en pantallas grandes), orientación y API mínima.</a:t>
            </a:r>
          </a:p>
          <a:p>
            <a:r>
              <a:t>2. Abrir la página oficial del Device Simulator y leer la lista de lo que NO simula ANTES de usarlo: rendimiento, memoria, capacidades de render y giroscopio. La herramienta llega con sus límites.</a:t>
            </a:r>
          </a:p>
          <a:p>
            <a:r>
              <a:t>3. Lo que sí simula: safe area, rotación y toque de un dedo.</a:t>
            </a:r>
          </a:p>
          <a:p>
            <a:r>
              <a:t>4. Poner Asteroides en un perfil de teléfono en vertical. Confirmar en vivo el supuesto de que la cámara está centrada en x = 0.</a:t>
            </a:r>
          </a:p>
          <a:p>
            <a:r>
              <a:t>No revelar todavía el problema del spawn: lo descubren en A4.2.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Spawn: aparición de un objeto en el juego; acá, los asteroides.</a:t>
            </a:r>
          </a:p>
          <a:p>
            <a:r>
              <a:t>• Prefab: objeto de Unity guardado como plantilla reutilizable.</a:t>
            </a:r>
          </a:p>
          <a:p>
            <a:r>
              <a:t>• Canvas: contenedor de la interfaz (UI) en Unity.</a:t>
            </a:r>
          </a:p>
          <a:p>
            <a:r>
              <a:t>• Input.GetKey: lectura directa de una tecla en el sistema de input clásico de Unity.</a:t>
            </a:r>
          </a:p>
          <a:p>
            <a:r>
              <a:t>Consigna completa: listar al menos 5 supuestos que dejan de valer en un teléfono, indicando dónde están (archivo:línea), qué pasaría en móvil y a qué eje pertenecen (input, pantalla, UI, ciclo de vida, rendimiento).</a:t>
            </a:r>
          </a:p>
          <a:p>
            <a:r>
              <a:t>La respuesta completa es la tabla S1–S13 de 02-caso-practico. Para aprobar alcanza con S1 (teclado), S3/S4/S5 (límites, cámara, spawn), S6 (Canvas en Constant Pixel Size) y S8 (sin pausa).</a:t>
            </a:r>
          </a:p>
          <a:p>
            <a:r>
              <a:t>Pista si se traban: "¿qué pasa con la cámara si la pantalla es más angosta que alta?".</a:t>
            </a:r>
          </a:p>
          <a:p>
            <a:r>
              <a:t>Importante (versión 3): el código de la slide es la versión **original** de Ship.cs, leída del commit e766f8c. En el repositorio, Ship.cs ya tiene el porteo de entrada (Ship.SetIntent + ShipInputAdapter). Los grupos analizan la versión original: si trabajan con el repositorio clonado, que lo hagan sobre ese commit (git checkout e766f8c -- proyectos-unity/Asteroides/asteroide-final/Assets/Scripts/Ship.cs) o con la copia del TP. No mostrar todavía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Cámara ortográfica: cámara sin perspectiva; su tamaño (orthographicSize) es la mitad de la altura visible, en unidades del mundo.</a:t>
            </a:r>
          </a:p>
          <a:p>
            <a:r>
              <a:t>• Relación de aspecto (aspect ratio): ancho dividido por alto de la pantalla (16:9, 9:16).</a:t>
            </a:r>
          </a:p>
          <a:p>
            <a:r>
              <a:t>• Coordenadas de mundo: posiciones dentro de la escena, independientes de la pantalla.</a:t>
            </a:r>
          </a:p>
          <a:p>
            <a:r>
              <a:t>La cámara es ortográfica de tamaño 5: el semiancho visible es 5 × aspect. A 16:9 se ven ≈ 8,9 unidades a cada lado; en vertical 9:16, ≈ 2,8.</a:t>
            </a:r>
          </a:p>
          <a:p>
            <a:r>
              <a:t>El Spawner crea asteroides en x ∈ [−8, 8] (coordenadas de mundo). En vertical, la mayoría de los asteroides nace fuera de pantalla.</a:t>
            </a:r>
          </a:p>
          <a:p>
            <a:r>
              <a:t>No hay error de lógica: hay un supuesto de plataforma. Ningún archivo tiene un error por sí solo; el problema aparece en la combinación cámara + spawner + orientación.</a:t>
            </a:r>
          </a:p>
          <a:p>
            <a:r>
              <a:t>Mostrarlo en el Device Simulator. Conectar con el testing de integración de la U3: es un defecto de integración con la plataforma.</a:t>
            </a:r>
          </a:p>
          <a:p>
            <a:r>
              <a:t>Cerrar la puesta en común volviendo al supuesto S1 (teclado): en el teléfono, Asteroides deja tocar "Start" pero la nave no se mueve ni dispara, porque Ship.cs lee teclas fijas. La salida es el diagrama de la slide 3: separar el dispositivo de la intención. No mostrar la herramienta todavía; alcanza con dejar planteado el problema. Se resuelve en código más adelante en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Audiencia: público al que apunta el juego.</a:t>
            </a:r>
          </a:p>
          <a:p>
            <a:r>
              <a:t>• Vigencia (future-proofing): que la plataforma siga activa y evolucionando con el tiempo.</a:t>
            </a:r>
          </a:p>
          <a:p>
            <a:r>
              <a:t>Versión final: la slide «Leer con lupa» pasa a lectura del aula virtual (ver el cierre).</a:t>
            </a:r>
          </a:p>
          <a:p>
            <a:r>
              <a:t>El artículo de Kevuru propone cuatro consideraciones para elegir plataforma, y concluye que el desafío no es encontrar la "mejor" plataforma, sino la que encaja con la visión del juego y su público:</a:t>
            </a:r>
          </a:p>
          <a:p>
            <a:r>
              <a:t>1. Audiencia: saber para quién se construye. Un puzzle casual puede encontrar su público en móvil; un RPG con mucha narrativa puede funcionar mejor en consola o PC.</a:t>
            </a:r>
          </a:p>
          <a:p>
            <a:r>
              <a:t>2. Modelos de monetización: suscripción, free-to-play con compras integradas o venta premium. Cada plataforma se inclina por estrategias distintas y el modelo de ingresos tiene que coincidir.</a:t>
            </a:r>
          </a:p>
          <a:p>
            <a:r>
              <a:t>3. Integración y soporte: algunas plataformas ofrecen mejores herramientas, documentación o ayuda directa; una buena integración ahorra meses.</a:t>
            </a:r>
          </a:p>
          <a:p>
            <a:r>
              <a:t>4. Vigencia (future-proofing): preferir plataformas que sigan evolucionando para que el juego no quede desactualizado en uno o dos años.</a:t>
            </a:r>
          </a:p>
          <a:p>
            <a:r>
              <a:t>Lo que agrega la cátedra: un quinto criterio, las restricciones técnicas y de diseño de la plataforma (todo lo que vimos hoy: calor, batería, memoria, interrupciones, pantalla). El artículo no lo menciona y es justamente el núcleo de esta materia.</a:t>
            </a:r>
          </a:p>
          <a:p>
            <a:r>
              <a:t>Respuesta esperada a la pregunta: Asteroides encaja en móvil por audiencia (partidas cortas y casuales) y por sus requisitos técnicos bajos, pero exige rediseñar el control, la pantalla y la pausa (lo que encontramos en A4.2). La monetización se decide más adelante en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px (píxel): punto físico de la pantalla; su tamaño real depende de la densidad.</a:t>
            </a:r>
          </a:p>
          <a:p>
            <a:r>
              <a:t>• pt / dp: unidades independientes de la densidad (iOS / Android); un botón de 48 dp mide lo mismo en cualquier teléfono.</a:t>
            </a:r>
          </a:p>
          <a:p>
            <a:r>
              <a:t>• Canvas Scaler: componente de Unity que decide cómo se escala la UI según la pantalla.</a:t>
            </a:r>
          </a:p>
          <a:p>
            <a:r>
              <a:t>Problema: en un teléfono con muesca, el score de Asteroides queda bajo la cámara y el botón de inicio, pensado para un mouse, es diminuto. Preguntar "¿cuántos píxeles debería medir un botón?" y mostrar que en píxeles no hay respuesta: el mismo botón de 100 px es grande en un teléfono viejo y diminuto en uno de alta densidad.</a:t>
            </a:r>
          </a:p>
          <a:p>
            <a:r>
              <a:t>Mínimos oficiales: Apple pide 44 × 44 pt por defecto, con un mínimo absoluto de 28 × 28 pt; Android pide al menos 48 × 48 dp ("Larger is even better"). Son números verificables: convierten "botón cómodo" en un criterio de prueba.</a:t>
            </a:r>
          </a:p>
          <a:p>
            <a:r>
              <a:t>Unity: Asteroides usa Constant Pixel Size (supuesto S6). Scale With Screen Size escala desde una resolución de referencia. Se aplica en A4.7.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Safe area (zona segura): rectángulo de la pantalla donde la interfaz se ve completa, sin muescas ni barras del sistema.</a:t>
            </a:r>
          </a:p>
          <a:p>
            <a:r>
              <a:t>• Cutout: recorte de la pantalla (muesca o cámara perforada).</a:t>
            </a:r>
          </a:p>
          <a:p>
            <a:r>
              <a:t>• Edge-to-edge: el contenido ocupa la pantalla de borde a borde.</a:t>
            </a:r>
          </a:p>
          <a:p>
            <a:r>
              <a:t>• Barra de gestos: franja inferior que el sistema usa para navegar.</a:t>
            </a:r>
          </a:p>
          <a:p>
            <a:r>
              <a:t>Detalle: muescas, cámaras perforadas, bordes curvos y barras de gestos ocupan partes de la pantalla. Screen.safeArea devuelve el rectángulo donde la interfaz está a salvo, en píxeles.</a:t>
            </a:r>
          </a:p>
          <a:p>
            <a:r>
              <a:t>En Android 15 con target SDK 35, el contenido va de borde a borde obligatoriamente; Unity ignora la opción "Render Outside Safe Area". Por eso hay que leer safeArea y no confiar en que el sistema deje márgenes.</a:t>
            </a:r>
          </a:p>
          <a:p>
            <a:r>
              <a:t>La UI esencial va dentro de la safe area; el fondo puede salir de ella.</a:t>
            </a:r>
          </a:p>
          <a:p>
            <a:r>
              <a:t>Android permite simular un cutout desde las opciones de desarrollador: útil para la práctica en el teléfono, más adelante en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Agarre: forma de sostener el teléfono (una mano, acunado, dos manos).</a:t>
            </a:r>
          </a:p>
          <a:p>
            <a:r>
              <a:t>• HUD: información y controles superpuestos al juego.</a:t>
            </a:r>
          </a:p>
          <a:p>
            <a:r>
              <a:t>Datos de Hoober (2013, 1.333 personas observadas): 49 % una mano, 36 % acunado, 15 % dos manos; la gente cambia de agarre todo el tiempo. Advertir: fuente profesional, no académica, con más de una década; sirve como disparador, no como norma.</a:t>
            </a:r>
          </a:p>
          <a:p>
            <a:r>
              <a:t>CoD Mobile y Fortnite permiten mover y redimensionar los controles: una respuesta de diseño a la diversidad de manos y teléfonos.</a:t>
            </a:r>
          </a:p>
          <a:p>
            <a:r>
              <a:t>Orientación: lo vieron en la puesta en común de A4.2: en vertical, la mayoría de los asteroides nace fuera de pantalla. Android 16 ignora las restricciones de orientación en pantallas grandes, salvo en juegos (Unity 6.3 marca Application Category = Game por defecto). No hay respuesta única: se evalúa que la decisión considere sus consecuencias (spawn, límites, HUD).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Gesto estándar: tocar, deslizar, arrastrar, mantener, pellizcar.</a:t>
            </a:r>
          </a:p>
          <a:p>
            <a:r>
              <a:t>• Háptica: vibraciones cortas como respuesta a una acción.</a:t>
            </a:r>
          </a:p>
          <a:p>
            <a:r>
              <a:t>• Onboarding: la primera sesión, cuando el juego enseña a jugar.</a:t>
            </a:r>
          </a:p>
          <a:p>
            <a:r>
              <a:t>Gestos: no redefinir los gestos del sistema; un gesto inventado nunca debe ser la única forma de hacer algo importante (Apple), y las apps no deberían depender de gestos (Android).</a:t>
            </a:r>
          </a:p>
          <a:p>
            <a:r>
              <a:t>Sin botón físico: el joystick virtual es familiar, pero no tiene tope y tapa la pantalla; el toque directo es preciso, pero el dedo cubre lo que toca; Alto's Adventure se juega con un solo toque.</a:t>
            </a:r>
          </a:p>
          <a:p>
            <a:r>
              <a:t>Accesibilidad (al checklist del TP 3): controles grandes y separados; alternativa a cada gesto; háptica y efectos desactivables (Android: entre una vibración molesta y ninguna, elegir ninguna); sin toques repetidos rápidos; texto de 17 pt por defecto y 11 pt como mínimo en iOS.</a:t>
            </a:r>
          </a:p>
          <a:p>
            <a:r>
              <a:t>Primera sesión, en una línea: jugar apenas se instala, descarga inicial corta, enseñar jugando y pedir permisos cuando hacen falta.</a:t>
            </a:r>
          </a:p>
          <a:p>
            <a:r>
              <a:t>Video opcional de tarea: Zach Gage, "Controls You Can Feel" (GDC 2012).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Input System: paquete de Unity que reemplaza al Input Manager clásico; trabaja con acciones en lugar de teclas fijas.</a:t>
            </a:r>
          </a:p>
          <a:p>
            <a:r>
              <a:t>• Acción: lo que el jugador quiere hacer (mover, disparar), separado del botón que la produce.</a:t>
            </a:r>
          </a:p>
          <a:p>
            <a:r>
              <a:t>• Binding: asociación entre una acción y un control concreto (flecha izquierda, stick del gamepad).</a:t>
            </a:r>
          </a:p>
          <a:p>
            <a:r>
              <a:t>• OnScreenStick / OnScreenButton: componentes que dibujan un control en la pantalla táctil y lo hacen pasar por un gamepad virtual.</a:t>
            </a:r>
          </a:p>
          <a:p>
            <a:r>
              <a:t>• Active Input Handling: opción del proyecto que elige el sistema de entrada (Old, New o Both).</a:t>
            </a:r>
          </a:p>
          <a:p>
            <a:r>
              <a:t>Primero el problema (regla de la cátedra): en el teléfono, Asteroides deja tocar "Start", pero la nave no se mueve ni dispara, porque Ship.cs leía teclas fijas (supuesto S1). Después la herramienta.</a:t>
            </a:r>
          </a:p>
          <a:p>
            <a:r>
              <a:t>El diagrama es el mismo de las tres capas: el dispositivo cambia; la intención y la nave no. Los controles en pantalla no son un caso especial: según la documentación de Input System 1.19, un OnScreenStick con el control path &lt;Gamepad&gt;/leftStick crea un gamepad virtual, y el juego lo lee igual que un gamepad físico.</a:t>
            </a:r>
          </a:p>
          <a:p>
            <a:r>
              <a:t>Pasos de la demo (versión del repositorio, ya portada):</a:t>
            </a:r>
          </a:p>
          <a:p>
            <a:r>
              <a:t>1. Package Manager: Input System 1.19.0 instalado (viene con Unity 6000.3.11f1).</a:t>
            </a:r>
          </a:p>
          <a:p>
            <a:r>
              <a:t>2. Project Settings &gt; Player &gt; Active Input Handling = Both. Se usa Both, y no solo New, para no romper el menú, que todavía usa el StandaloneInputModule clásico. Unity pide reiniciar el editor. Consecuencia (versión 4): según la documentación de Unity 6.3, Both "no está soportado en Android"; al compilar aparece el cartel "Unsupported Input Handling on Android". Es el precio de una dependencia oculta y se retoma más adelante en la unidad, con el teléfono.</a:t>
            </a:r>
          </a:p>
          <a:p>
            <a:r>
              <a:t>3. Abrir el Device Simulator con un teléfono: aparecen el joystick abajo a la izquierda y el botón de disparo abajo a la derecha (MobileControlsVisibility los muestra solo en plataformas móviles).</a:t>
            </a:r>
          </a:p>
          <a:p>
            <a:r>
              <a:t>4. Mover la nave con el mouse sobre el joystick. Después, en la PC, mostrar que el teclado sigue funcionando y, si hay un gamepad, que también funciona sin cambiar código.</a:t>
            </a:r>
          </a:p>
          <a:p>
            <a:r>
              <a:t>Límite a decir en voz alta: el Device Simulator simula el toque de un dedo; mover y disparar a la vez (dos dedos) solo se prueba en el teléfono.</a:t>
            </a:r>
          </a:p>
          <a:p>
            <a:r>
              <a:t>URL verificada (2026-10-10): https://docs.unity3d.com/Packages/com.unity.inputsystem@1.19/manual/OnScreen.html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Composite 1DAxis: binding que arma un eje de −1 a 1 con dos teclas (negativa y positiva).</a:t>
            </a:r>
          </a:p>
          <a:p>
            <a:r>
              <a:t>• Adaptador: clase que traduce el dispositivo a la intención; acá, ShipInputAdapter.</a:t>
            </a:r>
          </a:p>
          <a:p>
            <a:r>
              <a:t>• Zona muerta (dead zone): margen alrededor de 0 en el que el stick se considera quieto (0,2 en Ship.cs).</a:t>
            </a:r>
          </a:p>
          <a:p>
            <a:r>
              <a:t>Qué mostrar: las flechas y la barra espaciadora siguen ahí, pero ahora como bindings de una acción; el stick y el D-pad del gamepad y el botón A (buttonSouth) se agregan como bindings de las mismas acciones. Cada frame, el adaptador llama a ship.SetIntent(mover, disparar).</a:t>
            </a:r>
          </a:p>
          <a:p>
            <a:r>
              <a:t>Comparar con la slide de A4.2 (versión original): las tres lecturas de Input.GetKey desaparecieron de Ship.cs. MoveLeft, MoveRight y ShootLaser no cambiaron, y por eso los tests que ya existían siguen sirviendo.</a:t>
            </a:r>
          </a:p>
          <a:p>
            <a:r>
              <a:t>Decisión de diseño a explicitar: el esquema del repositorio (joystick + botón) es uno de los posibles; en A4.7 cada grupo elige el suyo y lo implementa.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Esquema de control: forma en que el jugador da órdenes (joystick virtual + botón, o arrastrar + autodisparo).</a:t>
            </a:r>
          </a:p>
          <a:p>
            <a:r>
              <a:t>• Autodisparo: la nave dispara sola, sin un botón.</a:t>
            </a:r>
          </a:p>
          <a:p>
            <a:r>
              <a:t>• Device Simulator: simula el toque de un dedo, pero no el rendimiento.</a:t>
            </a:r>
          </a:p>
          <a:p>
            <a:r>
              <a:t>Versión final: une A4.3 (bocetos) y A4.7 (implementación) en una sola actividad.</a:t>
            </a:r>
          </a:p>
          <a:p>
            <a:r>
              <a:t>Parte 1, boceto (8 min): dos esquemas sobre la plantilla con la safe area; medidas en pt/dp y orientación; comparar con cinco criterios (oclusión, precisión, una mano, accesibilidad, descubribilidad) y elegir uno.</a:t>
            </a:r>
          </a:p>
          <a:p>
            <a:r>
              <a:t>Parte 2, Unity (22 min, sobre su copia del proyecto original):</a:t>
            </a:r>
          </a:p>
          <a:p>
            <a:r>
              <a:t>1. Instalar Input System 1.19.0 desde el Package Manager y poner Active Input Handling = Both (reiniciar el editor).</a:t>
            </a:r>
          </a:p>
          <a:p>
            <a:r>
              <a:t>2. Implementar el esquema elegido: joystick + botón (OnScreenStick + OnScreenButton) o arrastre + autodisparo. La nave no lee el dispositivo: solo recibe la intención.</a:t>
            </a:r>
          </a:p>
          <a:p>
            <a:r>
              <a:t>3. Canvas en Scale With Screen Size y controles dentro de Screen.safeArea.</a:t>
            </a:r>
          </a:p>
          <a:p>
            <a:r>
              <a:t>4. Probar en el Device Simulator con un teléfono con muesca y uno sin muesca.</a:t>
            </a:r>
          </a:p>
          <a:p>
            <a:r>
              <a:t>5. Anotar lo que el simulador NO pudo probar (dos dedos a la vez, comodidad, rendimiento): se prueba en el teléfono, más adelante en la unidad.</a:t>
            </a:r>
          </a:p>
          <a:p>
            <a:r>
              <a:t>Buena respuesta: decide la orientación sabiendo su efecto sobre el spawn, respeta 44 pt / 48 dp, no pone controles bajo la muesca y reconoce que el autodisparo cambia el game design.</a:t>
            </a:r>
          </a:p>
          <a:p>
            <a:r>
              <a:t>Referencia para destrabar (no entregar): ShipInputAdapter.cs, MobileControlsVisibility.cs y los controles del prefab UICanvas (creados con Editor/PorteoSetup.cs).</a:t>
            </a:r>
          </a:p>
          <a:p>
            <a:r>
              <a:t>Errores frecuentes: olvidar Active Input Handling; si el código está en un asmdef, agregar la referencia a Unity.InputSystem; poner el control fuera del Canvas.</a:t>
            </a:r>
          </a:p>
          <a:p>
            <a:r>
              <a:t>Si no terminan: completan en casa y suben la captura al aula virtual. Avance del TP 3: sección 3 (control y HUD).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Playtest de papel: prueba con personas usando un prototipo dibujado, antes de probar en el dispositivo.</a:t>
            </a:r>
          </a:p>
          <a:p>
            <a:r>
              <a:t>Consigna del playtest: dibujar el HUD que implementaron, a escala, sobre la silueta del propio teléfono; sostenerlo y comprobar si se llega a todo y qué tapa el pulgar. Es barato y se hace con personas reales: la comodidad no se prueba en el editor.</a:t>
            </a:r>
          </a:p>
          <a:p>
            <a:r>
              <a:t>Comparar con A4.7: el simulador dijo dónde están los controles; la mano dice si se pueden usar.</a:t>
            </a:r>
          </a:p>
          <a:p>
            <a:r>
              <a:t>Cierre: un buen layout no garantiza comodidad; eso lo dicen las personas. Verificar quién ya tiene la depuración USB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Build Profiles: ventana de Unity 6 (File &gt; Build Profiles) que reemplaza a Build Settings; cada perfil guarda una plataforma y sus opciones.</a:t>
            </a:r>
          </a:p>
          <a:p>
            <a:r>
              <a:t>• Switch Platform: cambiar la plataforma activa; Unity reimporta los assets y la primera vez tarda.</a:t>
            </a:r>
          </a:p>
          <a:p>
            <a:r>
              <a:t>• APK: archivo instalable de Android. AAB (App Bundle): formato para publicar en Google Play; no se instala a mano.</a:t>
            </a:r>
          </a:p>
          <a:p>
            <a:r>
              <a:t>• IL2CPP: backend que convierte el C# a C++ y lo compila a código nativo; es el único que habilita ARM64.</a:t>
            </a:r>
          </a:p>
          <a:p>
            <a:r>
              <a:t>• ARM64: arquitectura de 64 bits de los procesadores de los teléfonos actuales.</a:t>
            </a:r>
          </a:p>
          <a:p>
            <a:r>
              <a:t>Por qué acá: acaban de implementar los controles y el paso natural es verlos en el teléfono. Es solo un vistazo del camino; el detalle y los problemas se trabajan más adelante en la unidad, con los teléfonos.</a:t>
            </a:r>
          </a:p>
          <a:p>
            <a:r>
              <a:t>Mostrar en vivo (3 min), sin compilar: File &gt; Build Profiles; elegir Android y Switch Platform. Recorrer las marcas rojas de la captura: el perfil activo, Build App Bundle (destildado = sale un .apk) y Development Build (lo necesita el Profiler).</a:t>
            </a:r>
          </a:p>
          <a:p>
            <a:r>
              <a:t>Tarea (guía en el aula virtual):</a:t>
            </a:r>
          </a:p>
          <a:p>
            <a:r>
              <a:t>1. Switch Platform a Android en su copia del proyecto.</a:t>
            </a:r>
          </a:p>
          <a:p>
            <a:r>
              <a:t>2. Edit &gt; Project Settings &gt; Player &gt; Android &gt; Other Settings: Scripting Backend = IL2CPP y tildar ARM64. Hacerlo en Project Settings y no en la sección Player Settings del Build Profile: si se edita ahí, el perfil guarda una copia propia (en nuestro proyecto pasó: Company y Product quedaron en Assets/Settings/Build Profiles y no en ProjectSettings).</a:t>
            </a:r>
          </a:p>
          <a:p>
            <a:r>
              <a:t>3. Botón Build (no Build And Run), carpeta Builds/ fuera de Assets, nombre AsteroideTest.apk. Si aparece "Unsupported Input Handling on Android", tocar Ignore y anotarlo.</a:t>
            </a:r>
          </a:p>
          <a:p>
            <a:r>
              <a:t>4. Traer el .apk y anotar cuánto tardó la build y qué carteles aparecieron.</a:t>
            </a:r>
          </a:p>
          <a:p>
            <a:r>
              <a:t>Por qué en casa: la primera build con IL2CPP tarda varios minutos (Gradle descarga y compila); hecha en casa, la práctica con el teléfono no pierde ese tiempo y los problemas de drivers llegan resueltos.</a:t>
            </a:r>
          </a:p>
          <a:p>
            <a:r>
              <a:t>Dato verificado (Unity 6.3 Manual, Build your application for Android): Build crea el archivo en la carpeta elegida; Build and Run además lo instala en el Run Device; por defecto Unity genera 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Build Support: módulo de Unity que permite compilar para una plataforma; acá, Android.</a:t>
            </a:r>
          </a:p>
          <a:p>
            <a:r>
              <a:t>• Depuración USB: opción de Android que permite a la PC instalar y analizar apps en el teléfono por cable.</a:t>
            </a:r>
          </a:p>
          <a:p>
            <a:r>
              <a:t>Cerrar con el límite de la herramienta: el simulador encontró el problema de la pantalla, pero no mide calor, batería ni comodidad. Eso se mide en sus teléfonos, más adelante en la unidad.</a:t>
            </a:r>
          </a:p>
          <a:p>
            <a:r>
              <a:t>Tarea técnica obligatoria (sin ella no se puede hacer la práctica en el teléfono):</a:t>
            </a:r>
          </a:p>
          <a:p>
            <a:r>
              <a:t>1. Instalar Android Build Support (con OpenJDK, Android SDK y NDK) en Unity 6000.3.11f1 desde Unity Hub.</a:t>
            </a:r>
          </a:p>
          <a:p>
            <a:r>
              <a:t>2. En el teléfono: tocar 7 veces "Número de compilación" y activar "Depuración USB" (Android 9 o superior: Ajustes &gt; Sistema &gt; Avanzado &gt; Opciones de desarrollador).</a:t>
            </a:r>
          </a:p>
          <a:p>
            <a:r>
              <a:t>3. Comprobar que la PC ve el teléfono: cable de datos, aceptar "¿Permitir depuración USB?" y Build Profiles &gt; Android &gt; Run Device &gt; Refresh (o adb devices).</a:t>
            </a:r>
          </a:p>
          <a:p>
            <a:r>
              <a:t>4. Generar el primer APK siguiendo la slide anterior (IL2CPP + ARM64, botón Build) y traerlo instalado o en el teléfono.</a:t>
            </a:r>
          </a:p>
          <a:p>
            <a:r>
              <a:t>Lectura (aula virtual): "Leer con lupa", el artículo de Kevuru Games con las observaciones de la cátedra (Stadia cerrado, Origin reemplazada, cifras sin fuente).</a:t>
            </a:r>
          </a:p>
          <a:p>
            <a:r>
              <a:t>TP 3: Dossier de plataforma, Asteroides móvil (consigna en el aula virtual).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2 DE 3 · 90 MIN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Del supuesto de PC al pulgar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Supuestos de PC, UI táctil y controles en Unity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2 · final ·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 · 3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Dónde quedamos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¿Por qué la nave no se mueve en el teléfono?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A4.1: síntomas en el teléfono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Hoy: qué supone el código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Y cómo se juega con el pulgar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· 4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el simulador y sus límites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Manual — Device Simulator introduction; Android Player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Player Settings de Android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Device Simulator: qué simula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Y qué NO simula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Asteroides en vertical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12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A4.2 — Supuestos de 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5 supuestos: dónde (archivo:línea), qué pasaría, qué eje.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3735" y="1234440"/>
            <a:ext cx="6035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Ship.cs  ·  líneas 61–73  ·  versión original (commit e766f8c)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53735" y="1600200"/>
            <a:ext cx="6035040" cy="38404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/>
          <a:lstStyle/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61  </a:t>
            </a:r>
            <a:r>
              <a:rPr sz="1400" b="1" i="0">
                <a:solidFill>
                  <a:srgbClr val="D97706"/>
                </a:solidFill>
                <a:latin typeface="Consolas"/>
              </a:rPr>
              <a:t>if (Input.GetKey(KeyCode.Space) &amp;&amp; canShoot)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62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63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    ShootLaser();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64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65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66  </a:t>
            </a:r>
            <a:r>
              <a:rPr sz="1400" b="1" i="0">
                <a:solidFill>
                  <a:srgbClr val="D97706"/>
                </a:solidFill>
                <a:latin typeface="Consolas"/>
              </a:rPr>
              <a:t>if (Input.GetKey(KeyCode.LeftArrow))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67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68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    MoveLeft();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69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70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71  </a:t>
            </a:r>
            <a:r>
              <a:rPr sz="1400" b="1" i="0">
                <a:solidFill>
                  <a:srgbClr val="D97706"/>
                </a:solidFill>
                <a:latin typeface="Consolas"/>
              </a:rPr>
              <a:t>if (Input.GetKey(KeyCode.RightArrow))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72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onsolas"/>
              </a:rPr>
              <a:t> 73  </a:t>
            </a:r>
            <a:r>
              <a:rPr sz="1400" b="0" i="0">
                <a:solidFill>
                  <a:srgbClr val="E2E8F0"/>
                </a:solidFill>
                <a:latin typeface="Consolas"/>
              </a:rPr>
              <a:t>    MoveRight();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48764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Ship.cs 61–73: el control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Ship.cs 46–47 y 99–115: los límites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Spawner.cs 101–106: el spawn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Prefab Game: Canvas y cámara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PUESTA EN COMÚN · 5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encontramos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Código del proyecto (Spawner.cs:101-106; prefab Game, Camera)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13655" y="1920240"/>
            <a:ext cx="3271393" cy="1840159"/>
          </a:xfrm>
          <a:prstGeom prst="rect">
            <a:avLst/>
          </a:prstGeom>
          <a:solidFill>
            <a:srgbClr val="F3F4F6"/>
          </a:solidFill>
          <a:ln w="317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77224" y="1627632"/>
            <a:ext cx="294425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6311" y="383355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16:9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se ven ±8,9 unidades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7663" y="1920240"/>
            <a:ext cx="1035089" cy="1840159"/>
          </a:xfrm>
          <a:prstGeom prst="rect">
            <a:avLst/>
          </a:prstGeom>
          <a:solidFill>
            <a:srgbClr val="F3F4F6"/>
          </a:solidFill>
          <a:ln w="317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53080" y="1627632"/>
            <a:ext cx="954583" cy="164592"/>
          </a:xfrm>
          <a:prstGeom prst="rect">
            <a:avLst/>
          </a:prstGeom>
          <a:solidFill>
            <a:srgbClr val="DC262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7663" y="1627632"/>
            <a:ext cx="1035089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42752" y="1627632"/>
            <a:ext cx="954583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2167" y="383355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9:16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se ven ±2,8 unidades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3655" y="5404104"/>
            <a:ext cx="320040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5135" y="534924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spawn dentro de la pantalla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4055" y="5404104"/>
            <a:ext cx="320040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5535" y="534924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spawn fuera de la pantalla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3655" y="5669280"/>
            <a:ext cx="6766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Escala real: cámara ortográfica de tamaño 5; spawn en x ∈ [-8, 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234440"/>
            <a:ext cx="414497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Vista: 5 × aspect a cada lado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16:9 → ≈ 8,9 · vertical → ≈ 2,8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Spawn en x ∈ [−8, 8]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vertical, nacen fuera de pantalla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DECISIÓN · 3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¿Cómo se elige una plataforma?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Kevuru Games (blog, consultado 2026-10-05) + criterio de la cátedra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Con estos criterios: ¿Asteroides es un juego para móvil?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Audiencia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Modelo de monetización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Herramientas y soporte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Vigencia en el tiempo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+ Restricciones técnicas (hoy)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4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¿Cuánto mide un dedo?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Buttons, Accessibility; Android — Make apps more accessible; Unity uGUI 2.0 — Canvas Scaler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Diseñar en pt/dp, no en px</a:t>
            </a:r>
          </a:p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Canvas Scaler: Scale With Screen Size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331720"/>
          <a:ext cx="11185854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694"/>
                <a:gridCol w="5056619"/>
                <a:gridCol w="367754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Plataforma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Mínimo táctil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44 × 44 pt (mínimo 28 × 28)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Apple HIG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48 × 48 dp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 Developers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SAFE AREA · 3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No todo el rectángulo es tuyo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Screen.safeArea; Android — Support display cutouts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66429" y="1280160"/>
            <a:ext cx="2238451" cy="466344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57869" y="1371600"/>
            <a:ext cx="2055571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49887" y="1371600"/>
            <a:ext cx="671535" cy="2560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37964" y="5669280"/>
            <a:ext cx="895380" cy="640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67597" y="1737360"/>
            <a:ext cx="1836115" cy="3749040"/>
          </a:xfrm>
          <a:prstGeom prst="rect">
            <a:avLst/>
          </a:prstGeom>
          <a:solidFill>
            <a:srgbClr val="E6F4F2"/>
          </a:solidFill>
          <a:ln w="25400">
            <a:solidFill>
              <a:srgbClr val="0D94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Zona segura (safe area)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608" y="13716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muesca / cámara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608" y="553212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barra de gestos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234440"/>
            <a:ext cx="67052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Muescas, bordes y barras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Screen.safeArea en Unity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UI esencial adentro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ERGONOMÍA · 3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Pulgar y orientación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Hoober, UXmatters 2013 (profesional); Activision blog CoD Mobile 2019; Android 16 behavior changes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¿Asteroides es vertical u horizontal?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agarre cambia todo el tiempo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HUD editable: CoD Mobile, Fortnite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Vertical: una mano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Horizontal: dos pulgares, más campo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 · 4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Gestos, controles y accesibilidad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Gestures, Accessibility; Android — Haptics design principles; Game Accessibility Guidelines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JOYSTICK VIRTUAL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283464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Familiar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3815" y="365760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Sin tope físico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Tapa la pantalla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TOQUE DIRECTO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5615" y="283464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Preciso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5615" y="365760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Un dedo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El dedo cubre lo que toca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Gesto propio: nunca la única vía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Joystick virtual: tapa la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Controles grandes y separados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Háptica y efectos desactivables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· INPUT SYSTEM · 4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Una acción, tres dispositivos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Input System 1.19 — On-screen Controls; código del proyecto (ShipInputAdapter.cs, Ship.cs)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8135" y="1234440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1015" y="1325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D9488"/>
                </a:solidFill>
                <a:latin typeface="Calibri"/>
              </a:rPr>
              <a:t>DISPOSITIVO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5101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Teclado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169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Gamepad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37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Joystick en pantalla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99855" y="2462784"/>
            <a:ext cx="457200" cy="31089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68135" y="2810256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1015" y="290169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97706"/>
                </a:solidFill>
                <a:latin typeface="Calibri"/>
              </a:rPr>
              <a:t>INTENCIÓN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1015" y="3361944"/>
            <a:ext cx="230886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7035" y="3361944"/>
            <a:ext cx="230886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Disparar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899855" y="4038600"/>
            <a:ext cx="457200" cy="31089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8135" y="4386072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1015" y="4477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Calibri"/>
              </a:rPr>
              <a:t>NAVE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101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MoveLeft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169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MoveRight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37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ShootLaser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8135" y="5669280"/>
            <a:ext cx="5120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DC2626"/>
                </a:solidFill>
                <a:latin typeface="Calibri"/>
              </a:rPr>
              <a:t>La nave no sabe qué dispositivo se usó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234440"/>
            <a:ext cx="57908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el teléfono, la nave no se mueve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Teclado, gamepad y dedo: la misma acción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Los controles en pantalla simulan un gamepad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· CÓDIGO REAL · 3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intención en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Código del proyecto (ShipInputAdapter.cs; Ship.cs, método SetIntent)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3735" y="1234440"/>
            <a:ext cx="6035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ShipInputAdapter.cs  ·  líneas 18–27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3735" y="1600200"/>
            <a:ext cx="6035040" cy="4389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/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18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 = new InputAction("Move", InputActionType.Value);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19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move.AddCompositeBinding("1DAxis")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20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   .With("Negative", "&lt;Keyboard&gt;/leftArrow")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21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   .With("Positive", "&lt;Keyboard&gt;/rightArrow");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22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move.AddBinding("&lt;Gamepad&gt;/leftStick/x");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23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move.AddBinding("&lt;Gamepad&gt;/dpad/x");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24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25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 = new InputAction("Fire", InputActionType.Button);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26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fire.AddBinding("&lt;Keyboard&gt;/space");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27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fire.AddBinding("&lt;Gamepad&gt;/buttonSouth");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48764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Las teclas pasan a ser bindings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gamepad se suma sin tocar la nave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La nave recibe SetIntent(mover, disparar)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30 MIN · GRUPOS · BOCETO + UNITY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A4.7 — Del boceto 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Entreguen boceto, captura del simulador y lo que no pudieron probar.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8103" y="1280160"/>
            <a:ext cx="1975104" cy="411480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9543" y="1371600"/>
            <a:ext cx="1792224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9389" y="1371600"/>
            <a:ext cx="592531" cy="2560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90634" y="5120640"/>
            <a:ext cx="790041" cy="640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9271" y="1737360"/>
            <a:ext cx="1572768" cy="3200400"/>
          </a:xfrm>
          <a:prstGeom prst="rect">
            <a:avLst/>
          </a:prstGeom>
          <a:solidFill>
            <a:srgbClr val="E6F4F2"/>
          </a:solidFill>
          <a:ln w="25400">
            <a:solidFill>
              <a:srgbClr val="0D94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Plantilla: boceten acá su HUD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2935" y="13716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muesca / cámara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2935" y="49834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barra de gestos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67052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Boceto: dos esquemas (8 min)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Elegir uno con 5 criterios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Implementarlo con Input System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¿Mide 48 dp? ¿Tapa la nave?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PLAYTEST DE PAPEL · 7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Probalo con tu mano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¿Coincide con lo que mostró el simulador?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HUD a escala sobre tu teléfono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¿Llegás a todo?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tapa el pulgar?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VISTAZO · 3 MIN · TAREA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Vistazo: del editor al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Manual — Build your application for Android; Android Player settings</a:t>
            </a:r>
          </a:p>
        </p:txBody>
      </p:sp>
      <p:pic>
        <p:nvPicPr>
          <p:cNvPr id="9" name="Picture 8" descr="u4-build-profiles-andr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5" y="1993790"/>
            <a:ext cx="6949440" cy="28704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739335" y="562356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Build Profiles en Unity 6000.3.11f1: perfil Android activo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39620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Build Profiles → Android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Player Settings: identidad y 64 bits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Build genera un .apk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Tarea: su primer APK en casa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CIERRE · 2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Qué no resuelve esto · Tarea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Del supuesto de PC al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Manual — Android environment setup; Android — Configure on-device developer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simulador no mide calor ni manos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TP 3: Dossier Asteroides móvil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Tarea: Build Support + USB + APK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Lectura: "Leer con lupa"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