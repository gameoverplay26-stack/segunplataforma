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cambiamos de restricción: ya no es el hardware ni la mano, son las reglas de la tienda y cómo probamos lo que diseñamos.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FTC (Federal Trade Commission): organismo de EE. UU. que protege a los consumidores.</a:t>
            </a:r>
          </a:p>
          <a:p>
            <a:r>
              <a:t>• COPPA: ley de EE. UU. que protege la privacidad de los menores de 13 años en línea.</a:t>
            </a:r>
          </a:p>
          <a:p>
            <a:r>
              <a:t>• Dark patterns: diseños de interfaz que empujan al usuario a hacer algo que no quería.</a:t>
            </a:r>
          </a:p>
          <a:p>
            <a:r>
              <a:t>Caso completo: en 2022 la FTC acusó a Epic Games por Fortnite. Epic pagó USD 275 millones por privacidad de menores (COPPA) y USD 245 millones en reembolsos. El motivo: dark patterns en la compra, con una configuración de botones "counterintuitive, inconsistent, and confusing".</a:t>
            </a:r>
          </a:p>
          <a:p>
            <a:r>
              <a:t>Respuesta buscada: las dos cosas. Una decisión de interfaz (dónde va un botón, qué confirma una compra) tuvo consecuencias legales. Desde hoy la monetización se analiza como diseño, con reglas y con ética.</a:t>
            </a:r>
          </a:p>
          <a:p>
            <a:r>
              <a:t>Imagen sugerida (opcional, sin recuadro en la slide): titular del comunicado oficial de la FTC del 19/12/2022.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Premium: el juego se paga una vez, al comprarlo.</a:t>
            </a:r>
          </a:p>
          <a:p>
            <a:r>
              <a:t>• Freemium: el juego es gratis y se cobra por contenido o ventajas dentro de él.</a:t>
            </a:r>
          </a:p>
          <a:p>
            <a:r>
              <a:t>• IAP (in-app purchase): compra dentro de la aplicación.</a:t>
            </a:r>
          </a:p>
          <a:p>
            <a:r>
              <a:t>• Híbrido: combinación de modelos (por ejemplo, anuncios + compra para quitarlos).</a:t>
            </a:r>
          </a:p>
          <a:p>
            <a:r>
              <a:t>Detalle por modelo:</a:t>
            </a:r>
          </a:p>
          <a:p>
            <a:r>
              <a:t>- Premium: el jugador paga una vez, al comprar; no hay interrupciones, pero el alcance es menor. Ejemplo: Alto's Adventure, pago único, sin anuncios ni IAP.</a:t>
            </a:r>
          </a:p>
          <a:p>
            <a:r>
              <a:t>- Freemium + IAP: pagan algunos jugadores, dentro del juego; la progresión y la tienda interna se piensan para vender.</a:t>
            </a:r>
          </a:p>
          <a:p>
            <a:r>
              <a:t>- Con anuncios: paga el anunciante y el jugador "paga" con tiempo; hay que decidir en qué momento interrumpir.</a:t>
            </a:r>
          </a:p>
          <a:p>
            <a:r>
              <a:t>- Híbrido: combina los anteriores.</a:t>
            </a:r>
          </a:p>
          <a:p>
            <a:r>
              <a:t>Agregar el modelo premium es una corrección al programa, que solo nombra freemium e híbridos. Ninguno es "el bueno": cada uno cambia el juego de distinta manera.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Rewarded: anuncio que el jugador elige ver a cambio de una recompensa.</a:t>
            </a:r>
          </a:p>
          <a:p>
            <a:r>
              <a:t>• Interstitial: anuncio de pantalla completa entre momentos del juego.</a:t>
            </a:r>
          </a:p>
          <a:p>
            <a:r>
              <a:t>• Banner: franja publicitaria fija en la pantalla.</a:t>
            </a:r>
          </a:p>
          <a:p>
            <a:r>
              <a:t>• Opt-in: el usuario elige activamente participar.</a:t>
            </a:r>
          </a:p>
          <a:p>
            <a:r>
              <a:t>Cita de AdMob sobre rewarded: "served after a user explicitly chooses to view". El interstitial va solo en transiciones naturales del juego.</a:t>
            </a:r>
          </a:p>
          <a:p>
            <a:r>
              <a:t>Remarcar la diferencia de consentimiento: el rewarded lo pide el jugador, el interstitial se lo imponen. Eso cambia la experiencia y, como vemos en la slide siguiente, también las reglas.</a:t>
            </a:r>
          </a:p>
          <a:p>
            <a:r>
              <a:t>Imagen sugerida (opcional, sin recuadro en la slide): tres mockups de pantalla de Asteroides, uno por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AdMob: plataforma de anuncios de Google para apps.</a:t>
            </a:r>
          </a:p>
          <a:p>
            <a:r>
              <a:t>• Política: regla obligatoria que impone la plataforma o la tienda.</a:t>
            </a:r>
          </a:p>
          <a:p>
            <a:r>
              <a:t>Las cuatro prohibiciones completas para interstitials: al abrir o al salir de la app; después de cada acción del usuario (como máximo, uno cada dos acciones); inmediatamente después de otro interstitial; de forma inesperada mientras el usuario está jugando.</a:t>
            </a:r>
          </a:p>
          <a:p>
            <a:r>
              <a:t>Discutir la pregunta: si cada partida es corta y cada Game Over muestra un anuncio, se acerca a "después de cada acción". No hay respuesta automática: hay que leer la política y justificar.</a:t>
            </a:r>
          </a:p>
          <a:p>
            <a:r>
              <a:t>Dato de herramienta: Unity recomienda migrar de Unity Ads directo a LevelPlay (mediación) desde abril de 2026; no se integra en esta materia.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Loot box: caja con premios al azar que se compra sin saber qué contiene.</a:t>
            </a:r>
          </a:p>
          <a:p>
            <a:r>
              <a:t>• Google Play Billing: sistema de pagos obligatorio de Google Play.</a:t>
            </a:r>
          </a:p>
          <a:p>
            <a:r>
              <a:t>• SDK: biblioteca de un tercero que se integra al juego (por ejemplo, para mostrar anuncios).</a:t>
            </a:r>
          </a:p>
          <a:p>
            <a:r>
              <a:t>Detalle:</a:t>
            </a:r>
          </a:p>
          <a:p>
            <a:r>
              <a:t>- Apple 3.1.1: para desbloquear contenido digital se debe usar la compra integrada (IAP).</a:t>
            </a:r>
          </a:p>
          <a:p>
            <a:r>
              <a:t>- Apple y Google: las cajas con premios al azar deben mostrar las probabilidades antes de comprar.</a:t>
            </a:r>
          </a:p>
          <a:p>
            <a:r>
              <a:t>- Google Play Billing es obligatorio, con excepciones por país.</a:t>
            </a:r>
          </a:p>
          <a:p>
            <a:r>
              <a:t>- Apps para niños: sin publicidad personalizada ni SDKs no certificados.</a:t>
            </a:r>
          </a:p>
          <a:p>
            <a:r>
              <a:t>IAP no es una estrategia libre: la tienda la impone y la regula. Por eso el diseño de la tienda interna empieza leyendo estas políticas.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Balance: equilibrio entre la dificultad y las herramientas del jugador.</a:t>
            </a:r>
          </a:p>
          <a:p>
            <a:r>
              <a:t>• Ritmo: alternancia entre momentos intensos y de descanso en la partida.</a:t>
            </a:r>
          </a:p>
          <a:p>
            <a:r>
              <a:t>Detalle: "continuar con un anuncio" cambia el significado del Game Over; subir la dificultad para vender vidas cambia el balance; las pausas para anuncios cambian el ritmo de la sesión.</a:t>
            </a:r>
          </a:p>
          <a:p>
            <a:r>
              <a:t>Caso: en Vampire Survivors para móvil, la monetización está "designed to never interrupt your game, always be optional" (Kotaku, 2023, citando a poncle).</a:t>
            </a:r>
          </a:p>
          <a:p>
            <a:r>
              <a:t>Respuesta posible a la pregunta: la cantidad de vidas, la velocidad de los asteroides y la duración de la partida; además, cómo se calcula el puntaje si alguien continúa. Es el puente entre economía y game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Correlación: dos cosas aparecen juntas, pero eso no prueba que una cause la otra.</a:t>
            </a:r>
          </a:p>
          <a:p>
            <a:r>
              <a:t>• Monetización predatoria: técnicas que aprovechan vulnerabilidades del jugador para que gaste.</a:t>
            </a:r>
          </a:p>
          <a:p>
            <a:r>
              <a:t>Detalle:</a:t>
            </a:r>
          </a:p>
          <a:p>
            <a:r>
              <a:t>- Dark patterns: diseños que juegan en contra del interés del jugador (Zagal, Björk y Lewis, 2013).</a:t>
            </a:r>
          </a:p>
          <a:p>
            <a:r>
              <a:t>- Loot boxes: asociadas con el juego problemático (Zendle y Cairns, 2018, PLOS ONE, n = 7.422). Es una correlación, no una causa demostrada.</a:t>
            </a:r>
          </a:p>
          <a:p>
            <a:r>
              <a:t>- 35 técnicas de monetización percibidas como predatorias (Petrovskaya y Zendle, 2022, Journal of Business Ethics).</a:t>
            </a:r>
          </a:p>
          <a:p>
            <a:r>
              <a:t>- Regulación: Bélgica prohibió mecánicas de loot box en 2018 (según la UK Gambling Commission).</a:t>
            </a:r>
          </a:p>
          <a:p>
            <a:r>
              <a:t>Cuidar la precisión: no decir que las loot boxes "causan" adicción. Zagal et al. se cita sin enlace hasta verificar una copia legal (pendiente en el status).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Cofre al azar: equivalente a una loot box.</a:t>
            </a:r>
          </a:p>
          <a:p>
            <a:r>
              <a:t>Propuestas completas: P1 premium a US$ 2,99, sin anuncios ni compras. P2 gratis, rewarded "continuar con 1 vida" (una vez por partida) + IAP "quitar anuncios". P3 gratis, interstitial al abrir y en cada Game Over + cofres pagos al azar sin probabilidades + dificultad aumentada para empujar a comprar.</a:t>
            </a:r>
          </a:p>
          <a:p>
            <a:r>
              <a:t>Respuesta esperada: P3 viola políticas (interstitial al abrir; probabilidades no informadas) y manipula la dificultad. P2 cumple, pero cambia el balance. P1 es viable, con menor alcance. Vale cualquier elección defendida con criterios y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Profiler: herramienta de Unity que mide en qué se gasta el tiempo de cada frame.</a:t>
            </a:r>
          </a:p>
          <a:p>
            <a:r>
              <a:t>• Granja de dispositivos: servicio con muchos teléfonos reales para correr pruebas a distancia (Firebase Test Lab, AWS Device Farm).</a:t>
            </a:r>
          </a:p>
          <a:p>
            <a:r>
              <a:t>• Android vitals: métricas de calidad que Google Play mide sobre las apps publicadas.</a:t>
            </a:r>
          </a:p>
          <a:p>
            <a:r>
              <a:t>• ANR (Application Not Responding): la app deja de responder.</a:t>
            </a:r>
          </a:p>
          <a:p>
            <a:r>
              <a:t>Es la escalera que conecta con la Unidad 3: cada nivel tiene un "qué no prueba". El Device Simulator no prueba rendimiento, memoria ni render; el emulador no prueba térmica ni la GPU del teléfono.</a:t>
            </a:r>
          </a:p>
          <a:p>
            <a:r>
              <a:t>Android vitals mide fallas como la tasa de cierres inesperados (umbral general 1,09 %) y de ANR (0,47 %); la memoria pasa a afectar la visibilidad en la tienda desde febrero de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AAB (Android App Bundle): formato de publicación que exige Google Play.</a:t>
            </a:r>
          </a:p>
          <a:p>
            <a:r>
              <a:t>• Target API: versión de Android para la que se declara compilado el juego.</a:t>
            </a:r>
          </a:p>
          <a:p>
            <a:r>
              <a:t>• Xcode: entorno de Apple para compilar apps de iOS; solo corre en macOS.</a:t>
            </a:r>
          </a:p>
          <a:p>
            <a:r>
              <a:t>Detalle: Google Play exige AAB y, desde el 31/08/2026, apuntar a Android 16 (API 36). Unity 6.3 soporta Android 7.1 (API 25) o superior. Para iOS, Unity genera un proyecto de Xcode, y Xcode solo corre en macOS. En la cátedra no hay Mac: iOS se estudia de forma conceptual.</a:t>
            </a:r>
          </a:p>
          <a:p>
            <a:r>
              <a:t>Las reglas de tienda cambian todos los años: un juego publicado en 2025 puede necesitar cambios en 2026 sin que nadie toque el diseño. Decir explícitamente el límite del curso con iOS; no esconderlo.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3: porteo real de Asteroides.]</a:t>
            </a:r>
          </a:p>
          <a:p>
            <a:r>
              <a:t>Glosario (conceptos cortos para la docente):</a:t>
            </a:r>
          </a:p>
          <a:p>
            <a:r>
              <a:t>• Adaptador: clase que traduce lo que pasa afuera del juego (un dispositivo, un aviso del sistema operativo) en una orden para la lógica del juego.</a:t>
            </a:r>
          </a:p>
          <a:p>
            <a:r>
              <a:t>• Regla: lógica del juego que se puede probar sin el dispositivo real.</a:t>
            </a:r>
          </a:p>
          <a:p>
            <a:r>
              <a:t>• Test inestable (flaky): test que a veces pasa y a veces falla sin que cambie el código.</a:t>
            </a:r>
          </a:p>
          <a:p>
            <a:r>
              <a:t>• SO: sistema operativo (Android, iOS); es quien avisa al juego que pasa a segundo plano.</a:t>
            </a:r>
          </a:p>
          <a:p>
            <a:r>
              <a:t>Idea: el porteo de la entrada ya usó el mismo patrón que van a aplicar a la pausa en A4.4. ShipInputAdapter lee el teclado, el gamepad o los controles en pantalla y llama a Ship.SetIntent; los tests de ShipIntentTests prueban la nave con intenciones, sin ningún dispositivo, y desactivan el adaptador para aislarla.</a:t>
            </a:r>
          </a:p>
          <a:p>
            <a:r>
              <a:t>Evidencia real del repositorio (Test Runner en batchmode, Play Mode, 2026-10-10; XML en laboratorio-adaptacion/evidencia):</a:t>
            </a:r>
          </a:p>
          <a:p>
            <a:r>
              <a:t>1. Antes del porteo: 11 tests, 7 pasan y 4 fallan.</a:t>
            </a:r>
          </a:p>
          <a:p>
            <a:r>
              <a:t>2. Después del porteo: 14 tests (11 + 3 nuevos). En tres corridas pasaron 10, 11 y 10. Los 3 tests nuevos pasaron siempre.</a:t>
            </a:r>
          </a:p>
          <a:p>
            <a:r>
              <a:t>3. Tres fallas son siempre las mismas: las "hipótesis de integración" que detectan defectos reales del pool de asteroides (un asteroide se libera dos veces; NewGame no borra los asteroides viejos; un segundo NewGame acelera el spawn).</a:t>
            </a:r>
          </a:p>
          <a:p>
            <a:r>
              <a:t>4. Una falla cambia de test entre corridas (LaserMovesUp en una, GameOverStopsSpawningAndDisablesShip en otras): el stack trace lleva al mismo defecto del pool (Laser.cs:52 → Spawner.PlayExplosion). Es un test inestable causado por el código del juego, no por el porteo.</a:t>
            </a:r>
          </a:p>
          <a:p>
            <a:r>
              <a:t>Mensaje: un test en rojo no siempre es culpa del cambio que acabamos de hacer; hay que leer el stack trace antes de concluir. Es el ciclo de la Unidad 3 aplicado a la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Edit Mode: tests que corren sin ejecutar el juego.</a:t>
            </a:r>
          </a:p>
          <a:p>
            <a:r>
              <a:t>• Play Mode: tests que corren con el juego en marcha.</a:t>
            </a:r>
          </a:p>
          <a:p>
            <a:r>
              <a:t>• Test en rojo: test que falla; es lo esperado cuando el código tiene el defecto.</a:t>
            </a:r>
          </a:p>
          <a:p>
            <a:r>
              <a:t>Requiere tener en el repositorio la versión de Asteroides con el sistema de pausa defectuoso (tarea del status): al volver, el juego reanuda solo.</a:t>
            </a:r>
          </a:p>
          <a:p>
            <a:r>
              <a:t>Mostrar el rojo y no corregir: lo corrigen los grupos. Recordar el ciclo de la Unidad 3: rojo, corrección, verde, regresión.</a:t>
            </a:r>
          </a:p>
          <a:p>
            <a:r>
              <a:t>La pestaña Player del Test Runner (correr los tests en el teléfono) se usa más adelante en la unidad, en la práctica con el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Adaptador: clase que traduce los avisos del motor (OnApplicationPause) en órdenes para la lógica del juego.</a:t>
            </a:r>
          </a:p>
          <a:p>
            <a:r>
              <a:t>• Regla: lógica pura en C#, sin dependencias de Unity, que decide si el juego está en pausa; se puede probar sin abrir el juego.</a:t>
            </a:r>
          </a:p>
          <a:p>
            <a:r>
              <a:t>• Regresión: un defecto ya corregido que vuelve a aparecer.</a:t>
            </a:r>
          </a:p>
          <a:p>
            <a:r>
              <a:t>Consigna completa: escribir el comportamiento esperado ante una interrupción como criterio verificable; separar la regla (C# puro) del adaptador (MonoBehaviour que recibe OnApplicationPause); escribir el test de Edit Mode de la regla; completar qué NO demuestra el test. El test de Play Mode y la corrección se terminan en el TP 3, y el QA manual se hace más adelante en la unidad, con los teléfonos.</a:t>
            </a:r>
          </a:p>
          <a:p>
            <a:r>
              <a:t>El diagrama muestra el camino del aviso: el sistema operativo avisa al adaptador, el adaptador llama a la regla y la regla cambia el estado del juego.</a:t>
            </a:r>
          </a:p>
          <a:p>
            <a:r>
              <a:t>Respuesta esperada de "qué no demuestra": que el sistema operativo llame al callback cuando corresponde; qué pasa si el sistema mata el proceso (no se llama nada); el caso del teclado en pantalla en Android.</a:t>
            </a:r>
          </a:p>
          <a:p>
            <a:r>
              <a:t>Ejemplo para destrabar (versión 3): ShipIntentTests.cs muestra cómo se aísla la regla del adaptador (el test desactiva ShipInputAdapter y llama directamente a SetIntent). La regla de pausa se prueba igual.</a:t>
            </a:r>
          </a:p>
          <a:p>
            <a:r>
              <a:t>[Versión 4: A4.4 baja de 35 a 30 minutos para dejar lugar a A4.8; el reparto de la clase está en las notas de la última slide.]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4.]</a:t>
            </a:r>
          </a:p>
          <a:p>
            <a:r>
              <a:t>Glosario (conceptos cortos para la docente):</a:t>
            </a:r>
          </a:p>
          <a:p>
            <a:r>
              <a:t>• Test de Edit Mode: test que corre en el editor sin dar Play; sirve para lógica pura y para leer la configuración del proyecto.</a:t>
            </a:r>
          </a:p>
          <a:p>
            <a:r>
              <a:t>• PlayerSettings: API de C# que lee y escribe los Player Settings.</a:t>
            </a:r>
          </a:p>
          <a:p>
            <a:r>
              <a:t>• NamedBuildTarget: identificador de la plataforma en la API (acá, Android).</a:t>
            </a:r>
          </a:p>
          <a:p>
            <a:r>
              <a:t>• Bandera (flag): valor que junta varias opciones; con &amp; se pregunta si una está prendida.</a:t>
            </a:r>
          </a:p>
          <a:p>
            <a:r>
              <a:t>Problema primero: el APK se instala en un teléfono y en otro no. Nadie tocó el código del juego: el proyecto estaba en Mono y solo ARMv7. ¿Se puede proteger la configuración con un test?</a:t>
            </a:r>
          </a:p>
          <a:p>
            <a:r>
              <a:t>Qué mostrar: dos de los cuatro tests de AndroidBuildConfigTests.cs. Los otros dos verifican que la API mínima sea 25 o más y que la build sea .apk y no .aab.</a:t>
            </a:r>
          </a:p>
          <a:p>
            <a:r>
              <a:t>Evidencia real (2026-10-12, Unity 6000.3.11f1, batchmode): con el proyecto en Mono + ARMv7, 2 tests en verde (API mínima, APK) y 2 en rojo (IL2CPP, ARM64). Archivo: laboratorio-adaptacion/evidencia/asteroides-05-android-config-editmode-red.xml.</a:t>
            </a:r>
          </a:p>
          <a:p>
            <a:r>
              <a:t>Datos de la documentación de Unity 6.3 (Android Player settings): ARM64 "se habilita solo cuando Scripting Backend es IL2CPP"; Active Input Handling = Both "no está soportado en Android".</a:t>
            </a:r>
          </a:p>
          <a:p>
            <a:r>
              <a:t>Límites: el test lee los Player Settings del proyecto; si un Build Profile tiene Player Settings propios, no está comprobado qué valores ve el test (UNKNOWN). Y una configuración correcta no demuestra que la app abra en el teléfono ni que los controles respondan.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[Actividad nueva en la versión 4.]</a:t>
            </a:r>
          </a:p>
          <a:p>
            <a:r>
              <a:t>Glosario (conceptos cortos para la docente):</a:t>
            </a:r>
          </a:p>
          <a:p>
            <a:r>
              <a:t>• Test Runner: ventana de Unity (Window &gt; General &gt; Test Runner) que ejecuta los tests y muestra verde o rojo.</a:t>
            </a:r>
          </a:p>
          <a:p>
            <a:r>
              <a:t>• Assembly definition (asmdef): archivo que agrupa scripts; los tests de editor van en uno que solo incluye la plataforma Editor.</a:t>
            </a:r>
          </a:p>
          <a:p>
            <a:r>
              <a:t>• Rojo a propósito: romper una condición para comprobar que el test es capaz de fallar.</a:t>
            </a:r>
          </a:p>
          <a:p>
            <a:r>
              <a:t>Consigna completa (sobre su copia del proyecto):</a:t>
            </a:r>
          </a:p>
          <a:p>
            <a:r>
              <a:t>1. Crear Assets/Tests/EditMode con un asmdef de tests que solo incluya la plataforma Editor (referencia: EditModeTests.asmdef del repositorio).</a:t>
            </a:r>
          </a:p>
          <a:p>
            <a:r>
              <a:t>2. Escribir dos tests: Scripting Backend = IL2CPP y ARM64 tildado, con la estructura de la slide anterior.</a:t>
            </a:r>
          </a:p>
          <a:p>
            <a:r>
              <a:t>3. Correrlos en el Test Runner, pestaña EditMode. Si hicieron la tarea de la build, deberían dar verde.</a:t>
            </a:r>
          </a:p>
          <a:p>
            <a:r>
              <a:t>4. Romper a propósito: pasar a Mono, correr de nuevo y ver el rojo. Restaurar IL2CPP y ver el verde. Un test que nunca vieron fallar no prueba nada.</a:t>
            </a:r>
          </a:p>
          <a:p>
            <a:r>
              <a:t>5. Escribir qué NO demuestra: que el teléfono acepte la app, que los controles respondan, el rendimiento.</a:t>
            </a:r>
          </a:p>
          <a:p>
            <a:r>
              <a:t>Extensión para el grupo que termina: BuildAndroid.cs (Assets/Editor) genera el APK desde código con BuildPipeline.BuildPlayer, sin abrir la ventana. Se corre en batchmode y deja un log como evidencia; es el primer paso hacia la integración continua. Evidencia (2026-10-12): build correcta en 42 s, APK de 20 MB (laboratorio-adaptacion/evidencia/asteroides-06-build-android-apk.log).</a:t>
            </a:r>
          </a:p>
          <a:p>
            <a:r>
              <a:t>Errores frecuentes: un asmdef de tests que incluye todas las plataformas (el código de UnityEditor no compila para el player); olvidar using UnityEditor.Build (NamedBuildTarget); correr los tests en la pestaña PlayMode.</a:t>
            </a:r>
          </a:p>
          <a:p>
            <a:r>
              <a:t>Reparto de la clase en la versión 4: teoría 48 min (apertura 8, monetización 18, testing 14, demo 8) = 40 %; práctica 72 min (A4.5 22, A4.4 30, A4.8 15, cierre 5) = 60 %. La revisión de los controles de A4.7 pasa a tarea (captura en el aula virtual).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3 DE 4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El negocio y la prueba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Monetización como diseño · Testing en móvil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3 · v4 ·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USD 520 millones por una pantalla de compra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FTC, comunicado de prensa del 19/12/2022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¿Monetizar es negocio o diseño?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FTC vs. Epic Games (2022)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USD 275 M + USD 245 M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Botones confusos al comprar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Cuatro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 Store — Alto’s Adventure (ficha consultada 2026-10-04)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7181"/>
                <a:gridCol w="3573259"/>
                <a:gridCol w="450541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Quién paga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Qué cambia en el diseño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Al comprar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Sin interrupciones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Freemium + IAP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Algunos jugadores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Tienda y progresión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Anuncios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El anunciante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Cuándo interrumpir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Híbrido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Combinación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Todo lo anterior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ADS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Tres formatos de anuncio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Google AdMob — Rewarded ads; Interstitial ad guidance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883"/>
                <a:gridCol w="4232485"/>
                <a:gridCol w="423248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Cómo funciona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Regla clave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Rewarded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El jugador elige verlo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Con recompensa, opt-in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Interstitial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Pantalla completa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Solo en transiciones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Banner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Franja fija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Ocupa UI y safe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REGLAS EXTERNAS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AdMob prohíbe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Google AdMob — Disallowed interstitial implementations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¿Un anuncio en cada Game Over cumple?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Al abrir o salir de la app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Después de cada acción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Uno detrás de otro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Inesperados durante el juego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REGLAS EXTERNAS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tienda pone las reglas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App Review Guidelines 3.1.1 y 1.3; Google Play — Payments policy y Families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Apple 3.1.1: IAP obligatorio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Probabilidades visibles al comprar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Google Play Billing obligatorio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Niños: sin publicidad personalizada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= GAME DESIGN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Monetizar cambia el juego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Kotaku (2023), citando a poncle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Con "continuar", ¿qué rebalancearían?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"Continuar" cambia el Game Over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Dificultad para vender: cambia el balance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Anuncios: cambian el ritmo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Vampire Survivors: nunca interrumpir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ÉTICA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El lado oscuro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PLOS ONE 2018; Journal of Business Ethics 2022; UK Gambling Commission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"Dark Patterns: How Good UX Can Be Bad UX", Anisa Sanusi, GDC 2017 (gratuito). Fragmento a 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Dark patterns (Zagal et al., 2013)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Loot boxes: correlación, no causa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35 técnicas predatorias (2022)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Bélgica las prohibió (2018)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25 MIN · GRUPOS + DEBATE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A4.5: ¿cuál publicarían?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¿Cumple políticas? ¿Qué cambia? ¿Riesgos éticos? Elijan una.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120"/>
                <a:gridCol w="947373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Propuesta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Premium, US$ 2,99, sin anuncios ni compras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Gratis + rewarded "continuar" + IAP "quitar anuncios"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Interstitial al abrir y en cada Game Over + cofres al azar sin probabilidades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TESTING EN MÓVIL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¿Qué prueba cada herramienta?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Device Simulator, Run tests in a Player, Profiling on target; Firebase Game Loop; AWS Device Farm; Android vitals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145"/>
                <a:gridCol w="3770512"/>
                <a:gridCol w="389619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 prueba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1. Device Simulator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Layout, safe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Rendimiento, memoria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2. Emulador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Lógica y flujos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 real, térmica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3. Teléfono + Profiler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 real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Otros modelos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4. Tests en el Player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Tests en el dispositivo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Lo no escrito como test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5. Granjas en la nube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Muchos modelos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Ergonomía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6. Android vitals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Fallas reales publicadas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Nada antes de publicar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DISTRIBUCIÓN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plataforma se mueve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— target API level requirement; Unity 6.3 — Android/iOS requirements y build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Google Play: AAB y API 36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Unity 6.3: Android 7.1+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iOS requiere macOS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la cátedra: iOS conceptual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TESTING · ARQUITECTURA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Mismo patrón, dos adaptadores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Código del proyecto (ShipInputAdapter.cs, ShipIntentTests.cs); resultados del Test Runner en batchmode (2026-10-10)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ENTRADA (YA PORTADA)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283464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ShipInputAdapter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3815" y="365760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Ship.SetIntent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3 tests de intención en verde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PAUSA (A4.4)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5615" y="283464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Adaptador OnApplicationPause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5615" y="365760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Regla de pausa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Su test de Edit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Entrada: dispositivo → intención → nave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Pausa: SO → adaptador → regla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Se prueba la regla, no el dispositivo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el test de pausa en rojo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Unity Test Framework (Edit/Play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Pausa defectuosa: reanuda sola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Edit Mode: rojo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Play Mode: rojo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30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A4.4: la llamada que mata la nave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El resto del ciclo se completa en el TP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6775" y="1444752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Sistema operativo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201607" y="2167128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16775" y="2478024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Adaptador (MonoBehaviour)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201607" y="3200400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16775" y="3511296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Regla de pausa (C# puro)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201607" y="4233672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16775" y="4544568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Estado del juego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633953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Comportamiento esperado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Regla separada del adaptador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Edit Mode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NO demuestra?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CÓDIGO REAL · TEST DE EDIT MODE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configuración también se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PlayerSettings.GetScriptingBackend; PlayerSettings.Android.targetArchitectures; Android Player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AndroidBuildConfigTests.cs  ·  líneas 12–26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11185855" cy="4389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/>
          <a:lstStyle/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12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[Test]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13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public void ScriptingBackend_EsIL2CPP()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14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15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    // ARM64 solo se habilita con IL2CPP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16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    var backend = PlayerSettings.GetScriptingBackend(Android);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17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    Assert.AreEqual(ScriptingImplementation.IL2CPP, backend);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18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19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20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[Test]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21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public void Arquitecturas_IncluyenARM64()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22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23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    // Hay teléfonos que solo aceptan apps de 64 bits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24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    var arqs = PlayerSettings.Android.targetArchitectures;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25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    Assert.IsTrue((arqs &amp; AndroidArchitecture.ARM64) != 0);</a:t>
            </a:r>
          </a:p>
          <a:p>
            <a:pPr algn="l"/>
            <a:r>
              <a:rPr sz="1500" b="0" i="0">
                <a:solidFill>
                  <a:srgbClr val="64748B"/>
                </a:solidFill>
                <a:latin typeface="Consolas"/>
              </a:rPr>
              <a:t> 26  </a:t>
            </a:r>
            <a:r>
              <a:rPr sz="15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15 MIN · GRUPOS · EN UNITY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A4.8: el test que cuida la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Entreguen la captura del Test Runner en rojo y en verde.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Crear el test de Edit Mode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Verlo en rojo a propósito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Arreglar la configuración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NO demuestra?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