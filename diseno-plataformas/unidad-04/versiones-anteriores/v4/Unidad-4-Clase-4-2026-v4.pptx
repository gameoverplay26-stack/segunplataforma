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Clase 100 % práctica. Antes de empezar, verificar cables, depuración USB y Android Build Support instalado.</a:t>
            </a:r>
          </a:p>
          <a:p>
            <a:r>
              <a:t>Versión 3: la build ya es jugable en el teléfono (joystick y botón de disparo del porteo de entrada). Sin ese porteo, en el teléfono solo se podía tocar "Start".</a:t>
            </a:r>
          </a:p>
          <a:p>
            <a:r>
              <a:t>Reparto en la versión 4 (igual que en la 3): apertura 8, build 20, medición 18, A4.6 8, QA manual 20, matriz 10, defensa 22, transferencia 8, cierre 6. En la versión 4 el bloque de build ocupa las slides 3 a 8 y entra en los mismos 20 minutos porque la primera build se hace como tarea.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Editor: el entorno de Unity en la PC, donde se arma y prueba el juego.</a:t>
            </a:r>
          </a:p>
          <a:p>
            <a:r>
              <a:t>Situación: todo lo que probamos hasta ahora fue en el editor; la columna "qué no demuestra" de A4.4 sigue abierta. Hoy vemos cómo se comporta el juego en un teléfono real.</a:t>
            </a:r>
          </a:p>
          <a:p>
            <a:r>
              <a:t>Que anoten su predicción: sirve para contrastarla al final de la clase.</a:t>
            </a:r>
          </a:p>
          <a:p>
            <a:r>
              <a:t>Imagen sugerida (opcional, sin recuadro en la slide): editor de Unity y teléfono, con un signo de pregunta entre ambos.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versión compilada del juego, lista para instalar.</a:t>
            </a:r>
          </a:p>
          <a:p>
            <a:r>
              <a:t>• Development Build: build con información de depuración que permite conectar el Profiler.</a:t>
            </a:r>
          </a:p>
          <a:p>
            <a:r>
              <a:t>• Autoconnect Profiler: opción para que el Profiler se conecte solo al iniciar el juego.</a:t>
            </a:r>
          </a:p>
          <a:p>
            <a:r>
              <a:t>• Build and Run: compilar, instalar y abrir en el dispositivo conectado, en un solo paso.</a:t>
            </a:r>
          </a:p>
          <a:p>
            <a:r>
              <a:t>Versión 4: el bloque de build ocupa las slides 3 a 8 (20 minutos). Los grupos que hicieron la tarea del primer APK solo instalan y pasan a configurar el Profiler; el resto sigue los pasos de las slides 4 a 7.</a:t>
            </a:r>
          </a:p>
          <a:p>
            <a:r>
              <a:t>Pasos con cable (para medir con el Profiler): en Build Profiles, Android activo; Development Build y Autoconnect Profiler tildados; teléfono conectado con la depuración activada; Build and Run. Según el manual de Unity 6.3, con Development Build y Build and Run Unity prepara el túnel del Profiler antes de abrir la app. Primero lo hace la docente; después cada grupo, con el teléfono de un integrante.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4.]</a:t>
            </a:r>
          </a:p>
          <a:p>
            <a:r>
              <a:t>Glosario (conceptos cortos para la docente):</a:t>
            </a:r>
          </a:p>
          <a:p>
            <a:r>
              <a:t>• Scripting Backend: cómo compila Unity el código C#: Mono (código intermedio) o IL2CPP (código nativo).</a:t>
            </a:r>
          </a:p>
          <a:p>
            <a:r>
              <a:t>• Package Name: identificador único de la app en el teléfono y en Google Play (com.empresa.juego).</a:t>
            </a:r>
          </a:p>
          <a:p>
            <a:r>
              <a:t>• Target Architectures: tipos de procesador para los que se compila (ARMv7 de 32 bits, ARM64 de 64 bits).</a:t>
            </a:r>
          </a:p>
          <a:p>
            <a:r>
              <a:t>Es la captura real del proyecto (Unity 6000.3.11f1, 2026-10-12), con cuatro marcas rojas: Package Name, Scripting Backend = Mono, Active Input Handling = Both y ARM64 en gris.</a:t>
            </a:r>
          </a:p>
          <a:p>
            <a:r>
              <a:t>Respuesta esperada: ARM64 está en gris porque el backend es Mono; según la documentación de Unity 6.3, ARM64 "se habilita solo cuando Scripting Backend es IL2CPP". Sin ARM64, la app no corre en los teléfonos que solo aceptan 64 bits (según Android, los Pixel 7 fueron los primeros con soporte solo para apps de 64 bits; Google Play exige la versión de 64 bits).</a:t>
            </a:r>
          </a:p>
          <a:p>
            <a:r>
              <a:t>Que la lean en sus máquinas: abrir Edit &gt; Project Settings &gt; Player &gt; Android &gt; Other Settings y comparar con la captura.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4.]</a:t>
            </a:r>
          </a:p>
          <a:p>
            <a:r>
              <a:t>Glosario (conceptos cortos para la docente):</a:t>
            </a:r>
          </a:p>
          <a:p>
            <a:r>
              <a:t>• Build Profile: perfil de compilación de Unity 6; puede tener sus propios Player Settings, que pisan los del proyecto.</a:t>
            </a:r>
          </a:p>
          <a:p>
            <a:r>
              <a:t>• Fuente de verdad: el único lugar donde se decide un valor.</a:t>
            </a:r>
          </a:p>
          <a:p>
            <a:r>
              <a:t>Los valores resaltados son los que hay que cambiar; el resto ya viene bien. El Package Name se arma solo con Company y Product (com.Unju.AsteroideTest) mientras "Override Default Package Name" esté destildado.</a:t>
            </a:r>
          </a:p>
          <a:p>
            <a:r>
              <a:t>Una sola fuente: cambiar todo en Edit &gt; Project Settings &gt; Player. Si se edita la sección Player Settings dentro del Build Profile, el perfil guarda una copia propia; en el proyecto pasó: Company y Product quedaron en Assets/Settings/Build Profiles/Android™.asset y no en ProjectSettings. Dos lugares para el mismo dato es una fuente de errores difícil de ver.</a:t>
            </a:r>
          </a:p>
          <a:p>
            <a:r>
              <a:t>Active Input Handling = Both: la documentación de Unity 6.3 dice que no está soportado en Android. Se mantiene porque el menú usa el StandaloneInputModule clásico; al compilar se toca Ignore y queda registrado. Evidencia (2026-10-12): la build en batchmode terminó bien y el aviso solo apareció en el log. La corrección de fondo es reemplazar el módulo del EventSystem (prefab Game) por InputSystemUIInputModule y dejar solo Input System; no se hizo en el repositorio.</a:t>
            </a:r>
          </a:p>
          <a:p>
            <a:r>
              <a:t>Orientación: la decide cada grupo según su esquema de A4.3 (Resolution and Presentation &gt; Default Orientation).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4.]</a:t>
            </a:r>
          </a:p>
          <a:p>
            <a:r>
              <a:t>Glosario (conceptos cortos para la docente):</a:t>
            </a:r>
          </a:p>
          <a:p>
            <a:r>
              <a:t>• Run Device: el teléfono conectado en el que Build and Run instala la app.</a:t>
            </a:r>
          </a:p>
          <a:p>
            <a:r>
              <a:t>• Assets/: carpeta del proyecto que Unity importa; si el .apk queda adentro, Unity intenta importarlo.</a:t>
            </a:r>
          </a:p>
          <a:p>
            <a:r>
              <a:t>Dato verificado: "si eligieron Build and Run, Unity además instala la aplicación en el Run Device" (manual de Unity 6.3). Por eso Build and Run se frena cuando no hay teléfono conectado; Build no lo necesita.</a:t>
            </a:r>
          </a:p>
          <a:p>
            <a:r>
              <a:t>Pasos con Build: tocar Build (el botón gris, a la izquierda de Build And Run); elegir la carpeta Builds/ dentro del proyecto pero fuera de Assets; nombre AsteroideTest.apk; esperar; al terminar Unity abre la carpeta. La carpeta Builds/ ya está en el .gitignore del proyecto.</a:t>
            </a:r>
          </a:p>
          <a:p>
            <a:r>
              <a:t>Tiempo de referencia (2026-10-12, PC de la docente, Mono + ARMv7, batchmode): 42 segundos y un APK de 20 MB. Con IL2CPP la primera build tarda bastante más; el tiempo exacto depende de la máquina (no medido todavía).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4. Los carteles son los que aparecieron en la primera prueba de la docente.]</a:t>
            </a:r>
          </a:p>
          <a:p>
            <a:r>
              <a:t>Glosario (conceptos cortos para la docente):</a:t>
            </a:r>
          </a:p>
          <a:p>
            <a:r>
              <a:t>• Aviso (warning): Unity informa un riesgo, pero deja seguir.</a:t>
            </a:r>
          </a:p>
          <a:p>
            <a:r>
              <a:t>• Error: Unity no puede terminar la tarea.</a:t>
            </a:r>
          </a:p>
          <a:p>
            <a:r>
              <a:t>• adb (Android Debug Bridge): herramienta de línea de comandos que conecta la PC con el teléfono.</a:t>
            </a:r>
          </a:p>
          <a:p>
            <a:r>
              <a:t>Cartel 1, "Unsupported Input Handling on Android": es un aviso. Ignore sigue con la build; Cancel Build la corta. Causa: Active Input Handling = Both (ver la slide anterior).</a:t>
            </a:r>
          </a:p>
          <a:p>
            <a:r>
              <a:t>Cartel 2, "No Android devices connected": aparece con Build and Run cuando la PC no ve ningún teléfono. Qué hacer: OK y usar Build; o conectar con un cable de datos, aceptar en el teléfono "¿Permitir depuración USB?" y tocar Refresh en Run Device. Comprobar con adb devices (el teléfono tiene que figurar como "device"; "unauthorized" significa que falta aceptar el diálogo). En Windows puede hacer falta el driver USB del fabricante.</a:t>
            </a:r>
          </a:p>
          <a:p>
            <a:r>
              <a:t>Tercer caso, sin captura: el APK se copia, pero el teléfono no lo instala o no lo abre. Primera sospecha: se compiló sin ARM64. En el curso todavía no se vio; está documentado por Android para los teléfonos que solo aceptan 64 bits.</a:t>
            </a:r>
          </a:p>
          <a:p>
            <a:r>
              <a:t>Respuesta a la pregunta: el primero es un aviso (deja seguir); el segundo frena Build and Run, pero no Build.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APK: archivo instalable de una app de Android.</a:t>
            </a:r>
          </a:p>
          <a:p>
            <a:r>
              <a:t>• Firma de depuración (debug): firma automática de Unity para probar en un teléfono; no sirve para publicar en Google Play.</a:t>
            </a:r>
          </a:p>
          <a:p>
            <a:r>
              <a:t>Detalle: si la build falla en la máquina del grupo, se instala el APK de la docente. Se pierde el Profiler conectado; no se pierden el QA manual de interrupciones ni la matriz de compatibilidad. Lo que no se pudo medir se declara en el dossier.</a:t>
            </a:r>
          </a:p>
          <a:p>
            <a:r>
              <a:t>Instalar a mano (versión 4): copiar el .apk al teléfono (cable, Drive o mensajería), abrirlo y aceptar "Instalar apps de fuentes desconocidas" para esa app; o, con el teléfono conectado, adb install -r AsteroideTest.apk.</a:t>
            </a:r>
          </a:p>
          <a:p>
            <a:r>
              <a:t>Qué NO resuelve esto: el APK de depuración no se publica; para Google Play hacen falta una firma propia y un .aab. Y que la app se instale no demuestra que funcione bien: para eso están la medición y el QA de las slides que siguen.</a:t>
            </a:r>
          </a:p>
          <a:p>
            <a:r>
              <a:t>Normalizar el plan B: en la industria también fallan las builds. Lo importante es documentar qué quedó sin medir.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GC (garbage collector): proceso que libera memoria que ya no se usa; si trabaja mucho, produce tirones.</a:t>
            </a:r>
          </a:p>
          <a:p>
            <a:r>
              <a:t>• GC Alloc: memoria reservada en cada frame que después tendrá que liberar el GC.</a:t>
            </a:r>
          </a:p>
          <a:p>
            <a:r>
              <a:t>• Hipótesis: suposición que se comprueba midiendo.</a:t>
            </a:r>
          </a:p>
          <a:p>
            <a:r>
              <a:t>Hipótesis completas: H1, ¿cada disparo (Instantiate del láser) genera picos de GC? Métrica: GC Alloc por frame. H2, ¿el juego sostiene el fps durante 10 minutos? Métrica: tiempo de frame a lo largo del tiempo. Registrar modelo de teléfono, versión de Android y temperatura percibida.</a:t>
            </a:r>
          </a:p>
          <a:p>
            <a:r>
              <a:t>Advertencia honesta: Asteroides es liviano y lo más probable es que ande bien en casi cualquier teléfono. Si la medición no muestra problemas, la respuesta correcta es decirlo con los datos. El objetivo es aprender a formular y medir hipótesis.</a:t>
            </a:r>
          </a:p>
          <a:p>
            <a:r>
              <a:t>Imagen sugerida (opcional, sin recuadro en la slide): Profiler conectado a un teléfono con un pico de GC marcado.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promedio: cantidad media de imágenes por segundo durante la medición.</a:t>
            </a:r>
          </a:p>
          <a:p>
            <a:r>
              <a:t>• Tiempo de frame máximo: el cuadro que más tardó; muestra los tirones que el promedio esconde.</a:t>
            </a:r>
          </a:p>
          <a:p>
            <a:r>
              <a:t>Conclusión esperada: el número del editor no predice el del teléfono. Pasar a A4.6 (slide siguiente), que muestra el mismo problema con datos de 10 minutos.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versión 3, A4.6 se hace acá, con el teléfono y el Profiler a mano.]</a:t>
            </a:r>
          </a:p>
          <a:p>
            <a:r>
              <a:t>Glosario (conceptos cortos para la docente):</a:t>
            </a:r>
          </a:p>
          <a:p>
            <a:r>
              <a:t>• Cuello de botella: la parte del sistema que limita el rendimiento.</a:t>
            </a:r>
          </a:p>
          <a:p>
            <a:r>
              <a:t>• Métrica: valor que se mide (por ejemplo, el tiempo de frame).</a:t>
            </a:r>
          </a:p>
          <a:p>
            <a:r>
              <a:t>• Throttling térmico: el teléfono baja la frecuencia del procesador para no calentarse.</a:t>
            </a:r>
          </a:p>
          <a:p>
            <a:r>
              <a:t>Situación completa: "60 fps al empezar, 35–40 fps a los 8 minutos en un teléfono de gama media; en el editor, 200 fps".</a:t>
            </a:r>
          </a:p>
          <a:p>
            <a:r>
              <a:t>Respuesta esperada: throttling térmico agravado por el overdraw de las partículas; medir el tiempo de frame a lo largo del tiempo y el estado térmico con el Profiler en el dispositivo; fijar 30 fps o un presupuesto del 65 % y reducir el overdraw. El editor y el Device Simulator no sirven para esto.</a:t>
            </a:r>
          </a:p>
          <a:p>
            <a:r>
              <a:t>Contrastar con la medición de 10 minutos que acaban de hacer: ¿su teléfono se comporta igual?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QA manual: prueba hecha por una persona, siguiendo pasos definidos.</a:t>
            </a:r>
          </a:p>
          <a:p>
            <a:r>
              <a:t>• Cierre forzado: terminar la app desde los ajustes del sistema.</a:t>
            </a:r>
          </a:p>
          <a:p>
            <a:r>
              <a:t>Casos completos: QA-01 llamada o alarma durante la partida (esperado: el juego se pausa y espera un toque); QA-02 botón de inicio y volver (pausado, sin daño a la nave); QA-03 bloquear y desbloquear la pantalla (pausado); QA-04 abrir el teclado en pantalla, si aplica (documentar qué pasa); QA-05 cierre forzado y reabrir (documentar qué se pierde).</a:t>
            </a:r>
          </a:p>
          <a:p>
            <a:r>
              <a:t>Casos nuevos de la versión 3 (controles portados): QA-06, mover con el joystick y disparar con el botón al mismo tiempo, con dos dedos (el Device Simulator simula un solo dedo, así que este caso solo se prueba acá); QA-07, medir que cada control tenga al menos 48 dp y comprobar que el pulgar no tape la zona por donde caen los asteroides.</a:t>
            </a:r>
          </a:p>
          <a:p>
            <a:r>
              <a:t>Mismo formato de caso de prueba de la Unidad 2 (esperado vs. real). Si los grupos todavía no corrigieron el defecto, probar la versión con defecto: el resultado real va a contradecir al esperado, y eso es un hallazgo.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automático: prueba que corre sola y compara el resultado con lo esperado.</a:t>
            </a:r>
          </a:p>
          <a:p>
            <a:r>
              <a:t>Respuesta esperada: los tests protegen la regla y el adaptador ante regresiones; el QA manual comprueba que el sistema operativo dispare los callbacks y qué pasa cuando se cierra el proceso. Es la frontera entre automatización y hardware real, la misma de la Unidad 3 aplicada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compatibilidad: tabla que cruza dispositivos con resultados de prueba.</a:t>
            </a:r>
          </a:p>
          <a:p>
            <a:r>
              <a:t>• Muestra de conveniencia: los casos que se tienen a mano, no elegidos para representar al mercado.</a:t>
            </a:r>
          </a:p>
          <a:p>
            <a:r>
              <a:t>Respuesta esperada: no. Es una muestra de conveniencia; faltan gamas, fabricantes, versiones de Android y tablets. Por eso existen las granjas de dispositivos y Android vitals. Igual es evidencia real y vale más que el editor.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Coevaluación: los grupos se evalúan entre sí con criterios compartidos.</a:t>
            </a:r>
          </a:p>
          <a:p>
            <a:r>
              <a:t>• Decisión de plataforma (PDR): registro de contexto, opciones, decisión y consecuencias.</a:t>
            </a:r>
          </a:p>
          <a:p>
            <a:r>
              <a:t>Formato de la defensa: una decisión de plataforma (contexto, opciones, decisión, consecuencias); la evidencia del teléfono que la respalda o la contradice; lo que quedó sin probar, dicho explícitamente.</a:t>
            </a:r>
          </a:p>
          <a:p>
            <a:r>
              <a:t>Los criterios de coevaluación son una versión reducida de la rúbrica del TP 3 (ver 05). La entrega final del dossier se sube al aula virtual.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3.]</a:t>
            </a:r>
          </a:p>
          <a:p>
            <a:r>
              <a:t>Glosario (conceptos cortos para la docente):</a:t>
            </a:r>
          </a:p>
          <a:p>
            <a:r>
              <a:t>• Transferencia: aplicar lo aprendido en un caso a otro distinto.</a:t>
            </a:r>
          </a:p>
          <a:p>
            <a:r>
              <a:t>• Doble salto: segundo salto en el aire; exige apretar en el momento justo.</a:t>
            </a:r>
          </a:p>
          <a:p>
            <a:r>
              <a:t>• Coyote time: pequeña tolerancia para saltar apenas después de dejar la plataforma.</a:t>
            </a:r>
          </a:p>
          <a:p>
            <a:r>
              <a:t>Datos verificados en el código del 2D Platformer: PlayerController ya tiene MobileMove, MobileJump y MobileShoot, y un modo de control (pc/mobile) elegido a mano en la escena; el objeto MobileControls de la escena está vacío (no hay botones); el juego pide salto y doble salto con tiempos precisos.</a:t>
            </a:r>
          </a:p>
          <a:p>
            <a:r>
              <a:t>Respuesta esperada: el patrón se reutiliza (adaptador → intención → personaje), pero el esquema no se copia: en un juego de plataformas importa más el momento del salto que la posición, así que el botón de salto tiene que ser grande y estar donde descansa el pulgar, y conviene evaluar tolerancias como el coyote time. Lo que es igual: probar en el teléfono, con personas.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que hace el fabricante de la consola antes de permitir que un juego se publique.</a:t>
            </a:r>
          </a:p>
          <a:p>
            <a:r>
              <a:t>Síntesis: en móvil el límite lo ponen la energía, el calor, la memoria, la pantalla táctil, las interrupciones y las reglas de tienda. Lo que el editor no muestra, lo muestra el teléfono.</a:t>
            </a:r>
          </a:p>
          <a:p>
            <a:r>
              <a:t>Puente técnico: las mismas acciones de Input System que usamos para el dedo ya aceptan un gamepad (stick, D-pad y botón A); para jugar en una consola no hay que reescribir la nave. Lo que cambia es todo lo demás.</a:t>
            </a:r>
          </a:p>
          <a:p>
            <a:r>
              <a:t>Pregunta puente: en consola, el fabricante certifica el juego antes de publicarlo (Microsoft publica sus requisitos; Sony y Nintendo, no). La idea transversal de las Unidades IV a VII: ¿quién pone el límite?</a:t>
            </a:r>
          </a:p>
          <a:p>
            <a:r>
              <a:t>Imagen sugerida (opcional, sin recuadro en la slide): un teléfono que se transforma en un gamepad frente a una TV.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4 DE 4 · PRÁCTICA EN DISPOSITIVO</a:t>
            </a:r>
          </a:p>
          <a:p>
            <a:r>
              <a:rPr sz="4000" b="1" i="0">
                <a:solidFill>
                  <a:srgbClr val="FFFFFF"/>
                </a:solidFill>
                <a:latin typeface="Calibri"/>
              </a:rPr>
              <a:t>Asteroides en tu bolsillo</a:t>
            </a:r>
          </a:p>
          <a:p>
            <a:pPr>
              <a:spcBef>
                <a:spcPts val="600"/>
              </a:spcBef>
            </a:pPr>
            <a:r>
              <a:rPr sz="2000" b="0" i="0">
                <a:solidFill>
                  <a:srgbClr val="CBD5E1"/>
                </a:solidFill>
                <a:latin typeface="Calibri"/>
              </a:rPr>
              <a:t>Build, medición y QA manual en sus teléfonos</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4 · v4 · 1/17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¿Qué no sabemos todavía?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esperan que cambie?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Todo fue en el editor</a:t>
            </a:r>
          </a:p>
          <a:p>
            <a:pPr>
              <a:spcAft>
                <a:spcPts val="800"/>
              </a:spcAft>
            </a:pPr>
            <a:r>
              <a:rPr sz="1600" b="1" i="0">
                <a:solidFill>
                  <a:srgbClr val="0D9488"/>
                </a:solidFill>
                <a:latin typeface="Calibri"/>
              </a:rPr>
              <a:t>■  </a:t>
            </a:r>
            <a:r>
              <a:rPr sz="2200" b="0" i="0">
                <a:solidFill>
                  <a:srgbClr val="1F2937"/>
                </a:solidFill>
                <a:latin typeface="Calibri"/>
              </a:rPr>
              <a:t>"Qué no demuestra" sigue abierto</a:t>
            </a:r>
          </a:p>
          <a:p>
            <a:pPr>
              <a:spcAft>
                <a:spcPts val="800"/>
              </a:spcAft>
            </a:pPr>
            <a:r>
              <a:rPr sz="1600" b="1" i="0">
                <a:solidFill>
                  <a:srgbClr val="0D9488"/>
                </a:solidFill>
                <a:latin typeface="Calibri"/>
              </a:rPr>
              <a:t>■  </a:t>
            </a:r>
            <a:r>
              <a:rPr sz="2200" b="0" i="0">
                <a:solidFill>
                  <a:srgbClr val="1F2937"/>
                </a:solidFill>
                <a:latin typeface="Calibri"/>
              </a:rPr>
              <a:t>Hoy: el teléfono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20 MIN · DOCENTE Y GRUPOS</a:t>
            </a:r>
          </a:p>
          <a:p>
            <a:r>
              <a:rPr sz="2600" b="1" i="0">
                <a:solidFill>
                  <a:srgbClr val="FFFFFF"/>
                </a:solidFill>
                <a:latin typeface="Calibri"/>
              </a:rPr>
              <a:t>De la PC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Build your application for Android; Collect performance data on a target platform</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Profiles: Android activo</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Player Settings: IL2CPP + ARM64</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Teléfono con 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and Run (o Build → .apk)</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abre en el teléfono</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¿Trajeron el APK? Instalar</a:t>
            </a:r>
          </a:p>
          <a:p>
            <a:pPr>
              <a:spcAft>
                <a:spcPts val="800"/>
              </a:spcAft>
            </a:pPr>
            <a:r>
              <a:rPr sz="1600" b="1" i="0">
                <a:solidFill>
                  <a:srgbClr val="0D9488"/>
                </a:solidFill>
                <a:latin typeface="Calibri"/>
              </a:rPr>
              <a:t>■  </a:t>
            </a:r>
            <a:r>
              <a:rPr sz="2200" b="0" i="0">
                <a:solidFill>
                  <a:srgbClr val="1F2937"/>
                </a:solidFill>
                <a:latin typeface="Calibri"/>
              </a:rPr>
              <a:t>¿No? Seguir los pasos</a:t>
            </a:r>
          </a:p>
          <a:p>
            <a:pPr>
              <a:spcAft>
                <a:spcPts val="800"/>
              </a:spcAft>
            </a:pPr>
            <a:r>
              <a:rPr sz="1600" b="1" i="0">
                <a:solidFill>
                  <a:srgbClr val="0D9488"/>
                </a:solidFill>
                <a:latin typeface="Calibri"/>
              </a:rPr>
              <a:t>■  </a:t>
            </a:r>
            <a:r>
              <a:rPr sz="2200" b="0" i="0">
                <a:solidFill>
                  <a:srgbClr val="1F2937"/>
                </a:solidFill>
                <a:latin typeface="Calibri"/>
              </a:rPr>
              <a:t>Con cable: Build and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PASO 1 · CAPTURA REAL</a:t>
            </a:r>
          </a:p>
          <a:p>
            <a:r>
              <a:rPr sz="2600" b="1" i="0">
                <a:solidFill>
                  <a:srgbClr val="FFFFFF"/>
                </a:solidFill>
                <a:latin typeface="Calibri"/>
              </a:rPr>
              <a:t>Antes de compilar: así viene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de esto impide instalar en un teléfono de 64 bits?</a:t>
            </a:r>
          </a:p>
        </p:txBody>
      </p:sp>
      <p:pic>
        <p:nvPicPr>
          <p:cNvPr id="10" name="Picture 9" descr="u4-player-settings-android.png"/>
          <p:cNvPicPr>
            <a:picLocks noChangeAspect="1"/>
          </p:cNvPicPr>
          <p:nvPr/>
        </p:nvPicPr>
        <p:blipFill>
          <a:blip r:embed="rId2"/>
          <a:stretch>
            <a:fillRect/>
          </a:stretch>
        </p:blipFill>
        <p:spPr>
          <a:xfrm>
            <a:off x="541869" y="1234440"/>
            <a:ext cx="11107957" cy="3840480"/>
          </a:xfrm>
          <a:prstGeom prst="rect">
            <a:avLst/>
          </a:prstGeom>
          <a:ln w="12700">
            <a:solidFill>
              <a:srgbClr val="E5E7EB"/>
            </a:solidFill>
          </a:ln>
        </p:spPr>
      </p:pic>
      <p:sp>
        <p:nvSpPr>
          <p:cNvPr id="11" name="TextBox 10"/>
          <p:cNvSpPr txBox="1"/>
          <p:nvPr/>
        </p:nvSpPr>
        <p:spPr>
          <a:xfrm>
            <a:off x="502920" y="507492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Player Settings &gt; Other Settings de Asteroides en Unity 6000.3.11f1, antes de cambiar nada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PASO 2</a:t>
            </a:r>
          </a:p>
          <a:p>
            <a:r>
              <a:rPr sz="2600" b="1" i="0">
                <a:solidFill>
                  <a:srgbClr val="FFFFFF"/>
                </a:solidFill>
                <a:latin typeface="Calibri"/>
              </a:rPr>
              <a:t>Así tiene que quedar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Build your application for Android</a:t>
            </a:r>
          </a:p>
        </p:txBody>
      </p:sp>
      <p:sp>
        <p:nvSpPr>
          <p:cNvPr id="9" name="Rectangle 8"/>
          <p:cNvSpPr/>
          <p:nvPr/>
        </p:nvSpPr>
        <p:spPr>
          <a:xfrm>
            <a:off x="5836615" y="1234440"/>
            <a:ext cx="5852160" cy="448056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19495" y="1234440"/>
            <a:ext cx="5486400" cy="457200"/>
          </a:xfrm>
          <a:prstGeom prst="rect">
            <a:avLst/>
          </a:prstGeom>
          <a:noFill/>
        </p:spPr>
        <p:txBody>
          <a:bodyPr wrap="square" anchor="ctr" lIns="0" rIns="0" tIns="0" bIns="0">
            <a:spAutoFit/>
          </a:bodyPr>
          <a:lstStyle/>
          <a:p>
            <a:r>
              <a:rPr sz="1500" b="1" i="0">
                <a:solidFill>
                  <a:srgbClr val="FFFFFF"/>
                </a:solidFill>
                <a:latin typeface="Calibri"/>
              </a:rPr>
              <a:t>Player Settings · Android</a:t>
            </a:r>
          </a:p>
        </p:txBody>
      </p:sp>
      <p:sp>
        <p:nvSpPr>
          <p:cNvPr id="11" name="Rectangle 10"/>
          <p:cNvSpPr/>
          <p:nvPr/>
        </p:nvSpPr>
        <p:spPr>
          <a:xfrm>
            <a:off x="5836615" y="16916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19495" y="1691640"/>
            <a:ext cx="2743200" cy="502920"/>
          </a:xfrm>
          <a:prstGeom prst="rect">
            <a:avLst/>
          </a:prstGeom>
          <a:noFill/>
        </p:spPr>
        <p:txBody>
          <a:bodyPr wrap="square" anchor="ctr" lIns="0" rIns="0" tIns="0" bIns="0">
            <a:spAutoFit/>
          </a:bodyPr>
          <a:lstStyle/>
          <a:p>
            <a:r>
              <a:rPr sz="1400" b="0" i="0">
                <a:solidFill>
                  <a:srgbClr val="D4D4D4"/>
                </a:solidFill>
                <a:latin typeface="Calibri"/>
              </a:rPr>
              <a:t>Company Name</a:t>
            </a:r>
          </a:p>
        </p:txBody>
      </p:sp>
      <p:sp>
        <p:nvSpPr>
          <p:cNvPr id="13" name="Rounded Rectangle 12"/>
          <p:cNvSpPr/>
          <p:nvPr/>
        </p:nvSpPr>
        <p:spPr>
          <a:xfrm>
            <a:off x="8762695" y="17647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Unju</a:t>
            </a:r>
          </a:p>
        </p:txBody>
      </p:sp>
      <p:sp>
        <p:nvSpPr>
          <p:cNvPr id="14" name="Rectangle 13"/>
          <p:cNvSpPr/>
          <p:nvPr/>
        </p:nvSpPr>
        <p:spPr>
          <a:xfrm>
            <a:off x="5836615" y="21945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9495" y="2194560"/>
            <a:ext cx="2743200" cy="502920"/>
          </a:xfrm>
          <a:prstGeom prst="rect">
            <a:avLst/>
          </a:prstGeom>
          <a:noFill/>
        </p:spPr>
        <p:txBody>
          <a:bodyPr wrap="square" anchor="ctr" lIns="0" rIns="0" tIns="0" bIns="0">
            <a:spAutoFit/>
          </a:bodyPr>
          <a:lstStyle/>
          <a:p>
            <a:r>
              <a:rPr sz="1400" b="0" i="0">
                <a:solidFill>
                  <a:srgbClr val="D4D4D4"/>
                </a:solidFill>
                <a:latin typeface="Calibri"/>
              </a:rPr>
              <a:t>Product Name</a:t>
            </a:r>
          </a:p>
        </p:txBody>
      </p:sp>
      <p:sp>
        <p:nvSpPr>
          <p:cNvPr id="16" name="Rounded Rectangle 15"/>
          <p:cNvSpPr/>
          <p:nvPr/>
        </p:nvSpPr>
        <p:spPr>
          <a:xfrm>
            <a:off x="8762695" y="226771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AsteroideTest</a:t>
            </a:r>
          </a:p>
        </p:txBody>
      </p:sp>
      <p:sp>
        <p:nvSpPr>
          <p:cNvPr id="17" name="Rectangle 16"/>
          <p:cNvSpPr/>
          <p:nvPr/>
        </p:nvSpPr>
        <p:spPr>
          <a:xfrm>
            <a:off x="5836615" y="26974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19495" y="2697480"/>
            <a:ext cx="2743200" cy="502920"/>
          </a:xfrm>
          <a:prstGeom prst="rect">
            <a:avLst/>
          </a:prstGeom>
          <a:noFill/>
        </p:spPr>
        <p:txBody>
          <a:bodyPr wrap="square" anchor="ctr" lIns="0" rIns="0" tIns="0" bIns="0">
            <a:spAutoFit/>
          </a:bodyPr>
          <a:lstStyle/>
          <a:p>
            <a:r>
              <a:rPr sz="1400" b="0" i="0">
                <a:solidFill>
                  <a:srgbClr val="D4D4D4"/>
                </a:solidFill>
                <a:latin typeface="Calibri"/>
              </a:rPr>
              <a:t>Package Name</a:t>
            </a:r>
          </a:p>
        </p:txBody>
      </p:sp>
      <p:sp>
        <p:nvSpPr>
          <p:cNvPr id="19" name="Rounded Rectangle 18"/>
          <p:cNvSpPr/>
          <p:nvPr/>
        </p:nvSpPr>
        <p:spPr>
          <a:xfrm>
            <a:off x="8762695" y="277063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com.Unju.AsteroideTest</a:t>
            </a:r>
          </a:p>
        </p:txBody>
      </p:sp>
      <p:sp>
        <p:nvSpPr>
          <p:cNvPr id="20" name="Rectangle 19"/>
          <p:cNvSpPr/>
          <p:nvPr/>
        </p:nvSpPr>
        <p:spPr>
          <a:xfrm>
            <a:off x="5836615" y="320040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9495" y="3200400"/>
            <a:ext cx="2743200" cy="502920"/>
          </a:xfrm>
          <a:prstGeom prst="rect">
            <a:avLst/>
          </a:prstGeom>
          <a:noFill/>
        </p:spPr>
        <p:txBody>
          <a:bodyPr wrap="square" anchor="ctr" lIns="0" rIns="0" tIns="0" bIns="0">
            <a:spAutoFit/>
          </a:bodyPr>
          <a:lstStyle/>
          <a:p>
            <a:r>
              <a:rPr sz="1400" b="0" i="0">
                <a:solidFill>
                  <a:srgbClr val="D4D4D4"/>
                </a:solidFill>
                <a:latin typeface="Calibri"/>
              </a:rPr>
              <a:t>Minimum API Level</a:t>
            </a:r>
          </a:p>
        </p:txBody>
      </p:sp>
      <p:sp>
        <p:nvSpPr>
          <p:cNvPr id="22" name="Rounded Rectangle 21"/>
          <p:cNvSpPr/>
          <p:nvPr/>
        </p:nvSpPr>
        <p:spPr>
          <a:xfrm>
            <a:off x="8762695" y="327355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API 25 (Android 7.1)</a:t>
            </a:r>
          </a:p>
        </p:txBody>
      </p:sp>
      <p:sp>
        <p:nvSpPr>
          <p:cNvPr id="23" name="Rectangle 22"/>
          <p:cNvSpPr/>
          <p:nvPr/>
        </p:nvSpPr>
        <p:spPr>
          <a:xfrm>
            <a:off x="5836615" y="370332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19495" y="3703320"/>
            <a:ext cx="2743200" cy="502920"/>
          </a:xfrm>
          <a:prstGeom prst="rect">
            <a:avLst/>
          </a:prstGeom>
          <a:noFill/>
        </p:spPr>
        <p:txBody>
          <a:bodyPr wrap="square" anchor="ctr" lIns="0" rIns="0" tIns="0" bIns="0">
            <a:spAutoFit/>
          </a:bodyPr>
          <a:lstStyle/>
          <a:p>
            <a:r>
              <a:rPr sz="1400" b="0" i="0">
                <a:solidFill>
                  <a:srgbClr val="D4D4D4"/>
                </a:solidFill>
                <a:latin typeface="Calibri"/>
              </a:rPr>
              <a:t>Scripting Backend</a:t>
            </a:r>
          </a:p>
        </p:txBody>
      </p:sp>
      <p:sp>
        <p:nvSpPr>
          <p:cNvPr id="25" name="Rounded Rectangle 24"/>
          <p:cNvSpPr/>
          <p:nvPr/>
        </p:nvSpPr>
        <p:spPr>
          <a:xfrm>
            <a:off x="8762695" y="377647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IL2CPP</a:t>
            </a:r>
          </a:p>
        </p:txBody>
      </p:sp>
      <p:sp>
        <p:nvSpPr>
          <p:cNvPr id="26" name="Rectangle 25"/>
          <p:cNvSpPr/>
          <p:nvPr/>
        </p:nvSpPr>
        <p:spPr>
          <a:xfrm>
            <a:off x="5836615" y="42062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19495" y="4206240"/>
            <a:ext cx="2743200" cy="502920"/>
          </a:xfrm>
          <a:prstGeom prst="rect">
            <a:avLst/>
          </a:prstGeom>
          <a:noFill/>
        </p:spPr>
        <p:txBody>
          <a:bodyPr wrap="square" anchor="ctr" lIns="0" rIns="0" tIns="0" bIns="0">
            <a:spAutoFit/>
          </a:bodyPr>
          <a:lstStyle/>
          <a:p>
            <a:r>
              <a:rPr sz="1400" b="0" i="0">
                <a:solidFill>
                  <a:srgbClr val="D4D4D4"/>
                </a:solidFill>
                <a:latin typeface="Calibri"/>
              </a:rPr>
              <a:t>Target Architectures</a:t>
            </a:r>
          </a:p>
        </p:txBody>
      </p:sp>
      <p:sp>
        <p:nvSpPr>
          <p:cNvPr id="28" name="Rounded Rectangle 27"/>
          <p:cNvSpPr/>
          <p:nvPr/>
        </p:nvSpPr>
        <p:spPr>
          <a:xfrm>
            <a:off x="8762695" y="42793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ARM64</a:t>
            </a:r>
          </a:p>
        </p:txBody>
      </p:sp>
      <p:sp>
        <p:nvSpPr>
          <p:cNvPr id="29" name="Rectangle 28"/>
          <p:cNvSpPr/>
          <p:nvPr/>
        </p:nvSpPr>
        <p:spPr>
          <a:xfrm>
            <a:off x="5836615" y="47091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19495" y="4709160"/>
            <a:ext cx="2743200" cy="502920"/>
          </a:xfrm>
          <a:prstGeom prst="rect">
            <a:avLst/>
          </a:prstGeom>
          <a:noFill/>
        </p:spPr>
        <p:txBody>
          <a:bodyPr wrap="square" anchor="ctr" lIns="0" rIns="0" tIns="0" bIns="0">
            <a:spAutoFit/>
          </a:bodyPr>
          <a:lstStyle/>
          <a:p>
            <a:r>
              <a:rPr sz="1400" b="0" i="0">
                <a:solidFill>
                  <a:srgbClr val="D4D4D4"/>
                </a:solidFill>
                <a:latin typeface="Calibri"/>
              </a:rPr>
              <a:t>Build App Bundle</a:t>
            </a:r>
          </a:p>
        </p:txBody>
      </p:sp>
      <p:sp>
        <p:nvSpPr>
          <p:cNvPr id="31" name="Rounded Rectangle 30"/>
          <p:cNvSpPr/>
          <p:nvPr/>
        </p:nvSpPr>
        <p:spPr>
          <a:xfrm>
            <a:off x="8762695" y="478231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No: sale un .apk</a:t>
            </a:r>
          </a:p>
        </p:txBody>
      </p:sp>
      <p:sp>
        <p:nvSpPr>
          <p:cNvPr id="32" name="Rectangle 31"/>
          <p:cNvSpPr/>
          <p:nvPr/>
        </p:nvSpPr>
        <p:spPr>
          <a:xfrm>
            <a:off x="5836615" y="52120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19495" y="5212080"/>
            <a:ext cx="2743200" cy="502920"/>
          </a:xfrm>
          <a:prstGeom prst="rect">
            <a:avLst/>
          </a:prstGeom>
          <a:noFill/>
        </p:spPr>
        <p:txBody>
          <a:bodyPr wrap="square" anchor="ctr" lIns="0" rIns="0" tIns="0" bIns="0">
            <a:spAutoFit/>
          </a:bodyPr>
          <a:lstStyle/>
          <a:p>
            <a:r>
              <a:rPr sz="1400" b="0" i="0">
                <a:solidFill>
                  <a:srgbClr val="D4D4D4"/>
                </a:solidFill>
                <a:latin typeface="Calibri"/>
              </a:rPr>
              <a:t>Development Build</a:t>
            </a:r>
          </a:p>
        </p:txBody>
      </p:sp>
      <p:sp>
        <p:nvSpPr>
          <p:cNvPr id="34" name="Rounded Rectangle 33"/>
          <p:cNvSpPr/>
          <p:nvPr/>
        </p:nvSpPr>
        <p:spPr>
          <a:xfrm>
            <a:off x="8762695" y="528523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Sí, para el Profiler</a:t>
            </a:r>
          </a:p>
        </p:txBody>
      </p:sp>
      <p:sp>
        <p:nvSpPr>
          <p:cNvPr id="35" name="TextBox 34"/>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sola fuente: Project Settings</a:t>
            </a:r>
          </a:p>
          <a:p>
            <a:pPr>
              <a:spcAft>
                <a:spcPts val="800"/>
              </a:spcAft>
            </a:pPr>
            <a:r>
              <a:rPr sz="1600" b="1" i="0">
                <a:solidFill>
                  <a:srgbClr val="0D9488"/>
                </a:solidFill>
                <a:latin typeface="Calibri"/>
              </a:rPr>
              <a:t>■  </a:t>
            </a:r>
            <a:r>
              <a:rPr sz="2200" b="0" i="0">
                <a:solidFill>
                  <a:srgbClr val="1F2937"/>
                </a:solidFill>
                <a:latin typeface="Calibri"/>
              </a:rPr>
              <a:t>El Build Profile puede pisarla</a:t>
            </a:r>
          </a:p>
          <a:p>
            <a:pPr>
              <a:spcAft>
                <a:spcPts val="800"/>
              </a:spcAft>
            </a:pPr>
            <a:r>
              <a:rPr sz="1600" b="1" i="0">
                <a:solidFill>
                  <a:srgbClr val="0D9488"/>
                </a:solidFill>
                <a:latin typeface="Calibri"/>
              </a:rPr>
              <a:t>■  </a:t>
            </a:r>
            <a:r>
              <a:rPr sz="2200" b="0" i="0">
                <a:solidFill>
                  <a:srgbClr val="1F2937"/>
                </a:solidFill>
                <a:latin typeface="Calibri"/>
              </a:rPr>
              <a:t>Both: aviso, no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PASO 3</a:t>
            </a:r>
          </a:p>
          <a:p>
            <a:r>
              <a:rPr sz="2600" b="1" i="0">
                <a:solidFill>
                  <a:srgbClr val="FFFFFF"/>
                </a:solidFill>
                <a:latin typeface="Calibri"/>
              </a:rPr>
              <a:t>Dos botones, dos caminos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a:t>
            </a:r>
          </a:p>
        </p:txBody>
      </p:sp>
      <p:pic>
        <p:nvPicPr>
          <p:cNvPr id="9" name="Picture 8" descr="u4-build-botones.png"/>
          <p:cNvPicPr>
            <a:picLocks noChangeAspect="1"/>
          </p:cNvPicPr>
          <p:nvPr/>
        </p:nvPicPr>
        <p:blipFill>
          <a:blip r:embed="rId2"/>
          <a:stretch>
            <a:fillRect/>
          </a:stretch>
        </p:blipFill>
        <p:spPr>
          <a:xfrm>
            <a:off x="4739335" y="3163034"/>
            <a:ext cx="6949440" cy="531932"/>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Abajo a la derecha de Build Profiles: Build (marcado) y Build And Run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Build: solo el archivo .apk</a:t>
            </a:r>
          </a:p>
          <a:p>
            <a:pPr>
              <a:spcAft>
                <a:spcPts val="800"/>
              </a:spcAft>
            </a:pPr>
            <a:r>
              <a:rPr sz="1600" b="1" i="0">
                <a:solidFill>
                  <a:srgbClr val="0D9488"/>
                </a:solidFill>
                <a:latin typeface="Calibri"/>
              </a:rPr>
              <a:t>■  </a:t>
            </a:r>
            <a:r>
              <a:rPr sz="2200" b="0" i="0">
                <a:solidFill>
                  <a:srgbClr val="1F2937"/>
                </a:solidFill>
                <a:latin typeface="Calibri"/>
              </a:rPr>
              <a:t>Build And Run: instala y abre</a:t>
            </a:r>
          </a:p>
          <a:p>
            <a:pPr>
              <a:spcAft>
                <a:spcPts val="800"/>
              </a:spcAft>
            </a:pPr>
            <a:r>
              <a:rPr sz="1600" b="1" i="0">
                <a:solidFill>
                  <a:srgbClr val="0D9488"/>
                </a:solidFill>
                <a:latin typeface="Calibri"/>
              </a:rPr>
              <a:t>■  </a:t>
            </a:r>
            <a:r>
              <a:rPr sz="2200" b="0" i="0">
                <a:solidFill>
                  <a:srgbClr val="1F2937"/>
                </a:solidFill>
                <a:latin typeface="Calibri"/>
              </a:rPr>
              <a:t>Sin teléfono: siempre Build</a:t>
            </a:r>
          </a:p>
          <a:p>
            <a:pPr>
              <a:spcAft>
                <a:spcPts val="800"/>
              </a:spcAft>
            </a:pPr>
            <a:r>
              <a:rPr sz="1600" b="1" i="0">
                <a:solidFill>
                  <a:srgbClr val="0D9488"/>
                </a:solidFill>
                <a:latin typeface="Calibri"/>
              </a:rPr>
              <a:t>■  </a:t>
            </a:r>
            <a:r>
              <a:rPr sz="2200" b="0" i="0">
                <a:solidFill>
                  <a:srgbClr val="1F2937"/>
                </a:solidFill>
                <a:latin typeface="Calibri"/>
              </a:rPr>
              <a:t>Carpeta Builds/, fuera de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DIAGNÓSTICO · CARTELES REALES</a:t>
            </a:r>
          </a:p>
          <a:p>
            <a:r>
              <a:rPr sz="2600" b="1" i="0">
                <a:solidFill>
                  <a:srgbClr val="FFFFFF"/>
                </a:solidFill>
                <a:latin typeface="Calibri"/>
              </a:rPr>
              <a:t>Cuando la build se frena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es un error y cuál es un aviso?</a:t>
            </a:r>
          </a:p>
        </p:txBody>
      </p:sp>
      <p:pic>
        <p:nvPicPr>
          <p:cNvPr id="10" name="Picture 9" descr="u4-dialogo-input-handling.png"/>
          <p:cNvPicPr>
            <a:picLocks noChangeAspect="1"/>
          </p:cNvPicPr>
          <p:nvPr/>
        </p:nvPicPr>
        <p:blipFill>
          <a:blip r:embed="rId2"/>
          <a:stretch>
            <a:fillRect/>
          </a:stretch>
        </p:blipFill>
        <p:spPr>
          <a:xfrm>
            <a:off x="6744300" y="1234440"/>
            <a:ext cx="2939510" cy="1851660"/>
          </a:xfrm>
          <a:prstGeom prst="rect">
            <a:avLst/>
          </a:prstGeom>
          <a:ln w="12700">
            <a:solidFill>
              <a:srgbClr val="E5E7EB"/>
            </a:solidFill>
          </a:ln>
        </p:spPr>
      </p:pic>
      <p:pic>
        <p:nvPicPr>
          <p:cNvPr id="11" name="Picture 10" descr="u4-dialogo-sin-dispositivo.png"/>
          <p:cNvPicPr>
            <a:picLocks noChangeAspect="1"/>
          </p:cNvPicPr>
          <p:nvPr/>
        </p:nvPicPr>
        <p:blipFill>
          <a:blip r:embed="rId3"/>
          <a:stretch>
            <a:fillRect/>
          </a:stretch>
        </p:blipFill>
        <p:spPr>
          <a:xfrm>
            <a:off x="6008896" y="3223260"/>
            <a:ext cx="4410317" cy="185166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Los dos carteles, tal como aparecieron en Unity 6000.3.11f1</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Input: Ignore y anotar</a:t>
            </a:r>
          </a:p>
          <a:p>
            <a:pPr>
              <a:spcAft>
                <a:spcPts val="800"/>
              </a:spcAft>
            </a:pPr>
            <a:r>
              <a:rPr sz="1600" b="1" i="0">
                <a:solidFill>
                  <a:srgbClr val="0D9488"/>
                </a:solidFill>
                <a:latin typeface="Calibri"/>
              </a:rPr>
              <a:t>■  </a:t>
            </a:r>
            <a:r>
              <a:rPr sz="2200" b="0" i="0">
                <a:solidFill>
                  <a:srgbClr val="1F2937"/>
                </a:solidFill>
                <a:latin typeface="Calibri"/>
              </a:rPr>
              <a:t>Sin teléfono: usar Build</a:t>
            </a:r>
          </a:p>
          <a:p>
            <a:pPr>
              <a:spcAft>
                <a:spcPts val="800"/>
              </a:spcAft>
            </a:pPr>
            <a:r>
              <a:rPr sz="1600" b="1" i="0">
                <a:solidFill>
                  <a:srgbClr val="0D9488"/>
                </a:solidFill>
                <a:latin typeface="Calibri"/>
              </a:rPr>
              <a:t>■  </a:t>
            </a:r>
            <a:r>
              <a:rPr sz="2200" b="0" i="0">
                <a:solidFill>
                  <a:srgbClr val="1F2937"/>
                </a:solidFill>
                <a:latin typeface="Calibri"/>
              </a:rPr>
              <a:t>No instala: ¿y ARM64?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GESTIÓN DE RIESGO</a:t>
            </a:r>
          </a:p>
          <a:p>
            <a:r>
              <a:rPr sz="2600" b="1" i="0">
                <a:solidFill>
                  <a:srgbClr val="FFFFFF"/>
                </a:solidFill>
                <a:latin typeface="Calibri"/>
              </a:rPr>
              <a:t>Plan B</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8/17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Falla la build: APK de la docente</a:t>
            </a:r>
          </a:p>
          <a:p>
            <a:pPr>
              <a:spcAft>
                <a:spcPts val="800"/>
              </a:spcAft>
            </a:pPr>
            <a:r>
              <a:rPr sz="1600" b="1" i="0">
                <a:solidFill>
                  <a:srgbClr val="0D9488"/>
                </a:solidFill>
                <a:latin typeface="Calibri"/>
              </a:rPr>
              <a:t>■  </a:t>
            </a:r>
            <a:r>
              <a:rPr sz="2200" b="0" i="0">
                <a:solidFill>
                  <a:srgbClr val="1F2937"/>
                </a:solidFill>
                <a:latin typeface="Calibri"/>
              </a:rPr>
              <a:t>Instalar a mano: cable, adb o nube</a:t>
            </a:r>
          </a:p>
          <a:p>
            <a:pPr>
              <a:spcAft>
                <a:spcPts val="800"/>
              </a:spcAft>
            </a:pPr>
            <a:r>
              <a:rPr sz="1600" b="1" i="0">
                <a:solidFill>
                  <a:srgbClr val="0D9488"/>
                </a:solidFill>
                <a:latin typeface="Calibri"/>
              </a:rPr>
              <a:t>■  </a:t>
            </a:r>
            <a:r>
              <a:rPr sz="2200" b="0" i="0">
                <a:solidFill>
                  <a:srgbClr val="1F2937"/>
                </a:solidFill>
                <a:latin typeface="Calibri"/>
              </a:rPr>
              <a:t>Se pierde: el Profiler</a:t>
            </a:r>
          </a:p>
          <a:p>
            <a:pPr>
              <a:spcAft>
                <a:spcPts val="800"/>
              </a:spcAft>
            </a:pPr>
            <a:r>
              <a:rPr sz="1600" b="1" i="0">
                <a:solidFill>
                  <a:srgbClr val="0D9488"/>
                </a:solidFill>
                <a:latin typeface="Calibri"/>
              </a:rPr>
              <a:t>■  </a:t>
            </a:r>
            <a:r>
              <a:rPr sz="2200" b="0" i="0">
                <a:solidFill>
                  <a:srgbClr val="1F2937"/>
                </a:solidFill>
                <a:latin typeface="Calibri"/>
              </a:rPr>
              <a:t>Lo no medido se declara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MEDICIÓN · 20 MIN</a:t>
            </a:r>
          </a:p>
          <a:p>
            <a:r>
              <a:rPr sz="2600" b="1" i="0">
                <a:solidFill>
                  <a:srgbClr val="FFFFFF"/>
                </a:solidFill>
                <a:latin typeface="Calibri"/>
              </a:rPr>
              <a:t>Medir, no opinar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Profiling on a target device; e-book Unity 6, p. 11</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Capturen el Profiler y anoten los valores.</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H1: ¿picos de GC al disparar?</a:t>
            </a:r>
          </a:p>
          <a:p>
            <a:pPr>
              <a:spcAft>
                <a:spcPts val="800"/>
              </a:spcAft>
            </a:pPr>
            <a:r>
              <a:rPr sz="1600" b="1" i="0">
                <a:solidFill>
                  <a:srgbClr val="0D9488"/>
                </a:solidFill>
                <a:latin typeface="Calibri"/>
              </a:rPr>
              <a:t>■  </a:t>
            </a:r>
            <a:r>
              <a:rPr sz="2200" b="0" i="0">
                <a:solidFill>
                  <a:srgbClr val="1F2937"/>
                </a:solidFill>
                <a:latin typeface="Calibri"/>
              </a:rPr>
              <a:t>H2: ¿fps estable 10 minutos?</a:t>
            </a:r>
          </a:p>
          <a:p>
            <a:pPr>
              <a:spcAft>
                <a:spcPts val="800"/>
              </a:spcAft>
            </a:pPr>
            <a:r>
              <a:rPr sz="1600" b="1" i="0">
                <a:solidFill>
                  <a:srgbClr val="0D9488"/>
                </a:solidFill>
                <a:latin typeface="Calibri"/>
              </a:rPr>
              <a:t>■  </a:t>
            </a:r>
            <a:r>
              <a:rPr sz="2200" b="0" i="0">
                <a:solidFill>
                  <a:srgbClr val="1F2937"/>
                </a:solidFill>
                <a:latin typeface="Calibri"/>
              </a:rPr>
              <a:t>Anotar modelo y versión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COMPARAR</a:t>
            </a:r>
          </a:p>
          <a:p>
            <a:r>
              <a:rPr sz="2600" b="1" i="0">
                <a:solidFill>
                  <a:srgbClr val="FFFFFF"/>
                </a:solidFill>
                <a:latin typeface="Calibri"/>
              </a:rPr>
              <a:t>Editor vs.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10/17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Completen con sus mediciones.</a:t>
            </a:r>
          </a:p>
        </p:txBody>
      </p:sp>
      <p:graphicFrame>
        <p:nvGraphicFramePr>
          <p:cNvPr id="10" name="Table 9"/>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5308541"/>
                <a:gridCol w="3223042"/>
                <a:gridCol w="2654270"/>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Editor (PC)</a:t>
                      </a:r>
                    </a:p>
                  </a:txBody>
                  <a:tcPr marL="73152" marR="73152" marT="36576" marB="36576" anchor="ctr">
                    <a:solidFill>
                      <a:srgbClr val="0D9488"/>
                    </a:solidFill>
                  </a:tcPr>
                </a:tc>
                <a:tc>
                  <a:txBody>
                    <a:bodyPr wrap="square"/>
                    <a:lstStyle/>
                    <a:p>
                      <a:r>
                        <a:rPr sz="1400" b="1" i="0">
                          <a:solidFill>
                            <a:srgbClr val="FFFFFF"/>
                          </a:solidFill>
                          <a:latin typeface="Calibri"/>
                        </a:rPr>
                        <a:t>Teléfono</a:t>
                      </a:r>
                    </a:p>
                  </a:txBody>
                  <a:tcPr marL="73152" marR="73152" marT="36576" marB="36576" anchor="ctr">
                    <a:solidFill>
                      <a:srgbClr val="0D9488"/>
                    </a:solidFill>
                  </a:tcPr>
                </a:tc>
              </a:tr>
              <a:tr h="566928">
                <a:tc>
                  <a:txBody>
                    <a:bodyPr wrap="square"/>
                    <a:lstStyle/>
                    <a:p>
                      <a:r>
                        <a:rPr sz="1400" b="0" i="0">
                          <a:solidFill>
                            <a:srgbClr val="1F2937"/>
                          </a:solidFill>
                          <a:latin typeface="Calibri"/>
                        </a:rPr>
                        <a:t>fps promedio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Tiempo de frame máximo</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GC Alloc por disparo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fps a los 10 minutos</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INDIVIDUAL · 8 MIN · FORMATIVA</a:t>
            </a:r>
          </a:p>
          <a:p>
            <a:r>
              <a:rPr sz="2600" b="1" i="0">
                <a:solidFill>
                  <a:srgbClr val="FFFFFF"/>
                </a:solidFill>
                <a:latin typeface="Calibri"/>
              </a:rPr>
              <a:t>A4.6 — Anda bien los primeros 5 minutos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11/17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¿Cuello de botella, métrica, herramienta? ¿Qué NO sirve?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60 fps al empezar</a:t>
            </a:r>
          </a:p>
          <a:p>
            <a:pPr>
              <a:spcAft>
                <a:spcPts val="800"/>
              </a:spcAft>
            </a:pPr>
            <a:r>
              <a:rPr sz="1600" b="1" i="0">
                <a:solidFill>
                  <a:srgbClr val="0D9488"/>
                </a:solidFill>
                <a:latin typeface="Calibri"/>
              </a:rPr>
              <a:t>■  </a:t>
            </a:r>
            <a:r>
              <a:rPr sz="2200" b="0" i="0">
                <a:solidFill>
                  <a:srgbClr val="1F2937"/>
                </a:solidFill>
                <a:latin typeface="Calibri"/>
              </a:rPr>
              <a:t>35–40 fps a los 8 minutos</a:t>
            </a:r>
          </a:p>
          <a:p>
            <a:pPr>
              <a:spcAft>
                <a:spcPts val="800"/>
              </a:spcAft>
            </a:pPr>
            <a:r>
              <a:rPr sz="1600" b="1" i="0">
                <a:solidFill>
                  <a:srgbClr val="0D9488"/>
                </a:solidFill>
                <a:latin typeface="Calibri"/>
              </a:rPr>
              <a:t>■  </a:t>
            </a:r>
            <a:r>
              <a:rPr sz="2200" b="0" i="0">
                <a:solidFill>
                  <a:srgbClr val="1F2937"/>
                </a:solidFill>
                <a:latin typeface="Calibri"/>
              </a:rPr>
              <a:t>En el editor: 200 fps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QA MANUAL · 20 MIN</a:t>
            </a:r>
          </a:p>
          <a:p>
            <a:r>
              <a:rPr sz="2600" b="1" i="0">
                <a:solidFill>
                  <a:srgbClr val="FFFFFF"/>
                </a:solidFill>
                <a:latin typeface="Calibri"/>
              </a:rPr>
              <a:t>Interrumpir a propósito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OnApplicationPause / OnApplicationFocus; Android — activity lifecycle</a:t>
            </a:r>
          </a:p>
        </p:txBody>
      </p:sp>
      <p:graphicFrame>
        <p:nvGraphicFramePr>
          <p:cNvPr id="9" name="Table 8"/>
          <p:cNvGraphicFramePr>
            <a:graphicFrameLocks noGrp="1"/>
          </p:cNvGraphicFramePr>
          <p:nvPr/>
        </p:nvGraphicFramePr>
        <p:xfrm>
          <a:off x="502920" y="1234440"/>
          <a:ext cx="11185853" cy="4535424"/>
        </p:xfrm>
        <a:graphic>
          <a:graphicData uri="http://schemas.openxmlformats.org/drawingml/2006/table">
            <a:tbl>
              <a:tblPr firstRow="1" bandRow="1">
                <a:tableStyleId>{5C22544A-7EE6-4342-B048-85BDC9FD1C3A}</a:tableStyleId>
              </a:tblPr>
              <a:tblGrid>
                <a:gridCol w="1519066"/>
                <a:gridCol w="4281006"/>
                <a:gridCol w="4004812"/>
                <a:gridCol w="1380969"/>
              </a:tblGrid>
              <a:tr h="566928">
                <a:tc>
                  <a:txBody>
                    <a:bodyPr wrap="square"/>
                    <a:lstStyle/>
                    <a:p>
                      <a:r>
                        <a:rPr sz="1200" b="1" i="0">
                          <a:solidFill>
                            <a:srgbClr val="FFFFFF"/>
                          </a:solidFill>
                          <a:latin typeface="Calibri"/>
                        </a:rPr>
                        <a:t>Caso</a:t>
                      </a:r>
                    </a:p>
                  </a:txBody>
                  <a:tcPr marL="73152" marR="73152" marT="36576" marB="36576" anchor="ctr">
                    <a:solidFill>
                      <a:srgbClr val="0D9488"/>
                    </a:solidFill>
                  </a:tcPr>
                </a:tc>
                <a:tc>
                  <a:txBody>
                    <a:bodyPr wrap="square"/>
                    <a:lstStyle/>
                    <a:p>
                      <a:r>
                        <a:rPr sz="1200" b="1" i="0">
                          <a:solidFill>
                            <a:srgbClr val="FFFFFF"/>
                          </a:solidFill>
                          <a:latin typeface="Calibri"/>
                        </a:rPr>
                        <a:t>Acción</a:t>
                      </a:r>
                    </a:p>
                  </a:txBody>
                  <a:tcPr marL="73152" marR="73152" marT="36576" marB="36576" anchor="ctr">
                    <a:solidFill>
                      <a:srgbClr val="0D9488"/>
                    </a:solidFill>
                  </a:tcPr>
                </a:tc>
                <a:tc>
                  <a:txBody>
                    <a:bodyPr wrap="square"/>
                    <a:lstStyle/>
                    <a:p>
                      <a:r>
                        <a:rPr sz="1200" b="1" i="0">
                          <a:solidFill>
                            <a:srgbClr val="FFFFFF"/>
                          </a:solidFill>
                          <a:latin typeface="Calibri"/>
                        </a:rPr>
                        <a:t>Esperado</a:t>
                      </a:r>
                    </a:p>
                  </a:txBody>
                  <a:tcPr marL="73152" marR="73152" marT="36576" marB="36576" anchor="ctr">
                    <a:solidFill>
                      <a:srgbClr val="0D9488"/>
                    </a:solidFill>
                  </a:tcPr>
                </a:tc>
                <a:tc>
                  <a:txBody>
                    <a:bodyPr wrap="square"/>
                    <a:lstStyle/>
                    <a:p>
                      <a:r>
                        <a:rPr sz="1200" b="1" i="0">
                          <a:solidFill>
                            <a:srgbClr val="FFFFFF"/>
                          </a:solidFill>
                          <a:latin typeface="Calibri"/>
                        </a:rPr>
                        <a:t>Real</a:t>
                      </a:r>
                    </a:p>
                  </a:txBody>
                  <a:tcPr marL="73152" marR="73152" marT="36576" marB="36576" anchor="ctr">
                    <a:solidFill>
                      <a:srgbClr val="0D9488"/>
                    </a:solidFill>
                  </a:tcPr>
                </a:tc>
              </a:tr>
              <a:tr h="566928">
                <a:tc>
                  <a:txBody>
                    <a:bodyPr wrap="square"/>
                    <a:lstStyle/>
                    <a:p>
                      <a:r>
                        <a:rPr sz="1200" b="0" i="0">
                          <a:solidFill>
                            <a:srgbClr val="1F2937"/>
                          </a:solidFill>
                          <a:latin typeface="Calibri"/>
                        </a:rPr>
                        <a:t>QA-01</a:t>
                      </a:r>
                    </a:p>
                  </a:txBody>
                  <a:tcPr marL="73152" marR="73152" marT="36576" marB="36576" anchor="ctr">
                    <a:solidFill>
                      <a:srgbClr val="FFFFFF"/>
                    </a:solidFill>
                  </a:tcPr>
                </a:tc>
                <a:tc>
                  <a:txBody>
                    <a:bodyPr wrap="square"/>
                    <a:lstStyle/>
                    <a:p>
                      <a:r>
                        <a:rPr sz="1200" b="0" i="0">
                          <a:solidFill>
                            <a:srgbClr val="1F2937"/>
                          </a:solidFill>
                          <a:latin typeface="Calibri"/>
                        </a:rPr>
                        <a:t>Llamada o alarma</a:t>
                      </a:r>
                    </a:p>
                  </a:txBody>
                  <a:tcPr marL="73152" marR="73152" marT="36576" marB="36576" anchor="ctr">
                    <a:solidFill>
                      <a:srgbClr val="FFFFFF"/>
                    </a:solidFill>
                  </a:tcPr>
                </a:tc>
                <a:tc>
                  <a:txBody>
                    <a:bodyPr wrap="square"/>
                    <a:lstStyle/>
                    <a:p>
                      <a:r>
                        <a:rPr sz="1200" b="0" i="0">
                          <a:solidFill>
                            <a:srgbClr val="1F2937"/>
                          </a:solidFill>
                          <a:latin typeface="Calibri"/>
                        </a:rPr>
                        <a:t>Pausa y espera un toque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QA-02</a:t>
                      </a:r>
                    </a:p>
                  </a:txBody>
                  <a:tcPr marL="73152" marR="73152" marT="36576" marB="36576" anchor="ctr">
                    <a:solidFill>
                      <a:srgbClr val="E6F4F2"/>
                    </a:solidFill>
                  </a:tcPr>
                </a:tc>
                <a:tc>
                  <a:txBody>
                    <a:bodyPr wrap="square"/>
                    <a:lstStyle/>
                    <a:p>
                      <a:r>
                        <a:rPr sz="1200" b="0" i="0">
                          <a:solidFill>
                            <a:srgbClr val="1F2937"/>
                          </a:solidFill>
                          <a:latin typeface="Calibri"/>
                        </a:rPr>
                        <a:t>Inicio y volver</a:t>
                      </a:r>
                    </a:p>
                  </a:txBody>
                  <a:tcPr marL="73152" marR="73152" marT="36576" marB="36576" anchor="ctr">
                    <a:solidFill>
                      <a:srgbClr val="E6F4F2"/>
                    </a:solidFill>
                  </a:tcPr>
                </a:tc>
                <a:tc>
                  <a:txBody>
                    <a:bodyPr wrap="square"/>
                    <a:lstStyle/>
                    <a:p>
                      <a:r>
                        <a:rPr sz="1200" b="0" i="0">
                          <a:solidFill>
                            <a:srgbClr val="1F2937"/>
                          </a:solidFill>
                          <a:latin typeface="Calibri"/>
                        </a:rPr>
                        <a:t>Pausado, sin daño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QA-03</a:t>
                      </a:r>
                    </a:p>
                  </a:txBody>
                  <a:tcPr marL="73152" marR="73152" marT="36576" marB="36576" anchor="ctr">
                    <a:solidFill>
                      <a:srgbClr val="FFFFFF"/>
                    </a:solidFill>
                  </a:tcPr>
                </a:tc>
                <a:tc>
                  <a:txBody>
                    <a:bodyPr wrap="square"/>
                    <a:lstStyle/>
                    <a:p>
                      <a:r>
                        <a:rPr sz="1200" b="0" i="0">
                          <a:solidFill>
                            <a:srgbClr val="1F2937"/>
                          </a:solidFill>
                          <a:latin typeface="Calibri"/>
                        </a:rPr>
                        <a:t>Bloquear la pantalla</a:t>
                      </a:r>
                    </a:p>
                  </a:txBody>
                  <a:tcPr marL="73152" marR="73152" marT="36576" marB="36576" anchor="ctr">
                    <a:solidFill>
                      <a:srgbClr val="FFFFFF"/>
                    </a:solidFill>
                  </a:tcPr>
                </a:tc>
                <a:tc>
                  <a:txBody>
                    <a:bodyPr wrap="square"/>
                    <a:lstStyle/>
                    <a:p>
                      <a:r>
                        <a:rPr sz="1200" b="0" i="0">
                          <a:solidFill>
                            <a:srgbClr val="1F2937"/>
                          </a:solidFill>
                          <a:latin typeface="Calibri"/>
                        </a:rPr>
                        <a:t>Pausado</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QA-04</a:t>
                      </a:r>
                    </a:p>
                  </a:txBody>
                  <a:tcPr marL="73152" marR="73152" marT="36576" marB="36576" anchor="ctr">
                    <a:solidFill>
                      <a:srgbClr val="E6F4F2"/>
                    </a:solidFill>
                  </a:tcPr>
                </a:tc>
                <a:tc>
                  <a:txBody>
                    <a:bodyPr wrap="square"/>
                    <a:lstStyle/>
                    <a:p>
                      <a:r>
                        <a:rPr sz="1200" b="0" i="0">
                          <a:solidFill>
                            <a:srgbClr val="1F2937"/>
                          </a:solidFill>
                          <a:latin typeface="Calibri"/>
                        </a:rPr>
                        <a:t>Teclado en pantalla</a:t>
                      </a:r>
                    </a:p>
                  </a:txBody>
                  <a:tcPr marL="73152" marR="73152" marT="36576" marB="36576" anchor="ctr">
                    <a:solidFill>
                      <a:srgbClr val="E6F4F2"/>
                    </a:solidFill>
                  </a:tcPr>
                </a:tc>
                <a:tc>
                  <a:txBody>
                    <a:bodyPr wrap="square"/>
                    <a:lstStyle/>
                    <a:p>
                      <a:r>
                        <a:rPr sz="1200" b="0" i="0">
                          <a:solidFill>
                            <a:srgbClr val="1F2937"/>
                          </a:solidFill>
                          <a:latin typeface="Calibri"/>
                        </a:rPr>
                        <a:t>Documentar</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QA-05</a:t>
                      </a:r>
                    </a:p>
                  </a:txBody>
                  <a:tcPr marL="73152" marR="73152" marT="36576" marB="36576" anchor="ctr">
                    <a:solidFill>
                      <a:srgbClr val="FFFFFF"/>
                    </a:solidFill>
                  </a:tcPr>
                </a:tc>
                <a:tc>
                  <a:txBody>
                    <a:bodyPr wrap="square"/>
                    <a:lstStyle/>
                    <a:p>
                      <a:r>
                        <a:rPr sz="1200" b="0" i="0">
                          <a:solidFill>
                            <a:srgbClr val="1F2937"/>
                          </a:solidFill>
                          <a:latin typeface="Calibri"/>
                        </a:rPr>
                        <a:t>Cierre forzado</a:t>
                      </a:r>
                    </a:p>
                  </a:txBody>
                  <a:tcPr marL="73152" marR="73152" marT="36576" marB="36576" anchor="ctr">
                    <a:solidFill>
                      <a:srgbClr val="FFFFFF"/>
                    </a:solidFill>
                  </a:tcPr>
                </a:tc>
                <a:tc>
                  <a:txBody>
                    <a:bodyPr wrap="square"/>
                    <a:lstStyle/>
                    <a:p>
                      <a:r>
                        <a:rPr sz="1200" b="0" i="0">
                          <a:solidFill>
                            <a:srgbClr val="1F2937"/>
                          </a:solidFill>
                          <a:latin typeface="Calibri"/>
                        </a:rPr>
                        <a:t>Qué se pierde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QA-06</a:t>
                      </a:r>
                    </a:p>
                  </a:txBody>
                  <a:tcPr marL="73152" marR="73152" marT="36576" marB="36576" anchor="ctr">
                    <a:solidFill>
                      <a:srgbClr val="E6F4F2"/>
                    </a:solidFill>
                  </a:tcPr>
                </a:tc>
                <a:tc>
                  <a:txBody>
                    <a:bodyPr wrap="square"/>
                    <a:lstStyle/>
                    <a:p>
                      <a:r>
                        <a:rPr sz="1200" b="0" i="0">
                          <a:solidFill>
                            <a:srgbClr val="1F2937"/>
                          </a:solidFill>
                          <a:latin typeface="Calibri"/>
                        </a:rPr>
                        <a:t>Mover y disparar a la vez</a:t>
                      </a:r>
                    </a:p>
                  </a:txBody>
                  <a:tcPr marL="73152" marR="73152" marT="36576" marB="36576" anchor="ctr">
                    <a:solidFill>
                      <a:srgbClr val="E6F4F2"/>
                    </a:solidFill>
                  </a:tcPr>
                </a:tc>
                <a:tc>
                  <a:txBody>
                    <a:bodyPr wrap="square"/>
                    <a:lstStyle/>
                    <a:p>
                      <a:r>
                        <a:rPr sz="1200" b="0" i="0">
                          <a:solidFill>
                            <a:srgbClr val="1F2937"/>
                          </a:solidFill>
                          <a:latin typeface="Calibri"/>
                        </a:rPr>
                        <a:t>Responden los dos</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QA-07</a:t>
                      </a:r>
                    </a:p>
                  </a:txBody>
                  <a:tcPr marL="73152" marR="73152" marT="36576" marB="36576" anchor="ctr">
                    <a:solidFill>
                      <a:srgbClr val="FFFFFF"/>
                    </a:solidFill>
                  </a:tcPr>
                </a:tc>
                <a:tc>
                  <a:txBody>
                    <a:bodyPr wrap="square"/>
                    <a:lstStyle/>
                    <a:p>
                      <a:r>
                        <a:rPr sz="1200" b="0" i="0">
                          <a:solidFill>
                            <a:srgbClr val="1F2937"/>
                          </a:solidFill>
                          <a:latin typeface="Calibri"/>
                        </a:rPr>
                        <a:t>Controles bajo el pulgar</a:t>
                      </a:r>
                    </a:p>
                  </a:txBody>
                  <a:tcPr marL="73152" marR="73152" marT="36576" marB="36576" anchor="ctr">
                    <a:solidFill>
                      <a:srgbClr val="FFFFFF"/>
                    </a:solidFill>
                  </a:tcPr>
                </a:tc>
                <a:tc>
                  <a:txBody>
                    <a:bodyPr wrap="square"/>
                    <a:lstStyle/>
                    <a:p>
                      <a:r>
                        <a:rPr sz="1200" b="0" i="0">
                          <a:solidFill>
                            <a:srgbClr val="1F2937"/>
                          </a:solidFill>
                          <a:latin typeface="Calibri"/>
                        </a:rPr>
                        <a:t>≥ 48 dp, no tapan</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LÍMITES</a:t>
            </a:r>
          </a:p>
          <a:p>
            <a:r>
              <a:rPr sz="2600" b="1" i="0">
                <a:solidFill>
                  <a:srgbClr val="FFFFFF"/>
                </a:solidFill>
                <a:latin typeface="Calibri"/>
              </a:rPr>
              <a:t>Lo que el test automático no vio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13/17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protege el test y qué solo el QA manual?</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¿Coinciden tests y QA manual?</a:t>
            </a:r>
          </a:p>
          <a:p>
            <a:pPr>
              <a:spcAft>
                <a:spcPts val="800"/>
              </a:spcAft>
            </a:pPr>
            <a:r>
              <a:rPr sz="1600" b="1" i="0">
                <a:solidFill>
                  <a:srgbClr val="0D9488"/>
                </a:solidFill>
                <a:latin typeface="Calibri"/>
              </a:rPr>
              <a:t>■  </a:t>
            </a:r>
            <a:r>
              <a:rPr sz="2200" b="0" i="0">
                <a:solidFill>
                  <a:srgbClr val="1F2937"/>
                </a:solidFill>
                <a:latin typeface="Calibri"/>
              </a:rPr>
              <a:t>¿Qué apareció solo en el teléfono?</a:t>
            </a:r>
          </a:p>
          <a:p>
            <a:pPr>
              <a:spcAft>
                <a:spcPts val="800"/>
              </a:spcAft>
            </a:pPr>
            <a:r>
              <a:rPr sz="1600" b="1" i="0">
                <a:solidFill>
                  <a:srgbClr val="0D9488"/>
                </a:solidFill>
                <a:latin typeface="Calibri"/>
              </a:rPr>
              <a:t>■  </a:t>
            </a:r>
            <a:r>
              <a:rPr sz="2200" b="0" i="0">
                <a:solidFill>
                  <a:srgbClr val="1F2937"/>
                </a:solidFill>
                <a:latin typeface="Calibri"/>
              </a:rPr>
              <a:t>¿Qué no se puede automatizar?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COMPATIBILIDAD · 15 MIN</a:t>
            </a:r>
          </a:p>
          <a:p>
            <a:r>
              <a:rPr sz="2600" b="1" i="0">
                <a:solidFill>
                  <a:srgbClr val="FFFFFF"/>
                </a:solidFill>
                <a:latin typeface="Calibri"/>
              </a:rPr>
              <a:t>La matriz del curso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(probar en gama mínima y máxima, p. 20); Android vitals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para decir "anda en Android"?</a:t>
            </a:r>
          </a:p>
        </p:txBody>
      </p:sp>
      <p:graphicFrame>
        <p:nvGraphicFramePr>
          <p:cNvPr id="11" name="Table 10"/>
          <p:cNvGraphicFramePr>
            <a:graphicFrameLocks noGrp="1"/>
          </p:cNvGraphicFramePr>
          <p:nvPr/>
        </p:nvGraphicFramePr>
        <p:xfrm>
          <a:off x="502920" y="1234440"/>
          <a:ext cx="11185850" cy="2267712"/>
        </p:xfrm>
        <a:graphic>
          <a:graphicData uri="http://schemas.openxmlformats.org/drawingml/2006/table">
            <a:tbl>
              <a:tblPr firstRow="1" bandRow="1">
                <a:tableStyleId>{5C22544A-7EE6-4342-B048-85BDC9FD1C3A}</a:tableStyleId>
              </a:tblPr>
              <a:tblGrid>
                <a:gridCol w="1194605"/>
                <a:gridCol w="1303206"/>
                <a:gridCol w="1411806"/>
                <a:gridCol w="977404"/>
                <a:gridCol w="1737608"/>
                <a:gridCol w="977404"/>
                <a:gridCol w="3583817"/>
              </a:tblGrid>
              <a:tr h="566928">
                <a:tc>
                  <a:txBody>
                    <a:bodyPr wrap="square"/>
                    <a:lstStyle/>
                    <a:p>
                      <a:r>
                        <a:rPr sz="1600" b="1" i="0">
                          <a:solidFill>
                            <a:srgbClr val="FFFFFF"/>
                          </a:solidFill>
                          <a:latin typeface="Calibri"/>
                        </a:rPr>
                        <a:t>Grupo</a:t>
                      </a:r>
                    </a:p>
                  </a:txBody>
                  <a:tcPr marL="73152" marR="73152" marT="36576" marB="36576" anchor="ctr">
                    <a:solidFill>
                      <a:srgbClr val="0D9488"/>
                    </a:solidFill>
                  </a:tcPr>
                </a:tc>
                <a:tc>
                  <a:txBody>
                    <a:bodyPr wrap="square"/>
                    <a:lstStyle/>
                    <a:p>
                      <a:r>
                        <a:rPr sz="1600" b="1" i="0">
                          <a:solidFill>
                            <a:srgbClr val="FFFFFF"/>
                          </a:solidFill>
                          <a:latin typeface="Calibri"/>
                        </a:rPr>
                        <a:t>Modelo</a:t>
                      </a:r>
                    </a:p>
                  </a:txBody>
                  <a:tcPr marL="73152" marR="73152" marT="36576" marB="36576" anchor="ctr">
                    <a:solidFill>
                      <a:srgbClr val="0D9488"/>
                    </a:solidFill>
                  </a:tcPr>
                </a:tc>
                <a:tc>
                  <a:txBody>
                    <a:bodyPr wrap="square"/>
                    <a:lstStyle/>
                    <a:p>
                      <a:r>
                        <a:rPr sz="1600" b="1" i="0">
                          <a:solidFill>
                            <a:srgbClr val="FFFFFF"/>
                          </a:solidFill>
                          <a:latin typeface="Calibri"/>
                        </a:rPr>
                        <a:t>Android</a:t>
                      </a:r>
                    </a:p>
                  </a:txBody>
                  <a:tcPr marL="73152" marR="73152" marT="36576" marB="36576" anchor="ctr">
                    <a:solidFill>
                      <a:srgbClr val="0D9488"/>
                    </a:solidFill>
                  </a:tcPr>
                </a:tc>
                <a:tc>
                  <a:txBody>
                    <a:bodyPr wrap="square"/>
                    <a:lstStyle/>
                    <a:p>
                      <a:r>
                        <a:rPr sz="1600" b="1" i="0">
                          <a:solidFill>
                            <a:srgbClr val="FFFFFF"/>
                          </a:solidFill>
                          <a:latin typeface="Calibri"/>
                        </a:rPr>
                        <a:t>RAM</a:t>
                      </a:r>
                    </a:p>
                  </a:txBody>
                  <a:tcPr marL="73152" marR="73152" marT="36576" marB="36576" anchor="ctr">
                    <a:solidFill>
                      <a:srgbClr val="0D9488"/>
                    </a:solidFill>
                  </a:tcPr>
                </a:tc>
                <a:tc>
                  <a:txBody>
                    <a:bodyPr wrap="square"/>
                    <a:lstStyle/>
                    <a:p>
                      <a:r>
                        <a:rPr sz="1600" b="1" i="0">
                          <a:solidFill>
                            <a:srgbClr val="FFFFFF"/>
                          </a:solidFill>
                          <a:latin typeface="Calibri"/>
                        </a:rPr>
                        <a:t>Resolución</a:t>
                      </a:r>
                    </a:p>
                  </a:txBody>
                  <a:tcPr marL="73152" marR="73152" marT="36576" marB="36576" anchor="ctr">
                    <a:solidFill>
                      <a:srgbClr val="0D9488"/>
                    </a:solidFill>
                  </a:tcPr>
                </a:tc>
                <a:tc>
                  <a:txBody>
                    <a:bodyPr wrap="square"/>
                    <a:lstStyle/>
                    <a:p>
                      <a:r>
                        <a:rPr sz="1600" b="1" i="0">
                          <a:solidFill>
                            <a:srgbClr val="FFFFFF"/>
                          </a:solidFill>
                          <a:latin typeface="Calibri"/>
                        </a:rPr>
                        <a:t>fps</a:t>
                      </a:r>
                    </a:p>
                  </a:txBody>
                  <a:tcPr marL="73152" marR="73152" marT="36576" marB="36576" anchor="ctr">
                    <a:solidFill>
                      <a:srgbClr val="0D9488"/>
                    </a:solidFill>
                  </a:tcPr>
                </a:tc>
                <a:tc>
                  <a:txBody>
                    <a:bodyPr wrap="square"/>
                    <a:lstStyle/>
                    <a:p>
                      <a:r>
                        <a:rPr sz="1600" b="1" i="0">
                          <a:solidFill>
                            <a:srgbClr val="FFFFFF"/>
                          </a:solidFill>
                          <a:latin typeface="Calibri"/>
                        </a:rPr>
                        <a:t>¿Spawn visible en vertical?</a:t>
                      </a:r>
                    </a:p>
                  </a:txBody>
                  <a:tcPr marL="73152" marR="73152" marT="36576" marB="36576" anchor="ctr">
                    <a:solidFill>
                      <a:srgbClr val="0D9488"/>
                    </a:solidFill>
                  </a:tcPr>
                </a:tc>
              </a:tr>
              <a:tr h="566928">
                <a:tc>
                  <a:txBody>
                    <a:bodyPr wrap="square"/>
                    <a:lstStyle/>
                    <a:p>
                      <a:r>
                        <a:rPr sz="1600" b="0" i="0">
                          <a:solidFill>
                            <a:srgbClr val="1F2937"/>
                          </a:solidFill>
                          <a:latin typeface="Calibri"/>
                        </a:rPr>
                        <a:t>1</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2</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3</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DEFENSA · 3 MIN POR GRUPO · COEVALUACIÓN</a:t>
            </a:r>
          </a:p>
          <a:p>
            <a:r>
              <a:rPr sz="2600" b="1" i="0">
                <a:solidFill>
                  <a:srgbClr val="FFFFFF"/>
                </a:solidFill>
                <a:latin typeface="Calibri"/>
              </a:rPr>
              <a:t>Defensa del TP 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15/17</a:t>
            </a:r>
          </a:p>
        </p:txBody>
      </p:sp>
      <p:sp>
        <p:nvSpPr>
          <p:cNvPr id="8" name="TextBox 7"/>
          <p:cNvSpPr txBox="1"/>
          <p:nvPr/>
        </p:nvSpPr>
        <p:spPr>
          <a:xfrm>
            <a:off x="502920" y="1234440"/>
            <a:ext cx="11185855" cy="1600200"/>
          </a:xfrm>
          <a:prstGeom prst="rect">
            <a:avLst/>
          </a:prstGeom>
          <a:noFill/>
        </p:spPr>
        <p:txBody>
          <a:bodyPr wrap="square" anchor="t" lIns="0" rIns="0" tIns="0" bIns="0">
            <a:spAutoFit/>
          </a:bodyPr>
          <a:lstStyle/>
          <a:p>
            <a:pPr>
              <a:spcAft>
                <a:spcPts val="800"/>
              </a:spcAft>
            </a:pPr>
            <a:r>
              <a:rPr sz="1000" b="1" i="0">
                <a:solidFill>
                  <a:srgbClr val="0D9488"/>
                </a:solidFill>
                <a:latin typeface="Calibri"/>
              </a:rPr>
              <a:t>■  </a:t>
            </a:r>
            <a:r>
              <a:rPr sz="1600" b="0" i="0">
                <a:solidFill>
                  <a:srgbClr val="1F2937"/>
                </a:solidFill>
                <a:latin typeface="Calibri"/>
              </a:rPr>
              <a:t>Una decisión de plataforma</a:t>
            </a:r>
          </a:p>
          <a:p>
            <a:pPr>
              <a:spcAft>
                <a:spcPts val="800"/>
              </a:spcAft>
            </a:pPr>
            <a:r>
              <a:rPr sz="1000" b="1" i="0">
                <a:solidFill>
                  <a:srgbClr val="0D9488"/>
                </a:solidFill>
                <a:latin typeface="Calibri"/>
              </a:rPr>
              <a:t>■  </a:t>
            </a:r>
            <a:r>
              <a:rPr sz="1600" b="0" i="0">
                <a:solidFill>
                  <a:srgbClr val="1F2937"/>
                </a:solidFill>
                <a:latin typeface="Calibri"/>
              </a:rPr>
              <a:t>La evidencia del teléfono</a:t>
            </a:r>
          </a:p>
          <a:p>
            <a:pPr>
              <a:spcAft>
                <a:spcPts val="800"/>
              </a:spcAft>
            </a:pPr>
            <a:r>
              <a:rPr sz="1000" b="1" i="0">
                <a:solidFill>
                  <a:srgbClr val="0D9488"/>
                </a:solidFill>
                <a:latin typeface="Calibri"/>
              </a:rPr>
              <a:t>■  </a:t>
            </a:r>
            <a:r>
              <a:rPr sz="1600" b="0" i="0">
                <a:solidFill>
                  <a:srgbClr val="1F2937"/>
                </a:solidFill>
                <a:latin typeface="Calibri"/>
              </a:rPr>
              <a:t>Lo que quedó sin probar</a:t>
            </a:r>
          </a:p>
        </p:txBody>
      </p:sp>
      <p:graphicFrame>
        <p:nvGraphicFramePr>
          <p:cNvPr id="9" name="Table 8"/>
          <p:cNvGraphicFramePr>
            <a:graphicFrameLocks noGrp="1"/>
          </p:cNvGraphicFramePr>
          <p:nvPr/>
        </p:nvGraphicFramePr>
        <p:xfrm>
          <a:off x="502920" y="2834640"/>
          <a:ext cx="11185854" cy="2267712"/>
        </p:xfrm>
        <a:graphic>
          <a:graphicData uri="http://schemas.openxmlformats.org/drawingml/2006/table">
            <a:tbl>
              <a:tblPr firstRow="1" bandRow="1">
                <a:tableStyleId>{5C22544A-7EE6-4342-B048-85BDC9FD1C3A}</a:tableStyleId>
              </a:tblPr>
              <a:tblGrid>
                <a:gridCol w="6635676"/>
                <a:gridCol w="4550178"/>
              </a:tblGrid>
              <a:tr h="566928">
                <a:tc>
                  <a:txBody>
                    <a:bodyPr wrap="square"/>
                    <a:lstStyle/>
                    <a:p>
                      <a:r>
                        <a:rPr sz="1600" b="1" i="0">
                          <a:solidFill>
                            <a:srgbClr val="FFFFFF"/>
                          </a:solidFill>
                          <a:latin typeface="Calibri"/>
                        </a:rPr>
                        <a:t>Criterio de coevaluación</a:t>
                      </a:r>
                    </a:p>
                  </a:txBody>
                  <a:tcPr marL="73152" marR="73152" marT="36576" marB="36576" anchor="ctr">
                    <a:solidFill>
                      <a:srgbClr val="0D9488"/>
                    </a:solidFill>
                  </a:tcPr>
                </a:tc>
                <a:tc>
                  <a:txBody>
                    <a:bodyPr wrap="square"/>
                    <a:lstStyle/>
                    <a:p>
                      <a:r>
                        <a:rPr sz="1600" b="1" i="0">
                          <a:solidFill>
                            <a:srgbClr val="FFFFFF"/>
                          </a:solidFill>
                          <a:latin typeface="Calibri"/>
                        </a:rPr>
                        <a:t>Sí / En parte / No</a:t>
                      </a:r>
                    </a:p>
                  </a:txBody>
                  <a:tcPr marL="73152" marR="73152" marT="36576" marB="36576" anchor="ctr">
                    <a:solidFill>
                      <a:srgbClr val="0D9488"/>
                    </a:solidFill>
                  </a:tcPr>
                </a:tc>
              </a:tr>
              <a:tr h="566928">
                <a:tc>
                  <a:txBody>
                    <a:bodyPr wrap="square"/>
                    <a:lstStyle/>
                    <a:p>
                      <a:r>
                        <a:rPr sz="1600" b="0" i="0">
                          <a:solidFill>
                            <a:srgbClr val="1F2937"/>
                          </a:solidFill>
                          <a:latin typeface="Calibri"/>
                        </a:rPr>
                        <a:t>La decisión está justificada</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Hay evidencia del dispositivo</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Se declaran los límites</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TRANSFERENCIA · 8 MIN · GRUPOS</a:t>
            </a:r>
          </a:p>
          <a:p>
            <a:r>
              <a:rPr sz="2600" b="1" i="0">
                <a:solidFill>
                  <a:srgbClr val="FFFFFF"/>
                </a:solidFill>
                <a:latin typeface="Calibri"/>
              </a:rPr>
              <a:t>El mismo porteo, otro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16/17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Auditoría del 2D Platformer (laboratorio-adaptacion/PROJECT-DISCOVERY.md y MOBILE-ADAPTATION.md, 2026-10-10)</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con copiar el joystick de Asteroides?</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2D Platformer: ¿qué se reutiliza?</a:t>
            </a:r>
          </a:p>
          <a:p>
            <a:pPr>
              <a:spcAft>
                <a:spcPts val="800"/>
              </a:spcAft>
            </a:pPr>
            <a:r>
              <a:rPr sz="1600" b="1" i="0">
                <a:solidFill>
                  <a:srgbClr val="0D9488"/>
                </a:solidFill>
                <a:latin typeface="Calibri"/>
              </a:rPr>
              <a:t>■  </a:t>
            </a:r>
            <a:r>
              <a:rPr sz="2200" b="0" i="0">
                <a:solidFill>
                  <a:srgbClr val="1F2937"/>
                </a:solidFill>
                <a:latin typeface="Calibri"/>
              </a:rPr>
              <a:t>Ya tiene MobileMove y MobileJump…</a:t>
            </a:r>
          </a:p>
          <a:p>
            <a:pPr>
              <a:spcAft>
                <a:spcPts val="800"/>
              </a:spcAft>
            </a:pPr>
            <a:r>
              <a:rPr sz="1600" b="1" i="0">
                <a:solidFill>
                  <a:srgbClr val="0D9488"/>
                </a:solidFill>
                <a:latin typeface="Calibri"/>
              </a:rPr>
              <a:t>■  </a:t>
            </a:r>
            <a:r>
              <a:rPr sz="2200" b="0" i="0">
                <a:solidFill>
                  <a:srgbClr val="1F2937"/>
                </a:solidFill>
                <a:latin typeface="Calibri"/>
              </a:rPr>
              <a:t>… pero no tiene botones en pantalla</a:t>
            </a:r>
          </a:p>
          <a:p>
            <a:pPr>
              <a:spcAft>
                <a:spcPts val="800"/>
              </a:spcAft>
            </a:pPr>
            <a:r>
              <a:rPr sz="1600" b="1" i="0">
                <a:solidFill>
                  <a:srgbClr val="0D9488"/>
                </a:solidFill>
                <a:latin typeface="Calibri"/>
              </a:rPr>
              <a:t>■  </a:t>
            </a:r>
            <a:r>
              <a:rPr sz="2200" b="0" i="0">
                <a:solidFill>
                  <a:srgbClr val="1F2937"/>
                </a:solidFill>
                <a:latin typeface="Calibri"/>
              </a:rPr>
              <a:t>Saltar exige más precisión que esquivar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DE UNIDAD · PUENTE A UNIDAD V</a:t>
            </a:r>
          </a:p>
          <a:p>
            <a:r>
              <a:rPr sz="2600" b="1" i="0">
                <a:solidFill>
                  <a:srgbClr val="FFFFFF"/>
                </a:solidFill>
                <a:latin typeface="Calibri"/>
              </a:rPr>
              <a:t>En móvil, el límite lo pone el dispositivo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17/17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En consola, ¿quién decide si se publica?</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Energía, calor, pantalla, interrupciones</a:t>
            </a:r>
          </a:p>
          <a:p>
            <a:pPr>
              <a:spcAft>
                <a:spcPts val="800"/>
              </a:spcAft>
            </a:pPr>
            <a:r>
              <a:rPr sz="1600" b="1" i="0">
                <a:solidFill>
                  <a:srgbClr val="0D9488"/>
                </a:solidFill>
                <a:latin typeface="Calibri"/>
              </a:rPr>
              <a:t>■  </a:t>
            </a:r>
            <a:r>
              <a:rPr sz="2200" b="0" i="0">
                <a:solidFill>
                  <a:srgbClr val="1F2937"/>
                </a:solidFill>
                <a:latin typeface="Calibri"/>
              </a:rPr>
              <a:t>El teléfono muestra lo que el editor no</a:t>
            </a:r>
          </a:p>
          <a:p>
            <a:pPr>
              <a:spcAft>
                <a:spcPts val="800"/>
              </a:spcAft>
            </a:pPr>
            <a:r>
              <a:rPr sz="1600" b="1" i="0">
                <a:solidFill>
                  <a:srgbClr val="0D9488"/>
                </a:solidFill>
                <a:latin typeface="Calibri"/>
              </a:rPr>
              <a:t>■  </a:t>
            </a:r>
            <a:r>
              <a:rPr sz="2200" b="0" i="0">
                <a:solidFill>
                  <a:srgbClr val="1F2937"/>
                </a:solidFill>
                <a:latin typeface="Calibri"/>
              </a:rPr>
              <a:t>Mismo input, otro control: el gamepad</a:t>
            </a:r>
          </a:p>
          <a:p>
            <a:pPr>
              <a:spcAft>
                <a:spcPts val="800"/>
              </a:spcAft>
            </a:pPr>
            <a:r>
              <a:rPr sz="1600" b="1" i="0">
                <a:solidFill>
                  <a:srgbClr val="0D9488"/>
                </a:solidFill>
                <a:latin typeface="Calibri"/>
              </a:rPr>
              <a:t>■  </a:t>
            </a:r>
            <a:r>
              <a:rPr sz="2200" b="0" i="0">
                <a:solidFill>
                  <a:srgbClr val="1F2937"/>
                </a:solidFill>
                <a:latin typeface="Calibri"/>
              </a:rPr>
              <a:t>Consolas: el límite lo pone el fabricante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