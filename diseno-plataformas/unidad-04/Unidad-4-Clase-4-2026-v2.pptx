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Clase 100 % práctica. Antes de empezar, verificar cables, depuración USB y Android Build Support instalado.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Editor: el entorno de Unity en la PC, donde se arma y prueba el juego.</a:t>
            </a:r>
          </a:p>
          <a:p>
            <a:r>
              <a:t>Situación: todo lo que probamos hasta ahora fue en el editor; la columna "qué no demuestra" de A4.4 sigue abierta. Hoy vemos cómo se comporta el juego en un teléfono real.</a:t>
            </a:r>
          </a:p>
          <a:p>
            <a:r>
              <a:t>Que anoten su predicción: sirve para contrastarla al final de la clase.</a:t>
            </a:r>
          </a:p>
          <a:p>
            <a:r>
              <a:t>Imagen sugerida (opcional, sin recuadro en la slide): editor de Unity y teléfono, con un signo de pregunta entre ambos.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Build: versión compilada del juego, lista para instalar.</a:t>
            </a:r>
          </a:p>
          <a:p>
            <a:r>
              <a:t>• Development Build: build con información de depuración que permite conectar el Profiler.</a:t>
            </a:r>
          </a:p>
          <a:p>
            <a:r>
              <a:t>• Autoconnect Profiler: opción para que el Profiler se conecte solo al iniciar el juego.</a:t>
            </a:r>
          </a:p>
          <a:p>
            <a:r>
              <a:t>• Build and Run: compilar e instalar en el dispositivo conectado en un solo paso.</a:t>
            </a:r>
          </a:p>
          <a:p>
            <a:r>
              <a:t>Pasos: en Build Profiles, elegir Android y marcar Development Build y Autoconnect Profiler; conectar el teléfono por USB con la depuración activada; Build and Run; el juego se instala y se abre en el teléfono. Primero lo hace la docente; después cada grupo, con el teléfono de un integrante.</a:t>
            </a:r>
          </a:p>
          <a:p>
            <a:r>
              <a:t>La primera build tarda: prever ese tiempo. Si un teléfono no aparece, revisar el cable (de datos, no solo de carga) y aceptar el diálogo de depuración en el teléfono.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APK: archivo instalable de una app de Android.</a:t>
            </a:r>
          </a:p>
          <a:p>
            <a:r>
              <a:t>Detalle: si la build falla en la máquina del grupo, se instala el APK de la docente. Se pierde el Profiler conectado; no se pierden el QA manual de interrupciones ni la matriz de compatibilidad. Lo que no se pudo medir se declara en el dossier.</a:t>
            </a:r>
          </a:p>
          <a:p>
            <a:r>
              <a:t>Normalizar el plan B: en la industria también fallan las builds. Lo importante es documentar qué quedó sin medir.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GC (garbage collector): proceso que libera memoria que ya no se usa; si trabaja mucho, produce tirones.</a:t>
            </a:r>
          </a:p>
          <a:p>
            <a:r>
              <a:t>• GC Alloc: memoria reservada en cada frame que después tendrá que liberar el GC.</a:t>
            </a:r>
          </a:p>
          <a:p>
            <a:r>
              <a:t>• Hipótesis: suposición que se comprueba midiendo.</a:t>
            </a:r>
          </a:p>
          <a:p>
            <a:r>
              <a:t>Hipótesis completas: H1, ¿cada disparo (Instantiate del láser) genera picos de GC? Métrica: GC Alloc por frame. H2, ¿el juego sostiene el fps durante 10 minutos? Métrica: tiempo de frame a lo largo del tiempo. Registrar modelo de teléfono, versión de Android y temperatura percibida.</a:t>
            </a:r>
          </a:p>
          <a:p>
            <a:r>
              <a:t>Advertencia honesta: Asteroides es liviano y lo más probable es que ande bien en casi cualquier teléfono. Si la medición no muestra problemas, la respuesta correcta es decirlo con los datos. El objetivo es aprender a formular y medir hipótesis.</a:t>
            </a:r>
          </a:p>
          <a:p>
            <a:r>
              <a:t>Imagen sugerida (opcional, sin recuadro en la slide): Profiler conectado a un teléfono con un pico de GC marcado.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fps promedio: cantidad media de imágenes por segundo durante la medición.</a:t>
            </a:r>
          </a:p>
          <a:p>
            <a:r>
              <a:t>• Tiempo de frame máximo: el cuadro que más tardó; muestra los tirones que el promedio esconde.</a:t>
            </a:r>
          </a:p>
          <a:p>
            <a:r>
              <a:t>Conclusión esperada: el número del editor no predice el del teléfono. Retomar el caso A4.6 de la Clase 2 (200 fps en el editor).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QA manual: prueba hecha por una persona, siguiendo pasos definidos.</a:t>
            </a:r>
          </a:p>
          <a:p>
            <a:r>
              <a:t>• Cierre forzado: terminar la app desde los ajustes del sistema.</a:t>
            </a:r>
          </a:p>
          <a:p>
            <a:r>
              <a:t>Casos completos: QA-01 llamada o alarma durante la partida (esperado: el juego se pausa y espera un toque); QA-02 botón de inicio y volver (pausado, sin daño a la nave); QA-03 bloquear y desbloquear la pantalla (pausado); QA-04 abrir el teclado en pantalla, si aplica (documentar qué pasa); QA-05 cierre forzado y reabrir (documentar qué se pierde).</a:t>
            </a:r>
          </a:p>
          <a:p>
            <a:r>
              <a:t>Mismo formato de caso de prueba de la Unidad 2 (esperado vs. real). Si los grupos todavía no corrigieron el defecto, probar la versión con defecto: el resultado real va a contradecir al esperado, y eso es un hallazgo.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Test automático: prueba que corre sola y compara el resultado con lo esperado.</a:t>
            </a:r>
          </a:p>
          <a:p>
            <a:r>
              <a:t>Respuesta esperada: los tests protegen la regla y el adaptador ante regresiones; el QA manual comprueba que el sistema operativo dispare los callbacks y qué pasa cuando se cierra el proceso. Es la frontera entre automatización y hardware real, la misma de la Unidad 3 aplicada a la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Matriz de compatibilidad: tabla que cruza dispositivos con resultados de prueba.</a:t>
            </a:r>
          </a:p>
          <a:p>
            <a:r>
              <a:t>• Muestra de conveniencia: los casos que se tienen a mano, no elegidos para representar al mercado.</a:t>
            </a:r>
          </a:p>
          <a:p>
            <a:r>
              <a:t>Respuesta esperada: no. Es una muestra de conveniencia; faltan gamas, fabricantes, versiones de Android y tablets. Por eso existen las granjas de dispositivos y Android vitals. Igual es evidencia real y vale más que el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Coevaluación: los grupos se evalúan entre sí con criterios compartidos.</a:t>
            </a:r>
          </a:p>
          <a:p>
            <a:r>
              <a:t>• Decisión de plataforma (PDR): registro de contexto, opciones, decisión y consecuencias.</a:t>
            </a:r>
          </a:p>
          <a:p>
            <a:r>
              <a:t>Formato de la defensa: una decisión de plataforma (contexto, opciones, decisión, consecuencias); la evidencia del teléfono que la respalda o la contradice; lo que quedó sin probar, dicho explícitamente.</a:t>
            </a:r>
          </a:p>
          <a:p>
            <a:r>
              <a:t>Los criterios de coevaluación son una versión reducida de la rúbrica del TP 3 (ver 05). La entrega final del dossier se sube al aula virtual.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Glosario (conceptos cortos para la docente):</a:t>
            </a:r>
          </a:p>
          <a:p>
            <a:r>
              <a:t>• Certificación: revisión que hace el fabricante de la consola antes de permitir que un juego se publique.</a:t>
            </a:r>
          </a:p>
          <a:p>
            <a:r>
              <a:t>Síntesis: en móvil el límite lo ponen la energía, el calor, la memoria, la pantalla táctil, las interrupciones y las reglas de tienda. Lo que el editor no muestra, lo muestra el teléfono.</a:t>
            </a:r>
          </a:p>
          <a:p>
            <a:r>
              <a:t>Pregunta puente: en consola, el fabricante certifica el juego antes de publicarlo (Microsoft publica sus requisitos; Sony y Nintendo, no). La idea transversal de las Unidades IV a VII: ¿quién pone el límite?</a:t>
            </a:r>
          </a:p>
          <a:p>
            <a:r>
              <a:t>Imagen sugerida (opcional, sin recuadro en la slide): un teléfono que se transforma en un gamepad frente a una TV.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85855" cy="32918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1400" b="1" i="0">
                <a:solidFill>
                  <a:srgbClr val="99F6E4"/>
                </a:solidFill>
                <a:latin typeface="Calibri"/>
              </a:rPr>
              <a:t>UNIDAD IV · CLASE 4 DE 4 · PRÁCTICA EN DISPOSITIVO</a:t>
            </a:r>
          </a:p>
          <a:p>
            <a:r>
              <a:rPr sz="4000" b="1" i="0">
                <a:solidFill>
                  <a:srgbClr val="FFFFFF"/>
                </a:solidFill>
                <a:latin typeface="Calibri"/>
              </a:rPr>
              <a:t>Asteroides en tu bolsillo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Build, medición y QA manual en sus teléfonos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CBD5E1"/>
                </a:solidFill>
                <a:latin typeface="Calibri"/>
              </a:rPr>
              <a:t>Diseño según Plataformas de Juego · FI – UNJu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BD5E1"/>
                </a:solidFill>
                <a:latin typeface="Calibri"/>
              </a:rPr>
              <a:t>Unidad IV · Clase 4 · v2 ·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¿Qué no sabemos todavía?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esperan que cambie?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Todo fue en el editor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"Qué no demuestra" sigue abierto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Hoy: el teléfono real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DEMO EN VIVO + GRUPOS · 20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 la PC al teléfono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Build your application for Android; Collect performance data on a target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6775" y="1719072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Development Build + Autoconnect Profiler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201607" y="2441448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16775" y="2752344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Cable USB y depuración activada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201607" y="3474720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16775" y="3785616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Build and Run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201607" y="4507992"/>
            <a:ext cx="402336" cy="27432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16775" y="4818888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25400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1F2937"/>
                </a:solidFill>
                <a:latin typeface="Calibri"/>
              </a:rPr>
              <a:t>El juego abre en el teléfono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234440"/>
            <a:ext cx="633953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Primero la docente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Después cada grupo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GESTIÓN DE RIESGO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Plan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858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Falla la build: APK de la docente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Se pierde: el Profiler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No se pierde: QA y matriz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Lo no medido se declara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MEDICIÓN · 20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Medir, no opinar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Profiling on a target device; e-book Unity 6, p.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Capturen el Profiler y anoten los valores.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H1: ¿picos de GC al disparar?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H2: ¿fps estable 10 minutos?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Anotar modelo y versión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COMPARAR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Editor vs. teléfono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ACTIVIDAD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Completen con sus mediciones.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234440"/>
          <a:ext cx="1118585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8541"/>
                <a:gridCol w="3223042"/>
                <a:gridCol w="265427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Medición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Editor (PC)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Teléfono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fps promedio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Tiempo de frame máximo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GC Alloc por disparo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fps a los 10 minutos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QA MANUAL · 20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Interrumpir a propósito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6.3 — OnApplicationPause / OnApplicationFocus; Android — activity lifecycle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1118585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005"/>
                <a:gridCol w="3826739"/>
                <a:gridCol w="4268286"/>
                <a:gridCol w="1471823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Caso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Acción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Esperado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QA-01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Llamada o alarma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Pausa y espera un toque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QA-02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Inicio y volver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Pausado, sin daño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QA-03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Bloquear la pantalla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Pausado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QA-04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Teclado en pantalla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Documentar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QA-05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Cierre forzado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Qué se pierde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LÍMITES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el test automático no vio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¿Qué protege el test y qué solo el QA manual?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¿Coinciden tests y QA manual?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apareció solo en el teléfono?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¿Qué no se puede automatizar?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COMPATIBILIDAD · 15 MIN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La matriz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26480"/>
            <a:ext cx="1118585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6B7280"/>
                </a:solidFill>
                <a:latin typeface="Calibri"/>
              </a:rPr>
              <a:t>Fuente: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Unity e-book (probar en gama mínima y máxima, p. 20); Android vitals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¿Alcanza para decir "anda en Android"?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34440"/>
          <a:ext cx="1118585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605"/>
                <a:gridCol w="1303206"/>
                <a:gridCol w="1411806"/>
                <a:gridCol w="977404"/>
                <a:gridCol w="1737608"/>
                <a:gridCol w="977404"/>
                <a:gridCol w="3583817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Resolución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fps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¿Spawn visible en vertical?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DEFENSA · 3 MIN POR GRUPO · COEVALUACIÓN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Defensa del TP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85855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Una decisión de plataforma</a:t>
            </a:r>
          </a:p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La evidencia del teléfono</a:t>
            </a:r>
          </a:p>
          <a:p>
            <a:pPr>
              <a:spcAft>
                <a:spcPts val="800"/>
              </a:spcAft>
            </a:pPr>
            <a:r>
              <a:rPr sz="10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Lo que quedó sin probar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834640"/>
          <a:ext cx="1118585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5676"/>
                <a:gridCol w="455017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Criterio de coevaluación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Sí / En parte / No</a:t>
                      </a:r>
                    </a:p>
                  </a:txBody>
                  <a:tcPr marL="73152" marR="73152" marT="36576" marB="36576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La decisión está justificada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Hay evidencia del dispositivo</a:t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E6F4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Se declaran los límites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"/>
            <a:ext cx="1072865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9F6E4"/>
                </a:solidFill>
                <a:latin typeface="Calibri"/>
              </a:rPr>
              <a:t>CIERRE DE UNIDAD · PUENTE A UNIDAD V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En móvil, el límite lo pone el dispositivo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Diseño según Plataformas de Juego · Unidad IV · Clase 4 · Asteroides en tu bolsillo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77840"/>
            <a:ext cx="109728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5577840"/>
            <a:ext cx="11076127" cy="4572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PREGUNTA 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En consola, ¿quién decide si se publica?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85855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Energía, calor, pantalla, interrupciones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El teléfono muestra lo que el editor no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2200" b="0" i="0">
                <a:solidFill>
                  <a:srgbClr val="1F2937"/>
                </a:solidFill>
                <a:latin typeface="Calibri"/>
              </a:rPr>
              <a:t>Consolas: el límite lo pone el fabricante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