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28" r:id="rId80"/>
    <p:sldId id="329" r:id="rId81"/>
    <p:sldId id="319" r:id="rId71"/>
    <p:sldId id="320" r:id="rId72"/>
    <p:sldId id="321" r:id="rId73"/>
    <p:sldId id="322" r:id="rId74"/>
    <p:sldId id="323" r:id="rId75"/>
    <p:sldId id="324" r:id="rId76"/>
    <p:sldId id="325" r:id="rId77"/>
    <p:sldId id="326" r:id="rId78"/>
    <p:sldId id="327" r:id="rId7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Imagen sugerida (opcional, sin recuadro en la slide): Teléfono en vertical con Asteroides corriendo, sostenido con una mano.</a:t>
            </a:r>
          </a:p>
          <a:p>
            <a:r>
              <a:t>Presentar la unidad como continuación directa del panorama del 28/09: ese día recorrimos todas las plataformas; desde hoy, y durante cuatro clases, nos quedamos en el bolsillo del jugador.</a:t>
            </a:r>
          </a:p>
          <a:p>
            <a:r>
              <a:t>No anticipar contenidos: la clase arranca con un problema, no con una definición ni con una herramienta.</a:t>
            </a:r>
          </a:p>
          <a:p>
            <a:r>
              <a:t>Versión 2 de la clase (2026-10-05): incorpora conceptos del artículo "What Are the Best Platforms for Games?" de Kevuru Games (definición de plataforma, rol de las tiendas móviles, criterios para elegir plataforma), leído con mirada crítica (slide 20).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Bug: error o defecto que hace que el juego se comporte distinto de lo esperado.</a:t>
            </a:r>
          </a:p>
          <a:p>
            <a:r>
              <a:t>Imagen sugerida (opcional, sin recuadro en la slide): Captura del juego con tres íconos superpuestos: termómetro, batería baja y llamada entrante.</a:t>
            </a:r>
          </a:p>
          <a:p>
            <a:r>
              <a:t>Relato completo: "Asteroides funciona perfecto en la PC del aula. Lo instalamos en un teléfono: a los 10 minutos empieza a trabarse, el teléfono quema en la mano, y si entra una llamada y volvemos, la nave ya explotó y perdimos la partida".</a:t>
            </a:r>
          </a:p>
          <a:p>
            <a:r>
              <a:t>Dejar que discutan 3–4 minutos. Respuesta esperada: al menos tres problemas de distinta naturaleza: (1) calor y rendimiento sostenido, (2) consumo de batería, (3) interrupción del sistema operativo.</a:t>
            </a:r>
          </a:p>
          <a:p>
            <a:r>
              <a:t>Ninguno aparece en el editor y ninguno es un error de lógica en sentido estricto: son supuestos de PC que el juego trae consigo. Esa es la idea de toda la unidad.</a:t>
            </a:r>
          </a:p>
          <a:p>
            <a:r>
              <a:t>No dar todavía las explicaciones: anotarlas en el pizarrón para volver a ellas en las slides 11 a 16.</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Zona segura (safe area): parte de la pantalla libre de muescas, bordes curvos y barras del sistema, donde la interfaz se ve completa.</a:t>
            </a:r>
          </a:p>
          <a:p>
            <a:r>
              <a:t>• Intención: lo que el jugador quiere hacer (mover, disparar), sin importar con qué control lo pide.</a:t>
            </a:r>
          </a:p>
          <a:p>
            <a:r>
              <a:t>• Dispositivo de entrada: el medio físico con el que el jugador da órdenes (teclado, pantalla táctil, gamepad).</a:t>
            </a:r>
          </a:p>
          <a:p>
            <a:r>
              <a:t>Recuperar, no repetir. Las cinco ideas del 28/09, completas:</a:t>
            </a:r>
          </a:p>
          <a:p>
            <a:r>
              <a:t>- Táctil: no hay respuesta física del botón y los dedos tapan la pantalla.</a:t>
            </a:r>
          </a:p>
          <a:p>
            <a:r>
              <a:t>- Pantallas muy variadas: muescas, bordes y zonas seguras.</a:t>
            </a:r>
          </a:p>
          <a:p>
            <a:r>
              <a:t>- Batería y temperatura: si el equipo se calienta, baja el rendimiento.</a:t>
            </a:r>
          </a:p>
          <a:p>
            <a:r>
              <a:t>- Interrupciones: llamadas, notificaciones, cambio de app.</a:t>
            </a:r>
          </a:p>
          <a:p>
            <a:r>
              <a:t>- Separar QUÉ quiere hacer el jugador (mover, disparar) de CÓMO lo pide (teclado, toque, mando).</a:t>
            </a:r>
          </a:p>
          <a:p>
            <a:r>
              <a:t>Diagrama de las tres capas (pedido por la titular, agregado en la v2):</a:t>
            </a:r>
          </a:p>
          <a:p>
            <a:r>
              <a:t>- Dispositivo: CÓMO pide el jugador la acción (teclado, pantalla táctil, gamepad). Es lo que cambia de una plataforma a otra.</a:t>
            </a:r>
          </a:p>
          <a:p>
            <a:r>
              <a:t>- Intención: QUÉ quiere hacer el jugador (mover, disparar). Es independiente del dispositivo.</a:t>
            </a:r>
          </a:p>
          <a:p>
            <a:r>
              <a:t>- Nave: la lógica del juego (movimiento, disparo, límites). No debería saber de dónde vino la orden.</a:t>
            </a:r>
          </a:p>
          <a:p>
            <a:r>
              <a:t>Leerlo de arriba hacia abajo: cada dispositivo se traduce a la misma intención, y la nave solo recibe intenciones. Así, llevar el juego a móvil significa agregar un dispositivo (táctil), no reescribir la nave.</a:t>
            </a:r>
          </a:p>
          <a:p>
            <a:r>
              <a:t>El problema real de Asteroides (nota en rojo de la slide): hoy Ship.cs (líneas 61–73) lee Input.GetKey(KeyCode.Space / LeftArrow / RightArrow) directamente, salteando la capa de intención. Por eso, para pasar a móvil habría que modificar la clase de la nave: es el supuesto S1 del caso práctico, que los alumnos van a encontrar en la actividad A4.2.</a:t>
            </a:r>
          </a:p>
          <a:p>
            <a:r>
              <a:t>En Unity, la capa de intención la ofrece el Input System: las Actions (Move, Fire) separan la acción de sus bindings (teclado, táctil, gamepad). Solo mencionarlo; se trabaja más adelante en la unidad, al diseñar los controles táctiles (On-Screen Controls).</a:t>
            </a:r>
          </a:p>
          <a:p>
            <a:r>
              <a:t>Preguntar: ¿qué partes de la nave NO deberían cambiar al pasar a móvil? Respuesta: la lógica de movimiento, disparo y límites; solo cambia la capa de dispositivo (y los límites, por el aspect ratio, como vamos a ver en la slide 18).</a:t>
            </a:r>
          </a:p>
          <a:p>
            <a:r>
              <a:t>Hoy vamos a ver por qué cada viñeta es una restricción de diseño, con números y fuentes oficiales.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Monetización: forma en que el juego genera ingresos (venta, anuncios, compras dentro del juego).</a:t>
            </a:r>
          </a:p>
          <a:p>
            <a:r>
              <a:t>• Supuesto de PC: algo que el juego da por hecho porque fue pensado para PC (por ejemplo, que hay teclado).</a:t>
            </a:r>
          </a:p>
          <a:p>
            <a:r>
              <a:t>Versión completa de los objetivos:</a:t>
            </a:r>
          </a:p>
          <a:p>
            <a:r>
              <a:t>1. Explicar por qué el rendimiento sostenido, la memoria y la batería condicionan el diseño.</a:t>
            </a:r>
          </a:p>
          <a:p>
            <a:r>
              <a:t>2. Detectar en un juego existente los supuestos de PC que fallan en móvil.</a:t>
            </a:r>
          </a:p>
          <a:p>
            <a:r>
              <a:t>3. Diseñar controles y HUD táctiles con medidas verificables (pt, dp, safe area).</a:t>
            </a:r>
          </a:p>
          <a:p>
            <a:r>
              <a:t>4. Elegir y defender un modelo de monetización con sus reglas de tienda y su ética.</a:t>
            </a:r>
          </a:p>
          <a:p>
            <a:r>
              <a:t>5. Decidir qué se prueba en el editor y qué exige un teléfono real.</a:t>
            </a:r>
          </a:p>
          <a:p>
            <a:r>
              <a:t>Remarcar los verbos: explicar, detectar, diseñar, defender, decidir. La unidad no evalúa memorizar especificaciones, sino tomar decisiones justificadas. El TP 3 recorre las cinco.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nueva en la versión 2.]</a:t>
            </a:r>
          </a:p>
          <a:p>
            <a:r>
              <a:t>Glosario (conceptos cortos para la docente):</a:t>
            </a:r>
          </a:p>
          <a:p>
            <a:r>
              <a:t>• Distribución: canal por el que el juego llega al jugador; en móvil, una tienda digital.</a:t>
            </a:r>
          </a:p>
          <a:p>
            <a:r>
              <a:t>• Servicio en la nube (cloud gaming): el juego corre en un servidor remoto y el jugador recibe la imagen por internet.</a:t>
            </a:r>
          </a:p>
          <a:p>
            <a:r>
              <a:t>• Streaming (Twitch, YouTube): transmisión de video en vivo; acá, gente mirando a otros jugar.</a:t>
            </a:r>
          </a:p>
          <a:p>
            <a:r>
              <a:t>El artículo de Kevuru Games define las plataformas como "la base de cómo los jugadores se conectan con los juegos", ya sea una consola física, un gabinete arcade o un servicio en la nube que corre todo en línea. Y usa una metáfora útil: la plataforma es el escenario donde el juego "actúa", y hay escenarios más grandes que otros.</a:t>
            </a:r>
          </a:p>
          <a:p>
            <a:r>
              <a:t>Pero el artículo mezcla bajo la palabra "plataforma" cuatro cosas distintas: hardware (PlayStation, Xbox, Nintendo), tiendas (Steam, Epic Games Store, Google Play, App Store), servicios de cloud gaming (GeForce Now) y sitios donde se mira jugar (Twitch, YouTube Gaming, Facebook Gaming). La tabla las separa en capas.</a:t>
            </a:r>
          </a:p>
          <a:p>
            <a:r>
              <a:t>Definición de trabajo de esta materia: plataforma = el entorno de ejecución (hardware + sistema operativo) MÁS las reglas de su ecosistema (tienda, certificación, políticas). Por eso en esta unidad hablamos del teléfono y también de Google Play y del App Store.</a:t>
            </a:r>
          </a:p>
          <a:p>
            <a:r>
              <a:t>Respuesta esperada a la pregunta: la capa de ejecución condiciona más el diseño (input, pantalla, rendimiento); la de distribución condiciona el negocio y las reglas (lo vemos más adelante en la unidad); la de comunidad influye en el diseño solo de forma indirecta (juegos pensados para ser vistos, como Among Us).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nueva en la versión 2.]</a:t>
            </a:r>
          </a:p>
          <a:p>
            <a:r>
              <a:t>Glosario (conceptos cortos para la docente):</a:t>
            </a:r>
          </a:p>
          <a:p>
            <a:r>
              <a:t>• Arcade: máquina de juego de uso público que funciona con fichas o monedas.</a:t>
            </a:r>
          </a:p>
          <a:p>
            <a:r>
              <a:t>• XR (realidad extendida): término que agrupa realidad virtual, aumentada y mixta.</a:t>
            </a:r>
          </a:p>
          <a:p>
            <a:r>
              <a:t>• App Store: tienda oficial de aplicaciones de Apple; Google Play es la de Android.</a:t>
            </a:r>
          </a:p>
          <a:p>
            <a:r>
              <a:t>Idea del artículo: cada época tuvo una plataforma que definió cómo se juega. Los arcades fueron las primeras plataformas reales, y además eran espacios sociales.</a:t>
            </a:r>
          </a:p>
          <a:p>
            <a:r>
              <a:t>Los ejemplos de arcade del artículo (Pong, Space Invaders, Pac-Man, Donkey Kong, Galaga, Street Fighter II y Mortal Kombat) se desarrollan con gráfico en la slide siguiente (7).</a:t>
            </a:r>
          </a:p>
          <a:p>
            <a:r>
              <a:t>Conexión con el diseño: el arcade se diseñaba para cobrar por partida (partidas cortas y difíciles, "insert coin"); la consola, para el sillón y la TV; el teléfono, para el bolsillo y las interrupciones. La plataforma siempre moldeó el diseño: no es un fenómeno nuevo.</a:t>
            </a:r>
          </a:p>
          <a:p>
            <a:r>
              <a:t>Dato a remarcar: Asteroids, el juego que inspira nuestro proyecto, es justamente un clásico arcade (Atari, 1979). Estamos llevando un diseño de arcade al teléfono.</a:t>
            </a:r>
          </a:p>
          <a:p>
            <a:r>
              <a:t>Cómo leer la cronología (pedido de la titular): cada barra arranca en el hito que abre una época y llega hasta hoy (2026). Las barras no "terminan" porque ninguna plataforma desapareció: los arcades, las consolas y la PC siguen vigentes, y cada época nueva se SUMA a las anteriores en lugar de reemplazarlas. La barra destacada es la del teléfono (2008, lanzamiento del App Store), la época de esta unidad.</a:t>
            </a:r>
          </a:p>
          <a:p>
            <a:r>
              <a:t>Hitos usados: Pong (1972, arcade); Atari 2600 (1977, popularizó la consola doméstica con cartuchos); IBM PC (1981); Game Boy (1989); App Store (10/07/2008, verificado en Apple Newsroom); Oculus Rift (28/03/2016, primer visor de VR de consumo masivo); GeForce Now (04/02/2020, lanzamiento comercial del cloud gaming de NVIDIA). Son hitos de referencia, no "inventos" de cada época: por ejemplo, la primera consola doméstica fue la Magnavox Odyssey (1972) y en PC se jugaba antes de 1981.</a:t>
            </a:r>
          </a:p>
          <a:p>
            <a:r>
              <a:t>Pregunta posible: ¿qué tiene de distinto la época del teléfono respecto de las anteriores? Respuesta esperada: el jugador no compra el dispositivo para jugar, porque ya lo lleva en el bolsillo por otros motivos; por eso el juego compite con llamadas, mensajes y notificaciones (lo que vemos hoy en las slides 13 y 14).</a:t>
            </a:r>
          </a:p>
          <a:p>
            <a:r>
              <a:t>No detenerse más de 3 minutos: es contexto, no contenido evaluable.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nueva en la versión 2, pedida por la titular: los ejemplos del artículo, con gráfico.]</a:t>
            </a:r>
          </a:p>
          <a:p>
            <a:r>
              <a:t>Glosario (conceptos cortos para la docente):</a:t>
            </a:r>
          </a:p>
          <a:p>
            <a:r>
              <a:t>• Shooter: juego de disparos.</a:t>
            </a:r>
          </a:p>
          <a:p>
            <a:r>
              <a:t>• ESRB (Entertainment Software Rating Board): organismo que clasifica los videojuegos por edad en EE. UU. y Canadá.</a:t>
            </a:r>
          </a:p>
          <a:p>
            <a:r>
              <a:t>Los ejemplos que da el artículo de Kevuru Games, con lo que aportó cada uno:</a:t>
            </a:r>
          </a:p>
          <a:p>
            <a:r>
              <a:t>- Pong (1972): dos paletas y una pelota. Se lo llama "el abuelo de los videojuegos": para mucha gente fue la primera vez que una pantalla de TV resultó interactiva.</a:t>
            </a:r>
          </a:p>
          <a:p>
            <a:r>
              <a:t>- Space Invaders (1978): filas de alienígenas que bajan y una música que se acelera hasta poner nervioso a cualquiera. Según el artículo, prácticamente inventó la plantilla del género shooter.</a:t>
            </a:r>
          </a:p>
          <a:p>
            <a:r>
              <a:t>- Pac-Man (1980): un círculo amarillo comiendo puntos en un laberinto que se volvió un fenómeno cultural (dibujos animados, cereales y merchandising).</a:t>
            </a:r>
          </a:p>
          <a:p>
            <a:r>
              <a:t>- Donkey Kong (1981): primera aparición de Mario, entonces llamado "Jumpman". Subir escaleras y esquivar barriles: el comienzo de los juegos de plataformas.</a:t>
            </a:r>
          </a:p>
          <a:p>
            <a:r>
              <a:t>- Galaga (1981): los enemigos podían capturar tu nave y, si la recuperabas, duplicabas tu poder de fuego. Riesgo y recompensa en una sola mecánica.</a:t>
            </a:r>
          </a:p>
          <a:p>
            <a:r>
              <a:t>- Street Fighter II (1991): en los arcades de los 90 estaba en el centro de la escena; rivalidades y combos que construyeron la comunidad de los juegos de pelea.</a:t>
            </a:r>
          </a:p>
          <a:p>
            <a:r>
              <a:t>- Mortal Kombat (1992): tan conocido por su polémica como por su jugabilidad. Sus personajes digitalizados y las "Fatalities" contribuyeron a la creación de la ESRB. Dato verificado: tras las audiencias del Congreso de EE. UU. de diciembre de 1993, donde se mostraron Mortal Kombat y Night Trap, la industria creó en 1994 la ESRB como sistema voluntario de clasificación por edades (Game Developer, "A Brief History of the ESRB"). La retomamos en la Unidad V (certificación y clasificación).</a:t>
            </a:r>
          </a:p>
          <a:p>
            <a:r>
              <a:t>Las fechas son las de lanzamiento original en arcade, según el artículo. Coinciden con las fuentes de referencia habituales, pero no se verificaron una por una en esta sesión.</a:t>
            </a:r>
          </a:p>
          <a:p>
            <a:r>
              <a:t>Respuesta esperada a la pregunta: una máquina que cobra por ficha impone partidas cortas, dificultad creciente y un "Game Over" que invita a pagar de nuevo. Conexión con móvil: ese mismo patrón reaparece en el "continuar" con un anuncio o con una compra (lo analizamos más adelante en la unidad, al ver monetización). Y Asteroids, el juego que inspira nuestro proyecto, también es un clásico arcade de esa época (Atari, 1979).</a:t>
            </a:r>
          </a:p>
          <a:p>
            <a:r>
              <a:t>Recorrer el gráfico de izquierda a derecha y no detenerse más de 3 minutos.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nueva en la versión 2.]</a:t>
            </a:r>
          </a:p>
          <a:p>
            <a:r>
              <a:t>Glosario (conceptos cortos para la docente):</a:t>
            </a:r>
          </a:p>
          <a:p>
            <a:r>
              <a:t>• Juego casual: juego de reglas simples y partidas cortas, pensado para un público amplio.</a:t>
            </a:r>
          </a:p>
          <a:p>
            <a:r>
              <a:t>Idea del artículo: con Google Play y el App Store, "los estudios pequeños e incluso desarrolladores solos" pudieron poner sus juegos frente a millones de personas. Los ejemplos que da:</a:t>
            </a:r>
          </a:p>
          <a:p>
            <a:r>
              <a:t>- Éxitos casuales que atrajeron jugadores de todo el mundo: Candy Crush y Clash of Clans.</a:t>
            </a:r>
          </a:p>
          <a:p>
            <a:r>
              <a:t>- Among Us se volvió viral años después de su lanzamiento (salió en 2018 y explotó en 2020).</a:t>
            </a:r>
          </a:p>
          <a:p>
            <a:r>
              <a:t>- Marcas de consola que funcionan en el teléfono: PUBG Mobile y FIFA Mobile.</a:t>
            </a:r>
          </a:p>
          <a:p>
            <a:r>
              <a:t>Conclusión del artículo: el juego móvil no es una moda pasajera, es una parte central de la industria.</a:t>
            </a:r>
          </a:p>
          <a:p>
            <a:r>
              <a:t>Matiz docente (importante): que la tienda esté abierta no significa que no tenga reglas. Para publicar hay que cumplir políticas de pago, de anuncios, de privacidad y de nivel de API (lo vemos más adelante en la unidad). Y que cualquiera pueda publicar crea otro problema: la visibilidad entre millones de juegos.</a:t>
            </a:r>
          </a:p>
          <a:p>
            <a:r>
              <a:t>Respuesta esperada a la pregunta: la visibilidad depende de la propia tienda (búsqueda, destacados, calificaciones), de la comunidad (streamers, boca en boca) y de la calidad técnica (Android vitals puede bajar la visibilidad de un juego con muchos cierres inesperados; lo vemos más adelante en la unidad).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SoC (System on a Chip): un solo chip que integra CPU, GPU, memoria y otros componentes.</a:t>
            </a:r>
          </a:p>
          <a:p>
            <a:r>
              <a:t>• CPU (unidad central de procesamiento): ejecuta la lógica del juego (reglas, física, IA).</a:t>
            </a:r>
          </a:p>
          <a:p>
            <a:r>
              <a:t>• GPU (unidad de procesamiento gráfico): dibuja la imagen que se ve en pantalla.</a:t>
            </a:r>
          </a:p>
          <a:p>
            <a:r>
              <a:t>• Núcleo: cada unidad de procesamiento dentro de la CPU; los teléfonos combinan núcleos de distinta potencia.</a:t>
            </a:r>
          </a:p>
          <a:p>
            <a:r>
              <a:t>• Reloj (frecuencia): velocidad a la que trabaja un procesador; se mide en GHz.</a:t>
            </a:r>
          </a:p>
          <a:p>
            <a:r>
              <a:t>En un teléfono, CPU, GPU y memoria viven en un mismo chip (SoC, System on a Chip). Comparten la energía de la batería y el calor que generan. El calor se disipa por la carcasa: no hay ventilador.</a:t>
            </a:r>
          </a:p>
          <a:p>
            <a:r>
              <a:t>La documentación de Android (ADPF) menciona explícitamente la diversidad de topologías de núcleos (núcleos de distinto tamaño y potencia) y los relojes que cambian en tiempo real como complejidades propias del móvil, que no existen en PC ni en consola.</a:t>
            </a:r>
          </a:p>
          <a:p>
            <a:r>
              <a:t>No dar arquitectura de hardware: alcanza con la idea de que todo comparte energía y calor.</a:t>
            </a:r>
          </a:p>
          <a:p>
            <a:r>
              <a:t>Pregunta rápida: ¿qué pasa con la GPU si la CPU se calienta? Respuesta: comparten el presupuesto térmico; si uno se calienta, ambos pueden bajar su frecuencia.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Tile: porción rectangular de la pantalla; la GPU móvil dibuja la imagen tile por tile.</a:t>
            </a:r>
          </a:p>
          <a:p>
            <a:r>
              <a:t>• TBDR (Tile-Based Deferred Rendering): técnica de dibujo por tiles que usan las GPU móviles.</a:t>
            </a:r>
          </a:p>
          <a:p>
            <a:r>
              <a:t>• Ancho de banda de memoria: cantidad de datos que se pueden leer o escribir en memoria por segundo.</a:t>
            </a:r>
          </a:p>
          <a:p>
            <a:r>
              <a:t>• Overdraw: pintar el mismo píxel más de una vez en un mismo cuadro.</a:t>
            </a:r>
          </a:p>
          <a:p>
            <a:r>
              <a:t>• Píxel: cada punto de la imagen en pantalla.</a:t>
            </a:r>
          </a:p>
          <a:p>
            <a:r>
              <a:t>• Partículas: muchos elementos gráficos pequeños (chispas, humo) que forman un efecto.</a:t>
            </a:r>
          </a:p>
          <a:p>
            <a:r>
              <a:t>Las GPU móviles dibujan la pantalla por porciones (tiles): técnica TBDR, tile-based deferred rendering. Leer y escribir memoria consume ancho de banda, y el ancho de banda consume batería.</a:t>
            </a:r>
          </a:p>
          <a:p>
            <a:r>
              <a:t>Overdraw: pintar varias veces el mismo píxel, típico de transparencias y partículas. Por eso una explosión con muchas partículas pesa más en un teléfono que en una PC.</a:t>
            </a:r>
          </a:p>
          <a:p>
            <a:r>
              <a:t>Citas de Arm para leer en voz alta: "Overdraw causes excess memory bandwidth use" y "Excess memory bandwidth use causes excess power use".</a:t>
            </a:r>
          </a:p>
          <a:p>
            <a:r>
              <a:t>Llegar solo hasta acá: no explicar el pipeline de la GPU. Conectar con Asteroides: la explosión de la nave usa partículas con transparencia, candidata a medir en el teléfono, más adelante en la unidad.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fps (frames per second): cantidad de imágenes que el juego dibuja por segundo.</a:t>
            </a:r>
          </a:p>
          <a:p>
            <a:r>
              <a:t>• Throttling térmico: reducción automática de la frecuencia del procesador para que no se sobrecaliente.</a:t>
            </a:r>
          </a:p>
          <a:p>
            <a:r>
              <a:t>• Tiempo de frame (frame time): tiempo que tarda en prepararse un cuadro; a 30 fps son 33,3 ms y a 60 fps, 16,7 ms.</a:t>
            </a:r>
          </a:p>
          <a:p>
            <a:r>
              <a:t>• ms: milisegundo, la milésima parte de un segundo.</a:t>
            </a:r>
          </a:p>
          <a:p>
            <a:r>
              <a:t>• Refrigeración activa: ventiladores u otros sistemas que extraen el calor; los teléfonos no la tienen.</a:t>
            </a:r>
          </a:p>
          <a:p>
            <a:r>
              <a:t>Es el concepto más importante de la clase.</a:t>
            </a:r>
          </a:p>
          <a:p>
            <a:r>
              <a:t>Cadena causal: el chip se calienta → el sistema baja la frecuencia de CPU y GPU para protegerlo (throttling) → caen los fps. Lo que importa es el fps del minuto 10, no el del minuto 1.</a:t>
            </a:r>
          </a:p>
          <a:p>
            <a:r>
              <a:t>Recomendación de Unity: usar alrededor del 65 % del tiempo de frame disponible, es decir, ~22 ms a 30 fps y ~11 ms a 60 fps. Motivo oficial textual: "Most mobile devices do not have active cooling".</a:t>
            </a:r>
          </a:p>
          <a:p>
            <a:r>
              <a:t>Respuesta esperada a la pregunta: medir durante un tiempo largo (10 minutos o más), registrar el frame time (no solo el promedio de fps) y hacerlo en un dispositivo de gama baja.</a:t>
            </a:r>
          </a:p>
          <a:p>
            <a:r>
              <a:t>Para mencionar, sin profundizar: Android ofrece getThermalHeadroom e iOS ofrece thermalState para que el juego reaccione al calor; Unity 6.3 trae Adaptive Performance como módulo integrado.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targetFrameRate: opción de Unity que fija los fps objetivo del juego.</a:t>
            </a:r>
          </a:p>
          <a:p>
            <a:r>
              <a:t>• Frecuencia de refresco: veces por segundo que se actualiza la pantalla; se mide en Hz.</a:t>
            </a:r>
          </a:p>
          <a:p>
            <a:r>
              <a:t>• Frame pacing: entregar los cuadros a intervalos regulares, sincronizados con la pantalla.</a:t>
            </a:r>
          </a:p>
          <a:p>
            <a:r>
              <a:t>En Android e iOS, por defecto Unity renderiza a 30 fps fijos "to conserve battery power" (texto de la documentación de Application.targetFrameRate: abrir la página y leer la frase).</a:t>
            </a:r>
          </a:p>
          <a:p>
            <a:r>
              <a:t>60 fps duplica el trabajo por segundo: más calor y menos batería. Elegir el fps es una decisión de diseño, no un detalle técnico.</a:t>
            </a:r>
          </a:p>
          <a:p>
            <a:r>
              <a:t>En Asteroides no se define targetFrameRate: nadie tomó la decisión (supuesto S12 del caso práctico).</a:t>
            </a:r>
          </a:p>
          <a:p>
            <a:r>
              <a:t>Preguntar: ¿qué juegos necesitan 60 fps y cuáles no? Respuesta: acción rápida o competitiva sí; puzzle, estrategia o narrativa, generalmente no.</a:t>
            </a:r>
          </a:p>
          <a:p>
            <a:r>
              <a:t>Android recomienda además igualar la frecuencia de refresco de la pantalla al fps objetivo (frame pacing).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Segundo plano: estado de una app que sigue abierta pero no se ve ni recibe input.</a:t>
            </a:r>
          </a:p>
          <a:p>
            <a:r>
              <a:t>• Proceso: programa en ejecución.</a:t>
            </a:r>
          </a:p>
          <a:p>
            <a:r>
              <a:t>• Low Memory Killer: componente de Android que cierra procesos cuando falta memoria.</a:t>
            </a:r>
          </a:p>
          <a:p>
            <a:r>
              <a:t>• onTrimMemory: aviso de Android a una app para que libere memoria.</a:t>
            </a:r>
          </a:p>
          <a:p>
            <a:r>
              <a:t>• Estado: datos de la partida (posición, puntaje, vidas) que hay que guardar para poder retomarla.</a:t>
            </a:r>
          </a:p>
          <a:p>
            <a:r>
              <a:t>Cuando el jugador sale de la app (llamada, notificación, cambio de app), el juego pasa a segundo plano. Si falta memoria, el sistema operativo cierra procesos en segundo plano: en Android lo hace el Low Memory Killer; en iOS, el sistema termina la app si no libera memoria.</a:t>
            </a:r>
          </a:p>
          <a:p>
            <a:r>
              <a:t>Corrección de un mito frecuente: los callbacks onTrimMemory de Android NO evitan el cierre. Android los declara deprecados salvo dos niveles (UI_HIDDEN y BACKGROUND) y dice textualmente que "haven't been helpful at preventing low-memory kills".</a:t>
            </a:r>
          </a:p>
          <a:p>
            <a:r>
              <a:t>Conclusión de diseño: el juego puede morir sin aviso. Si puede retomarse, hay que guardar estado; si no puede, al menos no castigar al jugador por algo que hizo el sistema.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Callback: función que el motor o el sistema llama automáticamente cuando ocurre un evento.</a:t>
            </a:r>
          </a:p>
          <a:p>
            <a:r>
              <a:t>• OnApplicationPause / OnApplicationFocus: callbacks de Unity para cuando la app pasa a segundo plano o pierde el foco.</a:t>
            </a:r>
          </a:p>
          <a:p>
            <a:r>
              <a:t>• Foco: la app está al frente y recibe el input del jugador.</a:t>
            </a:r>
          </a:p>
          <a:p>
            <a:r>
              <a:t>• MonoBehaviour: clase base de los scripts de Unity.</a:t>
            </a:r>
          </a:p>
          <a:p>
            <a:r>
              <a:t>OnApplicationPause(bool) avisa que la app pasa a segundo plano o vuelve. OnApplicationFocus(bool) avisa que la app pierde o recupera el foco. Dato práctico: en Android, abrir el teclado en pantalla dispara OnApplicationFocus(false).</a:t>
            </a:r>
          </a:p>
          <a:p>
            <a:r>
              <a:t>Asteroides no implementa ninguno de los dos (supuesto S8 del caso práctico).</a:t>
            </a:r>
          </a:p>
          <a:p>
            <a:r>
              <a:t>No escribir código todavía: eso se hace más adelante en la unidad, con el defecto deliberado. Solo mostrar que el motor avisa y que el juego base no escucha.</a:t>
            </a:r>
          </a:p>
          <a:p>
            <a:r>
              <a:t>Anticipar: ¿alcanza con escuchar el aviso? No: si el sistema mata el proceso, no se llama nada.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Emulador: programa que imita un teléfono dentro de la PC.</a:t>
            </a:r>
          </a:p>
          <a:p>
            <a:r>
              <a:t>• Restricción de plataforma: límite que impone el dispositivo o su sistema operativo.</a:t>
            </a:r>
          </a:p>
          <a:p>
            <a:r>
              <a:t>• Evidencia: dato que permite confirmar un problema (modelo del teléfono, capturas, video, registros).</a:t>
            </a:r>
          </a:p>
          <a:p>
            <a:r>
              <a:t>Consigna completa: para cada reporte, indicar (a) la restricción de plataforma más probable, (b) qué evidencia le pedirían al tester, y (c) qué tipo de prueba lo habría detectado antes.</a:t>
            </a:r>
          </a:p>
          <a:p>
            <a:r>
              <a:t>Respuestas esperadas (detalle en 05, A4.1):</a:t>
            </a:r>
          </a:p>
          <a:p>
            <a:r>
              <a:t>1. Ciclo de vida / Low Memory Killer → QA manual en dispositivo.</a:t>
            </a:r>
          </a:p>
          <a:p>
            <a:r>
              <a:t>2. Térmica → rendimiento sostenido en dispositivo.</a:t>
            </a:r>
          </a:p>
          <a:p>
            <a:r>
              <a:t>3. Safe area → Device Simulator + dispositivo.</a:t>
            </a:r>
          </a:p>
          <a:p>
            <a:r>
              <a:t>4. Escalado de UI → Device Simulator con varios perfiles.</a:t>
            </a:r>
          </a:p>
          <a:p>
            <a:r>
              <a:t>5. fps y energía → medición en dispositivo.</a:t>
            </a:r>
          </a:p>
          <a:p>
            <a:r>
              <a:t>6. El emulador no representa el rendimiento → Profiler en un teléfono de gama baja.</a:t>
            </a:r>
          </a:p>
          <a:p>
            <a:r>
              <a:t>Error típico a corregir: proponer un unit test para los casos 2, 3 o 5. Recordar pedir siempre el modelo del dispositivo.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Versión final de la unidad: quedan dos encuentros de 90 minutos. Este retoma la Clase 1 desde la slide 16 y suma la UI táctil y la implementación de los controles. El encuentro siguiente es la práctica en el teléfono, la prueba y el negocio.</a:t>
            </a:r>
          </a:p>
          <a:p>
            <a:r>
              <a:t>Reparto: teoría 36 min (apertura 3, simulador 4, plataforma 3, UI táctil 14, demos de Input System 7, vistazo de la build 3, cierre 2) = 40 %; práctica 54 min (A4.2 12, puesta en común 5, A4.7 30, playtest 7) = 60 %.</a:t>
            </a:r>
          </a:p>
          <a:p>
            <a:r>
              <a:t>Antes de empezar: proyecto Asteroides abierto en el Device Simulator; copia del proyecto original para los grupos; deck de la Clase 1 a mano por si hay que volver a A4.1.</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Supuesto de plataforma: algo que el código da por cierto porque se pensó para una PC (teclado, pantalla horizontal, mouse).</a:t>
            </a:r>
          </a:p>
          <a:p>
            <a:r>
              <a:t>Recuperar A4.1 en un minuto: los síntomas (calor, tirones, partida perdida al atender una llamada) tenían causas en la máquina. Hoy pasamos del síntoma a la causa en el código y a las manos del jugador.</a:t>
            </a:r>
          </a:p>
          <a:p>
            <a:r>
              <a:t>Dejar la pregunta abierta: la respuesta aparece en A4.2 (Ship.cs lee teclas fijas). No dar la herramienta antes del problema.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Player Settings: configuración del proyecto de Unity para cada plataforma de destino.</a:t>
            </a:r>
          </a:p>
          <a:p>
            <a:r>
              <a:t>• Device Simulator: ventana de Unity que muestra el juego con la forma de pantalla de un dispositivo real.</a:t>
            </a:r>
          </a:p>
          <a:p>
            <a:r>
              <a:t>• Nivel de API de Android: número que identifica cada versión de Android (por ejemplo, API 36 = Android 16).</a:t>
            </a:r>
          </a:p>
          <a:p>
            <a:r>
              <a:t>• Application Category: categoría con la que Unity declara la app ante Android; para juegos, "Game".</a:t>
            </a:r>
          </a:p>
          <a:p>
            <a:r>
              <a:t>• Giroscopio: sensor que mide la rotación del teléfono.</a:t>
            </a:r>
          </a:p>
          <a:p>
            <a:r>
              <a:t>Imagen sugerida (opcional, sin recuadro en la slide): Device Simulator con Asteroides en vertical y los asteroides apareciendo fuera de pantalla.</a:t>
            </a:r>
          </a:p>
          <a:p>
            <a:r>
              <a:t>Pasos de la demo:</a:t>
            </a:r>
          </a:p>
          <a:p>
            <a:r>
              <a:t>1. Player Settings de Android: Application Category = Game (por defecto en Unity 6.3; exime a los juegos del cambio de Android 16 que ignora la orientación en pantallas grandes), orientación y API mínima.</a:t>
            </a:r>
          </a:p>
          <a:p>
            <a:r>
              <a:t>2. Abrir la página oficial del Device Simulator y leer la lista de lo que NO simula ANTES de usarlo: rendimiento, memoria, capacidades de render y giroscopio. La herramienta llega con sus límites.</a:t>
            </a:r>
          </a:p>
          <a:p>
            <a:r>
              <a:t>3. Lo que sí simula: safe area, rotación y toque de un dedo.</a:t>
            </a:r>
          </a:p>
          <a:p>
            <a:r>
              <a:t>4. Poner Asteroides en un perfil de teléfono en vertical. Confirmar en vivo el supuesto de que la cámara está centrada en x = 0.</a:t>
            </a:r>
          </a:p>
          <a:p>
            <a:r>
              <a:t>No revelar todavía el problema del spawn: lo descubren en A4.2.</a:t>
            </a:r>
          </a:p>
          <a:p>
            <a:r>
              <a:t>Cómo activarlo (captura real, Unity 6000.3.11f1): 1. abrir Scenes/Game (con una escena Untitled no se ve el juego); 2. en la pestaña Game, el desplegable de la izquierda cambia de Game a Simulator (o Window &gt; General &gt; Device Simulator); 3. elegir el dispositivo, por ejemplo Punch Hole Left (1080×2340); 4. Play y rotar desde la barra del Simulator. Si aparece "Simulator is currently not active" (marcado en la captura), el Game View sigue en modo Game. Paso a paso para los alumnos: anexo, paso 3.</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Spawn: aparición de un objeto en el juego; acá, los asteroides.</a:t>
            </a:r>
          </a:p>
          <a:p>
            <a:r>
              <a:t>• Prefab: objeto de Unity guardado como plantilla reutilizable.</a:t>
            </a:r>
          </a:p>
          <a:p>
            <a:r>
              <a:t>• Canvas: contenedor de la interfaz (UI) en Unity.</a:t>
            </a:r>
          </a:p>
          <a:p>
            <a:r>
              <a:t>• Input.GetKey: lectura directa de una tecla en el sistema de input clásico de Unity.</a:t>
            </a:r>
          </a:p>
          <a:p>
            <a:r>
              <a:t>Consigna completa: listar al menos 5 supuestos que dejan de valer en un teléfono, indicando dónde están (archivo:línea), qué pasaría en móvil y a qué eje pertenecen (input, pantalla, UI, ciclo de vida, rendimiento).</a:t>
            </a:r>
          </a:p>
          <a:p>
            <a:r>
              <a:t>La respuesta completa es la tabla S1–S13 de 02-caso-practico. Para aprobar alcanza con S1 (teclado), S3/S4/S5 (límites, cámara, spawn), S6 (Canvas en Constant Pixel Size) y S8 (sin pausa).</a:t>
            </a:r>
          </a:p>
          <a:p>
            <a:r>
              <a:t>Pista si se traban: "¿qué pasa con la cámara si la pantalla es más angosta que alta?".</a:t>
            </a:r>
          </a:p>
          <a:p>
            <a:r>
              <a:t>Importante (versión 3): el código de la slide es la versión **original** de Ship.cs, leída del commit e766f8c. En el repositorio, Ship.cs ya tiene el porteo de entrada (Ship.SetIntent + ShipInputAdapter). Los grupos analizan la versión original: si trabajan con el repositorio clonado, que lo hagan sobre ese commit (git checkout e766f8c -- proyectos-unity/Asteroides/asteroide-final/Assets/Scripts/Ship.cs) o con la copia del TP. No mostrar todavía la solución.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Cámara ortográfica: cámara sin perspectiva; su tamaño (orthographicSize) es la mitad de la altura visible, en unidades del mundo.</a:t>
            </a:r>
          </a:p>
          <a:p>
            <a:r>
              <a:t>• Relación de aspecto (aspect ratio): ancho dividido por alto de la pantalla (16:9, 9:16).</a:t>
            </a:r>
          </a:p>
          <a:p>
            <a:r>
              <a:t>• Coordenadas de mundo: posiciones dentro de la escena, independientes de la pantalla.</a:t>
            </a:r>
          </a:p>
          <a:p>
            <a:r>
              <a:t>La cámara es ortográfica de tamaño 5: el semiancho visible es 5 × aspect. A 16:9 se ven ≈ 8,9 unidades a cada lado; en vertical 9:16, ≈ 2,8.</a:t>
            </a:r>
          </a:p>
          <a:p>
            <a:r>
              <a:t>El Spawner crea asteroides en x ∈ [−8, 8] (coordenadas de mundo). En vertical, la mayoría de los asteroides nace fuera de pantalla.</a:t>
            </a:r>
          </a:p>
          <a:p>
            <a:r>
              <a:t>No hay error de lógica: hay un supuesto de plataforma. Ningún archivo tiene un error por sí solo; el problema aparece en la combinación cámara + spawner + orientación.</a:t>
            </a:r>
          </a:p>
          <a:p>
            <a:r>
              <a:t>Mostrarlo en el Device Simulator. Conectar con el testing de integración de la U3: es un defecto de integración con la plataforma.</a:t>
            </a:r>
          </a:p>
          <a:p>
            <a:r>
              <a:t>Cerrar la puesta en común volviendo al supuesto S1 (teclado): en el teléfono, Asteroides deja tocar "Start" pero la nave no se mueve ni dispara, porque Ship.cs lee teclas fijas. La salida es el diagrama de la slide 3: separar el dispositivo de la intención. No mostrar la herramienta todavía; alcanza con dejar planteado el problema. Se resuelve en código más adelante en la unidad.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Audiencia: público al que apunta el juego.</a:t>
            </a:r>
          </a:p>
          <a:p>
            <a:r>
              <a:t>• Vigencia (future-proofing): que la plataforma siga activa y evolucionando con el tiempo.</a:t>
            </a:r>
          </a:p>
          <a:p>
            <a:r>
              <a:t>Versión final: la slide «Leer con lupa» pasa a lectura del aula virtual (ver el cierre).</a:t>
            </a:r>
          </a:p>
          <a:p>
            <a:r>
              <a:t>El artículo de Kevuru propone cuatro consideraciones para elegir plataforma, y concluye que el desafío no es encontrar la "mejor" plataforma, sino la que encaja con la visión del juego y su público:</a:t>
            </a:r>
          </a:p>
          <a:p>
            <a:r>
              <a:t>1. Audiencia: saber para quién se construye. Un puzzle casual puede encontrar su público en móvil; un RPG con mucha narrativa puede funcionar mejor en consola o PC.</a:t>
            </a:r>
          </a:p>
          <a:p>
            <a:r>
              <a:t>2. Modelos de monetización: suscripción, free-to-play con compras integradas o venta premium. Cada plataforma se inclina por estrategias distintas y el modelo de ingresos tiene que coincidir.</a:t>
            </a:r>
          </a:p>
          <a:p>
            <a:r>
              <a:t>3. Integración y soporte: algunas plataformas ofrecen mejores herramientas, documentación o ayuda directa; una buena integración ahorra meses.</a:t>
            </a:r>
          </a:p>
          <a:p>
            <a:r>
              <a:t>4. Vigencia (future-proofing): preferir plataformas que sigan evolucionando para que el juego no quede desactualizado en uno o dos años.</a:t>
            </a:r>
          </a:p>
          <a:p>
            <a:r>
              <a:t>Lo que agrega la cátedra: un quinto criterio, las restricciones técnicas y de diseño de la plataforma (todo lo que vimos hoy: calor, batería, memoria, interrupciones, pantalla). El artículo no lo menciona y es justamente el núcleo de esta materia.</a:t>
            </a:r>
          </a:p>
          <a:p>
            <a:r>
              <a:t>Respuesta esperada a la pregunta: Asteroides encaja en móvil por audiencia (partidas cortas y casuales) y por sus requisitos técnicos bajos, pero exige rediseñar el control, la pantalla y la pausa (lo que encontramos en A4.2). La monetización se decide más adelante en la unidad.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px (píxel): punto físico de la pantalla; su tamaño real depende de la densidad.</a:t>
            </a:r>
          </a:p>
          <a:p>
            <a:r>
              <a:t>• pt / dp: unidades independientes de la densidad (iOS / Android); un botón de 48 dp mide lo mismo en cualquier teléfono.</a:t>
            </a:r>
          </a:p>
          <a:p>
            <a:r>
              <a:t>• Canvas Scaler: componente de Unity que decide cómo se escala la UI según la pantalla.</a:t>
            </a:r>
          </a:p>
          <a:p>
            <a:r>
              <a:t>Problema: en un teléfono con muesca, el score de Asteroides queda bajo la cámara y el botón de inicio, pensado para un mouse, es diminuto. Preguntar "¿cuántos píxeles debería medir un botón?" y mostrar que en píxeles no hay respuesta: el mismo botón de 100 px es grande en un teléfono viejo y diminuto en uno de alta densidad.</a:t>
            </a:r>
          </a:p>
          <a:p>
            <a:r>
              <a:t>Mínimos oficiales: Apple pide 44 × 44 pt por defecto, con un mínimo absoluto de 28 × 28 pt; Android pide al menos 48 × 48 dp ("Larger is even better"). Son números verificables: convierten "botón cómodo" en un criterio de prueba.</a:t>
            </a:r>
          </a:p>
          <a:p>
            <a:r>
              <a:t>Unity: Asteroides usa Constant Pixel Size (supuesto S6). Scale With Screen Size escala desde una resolución de referencia. Se aplica en A4.7.</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Safe area (zona segura): rectángulo de la pantalla donde la interfaz se ve completa, sin muescas ni barras del sistema.</a:t>
            </a:r>
          </a:p>
          <a:p>
            <a:r>
              <a:t>• Cutout: recorte de la pantalla (muesca o cámara perforada).</a:t>
            </a:r>
          </a:p>
          <a:p>
            <a:r>
              <a:t>• Edge-to-edge: el contenido ocupa la pantalla de borde a borde.</a:t>
            </a:r>
          </a:p>
          <a:p>
            <a:r>
              <a:t>• Barra de gestos: franja inferior que el sistema usa para navegar.</a:t>
            </a:r>
          </a:p>
          <a:p>
            <a:r>
              <a:t>Detalle: muescas, cámaras perforadas, bordes curvos y barras de gestos ocupan partes de la pantalla. Screen.safeArea devuelve el rectángulo donde la interfaz está a salvo, en píxeles.</a:t>
            </a:r>
          </a:p>
          <a:p>
            <a:r>
              <a:t>En Android 15 con target SDK 35, el contenido va de borde a borde obligatoriamente; Unity ignora la opción "Render Outside Safe Area". Por eso hay que leer safeArea y no confiar en que el sistema deje márgenes.</a:t>
            </a:r>
          </a:p>
          <a:p>
            <a:r>
              <a:t>La UI esencial va dentro de la safe area; el fondo puede salir de ella.</a:t>
            </a:r>
          </a:p>
          <a:p>
            <a:r>
              <a:t>Android permite simular un cutout desde las opciones de desarrollador: útil para la práctica en el teléfono, más adelante en la unidad.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Agarre: forma de sostener el teléfono (una mano, acunado, dos manos).</a:t>
            </a:r>
          </a:p>
          <a:p>
            <a:r>
              <a:t>• HUD: información y controles superpuestos al juego.</a:t>
            </a:r>
          </a:p>
          <a:p>
            <a:r>
              <a:t>Datos de Hoober (2013, 1.333 personas observadas): 49 % una mano, 36 % acunado, 15 % dos manos; la gente cambia de agarre todo el tiempo. Advertir: fuente profesional, no académica, con más de una década; sirve como disparador, no como norma.</a:t>
            </a:r>
          </a:p>
          <a:p>
            <a:r>
              <a:t>CoD Mobile y Fortnite permiten mover y redimensionar los controles: una respuesta de diseño a la diversidad de manos y teléfonos.</a:t>
            </a:r>
          </a:p>
          <a:p>
            <a:r>
              <a:t>Orientación: lo vieron en la puesta en común de A4.2: en vertical, la mayoría de los asteroides nace fuera de pantalla. Android 16 ignora las restricciones de orientación en pantallas grandes, salvo en juegos (Unity 6.3 marca Application Category = Game por defecto). No hay respuesta única: se evalúa que la decisión considere sus consecuencias (spawn, límites, HUD).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Gesto estándar: tocar, deslizar, arrastrar, mantener, pellizcar.</a:t>
            </a:r>
          </a:p>
          <a:p>
            <a:r>
              <a:t>• Háptica: vibraciones cortas como respuesta a una acción.</a:t>
            </a:r>
          </a:p>
          <a:p>
            <a:r>
              <a:t>• Onboarding: la primera sesión, cuando el juego enseña a jugar.</a:t>
            </a:r>
          </a:p>
          <a:p>
            <a:r>
              <a:t>Gestos: no redefinir los gestos del sistema; un gesto inventado nunca debe ser la única forma de hacer algo importante (Apple), y las apps no deberían depender de gestos (Android).</a:t>
            </a:r>
          </a:p>
          <a:p>
            <a:r>
              <a:t>Sin botón físico: el joystick virtual es familiar, pero no tiene tope y tapa la pantalla; el toque directo es preciso, pero el dedo cubre lo que toca; Alto's Adventure se juega con un solo toque.</a:t>
            </a:r>
          </a:p>
          <a:p>
            <a:r>
              <a:t>Accesibilidad (al checklist del TP 3): controles grandes y separados; alternativa a cada gesto; háptica y efectos desactivables (Android: entre una vibración molesta y ninguna, elegir ninguna); sin toques repetidos rápidos; texto de 17 pt por defecto y 11 pt como mínimo en iOS.</a:t>
            </a:r>
          </a:p>
          <a:p>
            <a:r>
              <a:t>Primera sesión, en una línea: jugar apenas se instala, descarga inicial corta, enseñar jugando y pedir permisos cuando hacen falta.</a:t>
            </a:r>
          </a:p>
          <a:p>
            <a:r>
              <a:t>Video opcional de tarea: Zach Gage, "Controls You Can Feel" (GDC 2012).</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Input System: paquete de Unity que reemplaza al Input Manager clásico; trabaja con acciones en lugar de teclas fijas.</a:t>
            </a:r>
          </a:p>
          <a:p>
            <a:r>
              <a:t>• Acción: lo que el jugador quiere hacer (mover, disparar), separado del botón que la produce.</a:t>
            </a:r>
          </a:p>
          <a:p>
            <a:r>
              <a:t>• Binding: asociación entre una acción y un control concreto (flecha izquierda, stick del gamepad).</a:t>
            </a:r>
          </a:p>
          <a:p>
            <a:r>
              <a:t>• OnScreenStick / OnScreenButton: componentes que dibujan un control en la pantalla táctil y lo hacen pasar por un gamepad virtual.</a:t>
            </a:r>
          </a:p>
          <a:p>
            <a:r>
              <a:t>• Active Input Handling: opción del proyecto que elige el sistema de entrada (Old, New o Both).</a:t>
            </a:r>
          </a:p>
          <a:p>
            <a:r>
              <a:t>Primero el problema (regla de la cátedra): en el teléfono, Asteroides deja tocar "Start", pero la nave no se mueve ni dispara, porque Ship.cs leía teclas fijas (supuesto S1). Después la herramienta.</a:t>
            </a:r>
          </a:p>
          <a:p>
            <a:r>
              <a:t>El diagrama es el mismo de las tres capas: el dispositivo cambia; la intención y la nave no. Los controles en pantalla no son un caso especial: según la documentación de Input System 1.19, un OnScreenStick con el control path &lt;Gamepad&gt;/leftStick crea un gamepad virtual, y el juego lo lee igual que un gamepad físico.</a:t>
            </a:r>
          </a:p>
          <a:p>
            <a:r>
              <a:t>Pasos de la demo (versión del repositorio, ya portada):</a:t>
            </a:r>
          </a:p>
          <a:p>
            <a:r>
              <a:t>1. Package Manager: Input System 1.19.0 instalado (viene con Unity 6000.3.11f1).</a:t>
            </a:r>
          </a:p>
          <a:p>
            <a:r>
              <a:t>2. Project Settings &gt; Player &gt; Active Input Handling = Both. Se usa Both, y no solo New, para no romper el menú, que todavía usa el StandaloneInputModule clásico. Unity pide reiniciar el editor. Consecuencia (versión 4): según la documentación de Unity 6.3, Both "no está soportado en Android"; al compilar aparece el cartel "Unsupported Input Handling on Android". Es el precio de una dependencia oculta y se retoma más adelante en la unidad, con el teléfono.</a:t>
            </a:r>
          </a:p>
          <a:p>
            <a:r>
              <a:t>3. Abrir el Device Simulator con un teléfono: aparecen el joystick abajo a la izquierda y el botón de disparo abajo a la derecha (MobileControlsVisibility los muestra solo en plataformas móviles).</a:t>
            </a:r>
          </a:p>
          <a:p>
            <a:r>
              <a:t>4. Mover la nave con el mouse sobre el joystick. Después, en la PC, mostrar que el teclado sigue funcionando y, si hay un gamepad, que también funciona sin cambiar código.</a:t>
            </a:r>
          </a:p>
          <a:p>
            <a:r>
              <a:t>Límite a decir en voz alta: el Device Simulator simula el toque de un dedo; mover y disparar a la vez (dos dedos) solo se prueba en el teléfono.</a:t>
            </a:r>
          </a:p>
          <a:p>
            <a:r>
              <a:t>URL verificada (2026-10-10): https://docs.unity3d.com/Packages/com.unity.inputsystem@1.19/manual/OnScreen.html</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Composite 1DAxis: binding que arma un eje de −1 a 1 con dos teclas (negativa y positiva).</a:t>
            </a:r>
          </a:p>
          <a:p>
            <a:r>
              <a:t>• Adaptador: clase que traduce el dispositivo a la intención; acá, ShipInputAdapter.</a:t>
            </a:r>
          </a:p>
          <a:p>
            <a:r>
              <a:t>• Zona muerta (dead zone): margen alrededor de 0 en el que el stick se considera quieto (0,2 en Ship.cs).</a:t>
            </a:r>
          </a:p>
          <a:p>
            <a:r>
              <a:t>Qué mostrar: las flechas y la barra espaciadora siguen ahí, pero ahora como bindings de una acción; el stick y el D-pad del gamepad y el botón A (buttonSouth) se agregan como bindings de las mismas acciones. Cada frame, el adaptador llama a ship.SetIntent(mover, disparar).</a:t>
            </a:r>
          </a:p>
          <a:p>
            <a:r>
              <a:t>Comparar con la slide de A4.2 (versión original): las tres lecturas de Input.GetKey desaparecieron de Ship.cs. MoveLeft, MoveRight y ShootLaser no cambiaron, y por eso los tests que ya existían siguen sirviendo.</a:t>
            </a:r>
          </a:p>
          <a:p>
            <a:r>
              <a:t>Decisión de diseño a explicitar: el esquema del repositorio (joystick + botón) es uno de los posibles; en A4.7 cada grupo elige el suyo y lo implementa.</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Esquema de control: forma en que el jugador da órdenes (joystick virtual + botón, o arrastrar + autodisparo).</a:t>
            </a:r>
          </a:p>
          <a:p>
            <a:r>
              <a:t>• Autodisparo: la nave dispara sola, sin un botón.</a:t>
            </a:r>
          </a:p>
          <a:p>
            <a:r>
              <a:t>• Device Simulator: simula el toque de un dedo, pero no el rendimiento.</a:t>
            </a:r>
          </a:p>
          <a:p>
            <a:r>
              <a:t>Versión final: une A4.3 (bocetos) y A4.7 (implementación) en una sola actividad.</a:t>
            </a:r>
          </a:p>
          <a:p>
            <a:r>
              <a:t>Parte 1, boceto (8 min): dos esquemas sobre la plantilla con la safe area; medidas en pt/dp y orientación; comparar con cinco criterios (oclusión, precisión, una mano, accesibilidad, descubribilidad) y elegir uno.</a:t>
            </a:r>
          </a:p>
          <a:p>
            <a:r>
              <a:t>Parte 2, Unity (22 min, sobre su copia del proyecto original):</a:t>
            </a:r>
          </a:p>
          <a:p>
            <a:r>
              <a:t>1. Instalar Input System 1.19.0 desde el Package Manager y poner Active Input Handling = Both (reiniciar el editor).</a:t>
            </a:r>
          </a:p>
          <a:p>
            <a:r>
              <a:t>2. Implementar el esquema elegido: joystick + botón (OnScreenStick + OnScreenButton) o arrastre + autodisparo. La nave no lee el dispositivo: solo recibe la intención.</a:t>
            </a:r>
          </a:p>
          <a:p>
            <a:r>
              <a:t>3. Canvas en Scale With Screen Size y controles dentro de Screen.safeArea.</a:t>
            </a:r>
          </a:p>
          <a:p>
            <a:r>
              <a:t>4. Probar en el Device Simulator con un teléfono con muesca y uno sin muesca.</a:t>
            </a:r>
          </a:p>
          <a:p>
            <a:r>
              <a:t>5. Anotar lo que el simulador NO pudo probar (dos dedos a la vez, comodidad, rendimiento): se prueba en el teléfono, más adelante en la unidad.</a:t>
            </a:r>
          </a:p>
          <a:p>
            <a:r>
              <a:t>Buena respuesta: decide la orientación sabiendo su efecto sobre el spawn, respeta 44 pt / 48 dp, no pone controles bajo la muesca y reconoce que el autodisparo cambia el game design.</a:t>
            </a:r>
          </a:p>
          <a:p>
            <a:r>
              <a:t>Referencia para destrabar (no entregar): ShipInputAdapter.cs, MobileControlsVisibility.cs y los controles del prefab UICanvas (creados con Editor/PorteoSetup.cs).</a:t>
            </a:r>
          </a:p>
          <a:p>
            <a:r>
              <a:t>Errores frecuentes: olvidar Active Input Handling; si el código está en un asmdef, agregar la referencia a Unity.InputSystem; poner el control fuera del Canvas.</a:t>
            </a:r>
          </a:p>
          <a:p>
            <a:r>
              <a:t>Si no terminan: completan en casa y suben la captura al aula virtual. Avance del TP 3: sección 3 (control y HUD).</a:t>
            </a:r>
          </a:p>
          <a:p>
            <a:r>
              <a:t>En el simulador el toque se hace con el mouse y es de un solo dedo. El Foldable Device del simulador sirve para ver que la relación de aspecto cambia en el mismo teléfono (plegado y desplegado). Paso a paso: anexo, paso 3.</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Playtest de papel: prueba con personas usando un prototipo dibujado, antes de probar en el dispositivo.</a:t>
            </a:r>
          </a:p>
          <a:p>
            <a:r>
              <a:t>Consigna del playtest: dibujar el HUD que implementaron, a escala, sobre la silueta del propio teléfono; sostenerlo y comprobar si se llega a todo y qué tapa el pulgar. Es barato y se hace con personas reales: la comodidad no se prueba en el editor.</a:t>
            </a:r>
          </a:p>
          <a:p>
            <a:r>
              <a:t>Comparar con A4.7: el simulador dijo dónde están los controles; la mano dice si se pueden usar.</a:t>
            </a:r>
          </a:p>
          <a:p>
            <a:r>
              <a:t>Cierre: un buen layout no garantiza comodidad; eso lo dicen las personas. Verificar quién ya tiene la depuración USB funcionando.</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Build Profiles: ventana de Unity 6 (File &gt; Build Profiles) que reemplaza a Build Settings; cada perfil guarda una plataforma y sus opciones.</a:t>
            </a:r>
          </a:p>
          <a:p>
            <a:r>
              <a:t>• Switch Platform: cambiar la plataforma activa; Unity reimporta los assets y la primera vez tarda.</a:t>
            </a:r>
          </a:p>
          <a:p>
            <a:r>
              <a:t>• APK: archivo instalable de Android. AAB (App Bundle): formato para publicar en Google Play; no se instala a mano.</a:t>
            </a:r>
          </a:p>
          <a:p>
            <a:r>
              <a:t>• IL2CPP: backend que convierte el C# a C++ y lo compila a código nativo; es el único que habilita ARM64.</a:t>
            </a:r>
          </a:p>
          <a:p>
            <a:r>
              <a:t>• ARM64: arquitectura de 64 bits de los procesadores de los teléfonos actuales.</a:t>
            </a:r>
          </a:p>
          <a:p>
            <a:r>
              <a:t>Por qué acá: acaban de implementar los controles y el paso natural es verlos en el teléfono. Es solo un vistazo del camino; el detalle y los problemas se trabajan más adelante en la unidad, con los teléfonos.</a:t>
            </a:r>
          </a:p>
          <a:p>
            <a:r>
              <a:t>Mostrar en vivo (3 min), sin compilar: File &gt; Build Profiles; elegir Android y Switch Platform. Recorrer las marcas rojas de la captura: el perfil activo, Build App Bundle (destildado = sale un .apk) y Development Build (lo necesita el Profiler).</a:t>
            </a:r>
          </a:p>
          <a:p>
            <a:r>
              <a:t>Tarea (guía en el aula virtual):</a:t>
            </a:r>
          </a:p>
          <a:p>
            <a:r>
              <a:t>1. Switch Platform a Android en su copia del proyecto.</a:t>
            </a:r>
          </a:p>
          <a:p>
            <a:r>
              <a:t>2. Edit &gt; Project Settings &gt; Player &gt; Android &gt; Other Settings: Scripting Backend = IL2CPP y tildar ARM64. Hacerlo en Project Settings y no en la sección Player Settings del Build Profile: si se edita ahí, el perfil guarda una copia propia (en nuestro proyecto pasó: Company y Product quedaron en Assets/Settings/Build Profiles y no en ProjectSettings).</a:t>
            </a:r>
          </a:p>
          <a:p>
            <a:r>
              <a:t>3. Botón Build (no Build And Run), carpeta Builds/ fuera de Assets, nombre AsteroideTest.apk. Si aparece "Unsupported Input Handling on Android", tocar Ignore y anotarlo.</a:t>
            </a:r>
          </a:p>
          <a:p>
            <a:r>
              <a:t>4. Traer el .apk y anotar cuánto tardó la build y qué carteles aparecieron.</a:t>
            </a:r>
          </a:p>
          <a:p>
            <a:r>
              <a:t>Por qué en casa: la primera build con IL2CPP tarda varios minutos (Gradle descarga y compila); hecha en casa, la práctica con el teléfono no pierde ese tiempo y los problemas de drivers llegan resueltos.</a:t>
            </a:r>
          </a:p>
          <a:p>
            <a:r>
              <a:t>Dato verificado (Unity 6.3 Manual, Build your application for Android): Build crea el archivo en la carpeta elegida; Build and Run además lo instala en el Run Device; por defecto Unity genera APK.</a:t>
            </a:r>
          </a:p>
          <a:p>
            <a:r>
              <a:t>Switch Platform aparece abajo a la derecha mientras Android no sea la plataforma activa. Paso a paso con capturas: anexo, pasos 4 a 7.</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Build Support: módulo de Unity que permite compilar para una plataforma; acá, Android.</a:t>
            </a:r>
          </a:p>
          <a:p>
            <a:r>
              <a:t>• Depuración USB: opción de Android que permite a la PC instalar y analizar apps en el teléfono por cable.</a:t>
            </a:r>
          </a:p>
          <a:p>
            <a:r>
              <a:t>Cerrar con el límite de la herramienta: el simulador encontró el problema de la pantalla, pero no mide calor, batería ni comodidad. Eso se mide en sus teléfonos, más adelante en la unidad.</a:t>
            </a:r>
          </a:p>
          <a:p>
            <a:r>
              <a:t>Tarea técnica obligatoria (sin ella no se puede hacer la práctica en el teléfono):</a:t>
            </a:r>
          </a:p>
          <a:p>
            <a:r>
              <a:t>1. Instalar Android Build Support (con OpenJDK, Android SDK y NDK) en Unity 6000.3.11f1 desde Unity Hub, y verificar en Edit &gt; Preferences &gt; External Tools &gt; Android que JDK, Android SDK Tools, Android NDK y Gradle estén tildados como "Installed with Unity (recommended)" (captura de la slide; anexo, paso 1).</a:t>
            </a:r>
          </a:p>
          <a:p>
            <a:r>
              <a:t>2. En el teléfono: tocar 7 veces "Número de compilación" y activar "Depuración USB" (Android 9 o superior: Ajustes &gt; Sistema &gt; Avanzado &gt; Opciones de desarrollador).</a:t>
            </a:r>
          </a:p>
          <a:p>
            <a:r>
              <a:t>3. Comprobar que la PC ve el teléfono: cable de datos, aceptar "¿Permitir depuración USB?" y Build Profiles &gt; Android &gt; Run Device &gt; Refresh (o adb devices).</a:t>
            </a:r>
          </a:p>
          <a:p>
            <a:r>
              <a:t>4. Generar el primer APK siguiendo la slide anterior (IL2CPP + ARM64, botón Build) y traerlo instalado o en el teléfono.</a:t>
            </a:r>
          </a:p>
          <a:p>
            <a:r>
              <a:t>Lectura (aula virtual): "Leer con lupa", el artículo de Kevuru Games con las observaciones de la cátedra (Stadia cerrado, Origin reemplazada, cifras sin fuente).</a:t>
            </a:r>
          </a:p>
          <a:p>
            <a:r>
              <a:t>TP 3: Dossier de plataforma, Asteroides móvil (consigna en el aula virtual).</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Último encuentro de la unidad. Antes de empezar: cables, depuración USB y Android Build Support verificados; APK de la docente (IL2CPP + ARM64) en un pendrive y en Drive para el plan B.</a:t>
            </a:r>
          </a:p>
          <a:p>
            <a:r>
              <a:t>Reparto: teoría 36 min (apertura 3, repaso de la build 6, testing 9, monetización 13, TP 3 1, cierre 4) = 40 %; práctica 54 min (build e instalación 12, medición 8, A4.6 3, QA manual 10, matriz 4, A4.8 10, A4.5 7) = 60 %.</a:t>
            </a:r>
          </a:p>
          <a:p>
            <a:r>
              <a:t>Orden pensado para el tiempo: la build va primero porque es lo que más puede fallar; mientras un grupo espera, otro ya mide.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Editor: el entorno de Unity en la PC, donde se arma y prueba el juego.</a:t>
            </a:r>
          </a:p>
          <a:p>
            <a:r>
              <a:t>Situación: todo lo que probamos hasta ahora fue en el editor; la columna "qué no demuestra" de A4.4 sigue abierta. Hoy vemos cómo se comporta el juego en un teléfono real.</a:t>
            </a:r>
          </a:p>
          <a:p>
            <a:r>
              <a:t>Que anoten su predicción: sirve para contrastarla al final de la clase.</a:t>
            </a:r>
          </a:p>
          <a:p>
            <a:r>
              <a:t>Imagen sugerida (opcional, sin recuadro en la slide): editor de Unity y teléfono, con un signo de pregunta entre ambos.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Scripting Backend: cómo compila Unity el código C#: Mono (código intermedio) o IL2CPP (código nativo).</a:t>
            </a:r>
          </a:p>
          <a:p>
            <a:r>
              <a:t>• Package Name: identificador único de la app en el teléfono y en Google Play (com.empresa.juego).</a:t>
            </a:r>
          </a:p>
          <a:p>
            <a:r>
              <a:t>• Target Architectures: tipos de procesador para los que se compila (ARMv7 de 32 bits, ARM64 de 64 bits).</a:t>
            </a:r>
          </a:p>
          <a:p>
            <a:r>
              <a:t>Es la captura real del proyecto (Unity 6000.3.11f1, 2026-10-12), con cuatro marcas rojas: Package Name, Scripting Backend = Mono, Active Input Handling = Both y ARM64 en gris.</a:t>
            </a:r>
          </a:p>
          <a:p>
            <a:r>
              <a:t>Respuesta esperada: ARM64 está en gris porque el backend es Mono; según la documentación de Unity 6.3, ARM64 "se habilita solo cuando Scripting Backend es IL2CPP". Sin ARM64, la app no corre en los teléfonos que solo aceptan 64 bits (según Android, los Pixel 7 fueron los primeros con soporte solo para apps de 64 bits; Google Play exige la versión de 64 bits).</a:t>
            </a:r>
          </a:p>
          <a:p>
            <a:r>
              <a:t>Que la lean en sus máquinas: abrir Edit &gt; Project Settings &gt; Player &gt; Android &gt; Other Settings y comparar con la captura.</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Build Profile: perfil de compilación de Unity 6; puede tener sus propios Player Settings, que pisan los del proyecto.</a:t>
            </a:r>
          </a:p>
          <a:p>
            <a:r>
              <a:t>• Fuente de verdad: el único lugar donde se decide un valor.</a:t>
            </a:r>
          </a:p>
          <a:p>
            <a:r>
              <a:t>Dos caminos: Build crea solo el archivo; Build and Run además lo instala en el Run Device (manual de Unity 6.3). Sin teléfono, siempre Build, en la carpeta Builds/ fuera de Assets. La plataforma se mueve: Google Play exige AAB y, desde el 31/08/2026, apuntar a API 36; Unity 6.3 soporta Android 7.1 (API 25) o superior. iOS: Unity genera un proyecto de Xcode, que solo corre en macOS; en la cátedra, iOS es conceptual.</a:t>
            </a:r>
          </a:p>
          <a:p>
            <a:r>
              <a:t>Los valores resaltados son los que hay que cambiar; el resto ya viene bien. El Package Name se arma solo con Company y Product (com.Unju.AsteroideTest) mientras "Override Default Package Name" esté destildado.</a:t>
            </a:r>
          </a:p>
          <a:p>
            <a:r>
              <a:t>Una sola fuente: cambiar todo en Edit &gt; Project Settings &gt; Player. Si se edita la sección Player Settings dentro del Build Profile, el perfil guarda una copia propia; en el proyecto pasó: Company y Product quedaron en Assets/Settings/Build Profiles/Android™.asset y no en ProjectSettings. Dos lugares para el mismo dato es una fuente de errores difícil de ver.</a:t>
            </a:r>
          </a:p>
          <a:p>
            <a:r>
              <a:t>Active Input Handling = Both: la documentación de Unity 6.3 dice que no está soportado en Android. Se mantiene porque el menú usa el StandaloneInputModule clásico; al compilar se toca Ignore y queda registrado. Evidencia (2026-10-12): la build en batchmode terminó bien y el aviso solo apareció en el log. La corrección de fondo es reemplazar el módulo del EventSystem (prefab Game) por InputSystemUIInputModule y dejar solo Input System; no se hizo en el repositorio.</a:t>
            </a:r>
          </a:p>
          <a:p>
            <a:r>
              <a:t>Orientación: la decide cada grupo según su esquema de A4.3 (Resolution and Presentation &gt; Default Orientation).</a:t>
            </a:r>
          </a:p>
          <a:p>
            <a:r>
              <a:t>Paso a paso con capturas: anexo, pasos 5 y 6 (identidad, 64 bits, orientación, safe area e ícono). Dato real: en Edit &gt; Project Settings &gt; Player el proyecto sigue en DefaultCompany / UnityUnitTestingTutorial; los valores Unju / AsteroideTest solo existen dentro del Build Profile.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Aviso (warning): Unity informa un riesgo, pero deja seguir.</a:t>
            </a:r>
          </a:p>
          <a:p>
            <a:r>
              <a:t>• Error: Unity no puede terminar la tarea.</a:t>
            </a:r>
          </a:p>
          <a:p>
            <a:r>
              <a:t>• adb (Android Debug Bridge): herramienta de línea de comandos que conecta la PC con el teléfono.</a:t>
            </a:r>
          </a:p>
          <a:p>
            <a:r>
              <a:t>Cartel 1, "Unsupported Input Handling on Android": es un aviso. Ignore sigue con la build; Cancel Build la corta. Causa: Active Input Handling = Both (ver la slide anterior).</a:t>
            </a:r>
          </a:p>
          <a:p>
            <a:r>
              <a:t>Cartel 2, "No Android devices connected": aparece con Build and Run cuando la PC no ve ningún teléfono. Qué hacer: OK y usar Build; o conectar con un cable de datos, aceptar en el teléfono "¿Permitir depuración USB?" y tocar Refresh en Run Device. Comprobar con adb devices (el teléfono tiene que figurar como "device"; "unauthorized" significa que falta aceptar el diálogo). En Windows puede hacer falta el driver USB del fabricante.</a:t>
            </a:r>
          </a:p>
          <a:p>
            <a:r>
              <a:t>Tercer caso, sin captura: el APK se copia, pero el teléfono no lo instala o no lo abre. Primera sospecha: se compiló sin ARM64. En el curso todavía no se vio; está documentado por Android para los teléfonos que solo aceptan 64 bits.</a:t>
            </a:r>
          </a:p>
          <a:p>
            <a:r>
              <a:t>Respuesta a la pregunta: el primero es un aviso (deja seguir); el segundo frena Build and Run, pero no Build.</a:t>
            </a:r>
          </a:p>
          <a:p>
            <a:r>
              <a:t>Tabla de diagnóstico completa (incluye adb unauthorized, ícono negro y adb logcat): anexo, paso 8.</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Build: versión compilada del juego, lista para instalar.</a:t>
            </a:r>
          </a:p>
          <a:p>
            <a:r>
              <a:t>• Development Build: build con información de depuración que permite conectar el Profiler.</a:t>
            </a:r>
          </a:p>
          <a:p>
            <a:r>
              <a:t>• Autoconnect Profiler: opción para que el Profiler se conecte solo al iniciar el juego.</a:t>
            </a:r>
          </a:p>
          <a:p>
            <a:r>
              <a:t>• Build and Run: compilar, instalar y abrir en el dispositivo conectado, en un solo paso.</a:t>
            </a:r>
          </a:p>
          <a:p>
            <a:r>
              <a:t>Plan B: si la build falla en la máquina del grupo, se instala el APK de la docente (cable y adb install -r, o Drive y aceptar «Instalar apps de fuentes desconocidas»). Se pierde el Profiler; no se pierden el QA manual ni la matriz. Lo que no se pudo medir se declara en el dossier. El APK de depuración no se publica: para Google Play hacen falta firma propia y un .aab.</a:t>
            </a:r>
          </a:p>
          <a:p>
            <a:r>
              <a:t>Pasos con cable (para medir con el Profiler): en Build Profiles, Android activo; Development Build y Autoconnect Profiler tildados; teléfono conectado con la depuración activada; Build and Run. Según el manual de Unity 6.3, con Development Build y Build and Run Unity prepara el túnel del Profiler antes de abrir la app. Primero lo hace la docente; después cada grupo, con el teléfono de un integrante.</a:t>
            </a:r>
          </a:p>
          <a:p>
            <a:r>
              <a:t>Paso a paso para los grupos: anexo, pasos 2 (teléfono), 4 (Build Profiles) y 7 (build e instalación).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GC (garbage collector): proceso que libera memoria que ya no se usa; si trabaja mucho, produce tirones.</a:t>
            </a:r>
          </a:p>
          <a:p>
            <a:r>
              <a:t>• GC Alloc: memoria reservada en cada frame que después tendrá que liberar el GC.</a:t>
            </a:r>
          </a:p>
          <a:p>
            <a:r>
              <a:t>• Hipótesis: suposición que se comprueba midiendo.</a:t>
            </a:r>
          </a:p>
          <a:p>
            <a:r>
              <a:t>Versión final: la partida de medición dura 5 minutos; en el TP 3 pueden extenderla a 10.</a:t>
            </a:r>
          </a:p>
          <a:p>
            <a:r>
              <a:t>Hipótesis completas: H1, ¿cada disparo (Instantiate del láser) genera picos de GC? Métrica: GC Alloc por frame. H2, ¿el juego sostiene el fps durante 10 minutos? Métrica: tiempo de frame a lo largo del tiempo. Registrar modelo de teléfono, versión de Android y temperatura percibida.</a:t>
            </a:r>
          </a:p>
          <a:p>
            <a:r>
              <a:t>Advertencia honesta: Asteroides es liviano y lo más probable es que ande bien en casi cualquier teléfono. Si la medición no muestra problemas, la respuesta correcta es decirlo con los datos. El objetivo es aprender a formular y medir hipótesis.</a:t>
            </a:r>
          </a:p>
          <a:p>
            <a:r>
              <a:t>Imagen sugerida (opcional, sin recuadro en la slide): Profiler conectado a un teléfono con un pico de GC marcado.</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fps promedio: cantidad media de imágenes por segundo durante la medición.</a:t>
            </a:r>
          </a:p>
          <a:p>
            <a:r>
              <a:t>• Tiempo de frame máximo: el cuadro que más tardó; muestra los tirones que el promedio esconde.</a:t>
            </a:r>
          </a:p>
          <a:p>
            <a:r>
              <a:t>Conclusión esperada: el número del editor no predice el del teléfono. Pasar a A4.6 (slide siguiente), que muestra el mismo problema con datos de 10 minutos.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la versión 3, A4.6 se hace acá, con el teléfono y el Profiler a mano.]</a:t>
            </a:r>
          </a:p>
          <a:p>
            <a:r>
              <a:t>Glosario (conceptos cortos para la docente):</a:t>
            </a:r>
          </a:p>
          <a:p>
            <a:r>
              <a:t>• Cuello de botella: la parte del sistema que limita el rendimiento.</a:t>
            </a:r>
          </a:p>
          <a:p>
            <a:r>
              <a:t>• Métrica: valor que se mide (por ejemplo, el tiempo de frame).</a:t>
            </a:r>
          </a:p>
          <a:p>
            <a:r>
              <a:t>• Throttling térmico: el teléfono baja la frecuencia del procesador para no calentarse.</a:t>
            </a:r>
          </a:p>
          <a:p>
            <a:r>
              <a:t>Situación completa: "60 fps al empezar, 35–40 fps a los 8 minutos en un teléfono de gama media; en el editor, 200 fps".</a:t>
            </a:r>
          </a:p>
          <a:p>
            <a:r>
              <a:t>Respuesta esperada: throttling térmico agravado por el overdraw de las partículas; medir el tiempo de frame a lo largo del tiempo y el estado térmico con el Profiler en el dispositivo; fijar 30 fps o un presupuesto del 65 % y reducir el overdraw. El editor y el Device Simulator no sirven para esto.</a:t>
            </a:r>
          </a:p>
          <a:p>
            <a:r>
              <a:t>Contrastar con la medición de 10 minutos que acaban de hacer: ¿su teléfono se comporta igual?</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QA manual: prueba hecha por una persona, siguiendo pasos definidos.</a:t>
            </a:r>
          </a:p>
          <a:p>
            <a:r>
              <a:t>• Cierre forzado: terminar la app desde los ajustes del sistema.</a:t>
            </a:r>
          </a:p>
          <a:p>
            <a:r>
              <a:t>Casos completos: QA-01 llamada o alarma durante la partida (esperado: el juego se pausa y espera un toque); QA-02 botón de inicio y volver (pausado, sin daño a la nave); QA-03 bloquear y desbloquear la pantalla (pausado); QA-04 abrir el teclado en pantalla, si aplica (documentar qué pasa); QA-05 cierre forzado y reabrir (documentar qué se pierde).</a:t>
            </a:r>
          </a:p>
          <a:p>
            <a:r>
              <a:t>Casos nuevos de la versión 3 (controles portados): QA-06, mover con el joystick y disparar con el botón al mismo tiempo, con dos dedos (el Device Simulator simula un solo dedo, así que este caso solo se prueba acá); QA-07, medir que cada control tenga al menos 48 dp y comprobar que el pulgar no tape la zona por donde caen los asteroides.</a:t>
            </a:r>
          </a:p>
          <a:p>
            <a:r>
              <a:t>Mismo formato de caso de prueba de la Unidad 2 (esperado vs. real). Si los grupos todavía no corrigieron el defecto, probar la versión con defecto: el resultado real va a contradecir al esperado, y eso es un hallazgo.</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Matriz de compatibilidad: tabla que cruza dispositivos con resultados de prueba.</a:t>
            </a:r>
          </a:p>
          <a:p>
            <a:r>
              <a:t>• Muestra de conveniencia: los casos que se tienen a mano, no elegidos para representar al mercado.</a:t>
            </a:r>
          </a:p>
          <a:p>
            <a:r>
              <a:t>Respuesta esperada: no. Es una muestra de conveniencia; faltan gamas, fabricantes, versiones de Android y tablets. Por eso existen las granjas de dispositivos y Android vitals. Igual es evidencia real y vale más que el editor.</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Profiler: herramienta de Unity que mide en qué se gasta el tiempo de cada frame.</a:t>
            </a:r>
          </a:p>
          <a:p>
            <a:r>
              <a:t>• Granja de dispositivos: servicio con muchos teléfonos reales para correr pruebas a distancia (Firebase Test Lab, AWS Device Farm).</a:t>
            </a:r>
          </a:p>
          <a:p>
            <a:r>
              <a:t>• Android vitals: métricas de calidad que Google Play mide sobre las apps publicadas.</a:t>
            </a:r>
          </a:p>
          <a:p>
            <a:r>
              <a:t>• ANR (Application Not Responding): la app deja de responder.</a:t>
            </a:r>
          </a:p>
          <a:p>
            <a:r>
              <a:t>Es la escalera que conecta con la Unidad 3: cada nivel tiene un "qué no prueba". El Device Simulator no prueba rendimiento, memoria ni render; el emulador no prueba térmica ni la GPU del teléfono.</a:t>
            </a:r>
          </a:p>
          <a:p>
            <a:r>
              <a:t>Android vitals mide fallas como la tasa de cierres inesperados (umbral general 1,09 %) y de ANR (0,47 %); la memoria pasa a afectar la visibilidad en la tienda desde febrero de 2027.</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Test automático: prueba que corre sola y compara el resultado con lo esperado.</a:t>
            </a:r>
          </a:p>
          <a:p>
            <a:r>
              <a:t>Respuesta esperada: los tests protegen la regla y el adaptador ante regresiones; el QA manual comprueba que el sistema operativo dispare los callbacks y qué pasa cuando se cierra el proceso. Es la frontera entre automatización y hardware real, la misma de la Unidad 3 aplicada a la plataforma.</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Adaptador: clase que traduce lo que pasa afuera del juego (un dispositivo, un aviso del sistema operativo) en una orden para la lógica del juego.</a:t>
            </a:r>
          </a:p>
          <a:p>
            <a:r>
              <a:t>• Regla: lógica del juego que se puede probar sin el dispositivo real.</a:t>
            </a:r>
          </a:p>
          <a:p>
            <a:r>
              <a:t>• Test inestable (flaky): test que a veces pasa y a veces falla sin que cambie el código.</a:t>
            </a:r>
          </a:p>
          <a:p>
            <a:r>
              <a:t>• SO: sistema operativo (Android, iOS); es quien avisa al juego que pasa a segundo plano.</a:t>
            </a:r>
          </a:p>
          <a:p>
            <a:r>
              <a:t>Versión final: la pausa (A4.4) se resuelve en el dossier del TP 3, con este mismo patrón.</a:t>
            </a:r>
          </a:p>
          <a:p>
            <a:r>
              <a:t>Idea: el porteo de la entrada ya usó el mismo patrón que van a aplicar a la pausa en A4.4. ShipInputAdapter lee el teclado, el gamepad o los controles en pantalla y llama a Ship.SetIntent; los tests de ShipIntentTests prueban la nave con intenciones, sin ningún dispositivo, y desactivan el adaptador para aislarla.</a:t>
            </a:r>
          </a:p>
          <a:p>
            <a:r>
              <a:t>Evidencia real del repositorio (Test Runner en batchmode, Play Mode, 2026-10-10; XML en laboratorio-adaptacion/evidencia):</a:t>
            </a:r>
          </a:p>
          <a:p>
            <a:r>
              <a:t>1. Antes del porteo: 11 tests, 7 pasan y 4 fallan.</a:t>
            </a:r>
          </a:p>
          <a:p>
            <a:r>
              <a:t>2. Después del porteo: 14 tests (11 + 3 nuevos). En tres corridas pasaron 10, 11 y 10. Los 3 tests nuevos pasaron siempre.</a:t>
            </a:r>
          </a:p>
          <a:p>
            <a:r>
              <a:t>3. Tres fallas son siempre las mismas: las "hipótesis de integración" que detectan defectos reales del pool de asteroides (un asteroide se libera dos veces; NewGame no borra los asteroides viejos; un segundo NewGame acelera el spawn).</a:t>
            </a:r>
          </a:p>
          <a:p>
            <a:r>
              <a:t>4. Una falla cambia de test entre corridas (LaserMovesUp en una, GameOverStopsSpawningAndDisablesShip en otras): el stack trace lleva al mismo defecto del pool (Laser.cs:52 → Spawner.PlayExplosion). Es un test inestable causado por el código del juego, no por el porteo.</a:t>
            </a:r>
          </a:p>
          <a:p>
            <a:r>
              <a:t>Mensaje: un test en rojo no siempre es culpa del cambio que acabamos de hacer; hay que leer el stack trace antes de concluir. Es el ciclo de la Unidad 3 aplicado a la plataforma.</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Test de Edit Mode: test que corre en el editor sin dar Play; sirve para lógica pura y para leer la configuración del proyecto.</a:t>
            </a:r>
          </a:p>
          <a:p>
            <a:r>
              <a:t>• PlayerSettings: API de C# que lee y escribe los Player Settings.</a:t>
            </a:r>
          </a:p>
          <a:p>
            <a:r>
              <a:t>• NamedBuildTarget: identificador de la plataforma en la API (acá, Android).</a:t>
            </a:r>
          </a:p>
          <a:p>
            <a:r>
              <a:t>• Bandera (flag): valor que junta varias opciones; con &amp; se pregunta si una está prendida.</a:t>
            </a:r>
          </a:p>
          <a:p>
            <a:r>
              <a:t>Problema primero: el APK se instala en un teléfono y en otro no. Nadie tocó el código del juego: el proyecto estaba en Mono y solo ARMv7. ¿Se puede proteger la configuración con un test?</a:t>
            </a:r>
          </a:p>
          <a:p>
            <a:r>
              <a:t>Qué mostrar: dos de los cuatro tests de AndroidBuildConfigTests.cs. Los otros dos verifican que la API mínima sea 25 o más y que la build sea .apk y no .aab.</a:t>
            </a:r>
          </a:p>
          <a:p>
            <a:r>
              <a:t>Evidencia real (2026-10-12, Unity 6000.3.11f1, batchmode): con el proyecto en Mono + ARMv7, 2 tests en verde (API mínima, APK) y 2 en rojo (IL2CPP, ARM64). Archivo: laboratorio-adaptacion/evidencia/asteroides-05-android-config-editmode-red.xml.</a:t>
            </a:r>
          </a:p>
          <a:p>
            <a:r>
              <a:t>Datos de la documentación de Unity 6.3 (Android Player settings): ARM64 "se habilita solo cuando Scripting Backend es IL2CPP"; Active Input Handling = Both "no está soportado en Android".</a:t>
            </a:r>
          </a:p>
          <a:p>
            <a:r>
              <a:t>Límites: el test lee los Player Settings del proyecto; si un Build Profile tiene Player Settings propios, no está comprobado qué valores ve el test (UNKNOWN). Y una configuración correcta no demuestra que la app abra en el teléfono ni que los controles respondan.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Test Runner: ventana de Unity (Window &gt; General &gt; Test Runner) que ejecuta los tests y muestra verde o rojo.</a:t>
            </a:r>
          </a:p>
          <a:p>
            <a:r>
              <a:t>• Assembly definition (asmdef): archivo que agrupa scripts; los tests de editor van en uno que solo incluye la plataforma Editor.</a:t>
            </a:r>
          </a:p>
          <a:p>
            <a:r>
              <a:t>• Rojo a propósito: romper una condición para comprobar que el test es capaz de fallar.</a:t>
            </a:r>
          </a:p>
          <a:p>
            <a:r>
              <a:t>Consigna completa (sobre su copia del proyecto):</a:t>
            </a:r>
          </a:p>
          <a:p>
            <a:r>
              <a:t>1. Crear Assets/Tests/EditMode con un asmdef de tests que solo incluya la plataforma Editor (referencia: EditModeTests.asmdef del repositorio).</a:t>
            </a:r>
          </a:p>
          <a:p>
            <a:r>
              <a:t>2. Escribir dos tests: Scripting Backend = IL2CPP y ARM64 tildado, con la estructura de la slide anterior.</a:t>
            </a:r>
          </a:p>
          <a:p>
            <a:r>
              <a:t>3. Correrlos en el Test Runner, pestaña EditMode. Si hicieron la tarea de la build, deberían dar verde.</a:t>
            </a:r>
          </a:p>
          <a:p>
            <a:r>
              <a:t>4. Romper a propósito: pasar a Mono, correr de nuevo y ver el rojo. Restaurar IL2CPP y ver el verde. Un test que nunca vieron fallar no prueba nada.</a:t>
            </a:r>
          </a:p>
          <a:p>
            <a:r>
              <a:t>5. Escribir qué NO demuestra: que el teléfono acepte la app, que los controles respondan, el rendimiento.</a:t>
            </a:r>
          </a:p>
          <a:p>
            <a:r>
              <a:t>Extensión para el grupo que termina: BuildAndroid.cs (Assets/Editor) genera el APK desde código con BuildPipeline.BuildPlayer, sin abrir la ventana. Se corre en batchmode y deja un log como evidencia; es el primer paso hacia la integración continua. Evidencia (2026-10-12): build correcta en 42 s, APK de 20 MB (laboratorio-adaptacion/evidencia/asteroides-06-build-android-apk.log).</a:t>
            </a:r>
          </a:p>
          <a:p>
            <a:r>
              <a:t>Errores frecuentes: un asmdef de tests que incluye todas las plataformas (el código de UnityEditor no compila para el player); olvidar using UnityEditor.Build (NamedBuildTarget); correr los tests en la pestaña PlayMode.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FTC (Federal Trade Commission): organismo de EE. UU. que protege a los consumidores.</a:t>
            </a:r>
          </a:p>
          <a:p>
            <a:r>
              <a:t>• COPPA: ley de EE. UU. que protege la privacidad de los menores de 13 años en línea.</a:t>
            </a:r>
          </a:p>
          <a:p>
            <a:r>
              <a:t>• Dark patterns: diseños de interfaz que empujan al usuario a hacer algo que no quería.</a:t>
            </a:r>
          </a:p>
          <a:p>
            <a:r>
              <a:t>Caso completo: en 2022 la FTC acusó a Epic Games por Fortnite. Epic pagó USD 275 millones por privacidad de menores (COPPA) y USD 245 millones en reembolsos. El motivo: dark patterns en la compra, con una configuración de botones "counterintuitive, inconsistent, and confusing".</a:t>
            </a:r>
          </a:p>
          <a:p>
            <a:r>
              <a:t>Respuesta buscada: las dos cosas. Una decisión de interfaz (dónde va un botón, qué confirma una compra) tuvo consecuencias legales. Desde hoy la monetización se analiza como diseño, con reglas y con ética.</a:t>
            </a:r>
          </a:p>
          <a:p>
            <a:r>
              <a:t>Imagen sugerida (opcional, sin recuadro en la slide): titular del comunicado oficial de la FTC del 19/12/2022.</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IAP: compra dentro de la app.</a:t>
            </a:r>
          </a:p>
          <a:p>
            <a:r>
              <a:t>• Rewarded: anuncio que el jugador elige ver a cambio de una recompensa.</a:t>
            </a:r>
          </a:p>
          <a:p>
            <a:r>
              <a:t>• Interstitial: anuncio de pantalla completa, en las transiciones.</a:t>
            </a:r>
          </a:p>
          <a:p>
            <a:r>
              <a:t>Modelos: premium (paga una vez; ejemplo, Alto's Adventure sin anuncios ni IAP); freemium + IAP (pagan algunos; la progresión y la tienda se piensan para vender); anuncios (paga el anunciante y el jugador "paga" con tiempo); híbrido. Agregar el premium corrige el programa, que solo nombra freemium e híbridos.</a:t>
            </a:r>
          </a:p>
          <a:p>
            <a:r>
              <a:t>Formatos de anuncio: rewarded, "served after a user explicitly chooses to view" (AdMob); interstitial, solo en transiciones naturales; banner, franja fija que ocupa UI y safe area. La diferencia clave es el consentimiento: el rewarded lo pide el jugador, el interstitial se lo imponen.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Política de tienda: reglas que una app debe cumplir para publicarse.</a:t>
            </a:r>
          </a:p>
          <a:p>
            <a:r>
              <a:t>• Loot box (caja con premios al azar): compra cuyo contenido se sortea.</a:t>
            </a:r>
          </a:p>
          <a:p>
            <a:r>
              <a:t>AdMob prohíbe interstitials al abrir o al salir de la app, después de cada acción del usuario (como máximo, uno cada dos acciones), inmediatamente después de otro interstitial y de forma inesperada durante el juego.</a:t>
            </a:r>
          </a:p>
          <a:p>
            <a:r>
              <a:t>Apple 3.1.1: el contenido digital se desbloquea con IAP. Apple y Google: las cajas al azar muestran las probabilidades antes de comprar. Google Play Billing es obligatorio, con excepciones por país. Apps para niños: sin publicidad personalizada ni SDKs no certificados.</a:t>
            </a:r>
          </a:p>
          <a:p>
            <a:r>
              <a:t>Pregunta: si cada partida es corta y cada Game Over muestra un anuncio, se acerca a "después de cada acción". No hay respuesta automática: hay que leer la política y justificar.</a:t>
            </a:r>
          </a:p>
          <a:p>
            <a:r>
              <a:t>Dato de herramienta: Unity recomienda migrar de Unity Ads directo a LevelPlay (mediación) desde abril de 2026; no se integra en esta materia.</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Dark pattern: diseño que juega en contra del interés del jugador.</a:t>
            </a:r>
          </a:p>
          <a:p>
            <a:r>
              <a:t>• Balance: relación entre dificultad, recursos y habilidad.</a:t>
            </a:r>
          </a:p>
          <a:p>
            <a:r>
              <a:t>Detalle: "continuar con un anuncio" cambia el significado del Game Over; subir la dificultad para vender vidas cambia el balance; las pausas para anuncios cambian el ritmo. En Vampire Survivors para móvil, la monetización está "designed to never interrupt your game, always be optional" (Kotaku, 2023, citando a poncle).</a:t>
            </a:r>
          </a:p>
          <a:p>
            <a:r>
              <a:t>Ética: dark patterns (Zagal, Björk y Lewis, 2013; citar sin enlace hasta verificar una copia legal); loot boxes asociadas con el juego problemático (Zendle y Cairns, 2018, PLOS ONE, n = 7.422): correlación, no causa; 35 técnicas percibidas como predatorias (Petrovskaya y Zendle, 2022); Bélgica prohibió mecánicas de loot box en 2018 (UK Gambling Commission). No decir que las loot boxes "causan" adicción.</a:t>
            </a:r>
          </a:p>
          <a:p>
            <a:r>
              <a:t>Respuesta posible a la pregunta: cantidad de vidas, velocidad de los asteroides, duración de la partida y cómo se calcula el puntaje si alguien continúa.</a:t>
            </a:r>
          </a:p>
          <a:p>
            <a:r>
              <a:t>Video opcional de tarea: Anisa Sanusi, "Dark Patterns: How Good UX Can Be Bad UX" (GDC 2017).</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Cofre al azar: equivalente a una loot box.</a:t>
            </a:r>
          </a:p>
          <a:p>
            <a:r>
              <a:t>Versión final: cada grupo vota y justifica en una frase; el debate largo va al foro del aula virtual.</a:t>
            </a:r>
          </a:p>
          <a:p>
            <a:r>
              <a:t>Propuestas completas: P1 premium a US$ 2,99, sin anuncios ni compras. P2 gratis, rewarded "continuar con 1 vida" (una vez por partida) + IAP "quitar anuncios". P3 gratis, interstitial al abrir y en cada Game Over + cofres pagos al azar sin probabilidades + dificultad aumentada para empujar a comprar.</a:t>
            </a:r>
          </a:p>
          <a:p>
            <a:r>
              <a:t>Respuesta esperada: P3 viola políticas (interstitial al abrir; probabilidades no informadas) y manipula la dificultad. P2 cumple, pero cambia el balance. P1 es viable, con menor alcance. Vale cualquier elección defendida con criterios y fuentes.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Coevaluación: los grupos se evalúan entre sí con criterios compartidos.</a:t>
            </a:r>
          </a:p>
          <a:p>
            <a:r>
              <a:t>• Decisión de plataforma (PDR): registro de contexto, opciones, decisión y consecuencias.</a:t>
            </a:r>
          </a:p>
          <a:p>
            <a:r>
              <a:t>Versión final (PROPUESTO, lo decide la titular): sin tiempo para la defensa en vivo, cada grupo sube un video de 3 minutos al aula virtual y coevalúa el de otro grupo con estos criterios.</a:t>
            </a:r>
          </a:p>
          <a:p>
            <a:r>
              <a:t>Contenido de la defensa: una decisión de plataforma (contexto, opciones, decisión, consecuencias); la evidencia del teléfono que la respalda o la contradice; lo que quedó sin probar, dicho explícitamente.</a:t>
            </a:r>
          </a:p>
          <a:p>
            <a:r>
              <a:t>A4.4, "La llamada que mata la nave", pasa al dossier: comportamiento esperado ante una interrupción; regla de pausa separada del adaptador (OnApplicationPause); test de Edit Mode de la regla; qué NO demuestra el test. El ejemplo para destrabar es ShipIntentTests.cs (aislar la regla del adaptador).</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Certificación: revisión que hace el fabricante de la consola antes de permitir que un juego se publique.</a:t>
            </a:r>
          </a:p>
          <a:p>
            <a:r>
              <a:t>• Transferencia: aplicar lo aprendido en un caso a otro distinto.</a:t>
            </a:r>
          </a:p>
          <a:p>
            <a:r>
              <a:t>Síntesis: en móvil el límite lo ponen la energía, el calor, la memoria, la pantalla táctil, las interrupciones y las reglas de tienda. Lo que el editor no muestra, lo muestra el teléfono.</a:t>
            </a:r>
          </a:p>
          <a:p>
            <a:r>
              <a:t>Transferencia (1 min): el 2D Platformer ya tiene MobileMove, MobileJump y MobileShoot, pero su objeto MobileControls está vacío. El patrón adaptador → intención → personaje se reutiliza; el esquema no se copia: en un juego de plataformas importa el momento del salto (botón grande, bajo el pulgar; tolerancias como el coyote time).</a:t>
            </a:r>
          </a:p>
          <a:p>
            <a:r>
              <a:t>Puente técnico: las mismas acciones de Input System que usamos para el dedo ya aceptan un gamepad; para jugar en una consola no hay que reescribir la nave. Lo que cambia es todo lo demás.</a:t>
            </a:r>
          </a:p>
          <a:p>
            <a:r>
              <a:t>Pregunta puente: en consola, el fabricante certifica el juego antes de publicarlo (Microsoft publica sus requisitos; Sony y Nintendo, no). La idea transversal de las Unidades IV a VII: ¿quién pone el límite?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Anexo de consulta: no ocupa tiempo de clase. Los alumnos lo usan para la tarea entre encuentros y durante la práctica en el teléfono. Las slides de clase remiten acá.</a:t>
            </a:r>
          </a:p>
          <a:p>
            <a:r>
              <a:t>Todas las capturas son de Unity 6000.3.11f1 (Windows), tomadas por la docente el 2026-10-12 y el 2026-10-13. Las marcas rojas se agregaron después.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JDK: kit de Java que usa la compilación de Android.</a:t>
            </a:r>
          </a:p>
          <a:p>
            <a:r>
              <a:t>• SDK / NDK: herramientas de Android para compilar y para el código nativo.</a:t>
            </a:r>
          </a:p>
          <a:p>
            <a:r>
              <a:t>• Gradle: sistema que arma el APK a partir de lo que exporta Unity.</a:t>
            </a:r>
          </a:p>
          <a:p>
            <a:r>
              <a:t>• Preferences vs. Project Settings: Preferences son ajustes del editor en esta máquina; Project Settings son del proyecto y viajan con él.</a:t>
            </a:r>
          </a:p>
          <a:p>
            <a:r>
              <a:t>Pasos: en Unity Hub, Installs, menú de la versión 6000.3.11f1 &gt; Add modules &gt; Android Build Support con OpenJDK y Android SDK &amp; NDK Tools. Después, en el editor: Edit &gt; Preferences &gt; External Tools, sección Android, al final de la página. Las cuatro casillas "… Installed with Unity (recommended)" (JDK, Android SDK Tools, Android NDK y Gradle) tienen que estar tildadas, con rutas dentro de la carpeta del editor (…/PlaybackEngines/AndroidPlayer).</a:t>
            </a:r>
          </a:p>
          <a:p>
            <a:r>
              <a:t>Si una ruta aparece en rojo o vacía, reinstalar el módulo desde Unity Hub. No apuntar a otro JDK o SDK salvo que se sepa por qué.</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adb (Android Debug Bridge): herramienta de línea de comandos que conecta la PC con el teléfono.</a:t>
            </a:r>
          </a:p>
          <a:p>
            <a:r>
              <a:t>Pasos: Ajustes &gt; Acerca del teléfono &gt; tocar 7 veces "Número de compilación"; en Android 9 o superior, las Opciones de desarrollador están en Ajustes &gt; Sistema &gt; Avanzado. Activar "Depuración USB". Conectar con un cable de datos (muchos cables solo cargan) y aceptar en el teléfono "¿Permitir depuración USB?".</a:t>
            </a:r>
          </a:p>
          <a:p>
            <a:r>
              <a:t>Comprobar: en Unity, Build Profiles &gt; Android &gt; Run Device &gt; Refresh; o en una terminal, adb devices (adb está en la carpeta del editor: Data/PlaybackEngines/AndroidPlayer/SDK/platform-tools). "device" = listo; "unauthorized" = falta aceptar el diálogo; lista vacía = cable, puerto o driver USB del fabricante (el manual de Unity avisa que en Windows puede hacer falta).</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Device Simulator: vista de Unity que muestra el juego con la pantalla de un dispositivo real (muesca, safe area, rotación).</a:t>
            </a:r>
          </a:p>
          <a:p>
            <a:r>
              <a:t>Pasos: abrir Scenes/Game (si la escena es Untitled, no se ve el juego). En la pestaña Game, el desplegable de la izquierda cambia entre Game y Simulator; también se abre como ventana desde Window &gt; General &gt; Device Simulator. Elegir el dispositivo en el desplegable (por ejemplo, Punch Hole Left 1080×2340 o el Foldable Device, que permite ver el mismo teléfono plegado y desplegado). Dar Play y rotar desde la barra del Simulator.</a:t>
            </a:r>
          </a:p>
          <a:p>
            <a:r>
              <a:t>Si aparece "Simulator is currently not active", el Game View está en modo Game: elegir Simulator en el desplegable.</a:t>
            </a:r>
          </a:p>
          <a:p>
            <a:r>
              <a:t>Qué NO simula: rendimiento, memoria, capacidades de render ni giroscopio. Simula un solo dedo (con el mouse): mover y disparar a la vez solo se prueba en el teléfono.</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Switch Platform: cambiar la plataforma activa; Unity reimporta los assets y la primera vez tarda.</a:t>
            </a:r>
          </a:p>
          <a:p>
            <a:r>
              <a:t>• Run Device: el teléfono en el que Build and Run instala la app.</a:t>
            </a:r>
          </a:p>
          <a:p>
            <a:r>
              <a:t>Pasos: File &gt; Build Profiles; en Platforms elegir Android; si todavía no es la plataforma activa, abajo a la derecha aparece Switch Platform. En Platform Settings: Build App Bundle (Google Play) destildado para obtener un .apk; Development Build y Autoconnect Profiler tildados si se va a medir con el Profiler; Run Device con el teléfono conectado (Refresh si no aparece).</a:t>
            </a:r>
          </a:p>
          <a:p>
            <a:r>
              <a:t>El botón Player Settings (arriba a la derecha) abre los ajustes del proyecto. Cuidado: la sección Player Settings que aparece dentro del perfil crea una copia propia del perfil; para que haya una sola fuente, editar en Edit &gt; Project Settings &gt; Player.</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IL2CPP: backend que compila el C# a código nativo; es el único que habilita ARM64.</a:t>
            </a:r>
          </a:p>
          <a:p>
            <a:r>
              <a:t>• Package Name: identificador único de la app (com.empresa.juego).</a:t>
            </a:r>
          </a:p>
          <a:p>
            <a:r>
              <a:t>Pasos: arriba, Company Name y Product Name (el nombre que se ve en el teléfono); en la pestaña de Android (ícono del robot) &gt; Other Settings: Scripting Backend = IL2CPP, tildar ARM64, Minimum API Level = Android 7.1 (API 25). El Package Name se arma con Company y Product mientras "Override Default Package Name" esté destildado.</a:t>
            </a:r>
          </a:p>
          <a:p>
            <a:r>
              <a:t>Active Input Handling = Both: Unity 6.3 lo declara no soportado en Android; Asteroides lo mantiene por el menú (StandaloneInputModule) y al compilar aparece un aviso que se puede ignorar.</a:t>
            </a:r>
          </a:p>
          <a:p>
            <a:r>
              <a:t>Comprobación automática: los tests de AndroidBuildConfigTests (A4.8) verifican IL2CPP, ARM64, API mínima y que la build sea .apk.</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Default Orientation: orientación con la que arranca el juego (fija o Auto Rotation).</a:t>
            </a:r>
          </a:p>
          <a:p>
            <a:r>
              <a:t>• Render outside safe area: permite dibujar debajo de la muesca y las barras.</a:t>
            </a:r>
          </a:p>
          <a:p>
            <a:r>
              <a:t>Así viene el proyecto: Default Orientation = Auto Rotation con las cuatro orientaciones permitidas, Hide Navigation Bar y Render outside safe area tildados.</a:t>
            </a:r>
          </a:p>
          <a:p>
            <a:r>
              <a:t>Qué decidir: la orientación sale del esquema de control de A4.7. Si el juego es horizontal, dejar Landscape Left o Landscape Right (o Auto Rotation solo con esas dos). Recordar el hallazgo de A4.2: en vertical, la mayoría de los asteroides nace fuera de pantalla.</a:t>
            </a:r>
          </a:p>
          <a:p>
            <a:r>
              <a:t>Render outside safe area: con target API 35 o superior, Android 15 dibuja de borde a borde de todos modos; por eso la UI esencial tiene que leer Screen.safeArea en lugar de confiar en esta casilla.</a:t>
            </a:r>
          </a:p>
          <a:p>
            <a:r>
              <a:t>Ícono: en la sección Icon (o Default Icon, arriba) asignar una textura del juego. Cuidado con asignar sin querer otra textura desde el selector (en una prueba quedó un cuadro negro): si el ícono se ve negro en el teléfono, revisar este campo.</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Firma de depuración: firma automática de Unity para probar; no sirve para publicar en Google Play.</a:t>
            </a:r>
          </a:p>
          <a:p>
            <a:r>
              <a:t>Pasos: botón Build (no Build And Run, que exige un teléfono conectado); carpeta Builds/ dentro del proyecto y fuera de Assets; nombre AsteroideTest.apk. Pasar el archivo al teléfono (cable, Drive o mensajería), abrirlo y aceptar "Instalar apps de fuentes desconocidas" para esa app. Con el teléfono conectado: adb install -r Builds/AsteroideTest.apk.</a:t>
            </a:r>
          </a:p>
          <a:p>
            <a:r>
              <a:t>Alternativa desde código: Build &gt; Android APK (Assets/Editor/BuildAndroid.cs), también en batchmode con -executeMethod BuildAndroid.Build.</a:t>
            </a:r>
          </a:p>
          <a:p>
            <a:r>
              <a:t>Tiempo de referencia: Mono + ARMv7, 42 s y 20 MB en la PC de la docente (2026-10-12). Con IL2CPP la primera build tarda bastante más (no medido todavía).</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Logcat: registro de mensajes del sistema Android; con -s Unity se filtran los del juego.</a:t>
            </a:r>
          </a:p>
          <a:p>
            <a:r>
              <a:t>Detalle: el primer cartel es un aviso (deja seguir); el segundo frena Build and Run, pero no Build. "No se instala" en teléfonos que solo aceptan 64 bits: primera sospecha, falta ARM64 (documentado por Android; en el curso todavía no se vio).</a:t>
            </a:r>
          </a:p>
          <a:p>
            <a:r>
              <a:t>Logs: con el teléfono conectado, adb logcat -s Unity muestra los mensajes de Debug.Log y los errores del juego. El paquete Android Logcat de Unity es una alternativa con ventana, pero instalarlo cambia el proyecto: no se usa sin autorización.</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Input Manager (legacy): sistema de entrada clásico de Unity; los ejes y botones se configuran en Project Settings &gt; Input Manager.</a:t>
            </a:r>
          </a:p>
          <a:p>
            <a:r>
              <a:t>• Gamepad virtual: los botones en pantalla (OnScreenButton) se hacen pasar por un gamepad; el juego no distingue el dedo de un control físico.</a:t>
            </a:r>
          </a:p>
          <a:p>
            <a:r>
              <a:t>• Safe area: parte de la pantalla libre de muesca y barra de gestos.</a:t>
            </a:r>
          </a:p>
          <a:p>
            <a:r>
              <a:t>• Suavizado: el eje "Horizontal" del Input Manager acelera y frena en unos 0,3 s en lugar de saltar de 0 a 1.</a:t>
            </a:r>
          </a:p>
          <a:p>
            <a:r>
              <a:t>Qué muestra: el mismo juego (2D Platformer, el segundo caso del laboratorio) antes y después del porteo, en las dos plataformas. La versión 2 es una copia; el original no se tocó.</a:t>
            </a:r>
          </a:p>
          <a:p>
            <a:r>
              <a:t>PC antes: teclado (flechas o A/D, salto con Espacio) y un joystick genérico configurado en el Input Manager (el salto del joystick era "joystick button 3", que en un control de Xbox es Y, no A). PC después: las mismas teclas, más gamepad (stick, cruceta y botón A para saltar).</a:t>
            </a:r>
          </a:p>
          <a:p>
            <a:r>
              <a:t>Android antes: el juego tenía un campo "controlmode" y un contenedor MobileControls, pero el contenedor estaba vacío; en el teléfono se podía tocar el menú, pero el personaje no se movía. Android después: botones ◀ ▶ y SALTAR, visibles solo en móvil; mantener ◀ mueve de forma continua y soltar detiene. Orientación: solo horizontal, porque es un juego de desplazamiento lateral.</a:t>
            </a:r>
          </a:p>
          <a:p>
            <a:r>
              <a:t>Respuesta esperada a la pregunta: casi nada, y eso es lo buscado. Dos diferencias reales: ahora responde a un gamepad moderno, y el movimiento con teclado ya no tiene suavizado (respuesta inmediata). Es un cambio de sensación: hay que contarlo, no esconderlo.</a:t>
            </a:r>
          </a:p>
          <a:p>
            <a:r>
              <a:t>Qué NO resuelve esto: el esquema táctil (botones o stick) es provisional y lo eligen los grupos; no hay coyote time ni buffer de salto; no se probó todavía en un teléfono real.</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Input System: paquete de entrada moderno de Unity; unifica teclado, gamepad y táctil.</a:t>
            </a:r>
          </a:p>
          <a:p>
            <a:r>
              <a:t>• SetIntent: método del jugador que recibe la intención (mover, saltar) sin saber de qué dispositivo vino.</a:t>
            </a:r>
          </a:p>
          <a:p>
            <a:r>
              <a:t>• Módulo de UI: componente del EventSystem que traduce clics y toques a eventos de botones.</a:t>
            </a:r>
          </a:p>
          <a:p>
            <a:r>
              <a:t>• URP en modo compatibilidad: modo viejo del render de Unity; Unity 6.3 no compila builds con él activado.</a:t>
            </a:r>
          </a:p>
          <a:p>
            <a:r>
              <a:t>Fila por fila: el input pasó del Input Manager al Input System, configurado solo en "New" porque Unity 6.3 no admite "Both" en Android. El PlayerController ya no lee teclas: un adaptador lee el dispositivo y le pasa la intención. Los menús cambiaron de módulo de UI para funcionar sin el sistema viejo.</a:t>
            </a:r>
          </a:p>
          <a:p>
            <a:r>
              <a:t>Errores y build: el error "isGrounded" se repetía en cada frame (2447 veces en una sesión) y ahora aparece 0 veces. La build de Android del proyecto migrado fallaba por el render en modo compatibilidad; corregido eso, generó un APK de 35,9 MB (Mono, ARMv7, 9 min 25 s la primera vez).</a:t>
            </a:r>
          </a:p>
          <a:p>
            <a:r>
              <a:t>Tests: 6 de configuración (Edit Mode) y 10 de juego (Play Mode); pasan 14.</a:t>
            </a:r>
          </a:p>
          <a:p>
            <a:r>
              <a:t>Respuesta esperada a la pregunta: los 2 tests que fallan encontraron un defecto del juego original, no del porteo. El rayo que detecta el suelo choca con el propio jugador, así que el juego siempre cree que está en el suelo y permite saltar sin límite. Un test en rojo también es evidencia útil. Corregirlo cambia la dificultad del nivel, y esa decisión es de diseño, no técnica.</a:t>
            </a:r>
          </a:p>
          <a:p>
            <a:r>
              <a:t>Estado: todo esto está VERIFICADO con logs y XML del 19/10/2026. La instalación en un teléfono real es UNKNOWN.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image" Target="../media/image18.png"/><Relationship Id="rId10" Type="http://schemas.openxmlformats.org/officeDocument/2006/relationships/image" Target="../media/image19.png"/><Relationship Id="rId11" Type="http://schemas.openxmlformats.org/officeDocument/2006/relationships/image" Target="../media/image20.png"/><Relationship Id="rId12" Type="http://schemas.openxmlformats.org/officeDocument/2006/relationships/image" Target="../media/image21.png"/><Relationship Id="rId13" Type="http://schemas.openxmlformats.org/officeDocument/2006/relationships/image" Target="../media/image2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jpg"/><Relationship Id="rId5" Type="http://schemas.openxmlformats.org/officeDocument/2006/relationships/image" Target="../media/image26.jp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29.png"/><Relationship Id="rId9" Type="http://schemas.openxmlformats.org/officeDocument/2006/relationships/image" Target="../media/image30.jpg"/><Relationship Id="rId10" Type="http://schemas.openxmlformats.org/officeDocument/2006/relationships/image" Target="../media/image31.jpg"/><Relationship Id="rId11" Type="http://schemas.openxmlformats.org/officeDocument/2006/relationships/image" Target="../media/image32.png"/><Relationship Id="rId12" Type="http://schemas.openxmlformats.org/officeDocument/2006/relationships/image" Target="../media/image33.png"/><Relationship Id="rId13" Type="http://schemas.openxmlformats.org/officeDocument/2006/relationships/image" Target="../media/image34.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6.jpg"/><Relationship Id="rId4" Type="http://schemas.openxmlformats.org/officeDocument/2006/relationships/image" Target="../media/image37.jpg"/><Relationship Id="rId5" Type="http://schemas.openxmlformats.org/officeDocument/2006/relationships/image" Target="../media/image38.png"/><Relationship Id="rId6" Type="http://schemas.openxmlformats.org/officeDocument/2006/relationships/image" Target="../media/image39.png"/><Relationship Id="rId7" Type="http://schemas.openxmlformats.org/officeDocument/2006/relationships/image" Target="../media/image40.png"/><Relationship Id="rId8" Type="http://schemas.openxmlformats.org/officeDocument/2006/relationships/image" Target="../media/image41.png"/><Relationship Id="rId9" Type="http://schemas.openxmlformats.org/officeDocument/2006/relationships/image" Target="../media/image42.jpg"/><Relationship Id="rId10" Type="http://schemas.openxmlformats.org/officeDocument/2006/relationships/image" Target="../media/image43.jpg"/><Relationship Id="rId11" Type="http://schemas.openxmlformats.org/officeDocument/2006/relationships/image" Target="../media/image44.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jpg"/><Relationship Id="rId3" Type="http://schemas.openxmlformats.org/officeDocument/2006/relationships/image" Target="../media/image46.png"/><Relationship Id="rId4" Type="http://schemas.openxmlformats.org/officeDocument/2006/relationships/image" Target="../media/image47.jpg"/><Relationship Id="rId5" Type="http://schemas.openxmlformats.org/officeDocument/2006/relationships/image" Target="../media/image48.jpg"/><Relationship Id="rId6" Type="http://schemas.openxmlformats.org/officeDocument/2006/relationships/image" Target="../media/image49.jpg"/><Relationship Id="rId7" Type="http://schemas.openxmlformats.org/officeDocument/2006/relationships/image" Target="../media/image50.jpg"/><Relationship Id="rId8" Type="http://schemas.openxmlformats.org/officeDocument/2006/relationships/image" Target="../media/image51.png"/><Relationship Id="rId9" Type="http://schemas.openxmlformats.org/officeDocument/2006/relationships/image" Target="../media/image52.jpg"/><Relationship Id="rId10" Type="http://schemas.openxmlformats.org/officeDocument/2006/relationships/image" Target="../media/image53.png"/><Relationship Id="rId11" Type="http://schemas.openxmlformats.org/officeDocument/2006/relationships/image" Target="../media/image54.jp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image" Target="../media/image56.png"/><Relationship Id="rId4" Type="http://schemas.openxmlformats.org/officeDocument/2006/relationships/image" Target="../media/image57.jpg"/><Relationship Id="rId5" Type="http://schemas.openxmlformats.org/officeDocument/2006/relationships/image" Target="../media/image58.png"/><Relationship Id="rId6" Type="http://schemas.openxmlformats.org/officeDocument/2006/relationships/image" Target="../media/image59.png"/><Relationship Id="rId7" Type="http://schemas.openxmlformats.org/officeDocument/2006/relationships/image" Target="../media/image60.jpg"/><Relationship Id="rId8" Type="http://schemas.openxmlformats.org/officeDocument/2006/relationships/image" Target="../media/image61.jpg"/><Relationship Id="rId9" Type="http://schemas.openxmlformats.org/officeDocument/2006/relationships/image" Target="../media/image62.jpg"/><Relationship Id="rId10" Type="http://schemas.openxmlformats.org/officeDocument/2006/relationships/image" Target="../media/image63.png"/><Relationship Id="rId11" Type="http://schemas.openxmlformats.org/officeDocument/2006/relationships/image" Target="../media/image64.jp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 Id="rId3" Type="http://schemas.openxmlformats.org/officeDocument/2006/relationships/image" Target="../media/image66.png"/><Relationship Id="rId4" Type="http://schemas.openxmlformats.org/officeDocument/2006/relationships/image" Target="../media/image67.jpg"/><Relationship Id="rId5" Type="http://schemas.openxmlformats.org/officeDocument/2006/relationships/image" Target="../media/image68.png"/><Relationship Id="rId6" Type="http://schemas.openxmlformats.org/officeDocument/2006/relationships/image" Target="../media/image69.jpg"/><Relationship Id="rId7" Type="http://schemas.openxmlformats.org/officeDocument/2006/relationships/image" Target="../media/image70.png"/><Relationship Id="rId8" Type="http://schemas.openxmlformats.org/officeDocument/2006/relationships/image" Target="../media/image71.png"/><Relationship Id="rId9" Type="http://schemas.openxmlformats.org/officeDocument/2006/relationships/image" Target="../media/image72.jpg"/><Relationship Id="rId10" Type="http://schemas.openxmlformats.org/officeDocument/2006/relationships/image" Target="../media/image73.jpg"/><Relationship Id="rId11" Type="http://schemas.openxmlformats.org/officeDocument/2006/relationships/image" Target="../media/image74.jp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jpg"/><Relationship Id="rId3" Type="http://schemas.openxmlformats.org/officeDocument/2006/relationships/image" Target="../media/image76.jpg"/><Relationship Id="rId4" Type="http://schemas.openxmlformats.org/officeDocument/2006/relationships/image" Target="../media/image77.jpg"/><Relationship Id="rId5" Type="http://schemas.openxmlformats.org/officeDocument/2006/relationships/image" Target="../media/image78.jpg"/><Relationship Id="rId6" Type="http://schemas.openxmlformats.org/officeDocument/2006/relationships/image" Target="../media/image79.jpg"/><Relationship Id="rId7" Type="http://schemas.openxmlformats.org/officeDocument/2006/relationships/image" Target="../media/image80.png"/><Relationship Id="rId8" Type="http://schemas.openxmlformats.org/officeDocument/2006/relationships/image" Target="../media/image81.png"/><Relationship Id="rId9" Type="http://schemas.openxmlformats.org/officeDocument/2006/relationships/image" Target="../media/image82.jpg"/><Relationship Id="rId10" Type="http://schemas.openxmlformats.org/officeDocument/2006/relationships/image" Target="../media/image83.jp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Rectangle 1"/>
          <p:cNvSpPr/>
          <p:nvPr/>
        </p:nvSpPr>
        <p:spPr>
          <a:xfrm>
            <a:off x="0" y="4754880"/>
            <a:ext cx="12191695" cy="508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0"/>
            <a:ext cx="11185855" cy="3291840"/>
          </a:xfrm>
          <a:prstGeom prst="rect">
            <a:avLst/>
          </a:prstGeom>
          <a:noFill/>
        </p:spPr>
        <p:txBody>
          <a:bodyPr wrap="square" anchor="b" lIns="0" rIns="0" tIns="0" bIns="0">
            <a:spAutoFit/>
          </a:bodyPr>
          <a:lstStyle/>
          <a:p>
            <a:r>
              <a:rPr sz="1400" b="1" i="0">
                <a:solidFill>
                  <a:srgbClr val="99F6E4"/>
                </a:solidFill>
                <a:latin typeface="Calibri"/>
              </a:rPr>
              <a:t>UNIDAD IV · CLASE 1 DE 4</a:t>
            </a:r>
          </a:p>
          <a:p>
            <a:r>
              <a:rPr sz="4000" b="1" i="0">
                <a:solidFill>
                  <a:srgbClr val="FFFFFF"/>
                </a:solidFill>
                <a:latin typeface="Calibri"/>
              </a:rPr>
              <a:t>Diseño según Plataforma Móvil</a:t>
            </a:r>
          </a:p>
          <a:p>
            <a:pPr>
              <a:spcBef>
                <a:spcPts val="600"/>
              </a:spcBef>
            </a:pPr>
            <a:r>
              <a:rPr sz="2000" b="0" i="0">
                <a:solidFill>
                  <a:srgbClr val="CBD5E1"/>
                </a:solidFill>
                <a:latin typeface="Calibri"/>
              </a:rPr>
              <a:t>Un teléfono no es una PC chica</a:t>
            </a:r>
          </a:p>
          <a:p>
            <a:pPr>
              <a:spcBef>
                <a:spcPts val="600"/>
              </a:spcBef>
            </a:pPr>
            <a:r>
              <a:rPr sz="2000" b="0" i="0">
                <a:solidFill>
                  <a:srgbClr val="CBD5E1"/>
                </a:solidFill>
                <a:latin typeface="Calibri"/>
              </a:rPr>
              <a:t>Diseño según Plataformas de Juego · Ing. Elsa Daniela Ramírez · FI – UNJu · 2026</a:t>
            </a:r>
          </a:p>
        </p:txBody>
      </p:sp>
      <p:sp>
        <p:nvSpPr>
          <p:cNvPr id="4" name="TextBox 3"/>
          <p:cNvSpPr txBox="1"/>
          <p:nvPr/>
        </p:nvSpPr>
        <p:spPr>
          <a:xfrm>
            <a:off x="502920" y="6035040"/>
            <a:ext cx="11185855" cy="365760"/>
          </a:xfrm>
          <a:prstGeom prst="rect">
            <a:avLst/>
          </a:prstGeom>
          <a:noFill/>
        </p:spPr>
        <p:txBody>
          <a:bodyPr wrap="square" anchor="t" lIns="0" rIns="0" tIns="0" bIns="0">
            <a:spAutoFit/>
          </a:bodyPr>
          <a:lstStyle/>
          <a:p>
            <a:r>
              <a:rPr sz="1200" b="0" i="0">
                <a:solidFill>
                  <a:srgbClr val="CBD5E1"/>
                </a:solidFill>
                <a:latin typeface="Calibri"/>
              </a:rPr>
              <a:t>Unidad IV · Clase 1 · final (dada hasta la slide 15) · 1/74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APERTURA</a:t>
            </a:r>
          </a:p>
          <a:p>
            <a:r>
              <a:rPr sz="2600" b="1" i="0">
                <a:solidFill>
                  <a:srgbClr val="FFFFFF"/>
                </a:solidFill>
                <a:latin typeface="Calibri"/>
              </a:rPr>
              <a:t>El juego que anda… hasta que no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2/74</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¿Cuántos problemas distintos hay? ¿Alguno es un "bug"?</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En la PC del aula: perfecto</a:t>
            </a:r>
          </a:p>
          <a:p>
            <a:pPr>
              <a:spcAft>
                <a:spcPts val="800"/>
              </a:spcAft>
            </a:pPr>
            <a:r>
              <a:rPr sz="1600" b="1" i="0">
                <a:solidFill>
                  <a:srgbClr val="0D9488"/>
                </a:solidFill>
                <a:latin typeface="Calibri"/>
              </a:rPr>
              <a:t>■  </a:t>
            </a:r>
            <a:r>
              <a:rPr sz="2200" b="0" i="0">
                <a:solidFill>
                  <a:srgbClr val="1F2937"/>
                </a:solidFill>
                <a:latin typeface="Calibri"/>
              </a:rPr>
              <a:t>En el teléfono, a los 10 min: se traba</a:t>
            </a:r>
          </a:p>
          <a:p>
            <a:pPr>
              <a:spcAft>
                <a:spcPts val="800"/>
              </a:spcAft>
            </a:pPr>
            <a:r>
              <a:rPr sz="1600" b="1" i="0">
                <a:solidFill>
                  <a:srgbClr val="0D9488"/>
                </a:solidFill>
                <a:latin typeface="Calibri"/>
              </a:rPr>
              <a:t>■  </a:t>
            </a:r>
            <a:r>
              <a:rPr sz="2200" b="0" i="0">
                <a:solidFill>
                  <a:srgbClr val="1F2937"/>
                </a:solidFill>
                <a:latin typeface="Calibri"/>
              </a:rPr>
              <a:t>El teléfono quema</a:t>
            </a:r>
          </a:p>
          <a:p>
            <a:pPr>
              <a:spcAft>
                <a:spcPts val="800"/>
              </a:spcAft>
            </a:pPr>
            <a:r>
              <a:rPr sz="1600" b="1" i="0">
                <a:solidFill>
                  <a:srgbClr val="0D9488"/>
                </a:solidFill>
                <a:latin typeface="Calibri"/>
              </a:rPr>
              <a:t>■  </a:t>
            </a:r>
            <a:r>
              <a:rPr sz="2200" b="0" i="0">
                <a:solidFill>
                  <a:srgbClr val="1F2937"/>
                </a:solidFill>
                <a:latin typeface="Calibri"/>
              </a:rPr>
              <a:t>Llamada, volvés… y la nave explotó</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CONTINUIDAD [RECICLADO 28/09]</a:t>
            </a:r>
          </a:p>
          <a:p>
            <a:r>
              <a:rPr sz="2600" b="1" i="0">
                <a:solidFill>
                  <a:srgbClr val="FFFFFF"/>
                </a:solidFill>
                <a:latin typeface="Calibri"/>
              </a:rPr>
              <a:t>Lo que ya vimos el 28/09</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Clase 28/09/2026 — Clase2-Plataformas.pptx; código del proyecto (Ship.cs 61–73, versión original, commit e766f8c)</a:t>
            </a:r>
          </a:p>
        </p:txBody>
      </p:sp>
      <p:sp>
        <p:nvSpPr>
          <p:cNvPr id="9" name="Rounded Rectangle 8"/>
          <p:cNvSpPr/>
          <p:nvPr/>
        </p:nvSpPr>
        <p:spPr>
          <a:xfrm>
            <a:off x="6568135" y="1234440"/>
            <a:ext cx="5120640" cy="1191768"/>
          </a:xfrm>
          <a:prstGeom prst="roundRect">
            <a:avLst>
              <a:gd name="adj" fmla="val 12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51015" y="1325880"/>
            <a:ext cx="4754880" cy="365760"/>
          </a:xfrm>
          <a:prstGeom prst="rect">
            <a:avLst/>
          </a:prstGeom>
          <a:noFill/>
        </p:spPr>
        <p:txBody>
          <a:bodyPr wrap="square" anchor="t" lIns="0" rIns="0" tIns="0" bIns="0">
            <a:spAutoFit/>
          </a:bodyPr>
          <a:lstStyle/>
          <a:p>
            <a:r>
              <a:rPr sz="1500" b="1" i="0">
                <a:solidFill>
                  <a:srgbClr val="0D9488"/>
                </a:solidFill>
                <a:latin typeface="Calibri"/>
              </a:rPr>
              <a:t>DISPOSITIVO</a:t>
            </a:r>
          </a:p>
        </p:txBody>
      </p:sp>
      <p:sp>
        <p:nvSpPr>
          <p:cNvPr id="11" name="Rounded Rectangle 10"/>
          <p:cNvSpPr/>
          <p:nvPr/>
        </p:nvSpPr>
        <p:spPr>
          <a:xfrm>
            <a:off x="6751015" y="1786128"/>
            <a:ext cx="149352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Teclado</a:t>
            </a:r>
          </a:p>
        </p:txBody>
      </p:sp>
      <p:sp>
        <p:nvSpPr>
          <p:cNvPr id="12" name="Rounded Rectangle 11"/>
          <p:cNvSpPr/>
          <p:nvPr/>
        </p:nvSpPr>
        <p:spPr>
          <a:xfrm>
            <a:off x="8381695" y="1786128"/>
            <a:ext cx="149352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Táctil</a:t>
            </a:r>
          </a:p>
        </p:txBody>
      </p:sp>
      <p:sp>
        <p:nvSpPr>
          <p:cNvPr id="13" name="Rounded Rectangle 12"/>
          <p:cNvSpPr/>
          <p:nvPr/>
        </p:nvSpPr>
        <p:spPr>
          <a:xfrm>
            <a:off x="10012375" y="1786128"/>
            <a:ext cx="149352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Gamepad</a:t>
            </a:r>
          </a:p>
        </p:txBody>
      </p:sp>
      <p:sp>
        <p:nvSpPr>
          <p:cNvPr id="14" name="Down Arrow 13"/>
          <p:cNvSpPr/>
          <p:nvPr/>
        </p:nvSpPr>
        <p:spPr>
          <a:xfrm>
            <a:off x="8899855" y="2462784"/>
            <a:ext cx="457200" cy="310896"/>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68135" y="2810256"/>
            <a:ext cx="5120640" cy="1191768"/>
          </a:xfrm>
          <a:prstGeom prst="roundRect">
            <a:avLst>
              <a:gd name="adj" fmla="val 12000"/>
            </a:avLst>
          </a:prstGeom>
          <a:solidFill>
            <a:srgbClr val="F3F4F6"/>
          </a:solidFill>
          <a:ln w="254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51015" y="2901696"/>
            <a:ext cx="4754880" cy="365760"/>
          </a:xfrm>
          <a:prstGeom prst="rect">
            <a:avLst/>
          </a:prstGeom>
          <a:noFill/>
        </p:spPr>
        <p:txBody>
          <a:bodyPr wrap="square" anchor="t" lIns="0" rIns="0" tIns="0" bIns="0">
            <a:spAutoFit/>
          </a:bodyPr>
          <a:lstStyle/>
          <a:p>
            <a:r>
              <a:rPr sz="1500" b="1" i="0">
                <a:solidFill>
                  <a:srgbClr val="D97706"/>
                </a:solidFill>
                <a:latin typeface="Calibri"/>
              </a:rPr>
              <a:t>INTENCIÓN</a:t>
            </a:r>
          </a:p>
        </p:txBody>
      </p:sp>
      <p:sp>
        <p:nvSpPr>
          <p:cNvPr id="17" name="Rounded Rectangle 16"/>
          <p:cNvSpPr/>
          <p:nvPr/>
        </p:nvSpPr>
        <p:spPr>
          <a:xfrm>
            <a:off x="6751015" y="3361944"/>
            <a:ext cx="2308860" cy="50292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Mover</a:t>
            </a:r>
          </a:p>
        </p:txBody>
      </p:sp>
      <p:sp>
        <p:nvSpPr>
          <p:cNvPr id="18" name="Rounded Rectangle 17"/>
          <p:cNvSpPr/>
          <p:nvPr/>
        </p:nvSpPr>
        <p:spPr>
          <a:xfrm>
            <a:off x="9197035" y="3361944"/>
            <a:ext cx="2308860" cy="50292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Disparar</a:t>
            </a:r>
          </a:p>
        </p:txBody>
      </p:sp>
      <p:sp>
        <p:nvSpPr>
          <p:cNvPr id="19" name="Down Arrow 18"/>
          <p:cNvSpPr/>
          <p:nvPr/>
        </p:nvSpPr>
        <p:spPr>
          <a:xfrm>
            <a:off x="8899855" y="4038600"/>
            <a:ext cx="457200" cy="310896"/>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568135" y="4386072"/>
            <a:ext cx="5120640" cy="1191768"/>
          </a:xfrm>
          <a:prstGeom prst="roundRect">
            <a:avLst>
              <a:gd name="adj" fmla="val 12000"/>
            </a:avLst>
          </a:prstGeom>
          <a:solidFill>
            <a:srgbClr val="F3F4F6"/>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51015" y="4477512"/>
            <a:ext cx="4754880" cy="365760"/>
          </a:xfrm>
          <a:prstGeom prst="rect">
            <a:avLst/>
          </a:prstGeom>
          <a:noFill/>
        </p:spPr>
        <p:txBody>
          <a:bodyPr wrap="square" anchor="t" lIns="0" rIns="0" tIns="0" bIns="0">
            <a:spAutoFit/>
          </a:bodyPr>
          <a:lstStyle/>
          <a:p>
            <a:r>
              <a:rPr sz="1500" b="1" i="0">
                <a:solidFill>
                  <a:srgbClr val="1F2A44"/>
                </a:solidFill>
                <a:latin typeface="Calibri"/>
              </a:rPr>
              <a:t>NAVE</a:t>
            </a:r>
          </a:p>
        </p:txBody>
      </p:sp>
      <p:sp>
        <p:nvSpPr>
          <p:cNvPr id="22" name="Rounded Rectangle 21"/>
          <p:cNvSpPr/>
          <p:nvPr/>
        </p:nvSpPr>
        <p:spPr>
          <a:xfrm>
            <a:off x="6751015" y="4937760"/>
            <a:ext cx="149352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Movimiento</a:t>
            </a:r>
          </a:p>
        </p:txBody>
      </p:sp>
      <p:sp>
        <p:nvSpPr>
          <p:cNvPr id="23" name="Rounded Rectangle 22"/>
          <p:cNvSpPr/>
          <p:nvPr/>
        </p:nvSpPr>
        <p:spPr>
          <a:xfrm>
            <a:off x="8381695" y="4937760"/>
            <a:ext cx="149352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Disparo</a:t>
            </a:r>
          </a:p>
        </p:txBody>
      </p:sp>
      <p:sp>
        <p:nvSpPr>
          <p:cNvPr id="24" name="Rounded Rectangle 23"/>
          <p:cNvSpPr/>
          <p:nvPr/>
        </p:nvSpPr>
        <p:spPr>
          <a:xfrm>
            <a:off x="10012375" y="4937760"/>
            <a:ext cx="149352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Límites</a:t>
            </a:r>
          </a:p>
        </p:txBody>
      </p:sp>
      <p:sp>
        <p:nvSpPr>
          <p:cNvPr id="25" name="TextBox 24"/>
          <p:cNvSpPr txBox="1"/>
          <p:nvPr/>
        </p:nvSpPr>
        <p:spPr>
          <a:xfrm>
            <a:off x="6568135" y="5669280"/>
            <a:ext cx="5120640" cy="320040"/>
          </a:xfrm>
          <a:prstGeom prst="rect">
            <a:avLst/>
          </a:prstGeom>
          <a:noFill/>
        </p:spPr>
        <p:txBody>
          <a:bodyPr wrap="square" anchor="ctr" lIns="0" rIns="0" tIns="0" bIns="0">
            <a:spAutoFit/>
          </a:bodyPr>
          <a:lstStyle/>
          <a:p>
            <a:pPr algn="ctr"/>
            <a:r>
              <a:rPr sz="1300" b="0" i="1">
                <a:solidFill>
                  <a:srgbClr val="DC2626"/>
                </a:solidFill>
                <a:latin typeface="Calibri"/>
              </a:rPr>
              <a:t>Hoy Ship.cs lee el teclado directo: falta la capa del medio</a:t>
            </a:r>
          </a:p>
        </p:txBody>
      </p:sp>
      <p:sp>
        <p:nvSpPr>
          <p:cNvPr id="26" name="TextBox 25"/>
          <p:cNvSpPr txBox="1"/>
          <p:nvPr/>
        </p:nvSpPr>
        <p:spPr>
          <a:xfrm>
            <a:off x="502920" y="1234440"/>
            <a:ext cx="5790895" cy="4754880"/>
          </a:xfrm>
          <a:prstGeom prst="rect">
            <a:avLst/>
          </a:prstGeom>
          <a:noFill/>
        </p:spPr>
        <p:txBody>
          <a:bodyPr wrap="square" anchor="t" lIns="0" rIns="0" tIns="0" bIns="0">
            <a:spAutoFit/>
          </a:bodyPr>
          <a:lstStyle/>
          <a:p>
            <a:pPr>
              <a:spcAft>
                <a:spcPts val="800"/>
              </a:spcAft>
            </a:pPr>
            <a:r>
              <a:rPr sz="1400" b="1" i="0">
                <a:solidFill>
                  <a:srgbClr val="0D9488"/>
                </a:solidFill>
                <a:latin typeface="Calibri"/>
              </a:rPr>
              <a:t>■  </a:t>
            </a:r>
            <a:r>
              <a:rPr sz="2000" b="0" i="0">
                <a:solidFill>
                  <a:srgbClr val="1F2937"/>
                </a:solidFill>
                <a:latin typeface="Calibri"/>
              </a:rPr>
              <a:t>Táctil sin botón físico</a:t>
            </a:r>
          </a:p>
          <a:p>
            <a:pPr>
              <a:spcAft>
                <a:spcPts val="800"/>
              </a:spcAft>
            </a:pPr>
            <a:r>
              <a:rPr sz="1400" b="1" i="0">
                <a:solidFill>
                  <a:srgbClr val="0D9488"/>
                </a:solidFill>
                <a:latin typeface="Calibri"/>
              </a:rPr>
              <a:t>■  </a:t>
            </a:r>
            <a:r>
              <a:rPr sz="2000" b="0" i="0">
                <a:solidFill>
                  <a:srgbClr val="1F2937"/>
                </a:solidFill>
                <a:latin typeface="Calibri"/>
              </a:rPr>
              <a:t>Pantallas y zonas seguras</a:t>
            </a:r>
          </a:p>
          <a:p>
            <a:pPr>
              <a:spcAft>
                <a:spcPts val="800"/>
              </a:spcAft>
            </a:pPr>
            <a:r>
              <a:rPr sz="1400" b="1" i="0">
                <a:solidFill>
                  <a:srgbClr val="0D9488"/>
                </a:solidFill>
                <a:latin typeface="Calibri"/>
              </a:rPr>
              <a:t>■  </a:t>
            </a:r>
            <a:r>
              <a:rPr sz="2000" b="0" i="0">
                <a:solidFill>
                  <a:srgbClr val="1F2937"/>
                </a:solidFill>
                <a:latin typeface="Calibri"/>
              </a:rPr>
              <a:t>Batería y temperatura</a:t>
            </a:r>
          </a:p>
          <a:p>
            <a:pPr>
              <a:spcAft>
                <a:spcPts val="800"/>
              </a:spcAft>
            </a:pPr>
            <a:r>
              <a:rPr sz="1400" b="1" i="0">
                <a:solidFill>
                  <a:srgbClr val="0D9488"/>
                </a:solidFill>
                <a:latin typeface="Calibri"/>
              </a:rPr>
              <a:t>■  </a:t>
            </a:r>
            <a:r>
              <a:rPr sz="2000" b="0" i="0">
                <a:solidFill>
                  <a:srgbClr val="1F2937"/>
                </a:solidFill>
                <a:latin typeface="Calibri"/>
              </a:rPr>
              <a:t>Interrupciones del sistema</a:t>
            </a:r>
          </a:p>
          <a:p>
            <a:pPr>
              <a:spcAft>
                <a:spcPts val="800"/>
              </a:spcAft>
            </a:pPr>
            <a:r>
              <a:rPr sz="1400" b="1" i="0">
                <a:solidFill>
                  <a:srgbClr val="0D9488"/>
                </a:solidFill>
                <a:latin typeface="Calibri"/>
              </a:rPr>
              <a:t>■  </a:t>
            </a:r>
            <a:r>
              <a:rPr sz="2000" b="0" i="0">
                <a:solidFill>
                  <a:srgbClr val="1F2937"/>
                </a:solidFill>
                <a:latin typeface="Calibri"/>
              </a:rPr>
              <a:t>Intención ≠ dispositivo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OBJETIVOS</a:t>
            </a:r>
          </a:p>
          <a:p>
            <a:r>
              <a:rPr sz="2600" b="1" i="0">
                <a:solidFill>
                  <a:srgbClr val="FFFFFF"/>
                </a:solidFill>
                <a:latin typeface="Calibri"/>
              </a:rPr>
              <a:t>Al terminar la unidad podrán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4/74</a:t>
            </a:r>
          </a:p>
        </p:txBody>
      </p:sp>
      <p:sp>
        <p:nvSpPr>
          <p:cNvPr id="8" name="TextBox 7"/>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400" b="1" i="0">
                <a:solidFill>
                  <a:srgbClr val="0D9488"/>
                </a:solidFill>
                <a:latin typeface="Calibri"/>
              </a:rPr>
              <a:t>■  </a:t>
            </a:r>
            <a:r>
              <a:rPr sz="2000" b="0" i="0">
                <a:solidFill>
                  <a:srgbClr val="1F2937"/>
                </a:solidFill>
                <a:latin typeface="Calibri"/>
              </a:rPr>
              <a:t>Explicar las restricciones del móvil</a:t>
            </a:r>
          </a:p>
          <a:p>
            <a:pPr>
              <a:spcAft>
                <a:spcPts val="800"/>
              </a:spcAft>
            </a:pPr>
            <a:r>
              <a:rPr sz="1400" b="1" i="0">
                <a:solidFill>
                  <a:srgbClr val="0D9488"/>
                </a:solidFill>
                <a:latin typeface="Calibri"/>
              </a:rPr>
              <a:t>■  </a:t>
            </a:r>
            <a:r>
              <a:rPr sz="2000" b="0" i="0">
                <a:solidFill>
                  <a:srgbClr val="1F2937"/>
                </a:solidFill>
                <a:latin typeface="Calibri"/>
              </a:rPr>
              <a:t>Detectar supuestos de PC en un juego</a:t>
            </a:r>
          </a:p>
          <a:p>
            <a:pPr>
              <a:spcAft>
                <a:spcPts val="800"/>
              </a:spcAft>
            </a:pPr>
            <a:r>
              <a:rPr sz="1400" b="1" i="0">
                <a:solidFill>
                  <a:srgbClr val="0D9488"/>
                </a:solidFill>
                <a:latin typeface="Calibri"/>
              </a:rPr>
              <a:t>■  </a:t>
            </a:r>
            <a:r>
              <a:rPr sz="2000" b="0" i="0">
                <a:solidFill>
                  <a:srgbClr val="1F2937"/>
                </a:solidFill>
                <a:latin typeface="Calibri"/>
              </a:rPr>
              <a:t>Diseñar controles táctiles medibles</a:t>
            </a:r>
          </a:p>
          <a:p>
            <a:pPr>
              <a:spcAft>
                <a:spcPts val="800"/>
              </a:spcAft>
            </a:pPr>
            <a:r>
              <a:rPr sz="1400" b="1" i="0">
                <a:solidFill>
                  <a:srgbClr val="0D9488"/>
                </a:solidFill>
                <a:latin typeface="Calibri"/>
              </a:rPr>
              <a:t>■  </a:t>
            </a:r>
            <a:r>
              <a:rPr sz="2000" b="0" i="0">
                <a:solidFill>
                  <a:srgbClr val="1F2937"/>
                </a:solidFill>
                <a:latin typeface="Calibri"/>
              </a:rPr>
              <a:t>Defender un modelo de monetización</a:t>
            </a:r>
          </a:p>
          <a:p>
            <a:pPr>
              <a:spcAft>
                <a:spcPts val="800"/>
              </a:spcAft>
            </a:pPr>
            <a:r>
              <a:rPr sz="1400" b="1" i="0">
                <a:solidFill>
                  <a:srgbClr val="0D9488"/>
                </a:solidFill>
                <a:latin typeface="Calibri"/>
              </a:rPr>
              <a:t>■  </a:t>
            </a:r>
            <a:r>
              <a:rPr sz="2000" b="0" i="0">
                <a:solidFill>
                  <a:srgbClr val="1F2937"/>
                </a:solidFill>
                <a:latin typeface="Calibri"/>
              </a:rPr>
              <a:t>Decidir qué probar y dónde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CONCEPTO</a:t>
            </a:r>
          </a:p>
          <a:p>
            <a:r>
              <a:rPr sz="2600" b="1" i="0">
                <a:solidFill>
                  <a:srgbClr val="FFFFFF"/>
                </a:solidFill>
                <a:latin typeface="Calibri"/>
              </a:rPr>
              <a:t>¿Qué es una plataforma?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Kevuru Games, "What Are the Best Platforms for Games?" (blog comercial, sin fecha visible; consultado 2026-10-05)</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¿Cuál de estas capas cambia más el diseño del juego?</a:t>
            </a:r>
          </a:p>
        </p:txBody>
      </p:sp>
      <p:graphicFrame>
        <p:nvGraphicFramePr>
          <p:cNvPr id="11" name="Table 10"/>
          <p:cNvGraphicFramePr>
            <a:graphicFrameLocks noGrp="1"/>
          </p:cNvGraphicFramePr>
          <p:nvPr/>
        </p:nvGraphicFramePr>
        <p:xfrm>
          <a:off x="502920" y="1234440"/>
          <a:ext cx="11185853" cy="2834640"/>
        </p:xfrm>
        <a:graphic>
          <a:graphicData uri="http://schemas.openxmlformats.org/drawingml/2006/table">
            <a:tbl>
              <a:tblPr firstRow="1" bandRow="1">
                <a:tableStyleId>{5C22544A-7EE6-4342-B048-85BDC9FD1C3A}</a:tableStyleId>
              </a:tblPr>
              <a:tblGrid>
                <a:gridCol w="3329123"/>
                <a:gridCol w="3195958"/>
                <a:gridCol w="4660772"/>
              </a:tblGrid>
              <a:tr h="566928">
                <a:tc>
                  <a:txBody>
                    <a:bodyPr wrap="square"/>
                    <a:lstStyle/>
                    <a:p>
                      <a:r>
                        <a:rPr sz="1400" b="1" i="0">
                          <a:solidFill>
                            <a:srgbClr val="FFFFFF"/>
                          </a:solidFill>
                          <a:latin typeface="Calibri"/>
                        </a:rPr>
                        <a:t>Capa</a:t>
                      </a:r>
                    </a:p>
                  </a:txBody>
                  <a:tcPr marL="73152" marR="73152" marT="36576" marB="36576" anchor="ctr">
                    <a:solidFill>
                      <a:srgbClr val="0D9488"/>
                    </a:solidFill>
                  </a:tcPr>
                </a:tc>
                <a:tc>
                  <a:txBody>
                    <a:bodyPr wrap="square"/>
                    <a:lstStyle/>
                    <a:p>
                      <a:r>
                        <a:rPr sz="1400" b="1" i="0">
                          <a:solidFill>
                            <a:srgbClr val="FFFFFF"/>
                          </a:solidFill>
                          <a:latin typeface="Calibri"/>
                        </a:rPr>
                        <a:t>Pregunta</a:t>
                      </a:r>
                    </a:p>
                  </a:txBody>
                  <a:tcPr marL="73152" marR="73152" marT="36576" marB="36576" anchor="ctr">
                    <a:solidFill>
                      <a:srgbClr val="0D9488"/>
                    </a:solidFill>
                  </a:tcPr>
                </a:tc>
                <a:tc>
                  <a:txBody>
                    <a:bodyPr wrap="square"/>
                    <a:lstStyle/>
                    <a:p>
                      <a:r>
                        <a:rPr sz="1400" b="1" i="0">
                          <a:solidFill>
                            <a:srgbClr val="FFFFFF"/>
                          </a:solidFill>
                          <a:latin typeface="Calibri"/>
                        </a:rPr>
                        <a:t>Ejemplos</a:t>
                      </a:r>
                    </a:p>
                  </a:txBody>
                  <a:tcPr marL="73152" marR="73152" marT="36576" marB="36576" anchor="ctr">
                    <a:solidFill>
                      <a:srgbClr val="0D9488"/>
                    </a:solidFill>
                  </a:tcPr>
                </a:tc>
              </a:tr>
              <a:tr h="566928">
                <a:tc>
                  <a:txBody>
                    <a:bodyPr wrap="square"/>
                    <a:lstStyle/>
                    <a:p>
                      <a:r>
                        <a:rPr sz="1400" b="0" i="0">
                          <a:solidFill>
                            <a:srgbClr val="1F2937"/>
                          </a:solidFill>
                          <a:latin typeface="Calibri"/>
                        </a:rPr>
                        <a:t>Ejecución</a:t>
                      </a:r>
                    </a:p>
                  </a:txBody>
                  <a:tcPr marL="73152" marR="73152" marT="36576" marB="36576" anchor="ctr">
                    <a:solidFill>
                      <a:srgbClr val="FFFFFF"/>
                    </a:solidFill>
                  </a:tcPr>
                </a:tc>
                <a:tc>
                  <a:txBody>
                    <a:bodyPr wrap="square"/>
                    <a:lstStyle/>
                    <a:p>
                      <a:r>
                        <a:rPr sz="1400" b="0" i="0">
                          <a:solidFill>
                            <a:srgbClr val="1F2937"/>
                          </a:solidFill>
                          <a:latin typeface="Calibri"/>
                        </a:rPr>
                        <a:t>¿Dónde corre?</a:t>
                      </a:r>
                    </a:p>
                  </a:txBody>
                  <a:tcPr marL="73152" marR="73152" marT="36576" marB="36576" anchor="ctr">
                    <a:solidFill>
                      <a:srgbClr val="FFFFFF"/>
                    </a:solidFill>
                  </a:tcPr>
                </a:tc>
                <a:tc>
                  <a:txBody>
                    <a:bodyPr wrap="square"/>
                    <a:lstStyle/>
                    <a:p>
                      <a:r>
                        <a:rPr sz="1400" b="0" i="0">
                          <a:solidFill>
                            <a:srgbClr val="1F2937"/>
                          </a:solidFill>
                          <a:latin typeface="Calibri"/>
                        </a:rPr>
                        <a:t>Teléfono, consola, PC</a:t>
                      </a:r>
                    </a:p>
                  </a:txBody>
                  <a:tcPr marL="73152" marR="73152" marT="36576" marB="36576" anchor="ctr">
                    <a:solidFill>
                      <a:srgbClr val="FFFFFF"/>
                    </a:solidFill>
                  </a:tcPr>
                </a:tc>
              </a:tr>
              <a:tr h="566928">
                <a:tc>
                  <a:txBody>
                    <a:bodyPr wrap="square"/>
                    <a:lstStyle/>
                    <a:p>
                      <a:r>
                        <a:rPr sz="1400" b="0" i="0">
                          <a:solidFill>
                            <a:srgbClr val="1F2937"/>
                          </a:solidFill>
                          <a:latin typeface="Calibri"/>
                        </a:rPr>
                        <a:t>Distribución</a:t>
                      </a:r>
                    </a:p>
                  </a:txBody>
                  <a:tcPr marL="73152" marR="73152" marT="36576" marB="36576" anchor="ctr">
                    <a:solidFill>
                      <a:srgbClr val="E6F4F2"/>
                    </a:solidFill>
                  </a:tcPr>
                </a:tc>
                <a:tc>
                  <a:txBody>
                    <a:bodyPr wrap="square"/>
                    <a:lstStyle/>
                    <a:p>
                      <a:r>
                        <a:rPr sz="1400" b="0" i="0">
                          <a:solidFill>
                            <a:srgbClr val="1F2937"/>
                          </a:solidFill>
                          <a:latin typeface="Calibri"/>
                        </a:rPr>
                        <a:t>¿Cómo llega?</a:t>
                      </a:r>
                    </a:p>
                  </a:txBody>
                  <a:tcPr marL="73152" marR="73152" marT="36576" marB="36576" anchor="ctr">
                    <a:solidFill>
                      <a:srgbClr val="E6F4F2"/>
                    </a:solidFill>
                  </a:tcPr>
                </a:tc>
                <a:tc>
                  <a:txBody>
                    <a:bodyPr wrap="square"/>
                    <a:lstStyle/>
                    <a:p>
                      <a:r>
                        <a:rPr sz="1400" b="0" i="0">
                          <a:solidFill>
                            <a:srgbClr val="1F2937"/>
                          </a:solidFill>
                          <a:latin typeface="Calibri"/>
                        </a:rPr>
                        <a:t>Google Play, App Store, Steam</a:t>
                      </a:r>
                    </a:p>
                  </a:txBody>
                  <a:tcPr marL="73152" marR="73152" marT="36576" marB="36576" anchor="ctr">
                    <a:solidFill>
                      <a:srgbClr val="E6F4F2"/>
                    </a:solidFill>
                  </a:tcPr>
                </a:tc>
              </a:tr>
              <a:tr h="566928">
                <a:tc>
                  <a:txBody>
                    <a:bodyPr wrap="square"/>
                    <a:lstStyle/>
                    <a:p>
                      <a:r>
                        <a:rPr sz="1400" b="0" i="0">
                          <a:solidFill>
                            <a:srgbClr val="1F2937"/>
                          </a:solidFill>
                          <a:latin typeface="Calibri"/>
                        </a:rPr>
                        <a:t>Servicio en la nube</a:t>
                      </a:r>
                    </a:p>
                  </a:txBody>
                  <a:tcPr marL="73152" marR="73152" marT="36576" marB="36576" anchor="ctr">
                    <a:solidFill>
                      <a:srgbClr val="FFFFFF"/>
                    </a:solidFill>
                  </a:tcPr>
                </a:tc>
                <a:tc>
                  <a:txBody>
                    <a:bodyPr wrap="square"/>
                    <a:lstStyle/>
                    <a:p>
                      <a:r>
                        <a:rPr sz="1400" b="0" i="0">
                          <a:solidFill>
                            <a:srgbClr val="1F2937"/>
                          </a:solidFill>
                          <a:latin typeface="Calibri"/>
                        </a:rPr>
                        <a:t>¿Dónde se procesa?</a:t>
                      </a:r>
                    </a:p>
                  </a:txBody>
                  <a:tcPr marL="73152" marR="73152" marT="36576" marB="36576" anchor="ctr">
                    <a:solidFill>
                      <a:srgbClr val="FFFFFF"/>
                    </a:solidFill>
                  </a:tcPr>
                </a:tc>
                <a:tc>
                  <a:txBody>
                    <a:bodyPr wrap="square"/>
                    <a:lstStyle/>
                    <a:p>
                      <a:r>
                        <a:rPr sz="1400" b="0" i="0">
                          <a:solidFill>
                            <a:srgbClr val="1F2937"/>
                          </a:solidFill>
                          <a:latin typeface="Calibri"/>
                        </a:rPr>
                        <a:t>GeForce Now</a:t>
                      </a:r>
                    </a:p>
                  </a:txBody>
                  <a:tcPr marL="73152" marR="73152" marT="36576" marB="36576" anchor="ctr">
                    <a:solidFill>
                      <a:srgbClr val="FFFFFF"/>
                    </a:solidFill>
                  </a:tcPr>
                </a:tc>
              </a:tr>
              <a:tr h="566928">
                <a:tc>
                  <a:txBody>
                    <a:bodyPr wrap="square"/>
                    <a:lstStyle/>
                    <a:p>
                      <a:r>
                        <a:rPr sz="1400" b="0" i="0">
                          <a:solidFill>
                            <a:srgbClr val="1F2937"/>
                          </a:solidFill>
                          <a:latin typeface="Calibri"/>
                        </a:rPr>
                        <a:t>Comunidad</a:t>
                      </a:r>
                    </a:p>
                  </a:txBody>
                  <a:tcPr marL="73152" marR="73152" marT="36576" marB="36576" anchor="ctr">
                    <a:solidFill>
                      <a:srgbClr val="E6F4F2"/>
                    </a:solidFill>
                  </a:tcPr>
                </a:tc>
                <a:tc>
                  <a:txBody>
                    <a:bodyPr wrap="square"/>
                    <a:lstStyle/>
                    <a:p>
                      <a:r>
                        <a:rPr sz="1400" b="0" i="0">
                          <a:solidFill>
                            <a:srgbClr val="1F2937"/>
                          </a:solidFill>
                          <a:latin typeface="Calibri"/>
                        </a:rPr>
                        <a:t>¿Dónde se mira?</a:t>
                      </a:r>
                    </a:p>
                  </a:txBody>
                  <a:tcPr marL="73152" marR="73152" marT="36576" marB="36576" anchor="ctr">
                    <a:solidFill>
                      <a:srgbClr val="E6F4F2"/>
                    </a:solidFill>
                  </a:tcPr>
                </a:tc>
                <a:tc>
                  <a:txBody>
                    <a:bodyPr wrap="square"/>
                    <a:lstStyle/>
                    <a:p>
                      <a:r>
                        <a:rPr sz="1400" b="0" i="0">
                          <a:solidFill>
                            <a:srgbClr val="1F2937"/>
                          </a:solidFill>
                          <a:latin typeface="Calibri"/>
                        </a:rPr>
                        <a:t>Twitch, YouTube</a:t>
                      </a:r>
                    </a:p>
                  </a:txBody>
                  <a:tcPr marL="73152" marR="73152" marT="36576" marB="36576" anchor="ctr">
                    <a:solidFill>
                      <a:srgbClr val="E6F4F2"/>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CONTEXTO HISTÓRICO</a:t>
            </a:r>
          </a:p>
          <a:p>
            <a:r>
              <a:rPr sz="2600" b="1" i="0">
                <a:solidFill>
                  <a:srgbClr val="FFFFFF"/>
                </a:solidFill>
                <a:latin typeface="Calibri"/>
              </a:rPr>
              <a:t>De los arcades al bolsillo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Kevuru Games (blog); Apple Newsroom (App Store, 10/07/2008); lanzamientos de Oculus Rift (28/03/2016) y GeForce Now (04/02/2020)</a:t>
            </a:r>
          </a:p>
        </p:txBody>
      </p:sp>
      <p:sp>
        <p:nvSpPr>
          <p:cNvPr id="9" name="Rectangle 8"/>
          <p:cNvSpPr/>
          <p:nvPr/>
        </p:nvSpPr>
        <p:spPr>
          <a:xfrm>
            <a:off x="7071055" y="1234440"/>
            <a:ext cx="12700" cy="40690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05295" y="5349240"/>
            <a:ext cx="731520" cy="274320"/>
          </a:xfrm>
          <a:prstGeom prst="rect">
            <a:avLst/>
          </a:prstGeom>
          <a:noFill/>
        </p:spPr>
        <p:txBody>
          <a:bodyPr wrap="square" anchor="t" lIns="0" rIns="0" tIns="0" bIns="0">
            <a:spAutoFit/>
          </a:bodyPr>
          <a:lstStyle/>
          <a:p>
            <a:pPr algn="ctr"/>
            <a:r>
              <a:rPr sz="1100" b="0" i="0">
                <a:solidFill>
                  <a:srgbClr val="6B7280"/>
                </a:solidFill>
                <a:latin typeface="Calibri"/>
              </a:rPr>
              <a:t>1970</a:t>
            </a:r>
          </a:p>
        </p:txBody>
      </p:sp>
      <p:sp>
        <p:nvSpPr>
          <p:cNvPr id="11" name="Rectangle 10"/>
          <p:cNvSpPr/>
          <p:nvPr/>
        </p:nvSpPr>
        <p:spPr>
          <a:xfrm>
            <a:off x="7879319" y="1234440"/>
            <a:ext cx="12700" cy="40690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13559" y="5349240"/>
            <a:ext cx="731520" cy="274320"/>
          </a:xfrm>
          <a:prstGeom prst="rect">
            <a:avLst/>
          </a:prstGeom>
          <a:noFill/>
        </p:spPr>
        <p:txBody>
          <a:bodyPr wrap="square" anchor="t" lIns="0" rIns="0" tIns="0" bIns="0">
            <a:spAutoFit/>
          </a:bodyPr>
          <a:lstStyle/>
          <a:p>
            <a:pPr algn="ctr"/>
            <a:r>
              <a:rPr sz="1100" b="0" i="0">
                <a:solidFill>
                  <a:srgbClr val="6B7280"/>
                </a:solidFill>
                <a:latin typeface="Calibri"/>
              </a:rPr>
              <a:t>1980</a:t>
            </a:r>
          </a:p>
        </p:txBody>
      </p:sp>
      <p:sp>
        <p:nvSpPr>
          <p:cNvPr id="13" name="Rectangle 12"/>
          <p:cNvSpPr/>
          <p:nvPr/>
        </p:nvSpPr>
        <p:spPr>
          <a:xfrm>
            <a:off x="8687583" y="1234440"/>
            <a:ext cx="12700" cy="40690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823" y="5349240"/>
            <a:ext cx="731520" cy="274320"/>
          </a:xfrm>
          <a:prstGeom prst="rect">
            <a:avLst/>
          </a:prstGeom>
          <a:noFill/>
        </p:spPr>
        <p:txBody>
          <a:bodyPr wrap="square" anchor="t" lIns="0" rIns="0" tIns="0" bIns="0">
            <a:spAutoFit/>
          </a:bodyPr>
          <a:lstStyle/>
          <a:p>
            <a:pPr algn="ctr"/>
            <a:r>
              <a:rPr sz="1100" b="0" i="0">
                <a:solidFill>
                  <a:srgbClr val="6B7280"/>
                </a:solidFill>
                <a:latin typeface="Calibri"/>
              </a:rPr>
              <a:t>1990</a:t>
            </a:r>
          </a:p>
        </p:txBody>
      </p:sp>
      <p:sp>
        <p:nvSpPr>
          <p:cNvPr id="15" name="Rectangle 14"/>
          <p:cNvSpPr/>
          <p:nvPr/>
        </p:nvSpPr>
        <p:spPr>
          <a:xfrm>
            <a:off x="9495847" y="1234440"/>
            <a:ext cx="12700" cy="40690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30087" y="5349240"/>
            <a:ext cx="731520" cy="274320"/>
          </a:xfrm>
          <a:prstGeom prst="rect">
            <a:avLst/>
          </a:prstGeom>
          <a:noFill/>
        </p:spPr>
        <p:txBody>
          <a:bodyPr wrap="square" anchor="t" lIns="0" rIns="0" tIns="0" bIns="0">
            <a:spAutoFit/>
          </a:bodyPr>
          <a:lstStyle/>
          <a:p>
            <a:pPr algn="ctr"/>
            <a:r>
              <a:rPr sz="1100" b="0" i="0">
                <a:solidFill>
                  <a:srgbClr val="6B7280"/>
                </a:solidFill>
                <a:latin typeface="Calibri"/>
              </a:rPr>
              <a:t>2000</a:t>
            </a:r>
          </a:p>
        </p:txBody>
      </p:sp>
      <p:sp>
        <p:nvSpPr>
          <p:cNvPr id="17" name="Rectangle 16"/>
          <p:cNvSpPr/>
          <p:nvPr/>
        </p:nvSpPr>
        <p:spPr>
          <a:xfrm>
            <a:off x="10304112" y="1234440"/>
            <a:ext cx="12700" cy="40690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38352" y="5349240"/>
            <a:ext cx="731520" cy="274320"/>
          </a:xfrm>
          <a:prstGeom prst="rect">
            <a:avLst/>
          </a:prstGeom>
          <a:noFill/>
        </p:spPr>
        <p:txBody>
          <a:bodyPr wrap="square" anchor="t" lIns="0" rIns="0" tIns="0" bIns="0">
            <a:spAutoFit/>
          </a:bodyPr>
          <a:lstStyle/>
          <a:p>
            <a:pPr algn="ctr"/>
            <a:r>
              <a:rPr sz="1100" b="0" i="0">
                <a:solidFill>
                  <a:srgbClr val="6B7280"/>
                </a:solidFill>
                <a:latin typeface="Calibri"/>
              </a:rPr>
              <a:t>2010</a:t>
            </a:r>
          </a:p>
        </p:txBody>
      </p:sp>
      <p:sp>
        <p:nvSpPr>
          <p:cNvPr id="19" name="Rectangle 18"/>
          <p:cNvSpPr/>
          <p:nvPr/>
        </p:nvSpPr>
        <p:spPr>
          <a:xfrm>
            <a:off x="11112376" y="1234440"/>
            <a:ext cx="12700" cy="40690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746616" y="5349240"/>
            <a:ext cx="731520" cy="274320"/>
          </a:xfrm>
          <a:prstGeom prst="rect">
            <a:avLst/>
          </a:prstGeom>
          <a:noFill/>
        </p:spPr>
        <p:txBody>
          <a:bodyPr wrap="square" anchor="t" lIns="0" rIns="0" tIns="0" bIns="0">
            <a:spAutoFit/>
          </a:bodyPr>
          <a:lstStyle/>
          <a:p>
            <a:pPr algn="ctr"/>
            <a:r>
              <a:rPr sz="1100" b="0" i="0">
                <a:solidFill>
                  <a:srgbClr val="6B7280"/>
                </a:solidFill>
                <a:latin typeface="Calibri"/>
              </a:rPr>
              <a:t>2020</a:t>
            </a:r>
          </a:p>
        </p:txBody>
      </p:sp>
      <p:sp>
        <p:nvSpPr>
          <p:cNvPr id="21" name="TextBox 20"/>
          <p:cNvSpPr txBox="1"/>
          <p:nvPr/>
        </p:nvSpPr>
        <p:spPr>
          <a:xfrm>
            <a:off x="4922215" y="1272540"/>
            <a:ext cx="2011680" cy="505097"/>
          </a:xfrm>
          <a:prstGeom prst="rect">
            <a:avLst/>
          </a:prstGeom>
          <a:noFill/>
        </p:spPr>
        <p:txBody>
          <a:bodyPr wrap="square" anchor="ctr" lIns="0" rIns="0" tIns="0" bIns="0">
            <a:spAutoFit/>
          </a:bodyPr>
          <a:lstStyle/>
          <a:p>
            <a:pPr algn="r"/>
            <a:r>
              <a:rPr sz="1400" b="0" i="0">
                <a:solidFill>
                  <a:srgbClr val="1F2937"/>
                </a:solidFill>
                <a:latin typeface="Calibri"/>
              </a:rPr>
              <a:t>Arcade · Pong</a:t>
            </a:r>
          </a:p>
        </p:txBody>
      </p:sp>
      <p:sp>
        <p:nvSpPr>
          <p:cNvPr id="22" name="Rounded Rectangle 21"/>
          <p:cNvSpPr/>
          <p:nvPr/>
        </p:nvSpPr>
        <p:spPr>
          <a:xfrm>
            <a:off x="7232707" y="1272540"/>
            <a:ext cx="4364628" cy="505097"/>
          </a:xfrm>
          <a:prstGeom prst="roundRect">
            <a:avLst>
              <a:gd name="adj" fmla="val 15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a:lstStyle/>
          <a:p>
            <a:pPr algn="l"/>
            <a:r>
              <a:rPr sz="1300" b="1" i="0">
                <a:solidFill>
                  <a:srgbClr val="FFFFFF"/>
                </a:solidFill>
                <a:latin typeface="Calibri"/>
              </a:rPr>
              <a:t>1972</a:t>
            </a:r>
          </a:p>
        </p:txBody>
      </p:sp>
      <p:sp>
        <p:nvSpPr>
          <p:cNvPr id="23" name="TextBox 22"/>
          <p:cNvSpPr txBox="1"/>
          <p:nvPr/>
        </p:nvSpPr>
        <p:spPr>
          <a:xfrm>
            <a:off x="4922215" y="1853837"/>
            <a:ext cx="2011680" cy="505097"/>
          </a:xfrm>
          <a:prstGeom prst="rect">
            <a:avLst/>
          </a:prstGeom>
          <a:noFill/>
        </p:spPr>
        <p:txBody>
          <a:bodyPr wrap="square" anchor="ctr" lIns="0" rIns="0" tIns="0" bIns="0">
            <a:spAutoFit/>
          </a:bodyPr>
          <a:lstStyle/>
          <a:p>
            <a:pPr algn="r"/>
            <a:r>
              <a:rPr sz="1400" b="0" i="0">
                <a:solidFill>
                  <a:srgbClr val="1F2937"/>
                </a:solidFill>
                <a:latin typeface="Calibri"/>
              </a:rPr>
              <a:t>Consola · Atari 2600</a:t>
            </a:r>
          </a:p>
        </p:txBody>
      </p:sp>
      <p:sp>
        <p:nvSpPr>
          <p:cNvPr id="24" name="Rounded Rectangle 23"/>
          <p:cNvSpPr/>
          <p:nvPr/>
        </p:nvSpPr>
        <p:spPr>
          <a:xfrm>
            <a:off x="7636840" y="1853837"/>
            <a:ext cx="3960495" cy="505097"/>
          </a:xfrm>
          <a:prstGeom prst="roundRect">
            <a:avLst>
              <a:gd name="adj" fmla="val 15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a:lstStyle/>
          <a:p>
            <a:pPr algn="l"/>
            <a:r>
              <a:rPr sz="1300" b="1" i="0">
                <a:solidFill>
                  <a:srgbClr val="FFFFFF"/>
                </a:solidFill>
                <a:latin typeface="Calibri"/>
              </a:rPr>
              <a:t>1977</a:t>
            </a:r>
          </a:p>
        </p:txBody>
      </p:sp>
      <p:sp>
        <p:nvSpPr>
          <p:cNvPr id="25" name="TextBox 24"/>
          <p:cNvSpPr txBox="1"/>
          <p:nvPr/>
        </p:nvSpPr>
        <p:spPr>
          <a:xfrm>
            <a:off x="4922215" y="2435134"/>
            <a:ext cx="2011680" cy="505097"/>
          </a:xfrm>
          <a:prstGeom prst="rect">
            <a:avLst/>
          </a:prstGeom>
          <a:noFill/>
        </p:spPr>
        <p:txBody>
          <a:bodyPr wrap="square" anchor="ctr" lIns="0" rIns="0" tIns="0" bIns="0">
            <a:spAutoFit/>
          </a:bodyPr>
          <a:lstStyle/>
          <a:p>
            <a:pPr algn="r"/>
            <a:r>
              <a:rPr sz="1400" b="0" i="0">
                <a:solidFill>
                  <a:srgbClr val="1F2937"/>
                </a:solidFill>
                <a:latin typeface="Calibri"/>
              </a:rPr>
              <a:t>PC · IBM PC</a:t>
            </a:r>
          </a:p>
        </p:txBody>
      </p:sp>
      <p:sp>
        <p:nvSpPr>
          <p:cNvPr id="26" name="Rounded Rectangle 25"/>
          <p:cNvSpPr/>
          <p:nvPr/>
        </p:nvSpPr>
        <p:spPr>
          <a:xfrm>
            <a:off x="7960145" y="2435134"/>
            <a:ext cx="3637190" cy="505097"/>
          </a:xfrm>
          <a:prstGeom prst="roundRect">
            <a:avLst>
              <a:gd name="adj" fmla="val 15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a:lstStyle/>
          <a:p>
            <a:pPr algn="l"/>
            <a:r>
              <a:rPr sz="1300" b="1" i="0">
                <a:solidFill>
                  <a:srgbClr val="FFFFFF"/>
                </a:solidFill>
                <a:latin typeface="Calibri"/>
              </a:rPr>
              <a:t>1981</a:t>
            </a:r>
          </a:p>
        </p:txBody>
      </p:sp>
      <p:sp>
        <p:nvSpPr>
          <p:cNvPr id="27" name="TextBox 26"/>
          <p:cNvSpPr txBox="1"/>
          <p:nvPr/>
        </p:nvSpPr>
        <p:spPr>
          <a:xfrm>
            <a:off x="4922215" y="3016431"/>
            <a:ext cx="2011680" cy="505097"/>
          </a:xfrm>
          <a:prstGeom prst="rect">
            <a:avLst/>
          </a:prstGeom>
          <a:noFill/>
        </p:spPr>
        <p:txBody>
          <a:bodyPr wrap="square" anchor="ctr" lIns="0" rIns="0" tIns="0" bIns="0">
            <a:spAutoFit/>
          </a:bodyPr>
          <a:lstStyle/>
          <a:p>
            <a:pPr algn="r"/>
            <a:r>
              <a:rPr sz="1400" b="0" i="0">
                <a:solidFill>
                  <a:srgbClr val="1F2937"/>
                </a:solidFill>
                <a:latin typeface="Calibri"/>
              </a:rPr>
              <a:t>Portátil · Game Boy</a:t>
            </a:r>
          </a:p>
        </p:txBody>
      </p:sp>
      <p:sp>
        <p:nvSpPr>
          <p:cNvPr id="28" name="Rounded Rectangle 27"/>
          <p:cNvSpPr/>
          <p:nvPr/>
        </p:nvSpPr>
        <p:spPr>
          <a:xfrm>
            <a:off x="8606757" y="3016431"/>
            <a:ext cx="2990578" cy="505097"/>
          </a:xfrm>
          <a:prstGeom prst="roundRect">
            <a:avLst>
              <a:gd name="adj" fmla="val 15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a:lstStyle/>
          <a:p>
            <a:pPr algn="l"/>
            <a:r>
              <a:rPr sz="1300" b="1" i="0">
                <a:solidFill>
                  <a:srgbClr val="FFFFFF"/>
                </a:solidFill>
                <a:latin typeface="Calibri"/>
              </a:rPr>
              <a:t>1989</a:t>
            </a:r>
          </a:p>
        </p:txBody>
      </p:sp>
      <p:sp>
        <p:nvSpPr>
          <p:cNvPr id="29" name="TextBox 28"/>
          <p:cNvSpPr txBox="1"/>
          <p:nvPr/>
        </p:nvSpPr>
        <p:spPr>
          <a:xfrm>
            <a:off x="4922215" y="3597728"/>
            <a:ext cx="2011680" cy="505097"/>
          </a:xfrm>
          <a:prstGeom prst="rect">
            <a:avLst/>
          </a:prstGeom>
          <a:noFill/>
        </p:spPr>
        <p:txBody>
          <a:bodyPr wrap="square" anchor="ctr" lIns="0" rIns="0" tIns="0" bIns="0">
            <a:spAutoFit/>
          </a:bodyPr>
          <a:lstStyle/>
          <a:p>
            <a:pPr algn="r"/>
            <a:r>
              <a:rPr sz="1400" b="1" i="0">
                <a:solidFill>
                  <a:srgbClr val="1F2937"/>
                </a:solidFill>
                <a:latin typeface="Calibri"/>
              </a:rPr>
              <a:t>Teléfono · App Store</a:t>
            </a:r>
          </a:p>
        </p:txBody>
      </p:sp>
      <p:sp>
        <p:nvSpPr>
          <p:cNvPr id="30" name="Rounded Rectangle 29"/>
          <p:cNvSpPr/>
          <p:nvPr/>
        </p:nvSpPr>
        <p:spPr>
          <a:xfrm>
            <a:off x="10142459" y="3597728"/>
            <a:ext cx="1454876" cy="505097"/>
          </a:xfrm>
          <a:prstGeom prst="roundRect">
            <a:avLst>
              <a:gd name="adj" fmla="val 15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a:lstStyle/>
          <a:p>
            <a:pPr algn="l"/>
            <a:r>
              <a:rPr sz="1300" b="1" i="0">
                <a:solidFill>
                  <a:srgbClr val="FFFFFF"/>
                </a:solidFill>
                <a:latin typeface="Calibri"/>
              </a:rPr>
              <a:t>2008</a:t>
            </a:r>
          </a:p>
        </p:txBody>
      </p:sp>
      <p:sp>
        <p:nvSpPr>
          <p:cNvPr id="31" name="TextBox 30"/>
          <p:cNvSpPr txBox="1"/>
          <p:nvPr/>
        </p:nvSpPr>
        <p:spPr>
          <a:xfrm>
            <a:off x="4922215" y="4179025"/>
            <a:ext cx="2011680" cy="505097"/>
          </a:xfrm>
          <a:prstGeom prst="rect">
            <a:avLst/>
          </a:prstGeom>
          <a:noFill/>
        </p:spPr>
        <p:txBody>
          <a:bodyPr wrap="square" anchor="ctr" lIns="0" rIns="0" tIns="0" bIns="0">
            <a:spAutoFit/>
          </a:bodyPr>
          <a:lstStyle/>
          <a:p>
            <a:pPr algn="r"/>
            <a:r>
              <a:rPr sz="1400" b="0" i="0">
                <a:solidFill>
                  <a:srgbClr val="1F2937"/>
                </a:solidFill>
                <a:latin typeface="Calibri"/>
              </a:rPr>
              <a:t>XR · Oculus Rift</a:t>
            </a:r>
          </a:p>
        </p:txBody>
      </p:sp>
      <p:sp>
        <p:nvSpPr>
          <p:cNvPr id="32" name="Rounded Rectangle 31"/>
          <p:cNvSpPr/>
          <p:nvPr/>
        </p:nvSpPr>
        <p:spPr>
          <a:xfrm>
            <a:off x="10789070" y="4179025"/>
            <a:ext cx="808265" cy="505097"/>
          </a:xfrm>
          <a:prstGeom prst="roundRect">
            <a:avLst>
              <a:gd name="adj" fmla="val 15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a:lstStyle/>
          <a:p>
            <a:pPr algn="l"/>
            <a:r>
              <a:rPr sz="1300" b="1" i="0">
                <a:solidFill>
                  <a:srgbClr val="FFFFFF"/>
                </a:solidFill>
                <a:latin typeface="Calibri"/>
              </a:rPr>
              <a:t>2016</a:t>
            </a:r>
          </a:p>
        </p:txBody>
      </p:sp>
      <p:sp>
        <p:nvSpPr>
          <p:cNvPr id="33" name="TextBox 32"/>
          <p:cNvSpPr txBox="1"/>
          <p:nvPr/>
        </p:nvSpPr>
        <p:spPr>
          <a:xfrm>
            <a:off x="4922215" y="4760322"/>
            <a:ext cx="2011680" cy="505097"/>
          </a:xfrm>
          <a:prstGeom prst="rect">
            <a:avLst/>
          </a:prstGeom>
          <a:noFill/>
        </p:spPr>
        <p:txBody>
          <a:bodyPr wrap="square" anchor="ctr" lIns="0" rIns="0" tIns="0" bIns="0">
            <a:spAutoFit/>
          </a:bodyPr>
          <a:lstStyle/>
          <a:p>
            <a:pPr algn="r"/>
            <a:r>
              <a:rPr sz="1400" b="0" i="0">
                <a:solidFill>
                  <a:srgbClr val="1F2937"/>
                </a:solidFill>
                <a:latin typeface="Calibri"/>
              </a:rPr>
              <a:t>Nube · GeForce Now</a:t>
            </a:r>
          </a:p>
        </p:txBody>
      </p:sp>
      <p:sp>
        <p:nvSpPr>
          <p:cNvPr id="34" name="Rounded Rectangle 33"/>
          <p:cNvSpPr/>
          <p:nvPr/>
        </p:nvSpPr>
        <p:spPr>
          <a:xfrm>
            <a:off x="11112376" y="4760322"/>
            <a:ext cx="484959" cy="505097"/>
          </a:xfrm>
          <a:prstGeom prst="roundRect">
            <a:avLst>
              <a:gd name="adj" fmla="val 15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426576" y="4760322"/>
            <a:ext cx="621792" cy="505097"/>
          </a:xfrm>
          <a:prstGeom prst="rect">
            <a:avLst/>
          </a:prstGeom>
          <a:noFill/>
        </p:spPr>
        <p:txBody>
          <a:bodyPr wrap="square" anchor="ctr" lIns="0" rIns="0" tIns="0" bIns="0">
            <a:spAutoFit/>
          </a:bodyPr>
          <a:lstStyle/>
          <a:p>
            <a:pPr algn="r"/>
            <a:r>
              <a:rPr sz="1300" b="1" i="0">
                <a:solidFill>
                  <a:srgbClr val="1F2937"/>
                </a:solidFill>
                <a:latin typeface="Calibri"/>
              </a:rPr>
              <a:t>2020</a:t>
            </a:r>
          </a:p>
        </p:txBody>
      </p:sp>
      <p:sp>
        <p:nvSpPr>
          <p:cNvPr id="36" name="TextBox 35"/>
          <p:cNvSpPr txBox="1"/>
          <p:nvPr/>
        </p:nvSpPr>
        <p:spPr>
          <a:xfrm>
            <a:off x="4922215" y="5669280"/>
            <a:ext cx="6766560" cy="320040"/>
          </a:xfrm>
          <a:prstGeom prst="rect">
            <a:avLst/>
          </a:prstGeom>
          <a:noFill/>
        </p:spPr>
        <p:txBody>
          <a:bodyPr wrap="square" anchor="ctr" lIns="0" rIns="0" tIns="0" bIns="0">
            <a:spAutoFit/>
          </a:bodyPr>
          <a:lstStyle/>
          <a:p>
            <a:pPr algn="r"/>
            <a:r>
              <a:rPr sz="1100" b="0" i="1">
                <a:solidFill>
                  <a:srgbClr val="6B7280"/>
                </a:solidFill>
                <a:latin typeface="Calibri"/>
              </a:rPr>
              <a:t>Cada barra: desde el hito que abre la época hasta 2026</a:t>
            </a:r>
          </a:p>
        </p:txBody>
      </p:sp>
      <p:sp>
        <p:nvSpPr>
          <p:cNvPr id="37" name="TextBox 36"/>
          <p:cNvSpPr txBox="1"/>
          <p:nvPr/>
        </p:nvSpPr>
        <p:spPr>
          <a:xfrm>
            <a:off x="502920" y="1234440"/>
            <a:ext cx="4144975" cy="4754880"/>
          </a:xfrm>
          <a:prstGeom prst="rect">
            <a:avLst/>
          </a:prstGeom>
          <a:noFill/>
        </p:spPr>
        <p:txBody>
          <a:bodyPr wrap="square" anchor="t" lIns="0" rIns="0" tIns="0" bIns="0">
            <a:spAutoFit/>
          </a:bodyPr>
          <a:lstStyle/>
          <a:p>
            <a:pPr>
              <a:spcAft>
                <a:spcPts val="800"/>
              </a:spcAft>
            </a:pPr>
            <a:r>
              <a:rPr sz="1400" b="1" i="0">
                <a:solidFill>
                  <a:srgbClr val="0D9488"/>
                </a:solidFill>
                <a:latin typeface="Calibri"/>
              </a:rPr>
              <a:t>■  </a:t>
            </a:r>
            <a:r>
              <a:rPr sz="2000" b="0" i="0">
                <a:solidFill>
                  <a:srgbClr val="1F2937"/>
                </a:solidFill>
                <a:latin typeface="Calibri"/>
              </a:rPr>
              <a:t>Arcade: la primera plataforma (Pong, 1972)</a:t>
            </a:r>
          </a:p>
          <a:p>
            <a:pPr>
              <a:spcAft>
                <a:spcPts val="800"/>
              </a:spcAft>
            </a:pPr>
            <a:r>
              <a:rPr sz="1400" b="1" i="0">
                <a:solidFill>
                  <a:srgbClr val="0D9488"/>
                </a:solidFill>
                <a:latin typeface="Calibri"/>
              </a:rPr>
              <a:t>■  </a:t>
            </a:r>
            <a:r>
              <a:rPr sz="2000" b="0" i="0">
                <a:solidFill>
                  <a:srgbClr val="1F2937"/>
                </a:solidFill>
                <a:latin typeface="Calibri"/>
              </a:rPr>
              <a:t>Consola doméstica y PC</a:t>
            </a:r>
          </a:p>
          <a:p>
            <a:pPr>
              <a:spcAft>
                <a:spcPts val="800"/>
              </a:spcAft>
            </a:pPr>
            <a:r>
              <a:rPr sz="1400" b="1" i="0">
                <a:solidFill>
                  <a:srgbClr val="0D9488"/>
                </a:solidFill>
                <a:latin typeface="Calibri"/>
              </a:rPr>
              <a:t>■  </a:t>
            </a:r>
            <a:r>
              <a:rPr sz="2000" b="0" i="0">
                <a:solidFill>
                  <a:srgbClr val="1F2937"/>
                </a:solidFill>
                <a:latin typeface="Calibri"/>
              </a:rPr>
              <a:t>Portátiles: Game Boy</a:t>
            </a:r>
          </a:p>
          <a:p>
            <a:pPr>
              <a:spcAft>
                <a:spcPts val="800"/>
              </a:spcAft>
            </a:pPr>
            <a:r>
              <a:rPr sz="1400" b="1" i="0">
                <a:solidFill>
                  <a:srgbClr val="0D9488"/>
                </a:solidFill>
                <a:latin typeface="Calibri"/>
              </a:rPr>
              <a:t>■  </a:t>
            </a:r>
            <a:r>
              <a:rPr sz="2000" b="0" i="0">
                <a:solidFill>
                  <a:srgbClr val="1F2937"/>
                </a:solidFill>
                <a:latin typeface="Calibri"/>
              </a:rPr>
              <a:t>Teléfono: el juego va en el bolsillo</a:t>
            </a:r>
          </a:p>
          <a:p>
            <a:pPr>
              <a:spcAft>
                <a:spcPts val="800"/>
              </a:spcAft>
            </a:pPr>
            <a:r>
              <a:rPr sz="1400" b="1" i="0">
                <a:solidFill>
                  <a:srgbClr val="0D9488"/>
                </a:solidFill>
                <a:latin typeface="Calibri"/>
              </a:rPr>
              <a:t>■  </a:t>
            </a:r>
            <a:r>
              <a:rPr sz="2000" b="0" i="0">
                <a:solidFill>
                  <a:srgbClr val="1F2937"/>
                </a:solidFill>
                <a:latin typeface="Calibri"/>
              </a:rPr>
              <a:t>Hoy: XR y nube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CONTEXTO HISTÓRICO</a:t>
            </a:r>
          </a:p>
          <a:p>
            <a:r>
              <a:rPr sz="2600" b="1" i="0">
                <a:solidFill>
                  <a:srgbClr val="FFFFFF"/>
                </a:solidFill>
                <a:latin typeface="Calibri"/>
              </a:rPr>
              <a:t>Clásicos del arcade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7/74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Kevuru Games (blog); ESRB: Game Developer, "A Brief History of the ESRB"</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¿Qué diseño impone una máquina que cobra por partida?</a:t>
            </a:r>
          </a:p>
        </p:txBody>
      </p:sp>
      <p:sp>
        <p:nvSpPr>
          <p:cNvPr id="11" name="Rectangle 10"/>
          <p:cNvSpPr/>
          <p:nvPr/>
        </p:nvSpPr>
        <p:spPr>
          <a:xfrm>
            <a:off x="1325880" y="3181350"/>
            <a:ext cx="9539935" cy="3810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499235" y="288036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417320" y="310896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02920" y="210312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1972  </a:t>
            </a:r>
            <a:r>
              <a:rPr sz="1200" b="1" i="0">
                <a:solidFill>
                  <a:srgbClr val="1F2937"/>
                </a:solidFill>
                <a:latin typeface="Calibri"/>
              </a:rPr>
              <a:t>Pong</a:t>
            </a:r>
          </a:p>
          <a:p>
            <a:pPr algn="ctr"/>
            <a:r>
              <a:rPr sz="1100" b="0" i="0">
                <a:solidFill>
                  <a:srgbClr val="6B7280"/>
                </a:solidFill>
                <a:latin typeface="Calibri"/>
              </a:rPr>
              <a:t>tenis en pantalla</a:t>
            </a:r>
          </a:p>
        </p:txBody>
      </p:sp>
      <p:sp>
        <p:nvSpPr>
          <p:cNvPr id="15" name="Rectangle 14"/>
          <p:cNvSpPr/>
          <p:nvPr/>
        </p:nvSpPr>
        <p:spPr>
          <a:xfrm>
            <a:off x="3028264" y="320040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946349" y="310896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031949" y="352044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1978  </a:t>
            </a:r>
            <a:r>
              <a:rPr sz="1200" b="1" i="0">
                <a:solidFill>
                  <a:srgbClr val="1F2937"/>
                </a:solidFill>
                <a:latin typeface="Calibri"/>
              </a:rPr>
              <a:t>Space Invaders</a:t>
            </a:r>
          </a:p>
          <a:p>
            <a:pPr algn="ctr"/>
            <a:r>
              <a:rPr sz="1100" b="0" i="0">
                <a:solidFill>
                  <a:srgbClr val="6B7280"/>
                </a:solidFill>
                <a:latin typeface="Calibri"/>
              </a:rPr>
              <a:t>nace el shooter</a:t>
            </a:r>
          </a:p>
        </p:txBody>
      </p:sp>
      <p:sp>
        <p:nvSpPr>
          <p:cNvPr id="18" name="Rectangle 17"/>
          <p:cNvSpPr/>
          <p:nvPr/>
        </p:nvSpPr>
        <p:spPr>
          <a:xfrm>
            <a:off x="4557293" y="288036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475378" y="310896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560978" y="210312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1980  </a:t>
            </a:r>
            <a:r>
              <a:rPr sz="1200" b="1" i="0">
                <a:solidFill>
                  <a:srgbClr val="1F2937"/>
                </a:solidFill>
                <a:latin typeface="Calibri"/>
              </a:rPr>
              <a:t>Pac-Man</a:t>
            </a:r>
          </a:p>
          <a:p>
            <a:pPr algn="ctr"/>
            <a:r>
              <a:rPr sz="1100" b="0" i="0">
                <a:solidFill>
                  <a:srgbClr val="6B7280"/>
                </a:solidFill>
                <a:latin typeface="Calibri"/>
              </a:rPr>
              <a:t>fenómeno cultural</a:t>
            </a:r>
          </a:p>
        </p:txBody>
      </p:sp>
      <p:sp>
        <p:nvSpPr>
          <p:cNvPr id="21" name="Rectangle 20"/>
          <p:cNvSpPr/>
          <p:nvPr/>
        </p:nvSpPr>
        <p:spPr>
          <a:xfrm>
            <a:off x="6086322" y="320040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004407" y="310896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90007" y="352044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1981  </a:t>
            </a:r>
            <a:r>
              <a:rPr sz="1200" b="1" i="0">
                <a:solidFill>
                  <a:srgbClr val="1F2937"/>
                </a:solidFill>
                <a:latin typeface="Calibri"/>
              </a:rPr>
              <a:t>Donkey Kong</a:t>
            </a:r>
          </a:p>
          <a:p>
            <a:pPr algn="ctr"/>
            <a:r>
              <a:rPr sz="1100" b="0" i="0">
                <a:solidFill>
                  <a:srgbClr val="6B7280"/>
                </a:solidFill>
                <a:latin typeface="Calibri"/>
              </a:rPr>
              <a:t>debuta Mario</a:t>
            </a:r>
          </a:p>
        </p:txBody>
      </p:sp>
      <p:sp>
        <p:nvSpPr>
          <p:cNvPr id="24" name="Rectangle 23"/>
          <p:cNvSpPr/>
          <p:nvPr/>
        </p:nvSpPr>
        <p:spPr>
          <a:xfrm>
            <a:off x="7615351" y="288036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533436" y="310896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619036" y="210312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1981  </a:t>
            </a:r>
            <a:r>
              <a:rPr sz="1200" b="1" i="0">
                <a:solidFill>
                  <a:srgbClr val="1F2937"/>
                </a:solidFill>
                <a:latin typeface="Calibri"/>
              </a:rPr>
              <a:t>Galaga</a:t>
            </a:r>
          </a:p>
          <a:p>
            <a:pPr algn="ctr"/>
            <a:r>
              <a:rPr sz="1100" b="0" i="0">
                <a:solidFill>
                  <a:srgbClr val="6B7280"/>
                </a:solidFill>
                <a:latin typeface="Calibri"/>
              </a:rPr>
              <a:t>riesgo y recompensa</a:t>
            </a:r>
          </a:p>
        </p:txBody>
      </p:sp>
      <p:sp>
        <p:nvSpPr>
          <p:cNvPr id="27" name="Rectangle 26"/>
          <p:cNvSpPr/>
          <p:nvPr/>
        </p:nvSpPr>
        <p:spPr>
          <a:xfrm>
            <a:off x="9144380" y="320040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062465" y="310896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148065" y="352044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1991  </a:t>
            </a:r>
            <a:r>
              <a:rPr sz="1200" b="1" i="0">
                <a:solidFill>
                  <a:srgbClr val="1F2937"/>
                </a:solidFill>
                <a:latin typeface="Calibri"/>
              </a:rPr>
              <a:t>Street Fighter II</a:t>
            </a:r>
          </a:p>
          <a:p>
            <a:pPr algn="ctr"/>
            <a:r>
              <a:rPr sz="1100" b="0" i="0">
                <a:solidFill>
                  <a:srgbClr val="6B7280"/>
                </a:solidFill>
                <a:latin typeface="Calibri"/>
              </a:rPr>
              <a:t>comunidad de pelea</a:t>
            </a:r>
          </a:p>
        </p:txBody>
      </p:sp>
      <p:sp>
        <p:nvSpPr>
          <p:cNvPr id="30" name="Rectangle 29"/>
          <p:cNvSpPr/>
          <p:nvPr/>
        </p:nvSpPr>
        <p:spPr>
          <a:xfrm>
            <a:off x="10673410" y="288036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591495" y="310896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677095" y="210312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1992  </a:t>
            </a:r>
            <a:r>
              <a:rPr sz="1200" b="1" i="0">
                <a:solidFill>
                  <a:srgbClr val="1F2937"/>
                </a:solidFill>
                <a:latin typeface="Calibri"/>
              </a:rPr>
              <a:t>Mortal Kombat</a:t>
            </a:r>
          </a:p>
          <a:p>
            <a:pPr algn="ctr"/>
            <a:r>
              <a:rPr sz="1100" b="0" i="0">
                <a:solidFill>
                  <a:srgbClr val="6B7280"/>
                </a:solidFill>
                <a:latin typeface="Calibri"/>
              </a:rPr>
              <a:t>lleva a la ESRB</a:t>
            </a:r>
          </a:p>
        </p:txBody>
      </p:sp>
      <p:sp>
        <p:nvSpPr>
          <p:cNvPr id="33" name="TextBox 32"/>
          <p:cNvSpPr txBox="1"/>
          <p:nvPr/>
        </p:nvSpPr>
        <p:spPr>
          <a:xfrm>
            <a:off x="502920" y="5166360"/>
            <a:ext cx="11185855" cy="274320"/>
          </a:xfrm>
          <a:prstGeom prst="rect">
            <a:avLst/>
          </a:prstGeom>
          <a:noFill/>
        </p:spPr>
        <p:txBody>
          <a:bodyPr wrap="square" anchor="ctr" lIns="0" rIns="0" tIns="0" bIns="0">
            <a:spAutoFit/>
          </a:bodyPr>
          <a:lstStyle/>
          <a:p>
            <a:pPr algn="r"/>
            <a:r>
              <a:rPr sz="1100" b="0" i="1">
                <a:solidFill>
                  <a:srgbClr val="6B7280"/>
                </a:solidFill>
                <a:latin typeface="Calibri"/>
              </a:rPr>
              <a:t>Orden cronológico: la separación entre hitos no es proporcional al tiempo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DISTRIBUCIÓN MÓVIL</a:t>
            </a:r>
          </a:p>
          <a:p>
            <a:r>
              <a:rPr sz="2600" b="1" i="0">
                <a:solidFill>
                  <a:srgbClr val="FFFFFF"/>
                </a:solidFill>
                <a:latin typeface="Calibri"/>
              </a:rPr>
              <a:t>Las tiendas cambiaron quién publica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8/74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Kevuru Games (blog, consultado 2026-10-05)</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Si cualquiera puede publicar, ¿qué hace que un juego se encuentre?</a:t>
            </a:r>
          </a:p>
        </p:txBody>
      </p:sp>
      <p:sp>
        <p:nvSpPr>
          <p:cNvPr id="11" name="TextBox 10"/>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Estudios chicos llegan a millones</a:t>
            </a:r>
          </a:p>
          <a:p>
            <a:pPr>
              <a:spcAft>
                <a:spcPts val="800"/>
              </a:spcAft>
            </a:pPr>
            <a:r>
              <a:rPr sz="1600" b="1" i="0">
                <a:solidFill>
                  <a:srgbClr val="0D9488"/>
                </a:solidFill>
                <a:latin typeface="Calibri"/>
              </a:rPr>
              <a:t>■  </a:t>
            </a:r>
            <a:r>
              <a:rPr sz="2200" b="0" i="0">
                <a:solidFill>
                  <a:srgbClr val="1F2937"/>
                </a:solidFill>
                <a:latin typeface="Calibri"/>
              </a:rPr>
              <a:t>Éxitos casuales: Candy Crush, Clash of Clans</a:t>
            </a:r>
          </a:p>
          <a:p>
            <a:pPr>
              <a:spcAft>
                <a:spcPts val="800"/>
              </a:spcAft>
            </a:pPr>
            <a:r>
              <a:rPr sz="1600" b="1" i="0">
                <a:solidFill>
                  <a:srgbClr val="0D9488"/>
                </a:solidFill>
                <a:latin typeface="Calibri"/>
              </a:rPr>
              <a:t>■  </a:t>
            </a:r>
            <a:r>
              <a:rPr sz="2200" b="0" i="0">
                <a:solidFill>
                  <a:srgbClr val="1F2937"/>
                </a:solidFill>
                <a:latin typeface="Calibri"/>
              </a:rPr>
              <a:t>Éxito tardío: Among Us</a:t>
            </a:r>
          </a:p>
          <a:p>
            <a:pPr>
              <a:spcAft>
                <a:spcPts val="800"/>
              </a:spcAft>
            </a:pPr>
            <a:r>
              <a:rPr sz="1600" b="1" i="0">
                <a:solidFill>
                  <a:srgbClr val="0D9488"/>
                </a:solidFill>
                <a:latin typeface="Calibri"/>
              </a:rPr>
              <a:t>■  </a:t>
            </a:r>
            <a:r>
              <a:rPr sz="2200" b="0" i="0">
                <a:solidFill>
                  <a:srgbClr val="1F2937"/>
                </a:solidFill>
                <a:latin typeface="Calibri"/>
              </a:rPr>
              <a:t>Marcas grandes también: PUBG Mobile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9</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MÁQUINA</a:t>
            </a:r>
          </a:p>
          <a:p>
            <a:r>
              <a:rPr sz="2600" b="1" i="0">
                <a:solidFill>
                  <a:srgbClr val="FFFFFF"/>
                </a:solidFill>
                <a:latin typeface="Calibri"/>
              </a:rPr>
              <a:t>Adentro del teléfono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9/74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Android Developers — ADPF; Arm GPU Best Practices §2.3</a:t>
            </a:r>
          </a:p>
        </p:txBody>
      </p:sp>
      <p:sp>
        <p:nvSpPr>
          <p:cNvPr id="9" name="TextBox 8"/>
          <p:cNvSpPr txBox="1"/>
          <p:nvPr/>
        </p:nvSpPr>
        <p:spPr>
          <a:xfrm>
            <a:off x="6019495" y="1234440"/>
            <a:ext cx="2697480" cy="411480"/>
          </a:xfrm>
          <a:prstGeom prst="rect">
            <a:avLst/>
          </a:prstGeom>
          <a:noFill/>
        </p:spPr>
        <p:txBody>
          <a:bodyPr wrap="square" anchor="ctr" lIns="0" rIns="0" tIns="0" bIns="0">
            <a:spAutoFit/>
          </a:bodyPr>
          <a:lstStyle/>
          <a:p>
            <a:pPr algn="ctr"/>
            <a:r>
              <a:rPr sz="1600" b="1" i="0">
                <a:solidFill>
                  <a:srgbClr val="0D9488"/>
                </a:solidFill>
                <a:latin typeface="Calibri"/>
              </a:rPr>
              <a:t>TELÉFONO</a:t>
            </a:r>
          </a:p>
        </p:txBody>
      </p:sp>
      <p:sp>
        <p:nvSpPr>
          <p:cNvPr id="10" name="Rounded Rectangle 9"/>
          <p:cNvSpPr/>
          <p:nvPr/>
        </p:nvSpPr>
        <p:spPr>
          <a:xfrm>
            <a:off x="6019495" y="1737360"/>
            <a:ext cx="2697480" cy="3520440"/>
          </a:xfrm>
          <a:prstGeom prst="roundRect">
            <a:avLst>
              <a:gd name="adj" fmla="val 8000"/>
            </a:avLst>
          </a:prstGeom>
          <a:solidFill>
            <a:srgbClr val="F3F4F6"/>
          </a:solidFill>
          <a:ln w="3175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93815" y="2670048"/>
            <a:ext cx="214884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CPU</a:t>
            </a:r>
          </a:p>
        </p:txBody>
      </p:sp>
      <p:sp>
        <p:nvSpPr>
          <p:cNvPr id="12" name="Rounded Rectangle 11"/>
          <p:cNvSpPr/>
          <p:nvPr/>
        </p:nvSpPr>
        <p:spPr>
          <a:xfrm>
            <a:off x="6293815" y="3246120"/>
            <a:ext cx="214884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GPU</a:t>
            </a:r>
          </a:p>
        </p:txBody>
      </p:sp>
      <p:sp>
        <p:nvSpPr>
          <p:cNvPr id="13" name="Rounded Rectangle 12"/>
          <p:cNvSpPr/>
          <p:nvPr/>
        </p:nvSpPr>
        <p:spPr>
          <a:xfrm>
            <a:off x="6293815" y="3822192"/>
            <a:ext cx="214884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Memoria</a:t>
            </a:r>
          </a:p>
        </p:txBody>
      </p:sp>
      <p:sp>
        <p:nvSpPr>
          <p:cNvPr id="14" name="TextBox 13"/>
          <p:cNvSpPr txBox="1"/>
          <p:nvPr/>
        </p:nvSpPr>
        <p:spPr>
          <a:xfrm>
            <a:off x="6019495" y="5349240"/>
            <a:ext cx="2697480" cy="640080"/>
          </a:xfrm>
          <a:prstGeom prst="rect">
            <a:avLst/>
          </a:prstGeom>
          <a:noFill/>
        </p:spPr>
        <p:txBody>
          <a:bodyPr wrap="square" anchor="t" lIns="0" rIns="0" tIns="0" bIns="0">
            <a:spAutoFit/>
          </a:bodyPr>
          <a:lstStyle/>
          <a:p>
            <a:pPr algn="ctr"/>
            <a:r>
              <a:rPr sz="1400" b="0" i="0">
                <a:solidFill>
                  <a:srgbClr val="1F2937"/>
                </a:solidFill>
                <a:latin typeface="Calibri"/>
              </a:rPr>
              <a:t>Un solo chip (SoC), sin ventilador</a:t>
            </a:r>
          </a:p>
        </p:txBody>
      </p:sp>
      <p:sp>
        <p:nvSpPr>
          <p:cNvPr id="15" name="TextBox 14"/>
          <p:cNvSpPr txBox="1"/>
          <p:nvPr/>
        </p:nvSpPr>
        <p:spPr>
          <a:xfrm>
            <a:off x="8991295" y="1234440"/>
            <a:ext cx="2697480" cy="411480"/>
          </a:xfrm>
          <a:prstGeom prst="rect">
            <a:avLst/>
          </a:prstGeom>
          <a:noFill/>
        </p:spPr>
        <p:txBody>
          <a:bodyPr wrap="square" anchor="ctr" lIns="0" rIns="0" tIns="0" bIns="0">
            <a:spAutoFit/>
          </a:bodyPr>
          <a:lstStyle/>
          <a:p>
            <a:pPr algn="ctr"/>
            <a:r>
              <a:rPr sz="1600" b="1" i="0">
                <a:solidFill>
                  <a:srgbClr val="1F2A44"/>
                </a:solidFill>
                <a:latin typeface="Calibri"/>
              </a:rPr>
              <a:t>PC</a:t>
            </a:r>
          </a:p>
        </p:txBody>
      </p:sp>
      <p:sp>
        <p:nvSpPr>
          <p:cNvPr id="16" name="Rounded Rectangle 15"/>
          <p:cNvSpPr/>
          <p:nvPr/>
        </p:nvSpPr>
        <p:spPr>
          <a:xfrm>
            <a:off x="9265615" y="2423160"/>
            <a:ext cx="214884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CPU</a:t>
            </a:r>
          </a:p>
        </p:txBody>
      </p:sp>
      <p:sp>
        <p:nvSpPr>
          <p:cNvPr id="17" name="Rounded Rectangle 16"/>
          <p:cNvSpPr/>
          <p:nvPr/>
        </p:nvSpPr>
        <p:spPr>
          <a:xfrm>
            <a:off x="9265615" y="3246120"/>
            <a:ext cx="214884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GPU dedicada</a:t>
            </a:r>
          </a:p>
        </p:txBody>
      </p:sp>
      <p:sp>
        <p:nvSpPr>
          <p:cNvPr id="18" name="Rounded Rectangle 17"/>
          <p:cNvSpPr/>
          <p:nvPr/>
        </p:nvSpPr>
        <p:spPr>
          <a:xfrm>
            <a:off x="9265615" y="4069080"/>
            <a:ext cx="214884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RAM</a:t>
            </a:r>
          </a:p>
        </p:txBody>
      </p:sp>
      <p:sp>
        <p:nvSpPr>
          <p:cNvPr id="19" name="TextBox 18"/>
          <p:cNvSpPr txBox="1"/>
          <p:nvPr/>
        </p:nvSpPr>
        <p:spPr>
          <a:xfrm>
            <a:off x="8991295" y="5349240"/>
            <a:ext cx="2697480" cy="640080"/>
          </a:xfrm>
          <a:prstGeom prst="rect">
            <a:avLst/>
          </a:prstGeom>
          <a:noFill/>
        </p:spPr>
        <p:txBody>
          <a:bodyPr wrap="square" anchor="t" lIns="0" rIns="0" tIns="0" bIns="0">
            <a:spAutoFit/>
          </a:bodyPr>
          <a:lstStyle/>
          <a:p>
            <a:pPr algn="ctr"/>
            <a:r>
              <a:rPr sz="1400" b="0" i="0">
                <a:solidFill>
                  <a:srgbClr val="1F2937"/>
                </a:solidFill>
                <a:latin typeface="Calibri"/>
              </a:rPr>
              <a:t>Componentes separados, con ventiladores</a:t>
            </a:r>
          </a:p>
        </p:txBody>
      </p:sp>
      <p:sp>
        <p:nvSpPr>
          <p:cNvPr id="20" name="TextBox 19"/>
          <p:cNvSpPr txBox="1"/>
          <p:nvPr/>
        </p:nvSpPr>
        <p:spPr>
          <a:xfrm>
            <a:off x="502920" y="1234440"/>
            <a:ext cx="52422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CPU, GPU y memoria en un chip (SoC)</a:t>
            </a:r>
          </a:p>
          <a:p>
            <a:pPr>
              <a:spcAft>
                <a:spcPts val="800"/>
              </a:spcAft>
            </a:pPr>
            <a:r>
              <a:rPr sz="1600" b="1" i="0">
                <a:solidFill>
                  <a:srgbClr val="0D9488"/>
                </a:solidFill>
                <a:latin typeface="Calibri"/>
              </a:rPr>
              <a:t>■  </a:t>
            </a:r>
            <a:r>
              <a:rPr sz="2200" b="0" i="0">
                <a:solidFill>
                  <a:srgbClr val="1F2937"/>
                </a:solidFill>
                <a:latin typeface="Calibri"/>
              </a:rPr>
              <a:t>Comparten energía y calor</a:t>
            </a:r>
          </a:p>
          <a:p>
            <a:pPr>
              <a:spcAft>
                <a:spcPts val="800"/>
              </a:spcAft>
            </a:pPr>
            <a:r>
              <a:rPr sz="1600" b="1" i="0">
                <a:solidFill>
                  <a:srgbClr val="0D9488"/>
                </a:solidFill>
                <a:latin typeface="Calibri"/>
              </a:rPr>
              <a:t>■  </a:t>
            </a:r>
            <a:r>
              <a:rPr sz="2200" b="0" i="0">
                <a:solidFill>
                  <a:srgbClr val="1F2937"/>
                </a:solidFill>
                <a:latin typeface="Calibri"/>
              </a:rPr>
              <a:t>Núcleos y relojes variables</a:t>
            </a:r>
          </a:p>
          <a:p>
            <a:pPr>
              <a:spcAft>
                <a:spcPts val="800"/>
              </a:spcAft>
            </a:pPr>
            <a:r>
              <a:rPr sz="1600" b="1" i="0">
                <a:solidFill>
                  <a:srgbClr val="0D9488"/>
                </a:solidFill>
                <a:latin typeface="Calibri"/>
              </a:rPr>
              <a:t>■  </a:t>
            </a:r>
            <a:r>
              <a:rPr sz="2200" b="0" i="0">
                <a:solidFill>
                  <a:srgbClr val="1F2937"/>
                </a:solidFill>
                <a:latin typeface="Calibri"/>
              </a:rPr>
              <a:t>Sin ventilador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10</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MÁQUINA</a:t>
            </a:r>
          </a:p>
          <a:p>
            <a:r>
              <a:rPr sz="2600" b="1" i="0">
                <a:solidFill>
                  <a:srgbClr val="FFFFFF"/>
                </a:solidFill>
                <a:latin typeface="Calibri"/>
              </a:rPr>
              <a:t>Dibujar dos veces cuesta más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10/74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Apple — Tailor your apps for Apple GPUs and TBDR; Arm GPU Best Practices §2.3, p. 15</a:t>
            </a:r>
          </a:p>
        </p:txBody>
      </p:sp>
      <p:sp>
        <p:nvSpPr>
          <p:cNvPr id="9" name="Rounded Rectangle 8"/>
          <p:cNvSpPr/>
          <p:nvPr/>
        </p:nvSpPr>
        <p:spPr>
          <a:xfrm>
            <a:off x="5928055" y="1325880"/>
            <a:ext cx="2286000" cy="4572000"/>
          </a:xfrm>
          <a:prstGeom prst="roundRect">
            <a:avLst>
              <a:gd name="adj" fmla="val 8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37783" y="1545336"/>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54419" y="1545336"/>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71055" y="1545336"/>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87691" y="1545336"/>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037783" y="2135777"/>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54419" y="2135777"/>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071055" y="2135777"/>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587691" y="2135777"/>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037783" y="2726218"/>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54419" y="2726218"/>
            <a:ext cx="516636" cy="590441"/>
          </a:xfrm>
          <a:prstGeom prst="rect">
            <a:avLst/>
          </a:prstGeom>
          <a:solidFill>
            <a:srgbClr val="0D9488"/>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071055" y="2726218"/>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587691" y="2726218"/>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37783" y="3316659"/>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54419" y="3316659"/>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71055" y="3316659"/>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587691" y="3316659"/>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37783" y="3907100"/>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554419" y="3907100"/>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071055" y="3907100"/>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587691" y="3907100"/>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037783" y="4497541"/>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554419" y="4497541"/>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071055" y="4497541"/>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587691" y="4497541"/>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037783" y="5087982"/>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554419" y="5087982"/>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071055" y="5087982"/>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587691" y="5087982"/>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071055" y="3008738"/>
            <a:ext cx="1874520" cy="2540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037015" y="1783080"/>
            <a:ext cx="1280160" cy="1280160"/>
          </a:xfrm>
          <a:prstGeom prst="rect">
            <a:avLst/>
          </a:prstGeom>
          <a:solidFill>
            <a:srgbClr val="CCFBF1"/>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311335" y="2057400"/>
            <a:ext cx="1280160" cy="1280160"/>
          </a:xfrm>
          <a:prstGeom prst="rect">
            <a:avLst/>
          </a:prstGeom>
          <a:solidFill>
            <a:srgbClr val="5EEAD4"/>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585655" y="2331720"/>
            <a:ext cx="1280160" cy="1280160"/>
          </a:xfrm>
          <a:prstGeom prst="rect">
            <a:avLst/>
          </a:prstGeom>
          <a:solidFill>
            <a:srgbClr val="0D9488"/>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854135" y="1325880"/>
            <a:ext cx="2377440" cy="365760"/>
          </a:xfrm>
          <a:prstGeom prst="rect">
            <a:avLst/>
          </a:prstGeom>
          <a:noFill/>
        </p:spPr>
        <p:txBody>
          <a:bodyPr wrap="square" anchor="ctr" lIns="0" rIns="0" tIns="0" bIns="0">
            <a:spAutoFit/>
          </a:bodyPr>
          <a:lstStyle/>
          <a:p>
            <a:r>
              <a:rPr sz="1500" b="1" i="0">
                <a:solidFill>
                  <a:srgbClr val="1F2937"/>
                </a:solidFill>
                <a:latin typeface="Calibri"/>
              </a:rPr>
              <a:t>1 tile ampliado</a:t>
            </a:r>
          </a:p>
        </p:txBody>
      </p:sp>
      <p:sp>
        <p:nvSpPr>
          <p:cNvPr id="43" name="TextBox 42"/>
          <p:cNvSpPr txBox="1"/>
          <p:nvPr/>
        </p:nvSpPr>
        <p:spPr>
          <a:xfrm>
            <a:off x="8854135" y="3749040"/>
            <a:ext cx="2834640" cy="1097280"/>
          </a:xfrm>
          <a:prstGeom prst="rect">
            <a:avLst/>
          </a:prstGeom>
          <a:noFill/>
        </p:spPr>
        <p:txBody>
          <a:bodyPr wrap="square" anchor="t" lIns="0" rIns="0" tIns="0" bIns="0">
            <a:spAutoFit/>
          </a:bodyPr>
          <a:lstStyle/>
          <a:p>
            <a:r>
              <a:rPr sz="1500" b="0" i="0">
                <a:solidFill>
                  <a:srgbClr val="1F2937"/>
                </a:solidFill>
                <a:latin typeface="Calibri"/>
              </a:rPr>
              <a:t>Partículas superpuestas: el mismo píxel se pinta 3 veces (overdraw)</a:t>
            </a:r>
          </a:p>
        </p:txBody>
      </p:sp>
      <p:sp>
        <p:nvSpPr>
          <p:cNvPr id="44" name="TextBox 43"/>
          <p:cNvSpPr txBox="1"/>
          <p:nvPr/>
        </p:nvSpPr>
        <p:spPr>
          <a:xfrm>
            <a:off x="502920" y="1234440"/>
            <a:ext cx="505937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GPU por tiles (TBDR)</a:t>
            </a:r>
          </a:p>
          <a:p>
            <a:pPr>
              <a:spcAft>
                <a:spcPts val="800"/>
              </a:spcAft>
            </a:pPr>
            <a:r>
              <a:rPr sz="1600" b="1" i="0">
                <a:solidFill>
                  <a:srgbClr val="0D9488"/>
                </a:solidFill>
                <a:latin typeface="Calibri"/>
              </a:rPr>
              <a:t>■  </a:t>
            </a:r>
            <a:r>
              <a:rPr sz="2200" b="0" i="0">
                <a:solidFill>
                  <a:srgbClr val="1F2937"/>
                </a:solidFill>
                <a:latin typeface="Calibri"/>
              </a:rPr>
              <a:t>Memoria = ancho de banda = batería</a:t>
            </a:r>
          </a:p>
          <a:p>
            <a:pPr>
              <a:spcAft>
                <a:spcPts val="800"/>
              </a:spcAft>
            </a:pPr>
            <a:r>
              <a:rPr sz="1600" b="1" i="0">
                <a:solidFill>
                  <a:srgbClr val="0D9488"/>
                </a:solidFill>
                <a:latin typeface="Calibri"/>
              </a:rPr>
              <a:t>■  </a:t>
            </a:r>
            <a:r>
              <a:rPr sz="2200" b="0" i="0">
                <a:solidFill>
                  <a:srgbClr val="1F2937"/>
                </a:solidFill>
                <a:latin typeface="Calibri"/>
              </a:rPr>
              <a:t>Overdraw: el mismo píxel varias veces</a:t>
            </a:r>
          </a:p>
          <a:p>
            <a:pPr>
              <a:spcAft>
                <a:spcPts val="800"/>
              </a:spcAft>
            </a:pPr>
            <a:r>
              <a:rPr sz="1600" b="1" i="0">
                <a:solidFill>
                  <a:srgbClr val="0D9488"/>
                </a:solidFill>
                <a:latin typeface="Calibri"/>
              </a:rPr>
              <a:t>■  </a:t>
            </a:r>
            <a:r>
              <a:rPr sz="2200" b="0" i="0">
                <a:solidFill>
                  <a:srgbClr val="1F2937"/>
                </a:solidFill>
                <a:latin typeface="Calibri"/>
              </a:rPr>
              <a:t>Partículas y transparencias pesan más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11</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MÁQUINA · CONCEPTO CLAVE</a:t>
            </a:r>
          </a:p>
          <a:p>
            <a:r>
              <a:rPr sz="2600" b="1" i="0">
                <a:solidFill>
                  <a:srgbClr val="FFFFFF"/>
                </a:solidFill>
                <a:latin typeface="Calibri"/>
              </a:rPr>
              <a:t>Pico vs. sostenido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11/74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e-book Optimize… mobile, XR and web (Unity 6), p. 19; Android Thermal API</a:t>
            </a:r>
          </a:p>
        </p:txBody>
      </p:sp>
      <p:sp>
        <p:nvSpPr>
          <p:cNvPr id="9" name="Rectangle 8"/>
          <p:cNvSpPr/>
          <p:nvPr/>
        </p:nvSpPr>
        <p:spPr>
          <a:xfrm>
            <a:off x="502920" y="5577840"/>
            <a:ext cx="109728" cy="4572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C2626"/>
                </a:solidFill>
                <a:latin typeface="Calibri"/>
              </a:rPr>
              <a:t>VIDEO  </a:t>
            </a:r>
            <a:r>
              <a:rPr sz="1400" b="0" i="0">
                <a:solidFill>
                  <a:srgbClr val="1F2937"/>
                </a:solidFill>
                <a:latin typeface="Calibri"/>
              </a:rPr>
              <a:t>WWDC19 sesión 422 (Apple), 19:40–31:00 — tarea</a:t>
            </a:r>
          </a:p>
        </p:txBody>
      </p:sp>
      <p:sp>
        <p:nvSpPr>
          <p:cNvPr id="11" name="Rectangle 10"/>
          <p:cNvSpPr/>
          <p:nvPr/>
        </p:nvSpPr>
        <p:spPr>
          <a:xfrm>
            <a:off x="502920" y="502920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2648" y="502920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¿Cómo medirían que un juego es "estable"?</a:t>
            </a:r>
          </a:p>
        </p:txBody>
      </p:sp>
      <p:sp>
        <p:nvSpPr>
          <p:cNvPr id="13" name="Rounded Rectangle 12"/>
          <p:cNvSpPr/>
          <p:nvPr/>
        </p:nvSpPr>
        <p:spPr>
          <a:xfrm>
            <a:off x="7116775" y="1234440"/>
            <a:ext cx="4572000" cy="550926"/>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Uso intenso del chip</a:t>
            </a:r>
          </a:p>
        </p:txBody>
      </p:sp>
      <p:sp>
        <p:nvSpPr>
          <p:cNvPr id="14" name="Down Arrow 13"/>
          <p:cNvSpPr/>
          <p:nvPr/>
        </p:nvSpPr>
        <p:spPr>
          <a:xfrm>
            <a:off x="9201607" y="1821942"/>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116775" y="2132838"/>
            <a:ext cx="4572000" cy="550926"/>
          </a:xfrm>
          <a:prstGeom prst="roundRect">
            <a:avLst>
              <a:gd name="adj" fmla="val 20000"/>
            </a:avLst>
          </a:prstGeom>
          <a:solidFill>
            <a:srgbClr val="F3F4F6"/>
          </a:solidFill>
          <a:ln w="254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Sube la temperatura</a:t>
            </a:r>
          </a:p>
        </p:txBody>
      </p:sp>
      <p:sp>
        <p:nvSpPr>
          <p:cNvPr id="16" name="Down Arrow 15"/>
          <p:cNvSpPr/>
          <p:nvPr/>
        </p:nvSpPr>
        <p:spPr>
          <a:xfrm>
            <a:off x="9201607" y="2720340"/>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116775" y="3031236"/>
            <a:ext cx="4572000" cy="550926"/>
          </a:xfrm>
          <a:prstGeom prst="roundRect">
            <a:avLst>
              <a:gd name="adj" fmla="val 20000"/>
            </a:avLst>
          </a:prstGeom>
          <a:solidFill>
            <a:srgbClr val="F3F4F6"/>
          </a:solidFill>
          <a:ln w="254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Throttling: baja la frecuencia</a:t>
            </a:r>
          </a:p>
        </p:txBody>
      </p:sp>
      <p:sp>
        <p:nvSpPr>
          <p:cNvPr id="18" name="Down Arrow 17"/>
          <p:cNvSpPr/>
          <p:nvPr/>
        </p:nvSpPr>
        <p:spPr>
          <a:xfrm>
            <a:off x="9201607" y="3618738"/>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116775" y="3929634"/>
            <a:ext cx="4572000" cy="550926"/>
          </a:xfrm>
          <a:prstGeom prst="roundRect">
            <a:avLst>
              <a:gd name="adj" fmla="val 20000"/>
            </a:avLst>
          </a:prstGeom>
          <a:solidFill>
            <a:srgbClr val="F3F4F6"/>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Caen los fps</a:t>
            </a:r>
          </a:p>
        </p:txBody>
      </p:sp>
      <p:sp>
        <p:nvSpPr>
          <p:cNvPr id="20" name="TextBox 19"/>
          <p:cNvSpPr txBox="1"/>
          <p:nvPr/>
        </p:nvSpPr>
        <p:spPr>
          <a:xfrm>
            <a:off x="7116775" y="4572000"/>
            <a:ext cx="4572000" cy="320040"/>
          </a:xfrm>
          <a:prstGeom prst="rect">
            <a:avLst/>
          </a:prstGeom>
          <a:noFill/>
        </p:spPr>
        <p:txBody>
          <a:bodyPr wrap="square" anchor="ctr" lIns="0" rIns="0" tIns="0" bIns="0">
            <a:spAutoFit/>
          </a:bodyPr>
          <a:lstStyle/>
          <a:p>
            <a:pPr algn="ctr"/>
            <a:r>
              <a:rPr sz="1300" b="0" i="1">
                <a:solidFill>
                  <a:srgbClr val="6B7280"/>
                </a:solidFill>
                <a:latin typeface="Calibri"/>
              </a:rPr>
              <a:t>Por eso importa el fps del minuto 10</a:t>
            </a:r>
          </a:p>
        </p:txBody>
      </p:sp>
      <p:sp>
        <p:nvSpPr>
          <p:cNvPr id="21" name="TextBox 20"/>
          <p:cNvSpPr txBox="1"/>
          <p:nvPr/>
        </p:nvSpPr>
        <p:spPr>
          <a:xfrm>
            <a:off x="502920" y="1234440"/>
            <a:ext cx="6339535" cy="365760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Calor → throttling → caen los fps</a:t>
            </a:r>
          </a:p>
          <a:p>
            <a:pPr>
              <a:spcAft>
                <a:spcPts val="800"/>
              </a:spcAft>
            </a:pPr>
            <a:r>
              <a:rPr sz="1600" b="1" i="0">
                <a:solidFill>
                  <a:srgbClr val="0D9488"/>
                </a:solidFill>
                <a:latin typeface="Calibri"/>
              </a:rPr>
              <a:t>■  </a:t>
            </a:r>
            <a:r>
              <a:rPr sz="2200" b="0" i="0">
                <a:solidFill>
                  <a:srgbClr val="1F2937"/>
                </a:solidFill>
                <a:latin typeface="Calibri"/>
              </a:rPr>
              <a:t>Importa el minuto 10, no el 1</a:t>
            </a:r>
          </a:p>
          <a:p>
            <a:pPr>
              <a:spcAft>
                <a:spcPts val="800"/>
              </a:spcAft>
            </a:pPr>
            <a:r>
              <a:rPr sz="1600" b="1" i="0">
                <a:solidFill>
                  <a:srgbClr val="0D9488"/>
                </a:solidFill>
                <a:latin typeface="Calibri"/>
              </a:rPr>
              <a:t>■  </a:t>
            </a:r>
            <a:r>
              <a:rPr sz="2200" b="0" i="0">
                <a:solidFill>
                  <a:srgbClr val="1F2937"/>
                </a:solidFill>
                <a:latin typeface="Calibri"/>
              </a:rPr>
              <a:t>Usar ~65 % del tiempo de frame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MÁQUINA · BATERÍA</a:t>
            </a:r>
          </a:p>
          <a:p>
            <a:r>
              <a:rPr sz="2600" b="1" i="0">
                <a:solidFill>
                  <a:srgbClr val="FFFFFF"/>
                </a:solidFill>
                <a:latin typeface="Calibri"/>
              </a:rPr>
              <a:t>30 fps no es un error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12/74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Scripting API — Application.targetFrameRate; Android — Optimize power efficiency</a:t>
            </a:r>
          </a:p>
        </p:txBody>
      </p:sp>
      <p:sp>
        <p:nvSpPr>
          <p:cNvPr id="9" name="TextBox 8"/>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Unity móvil: 30 fps por defecto</a:t>
            </a:r>
          </a:p>
          <a:p>
            <a:pPr>
              <a:spcAft>
                <a:spcPts val="800"/>
              </a:spcAft>
            </a:pPr>
            <a:r>
              <a:rPr sz="1600" b="1" i="0">
                <a:solidFill>
                  <a:srgbClr val="0D9488"/>
                </a:solidFill>
                <a:latin typeface="Calibri"/>
              </a:rPr>
              <a:t>■  </a:t>
            </a:r>
            <a:r>
              <a:rPr sz="2200" b="0" i="0">
                <a:solidFill>
                  <a:srgbClr val="1F2937"/>
                </a:solidFill>
                <a:latin typeface="Calibri"/>
              </a:rPr>
              <a:t>60 fps = el doble de trabajo</a:t>
            </a:r>
          </a:p>
          <a:p>
            <a:pPr>
              <a:spcAft>
                <a:spcPts val="800"/>
              </a:spcAft>
            </a:pPr>
            <a:r>
              <a:rPr sz="1600" b="1" i="0">
                <a:solidFill>
                  <a:srgbClr val="0D9488"/>
                </a:solidFill>
                <a:latin typeface="Calibri"/>
              </a:rPr>
              <a:t>■  </a:t>
            </a:r>
            <a:r>
              <a:rPr sz="2200" b="0" i="0">
                <a:solidFill>
                  <a:srgbClr val="1F2937"/>
                </a:solidFill>
                <a:latin typeface="Calibri"/>
              </a:rPr>
              <a:t>El fps es una decisión de diseño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MÁQUINA · CICLO DE VIDA</a:t>
            </a:r>
          </a:p>
          <a:p>
            <a:r>
              <a:rPr sz="2600" b="1" i="0">
                <a:solidFill>
                  <a:srgbClr val="FFFFFF"/>
                </a:solidFill>
                <a:latin typeface="Calibri"/>
              </a:rPr>
              <a:t>El sistema operativo manda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13/74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Android — Low memory killers (2026-09-21); Apple — applicationDidReceiveMemoryWarning</a:t>
            </a:r>
          </a:p>
        </p:txBody>
      </p:sp>
      <p:sp>
        <p:nvSpPr>
          <p:cNvPr id="9" name="Rounded Rectangle 8"/>
          <p:cNvSpPr/>
          <p:nvPr/>
        </p:nvSpPr>
        <p:spPr>
          <a:xfrm>
            <a:off x="7116775" y="1513332"/>
            <a:ext cx="4572000" cy="685800"/>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Jugando</a:t>
            </a:r>
          </a:p>
        </p:txBody>
      </p:sp>
      <p:sp>
        <p:nvSpPr>
          <p:cNvPr id="10" name="Down Arrow 9"/>
          <p:cNvSpPr/>
          <p:nvPr/>
        </p:nvSpPr>
        <p:spPr>
          <a:xfrm>
            <a:off x="9201607" y="2235708"/>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116775" y="2546604"/>
            <a:ext cx="4572000" cy="685800"/>
          </a:xfrm>
          <a:prstGeom prst="roundRect">
            <a:avLst>
              <a:gd name="adj" fmla="val 20000"/>
            </a:avLst>
          </a:prstGeom>
          <a:solidFill>
            <a:srgbClr val="F3F4F6"/>
          </a:solidFill>
          <a:ln w="254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Llamada o cambio de app</a:t>
            </a:r>
          </a:p>
        </p:txBody>
      </p:sp>
      <p:sp>
        <p:nvSpPr>
          <p:cNvPr id="12" name="Down Arrow 11"/>
          <p:cNvSpPr/>
          <p:nvPr/>
        </p:nvSpPr>
        <p:spPr>
          <a:xfrm>
            <a:off x="9201607" y="3268980"/>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116775" y="3579876"/>
            <a:ext cx="4572000" cy="685800"/>
          </a:xfrm>
          <a:prstGeom prst="roundRect">
            <a:avLst>
              <a:gd name="adj" fmla="val 20000"/>
            </a:avLst>
          </a:prstGeom>
          <a:solidFill>
            <a:srgbClr val="F3F4F6"/>
          </a:solidFill>
          <a:ln w="254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Segundo plano</a:t>
            </a:r>
          </a:p>
        </p:txBody>
      </p:sp>
      <p:sp>
        <p:nvSpPr>
          <p:cNvPr id="14" name="Down Arrow 13"/>
          <p:cNvSpPr/>
          <p:nvPr/>
        </p:nvSpPr>
        <p:spPr>
          <a:xfrm>
            <a:off x="9201607" y="4302252"/>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116775" y="4613148"/>
            <a:ext cx="4572000" cy="685800"/>
          </a:xfrm>
          <a:prstGeom prst="roundRect">
            <a:avLst>
              <a:gd name="adj" fmla="val 20000"/>
            </a:avLst>
          </a:prstGeom>
          <a:solidFill>
            <a:srgbClr val="F3F4F6"/>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Falta memoria: el sistema cierra el juego</a:t>
            </a:r>
          </a:p>
        </p:txBody>
      </p:sp>
      <p:sp>
        <p:nvSpPr>
          <p:cNvPr id="16" name="TextBox 15"/>
          <p:cNvSpPr txBox="1"/>
          <p:nvPr/>
        </p:nvSpPr>
        <p:spPr>
          <a:xfrm>
            <a:off x="7116775" y="5390388"/>
            <a:ext cx="4572000" cy="320040"/>
          </a:xfrm>
          <a:prstGeom prst="rect">
            <a:avLst/>
          </a:prstGeom>
          <a:noFill/>
        </p:spPr>
        <p:txBody>
          <a:bodyPr wrap="square" anchor="ctr" lIns="0" rIns="0" tIns="0" bIns="0">
            <a:spAutoFit/>
          </a:bodyPr>
          <a:lstStyle/>
          <a:p>
            <a:pPr algn="ctr"/>
            <a:r>
              <a:rPr sz="1300" b="0" i="1">
                <a:solidFill>
                  <a:srgbClr val="6B7280"/>
                </a:solidFill>
                <a:latin typeface="Calibri"/>
              </a:rPr>
              <a:t>Si no se guardó el estado, la partida se pierde</a:t>
            </a:r>
          </a:p>
        </p:txBody>
      </p:sp>
      <p:sp>
        <p:nvSpPr>
          <p:cNvPr id="17" name="TextBox 16"/>
          <p:cNvSpPr txBox="1"/>
          <p:nvPr/>
        </p:nvSpPr>
        <p:spPr>
          <a:xfrm>
            <a:off x="502920" y="1234440"/>
            <a:ext cx="633953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Salir de la app = segundo plano</a:t>
            </a:r>
          </a:p>
          <a:p>
            <a:pPr>
              <a:spcAft>
                <a:spcPts val="800"/>
              </a:spcAft>
            </a:pPr>
            <a:r>
              <a:rPr sz="1600" b="1" i="0">
                <a:solidFill>
                  <a:srgbClr val="0D9488"/>
                </a:solidFill>
                <a:latin typeface="Calibri"/>
              </a:rPr>
              <a:t>■  </a:t>
            </a:r>
            <a:r>
              <a:rPr sz="2200" b="0" i="0">
                <a:solidFill>
                  <a:srgbClr val="1F2937"/>
                </a:solidFill>
                <a:latin typeface="Calibri"/>
              </a:rPr>
              <a:t>Sin memoria, el SO cierra procesos</a:t>
            </a:r>
          </a:p>
          <a:p>
            <a:pPr>
              <a:spcAft>
                <a:spcPts val="800"/>
              </a:spcAft>
            </a:pPr>
            <a:r>
              <a:rPr sz="1600" b="1" i="0">
                <a:solidFill>
                  <a:srgbClr val="0D9488"/>
                </a:solidFill>
                <a:latin typeface="Calibri"/>
              </a:rPr>
              <a:t>■  </a:t>
            </a:r>
            <a:r>
              <a:rPr sz="2200" b="0" i="0">
                <a:solidFill>
                  <a:srgbClr val="1F2937"/>
                </a:solidFill>
                <a:latin typeface="Calibri"/>
              </a:rPr>
              <a:t>onTrimMemory no lo evita</a:t>
            </a:r>
          </a:p>
          <a:p>
            <a:pPr>
              <a:spcAft>
                <a:spcPts val="800"/>
              </a:spcAft>
            </a:pPr>
            <a:r>
              <a:rPr sz="1600" b="1" i="0">
                <a:solidFill>
                  <a:srgbClr val="0D9488"/>
                </a:solidFill>
                <a:latin typeface="Calibri"/>
              </a:rPr>
              <a:t>■  </a:t>
            </a:r>
            <a:r>
              <a:rPr sz="2200" b="0" i="0">
                <a:solidFill>
                  <a:srgbClr val="1F2937"/>
                </a:solidFill>
                <a:latin typeface="Calibri"/>
              </a:rPr>
              <a:t>Diseño: guardar estado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MÁQUINA · UNITY</a:t>
            </a:r>
          </a:p>
          <a:p>
            <a:r>
              <a:rPr sz="2600" b="1" i="0">
                <a:solidFill>
                  <a:srgbClr val="FFFFFF"/>
                </a:solidFill>
                <a:latin typeface="Calibri"/>
              </a:rPr>
              <a:t>Qué hace Unity con eso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14/74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Scripting API — MonoBehaviour.OnApplicationPause / OnApplicationFocus</a:t>
            </a:r>
          </a:p>
        </p:txBody>
      </p:sp>
      <p:sp>
        <p:nvSpPr>
          <p:cNvPr id="9" name="TextBox 8"/>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OnApplicationPause(bool)</a:t>
            </a:r>
          </a:p>
          <a:p>
            <a:pPr>
              <a:spcAft>
                <a:spcPts val="800"/>
              </a:spcAft>
            </a:pPr>
            <a:r>
              <a:rPr sz="1600" b="1" i="0">
                <a:solidFill>
                  <a:srgbClr val="0D9488"/>
                </a:solidFill>
                <a:latin typeface="Calibri"/>
              </a:rPr>
              <a:t>■  </a:t>
            </a:r>
            <a:r>
              <a:rPr sz="2200" b="0" i="0">
                <a:solidFill>
                  <a:srgbClr val="1F2937"/>
                </a:solidFill>
                <a:latin typeface="Calibri"/>
              </a:rPr>
              <a:t>OnApplicationFocus(bool)</a:t>
            </a:r>
          </a:p>
          <a:p>
            <a:pPr>
              <a:spcAft>
                <a:spcPts val="800"/>
              </a:spcAft>
            </a:pPr>
            <a:r>
              <a:rPr sz="1600" b="1" i="0">
                <a:solidFill>
                  <a:srgbClr val="0D9488"/>
                </a:solidFill>
                <a:latin typeface="Calibri"/>
              </a:rPr>
              <a:t>■  </a:t>
            </a:r>
            <a:r>
              <a:rPr sz="2200" b="0" i="0">
                <a:solidFill>
                  <a:srgbClr val="1F2937"/>
                </a:solidFill>
                <a:latin typeface="Calibri"/>
              </a:rPr>
              <a:t>Teclado en Android → pierde el foco</a:t>
            </a:r>
          </a:p>
          <a:p>
            <a:pPr>
              <a:spcAft>
                <a:spcPts val="800"/>
              </a:spcAft>
            </a:pPr>
            <a:r>
              <a:rPr sz="1600" b="1" i="0">
                <a:solidFill>
                  <a:srgbClr val="0D9488"/>
                </a:solidFill>
                <a:latin typeface="Calibri"/>
              </a:rPr>
              <a:t>■  </a:t>
            </a:r>
            <a:r>
              <a:rPr sz="2200" b="0" i="0">
                <a:solidFill>
                  <a:srgbClr val="1F2937"/>
                </a:solidFill>
                <a:latin typeface="Calibri"/>
              </a:rPr>
              <a:t>Asteroides no los usa (S8)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ACTIVIDAD · 15 MIN · PAREJAS</a:t>
            </a:r>
          </a:p>
          <a:p>
            <a:r>
              <a:rPr sz="2600" b="1" i="0">
                <a:solidFill>
                  <a:srgbClr val="FFFFFF"/>
                </a:solidFill>
                <a:latin typeface="Calibri"/>
              </a:rPr>
              <a:t>Actividad A4.1 — Diagnóstico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15/74</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Una restricción por fila. Prohibido "el teléfono es lento".</a:t>
            </a:r>
          </a:p>
        </p:txBody>
      </p:sp>
      <p:graphicFrame>
        <p:nvGraphicFramePr>
          <p:cNvPr id="10" name="Table 9"/>
          <p:cNvGraphicFramePr>
            <a:graphicFrameLocks noGrp="1"/>
          </p:cNvGraphicFramePr>
          <p:nvPr/>
        </p:nvGraphicFramePr>
        <p:xfrm>
          <a:off x="502920" y="1234440"/>
          <a:ext cx="11185853" cy="3968496"/>
        </p:xfrm>
        <a:graphic>
          <a:graphicData uri="http://schemas.openxmlformats.org/drawingml/2006/table">
            <a:tbl>
              <a:tblPr firstRow="1" bandRow="1">
                <a:tableStyleId>{5C22544A-7EE6-4342-B048-85BDC9FD1C3A}</a:tableStyleId>
              </a:tblPr>
              <a:tblGrid>
                <a:gridCol w="5022220"/>
                <a:gridCol w="2168686"/>
                <a:gridCol w="1940403"/>
                <a:gridCol w="2054544"/>
              </a:tblGrid>
              <a:tr h="566928">
                <a:tc>
                  <a:txBody>
                    <a:bodyPr wrap="square"/>
                    <a:lstStyle/>
                    <a:p>
                      <a:r>
                        <a:rPr sz="1200" b="1" i="0">
                          <a:solidFill>
                            <a:srgbClr val="FFFFFF"/>
                          </a:solidFill>
                          <a:latin typeface="Calibri"/>
                        </a:rPr>
                        <a:t>Reporte del jugador</a:t>
                      </a:r>
                    </a:p>
                  </a:txBody>
                  <a:tcPr marL="73152" marR="73152" marT="36576" marB="36576" anchor="ctr">
                    <a:solidFill>
                      <a:srgbClr val="0D9488"/>
                    </a:solidFill>
                  </a:tcPr>
                </a:tc>
                <a:tc>
                  <a:txBody>
                    <a:bodyPr wrap="square"/>
                    <a:lstStyle/>
                    <a:p>
                      <a:r>
                        <a:rPr sz="1200" b="1" i="0">
                          <a:solidFill>
                            <a:srgbClr val="FFFFFF"/>
                          </a:solidFill>
                          <a:latin typeface="Calibri"/>
                        </a:rPr>
                        <a:t>¿Restricción?</a:t>
                      </a:r>
                    </a:p>
                  </a:txBody>
                  <a:tcPr marL="73152" marR="73152" marT="36576" marB="36576" anchor="ctr">
                    <a:solidFill>
                      <a:srgbClr val="0D9488"/>
                    </a:solidFill>
                  </a:tcPr>
                </a:tc>
                <a:tc>
                  <a:txBody>
                    <a:bodyPr wrap="square"/>
                    <a:lstStyle/>
                    <a:p>
                      <a:r>
                        <a:rPr sz="1200" b="1" i="0">
                          <a:solidFill>
                            <a:srgbClr val="FFFFFF"/>
                          </a:solidFill>
                          <a:latin typeface="Calibri"/>
                        </a:rPr>
                        <a:t>¿Evidencia?</a:t>
                      </a:r>
                    </a:p>
                  </a:txBody>
                  <a:tcPr marL="73152" marR="73152" marT="36576" marB="36576" anchor="ctr">
                    <a:solidFill>
                      <a:srgbClr val="0D9488"/>
                    </a:solidFill>
                  </a:tcPr>
                </a:tc>
                <a:tc>
                  <a:txBody>
                    <a:bodyPr wrap="square"/>
                    <a:lstStyle/>
                    <a:p>
                      <a:r>
                        <a:rPr sz="1200" b="1" i="0">
                          <a:solidFill>
                            <a:srgbClr val="FFFFFF"/>
                          </a:solidFill>
                          <a:latin typeface="Calibri"/>
                        </a:rPr>
                        <a:t>¿Qué prueba?</a:t>
                      </a:r>
                    </a:p>
                  </a:txBody>
                  <a:tcPr marL="73152" marR="73152" marT="36576" marB="36576" anchor="ctr">
                    <a:solidFill>
                      <a:srgbClr val="0D9488"/>
                    </a:solidFill>
                  </a:tcPr>
                </a:tc>
              </a:tr>
              <a:tr h="566928">
                <a:tc>
                  <a:txBody>
                    <a:bodyPr wrap="square"/>
                    <a:lstStyle/>
                    <a:p>
                      <a:r>
                        <a:rPr sz="1200" b="0" i="0">
                          <a:solidFill>
                            <a:srgbClr val="1F2937"/>
                          </a:solidFill>
                          <a:latin typeface="Calibri"/>
                        </a:rPr>
                        <a:t>Se cerró al volver de WhatsApp</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A los 10 min se traba y quema</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r h="566928">
                <a:tc>
                  <a:txBody>
                    <a:bodyPr wrap="square"/>
                    <a:lstStyle/>
                    <a:p>
                      <a:r>
                        <a:rPr sz="1200" b="0" i="0">
                          <a:solidFill>
                            <a:srgbClr val="1F2937"/>
                          </a:solidFill>
                          <a:latin typeface="Calibri"/>
                        </a:rPr>
                        <a:t>Pausa bajo la cámara</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Score diminuto en la tablet</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r h="566928">
                <a:tc>
                  <a:txBody>
                    <a:bodyPr wrap="square"/>
                    <a:lstStyle/>
                    <a:p>
                      <a:r>
                        <a:rPr sz="1200" b="0" i="0">
                          <a:solidFill>
                            <a:srgbClr val="1F2937"/>
                          </a:solidFill>
                          <a:latin typeface="Calibri"/>
                        </a:rPr>
                        <a:t>Sin batería en media hora</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En el emulador anda, en mi teléfono no</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Rectangle 1"/>
          <p:cNvSpPr/>
          <p:nvPr/>
        </p:nvSpPr>
        <p:spPr>
          <a:xfrm>
            <a:off x="0" y="4754880"/>
            <a:ext cx="12191695" cy="508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0"/>
            <a:ext cx="11185855" cy="3291840"/>
          </a:xfrm>
          <a:prstGeom prst="rect">
            <a:avLst/>
          </a:prstGeom>
          <a:noFill/>
        </p:spPr>
        <p:txBody>
          <a:bodyPr wrap="square" anchor="b" lIns="0" rIns="0" tIns="0" bIns="0">
            <a:spAutoFit/>
          </a:bodyPr>
          <a:lstStyle/>
          <a:p>
            <a:r>
              <a:rPr sz="1400" b="1" i="0">
                <a:solidFill>
                  <a:srgbClr val="99F6E4"/>
                </a:solidFill>
                <a:latin typeface="Calibri"/>
              </a:rPr>
              <a:t>UNIDAD IV · CLASE 2 DE 3 · 90 MIN</a:t>
            </a:r>
          </a:p>
          <a:p>
            <a:r>
              <a:rPr sz="4000" b="1" i="0">
                <a:solidFill>
                  <a:srgbClr val="FFFFFF"/>
                </a:solidFill>
                <a:latin typeface="Calibri"/>
              </a:rPr>
              <a:t>Del supuesto de PC al pulgar</a:t>
            </a:r>
          </a:p>
          <a:p>
            <a:pPr>
              <a:spcBef>
                <a:spcPts val="600"/>
              </a:spcBef>
            </a:pPr>
            <a:r>
              <a:rPr sz="2000" b="0" i="0">
                <a:solidFill>
                  <a:srgbClr val="CBD5E1"/>
                </a:solidFill>
                <a:latin typeface="Calibri"/>
              </a:rPr>
              <a:t>Supuestos de PC, UI táctil y controles en Unity</a:t>
            </a:r>
          </a:p>
          <a:p>
            <a:pPr>
              <a:spcBef>
                <a:spcPts val="600"/>
              </a:spcBef>
            </a:pPr>
            <a:r>
              <a:rPr sz="2000" b="0" i="0">
                <a:solidFill>
                  <a:srgbClr val="CBD5E1"/>
                </a:solidFill>
                <a:latin typeface="Calibri"/>
              </a:rPr>
              <a:t>Diseño según Plataformas de Juego · FI – UNJu · 2026</a:t>
            </a:r>
          </a:p>
        </p:txBody>
      </p:sp>
      <p:sp>
        <p:nvSpPr>
          <p:cNvPr id="4" name="TextBox 3"/>
          <p:cNvSpPr txBox="1"/>
          <p:nvPr/>
        </p:nvSpPr>
        <p:spPr>
          <a:xfrm>
            <a:off x="502920" y="6035040"/>
            <a:ext cx="11185855" cy="365760"/>
          </a:xfrm>
          <a:prstGeom prst="rect">
            <a:avLst/>
          </a:prstGeom>
          <a:noFill/>
        </p:spPr>
        <p:txBody>
          <a:bodyPr wrap="square" anchor="t" lIns="0" rIns="0" tIns="0" bIns="0">
            <a:spAutoFit/>
          </a:bodyPr>
          <a:lstStyle/>
          <a:p>
            <a:r>
              <a:rPr sz="1200" b="0" i="0">
                <a:solidFill>
                  <a:srgbClr val="CBD5E1"/>
                </a:solidFill>
                <a:latin typeface="Calibri"/>
              </a:rPr>
              <a:t>Unidad IV · Clase 2 · final · 16/74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APERTURA · 3 MIN</a:t>
            </a:r>
          </a:p>
          <a:p>
            <a:r>
              <a:rPr sz="2600" b="1" i="0">
                <a:solidFill>
                  <a:srgbClr val="FFFFFF"/>
                </a:solidFill>
                <a:latin typeface="Calibri"/>
              </a:rPr>
              <a:t>Dónde quedamos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2 · Del supuesto de PC al pulgar</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17/74</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¿Por qué la nave no se mueve en el teléfono?</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A4.1: síntomas en el teléfono</a:t>
            </a:r>
          </a:p>
          <a:p>
            <a:pPr>
              <a:spcAft>
                <a:spcPts val="800"/>
              </a:spcAft>
            </a:pPr>
            <a:r>
              <a:rPr sz="1600" b="1" i="0">
                <a:solidFill>
                  <a:srgbClr val="0D9488"/>
                </a:solidFill>
                <a:latin typeface="Calibri"/>
              </a:rPr>
              <a:t>■  </a:t>
            </a:r>
            <a:r>
              <a:rPr sz="2200" b="0" i="0">
                <a:solidFill>
                  <a:srgbClr val="1F2937"/>
                </a:solidFill>
                <a:latin typeface="Calibri"/>
              </a:rPr>
              <a:t>Hoy: qué supone el código</a:t>
            </a:r>
          </a:p>
          <a:p>
            <a:pPr>
              <a:spcAft>
                <a:spcPts val="800"/>
              </a:spcAft>
            </a:pPr>
            <a:r>
              <a:rPr sz="1600" b="1" i="0">
                <a:solidFill>
                  <a:srgbClr val="0D9488"/>
                </a:solidFill>
                <a:latin typeface="Calibri"/>
              </a:rPr>
              <a:t>■  </a:t>
            </a:r>
            <a:r>
              <a:rPr sz="2200" b="0" i="0">
                <a:solidFill>
                  <a:srgbClr val="1F2937"/>
                </a:solidFill>
                <a:latin typeface="Calibri"/>
              </a:rPr>
              <a:t>Y cómo se juega con el pulgar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DEMO EN VIVO · 4 MIN</a:t>
            </a:r>
          </a:p>
          <a:p>
            <a:r>
              <a:rPr sz="2600" b="1" i="0">
                <a:solidFill>
                  <a:srgbClr val="FFFFFF"/>
                </a:solidFill>
                <a:latin typeface="Calibri"/>
              </a:rPr>
              <a:t>Demo: el simulador y sus límites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2 · Del supuesto de PC al pulgar</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18/74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Manual — Device Simulator introduction; Android Player settings</a:t>
            </a:r>
          </a:p>
        </p:txBody>
      </p:sp>
      <p:pic>
        <p:nvPicPr>
          <p:cNvPr id="9" name="Picture 8" descr="u4-simulator-selector.png"/>
          <p:cNvPicPr>
            <a:picLocks noChangeAspect="1"/>
          </p:cNvPicPr>
          <p:nvPr/>
        </p:nvPicPr>
        <p:blipFill>
          <a:blip r:embed="rId2"/>
          <a:stretch>
            <a:fillRect/>
          </a:stretch>
        </p:blipFill>
        <p:spPr>
          <a:xfrm>
            <a:off x="6453419" y="1234440"/>
            <a:ext cx="3521271" cy="4389120"/>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Pestaña Game: Game → Simulator, y la ventana Simulator con un teléfono</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Player Settings de Android</a:t>
            </a:r>
          </a:p>
          <a:p>
            <a:pPr>
              <a:spcAft>
                <a:spcPts val="800"/>
              </a:spcAft>
            </a:pPr>
            <a:r>
              <a:rPr sz="1600" b="1" i="0">
                <a:solidFill>
                  <a:srgbClr val="0D9488"/>
                </a:solidFill>
                <a:latin typeface="Calibri"/>
              </a:rPr>
              <a:t>■  </a:t>
            </a:r>
            <a:r>
              <a:rPr sz="2200" b="0" i="0">
                <a:solidFill>
                  <a:srgbClr val="1F2937"/>
                </a:solidFill>
                <a:latin typeface="Calibri"/>
              </a:rPr>
              <a:t>Device Simulator: qué simula</a:t>
            </a:r>
          </a:p>
          <a:p>
            <a:pPr>
              <a:spcAft>
                <a:spcPts val="800"/>
              </a:spcAft>
            </a:pPr>
            <a:r>
              <a:rPr sz="1600" b="1" i="0">
                <a:solidFill>
                  <a:srgbClr val="0D9488"/>
                </a:solidFill>
                <a:latin typeface="Calibri"/>
              </a:rPr>
              <a:t>■  </a:t>
            </a:r>
            <a:r>
              <a:rPr sz="2200" b="0" i="0">
                <a:solidFill>
                  <a:srgbClr val="1F2937"/>
                </a:solidFill>
                <a:latin typeface="Calibri"/>
              </a:rPr>
              <a:t>Y qué NO simula</a:t>
            </a:r>
          </a:p>
          <a:p>
            <a:pPr>
              <a:spcAft>
                <a:spcPts val="800"/>
              </a:spcAft>
            </a:pPr>
            <a:r>
              <a:rPr sz="1600" b="1" i="0">
                <a:solidFill>
                  <a:srgbClr val="0D9488"/>
                </a:solidFill>
                <a:latin typeface="Calibri"/>
              </a:rPr>
              <a:t>■  </a:t>
            </a:r>
            <a:r>
              <a:rPr sz="2200" b="0" i="0">
                <a:solidFill>
                  <a:srgbClr val="1F2937"/>
                </a:solidFill>
                <a:latin typeface="Calibri"/>
              </a:rPr>
              <a:t>Asteroides en vertical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19</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ACTIVIDAD · 12 MIN · GRUPOS</a:t>
            </a:r>
          </a:p>
          <a:p>
            <a:r>
              <a:rPr sz="2600" b="1" i="0">
                <a:solidFill>
                  <a:srgbClr val="FFFFFF"/>
                </a:solidFill>
                <a:latin typeface="Calibri"/>
              </a:rPr>
              <a:t>Actividad A4.2 — Supuestos de PC</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2 · Del supuesto de PC al pulgar</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19/74</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5 supuestos: dónde (archivo:línea), qué pasaría, qué eje.</a:t>
            </a:r>
          </a:p>
        </p:txBody>
      </p:sp>
      <p:sp>
        <p:nvSpPr>
          <p:cNvPr id="10" name="TextBox 9"/>
          <p:cNvSpPr txBox="1"/>
          <p:nvPr/>
        </p:nvSpPr>
        <p:spPr>
          <a:xfrm>
            <a:off x="5653735" y="1234440"/>
            <a:ext cx="6035040" cy="320040"/>
          </a:xfrm>
          <a:prstGeom prst="rect">
            <a:avLst/>
          </a:prstGeom>
          <a:noFill/>
        </p:spPr>
        <p:txBody>
          <a:bodyPr wrap="square" anchor="ctr" lIns="0" rIns="0" tIns="0" bIns="0">
            <a:spAutoFit/>
          </a:bodyPr>
          <a:lstStyle/>
          <a:p>
            <a:r>
              <a:rPr sz="1200" b="1" i="0">
                <a:solidFill>
                  <a:srgbClr val="6B7280"/>
                </a:solidFill>
                <a:latin typeface="Calibri"/>
              </a:rPr>
              <a:t>Ship.cs  ·  líneas 61–73  ·  versión original (commit e766f8c)</a:t>
            </a:r>
          </a:p>
        </p:txBody>
      </p:sp>
      <p:sp>
        <p:nvSpPr>
          <p:cNvPr id="11" name="Rounded Rectangle 10"/>
          <p:cNvSpPr/>
          <p:nvPr/>
        </p:nvSpPr>
        <p:spPr>
          <a:xfrm>
            <a:off x="5653735" y="1600200"/>
            <a:ext cx="6035040" cy="3840480"/>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28600"/>
          <a:lstStyle/>
          <a:p>
            <a:pPr algn="l"/>
            <a:r>
              <a:rPr sz="1400" b="0" i="0">
                <a:solidFill>
                  <a:srgbClr val="64748B"/>
                </a:solidFill>
                <a:latin typeface="Consolas"/>
              </a:rPr>
              <a:t> 61  </a:t>
            </a:r>
            <a:r>
              <a:rPr sz="1400" b="1" i="0">
                <a:solidFill>
                  <a:srgbClr val="D97706"/>
                </a:solidFill>
                <a:latin typeface="Consolas"/>
              </a:rPr>
              <a:t>if (Input.GetKey(KeyCode.Space) &amp;&amp; canShoot)</a:t>
            </a:r>
          </a:p>
          <a:p>
            <a:pPr algn="l"/>
            <a:r>
              <a:rPr sz="1400" b="0" i="0">
                <a:solidFill>
                  <a:srgbClr val="64748B"/>
                </a:solidFill>
                <a:latin typeface="Consolas"/>
              </a:rPr>
              <a:t> 62  </a:t>
            </a:r>
            <a:r>
              <a:rPr sz="1400" b="0" i="0">
                <a:solidFill>
                  <a:srgbClr val="E2E8F0"/>
                </a:solidFill>
                <a:latin typeface="Consolas"/>
              </a:rPr>
              <a:t>{</a:t>
            </a:r>
          </a:p>
          <a:p>
            <a:pPr algn="l"/>
            <a:r>
              <a:rPr sz="1400" b="0" i="0">
                <a:solidFill>
                  <a:srgbClr val="64748B"/>
                </a:solidFill>
                <a:latin typeface="Consolas"/>
              </a:rPr>
              <a:t> 63  </a:t>
            </a:r>
            <a:r>
              <a:rPr sz="1400" b="0" i="0">
                <a:solidFill>
                  <a:srgbClr val="E2E8F0"/>
                </a:solidFill>
                <a:latin typeface="Consolas"/>
              </a:rPr>
              <a:t>    ShootLaser();</a:t>
            </a:r>
          </a:p>
          <a:p>
            <a:pPr algn="l"/>
            <a:r>
              <a:rPr sz="1400" b="0" i="0">
                <a:solidFill>
                  <a:srgbClr val="64748B"/>
                </a:solidFill>
                <a:latin typeface="Consolas"/>
              </a:rPr>
              <a:t> 64  </a:t>
            </a:r>
            <a:r>
              <a:rPr sz="1400" b="0" i="0">
                <a:solidFill>
                  <a:srgbClr val="E2E8F0"/>
                </a:solidFill>
                <a:latin typeface="Consolas"/>
              </a:rPr>
              <a:t>}</a:t>
            </a:r>
          </a:p>
          <a:p>
            <a:pPr algn="l"/>
            <a:r>
              <a:rPr sz="1400" b="0" i="0">
                <a:solidFill>
                  <a:srgbClr val="64748B"/>
                </a:solidFill>
                <a:latin typeface="Consolas"/>
              </a:rPr>
              <a:t> 65  </a:t>
            </a:r>
            <a:r>
              <a:rPr sz="1400" b="0" i="0">
                <a:solidFill>
                  <a:srgbClr val="E2E8F0"/>
                </a:solidFill>
                <a:latin typeface="Consolas"/>
              </a:rPr>
              <a:t> </a:t>
            </a:r>
          </a:p>
          <a:p>
            <a:pPr algn="l"/>
            <a:r>
              <a:rPr sz="1400" b="0" i="0">
                <a:solidFill>
                  <a:srgbClr val="64748B"/>
                </a:solidFill>
                <a:latin typeface="Consolas"/>
              </a:rPr>
              <a:t> 66  </a:t>
            </a:r>
            <a:r>
              <a:rPr sz="1400" b="1" i="0">
                <a:solidFill>
                  <a:srgbClr val="D97706"/>
                </a:solidFill>
                <a:latin typeface="Consolas"/>
              </a:rPr>
              <a:t>if (Input.GetKey(KeyCode.LeftArrow))</a:t>
            </a:r>
          </a:p>
          <a:p>
            <a:pPr algn="l"/>
            <a:r>
              <a:rPr sz="1400" b="0" i="0">
                <a:solidFill>
                  <a:srgbClr val="64748B"/>
                </a:solidFill>
                <a:latin typeface="Consolas"/>
              </a:rPr>
              <a:t> 67  </a:t>
            </a:r>
            <a:r>
              <a:rPr sz="1400" b="0" i="0">
                <a:solidFill>
                  <a:srgbClr val="E2E8F0"/>
                </a:solidFill>
                <a:latin typeface="Consolas"/>
              </a:rPr>
              <a:t>{</a:t>
            </a:r>
          </a:p>
          <a:p>
            <a:pPr algn="l"/>
            <a:r>
              <a:rPr sz="1400" b="0" i="0">
                <a:solidFill>
                  <a:srgbClr val="64748B"/>
                </a:solidFill>
                <a:latin typeface="Consolas"/>
              </a:rPr>
              <a:t> 68  </a:t>
            </a:r>
            <a:r>
              <a:rPr sz="1400" b="0" i="0">
                <a:solidFill>
                  <a:srgbClr val="E2E8F0"/>
                </a:solidFill>
                <a:latin typeface="Consolas"/>
              </a:rPr>
              <a:t>    MoveLeft();</a:t>
            </a:r>
          </a:p>
          <a:p>
            <a:pPr algn="l"/>
            <a:r>
              <a:rPr sz="1400" b="0" i="0">
                <a:solidFill>
                  <a:srgbClr val="64748B"/>
                </a:solidFill>
                <a:latin typeface="Consolas"/>
              </a:rPr>
              <a:t> 69  </a:t>
            </a:r>
            <a:r>
              <a:rPr sz="1400" b="0" i="0">
                <a:solidFill>
                  <a:srgbClr val="E2E8F0"/>
                </a:solidFill>
                <a:latin typeface="Consolas"/>
              </a:rPr>
              <a:t>}</a:t>
            </a:r>
          </a:p>
          <a:p>
            <a:pPr algn="l"/>
            <a:r>
              <a:rPr sz="1400" b="0" i="0">
                <a:solidFill>
                  <a:srgbClr val="64748B"/>
                </a:solidFill>
                <a:latin typeface="Consolas"/>
              </a:rPr>
              <a:t> 70  </a:t>
            </a:r>
            <a:r>
              <a:rPr sz="1400" b="0" i="0">
                <a:solidFill>
                  <a:srgbClr val="E2E8F0"/>
                </a:solidFill>
                <a:latin typeface="Consolas"/>
              </a:rPr>
              <a:t> </a:t>
            </a:r>
          </a:p>
          <a:p>
            <a:pPr algn="l"/>
            <a:r>
              <a:rPr sz="1400" b="0" i="0">
                <a:solidFill>
                  <a:srgbClr val="64748B"/>
                </a:solidFill>
                <a:latin typeface="Consolas"/>
              </a:rPr>
              <a:t> 71  </a:t>
            </a:r>
            <a:r>
              <a:rPr sz="1400" b="1" i="0">
                <a:solidFill>
                  <a:srgbClr val="D97706"/>
                </a:solidFill>
                <a:latin typeface="Consolas"/>
              </a:rPr>
              <a:t>if (Input.GetKey(KeyCode.RightArrow))</a:t>
            </a:r>
          </a:p>
          <a:p>
            <a:pPr algn="l"/>
            <a:r>
              <a:rPr sz="1400" b="0" i="0">
                <a:solidFill>
                  <a:srgbClr val="64748B"/>
                </a:solidFill>
                <a:latin typeface="Consolas"/>
              </a:rPr>
              <a:t> 72  </a:t>
            </a:r>
            <a:r>
              <a:rPr sz="1400" b="0" i="0">
                <a:solidFill>
                  <a:srgbClr val="E2E8F0"/>
                </a:solidFill>
                <a:latin typeface="Consolas"/>
              </a:rPr>
              <a:t>{</a:t>
            </a:r>
          </a:p>
          <a:p>
            <a:pPr algn="l"/>
            <a:r>
              <a:rPr sz="1400" b="0" i="0">
                <a:solidFill>
                  <a:srgbClr val="64748B"/>
                </a:solidFill>
                <a:latin typeface="Consolas"/>
              </a:rPr>
              <a:t> 73  </a:t>
            </a:r>
            <a:r>
              <a:rPr sz="1400" b="0" i="0">
                <a:solidFill>
                  <a:srgbClr val="E2E8F0"/>
                </a:solidFill>
                <a:latin typeface="Consolas"/>
              </a:rPr>
              <a:t>    MoveRight();</a:t>
            </a:r>
          </a:p>
        </p:txBody>
      </p:sp>
      <p:sp>
        <p:nvSpPr>
          <p:cNvPr id="12" name="TextBox 11"/>
          <p:cNvSpPr txBox="1"/>
          <p:nvPr/>
        </p:nvSpPr>
        <p:spPr>
          <a:xfrm>
            <a:off x="502920" y="1234440"/>
            <a:ext cx="487649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Ship.cs 61–73: el control</a:t>
            </a:r>
          </a:p>
          <a:p>
            <a:pPr>
              <a:spcAft>
                <a:spcPts val="800"/>
              </a:spcAft>
            </a:pPr>
            <a:r>
              <a:rPr sz="1600" b="1" i="0">
                <a:solidFill>
                  <a:srgbClr val="0D9488"/>
                </a:solidFill>
                <a:latin typeface="Calibri"/>
              </a:rPr>
              <a:t>■  </a:t>
            </a:r>
            <a:r>
              <a:rPr sz="2200" b="0" i="0">
                <a:solidFill>
                  <a:srgbClr val="1F2937"/>
                </a:solidFill>
                <a:latin typeface="Calibri"/>
              </a:rPr>
              <a:t>Ship.cs 46–47 y 99–115: los límites</a:t>
            </a:r>
          </a:p>
          <a:p>
            <a:pPr>
              <a:spcAft>
                <a:spcPts val="800"/>
              </a:spcAft>
            </a:pPr>
            <a:r>
              <a:rPr sz="1600" b="1" i="0">
                <a:solidFill>
                  <a:srgbClr val="0D9488"/>
                </a:solidFill>
                <a:latin typeface="Calibri"/>
              </a:rPr>
              <a:t>■  </a:t>
            </a:r>
            <a:r>
              <a:rPr sz="2200" b="0" i="0">
                <a:solidFill>
                  <a:srgbClr val="1F2937"/>
                </a:solidFill>
                <a:latin typeface="Calibri"/>
              </a:rPr>
              <a:t>Spawner.cs 101–106: el spawn</a:t>
            </a:r>
          </a:p>
          <a:p>
            <a:pPr>
              <a:spcAft>
                <a:spcPts val="800"/>
              </a:spcAft>
            </a:pPr>
            <a:r>
              <a:rPr sz="1600" b="1" i="0">
                <a:solidFill>
                  <a:srgbClr val="0D9488"/>
                </a:solidFill>
                <a:latin typeface="Calibri"/>
              </a:rPr>
              <a:t>■  </a:t>
            </a:r>
            <a:r>
              <a:rPr sz="2200" b="0" i="0">
                <a:solidFill>
                  <a:srgbClr val="1F2937"/>
                </a:solidFill>
                <a:latin typeface="Calibri"/>
              </a:rPr>
              <a:t>Prefab Game: Canvas y cámara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20</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PUESTA EN COMÚN · 5 MIN</a:t>
            </a:r>
          </a:p>
          <a:p>
            <a:r>
              <a:rPr sz="2600" b="1" i="0">
                <a:solidFill>
                  <a:srgbClr val="FFFFFF"/>
                </a:solidFill>
                <a:latin typeface="Calibri"/>
              </a:rPr>
              <a:t>Lo que encontramos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2 · Del supuesto de PC al pulgar</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20/74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Código del proyecto (Spawner.cs:101-106; prefab Game, Camera)</a:t>
            </a:r>
          </a:p>
        </p:txBody>
      </p:sp>
      <p:sp>
        <p:nvSpPr>
          <p:cNvPr id="9" name="Rectangle 8"/>
          <p:cNvSpPr/>
          <p:nvPr/>
        </p:nvSpPr>
        <p:spPr>
          <a:xfrm>
            <a:off x="5013655" y="1920240"/>
            <a:ext cx="3271393" cy="1840159"/>
          </a:xfrm>
          <a:prstGeom prst="rect">
            <a:avLst/>
          </a:prstGeom>
          <a:solidFill>
            <a:srgbClr val="F3F4F6"/>
          </a:solidFill>
          <a:ln w="3175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177224" y="1627632"/>
            <a:ext cx="2944255" cy="16459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86311" y="3833551"/>
            <a:ext cx="2926080" cy="548640"/>
          </a:xfrm>
          <a:prstGeom prst="rect">
            <a:avLst/>
          </a:prstGeom>
          <a:noFill/>
        </p:spPr>
        <p:txBody>
          <a:bodyPr wrap="square" anchor="t" lIns="0" rIns="0" tIns="0" bIns="0">
            <a:spAutoFit/>
          </a:bodyPr>
          <a:lstStyle/>
          <a:p>
            <a:pPr algn="ctr"/>
            <a:r>
              <a:rPr sz="1500" b="1" i="0">
                <a:solidFill>
                  <a:srgbClr val="1F2937"/>
                </a:solidFill>
                <a:latin typeface="Calibri"/>
              </a:rPr>
              <a:t>16:9</a:t>
            </a:r>
          </a:p>
          <a:p>
            <a:pPr algn="ctr"/>
            <a:r>
              <a:rPr sz="1300" b="0" i="0">
                <a:solidFill>
                  <a:srgbClr val="6B7280"/>
                </a:solidFill>
                <a:latin typeface="Calibri"/>
              </a:rPr>
              <a:t>se ven ±8,9 unidades</a:t>
            </a:r>
          </a:p>
        </p:txBody>
      </p:sp>
      <p:sp>
        <p:nvSpPr>
          <p:cNvPr id="12" name="Rectangle 11"/>
          <p:cNvSpPr/>
          <p:nvPr/>
        </p:nvSpPr>
        <p:spPr>
          <a:xfrm>
            <a:off x="9607663" y="1920240"/>
            <a:ext cx="1035089" cy="1840159"/>
          </a:xfrm>
          <a:prstGeom prst="rect">
            <a:avLst/>
          </a:prstGeom>
          <a:solidFill>
            <a:srgbClr val="F3F4F6"/>
          </a:solidFill>
          <a:ln w="3175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653080" y="1627632"/>
            <a:ext cx="954583" cy="164592"/>
          </a:xfrm>
          <a:prstGeom prst="rect">
            <a:avLst/>
          </a:prstGeom>
          <a:solidFill>
            <a:srgbClr val="DC2626"/>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607663" y="1627632"/>
            <a:ext cx="1035089" cy="16459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642752" y="1627632"/>
            <a:ext cx="954583" cy="164592"/>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62167" y="3833551"/>
            <a:ext cx="2926080" cy="548640"/>
          </a:xfrm>
          <a:prstGeom prst="rect">
            <a:avLst/>
          </a:prstGeom>
          <a:noFill/>
        </p:spPr>
        <p:txBody>
          <a:bodyPr wrap="square" anchor="t" lIns="0" rIns="0" tIns="0" bIns="0">
            <a:spAutoFit/>
          </a:bodyPr>
          <a:lstStyle/>
          <a:p>
            <a:pPr algn="ctr"/>
            <a:r>
              <a:rPr sz="1500" b="1" i="0">
                <a:solidFill>
                  <a:srgbClr val="1F2937"/>
                </a:solidFill>
                <a:latin typeface="Calibri"/>
              </a:rPr>
              <a:t>9:16</a:t>
            </a:r>
          </a:p>
          <a:p>
            <a:pPr algn="ctr"/>
            <a:r>
              <a:rPr sz="1300" b="0" i="0">
                <a:solidFill>
                  <a:srgbClr val="6B7280"/>
                </a:solidFill>
                <a:latin typeface="Calibri"/>
              </a:rPr>
              <a:t>se ven ±2,8 unidades</a:t>
            </a:r>
          </a:p>
        </p:txBody>
      </p:sp>
      <p:sp>
        <p:nvSpPr>
          <p:cNvPr id="17" name="Rectangle 16"/>
          <p:cNvSpPr/>
          <p:nvPr/>
        </p:nvSpPr>
        <p:spPr>
          <a:xfrm>
            <a:off x="5013655" y="5404104"/>
            <a:ext cx="320040" cy="16459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25135" y="5349240"/>
            <a:ext cx="2926080" cy="274320"/>
          </a:xfrm>
          <a:prstGeom prst="rect">
            <a:avLst/>
          </a:prstGeom>
          <a:noFill/>
        </p:spPr>
        <p:txBody>
          <a:bodyPr wrap="square" anchor="ctr" lIns="0" rIns="0" tIns="0" bIns="0">
            <a:spAutoFit/>
          </a:bodyPr>
          <a:lstStyle/>
          <a:p>
            <a:r>
              <a:rPr sz="1300" b="0" i="0">
                <a:solidFill>
                  <a:srgbClr val="1F2937"/>
                </a:solidFill>
                <a:latin typeface="Calibri"/>
              </a:rPr>
              <a:t>spawn dentro de la pantalla</a:t>
            </a:r>
          </a:p>
        </p:txBody>
      </p:sp>
      <p:sp>
        <p:nvSpPr>
          <p:cNvPr id="19" name="Rectangle 18"/>
          <p:cNvSpPr/>
          <p:nvPr/>
        </p:nvSpPr>
        <p:spPr>
          <a:xfrm>
            <a:off x="8214055" y="5404104"/>
            <a:ext cx="320040" cy="164592"/>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5535" y="5349240"/>
            <a:ext cx="2926080" cy="274320"/>
          </a:xfrm>
          <a:prstGeom prst="rect">
            <a:avLst/>
          </a:prstGeom>
          <a:noFill/>
        </p:spPr>
        <p:txBody>
          <a:bodyPr wrap="square" anchor="ctr" lIns="0" rIns="0" tIns="0" bIns="0">
            <a:spAutoFit/>
          </a:bodyPr>
          <a:lstStyle/>
          <a:p>
            <a:r>
              <a:rPr sz="1300" b="0" i="0">
                <a:solidFill>
                  <a:srgbClr val="1F2937"/>
                </a:solidFill>
                <a:latin typeface="Calibri"/>
              </a:rPr>
              <a:t>spawn fuera de la pantalla</a:t>
            </a:r>
          </a:p>
        </p:txBody>
      </p:sp>
      <p:sp>
        <p:nvSpPr>
          <p:cNvPr id="21" name="TextBox 20"/>
          <p:cNvSpPr txBox="1"/>
          <p:nvPr/>
        </p:nvSpPr>
        <p:spPr>
          <a:xfrm>
            <a:off x="5013655" y="5669280"/>
            <a:ext cx="6766560" cy="274320"/>
          </a:xfrm>
          <a:prstGeom prst="rect">
            <a:avLst/>
          </a:prstGeom>
          <a:noFill/>
        </p:spPr>
        <p:txBody>
          <a:bodyPr wrap="square" anchor="ctr" lIns="0" rIns="0" tIns="0" bIns="0">
            <a:spAutoFit/>
          </a:bodyPr>
          <a:lstStyle/>
          <a:p>
            <a:r>
              <a:rPr sz="1100" b="0" i="1">
                <a:solidFill>
                  <a:srgbClr val="6B7280"/>
                </a:solidFill>
                <a:latin typeface="Calibri"/>
              </a:rPr>
              <a:t>Escala real: cámara ortográfica de tamaño 5; spawn en x ∈ [-8, 8]</a:t>
            </a:r>
          </a:p>
        </p:txBody>
      </p:sp>
      <p:sp>
        <p:nvSpPr>
          <p:cNvPr id="22" name="TextBox 21"/>
          <p:cNvSpPr txBox="1"/>
          <p:nvPr/>
        </p:nvSpPr>
        <p:spPr>
          <a:xfrm>
            <a:off x="502920" y="1234440"/>
            <a:ext cx="414497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Vista: 5 × aspect a cada lado</a:t>
            </a:r>
          </a:p>
          <a:p>
            <a:pPr>
              <a:spcAft>
                <a:spcPts val="800"/>
              </a:spcAft>
            </a:pPr>
            <a:r>
              <a:rPr sz="1600" b="1" i="0">
                <a:solidFill>
                  <a:srgbClr val="0D9488"/>
                </a:solidFill>
                <a:latin typeface="Calibri"/>
              </a:rPr>
              <a:t>■  </a:t>
            </a:r>
            <a:r>
              <a:rPr sz="2200" b="0" i="0">
                <a:solidFill>
                  <a:srgbClr val="1F2937"/>
                </a:solidFill>
                <a:latin typeface="Calibri"/>
              </a:rPr>
              <a:t>16:9 → ≈ 8,9 · vertical → ≈ 2,8</a:t>
            </a:r>
          </a:p>
          <a:p>
            <a:pPr>
              <a:spcAft>
                <a:spcPts val="800"/>
              </a:spcAft>
            </a:pPr>
            <a:r>
              <a:rPr sz="1600" b="1" i="0">
                <a:solidFill>
                  <a:srgbClr val="0D9488"/>
                </a:solidFill>
                <a:latin typeface="Calibri"/>
              </a:rPr>
              <a:t>■  </a:t>
            </a:r>
            <a:r>
              <a:rPr sz="2200" b="0" i="0">
                <a:solidFill>
                  <a:srgbClr val="1F2937"/>
                </a:solidFill>
                <a:latin typeface="Calibri"/>
              </a:rPr>
              <a:t>Spawn en x ∈ [−8, 8]</a:t>
            </a:r>
          </a:p>
          <a:p>
            <a:pPr>
              <a:spcAft>
                <a:spcPts val="800"/>
              </a:spcAft>
            </a:pPr>
            <a:r>
              <a:rPr sz="1600" b="1" i="0">
                <a:solidFill>
                  <a:srgbClr val="0D9488"/>
                </a:solidFill>
                <a:latin typeface="Calibri"/>
              </a:rPr>
              <a:t>■  </a:t>
            </a:r>
            <a:r>
              <a:rPr sz="2200" b="0" i="0">
                <a:solidFill>
                  <a:srgbClr val="1F2937"/>
                </a:solidFill>
                <a:latin typeface="Calibri"/>
              </a:rPr>
              <a:t>En vertical, nacen fuera de pantalla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21</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DECISIÓN · 3 MIN</a:t>
            </a:r>
          </a:p>
          <a:p>
            <a:r>
              <a:rPr sz="2600" b="1" i="0">
                <a:solidFill>
                  <a:srgbClr val="FFFFFF"/>
                </a:solidFill>
                <a:latin typeface="Calibri"/>
              </a:rPr>
              <a:t>¿Cómo se elige una plataforma?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2 · Del supuesto de PC al pulgar</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21/74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Kevuru Games (blog, consultado 2026-10-05) + criterio de la cátedra</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Con estos criterios: ¿Asteroides es un juego para móvil?</a:t>
            </a:r>
          </a:p>
        </p:txBody>
      </p:sp>
      <p:sp>
        <p:nvSpPr>
          <p:cNvPr id="11" name="TextBox 10"/>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400" b="1" i="0">
                <a:solidFill>
                  <a:srgbClr val="0D9488"/>
                </a:solidFill>
                <a:latin typeface="Calibri"/>
              </a:rPr>
              <a:t>■  </a:t>
            </a:r>
            <a:r>
              <a:rPr sz="2000" b="0" i="0">
                <a:solidFill>
                  <a:srgbClr val="1F2937"/>
                </a:solidFill>
                <a:latin typeface="Calibri"/>
              </a:rPr>
              <a:t>Audiencia</a:t>
            </a:r>
          </a:p>
          <a:p>
            <a:pPr>
              <a:spcAft>
                <a:spcPts val="800"/>
              </a:spcAft>
            </a:pPr>
            <a:r>
              <a:rPr sz="1400" b="1" i="0">
                <a:solidFill>
                  <a:srgbClr val="0D9488"/>
                </a:solidFill>
                <a:latin typeface="Calibri"/>
              </a:rPr>
              <a:t>■  </a:t>
            </a:r>
            <a:r>
              <a:rPr sz="2000" b="0" i="0">
                <a:solidFill>
                  <a:srgbClr val="1F2937"/>
                </a:solidFill>
                <a:latin typeface="Calibri"/>
              </a:rPr>
              <a:t>Modelo de monetización</a:t>
            </a:r>
          </a:p>
          <a:p>
            <a:pPr>
              <a:spcAft>
                <a:spcPts val="800"/>
              </a:spcAft>
            </a:pPr>
            <a:r>
              <a:rPr sz="1400" b="1" i="0">
                <a:solidFill>
                  <a:srgbClr val="0D9488"/>
                </a:solidFill>
                <a:latin typeface="Calibri"/>
              </a:rPr>
              <a:t>■  </a:t>
            </a:r>
            <a:r>
              <a:rPr sz="2000" b="0" i="0">
                <a:solidFill>
                  <a:srgbClr val="1F2937"/>
                </a:solidFill>
                <a:latin typeface="Calibri"/>
              </a:rPr>
              <a:t>Herramientas y soporte</a:t>
            </a:r>
          </a:p>
          <a:p>
            <a:pPr>
              <a:spcAft>
                <a:spcPts val="800"/>
              </a:spcAft>
            </a:pPr>
            <a:r>
              <a:rPr sz="1400" b="1" i="0">
                <a:solidFill>
                  <a:srgbClr val="0D9488"/>
                </a:solidFill>
                <a:latin typeface="Calibri"/>
              </a:rPr>
              <a:t>■  </a:t>
            </a:r>
            <a:r>
              <a:rPr sz="2000" b="0" i="0">
                <a:solidFill>
                  <a:srgbClr val="1F2937"/>
                </a:solidFill>
                <a:latin typeface="Calibri"/>
              </a:rPr>
              <a:t>Vigencia en el tiempo</a:t>
            </a:r>
          </a:p>
          <a:p>
            <a:pPr>
              <a:spcAft>
                <a:spcPts val="800"/>
              </a:spcAft>
            </a:pPr>
            <a:r>
              <a:rPr sz="1400" b="1" i="0">
                <a:solidFill>
                  <a:srgbClr val="0D9488"/>
                </a:solidFill>
                <a:latin typeface="Calibri"/>
              </a:rPr>
              <a:t>■  </a:t>
            </a:r>
            <a:r>
              <a:rPr sz="2000" b="0" i="0">
                <a:solidFill>
                  <a:srgbClr val="1F2937"/>
                </a:solidFill>
                <a:latin typeface="Calibri"/>
              </a:rPr>
              <a:t>+ Restricciones técnicas (hoy)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UI TÁCTIL · 4 MIN</a:t>
            </a:r>
          </a:p>
          <a:p>
            <a:r>
              <a:rPr sz="2600" b="1" i="0">
                <a:solidFill>
                  <a:srgbClr val="FFFFFF"/>
                </a:solidFill>
                <a:latin typeface="Calibri"/>
              </a:rPr>
              <a:t>¿Cuánto mide un dedo?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2 · Del supuesto de PC al pulgar</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22/74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Apple HIG — Buttons, Accessibility; Android — Make apps more accessible; Unity uGUI 2.0 — Canvas Scaler</a:t>
            </a:r>
          </a:p>
        </p:txBody>
      </p:sp>
      <p:sp>
        <p:nvSpPr>
          <p:cNvPr id="9" name="TextBox 8"/>
          <p:cNvSpPr txBox="1"/>
          <p:nvPr/>
        </p:nvSpPr>
        <p:spPr>
          <a:xfrm>
            <a:off x="502920" y="1234440"/>
            <a:ext cx="11185855" cy="1097280"/>
          </a:xfrm>
          <a:prstGeom prst="rect">
            <a:avLst/>
          </a:prstGeom>
          <a:noFill/>
        </p:spPr>
        <p:txBody>
          <a:bodyPr wrap="square" anchor="t" lIns="0" rIns="0" tIns="0" bIns="0">
            <a:spAutoFit/>
          </a:bodyPr>
          <a:lstStyle/>
          <a:p>
            <a:pPr>
              <a:spcAft>
                <a:spcPts val="800"/>
              </a:spcAft>
            </a:pPr>
            <a:r>
              <a:rPr sz="1000" b="1" i="0">
                <a:solidFill>
                  <a:srgbClr val="0D9488"/>
                </a:solidFill>
                <a:latin typeface="Calibri"/>
              </a:rPr>
              <a:t>■  </a:t>
            </a:r>
            <a:r>
              <a:rPr sz="1600" b="0" i="0">
                <a:solidFill>
                  <a:srgbClr val="1F2937"/>
                </a:solidFill>
                <a:latin typeface="Calibri"/>
              </a:rPr>
              <a:t>Diseñar en pt/dp, no en px</a:t>
            </a:r>
          </a:p>
          <a:p>
            <a:pPr>
              <a:spcAft>
                <a:spcPts val="800"/>
              </a:spcAft>
            </a:pPr>
            <a:r>
              <a:rPr sz="1000" b="1" i="0">
                <a:solidFill>
                  <a:srgbClr val="0D9488"/>
                </a:solidFill>
                <a:latin typeface="Calibri"/>
              </a:rPr>
              <a:t>■  </a:t>
            </a:r>
            <a:r>
              <a:rPr sz="1600" b="0" i="0">
                <a:solidFill>
                  <a:srgbClr val="1F2937"/>
                </a:solidFill>
                <a:latin typeface="Calibri"/>
              </a:rPr>
              <a:t>Canvas Scaler: Scale With Screen Size</a:t>
            </a:r>
          </a:p>
        </p:txBody>
      </p:sp>
      <p:graphicFrame>
        <p:nvGraphicFramePr>
          <p:cNvPr id="10" name="Table 9"/>
          <p:cNvGraphicFramePr>
            <a:graphicFrameLocks noGrp="1"/>
          </p:cNvGraphicFramePr>
          <p:nvPr/>
        </p:nvGraphicFramePr>
        <p:xfrm>
          <a:off x="502920" y="2331720"/>
          <a:ext cx="11185854" cy="1700784"/>
        </p:xfrm>
        <a:graphic>
          <a:graphicData uri="http://schemas.openxmlformats.org/drawingml/2006/table">
            <a:tbl>
              <a:tblPr firstRow="1" bandRow="1">
                <a:tableStyleId>{5C22544A-7EE6-4342-B048-85BDC9FD1C3A}</a:tableStyleId>
              </a:tblPr>
              <a:tblGrid>
                <a:gridCol w="2451694"/>
                <a:gridCol w="5056619"/>
                <a:gridCol w="3677541"/>
              </a:tblGrid>
              <a:tr h="566928">
                <a:tc>
                  <a:txBody>
                    <a:bodyPr wrap="square"/>
                    <a:lstStyle/>
                    <a:p>
                      <a:r>
                        <a:rPr sz="1600" b="1" i="0">
                          <a:solidFill>
                            <a:srgbClr val="FFFFFF"/>
                          </a:solidFill>
                          <a:latin typeface="Calibri"/>
                        </a:rPr>
                        <a:t>Plataforma</a:t>
                      </a:r>
                    </a:p>
                  </a:txBody>
                  <a:tcPr marL="73152" marR="73152" marT="36576" marB="36576" anchor="ctr">
                    <a:solidFill>
                      <a:srgbClr val="0D9488"/>
                    </a:solidFill>
                  </a:tcPr>
                </a:tc>
                <a:tc>
                  <a:txBody>
                    <a:bodyPr wrap="square"/>
                    <a:lstStyle/>
                    <a:p>
                      <a:r>
                        <a:rPr sz="1600" b="1" i="0">
                          <a:solidFill>
                            <a:srgbClr val="FFFFFF"/>
                          </a:solidFill>
                          <a:latin typeface="Calibri"/>
                        </a:rPr>
                        <a:t>Mínimo táctil</a:t>
                      </a:r>
                    </a:p>
                  </a:txBody>
                  <a:tcPr marL="73152" marR="73152" marT="36576" marB="36576" anchor="ctr">
                    <a:solidFill>
                      <a:srgbClr val="0D9488"/>
                    </a:solidFill>
                  </a:tcPr>
                </a:tc>
                <a:tc>
                  <a:txBody>
                    <a:bodyPr wrap="square"/>
                    <a:lstStyle/>
                    <a:p>
                      <a:r>
                        <a:rPr sz="1600" b="1" i="0">
                          <a:solidFill>
                            <a:srgbClr val="FFFFFF"/>
                          </a:solidFill>
                          <a:latin typeface="Calibri"/>
                        </a:rPr>
                        <a:t>Fuente</a:t>
                      </a:r>
                    </a:p>
                  </a:txBody>
                  <a:tcPr marL="73152" marR="73152" marT="36576" marB="36576" anchor="ctr">
                    <a:solidFill>
                      <a:srgbClr val="0D9488"/>
                    </a:solidFill>
                  </a:tcPr>
                </a:tc>
              </a:tr>
              <a:tr h="566928">
                <a:tc>
                  <a:txBody>
                    <a:bodyPr wrap="square"/>
                    <a:lstStyle/>
                    <a:p>
                      <a:r>
                        <a:rPr sz="1600" b="0" i="0">
                          <a:solidFill>
                            <a:srgbClr val="1F2937"/>
                          </a:solidFill>
                          <a:latin typeface="Calibri"/>
                        </a:rPr>
                        <a:t>iOS</a:t>
                      </a:r>
                    </a:p>
                  </a:txBody>
                  <a:tcPr marL="73152" marR="73152" marT="36576" marB="36576" anchor="ctr">
                    <a:solidFill>
                      <a:srgbClr val="FFFFFF"/>
                    </a:solidFill>
                  </a:tcPr>
                </a:tc>
                <a:tc>
                  <a:txBody>
                    <a:bodyPr wrap="square"/>
                    <a:lstStyle/>
                    <a:p>
                      <a:r>
                        <a:rPr sz="1600" b="0" i="0">
                          <a:solidFill>
                            <a:srgbClr val="1F2937"/>
                          </a:solidFill>
                          <a:latin typeface="Calibri"/>
                        </a:rPr>
                        <a:t>44 × 44 pt (mínimo 28 × 28)</a:t>
                      </a:r>
                    </a:p>
                  </a:txBody>
                  <a:tcPr marL="73152" marR="73152" marT="36576" marB="36576" anchor="ctr">
                    <a:solidFill>
                      <a:srgbClr val="FFFFFF"/>
                    </a:solidFill>
                  </a:tcPr>
                </a:tc>
                <a:tc>
                  <a:txBody>
                    <a:bodyPr wrap="square"/>
                    <a:lstStyle/>
                    <a:p>
                      <a:r>
                        <a:rPr sz="1600" b="0" i="0">
                          <a:solidFill>
                            <a:srgbClr val="1F2937"/>
                          </a:solidFill>
                          <a:latin typeface="Calibri"/>
                        </a:rPr>
                        <a:t>Apple HIG</a:t>
                      </a:r>
                    </a:p>
                  </a:txBody>
                  <a:tcPr marL="73152" marR="73152" marT="36576" marB="36576" anchor="ctr">
                    <a:solidFill>
                      <a:srgbClr val="FFFFFF"/>
                    </a:solidFill>
                  </a:tcPr>
                </a:tc>
              </a:tr>
              <a:tr h="566928">
                <a:tc>
                  <a:txBody>
                    <a:bodyPr wrap="square"/>
                    <a:lstStyle/>
                    <a:p>
                      <a:r>
                        <a:rPr sz="1600" b="0" i="0">
                          <a:solidFill>
                            <a:srgbClr val="1F2937"/>
                          </a:solidFill>
                          <a:latin typeface="Calibri"/>
                        </a:rPr>
                        <a:t>Android</a:t>
                      </a:r>
                    </a:p>
                  </a:txBody>
                  <a:tcPr marL="73152" marR="73152" marT="36576" marB="36576" anchor="ctr">
                    <a:solidFill>
                      <a:srgbClr val="E6F4F2"/>
                    </a:solidFill>
                  </a:tcPr>
                </a:tc>
                <a:tc>
                  <a:txBody>
                    <a:bodyPr wrap="square"/>
                    <a:lstStyle/>
                    <a:p>
                      <a:r>
                        <a:rPr sz="1600" b="0" i="0">
                          <a:solidFill>
                            <a:srgbClr val="1F2937"/>
                          </a:solidFill>
                          <a:latin typeface="Calibri"/>
                        </a:rPr>
                        <a:t>48 × 48 dp</a:t>
                      </a:r>
                    </a:p>
                  </a:txBody>
                  <a:tcPr marL="73152" marR="73152" marT="36576" marB="36576" anchor="ctr">
                    <a:solidFill>
                      <a:srgbClr val="E6F4F2"/>
                    </a:solidFill>
                  </a:tcPr>
                </a:tc>
                <a:tc>
                  <a:txBody>
                    <a:bodyPr wrap="square"/>
                    <a:lstStyle/>
                    <a:p>
                      <a:r>
                        <a:rPr sz="1600" b="0" i="0">
                          <a:solidFill>
                            <a:srgbClr val="1F2937"/>
                          </a:solidFill>
                          <a:latin typeface="Calibri"/>
                        </a:rPr>
                        <a:t>Android Developers</a:t>
                      </a:r>
                    </a:p>
                  </a:txBody>
                  <a:tcPr marL="73152" marR="73152" marT="36576" marB="36576" anchor="ctr">
                    <a:solidFill>
                      <a:srgbClr val="E6F4F2"/>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UI TÁCTIL · SAFE AREA · 3 MIN</a:t>
            </a:r>
          </a:p>
          <a:p>
            <a:r>
              <a:rPr sz="2600" b="1" i="0">
                <a:solidFill>
                  <a:srgbClr val="FFFFFF"/>
                </a:solidFill>
                <a:latin typeface="Calibri"/>
              </a:rPr>
              <a:t>No todo el rectángulo es tuyo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2 · Del supuesto de PC al pulgar</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23/74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 Screen.safeArea; Android — Support display cutouts</a:t>
            </a:r>
          </a:p>
        </p:txBody>
      </p:sp>
      <p:sp>
        <p:nvSpPr>
          <p:cNvPr id="9" name="Rounded Rectangle 8"/>
          <p:cNvSpPr/>
          <p:nvPr/>
        </p:nvSpPr>
        <p:spPr>
          <a:xfrm>
            <a:off x="8466429" y="1280160"/>
            <a:ext cx="2238451" cy="4663440"/>
          </a:xfrm>
          <a:prstGeom prst="roundRect">
            <a:avLst>
              <a:gd name="adj" fmla="val 1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557869" y="1371600"/>
            <a:ext cx="2055571" cy="44805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249887" y="1371600"/>
            <a:ext cx="671535" cy="256032"/>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137964" y="5669280"/>
            <a:ext cx="895380" cy="64008"/>
          </a:xfrm>
          <a:prstGeom prst="round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667597" y="1737360"/>
            <a:ext cx="1836115" cy="3749040"/>
          </a:xfrm>
          <a:prstGeom prst="rect">
            <a:avLst/>
          </a:prstGeom>
          <a:solidFill>
            <a:srgbClr val="E6F4F2"/>
          </a:solidFill>
          <a:ln w="25400">
            <a:solidFill>
              <a:srgbClr val="0D948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0D9488"/>
                </a:solidFill>
                <a:latin typeface="Calibri"/>
              </a:rPr>
              <a:t>Zona segura (safe area)</a:t>
            </a:r>
          </a:p>
        </p:txBody>
      </p:sp>
      <p:sp>
        <p:nvSpPr>
          <p:cNvPr id="14" name="TextBox 13"/>
          <p:cNvSpPr txBox="1"/>
          <p:nvPr/>
        </p:nvSpPr>
        <p:spPr>
          <a:xfrm>
            <a:off x="10814608" y="1371600"/>
            <a:ext cx="1463040" cy="320040"/>
          </a:xfrm>
          <a:prstGeom prst="rect">
            <a:avLst/>
          </a:prstGeom>
          <a:noFill/>
        </p:spPr>
        <p:txBody>
          <a:bodyPr wrap="square" anchor="ctr" lIns="0" rIns="0" tIns="0" bIns="0">
            <a:spAutoFit/>
          </a:bodyPr>
          <a:lstStyle/>
          <a:p>
            <a:r>
              <a:rPr sz="1200" b="0" i="0">
                <a:solidFill>
                  <a:srgbClr val="6B7280"/>
                </a:solidFill>
                <a:latin typeface="Calibri"/>
              </a:rPr>
              <a:t>← muesca / cámara</a:t>
            </a:r>
          </a:p>
        </p:txBody>
      </p:sp>
      <p:sp>
        <p:nvSpPr>
          <p:cNvPr id="15" name="TextBox 14"/>
          <p:cNvSpPr txBox="1"/>
          <p:nvPr/>
        </p:nvSpPr>
        <p:spPr>
          <a:xfrm>
            <a:off x="10814608" y="5532120"/>
            <a:ext cx="1463040" cy="320040"/>
          </a:xfrm>
          <a:prstGeom prst="rect">
            <a:avLst/>
          </a:prstGeom>
          <a:noFill/>
        </p:spPr>
        <p:txBody>
          <a:bodyPr wrap="square" anchor="ctr" lIns="0" rIns="0" tIns="0" bIns="0">
            <a:spAutoFit/>
          </a:bodyPr>
          <a:lstStyle/>
          <a:p>
            <a:r>
              <a:rPr sz="1200" b="0" i="0">
                <a:solidFill>
                  <a:srgbClr val="6B7280"/>
                </a:solidFill>
                <a:latin typeface="Calibri"/>
              </a:rPr>
              <a:t>← barra de gestos</a:t>
            </a:r>
          </a:p>
        </p:txBody>
      </p:sp>
      <p:sp>
        <p:nvSpPr>
          <p:cNvPr id="16" name="TextBox 15"/>
          <p:cNvSpPr txBox="1"/>
          <p:nvPr/>
        </p:nvSpPr>
        <p:spPr>
          <a:xfrm>
            <a:off x="502920" y="1234440"/>
            <a:ext cx="670529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Muescas, bordes y barras</a:t>
            </a:r>
          </a:p>
          <a:p>
            <a:pPr>
              <a:spcAft>
                <a:spcPts val="800"/>
              </a:spcAft>
            </a:pPr>
            <a:r>
              <a:rPr sz="1600" b="1" i="0">
                <a:solidFill>
                  <a:srgbClr val="0D9488"/>
                </a:solidFill>
                <a:latin typeface="Calibri"/>
              </a:rPr>
              <a:t>■  </a:t>
            </a:r>
            <a:r>
              <a:rPr sz="2200" b="0" i="0">
                <a:solidFill>
                  <a:srgbClr val="1F2937"/>
                </a:solidFill>
                <a:latin typeface="Calibri"/>
              </a:rPr>
              <a:t>Screen.safeArea en Unity</a:t>
            </a:r>
          </a:p>
          <a:p>
            <a:pPr>
              <a:spcAft>
                <a:spcPts val="800"/>
              </a:spcAft>
            </a:pPr>
            <a:r>
              <a:rPr sz="1600" b="1" i="0">
                <a:solidFill>
                  <a:srgbClr val="0D9488"/>
                </a:solidFill>
                <a:latin typeface="Calibri"/>
              </a:rPr>
              <a:t>■  </a:t>
            </a:r>
            <a:r>
              <a:rPr sz="2200" b="0" i="0">
                <a:solidFill>
                  <a:srgbClr val="1F2937"/>
                </a:solidFill>
                <a:latin typeface="Calibri"/>
              </a:rPr>
              <a:t>UI esencial adentro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ERGONOMÍA · 3 MIN</a:t>
            </a:r>
          </a:p>
          <a:p>
            <a:r>
              <a:rPr sz="2600" b="1" i="0">
                <a:solidFill>
                  <a:srgbClr val="FFFFFF"/>
                </a:solidFill>
                <a:latin typeface="Calibri"/>
              </a:rPr>
              <a:t>Pulgar y orientación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2 · Del supuesto de PC al pulgar</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24/74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Hoober, UXmatters 2013 (profesional); Activision blog CoD Mobile 2019; Android 16 behavior changes</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¿Asteroides es vertical u horizontal?</a:t>
            </a:r>
          </a:p>
        </p:txBody>
      </p:sp>
      <p:sp>
        <p:nvSpPr>
          <p:cNvPr id="11" name="TextBox 10"/>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El agarre cambia todo el tiempo</a:t>
            </a:r>
          </a:p>
          <a:p>
            <a:pPr>
              <a:spcAft>
                <a:spcPts val="800"/>
              </a:spcAft>
            </a:pPr>
            <a:r>
              <a:rPr sz="1600" b="1" i="0">
                <a:solidFill>
                  <a:srgbClr val="0D9488"/>
                </a:solidFill>
                <a:latin typeface="Calibri"/>
              </a:rPr>
              <a:t>■  </a:t>
            </a:r>
            <a:r>
              <a:rPr sz="2200" b="0" i="0">
                <a:solidFill>
                  <a:srgbClr val="1F2937"/>
                </a:solidFill>
                <a:latin typeface="Calibri"/>
              </a:rPr>
              <a:t>HUD editable: CoD Mobile, Fortnite</a:t>
            </a:r>
          </a:p>
          <a:p>
            <a:pPr>
              <a:spcAft>
                <a:spcPts val="800"/>
              </a:spcAft>
            </a:pPr>
            <a:r>
              <a:rPr sz="1600" b="1" i="0">
                <a:solidFill>
                  <a:srgbClr val="0D9488"/>
                </a:solidFill>
                <a:latin typeface="Calibri"/>
              </a:rPr>
              <a:t>■  </a:t>
            </a:r>
            <a:r>
              <a:rPr sz="2200" b="0" i="0">
                <a:solidFill>
                  <a:srgbClr val="1F2937"/>
                </a:solidFill>
                <a:latin typeface="Calibri"/>
              </a:rPr>
              <a:t>Vertical: una mano</a:t>
            </a:r>
          </a:p>
          <a:p>
            <a:pPr>
              <a:spcAft>
                <a:spcPts val="800"/>
              </a:spcAft>
            </a:pPr>
            <a:r>
              <a:rPr sz="1600" b="1" i="0">
                <a:solidFill>
                  <a:srgbClr val="0D9488"/>
                </a:solidFill>
                <a:latin typeface="Calibri"/>
              </a:rPr>
              <a:t>■  </a:t>
            </a:r>
            <a:r>
              <a:rPr sz="2200" b="0" i="0">
                <a:solidFill>
                  <a:srgbClr val="1F2937"/>
                </a:solidFill>
                <a:latin typeface="Calibri"/>
              </a:rPr>
              <a:t>Horizontal: dos pulgares, más campo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INTERACCIÓN · 4 MIN</a:t>
            </a:r>
          </a:p>
          <a:p>
            <a:r>
              <a:rPr sz="2600" b="1" i="0">
                <a:solidFill>
                  <a:srgbClr val="FFFFFF"/>
                </a:solidFill>
                <a:latin typeface="Calibri"/>
              </a:rPr>
              <a:t>Gestos, controles y accesibilidad</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2 · Del supuesto de PC al pulgar</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25/74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Apple HIG — Gestures, Accessibility; Android — Haptics design principles; Game Accessibility Guidelines</a:t>
            </a:r>
          </a:p>
        </p:txBody>
      </p:sp>
      <p:sp>
        <p:nvSpPr>
          <p:cNvPr id="9" name="TextBox 8"/>
          <p:cNvSpPr txBox="1"/>
          <p:nvPr/>
        </p:nvSpPr>
        <p:spPr>
          <a:xfrm>
            <a:off x="6019495" y="1234440"/>
            <a:ext cx="2697480" cy="411480"/>
          </a:xfrm>
          <a:prstGeom prst="rect">
            <a:avLst/>
          </a:prstGeom>
          <a:noFill/>
        </p:spPr>
        <p:txBody>
          <a:bodyPr wrap="square" anchor="ctr" lIns="0" rIns="0" tIns="0" bIns="0">
            <a:spAutoFit/>
          </a:bodyPr>
          <a:lstStyle/>
          <a:p>
            <a:pPr algn="ctr"/>
            <a:r>
              <a:rPr sz="1600" b="1" i="0">
                <a:solidFill>
                  <a:srgbClr val="0D9488"/>
                </a:solidFill>
                <a:latin typeface="Calibri"/>
              </a:rPr>
              <a:t>JOYSTICK VIRTUAL</a:t>
            </a:r>
          </a:p>
        </p:txBody>
      </p:sp>
      <p:sp>
        <p:nvSpPr>
          <p:cNvPr id="10" name="Rounded Rectangle 9"/>
          <p:cNvSpPr/>
          <p:nvPr/>
        </p:nvSpPr>
        <p:spPr>
          <a:xfrm>
            <a:off x="6293815" y="2834640"/>
            <a:ext cx="214884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Familiar</a:t>
            </a:r>
          </a:p>
        </p:txBody>
      </p:sp>
      <p:sp>
        <p:nvSpPr>
          <p:cNvPr id="11" name="Rounded Rectangle 10"/>
          <p:cNvSpPr/>
          <p:nvPr/>
        </p:nvSpPr>
        <p:spPr>
          <a:xfrm>
            <a:off x="6293815" y="3657600"/>
            <a:ext cx="214884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Sin tope físico</a:t>
            </a:r>
          </a:p>
        </p:txBody>
      </p:sp>
      <p:sp>
        <p:nvSpPr>
          <p:cNvPr id="12" name="TextBox 11"/>
          <p:cNvSpPr txBox="1"/>
          <p:nvPr/>
        </p:nvSpPr>
        <p:spPr>
          <a:xfrm>
            <a:off x="6019495" y="5349240"/>
            <a:ext cx="2697480" cy="640080"/>
          </a:xfrm>
          <a:prstGeom prst="rect">
            <a:avLst/>
          </a:prstGeom>
          <a:noFill/>
        </p:spPr>
        <p:txBody>
          <a:bodyPr wrap="square" anchor="t" lIns="0" rIns="0" tIns="0" bIns="0">
            <a:spAutoFit/>
          </a:bodyPr>
          <a:lstStyle/>
          <a:p>
            <a:pPr algn="ctr"/>
            <a:r>
              <a:rPr sz="1400" b="0" i="0">
                <a:solidFill>
                  <a:srgbClr val="1F2937"/>
                </a:solidFill>
                <a:latin typeface="Calibri"/>
              </a:rPr>
              <a:t>Tapa la pantalla</a:t>
            </a:r>
          </a:p>
        </p:txBody>
      </p:sp>
      <p:sp>
        <p:nvSpPr>
          <p:cNvPr id="13" name="TextBox 12"/>
          <p:cNvSpPr txBox="1"/>
          <p:nvPr/>
        </p:nvSpPr>
        <p:spPr>
          <a:xfrm>
            <a:off x="8991295" y="1234440"/>
            <a:ext cx="2697480" cy="411480"/>
          </a:xfrm>
          <a:prstGeom prst="rect">
            <a:avLst/>
          </a:prstGeom>
          <a:noFill/>
        </p:spPr>
        <p:txBody>
          <a:bodyPr wrap="square" anchor="ctr" lIns="0" rIns="0" tIns="0" bIns="0">
            <a:spAutoFit/>
          </a:bodyPr>
          <a:lstStyle/>
          <a:p>
            <a:pPr algn="ctr"/>
            <a:r>
              <a:rPr sz="1600" b="1" i="0">
                <a:solidFill>
                  <a:srgbClr val="1F2A44"/>
                </a:solidFill>
                <a:latin typeface="Calibri"/>
              </a:rPr>
              <a:t>TOQUE DIRECTO</a:t>
            </a:r>
          </a:p>
        </p:txBody>
      </p:sp>
      <p:sp>
        <p:nvSpPr>
          <p:cNvPr id="14" name="Rounded Rectangle 13"/>
          <p:cNvSpPr/>
          <p:nvPr/>
        </p:nvSpPr>
        <p:spPr>
          <a:xfrm>
            <a:off x="9265615" y="2834640"/>
            <a:ext cx="214884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Preciso</a:t>
            </a:r>
          </a:p>
        </p:txBody>
      </p:sp>
      <p:sp>
        <p:nvSpPr>
          <p:cNvPr id="15" name="Rounded Rectangle 14"/>
          <p:cNvSpPr/>
          <p:nvPr/>
        </p:nvSpPr>
        <p:spPr>
          <a:xfrm>
            <a:off x="9265615" y="3657600"/>
            <a:ext cx="214884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Un dedo</a:t>
            </a:r>
          </a:p>
        </p:txBody>
      </p:sp>
      <p:sp>
        <p:nvSpPr>
          <p:cNvPr id="16" name="TextBox 15"/>
          <p:cNvSpPr txBox="1"/>
          <p:nvPr/>
        </p:nvSpPr>
        <p:spPr>
          <a:xfrm>
            <a:off x="8991295" y="5349240"/>
            <a:ext cx="2697480" cy="640080"/>
          </a:xfrm>
          <a:prstGeom prst="rect">
            <a:avLst/>
          </a:prstGeom>
          <a:noFill/>
        </p:spPr>
        <p:txBody>
          <a:bodyPr wrap="square" anchor="t" lIns="0" rIns="0" tIns="0" bIns="0">
            <a:spAutoFit/>
          </a:bodyPr>
          <a:lstStyle/>
          <a:p>
            <a:pPr algn="ctr"/>
            <a:r>
              <a:rPr sz="1400" b="0" i="0">
                <a:solidFill>
                  <a:srgbClr val="1F2937"/>
                </a:solidFill>
                <a:latin typeface="Calibri"/>
              </a:rPr>
              <a:t>El dedo cubre lo que toca</a:t>
            </a:r>
          </a:p>
        </p:txBody>
      </p:sp>
      <p:sp>
        <p:nvSpPr>
          <p:cNvPr id="17" name="TextBox 16"/>
          <p:cNvSpPr txBox="1"/>
          <p:nvPr/>
        </p:nvSpPr>
        <p:spPr>
          <a:xfrm>
            <a:off x="502920" y="1234440"/>
            <a:ext cx="52422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Gesto propio: nunca la única vía</a:t>
            </a:r>
          </a:p>
          <a:p>
            <a:pPr>
              <a:spcAft>
                <a:spcPts val="800"/>
              </a:spcAft>
            </a:pPr>
            <a:r>
              <a:rPr sz="1600" b="1" i="0">
                <a:solidFill>
                  <a:srgbClr val="0D9488"/>
                </a:solidFill>
                <a:latin typeface="Calibri"/>
              </a:rPr>
              <a:t>■  </a:t>
            </a:r>
            <a:r>
              <a:rPr sz="2200" b="0" i="0">
                <a:solidFill>
                  <a:srgbClr val="1F2937"/>
                </a:solidFill>
                <a:latin typeface="Calibri"/>
              </a:rPr>
              <a:t>Joystick virtual: tapa la pantalla</a:t>
            </a:r>
          </a:p>
          <a:p>
            <a:pPr>
              <a:spcAft>
                <a:spcPts val="800"/>
              </a:spcAft>
            </a:pPr>
            <a:r>
              <a:rPr sz="1600" b="1" i="0">
                <a:solidFill>
                  <a:srgbClr val="0D9488"/>
                </a:solidFill>
                <a:latin typeface="Calibri"/>
              </a:rPr>
              <a:t>■  </a:t>
            </a:r>
            <a:r>
              <a:rPr sz="2200" b="0" i="0">
                <a:solidFill>
                  <a:srgbClr val="1F2937"/>
                </a:solidFill>
                <a:latin typeface="Calibri"/>
              </a:rPr>
              <a:t>Controles grandes y separados</a:t>
            </a:r>
          </a:p>
          <a:p>
            <a:pPr>
              <a:spcAft>
                <a:spcPts val="800"/>
              </a:spcAft>
            </a:pPr>
            <a:r>
              <a:rPr sz="1600" b="1" i="0">
                <a:solidFill>
                  <a:srgbClr val="0D9488"/>
                </a:solidFill>
                <a:latin typeface="Calibri"/>
              </a:rPr>
              <a:t>■  </a:t>
            </a:r>
            <a:r>
              <a:rPr sz="2200" b="0" i="0">
                <a:solidFill>
                  <a:srgbClr val="1F2937"/>
                </a:solidFill>
                <a:latin typeface="Calibri"/>
              </a:rPr>
              <a:t>Háptica y efectos desactivables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DEMO EN VIVO · INPUT SYSTEM · 4 MIN</a:t>
            </a:r>
          </a:p>
          <a:p>
            <a:r>
              <a:rPr sz="2600" b="1" i="0">
                <a:solidFill>
                  <a:srgbClr val="FFFFFF"/>
                </a:solidFill>
                <a:latin typeface="Calibri"/>
              </a:rPr>
              <a:t>Una acción, tres dispositivos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2 · Del supuesto de PC al pulgar</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26/74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Input System 1.19 — On-screen Controls; código del proyecto (ShipInputAdapter.cs, Ship.cs)</a:t>
            </a:r>
          </a:p>
        </p:txBody>
      </p:sp>
      <p:sp>
        <p:nvSpPr>
          <p:cNvPr id="9" name="Rounded Rectangle 8"/>
          <p:cNvSpPr/>
          <p:nvPr/>
        </p:nvSpPr>
        <p:spPr>
          <a:xfrm>
            <a:off x="6568135" y="1234440"/>
            <a:ext cx="5120640" cy="1191768"/>
          </a:xfrm>
          <a:prstGeom prst="roundRect">
            <a:avLst>
              <a:gd name="adj" fmla="val 12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51015" y="1325880"/>
            <a:ext cx="4754880" cy="365760"/>
          </a:xfrm>
          <a:prstGeom prst="rect">
            <a:avLst/>
          </a:prstGeom>
          <a:noFill/>
        </p:spPr>
        <p:txBody>
          <a:bodyPr wrap="square" anchor="t" lIns="0" rIns="0" tIns="0" bIns="0">
            <a:spAutoFit/>
          </a:bodyPr>
          <a:lstStyle/>
          <a:p>
            <a:r>
              <a:rPr sz="1500" b="1" i="0">
                <a:solidFill>
                  <a:srgbClr val="0D9488"/>
                </a:solidFill>
                <a:latin typeface="Calibri"/>
              </a:rPr>
              <a:t>DISPOSITIVO</a:t>
            </a:r>
          </a:p>
        </p:txBody>
      </p:sp>
      <p:sp>
        <p:nvSpPr>
          <p:cNvPr id="11" name="Rounded Rectangle 10"/>
          <p:cNvSpPr/>
          <p:nvPr/>
        </p:nvSpPr>
        <p:spPr>
          <a:xfrm>
            <a:off x="6751015" y="1786128"/>
            <a:ext cx="149352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Teclado</a:t>
            </a:r>
          </a:p>
        </p:txBody>
      </p:sp>
      <p:sp>
        <p:nvSpPr>
          <p:cNvPr id="12" name="Rounded Rectangle 11"/>
          <p:cNvSpPr/>
          <p:nvPr/>
        </p:nvSpPr>
        <p:spPr>
          <a:xfrm>
            <a:off x="8381695" y="1786128"/>
            <a:ext cx="149352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Gamepad</a:t>
            </a:r>
          </a:p>
        </p:txBody>
      </p:sp>
      <p:sp>
        <p:nvSpPr>
          <p:cNvPr id="13" name="Rounded Rectangle 12"/>
          <p:cNvSpPr/>
          <p:nvPr/>
        </p:nvSpPr>
        <p:spPr>
          <a:xfrm>
            <a:off x="10012375" y="1786128"/>
            <a:ext cx="149352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Joystick en pantalla</a:t>
            </a:r>
          </a:p>
        </p:txBody>
      </p:sp>
      <p:sp>
        <p:nvSpPr>
          <p:cNvPr id="14" name="Down Arrow 13"/>
          <p:cNvSpPr/>
          <p:nvPr/>
        </p:nvSpPr>
        <p:spPr>
          <a:xfrm>
            <a:off x="8899855" y="2462784"/>
            <a:ext cx="457200" cy="310896"/>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68135" y="2810256"/>
            <a:ext cx="5120640" cy="1191768"/>
          </a:xfrm>
          <a:prstGeom prst="roundRect">
            <a:avLst>
              <a:gd name="adj" fmla="val 12000"/>
            </a:avLst>
          </a:prstGeom>
          <a:solidFill>
            <a:srgbClr val="F3F4F6"/>
          </a:solidFill>
          <a:ln w="254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51015" y="2901696"/>
            <a:ext cx="4754880" cy="365760"/>
          </a:xfrm>
          <a:prstGeom prst="rect">
            <a:avLst/>
          </a:prstGeom>
          <a:noFill/>
        </p:spPr>
        <p:txBody>
          <a:bodyPr wrap="square" anchor="t" lIns="0" rIns="0" tIns="0" bIns="0">
            <a:spAutoFit/>
          </a:bodyPr>
          <a:lstStyle/>
          <a:p>
            <a:r>
              <a:rPr sz="1500" b="1" i="0">
                <a:solidFill>
                  <a:srgbClr val="D97706"/>
                </a:solidFill>
                <a:latin typeface="Calibri"/>
              </a:rPr>
              <a:t>INTENCIÓN</a:t>
            </a:r>
          </a:p>
        </p:txBody>
      </p:sp>
      <p:sp>
        <p:nvSpPr>
          <p:cNvPr id="17" name="Rounded Rectangle 16"/>
          <p:cNvSpPr/>
          <p:nvPr/>
        </p:nvSpPr>
        <p:spPr>
          <a:xfrm>
            <a:off x="6751015" y="3361944"/>
            <a:ext cx="2308860" cy="50292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Mover</a:t>
            </a:r>
          </a:p>
        </p:txBody>
      </p:sp>
      <p:sp>
        <p:nvSpPr>
          <p:cNvPr id="18" name="Rounded Rectangle 17"/>
          <p:cNvSpPr/>
          <p:nvPr/>
        </p:nvSpPr>
        <p:spPr>
          <a:xfrm>
            <a:off x="9197035" y="3361944"/>
            <a:ext cx="2308860" cy="50292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Disparar</a:t>
            </a:r>
          </a:p>
        </p:txBody>
      </p:sp>
      <p:sp>
        <p:nvSpPr>
          <p:cNvPr id="19" name="Down Arrow 18"/>
          <p:cNvSpPr/>
          <p:nvPr/>
        </p:nvSpPr>
        <p:spPr>
          <a:xfrm>
            <a:off x="8899855" y="4038600"/>
            <a:ext cx="457200" cy="310896"/>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568135" y="4386072"/>
            <a:ext cx="5120640" cy="1191768"/>
          </a:xfrm>
          <a:prstGeom prst="roundRect">
            <a:avLst>
              <a:gd name="adj" fmla="val 12000"/>
            </a:avLst>
          </a:prstGeom>
          <a:solidFill>
            <a:srgbClr val="F3F4F6"/>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51015" y="4477512"/>
            <a:ext cx="4754880" cy="365760"/>
          </a:xfrm>
          <a:prstGeom prst="rect">
            <a:avLst/>
          </a:prstGeom>
          <a:noFill/>
        </p:spPr>
        <p:txBody>
          <a:bodyPr wrap="square" anchor="t" lIns="0" rIns="0" tIns="0" bIns="0">
            <a:spAutoFit/>
          </a:bodyPr>
          <a:lstStyle/>
          <a:p>
            <a:r>
              <a:rPr sz="1500" b="1" i="0">
                <a:solidFill>
                  <a:srgbClr val="1F2A44"/>
                </a:solidFill>
                <a:latin typeface="Calibri"/>
              </a:rPr>
              <a:t>NAVE</a:t>
            </a:r>
          </a:p>
        </p:txBody>
      </p:sp>
      <p:sp>
        <p:nvSpPr>
          <p:cNvPr id="22" name="Rounded Rectangle 21"/>
          <p:cNvSpPr/>
          <p:nvPr/>
        </p:nvSpPr>
        <p:spPr>
          <a:xfrm>
            <a:off x="6751015" y="4937760"/>
            <a:ext cx="149352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MoveLeft</a:t>
            </a:r>
          </a:p>
        </p:txBody>
      </p:sp>
      <p:sp>
        <p:nvSpPr>
          <p:cNvPr id="23" name="Rounded Rectangle 22"/>
          <p:cNvSpPr/>
          <p:nvPr/>
        </p:nvSpPr>
        <p:spPr>
          <a:xfrm>
            <a:off x="8381695" y="4937760"/>
            <a:ext cx="149352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MoveRight</a:t>
            </a:r>
          </a:p>
        </p:txBody>
      </p:sp>
      <p:sp>
        <p:nvSpPr>
          <p:cNvPr id="24" name="Rounded Rectangle 23"/>
          <p:cNvSpPr/>
          <p:nvPr/>
        </p:nvSpPr>
        <p:spPr>
          <a:xfrm>
            <a:off x="10012375" y="4937760"/>
            <a:ext cx="149352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ShootLaser</a:t>
            </a:r>
          </a:p>
        </p:txBody>
      </p:sp>
      <p:sp>
        <p:nvSpPr>
          <p:cNvPr id="25" name="TextBox 24"/>
          <p:cNvSpPr txBox="1"/>
          <p:nvPr/>
        </p:nvSpPr>
        <p:spPr>
          <a:xfrm>
            <a:off x="6568135" y="5669280"/>
            <a:ext cx="5120640" cy="320040"/>
          </a:xfrm>
          <a:prstGeom prst="rect">
            <a:avLst/>
          </a:prstGeom>
          <a:noFill/>
        </p:spPr>
        <p:txBody>
          <a:bodyPr wrap="square" anchor="ctr" lIns="0" rIns="0" tIns="0" bIns="0">
            <a:spAutoFit/>
          </a:bodyPr>
          <a:lstStyle/>
          <a:p>
            <a:pPr algn="ctr"/>
            <a:r>
              <a:rPr sz="1300" b="0" i="1">
                <a:solidFill>
                  <a:srgbClr val="DC2626"/>
                </a:solidFill>
                <a:latin typeface="Calibri"/>
              </a:rPr>
              <a:t>La nave no sabe qué dispositivo se usó</a:t>
            </a:r>
          </a:p>
        </p:txBody>
      </p:sp>
      <p:sp>
        <p:nvSpPr>
          <p:cNvPr id="26" name="TextBox 25"/>
          <p:cNvSpPr txBox="1"/>
          <p:nvPr/>
        </p:nvSpPr>
        <p:spPr>
          <a:xfrm>
            <a:off x="502920" y="1234440"/>
            <a:ext cx="579089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En el teléfono, la nave no se mueve</a:t>
            </a:r>
          </a:p>
          <a:p>
            <a:pPr>
              <a:spcAft>
                <a:spcPts val="800"/>
              </a:spcAft>
            </a:pPr>
            <a:r>
              <a:rPr sz="1600" b="1" i="0">
                <a:solidFill>
                  <a:srgbClr val="0D9488"/>
                </a:solidFill>
                <a:latin typeface="Calibri"/>
              </a:rPr>
              <a:t>■  </a:t>
            </a:r>
            <a:r>
              <a:rPr sz="2200" b="0" i="0">
                <a:solidFill>
                  <a:srgbClr val="1F2937"/>
                </a:solidFill>
                <a:latin typeface="Calibri"/>
              </a:rPr>
              <a:t>Teclado, gamepad y dedo: la misma acción</a:t>
            </a:r>
          </a:p>
          <a:p>
            <a:pPr>
              <a:spcAft>
                <a:spcPts val="800"/>
              </a:spcAft>
            </a:pPr>
            <a:r>
              <a:rPr sz="1600" b="1" i="0">
                <a:solidFill>
                  <a:srgbClr val="0D9488"/>
                </a:solidFill>
                <a:latin typeface="Calibri"/>
              </a:rPr>
              <a:t>■  </a:t>
            </a:r>
            <a:r>
              <a:rPr sz="2200" b="0" i="0">
                <a:solidFill>
                  <a:srgbClr val="1F2937"/>
                </a:solidFill>
                <a:latin typeface="Calibri"/>
              </a:rPr>
              <a:t>Los controles en pantalla simulan un gamepad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DEMO · CÓDIGO REAL · 3 MIN</a:t>
            </a:r>
          </a:p>
          <a:p>
            <a:r>
              <a:rPr sz="2600" b="1" i="0">
                <a:solidFill>
                  <a:srgbClr val="FFFFFF"/>
                </a:solidFill>
                <a:latin typeface="Calibri"/>
              </a:rPr>
              <a:t>La intención en código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2 · Del supuesto de PC al pulgar</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27/74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Código del proyecto (ShipInputAdapter.cs; Ship.cs, método SetIntent)</a:t>
            </a:r>
          </a:p>
        </p:txBody>
      </p:sp>
      <p:sp>
        <p:nvSpPr>
          <p:cNvPr id="9" name="TextBox 8"/>
          <p:cNvSpPr txBox="1"/>
          <p:nvPr/>
        </p:nvSpPr>
        <p:spPr>
          <a:xfrm>
            <a:off x="5653735" y="1234440"/>
            <a:ext cx="6035040" cy="320040"/>
          </a:xfrm>
          <a:prstGeom prst="rect">
            <a:avLst/>
          </a:prstGeom>
          <a:noFill/>
        </p:spPr>
        <p:txBody>
          <a:bodyPr wrap="square" anchor="ctr" lIns="0" rIns="0" tIns="0" bIns="0">
            <a:spAutoFit/>
          </a:bodyPr>
          <a:lstStyle/>
          <a:p>
            <a:r>
              <a:rPr sz="1200" b="1" i="0">
                <a:solidFill>
                  <a:srgbClr val="6B7280"/>
                </a:solidFill>
                <a:latin typeface="Calibri"/>
              </a:rPr>
              <a:t>ShipInputAdapter.cs  ·  líneas 18–27</a:t>
            </a:r>
          </a:p>
        </p:txBody>
      </p:sp>
      <p:sp>
        <p:nvSpPr>
          <p:cNvPr id="10" name="Rounded Rectangle 9"/>
          <p:cNvSpPr/>
          <p:nvPr/>
        </p:nvSpPr>
        <p:spPr>
          <a:xfrm>
            <a:off x="5653735" y="1600200"/>
            <a:ext cx="6035040" cy="4389120"/>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28600"/>
          <a:lstStyle/>
          <a:p>
            <a:pPr algn="l"/>
            <a:r>
              <a:rPr sz="1200" b="0" i="0">
                <a:solidFill>
                  <a:srgbClr val="64748B"/>
                </a:solidFill>
                <a:latin typeface="Consolas"/>
              </a:rPr>
              <a:t> 18  </a:t>
            </a:r>
            <a:r>
              <a:rPr sz="1200" b="0" i="0">
                <a:solidFill>
                  <a:srgbClr val="E2E8F0"/>
                </a:solidFill>
                <a:latin typeface="Consolas"/>
              </a:rPr>
              <a:t>move = new InputAction("Move", InputActionType.Value);</a:t>
            </a:r>
          </a:p>
          <a:p>
            <a:pPr algn="l"/>
            <a:r>
              <a:rPr sz="1200" b="0" i="0">
                <a:solidFill>
                  <a:srgbClr val="64748B"/>
                </a:solidFill>
                <a:latin typeface="Consolas"/>
              </a:rPr>
              <a:t> 19  </a:t>
            </a:r>
            <a:r>
              <a:rPr sz="1200" b="0" i="0">
                <a:solidFill>
                  <a:srgbClr val="E2E8F0"/>
                </a:solidFill>
                <a:latin typeface="Consolas"/>
              </a:rPr>
              <a:t>move.AddCompositeBinding("1DAxis")</a:t>
            </a:r>
          </a:p>
          <a:p>
            <a:pPr algn="l"/>
            <a:r>
              <a:rPr sz="1200" b="0" i="0">
                <a:solidFill>
                  <a:srgbClr val="64748B"/>
                </a:solidFill>
                <a:latin typeface="Consolas"/>
              </a:rPr>
              <a:t> 20  </a:t>
            </a:r>
            <a:r>
              <a:rPr sz="1200" b="0" i="0">
                <a:solidFill>
                  <a:srgbClr val="E2E8F0"/>
                </a:solidFill>
                <a:latin typeface="Consolas"/>
              </a:rPr>
              <a:t>    .With("Negative", "&lt;Keyboard&gt;/leftArrow")</a:t>
            </a:r>
          </a:p>
          <a:p>
            <a:pPr algn="l"/>
            <a:r>
              <a:rPr sz="1200" b="0" i="0">
                <a:solidFill>
                  <a:srgbClr val="64748B"/>
                </a:solidFill>
                <a:latin typeface="Consolas"/>
              </a:rPr>
              <a:t> 21  </a:t>
            </a:r>
            <a:r>
              <a:rPr sz="1200" b="0" i="0">
                <a:solidFill>
                  <a:srgbClr val="E2E8F0"/>
                </a:solidFill>
                <a:latin typeface="Consolas"/>
              </a:rPr>
              <a:t>    .With("Positive", "&lt;Keyboard&gt;/rightArrow");</a:t>
            </a:r>
          </a:p>
          <a:p>
            <a:pPr algn="l"/>
            <a:r>
              <a:rPr sz="1200" b="0" i="0">
                <a:solidFill>
                  <a:srgbClr val="64748B"/>
                </a:solidFill>
                <a:latin typeface="Consolas"/>
              </a:rPr>
              <a:t> 22  </a:t>
            </a:r>
            <a:r>
              <a:rPr sz="1200" b="0" i="0">
                <a:solidFill>
                  <a:srgbClr val="E2E8F0"/>
                </a:solidFill>
                <a:latin typeface="Consolas"/>
              </a:rPr>
              <a:t>move.AddBinding("&lt;Gamepad&gt;/leftStick/x");</a:t>
            </a:r>
          </a:p>
          <a:p>
            <a:pPr algn="l"/>
            <a:r>
              <a:rPr sz="1200" b="0" i="0">
                <a:solidFill>
                  <a:srgbClr val="64748B"/>
                </a:solidFill>
                <a:latin typeface="Consolas"/>
              </a:rPr>
              <a:t> 23  </a:t>
            </a:r>
            <a:r>
              <a:rPr sz="1200" b="0" i="0">
                <a:solidFill>
                  <a:srgbClr val="E2E8F0"/>
                </a:solidFill>
                <a:latin typeface="Consolas"/>
              </a:rPr>
              <a:t>move.AddBinding("&lt;Gamepad&gt;/dpad/x");</a:t>
            </a:r>
          </a:p>
          <a:p>
            <a:pPr algn="l"/>
            <a:r>
              <a:rPr sz="1200" b="0" i="0">
                <a:solidFill>
                  <a:srgbClr val="64748B"/>
                </a:solidFill>
                <a:latin typeface="Consolas"/>
              </a:rPr>
              <a:t> 24  </a:t>
            </a:r>
            <a:r>
              <a:rPr sz="1200" b="0" i="0">
                <a:solidFill>
                  <a:srgbClr val="E2E8F0"/>
                </a:solidFill>
                <a:latin typeface="Consolas"/>
              </a:rPr>
              <a:t> </a:t>
            </a:r>
          </a:p>
          <a:p>
            <a:pPr algn="l"/>
            <a:r>
              <a:rPr sz="1200" b="0" i="0">
                <a:solidFill>
                  <a:srgbClr val="64748B"/>
                </a:solidFill>
                <a:latin typeface="Consolas"/>
              </a:rPr>
              <a:t> 25  </a:t>
            </a:r>
            <a:r>
              <a:rPr sz="1200" b="0" i="0">
                <a:solidFill>
                  <a:srgbClr val="E2E8F0"/>
                </a:solidFill>
                <a:latin typeface="Consolas"/>
              </a:rPr>
              <a:t>fire = new InputAction("Fire", InputActionType.Button);</a:t>
            </a:r>
          </a:p>
          <a:p>
            <a:pPr algn="l"/>
            <a:r>
              <a:rPr sz="1200" b="0" i="0">
                <a:solidFill>
                  <a:srgbClr val="64748B"/>
                </a:solidFill>
                <a:latin typeface="Consolas"/>
              </a:rPr>
              <a:t> 26  </a:t>
            </a:r>
            <a:r>
              <a:rPr sz="1200" b="0" i="0">
                <a:solidFill>
                  <a:srgbClr val="E2E8F0"/>
                </a:solidFill>
                <a:latin typeface="Consolas"/>
              </a:rPr>
              <a:t>fire.AddBinding("&lt;Keyboard&gt;/space");</a:t>
            </a:r>
          </a:p>
          <a:p>
            <a:pPr algn="l"/>
            <a:r>
              <a:rPr sz="1200" b="0" i="0">
                <a:solidFill>
                  <a:srgbClr val="64748B"/>
                </a:solidFill>
                <a:latin typeface="Consolas"/>
              </a:rPr>
              <a:t> 27  </a:t>
            </a:r>
            <a:r>
              <a:rPr sz="1200" b="0" i="0">
                <a:solidFill>
                  <a:srgbClr val="E2E8F0"/>
                </a:solidFill>
                <a:latin typeface="Consolas"/>
              </a:rPr>
              <a:t>fire.AddBinding("&lt;Gamepad&gt;/buttonSouth");</a:t>
            </a:r>
          </a:p>
        </p:txBody>
      </p:sp>
      <p:sp>
        <p:nvSpPr>
          <p:cNvPr id="11" name="TextBox 10"/>
          <p:cNvSpPr txBox="1"/>
          <p:nvPr/>
        </p:nvSpPr>
        <p:spPr>
          <a:xfrm>
            <a:off x="502920" y="1234440"/>
            <a:ext cx="487649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Las teclas pasan a ser bindings</a:t>
            </a:r>
          </a:p>
          <a:p>
            <a:pPr>
              <a:spcAft>
                <a:spcPts val="800"/>
              </a:spcAft>
            </a:pPr>
            <a:r>
              <a:rPr sz="1600" b="1" i="0">
                <a:solidFill>
                  <a:srgbClr val="0D9488"/>
                </a:solidFill>
                <a:latin typeface="Calibri"/>
              </a:rPr>
              <a:t>■  </a:t>
            </a:r>
            <a:r>
              <a:rPr sz="2200" b="0" i="0">
                <a:solidFill>
                  <a:srgbClr val="1F2937"/>
                </a:solidFill>
                <a:latin typeface="Calibri"/>
              </a:rPr>
              <a:t>El gamepad se suma sin tocar la nave</a:t>
            </a:r>
          </a:p>
          <a:p>
            <a:pPr>
              <a:spcAft>
                <a:spcPts val="800"/>
              </a:spcAft>
            </a:pPr>
            <a:r>
              <a:rPr sz="1600" b="1" i="0">
                <a:solidFill>
                  <a:srgbClr val="0D9488"/>
                </a:solidFill>
                <a:latin typeface="Calibri"/>
              </a:rPr>
              <a:t>■  </a:t>
            </a:r>
            <a:r>
              <a:rPr sz="2200" b="0" i="0">
                <a:solidFill>
                  <a:srgbClr val="1F2937"/>
                </a:solidFill>
                <a:latin typeface="Calibri"/>
              </a:rPr>
              <a:t>La nave recibe SetIntent(mover, disparar)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ACTIVIDAD · 30 MIN · GRUPOS · BOCETO + UNITY</a:t>
            </a:r>
          </a:p>
          <a:p>
            <a:r>
              <a:rPr sz="2600" b="1" i="0">
                <a:solidFill>
                  <a:srgbClr val="FFFFFF"/>
                </a:solidFill>
                <a:latin typeface="Calibri"/>
              </a:rPr>
              <a:t>Actividad A4.7 — Del boceto al control</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2 · Del supuesto de PC al pulgar</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28/74</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Entreguen boceto, captura del simulador y lo que no pudieron probar.</a:t>
            </a:r>
          </a:p>
        </p:txBody>
      </p:sp>
      <p:sp>
        <p:nvSpPr>
          <p:cNvPr id="10" name="Rounded Rectangle 9"/>
          <p:cNvSpPr/>
          <p:nvPr/>
        </p:nvSpPr>
        <p:spPr>
          <a:xfrm>
            <a:off x="8598103" y="1280160"/>
            <a:ext cx="1975104" cy="4114800"/>
          </a:xfrm>
          <a:prstGeom prst="roundRect">
            <a:avLst>
              <a:gd name="adj" fmla="val 1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689543" y="1371600"/>
            <a:ext cx="1792224" cy="39319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289389" y="1371600"/>
            <a:ext cx="592531" cy="256032"/>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190634" y="5120640"/>
            <a:ext cx="790041" cy="64008"/>
          </a:xfrm>
          <a:prstGeom prst="round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799271" y="1737360"/>
            <a:ext cx="1572768" cy="3200400"/>
          </a:xfrm>
          <a:prstGeom prst="rect">
            <a:avLst/>
          </a:prstGeom>
          <a:solidFill>
            <a:srgbClr val="E6F4F2"/>
          </a:solidFill>
          <a:ln w="25400">
            <a:solidFill>
              <a:srgbClr val="0D948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0D9488"/>
                </a:solidFill>
                <a:latin typeface="Calibri"/>
              </a:rPr>
              <a:t>Plantilla: boceten acá su HUD</a:t>
            </a:r>
          </a:p>
        </p:txBody>
      </p:sp>
      <p:sp>
        <p:nvSpPr>
          <p:cNvPr id="15" name="TextBox 14"/>
          <p:cNvSpPr txBox="1"/>
          <p:nvPr/>
        </p:nvSpPr>
        <p:spPr>
          <a:xfrm>
            <a:off x="10682935" y="1371600"/>
            <a:ext cx="1463040" cy="320040"/>
          </a:xfrm>
          <a:prstGeom prst="rect">
            <a:avLst/>
          </a:prstGeom>
          <a:noFill/>
        </p:spPr>
        <p:txBody>
          <a:bodyPr wrap="square" anchor="ctr" lIns="0" rIns="0" tIns="0" bIns="0">
            <a:spAutoFit/>
          </a:bodyPr>
          <a:lstStyle/>
          <a:p>
            <a:r>
              <a:rPr sz="1200" b="0" i="0">
                <a:solidFill>
                  <a:srgbClr val="6B7280"/>
                </a:solidFill>
                <a:latin typeface="Calibri"/>
              </a:rPr>
              <a:t>← muesca / cámara</a:t>
            </a:r>
          </a:p>
        </p:txBody>
      </p:sp>
      <p:sp>
        <p:nvSpPr>
          <p:cNvPr id="16" name="TextBox 15"/>
          <p:cNvSpPr txBox="1"/>
          <p:nvPr/>
        </p:nvSpPr>
        <p:spPr>
          <a:xfrm>
            <a:off x="10682935" y="4983480"/>
            <a:ext cx="1463040" cy="320040"/>
          </a:xfrm>
          <a:prstGeom prst="rect">
            <a:avLst/>
          </a:prstGeom>
          <a:noFill/>
        </p:spPr>
        <p:txBody>
          <a:bodyPr wrap="square" anchor="ctr" lIns="0" rIns="0" tIns="0" bIns="0">
            <a:spAutoFit/>
          </a:bodyPr>
          <a:lstStyle/>
          <a:p>
            <a:r>
              <a:rPr sz="1200" b="0" i="0">
                <a:solidFill>
                  <a:srgbClr val="6B7280"/>
                </a:solidFill>
                <a:latin typeface="Calibri"/>
              </a:rPr>
              <a:t>← barra de gestos</a:t>
            </a:r>
          </a:p>
        </p:txBody>
      </p:sp>
      <p:sp>
        <p:nvSpPr>
          <p:cNvPr id="17" name="TextBox 16"/>
          <p:cNvSpPr txBox="1"/>
          <p:nvPr/>
        </p:nvSpPr>
        <p:spPr>
          <a:xfrm>
            <a:off x="502920" y="1234440"/>
            <a:ext cx="670529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Boceto: dos esquemas (8 min)</a:t>
            </a:r>
          </a:p>
          <a:p>
            <a:pPr>
              <a:spcAft>
                <a:spcPts val="800"/>
              </a:spcAft>
            </a:pPr>
            <a:r>
              <a:rPr sz="1600" b="1" i="0">
                <a:solidFill>
                  <a:srgbClr val="0D9488"/>
                </a:solidFill>
                <a:latin typeface="Calibri"/>
              </a:rPr>
              <a:t>■  </a:t>
            </a:r>
            <a:r>
              <a:rPr sz="2200" b="0" i="0">
                <a:solidFill>
                  <a:srgbClr val="1F2937"/>
                </a:solidFill>
                <a:latin typeface="Calibri"/>
              </a:rPr>
              <a:t>Elegir uno con 5 criterios</a:t>
            </a:r>
          </a:p>
          <a:p>
            <a:pPr>
              <a:spcAft>
                <a:spcPts val="800"/>
              </a:spcAft>
            </a:pPr>
            <a:r>
              <a:rPr sz="1600" b="1" i="0">
                <a:solidFill>
                  <a:srgbClr val="0D9488"/>
                </a:solidFill>
                <a:latin typeface="Calibri"/>
              </a:rPr>
              <a:t>■  </a:t>
            </a:r>
            <a:r>
              <a:rPr sz="2200" b="0" i="0">
                <a:solidFill>
                  <a:srgbClr val="1F2937"/>
                </a:solidFill>
                <a:latin typeface="Calibri"/>
              </a:rPr>
              <a:t>Implementarlo con Input System</a:t>
            </a:r>
          </a:p>
          <a:p>
            <a:pPr>
              <a:spcAft>
                <a:spcPts val="800"/>
              </a:spcAft>
            </a:pPr>
            <a:r>
              <a:rPr sz="1600" b="1" i="0">
                <a:solidFill>
                  <a:srgbClr val="0D9488"/>
                </a:solidFill>
                <a:latin typeface="Calibri"/>
              </a:rPr>
              <a:t>■  </a:t>
            </a:r>
            <a:r>
              <a:rPr sz="2200" b="0" i="0">
                <a:solidFill>
                  <a:srgbClr val="1F2937"/>
                </a:solidFill>
                <a:latin typeface="Calibri"/>
              </a:rPr>
              <a:t>¿Mide 48 dp? ¿Tapa la nave?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29</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PLAYTEST DE PAPEL · 7 MIN</a:t>
            </a:r>
          </a:p>
          <a:p>
            <a:r>
              <a:rPr sz="2600" b="1" i="0">
                <a:solidFill>
                  <a:srgbClr val="FFFFFF"/>
                </a:solidFill>
                <a:latin typeface="Calibri"/>
              </a:rPr>
              <a:t>Probalo con tu mano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2 · Del supuesto de PC al pulgar</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29/74</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¿Coincide con lo que mostró el simulador?</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HUD a escala sobre tu teléfono</a:t>
            </a:r>
          </a:p>
          <a:p>
            <a:pPr>
              <a:spcAft>
                <a:spcPts val="800"/>
              </a:spcAft>
            </a:pPr>
            <a:r>
              <a:rPr sz="1600" b="1" i="0">
                <a:solidFill>
                  <a:srgbClr val="0D9488"/>
                </a:solidFill>
                <a:latin typeface="Calibri"/>
              </a:rPr>
              <a:t>■  </a:t>
            </a:r>
            <a:r>
              <a:rPr sz="2200" b="0" i="0">
                <a:solidFill>
                  <a:srgbClr val="1F2937"/>
                </a:solidFill>
                <a:latin typeface="Calibri"/>
              </a:rPr>
              <a:t>¿Llegás a todo?</a:t>
            </a:r>
          </a:p>
          <a:p>
            <a:pPr>
              <a:spcAft>
                <a:spcPts val="800"/>
              </a:spcAft>
            </a:pPr>
            <a:r>
              <a:rPr sz="1600" b="1" i="0">
                <a:solidFill>
                  <a:srgbClr val="0D9488"/>
                </a:solidFill>
                <a:latin typeface="Calibri"/>
              </a:rPr>
              <a:t>■  </a:t>
            </a:r>
            <a:r>
              <a:rPr sz="2200" b="0" i="0">
                <a:solidFill>
                  <a:srgbClr val="1F2937"/>
                </a:solidFill>
                <a:latin typeface="Calibri"/>
              </a:rPr>
              <a:t>¿Qué tapa el pulgar?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30</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VISTAZO · 3 MIN · TAREA</a:t>
            </a:r>
          </a:p>
          <a:p>
            <a:r>
              <a:rPr sz="2600" b="1" i="0">
                <a:solidFill>
                  <a:srgbClr val="FFFFFF"/>
                </a:solidFill>
                <a:latin typeface="Calibri"/>
              </a:rPr>
              <a:t>Vistazo: del editor al teléfono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2 · Del supuesto de PC al pulgar</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30/74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Manual — Build your application for Android; Android Player settings</a:t>
            </a:r>
          </a:p>
        </p:txBody>
      </p:sp>
      <p:pic>
        <p:nvPicPr>
          <p:cNvPr id="9" name="Picture 8" descr="u4-build-profiles-android.png"/>
          <p:cNvPicPr>
            <a:picLocks noChangeAspect="1"/>
          </p:cNvPicPr>
          <p:nvPr/>
        </p:nvPicPr>
        <p:blipFill>
          <a:blip r:embed="rId2"/>
          <a:stretch>
            <a:fillRect/>
          </a:stretch>
        </p:blipFill>
        <p:spPr>
          <a:xfrm>
            <a:off x="5640500" y="1234440"/>
            <a:ext cx="5147109" cy="2125980"/>
          </a:xfrm>
          <a:prstGeom prst="rect">
            <a:avLst/>
          </a:prstGeom>
          <a:ln w="12700">
            <a:solidFill>
              <a:srgbClr val="E5E7EB"/>
            </a:solidFill>
          </a:ln>
        </p:spPr>
      </p:pic>
      <p:pic>
        <p:nvPicPr>
          <p:cNvPr id="10" name="Picture 9" descr="u4-switch-platform.png"/>
          <p:cNvPicPr>
            <a:picLocks noChangeAspect="1"/>
          </p:cNvPicPr>
          <p:nvPr/>
        </p:nvPicPr>
        <p:blipFill>
          <a:blip r:embed="rId3"/>
          <a:stretch>
            <a:fillRect/>
          </a:stretch>
        </p:blipFill>
        <p:spPr>
          <a:xfrm>
            <a:off x="5986398" y="3497580"/>
            <a:ext cx="4455314" cy="2125980"/>
          </a:xfrm>
          <a:prstGeom prst="rect">
            <a:avLst/>
          </a:prstGeom>
          <a:ln w="12700">
            <a:solidFill>
              <a:srgbClr val="E5E7EB"/>
            </a:solidFill>
          </a:ln>
        </p:spPr>
      </p:pic>
      <p:sp>
        <p:nvSpPr>
          <p:cNvPr id="11" name="TextBox 10"/>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Build Profiles: perfil Android activo y el botón Switch Platform</a:t>
            </a:r>
          </a:p>
        </p:txBody>
      </p:sp>
      <p:sp>
        <p:nvSpPr>
          <p:cNvPr id="12" name="TextBox 11"/>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2200" b="1" i="0">
                <a:solidFill>
                  <a:srgbClr val="0D9488"/>
                </a:solidFill>
                <a:latin typeface="Calibri"/>
              </a:rPr>
              <a:t>1  </a:t>
            </a:r>
            <a:r>
              <a:rPr sz="2200" b="0" i="0">
                <a:solidFill>
                  <a:srgbClr val="1F2937"/>
                </a:solidFill>
                <a:latin typeface="Calibri"/>
              </a:rPr>
              <a:t>File &gt; Build Profiles</a:t>
            </a:r>
          </a:p>
          <a:p>
            <a:pPr>
              <a:spcAft>
                <a:spcPts val="800"/>
              </a:spcAft>
            </a:pPr>
            <a:r>
              <a:rPr sz="2200" b="1" i="0">
                <a:solidFill>
                  <a:srgbClr val="0D9488"/>
                </a:solidFill>
                <a:latin typeface="Calibri"/>
              </a:rPr>
              <a:t>2  </a:t>
            </a:r>
            <a:r>
              <a:rPr sz="2200" b="0" i="0">
                <a:solidFill>
                  <a:srgbClr val="1F2937"/>
                </a:solidFill>
                <a:latin typeface="Calibri"/>
              </a:rPr>
              <a:t>Android → Switch Platform</a:t>
            </a:r>
          </a:p>
          <a:p>
            <a:pPr>
              <a:spcAft>
                <a:spcPts val="800"/>
              </a:spcAft>
            </a:pPr>
            <a:r>
              <a:rPr sz="2200" b="1" i="0">
                <a:solidFill>
                  <a:srgbClr val="0D9488"/>
                </a:solidFill>
                <a:latin typeface="Calibri"/>
              </a:rPr>
              <a:t>3  </a:t>
            </a:r>
            <a:r>
              <a:rPr sz="2200" b="0" i="0">
                <a:solidFill>
                  <a:srgbClr val="1F2937"/>
                </a:solidFill>
                <a:latin typeface="Calibri"/>
              </a:rPr>
              <a:t>Botón Player Settings</a:t>
            </a:r>
          </a:p>
          <a:p>
            <a:pPr>
              <a:spcAft>
                <a:spcPts val="800"/>
              </a:spcAft>
            </a:pPr>
            <a:r>
              <a:rPr sz="2200" b="1" i="0">
                <a:solidFill>
                  <a:srgbClr val="0D9488"/>
                </a:solidFill>
                <a:latin typeface="Calibri"/>
              </a:rPr>
              <a:t>4  </a:t>
            </a:r>
            <a:r>
              <a:rPr sz="2200" b="0" i="0">
                <a:solidFill>
                  <a:srgbClr val="1F2937"/>
                </a:solidFill>
                <a:latin typeface="Calibri"/>
              </a:rPr>
              <a:t>Tarea: su primer APK</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31</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CIERRE · 2 MIN</a:t>
            </a:r>
          </a:p>
          <a:p>
            <a:r>
              <a:rPr sz="2600" b="1" i="0">
                <a:solidFill>
                  <a:srgbClr val="FFFFFF"/>
                </a:solidFill>
                <a:latin typeface="Calibri"/>
              </a:rPr>
              <a:t>Qué no resuelve esto · Tarea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2 · Del supuesto de PC al pulgar</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31/74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Manual — Android environment setup; Android — Configure on-device developer options</a:t>
            </a:r>
          </a:p>
        </p:txBody>
      </p:sp>
      <p:pic>
        <p:nvPicPr>
          <p:cNvPr id="9" name="Picture 8" descr="u4-external-tools.png"/>
          <p:cNvPicPr>
            <a:picLocks noChangeAspect="1"/>
          </p:cNvPicPr>
          <p:nvPr/>
        </p:nvPicPr>
        <p:blipFill>
          <a:blip r:embed="rId2"/>
          <a:stretch>
            <a:fillRect/>
          </a:stretch>
        </p:blipFill>
        <p:spPr>
          <a:xfrm>
            <a:off x="4739335" y="2473452"/>
            <a:ext cx="6949439" cy="1911095"/>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Edit &gt; Preferences &gt; External Tools &gt; Android: las 4 casillas tildadas</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El simulador no mide calor ni manos</a:t>
            </a:r>
          </a:p>
          <a:p>
            <a:pPr>
              <a:spcAft>
                <a:spcPts val="800"/>
              </a:spcAft>
            </a:pPr>
            <a:r>
              <a:rPr sz="1600" b="1" i="0">
                <a:solidFill>
                  <a:srgbClr val="0D9488"/>
                </a:solidFill>
                <a:latin typeface="Calibri"/>
              </a:rPr>
              <a:t>■  </a:t>
            </a:r>
            <a:r>
              <a:rPr sz="2200" b="0" i="0">
                <a:solidFill>
                  <a:srgbClr val="1F2937"/>
                </a:solidFill>
                <a:latin typeface="Calibri"/>
              </a:rPr>
              <a:t>TP 3: Dossier Asteroides móvil</a:t>
            </a:r>
          </a:p>
          <a:p>
            <a:pPr>
              <a:spcAft>
                <a:spcPts val="800"/>
              </a:spcAft>
            </a:pPr>
            <a:r>
              <a:rPr sz="1600" b="1" i="0">
                <a:solidFill>
                  <a:srgbClr val="0D9488"/>
                </a:solidFill>
                <a:latin typeface="Calibri"/>
              </a:rPr>
              <a:t>■  </a:t>
            </a:r>
            <a:r>
              <a:rPr sz="2200" b="0" i="0">
                <a:solidFill>
                  <a:srgbClr val="1F2937"/>
                </a:solidFill>
                <a:latin typeface="Calibri"/>
              </a:rPr>
              <a:t>Tarea: Build Support + USB + APK</a:t>
            </a:r>
          </a:p>
          <a:p>
            <a:pPr>
              <a:spcAft>
                <a:spcPts val="800"/>
              </a:spcAft>
            </a:pPr>
            <a:r>
              <a:rPr sz="1600" b="1" i="0">
                <a:solidFill>
                  <a:srgbClr val="0D9488"/>
                </a:solidFill>
                <a:latin typeface="Calibri"/>
              </a:rPr>
              <a:t>■  </a:t>
            </a:r>
            <a:r>
              <a:rPr sz="2200" b="0" i="0">
                <a:solidFill>
                  <a:srgbClr val="1F2937"/>
                </a:solidFill>
                <a:latin typeface="Calibri"/>
              </a:rPr>
              <a:t>Lectura: "Leer con lupa"</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Rectangle 1"/>
          <p:cNvSpPr/>
          <p:nvPr/>
        </p:nvSpPr>
        <p:spPr>
          <a:xfrm>
            <a:off x="0" y="4754880"/>
            <a:ext cx="12191695" cy="508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0"/>
            <a:ext cx="11185855" cy="3291840"/>
          </a:xfrm>
          <a:prstGeom prst="rect">
            <a:avLst/>
          </a:prstGeom>
          <a:noFill/>
        </p:spPr>
        <p:txBody>
          <a:bodyPr wrap="square" anchor="b" lIns="0" rIns="0" tIns="0" bIns="0">
            <a:spAutoFit/>
          </a:bodyPr>
          <a:lstStyle/>
          <a:p>
            <a:r>
              <a:rPr sz="1400" b="1" i="0">
                <a:solidFill>
                  <a:srgbClr val="99F6E4"/>
                </a:solidFill>
                <a:latin typeface="Calibri"/>
              </a:rPr>
              <a:t>UNIDAD IV · CLASE 3 DE 3 · 90 MIN · PRÁCTICA EN DISPOSITIVO</a:t>
            </a:r>
          </a:p>
          <a:p>
            <a:r>
              <a:rPr sz="4000" b="1" i="0">
                <a:solidFill>
                  <a:srgbClr val="FFFFFF"/>
                </a:solidFill>
                <a:latin typeface="Calibri"/>
              </a:rPr>
              <a:t>Asteroides en tu bolsillo</a:t>
            </a:r>
          </a:p>
          <a:p>
            <a:pPr>
              <a:spcBef>
                <a:spcPts val="600"/>
              </a:spcBef>
            </a:pPr>
            <a:r>
              <a:rPr sz="2000" b="0" i="0">
                <a:solidFill>
                  <a:srgbClr val="CBD5E1"/>
                </a:solidFill>
                <a:latin typeface="Calibri"/>
              </a:rPr>
              <a:t>Build, medición, prueba y negocio en sus teléfonos</a:t>
            </a:r>
          </a:p>
          <a:p>
            <a:pPr>
              <a:spcBef>
                <a:spcPts val="600"/>
              </a:spcBef>
            </a:pPr>
            <a:r>
              <a:rPr sz="2000" b="0" i="0">
                <a:solidFill>
                  <a:srgbClr val="CBD5E1"/>
                </a:solidFill>
                <a:latin typeface="Calibri"/>
              </a:rPr>
              <a:t>Diseño según Plataformas de Juego · FI – UNJu · 2026</a:t>
            </a:r>
          </a:p>
        </p:txBody>
      </p:sp>
      <p:sp>
        <p:nvSpPr>
          <p:cNvPr id="4" name="TextBox 3"/>
          <p:cNvSpPr txBox="1"/>
          <p:nvPr/>
        </p:nvSpPr>
        <p:spPr>
          <a:xfrm>
            <a:off x="502920" y="6035040"/>
            <a:ext cx="11185855" cy="365760"/>
          </a:xfrm>
          <a:prstGeom prst="rect">
            <a:avLst/>
          </a:prstGeom>
          <a:noFill/>
        </p:spPr>
        <p:txBody>
          <a:bodyPr wrap="square" anchor="t" lIns="0" rIns="0" tIns="0" bIns="0">
            <a:spAutoFit/>
          </a:bodyPr>
          <a:lstStyle/>
          <a:p>
            <a:r>
              <a:rPr sz="1200" b="0" i="0">
                <a:solidFill>
                  <a:srgbClr val="CBD5E1"/>
                </a:solidFill>
                <a:latin typeface="Calibri"/>
              </a:rPr>
              <a:t>Unidad IV · Clase 3 · final · 32/74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APERTURA · 3 MIN</a:t>
            </a:r>
          </a:p>
          <a:p>
            <a:r>
              <a:rPr sz="2600" b="1" i="0">
                <a:solidFill>
                  <a:srgbClr val="FFFFFF"/>
                </a:solidFill>
                <a:latin typeface="Calibri"/>
              </a:rPr>
              <a:t>¿Qué no sabemos todavía?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33/74</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¿Qué esperan que cambie?</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Todo fue en el editor</a:t>
            </a:r>
          </a:p>
          <a:p>
            <a:pPr>
              <a:spcAft>
                <a:spcPts val="800"/>
              </a:spcAft>
            </a:pPr>
            <a:r>
              <a:rPr sz="1600" b="1" i="0">
                <a:solidFill>
                  <a:srgbClr val="0D9488"/>
                </a:solidFill>
                <a:latin typeface="Calibri"/>
              </a:rPr>
              <a:t>■  </a:t>
            </a:r>
            <a:r>
              <a:rPr sz="2200" b="0" i="0">
                <a:solidFill>
                  <a:srgbClr val="1F2937"/>
                </a:solidFill>
                <a:latin typeface="Calibri"/>
              </a:rPr>
              <a:t>"Qué no demuestra" sigue abierto</a:t>
            </a:r>
          </a:p>
          <a:p>
            <a:pPr>
              <a:spcAft>
                <a:spcPts val="800"/>
              </a:spcAft>
            </a:pPr>
            <a:r>
              <a:rPr sz="1600" b="1" i="0">
                <a:solidFill>
                  <a:srgbClr val="0D9488"/>
                </a:solidFill>
                <a:latin typeface="Calibri"/>
              </a:rPr>
              <a:t>■  </a:t>
            </a:r>
            <a:r>
              <a:rPr sz="2200" b="0" i="0">
                <a:solidFill>
                  <a:srgbClr val="1F2937"/>
                </a:solidFill>
                <a:latin typeface="Calibri"/>
              </a:rPr>
              <a:t>Hoy: el teléfono real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REPASO DE LA BUILD · 2 MIN</a:t>
            </a:r>
          </a:p>
          <a:p>
            <a:r>
              <a:rPr sz="2600" b="1" i="0">
                <a:solidFill>
                  <a:srgbClr val="FFFFFF"/>
                </a:solidFill>
                <a:latin typeface="Calibri"/>
              </a:rPr>
              <a:t>Antes de compilar: así viene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34/74</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¿Qué de esto impide instalar en un teléfono de 64 bits?</a:t>
            </a:r>
          </a:p>
        </p:txBody>
      </p:sp>
      <p:pic>
        <p:nvPicPr>
          <p:cNvPr id="10" name="Picture 9" descr="u4-player-settings-android.png"/>
          <p:cNvPicPr>
            <a:picLocks noChangeAspect="1"/>
          </p:cNvPicPr>
          <p:nvPr/>
        </p:nvPicPr>
        <p:blipFill>
          <a:blip r:embed="rId2"/>
          <a:stretch>
            <a:fillRect/>
          </a:stretch>
        </p:blipFill>
        <p:spPr>
          <a:xfrm>
            <a:off x="541869" y="1234440"/>
            <a:ext cx="11107957" cy="3840480"/>
          </a:xfrm>
          <a:prstGeom prst="rect">
            <a:avLst/>
          </a:prstGeom>
          <a:ln w="12700">
            <a:solidFill>
              <a:srgbClr val="E5E7EB"/>
            </a:solidFill>
          </a:ln>
        </p:spPr>
      </p:pic>
      <p:sp>
        <p:nvSpPr>
          <p:cNvPr id="11" name="TextBox 10"/>
          <p:cNvSpPr txBox="1"/>
          <p:nvPr/>
        </p:nvSpPr>
        <p:spPr>
          <a:xfrm>
            <a:off x="502920" y="5074920"/>
            <a:ext cx="11185855" cy="365760"/>
          </a:xfrm>
          <a:prstGeom prst="rect">
            <a:avLst/>
          </a:prstGeom>
          <a:noFill/>
        </p:spPr>
        <p:txBody>
          <a:bodyPr wrap="square" anchor="ctr" lIns="0" rIns="0" tIns="0" bIns="0">
            <a:spAutoFit/>
          </a:bodyPr>
          <a:lstStyle/>
          <a:p>
            <a:pPr algn="ctr"/>
            <a:r>
              <a:rPr sz="1200" b="0" i="1">
                <a:solidFill>
                  <a:srgbClr val="6B7280"/>
                </a:solidFill>
                <a:latin typeface="Calibri"/>
              </a:rPr>
              <a:t>Player Settings &gt; Other Settings de Asteroides en Unity 6000.3.11f1, antes de cambiar nada</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BUILD · 2 MIN</a:t>
            </a:r>
          </a:p>
          <a:p>
            <a:r>
              <a:rPr sz="2600" b="1" i="0">
                <a:solidFill>
                  <a:srgbClr val="FFFFFF"/>
                </a:solidFill>
                <a:latin typeface="Calibri"/>
              </a:rPr>
              <a:t>Así tiene que quedar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35/74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Manual — Android Player settings; Build your application for Android</a:t>
            </a:r>
          </a:p>
        </p:txBody>
      </p:sp>
      <p:sp>
        <p:nvSpPr>
          <p:cNvPr id="9" name="Rectangle 8"/>
          <p:cNvSpPr/>
          <p:nvPr/>
        </p:nvSpPr>
        <p:spPr>
          <a:xfrm>
            <a:off x="5836615" y="1234440"/>
            <a:ext cx="5852160" cy="4480560"/>
          </a:xfrm>
          <a:prstGeom prst="rect">
            <a:avLst/>
          </a:prstGeom>
          <a:solidFill>
            <a:srgbClr val="28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19495" y="1234440"/>
            <a:ext cx="5486400" cy="457200"/>
          </a:xfrm>
          <a:prstGeom prst="rect">
            <a:avLst/>
          </a:prstGeom>
          <a:noFill/>
        </p:spPr>
        <p:txBody>
          <a:bodyPr wrap="square" anchor="ctr" lIns="0" rIns="0" tIns="0" bIns="0">
            <a:spAutoFit/>
          </a:bodyPr>
          <a:lstStyle/>
          <a:p>
            <a:r>
              <a:rPr sz="1500" b="1" i="0">
                <a:solidFill>
                  <a:srgbClr val="FFFFFF"/>
                </a:solidFill>
                <a:latin typeface="Calibri"/>
              </a:rPr>
              <a:t>Player Settings · Android</a:t>
            </a:r>
          </a:p>
        </p:txBody>
      </p:sp>
      <p:sp>
        <p:nvSpPr>
          <p:cNvPr id="11" name="Rectangle 10"/>
          <p:cNvSpPr/>
          <p:nvPr/>
        </p:nvSpPr>
        <p:spPr>
          <a:xfrm>
            <a:off x="5836615" y="1691640"/>
            <a:ext cx="5852160" cy="12700"/>
          </a:xfrm>
          <a:prstGeom prst="rect">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19495" y="1691640"/>
            <a:ext cx="2743200" cy="502920"/>
          </a:xfrm>
          <a:prstGeom prst="rect">
            <a:avLst/>
          </a:prstGeom>
          <a:noFill/>
        </p:spPr>
        <p:txBody>
          <a:bodyPr wrap="square" anchor="ctr" lIns="0" rIns="0" tIns="0" bIns="0">
            <a:spAutoFit/>
          </a:bodyPr>
          <a:lstStyle/>
          <a:p>
            <a:r>
              <a:rPr sz="1400" b="0" i="0">
                <a:solidFill>
                  <a:srgbClr val="D4D4D4"/>
                </a:solidFill>
                <a:latin typeface="Calibri"/>
              </a:rPr>
              <a:t>Company Name</a:t>
            </a:r>
          </a:p>
        </p:txBody>
      </p:sp>
      <p:sp>
        <p:nvSpPr>
          <p:cNvPr id="13" name="Rounded Rectangle 12"/>
          <p:cNvSpPr/>
          <p:nvPr/>
        </p:nvSpPr>
        <p:spPr>
          <a:xfrm>
            <a:off x="8762695" y="1764792"/>
            <a:ext cx="2743200" cy="356616"/>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l"/>
            <a:r>
              <a:rPr sz="1400" b="1" i="0">
                <a:solidFill>
                  <a:srgbClr val="FFFFFF"/>
                </a:solidFill>
                <a:latin typeface="Calibri"/>
              </a:rPr>
              <a:t>Unju</a:t>
            </a:r>
          </a:p>
        </p:txBody>
      </p:sp>
      <p:sp>
        <p:nvSpPr>
          <p:cNvPr id="14" name="Rectangle 13"/>
          <p:cNvSpPr/>
          <p:nvPr/>
        </p:nvSpPr>
        <p:spPr>
          <a:xfrm>
            <a:off x="5836615" y="2194560"/>
            <a:ext cx="5852160" cy="12700"/>
          </a:xfrm>
          <a:prstGeom prst="rect">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19495" y="2194560"/>
            <a:ext cx="2743200" cy="502920"/>
          </a:xfrm>
          <a:prstGeom prst="rect">
            <a:avLst/>
          </a:prstGeom>
          <a:noFill/>
        </p:spPr>
        <p:txBody>
          <a:bodyPr wrap="square" anchor="ctr" lIns="0" rIns="0" tIns="0" bIns="0">
            <a:spAutoFit/>
          </a:bodyPr>
          <a:lstStyle/>
          <a:p>
            <a:r>
              <a:rPr sz="1400" b="0" i="0">
                <a:solidFill>
                  <a:srgbClr val="D4D4D4"/>
                </a:solidFill>
                <a:latin typeface="Calibri"/>
              </a:rPr>
              <a:t>Product Name</a:t>
            </a:r>
          </a:p>
        </p:txBody>
      </p:sp>
      <p:sp>
        <p:nvSpPr>
          <p:cNvPr id="16" name="Rounded Rectangle 15"/>
          <p:cNvSpPr/>
          <p:nvPr/>
        </p:nvSpPr>
        <p:spPr>
          <a:xfrm>
            <a:off x="8762695" y="2267712"/>
            <a:ext cx="2743200" cy="356616"/>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l"/>
            <a:r>
              <a:rPr sz="1400" b="1" i="0">
                <a:solidFill>
                  <a:srgbClr val="FFFFFF"/>
                </a:solidFill>
                <a:latin typeface="Calibri"/>
              </a:rPr>
              <a:t>AsteroideTest</a:t>
            </a:r>
          </a:p>
        </p:txBody>
      </p:sp>
      <p:sp>
        <p:nvSpPr>
          <p:cNvPr id="17" name="Rectangle 16"/>
          <p:cNvSpPr/>
          <p:nvPr/>
        </p:nvSpPr>
        <p:spPr>
          <a:xfrm>
            <a:off x="5836615" y="2697480"/>
            <a:ext cx="5852160" cy="12700"/>
          </a:xfrm>
          <a:prstGeom prst="rect">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19495" y="2697480"/>
            <a:ext cx="2743200" cy="502920"/>
          </a:xfrm>
          <a:prstGeom prst="rect">
            <a:avLst/>
          </a:prstGeom>
          <a:noFill/>
        </p:spPr>
        <p:txBody>
          <a:bodyPr wrap="square" anchor="ctr" lIns="0" rIns="0" tIns="0" bIns="0">
            <a:spAutoFit/>
          </a:bodyPr>
          <a:lstStyle/>
          <a:p>
            <a:r>
              <a:rPr sz="1400" b="0" i="0">
                <a:solidFill>
                  <a:srgbClr val="D4D4D4"/>
                </a:solidFill>
                <a:latin typeface="Calibri"/>
              </a:rPr>
              <a:t>Package Name</a:t>
            </a:r>
          </a:p>
        </p:txBody>
      </p:sp>
      <p:sp>
        <p:nvSpPr>
          <p:cNvPr id="19" name="Rounded Rectangle 18"/>
          <p:cNvSpPr/>
          <p:nvPr/>
        </p:nvSpPr>
        <p:spPr>
          <a:xfrm>
            <a:off x="8762695" y="2770632"/>
            <a:ext cx="2743200" cy="356616"/>
          </a:xfrm>
          <a:prstGeom prst="round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l"/>
            <a:r>
              <a:rPr sz="1400" b="0" i="0">
                <a:solidFill>
                  <a:srgbClr val="FFFFFF"/>
                </a:solidFill>
                <a:latin typeface="Calibri"/>
              </a:rPr>
              <a:t>com.Unju.AsteroideTest</a:t>
            </a:r>
          </a:p>
        </p:txBody>
      </p:sp>
      <p:sp>
        <p:nvSpPr>
          <p:cNvPr id="20" name="Rectangle 19"/>
          <p:cNvSpPr/>
          <p:nvPr/>
        </p:nvSpPr>
        <p:spPr>
          <a:xfrm>
            <a:off x="5836615" y="3200400"/>
            <a:ext cx="5852160" cy="12700"/>
          </a:xfrm>
          <a:prstGeom prst="rect">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19495" y="3200400"/>
            <a:ext cx="2743200" cy="502920"/>
          </a:xfrm>
          <a:prstGeom prst="rect">
            <a:avLst/>
          </a:prstGeom>
          <a:noFill/>
        </p:spPr>
        <p:txBody>
          <a:bodyPr wrap="square" anchor="ctr" lIns="0" rIns="0" tIns="0" bIns="0">
            <a:spAutoFit/>
          </a:bodyPr>
          <a:lstStyle/>
          <a:p>
            <a:r>
              <a:rPr sz="1400" b="0" i="0">
                <a:solidFill>
                  <a:srgbClr val="D4D4D4"/>
                </a:solidFill>
                <a:latin typeface="Calibri"/>
              </a:rPr>
              <a:t>Minimum API Level</a:t>
            </a:r>
          </a:p>
        </p:txBody>
      </p:sp>
      <p:sp>
        <p:nvSpPr>
          <p:cNvPr id="22" name="Rounded Rectangle 21"/>
          <p:cNvSpPr/>
          <p:nvPr/>
        </p:nvSpPr>
        <p:spPr>
          <a:xfrm>
            <a:off x="8762695" y="3273552"/>
            <a:ext cx="2743200" cy="356616"/>
          </a:xfrm>
          <a:prstGeom prst="round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l"/>
            <a:r>
              <a:rPr sz="1400" b="0" i="0">
                <a:solidFill>
                  <a:srgbClr val="FFFFFF"/>
                </a:solidFill>
                <a:latin typeface="Calibri"/>
              </a:rPr>
              <a:t>API 25 (Android 7.1)</a:t>
            </a:r>
          </a:p>
        </p:txBody>
      </p:sp>
      <p:sp>
        <p:nvSpPr>
          <p:cNvPr id="23" name="Rectangle 22"/>
          <p:cNvSpPr/>
          <p:nvPr/>
        </p:nvSpPr>
        <p:spPr>
          <a:xfrm>
            <a:off x="5836615" y="3703320"/>
            <a:ext cx="5852160" cy="12700"/>
          </a:xfrm>
          <a:prstGeom prst="rect">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19495" y="3703320"/>
            <a:ext cx="2743200" cy="502920"/>
          </a:xfrm>
          <a:prstGeom prst="rect">
            <a:avLst/>
          </a:prstGeom>
          <a:noFill/>
        </p:spPr>
        <p:txBody>
          <a:bodyPr wrap="square" anchor="ctr" lIns="0" rIns="0" tIns="0" bIns="0">
            <a:spAutoFit/>
          </a:bodyPr>
          <a:lstStyle/>
          <a:p>
            <a:r>
              <a:rPr sz="1400" b="0" i="0">
                <a:solidFill>
                  <a:srgbClr val="D4D4D4"/>
                </a:solidFill>
                <a:latin typeface="Calibri"/>
              </a:rPr>
              <a:t>Scripting Backend</a:t>
            </a:r>
          </a:p>
        </p:txBody>
      </p:sp>
      <p:sp>
        <p:nvSpPr>
          <p:cNvPr id="25" name="Rounded Rectangle 24"/>
          <p:cNvSpPr/>
          <p:nvPr/>
        </p:nvSpPr>
        <p:spPr>
          <a:xfrm>
            <a:off x="8762695" y="3776472"/>
            <a:ext cx="2743200" cy="356616"/>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l"/>
            <a:r>
              <a:rPr sz="1400" b="1" i="0">
                <a:solidFill>
                  <a:srgbClr val="FFFFFF"/>
                </a:solidFill>
                <a:latin typeface="Calibri"/>
              </a:rPr>
              <a:t>IL2CPP</a:t>
            </a:r>
          </a:p>
        </p:txBody>
      </p:sp>
      <p:sp>
        <p:nvSpPr>
          <p:cNvPr id="26" name="Rectangle 25"/>
          <p:cNvSpPr/>
          <p:nvPr/>
        </p:nvSpPr>
        <p:spPr>
          <a:xfrm>
            <a:off x="5836615" y="4206240"/>
            <a:ext cx="5852160" cy="12700"/>
          </a:xfrm>
          <a:prstGeom prst="rect">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19495" y="4206240"/>
            <a:ext cx="2743200" cy="502920"/>
          </a:xfrm>
          <a:prstGeom prst="rect">
            <a:avLst/>
          </a:prstGeom>
          <a:noFill/>
        </p:spPr>
        <p:txBody>
          <a:bodyPr wrap="square" anchor="ctr" lIns="0" rIns="0" tIns="0" bIns="0">
            <a:spAutoFit/>
          </a:bodyPr>
          <a:lstStyle/>
          <a:p>
            <a:r>
              <a:rPr sz="1400" b="0" i="0">
                <a:solidFill>
                  <a:srgbClr val="D4D4D4"/>
                </a:solidFill>
                <a:latin typeface="Calibri"/>
              </a:rPr>
              <a:t>Target Architectures</a:t>
            </a:r>
          </a:p>
        </p:txBody>
      </p:sp>
      <p:sp>
        <p:nvSpPr>
          <p:cNvPr id="28" name="Rounded Rectangle 27"/>
          <p:cNvSpPr/>
          <p:nvPr/>
        </p:nvSpPr>
        <p:spPr>
          <a:xfrm>
            <a:off x="8762695" y="4279392"/>
            <a:ext cx="2743200" cy="356616"/>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l"/>
            <a:r>
              <a:rPr sz="1400" b="1" i="0">
                <a:solidFill>
                  <a:srgbClr val="FFFFFF"/>
                </a:solidFill>
                <a:latin typeface="Calibri"/>
              </a:rPr>
              <a:t>ARM64</a:t>
            </a:r>
          </a:p>
        </p:txBody>
      </p:sp>
      <p:sp>
        <p:nvSpPr>
          <p:cNvPr id="29" name="Rectangle 28"/>
          <p:cNvSpPr/>
          <p:nvPr/>
        </p:nvSpPr>
        <p:spPr>
          <a:xfrm>
            <a:off x="5836615" y="4709160"/>
            <a:ext cx="5852160" cy="12700"/>
          </a:xfrm>
          <a:prstGeom prst="rect">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19495" y="4709160"/>
            <a:ext cx="2743200" cy="502920"/>
          </a:xfrm>
          <a:prstGeom prst="rect">
            <a:avLst/>
          </a:prstGeom>
          <a:noFill/>
        </p:spPr>
        <p:txBody>
          <a:bodyPr wrap="square" anchor="ctr" lIns="0" rIns="0" tIns="0" bIns="0">
            <a:spAutoFit/>
          </a:bodyPr>
          <a:lstStyle/>
          <a:p>
            <a:r>
              <a:rPr sz="1400" b="0" i="0">
                <a:solidFill>
                  <a:srgbClr val="D4D4D4"/>
                </a:solidFill>
                <a:latin typeface="Calibri"/>
              </a:rPr>
              <a:t>Build App Bundle</a:t>
            </a:r>
          </a:p>
        </p:txBody>
      </p:sp>
      <p:sp>
        <p:nvSpPr>
          <p:cNvPr id="31" name="Rounded Rectangle 30"/>
          <p:cNvSpPr/>
          <p:nvPr/>
        </p:nvSpPr>
        <p:spPr>
          <a:xfrm>
            <a:off x="8762695" y="4782312"/>
            <a:ext cx="2743200" cy="356616"/>
          </a:xfrm>
          <a:prstGeom prst="round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l"/>
            <a:r>
              <a:rPr sz="1400" b="0" i="0">
                <a:solidFill>
                  <a:srgbClr val="FFFFFF"/>
                </a:solidFill>
                <a:latin typeface="Calibri"/>
              </a:rPr>
              <a:t>No: sale un .apk</a:t>
            </a:r>
          </a:p>
        </p:txBody>
      </p:sp>
      <p:sp>
        <p:nvSpPr>
          <p:cNvPr id="32" name="Rectangle 31"/>
          <p:cNvSpPr/>
          <p:nvPr/>
        </p:nvSpPr>
        <p:spPr>
          <a:xfrm>
            <a:off x="5836615" y="5212080"/>
            <a:ext cx="5852160" cy="12700"/>
          </a:xfrm>
          <a:prstGeom prst="rect">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019495" y="5212080"/>
            <a:ext cx="2743200" cy="502920"/>
          </a:xfrm>
          <a:prstGeom prst="rect">
            <a:avLst/>
          </a:prstGeom>
          <a:noFill/>
        </p:spPr>
        <p:txBody>
          <a:bodyPr wrap="square" anchor="ctr" lIns="0" rIns="0" tIns="0" bIns="0">
            <a:spAutoFit/>
          </a:bodyPr>
          <a:lstStyle/>
          <a:p>
            <a:r>
              <a:rPr sz="1400" b="0" i="0">
                <a:solidFill>
                  <a:srgbClr val="D4D4D4"/>
                </a:solidFill>
                <a:latin typeface="Calibri"/>
              </a:rPr>
              <a:t>Development Build</a:t>
            </a:r>
          </a:p>
        </p:txBody>
      </p:sp>
      <p:sp>
        <p:nvSpPr>
          <p:cNvPr id="34" name="Rounded Rectangle 33"/>
          <p:cNvSpPr/>
          <p:nvPr/>
        </p:nvSpPr>
        <p:spPr>
          <a:xfrm>
            <a:off x="8762695" y="5285232"/>
            <a:ext cx="2743200" cy="356616"/>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a:lstStyle/>
          <a:p>
            <a:pPr algn="l"/>
            <a:r>
              <a:rPr sz="1400" b="1" i="0">
                <a:solidFill>
                  <a:srgbClr val="FFFFFF"/>
                </a:solidFill>
                <a:latin typeface="Calibri"/>
              </a:rPr>
              <a:t>Sí, para el Profiler</a:t>
            </a:r>
          </a:p>
        </p:txBody>
      </p:sp>
      <p:sp>
        <p:nvSpPr>
          <p:cNvPr id="35" name="TextBox 34"/>
          <p:cNvSpPr txBox="1"/>
          <p:nvPr/>
        </p:nvSpPr>
        <p:spPr>
          <a:xfrm>
            <a:off x="502920" y="1234440"/>
            <a:ext cx="505937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Una sola fuente: Project Settings</a:t>
            </a:r>
          </a:p>
          <a:p>
            <a:pPr>
              <a:spcAft>
                <a:spcPts val="800"/>
              </a:spcAft>
            </a:pPr>
            <a:r>
              <a:rPr sz="1600" b="1" i="0">
                <a:solidFill>
                  <a:srgbClr val="0D9488"/>
                </a:solidFill>
                <a:latin typeface="Calibri"/>
              </a:rPr>
              <a:t>■  </a:t>
            </a:r>
            <a:r>
              <a:rPr sz="2200" b="0" i="0">
                <a:solidFill>
                  <a:srgbClr val="1F2937"/>
                </a:solidFill>
                <a:latin typeface="Calibri"/>
              </a:rPr>
              <a:t>El Build Profile puede pisarla</a:t>
            </a:r>
          </a:p>
          <a:p>
            <a:pPr>
              <a:spcAft>
                <a:spcPts val="800"/>
              </a:spcAft>
            </a:pPr>
            <a:r>
              <a:rPr sz="1600" b="1" i="0">
                <a:solidFill>
                  <a:srgbClr val="0D9488"/>
                </a:solidFill>
                <a:latin typeface="Calibri"/>
              </a:rPr>
              <a:t>■  </a:t>
            </a:r>
            <a:r>
              <a:rPr sz="2200" b="0" i="0">
                <a:solidFill>
                  <a:srgbClr val="1F2937"/>
                </a:solidFill>
                <a:latin typeface="Calibri"/>
              </a:rPr>
              <a:t>Both: aviso, no error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DIAGNÓSTICO · CARTELES REALES · 2 MIN</a:t>
            </a:r>
          </a:p>
          <a:p>
            <a:r>
              <a:rPr sz="2600" b="1" i="0">
                <a:solidFill>
                  <a:srgbClr val="FFFFFF"/>
                </a:solidFill>
                <a:latin typeface="Calibri"/>
              </a:rPr>
              <a:t>Cuando la build se frena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36/74</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¿Cuál es un error y cuál es un aviso?</a:t>
            </a:r>
          </a:p>
        </p:txBody>
      </p:sp>
      <p:pic>
        <p:nvPicPr>
          <p:cNvPr id="10" name="Picture 9" descr="u4-dialogo-input-handling.png"/>
          <p:cNvPicPr>
            <a:picLocks noChangeAspect="1"/>
          </p:cNvPicPr>
          <p:nvPr/>
        </p:nvPicPr>
        <p:blipFill>
          <a:blip r:embed="rId2"/>
          <a:stretch>
            <a:fillRect/>
          </a:stretch>
        </p:blipFill>
        <p:spPr>
          <a:xfrm>
            <a:off x="6744300" y="1234440"/>
            <a:ext cx="2939510" cy="1851660"/>
          </a:xfrm>
          <a:prstGeom prst="rect">
            <a:avLst/>
          </a:prstGeom>
          <a:ln w="12700">
            <a:solidFill>
              <a:srgbClr val="E5E7EB"/>
            </a:solidFill>
          </a:ln>
        </p:spPr>
      </p:pic>
      <p:pic>
        <p:nvPicPr>
          <p:cNvPr id="11" name="Picture 10" descr="u4-dialogo-sin-dispositivo.png"/>
          <p:cNvPicPr>
            <a:picLocks noChangeAspect="1"/>
          </p:cNvPicPr>
          <p:nvPr/>
        </p:nvPicPr>
        <p:blipFill>
          <a:blip r:embed="rId3"/>
          <a:stretch>
            <a:fillRect/>
          </a:stretch>
        </p:blipFill>
        <p:spPr>
          <a:xfrm>
            <a:off x="6008896" y="3223260"/>
            <a:ext cx="4410317" cy="1851660"/>
          </a:xfrm>
          <a:prstGeom prst="rect">
            <a:avLst/>
          </a:prstGeom>
          <a:ln w="12700">
            <a:solidFill>
              <a:srgbClr val="E5E7EB"/>
            </a:solidFill>
          </a:ln>
        </p:spPr>
      </p:pic>
      <p:sp>
        <p:nvSpPr>
          <p:cNvPr id="12" name="TextBox 11"/>
          <p:cNvSpPr txBox="1"/>
          <p:nvPr/>
        </p:nvSpPr>
        <p:spPr>
          <a:xfrm>
            <a:off x="4739335" y="507492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Los dos carteles, tal como aparecieron en Unity 6000.3.11f1</a:t>
            </a:r>
          </a:p>
        </p:txBody>
      </p:sp>
      <p:sp>
        <p:nvSpPr>
          <p:cNvPr id="13" name="TextBox 12"/>
          <p:cNvSpPr txBox="1"/>
          <p:nvPr/>
        </p:nvSpPr>
        <p:spPr>
          <a:xfrm>
            <a:off x="502920" y="1234440"/>
            <a:ext cx="396209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Input: Ignore y anotar</a:t>
            </a:r>
          </a:p>
          <a:p>
            <a:pPr>
              <a:spcAft>
                <a:spcPts val="800"/>
              </a:spcAft>
            </a:pPr>
            <a:r>
              <a:rPr sz="1600" b="1" i="0">
                <a:solidFill>
                  <a:srgbClr val="0D9488"/>
                </a:solidFill>
                <a:latin typeface="Calibri"/>
              </a:rPr>
              <a:t>■  </a:t>
            </a:r>
            <a:r>
              <a:rPr sz="2200" b="0" i="0">
                <a:solidFill>
                  <a:srgbClr val="1F2937"/>
                </a:solidFill>
                <a:latin typeface="Calibri"/>
              </a:rPr>
              <a:t>Sin teléfono: usar Build</a:t>
            </a:r>
          </a:p>
          <a:p>
            <a:pPr>
              <a:spcAft>
                <a:spcPts val="800"/>
              </a:spcAft>
            </a:pPr>
            <a:r>
              <a:rPr sz="1600" b="1" i="0">
                <a:solidFill>
                  <a:srgbClr val="0D9488"/>
                </a:solidFill>
                <a:latin typeface="Calibri"/>
              </a:rPr>
              <a:t>■  </a:t>
            </a:r>
            <a:r>
              <a:rPr sz="2200" b="0" i="0">
                <a:solidFill>
                  <a:srgbClr val="1F2937"/>
                </a:solidFill>
                <a:latin typeface="Calibri"/>
              </a:rPr>
              <a:t>No instala: ¿y ARM64?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BUILD E INSTALACIÓN · 12 MIN · GRUPOS</a:t>
            </a:r>
          </a:p>
          <a:p>
            <a:r>
              <a:rPr sz="2600" b="1" i="0">
                <a:solidFill>
                  <a:srgbClr val="FFFFFF"/>
                </a:solidFill>
                <a:latin typeface="Calibri"/>
              </a:rPr>
              <a:t>De la PC al teléfono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37/74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 Build your application for Android; Collect performance data on a target platform</a:t>
            </a:r>
          </a:p>
        </p:txBody>
      </p:sp>
      <p:sp>
        <p:nvSpPr>
          <p:cNvPr id="9" name="Rounded Rectangle 8"/>
          <p:cNvSpPr/>
          <p:nvPr/>
        </p:nvSpPr>
        <p:spPr>
          <a:xfrm>
            <a:off x="7116775" y="1234441"/>
            <a:ext cx="4572000" cy="672998"/>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Build Profiles: Android activo</a:t>
            </a:r>
          </a:p>
        </p:txBody>
      </p:sp>
      <p:sp>
        <p:nvSpPr>
          <p:cNvPr id="10" name="Down Arrow 9"/>
          <p:cNvSpPr/>
          <p:nvPr/>
        </p:nvSpPr>
        <p:spPr>
          <a:xfrm>
            <a:off x="9201607" y="1944015"/>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116775" y="2254911"/>
            <a:ext cx="4572000" cy="672998"/>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Player Settings: IL2CPP + ARM64</a:t>
            </a:r>
          </a:p>
        </p:txBody>
      </p:sp>
      <p:sp>
        <p:nvSpPr>
          <p:cNvPr id="12" name="Down Arrow 11"/>
          <p:cNvSpPr/>
          <p:nvPr/>
        </p:nvSpPr>
        <p:spPr>
          <a:xfrm>
            <a:off x="9201607" y="2964485"/>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116775" y="3275381"/>
            <a:ext cx="4572000" cy="672998"/>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Teléfono con depuración USB</a:t>
            </a:r>
          </a:p>
        </p:txBody>
      </p:sp>
      <p:sp>
        <p:nvSpPr>
          <p:cNvPr id="14" name="Down Arrow 13"/>
          <p:cNvSpPr/>
          <p:nvPr/>
        </p:nvSpPr>
        <p:spPr>
          <a:xfrm>
            <a:off x="9201607" y="3984955"/>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116775" y="4295851"/>
            <a:ext cx="4572000" cy="672998"/>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Build and Run (o Build → .apk)</a:t>
            </a:r>
          </a:p>
        </p:txBody>
      </p:sp>
      <p:sp>
        <p:nvSpPr>
          <p:cNvPr id="16" name="Down Arrow 15"/>
          <p:cNvSpPr/>
          <p:nvPr/>
        </p:nvSpPr>
        <p:spPr>
          <a:xfrm>
            <a:off x="9201607" y="5005425"/>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116775" y="5316321"/>
            <a:ext cx="4572000" cy="672998"/>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El juego abre en el teléfono</a:t>
            </a:r>
          </a:p>
        </p:txBody>
      </p:sp>
      <p:sp>
        <p:nvSpPr>
          <p:cNvPr id="18" name="TextBox 17"/>
          <p:cNvSpPr txBox="1"/>
          <p:nvPr/>
        </p:nvSpPr>
        <p:spPr>
          <a:xfrm>
            <a:off x="502920" y="1234440"/>
            <a:ext cx="633953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¿Trajeron el APK? Instalar</a:t>
            </a:r>
          </a:p>
          <a:p>
            <a:pPr>
              <a:spcAft>
                <a:spcPts val="800"/>
              </a:spcAft>
            </a:pPr>
            <a:r>
              <a:rPr sz="1600" b="1" i="0">
                <a:solidFill>
                  <a:srgbClr val="0D9488"/>
                </a:solidFill>
                <a:latin typeface="Calibri"/>
              </a:rPr>
              <a:t>■  </a:t>
            </a:r>
            <a:r>
              <a:rPr sz="2200" b="0" i="0">
                <a:solidFill>
                  <a:srgbClr val="1F2937"/>
                </a:solidFill>
                <a:latin typeface="Calibri"/>
              </a:rPr>
              <a:t>¿No? Seguir los pasos</a:t>
            </a:r>
          </a:p>
          <a:p>
            <a:pPr>
              <a:spcAft>
                <a:spcPts val="800"/>
              </a:spcAft>
            </a:pPr>
            <a:r>
              <a:rPr sz="1600" b="1" i="0">
                <a:solidFill>
                  <a:srgbClr val="0D9488"/>
                </a:solidFill>
                <a:latin typeface="Calibri"/>
              </a:rPr>
              <a:t>■  </a:t>
            </a:r>
            <a:r>
              <a:rPr sz="2200" b="0" i="0">
                <a:solidFill>
                  <a:srgbClr val="1F2937"/>
                </a:solidFill>
                <a:latin typeface="Calibri"/>
              </a:rPr>
              <a:t>Con cable: Build and Run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MEDICIÓN · 8 MIN</a:t>
            </a:r>
          </a:p>
          <a:p>
            <a:r>
              <a:rPr sz="2600" b="1" i="0">
                <a:solidFill>
                  <a:srgbClr val="FFFFFF"/>
                </a:solidFill>
                <a:latin typeface="Calibri"/>
              </a:rPr>
              <a:t>Medir, no opinar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38/74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 Profiling on a target device; e-book Unity 6, p. 11</a:t>
            </a:r>
          </a:p>
        </p:txBody>
      </p:sp>
      <p:sp>
        <p:nvSpPr>
          <p:cNvPr id="9" name="Rectangle 8"/>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Capturen el Profiler y anoten los valores.</a:t>
            </a:r>
          </a:p>
        </p:txBody>
      </p:sp>
      <p:sp>
        <p:nvSpPr>
          <p:cNvPr id="11" name="TextBox 10"/>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H1: ¿picos de GC al disparar?</a:t>
            </a:r>
          </a:p>
          <a:p>
            <a:pPr>
              <a:spcAft>
                <a:spcPts val="800"/>
              </a:spcAft>
            </a:pPr>
            <a:r>
              <a:rPr sz="1600" b="1" i="0">
                <a:solidFill>
                  <a:srgbClr val="0D9488"/>
                </a:solidFill>
                <a:latin typeface="Calibri"/>
              </a:rPr>
              <a:t>■  </a:t>
            </a:r>
            <a:r>
              <a:rPr sz="2200" b="0" i="0">
                <a:solidFill>
                  <a:srgbClr val="1F2937"/>
                </a:solidFill>
                <a:latin typeface="Calibri"/>
              </a:rPr>
              <a:t>H2: ¿fps estable 5 minutos?</a:t>
            </a:r>
          </a:p>
          <a:p>
            <a:pPr>
              <a:spcAft>
                <a:spcPts val="800"/>
              </a:spcAft>
            </a:pPr>
            <a:r>
              <a:rPr sz="1600" b="1" i="0">
                <a:solidFill>
                  <a:srgbClr val="0D9488"/>
                </a:solidFill>
                <a:latin typeface="Calibri"/>
              </a:rPr>
              <a:t>■  </a:t>
            </a:r>
            <a:r>
              <a:rPr sz="2200" b="0" i="0">
                <a:solidFill>
                  <a:srgbClr val="1F2937"/>
                </a:solidFill>
                <a:latin typeface="Calibri"/>
              </a:rPr>
              <a:t>Anotar modelo y versión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39</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COMPARAR</a:t>
            </a:r>
          </a:p>
          <a:p>
            <a:r>
              <a:rPr sz="2600" b="1" i="0">
                <a:solidFill>
                  <a:srgbClr val="FFFFFF"/>
                </a:solidFill>
                <a:latin typeface="Calibri"/>
              </a:rPr>
              <a:t>Editor vs. teléfono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39/74</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Completen con sus mediciones.</a:t>
            </a:r>
          </a:p>
        </p:txBody>
      </p:sp>
      <p:graphicFrame>
        <p:nvGraphicFramePr>
          <p:cNvPr id="10" name="Table 9"/>
          <p:cNvGraphicFramePr>
            <a:graphicFrameLocks noGrp="1"/>
          </p:cNvGraphicFramePr>
          <p:nvPr/>
        </p:nvGraphicFramePr>
        <p:xfrm>
          <a:off x="502920" y="1234440"/>
          <a:ext cx="11185853" cy="2834640"/>
        </p:xfrm>
        <a:graphic>
          <a:graphicData uri="http://schemas.openxmlformats.org/drawingml/2006/table">
            <a:tbl>
              <a:tblPr firstRow="1" bandRow="1">
                <a:tableStyleId>{5C22544A-7EE6-4342-B048-85BDC9FD1C3A}</a:tableStyleId>
              </a:tblPr>
              <a:tblGrid>
                <a:gridCol w="5308541"/>
                <a:gridCol w="3223042"/>
                <a:gridCol w="2654270"/>
              </a:tblGrid>
              <a:tr h="566928">
                <a:tc>
                  <a:txBody>
                    <a:bodyPr wrap="square"/>
                    <a:lstStyle/>
                    <a:p>
                      <a:r>
                        <a:rPr sz="1400" b="1" i="0">
                          <a:solidFill>
                            <a:srgbClr val="FFFFFF"/>
                          </a:solidFill>
                          <a:latin typeface="Calibri"/>
                        </a:rPr>
                        <a:t>Medición</a:t>
                      </a:r>
                    </a:p>
                  </a:txBody>
                  <a:tcPr marL="73152" marR="73152" marT="36576" marB="36576" anchor="ctr">
                    <a:solidFill>
                      <a:srgbClr val="0D9488"/>
                    </a:solidFill>
                  </a:tcPr>
                </a:tc>
                <a:tc>
                  <a:txBody>
                    <a:bodyPr wrap="square"/>
                    <a:lstStyle/>
                    <a:p>
                      <a:r>
                        <a:rPr sz="1400" b="1" i="0">
                          <a:solidFill>
                            <a:srgbClr val="FFFFFF"/>
                          </a:solidFill>
                          <a:latin typeface="Calibri"/>
                        </a:rPr>
                        <a:t>Editor (PC)</a:t>
                      </a:r>
                    </a:p>
                  </a:txBody>
                  <a:tcPr marL="73152" marR="73152" marT="36576" marB="36576" anchor="ctr">
                    <a:solidFill>
                      <a:srgbClr val="0D9488"/>
                    </a:solidFill>
                  </a:tcPr>
                </a:tc>
                <a:tc>
                  <a:txBody>
                    <a:bodyPr wrap="square"/>
                    <a:lstStyle/>
                    <a:p>
                      <a:r>
                        <a:rPr sz="1400" b="1" i="0">
                          <a:solidFill>
                            <a:srgbClr val="FFFFFF"/>
                          </a:solidFill>
                          <a:latin typeface="Calibri"/>
                        </a:rPr>
                        <a:t>Teléfono</a:t>
                      </a:r>
                    </a:p>
                  </a:txBody>
                  <a:tcPr marL="73152" marR="73152" marT="36576" marB="36576" anchor="ctr">
                    <a:solidFill>
                      <a:srgbClr val="0D9488"/>
                    </a:solidFill>
                  </a:tcPr>
                </a:tc>
              </a:tr>
              <a:tr h="566928">
                <a:tc>
                  <a:txBody>
                    <a:bodyPr wrap="square"/>
                    <a:lstStyle/>
                    <a:p>
                      <a:r>
                        <a:rPr sz="1400" b="0" i="0">
                          <a:solidFill>
                            <a:srgbClr val="1F2937"/>
                          </a:solidFill>
                          <a:latin typeface="Calibri"/>
                        </a:rPr>
                        <a:t>fps promedio</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r>
              <a:tr h="566928">
                <a:tc>
                  <a:txBody>
                    <a:bodyPr wrap="square"/>
                    <a:lstStyle/>
                    <a:p>
                      <a:r>
                        <a:rPr sz="1400" b="0" i="0">
                          <a:solidFill>
                            <a:srgbClr val="1F2937"/>
                          </a:solidFill>
                          <a:latin typeface="Calibri"/>
                        </a:rPr>
                        <a:t>Tiempo de frame máximo</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r>
              <a:tr h="566928">
                <a:tc>
                  <a:txBody>
                    <a:bodyPr wrap="square"/>
                    <a:lstStyle/>
                    <a:p>
                      <a:r>
                        <a:rPr sz="1400" b="0" i="0">
                          <a:solidFill>
                            <a:srgbClr val="1F2937"/>
                          </a:solidFill>
                          <a:latin typeface="Calibri"/>
                        </a:rPr>
                        <a:t>GC Alloc por disparo</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r>
              <a:tr h="566928">
                <a:tc>
                  <a:txBody>
                    <a:bodyPr wrap="square"/>
                    <a:lstStyle/>
                    <a:p>
                      <a:r>
                        <a:rPr sz="1400" b="0" i="0">
                          <a:solidFill>
                            <a:srgbClr val="1F2937"/>
                          </a:solidFill>
                          <a:latin typeface="Calibri"/>
                        </a:rPr>
                        <a:t>fps a los 5 minutos</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40</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INDIVIDUAL · 3 MIN · ORAL</a:t>
            </a:r>
          </a:p>
          <a:p>
            <a:r>
              <a:rPr sz="2600" b="1" i="0">
                <a:solidFill>
                  <a:srgbClr val="FFFFFF"/>
                </a:solidFill>
                <a:latin typeface="Calibri"/>
              </a:rPr>
              <a:t>A4.6 — Anda bien los primeros 5 minutos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40/74</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¿Cuello de botella, métrica, herramienta? ¿Qué NO sirve?</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60 fps al empezar</a:t>
            </a:r>
          </a:p>
          <a:p>
            <a:pPr>
              <a:spcAft>
                <a:spcPts val="800"/>
              </a:spcAft>
            </a:pPr>
            <a:r>
              <a:rPr sz="1600" b="1" i="0">
                <a:solidFill>
                  <a:srgbClr val="0D9488"/>
                </a:solidFill>
                <a:latin typeface="Calibri"/>
              </a:rPr>
              <a:t>■  </a:t>
            </a:r>
            <a:r>
              <a:rPr sz="2200" b="0" i="0">
                <a:solidFill>
                  <a:srgbClr val="1F2937"/>
                </a:solidFill>
                <a:latin typeface="Calibri"/>
              </a:rPr>
              <a:t>35–40 fps a los 8 minutos</a:t>
            </a:r>
          </a:p>
          <a:p>
            <a:pPr>
              <a:spcAft>
                <a:spcPts val="800"/>
              </a:spcAft>
            </a:pPr>
            <a:r>
              <a:rPr sz="1600" b="1" i="0">
                <a:solidFill>
                  <a:srgbClr val="0D9488"/>
                </a:solidFill>
                <a:latin typeface="Calibri"/>
              </a:rPr>
              <a:t>■  </a:t>
            </a:r>
            <a:r>
              <a:rPr sz="2200" b="0" i="0">
                <a:solidFill>
                  <a:srgbClr val="1F2937"/>
                </a:solidFill>
                <a:latin typeface="Calibri"/>
              </a:rPr>
              <a:t>En el editor: 200 fps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41</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QA MANUAL · 10 MIN</a:t>
            </a:r>
          </a:p>
          <a:p>
            <a:r>
              <a:rPr sz="2600" b="1" i="0">
                <a:solidFill>
                  <a:srgbClr val="FFFFFF"/>
                </a:solidFill>
                <a:latin typeface="Calibri"/>
              </a:rPr>
              <a:t>Interrumpir a propósito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41/74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 OnApplicationPause / OnApplicationFocus; Android — activity lifecycle</a:t>
            </a:r>
          </a:p>
        </p:txBody>
      </p:sp>
      <p:graphicFrame>
        <p:nvGraphicFramePr>
          <p:cNvPr id="9" name="Table 8"/>
          <p:cNvGraphicFramePr>
            <a:graphicFrameLocks noGrp="1"/>
          </p:cNvGraphicFramePr>
          <p:nvPr/>
        </p:nvGraphicFramePr>
        <p:xfrm>
          <a:off x="502920" y="1234440"/>
          <a:ext cx="11185853" cy="4535424"/>
        </p:xfrm>
        <a:graphic>
          <a:graphicData uri="http://schemas.openxmlformats.org/drawingml/2006/table">
            <a:tbl>
              <a:tblPr firstRow="1" bandRow="1">
                <a:tableStyleId>{5C22544A-7EE6-4342-B048-85BDC9FD1C3A}</a:tableStyleId>
              </a:tblPr>
              <a:tblGrid>
                <a:gridCol w="1519066"/>
                <a:gridCol w="4281006"/>
                <a:gridCol w="4004812"/>
                <a:gridCol w="1380969"/>
              </a:tblGrid>
              <a:tr h="566928">
                <a:tc>
                  <a:txBody>
                    <a:bodyPr wrap="square"/>
                    <a:lstStyle/>
                    <a:p>
                      <a:r>
                        <a:rPr sz="1200" b="1" i="0">
                          <a:solidFill>
                            <a:srgbClr val="FFFFFF"/>
                          </a:solidFill>
                          <a:latin typeface="Calibri"/>
                        </a:rPr>
                        <a:t>Caso</a:t>
                      </a:r>
                    </a:p>
                  </a:txBody>
                  <a:tcPr marL="73152" marR="73152" marT="36576" marB="36576" anchor="ctr">
                    <a:solidFill>
                      <a:srgbClr val="0D9488"/>
                    </a:solidFill>
                  </a:tcPr>
                </a:tc>
                <a:tc>
                  <a:txBody>
                    <a:bodyPr wrap="square"/>
                    <a:lstStyle/>
                    <a:p>
                      <a:r>
                        <a:rPr sz="1200" b="1" i="0">
                          <a:solidFill>
                            <a:srgbClr val="FFFFFF"/>
                          </a:solidFill>
                          <a:latin typeface="Calibri"/>
                        </a:rPr>
                        <a:t>Acción</a:t>
                      </a:r>
                    </a:p>
                  </a:txBody>
                  <a:tcPr marL="73152" marR="73152" marT="36576" marB="36576" anchor="ctr">
                    <a:solidFill>
                      <a:srgbClr val="0D9488"/>
                    </a:solidFill>
                  </a:tcPr>
                </a:tc>
                <a:tc>
                  <a:txBody>
                    <a:bodyPr wrap="square"/>
                    <a:lstStyle/>
                    <a:p>
                      <a:r>
                        <a:rPr sz="1200" b="1" i="0">
                          <a:solidFill>
                            <a:srgbClr val="FFFFFF"/>
                          </a:solidFill>
                          <a:latin typeface="Calibri"/>
                        </a:rPr>
                        <a:t>Esperado</a:t>
                      </a:r>
                    </a:p>
                  </a:txBody>
                  <a:tcPr marL="73152" marR="73152" marT="36576" marB="36576" anchor="ctr">
                    <a:solidFill>
                      <a:srgbClr val="0D9488"/>
                    </a:solidFill>
                  </a:tcPr>
                </a:tc>
                <a:tc>
                  <a:txBody>
                    <a:bodyPr wrap="square"/>
                    <a:lstStyle/>
                    <a:p>
                      <a:r>
                        <a:rPr sz="1200" b="1" i="0">
                          <a:solidFill>
                            <a:srgbClr val="FFFFFF"/>
                          </a:solidFill>
                          <a:latin typeface="Calibri"/>
                        </a:rPr>
                        <a:t>Real</a:t>
                      </a:r>
                    </a:p>
                  </a:txBody>
                  <a:tcPr marL="73152" marR="73152" marT="36576" marB="36576" anchor="ctr">
                    <a:solidFill>
                      <a:srgbClr val="0D9488"/>
                    </a:solidFill>
                  </a:tcPr>
                </a:tc>
              </a:tr>
              <a:tr h="566928">
                <a:tc>
                  <a:txBody>
                    <a:bodyPr wrap="square"/>
                    <a:lstStyle/>
                    <a:p>
                      <a:r>
                        <a:rPr sz="1200" b="0" i="0">
                          <a:solidFill>
                            <a:srgbClr val="1F2937"/>
                          </a:solidFill>
                          <a:latin typeface="Calibri"/>
                        </a:rPr>
                        <a:t>QA-01</a:t>
                      </a:r>
                    </a:p>
                  </a:txBody>
                  <a:tcPr marL="73152" marR="73152" marT="36576" marB="36576" anchor="ctr">
                    <a:solidFill>
                      <a:srgbClr val="FFFFFF"/>
                    </a:solidFill>
                  </a:tcPr>
                </a:tc>
                <a:tc>
                  <a:txBody>
                    <a:bodyPr wrap="square"/>
                    <a:lstStyle/>
                    <a:p>
                      <a:r>
                        <a:rPr sz="1200" b="0" i="0">
                          <a:solidFill>
                            <a:srgbClr val="1F2937"/>
                          </a:solidFill>
                          <a:latin typeface="Calibri"/>
                        </a:rPr>
                        <a:t>Llamada o alarma</a:t>
                      </a:r>
                    </a:p>
                  </a:txBody>
                  <a:tcPr marL="73152" marR="73152" marT="36576" marB="36576" anchor="ctr">
                    <a:solidFill>
                      <a:srgbClr val="FFFFFF"/>
                    </a:solidFill>
                  </a:tcPr>
                </a:tc>
                <a:tc>
                  <a:txBody>
                    <a:bodyPr wrap="square"/>
                    <a:lstStyle/>
                    <a:p>
                      <a:r>
                        <a:rPr sz="1200" b="0" i="0">
                          <a:solidFill>
                            <a:srgbClr val="1F2937"/>
                          </a:solidFill>
                          <a:latin typeface="Calibri"/>
                        </a:rPr>
                        <a:t>Pausa y espera un toque</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QA-02</a:t>
                      </a:r>
                    </a:p>
                  </a:txBody>
                  <a:tcPr marL="73152" marR="73152" marT="36576" marB="36576" anchor="ctr">
                    <a:solidFill>
                      <a:srgbClr val="E6F4F2"/>
                    </a:solidFill>
                  </a:tcPr>
                </a:tc>
                <a:tc>
                  <a:txBody>
                    <a:bodyPr wrap="square"/>
                    <a:lstStyle/>
                    <a:p>
                      <a:r>
                        <a:rPr sz="1200" b="0" i="0">
                          <a:solidFill>
                            <a:srgbClr val="1F2937"/>
                          </a:solidFill>
                          <a:latin typeface="Calibri"/>
                        </a:rPr>
                        <a:t>Inicio y volver</a:t>
                      </a:r>
                    </a:p>
                  </a:txBody>
                  <a:tcPr marL="73152" marR="73152" marT="36576" marB="36576" anchor="ctr">
                    <a:solidFill>
                      <a:srgbClr val="E6F4F2"/>
                    </a:solidFill>
                  </a:tcPr>
                </a:tc>
                <a:tc>
                  <a:txBody>
                    <a:bodyPr wrap="square"/>
                    <a:lstStyle/>
                    <a:p>
                      <a:r>
                        <a:rPr sz="1200" b="0" i="0">
                          <a:solidFill>
                            <a:srgbClr val="1F2937"/>
                          </a:solidFill>
                          <a:latin typeface="Calibri"/>
                        </a:rPr>
                        <a:t>Pausado, sin daño</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r h="566928">
                <a:tc>
                  <a:txBody>
                    <a:bodyPr wrap="square"/>
                    <a:lstStyle/>
                    <a:p>
                      <a:r>
                        <a:rPr sz="1200" b="0" i="0">
                          <a:solidFill>
                            <a:srgbClr val="1F2937"/>
                          </a:solidFill>
                          <a:latin typeface="Calibri"/>
                        </a:rPr>
                        <a:t>QA-03</a:t>
                      </a:r>
                    </a:p>
                  </a:txBody>
                  <a:tcPr marL="73152" marR="73152" marT="36576" marB="36576" anchor="ctr">
                    <a:solidFill>
                      <a:srgbClr val="FFFFFF"/>
                    </a:solidFill>
                  </a:tcPr>
                </a:tc>
                <a:tc>
                  <a:txBody>
                    <a:bodyPr wrap="square"/>
                    <a:lstStyle/>
                    <a:p>
                      <a:r>
                        <a:rPr sz="1200" b="0" i="0">
                          <a:solidFill>
                            <a:srgbClr val="1F2937"/>
                          </a:solidFill>
                          <a:latin typeface="Calibri"/>
                        </a:rPr>
                        <a:t>Bloquear la pantalla</a:t>
                      </a:r>
                    </a:p>
                  </a:txBody>
                  <a:tcPr marL="73152" marR="73152" marT="36576" marB="36576" anchor="ctr">
                    <a:solidFill>
                      <a:srgbClr val="FFFFFF"/>
                    </a:solidFill>
                  </a:tcPr>
                </a:tc>
                <a:tc>
                  <a:txBody>
                    <a:bodyPr wrap="square"/>
                    <a:lstStyle/>
                    <a:p>
                      <a:r>
                        <a:rPr sz="1200" b="0" i="0">
                          <a:solidFill>
                            <a:srgbClr val="1F2937"/>
                          </a:solidFill>
                          <a:latin typeface="Calibri"/>
                        </a:rPr>
                        <a:t>Pausado</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QA-04</a:t>
                      </a:r>
                    </a:p>
                  </a:txBody>
                  <a:tcPr marL="73152" marR="73152" marT="36576" marB="36576" anchor="ctr">
                    <a:solidFill>
                      <a:srgbClr val="E6F4F2"/>
                    </a:solidFill>
                  </a:tcPr>
                </a:tc>
                <a:tc>
                  <a:txBody>
                    <a:bodyPr wrap="square"/>
                    <a:lstStyle/>
                    <a:p>
                      <a:r>
                        <a:rPr sz="1200" b="0" i="0">
                          <a:solidFill>
                            <a:srgbClr val="1F2937"/>
                          </a:solidFill>
                          <a:latin typeface="Calibri"/>
                        </a:rPr>
                        <a:t>Teclado en pantalla</a:t>
                      </a:r>
                    </a:p>
                  </a:txBody>
                  <a:tcPr marL="73152" marR="73152" marT="36576" marB="36576" anchor="ctr">
                    <a:solidFill>
                      <a:srgbClr val="E6F4F2"/>
                    </a:solidFill>
                  </a:tcPr>
                </a:tc>
                <a:tc>
                  <a:txBody>
                    <a:bodyPr wrap="square"/>
                    <a:lstStyle/>
                    <a:p>
                      <a:r>
                        <a:rPr sz="1200" b="0" i="0">
                          <a:solidFill>
                            <a:srgbClr val="1F2937"/>
                          </a:solidFill>
                          <a:latin typeface="Calibri"/>
                        </a:rPr>
                        <a:t>Documentar</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r h="566928">
                <a:tc>
                  <a:txBody>
                    <a:bodyPr wrap="square"/>
                    <a:lstStyle/>
                    <a:p>
                      <a:r>
                        <a:rPr sz="1200" b="0" i="0">
                          <a:solidFill>
                            <a:srgbClr val="1F2937"/>
                          </a:solidFill>
                          <a:latin typeface="Calibri"/>
                        </a:rPr>
                        <a:t>QA-05</a:t>
                      </a:r>
                    </a:p>
                  </a:txBody>
                  <a:tcPr marL="73152" marR="73152" marT="36576" marB="36576" anchor="ctr">
                    <a:solidFill>
                      <a:srgbClr val="FFFFFF"/>
                    </a:solidFill>
                  </a:tcPr>
                </a:tc>
                <a:tc>
                  <a:txBody>
                    <a:bodyPr wrap="square"/>
                    <a:lstStyle/>
                    <a:p>
                      <a:r>
                        <a:rPr sz="1200" b="0" i="0">
                          <a:solidFill>
                            <a:srgbClr val="1F2937"/>
                          </a:solidFill>
                          <a:latin typeface="Calibri"/>
                        </a:rPr>
                        <a:t>Cierre forzado</a:t>
                      </a:r>
                    </a:p>
                  </a:txBody>
                  <a:tcPr marL="73152" marR="73152" marT="36576" marB="36576" anchor="ctr">
                    <a:solidFill>
                      <a:srgbClr val="FFFFFF"/>
                    </a:solidFill>
                  </a:tcPr>
                </a:tc>
                <a:tc>
                  <a:txBody>
                    <a:bodyPr wrap="square"/>
                    <a:lstStyle/>
                    <a:p>
                      <a:r>
                        <a:rPr sz="1200" b="0" i="0">
                          <a:solidFill>
                            <a:srgbClr val="1F2937"/>
                          </a:solidFill>
                          <a:latin typeface="Calibri"/>
                        </a:rPr>
                        <a:t>Qué se pierde</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QA-06</a:t>
                      </a:r>
                    </a:p>
                  </a:txBody>
                  <a:tcPr marL="73152" marR="73152" marT="36576" marB="36576" anchor="ctr">
                    <a:solidFill>
                      <a:srgbClr val="E6F4F2"/>
                    </a:solidFill>
                  </a:tcPr>
                </a:tc>
                <a:tc>
                  <a:txBody>
                    <a:bodyPr wrap="square"/>
                    <a:lstStyle/>
                    <a:p>
                      <a:r>
                        <a:rPr sz="1200" b="0" i="0">
                          <a:solidFill>
                            <a:srgbClr val="1F2937"/>
                          </a:solidFill>
                          <a:latin typeface="Calibri"/>
                        </a:rPr>
                        <a:t>Mover y disparar a la vez</a:t>
                      </a:r>
                    </a:p>
                  </a:txBody>
                  <a:tcPr marL="73152" marR="73152" marT="36576" marB="36576" anchor="ctr">
                    <a:solidFill>
                      <a:srgbClr val="E6F4F2"/>
                    </a:solidFill>
                  </a:tcPr>
                </a:tc>
                <a:tc>
                  <a:txBody>
                    <a:bodyPr wrap="square"/>
                    <a:lstStyle/>
                    <a:p>
                      <a:r>
                        <a:rPr sz="1200" b="0" i="0">
                          <a:solidFill>
                            <a:srgbClr val="1F2937"/>
                          </a:solidFill>
                          <a:latin typeface="Calibri"/>
                        </a:rPr>
                        <a:t>Responden los dos</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r h="566928">
                <a:tc>
                  <a:txBody>
                    <a:bodyPr wrap="square"/>
                    <a:lstStyle/>
                    <a:p>
                      <a:r>
                        <a:rPr sz="1200" b="0" i="0">
                          <a:solidFill>
                            <a:srgbClr val="1F2937"/>
                          </a:solidFill>
                          <a:latin typeface="Calibri"/>
                        </a:rPr>
                        <a:t>QA-07</a:t>
                      </a:r>
                    </a:p>
                  </a:txBody>
                  <a:tcPr marL="73152" marR="73152" marT="36576" marB="36576" anchor="ctr">
                    <a:solidFill>
                      <a:srgbClr val="FFFFFF"/>
                    </a:solidFill>
                  </a:tcPr>
                </a:tc>
                <a:tc>
                  <a:txBody>
                    <a:bodyPr wrap="square"/>
                    <a:lstStyle/>
                    <a:p>
                      <a:r>
                        <a:rPr sz="1200" b="0" i="0">
                          <a:solidFill>
                            <a:srgbClr val="1F2937"/>
                          </a:solidFill>
                          <a:latin typeface="Calibri"/>
                        </a:rPr>
                        <a:t>Controles bajo el pulgar</a:t>
                      </a:r>
                    </a:p>
                  </a:txBody>
                  <a:tcPr marL="73152" marR="73152" marT="36576" marB="36576" anchor="ctr">
                    <a:solidFill>
                      <a:srgbClr val="FFFFFF"/>
                    </a:solidFill>
                  </a:tcPr>
                </a:tc>
                <a:tc>
                  <a:txBody>
                    <a:bodyPr wrap="square"/>
                    <a:lstStyle/>
                    <a:p>
                      <a:r>
                        <a:rPr sz="1200" b="0" i="0">
                          <a:solidFill>
                            <a:srgbClr val="1F2937"/>
                          </a:solidFill>
                          <a:latin typeface="Calibri"/>
                        </a:rPr>
                        <a:t>≥ 48 dp, no tapan</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COMPATIBILIDAD · 4 MIN</a:t>
            </a:r>
          </a:p>
          <a:p>
            <a:r>
              <a:rPr sz="2600" b="1" i="0">
                <a:solidFill>
                  <a:srgbClr val="FFFFFF"/>
                </a:solidFill>
                <a:latin typeface="Calibri"/>
              </a:rPr>
              <a:t>La matriz del curso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42/74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e-book (probar en gama mínima y máxima, p. 20); Android vitals</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¿Alcanza para decir "anda en Android"?</a:t>
            </a:r>
          </a:p>
        </p:txBody>
      </p:sp>
      <p:graphicFrame>
        <p:nvGraphicFramePr>
          <p:cNvPr id="11" name="Table 10"/>
          <p:cNvGraphicFramePr>
            <a:graphicFrameLocks noGrp="1"/>
          </p:cNvGraphicFramePr>
          <p:nvPr/>
        </p:nvGraphicFramePr>
        <p:xfrm>
          <a:off x="502920" y="1234440"/>
          <a:ext cx="11185850" cy="2267712"/>
        </p:xfrm>
        <a:graphic>
          <a:graphicData uri="http://schemas.openxmlformats.org/drawingml/2006/table">
            <a:tbl>
              <a:tblPr firstRow="1" bandRow="1">
                <a:tableStyleId>{5C22544A-7EE6-4342-B048-85BDC9FD1C3A}</a:tableStyleId>
              </a:tblPr>
              <a:tblGrid>
                <a:gridCol w="1194605"/>
                <a:gridCol w="1303206"/>
                <a:gridCol w="1411806"/>
                <a:gridCol w="977404"/>
                <a:gridCol w="1737608"/>
                <a:gridCol w="977404"/>
                <a:gridCol w="3583817"/>
              </a:tblGrid>
              <a:tr h="566928">
                <a:tc>
                  <a:txBody>
                    <a:bodyPr wrap="square"/>
                    <a:lstStyle/>
                    <a:p>
                      <a:r>
                        <a:rPr sz="1600" b="1" i="0">
                          <a:solidFill>
                            <a:srgbClr val="FFFFFF"/>
                          </a:solidFill>
                          <a:latin typeface="Calibri"/>
                        </a:rPr>
                        <a:t>Grupo</a:t>
                      </a:r>
                    </a:p>
                  </a:txBody>
                  <a:tcPr marL="73152" marR="73152" marT="36576" marB="36576" anchor="ctr">
                    <a:solidFill>
                      <a:srgbClr val="0D9488"/>
                    </a:solidFill>
                  </a:tcPr>
                </a:tc>
                <a:tc>
                  <a:txBody>
                    <a:bodyPr wrap="square"/>
                    <a:lstStyle/>
                    <a:p>
                      <a:r>
                        <a:rPr sz="1600" b="1" i="0">
                          <a:solidFill>
                            <a:srgbClr val="FFFFFF"/>
                          </a:solidFill>
                          <a:latin typeface="Calibri"/>
                        </a:rPr>
                        <a:t>Modelo</a:t>
                      </a:r>
                    </a:p>
                  </a:txBody>
                  <a:tcPr marL="73152" marR="73152" marT="36576" marB="36576" anchor="ctr">
                    <a:solidFill>
                      <a:srgbClr val="0D9488"/>
                    </a:solidFill>
                  </a:tcPr>
                </a:tc>
                <a:tc>
                  <a:txBody>
                    <a:bodyPr wrap="square"/>
                    <a:lstStyle/>
                    <a:p>
                      <a:r>
                        <a:rPr sz="1600" b="1" i="0">
                          <a:solidFill>
                            <a:srgbClr val="FFFFFF"/>
                          </a:solidFill>
                          <a:latin typeface="Calibri"/>
                        </a:rPr>
                        <a:t>Android</a:t>
                      </a:r>
                    </a:p>
                  </a:txBody>
                  <a:tcPr marL="73152" marR="73152" marT="36576" marB="36576" anchor="ctr">
                    <a:solidFill>
                      <a:srgbClr val="0D9488"/>
                    </a:solidFill>
                  </a:tcPr>
                </a:tc>
                <a:tc>
                  <a:txBody>
                    <a:bodyPr wrap="square"/>
                    <a:lstStyle/>
                    <a:p>
                      <a:r>
                        <a:rPr sz="1600" b="1" i="0">
                          <a:solidFill>
                            <a:srgbClr val="FFFFFF"/>
                          </a:solidFill>
                          <a:latin typeface="Calibri"/>
                        </a:rPr>
                        <a:t>RAM</a:t>
                      </a:r>
                    </a:p>
                  </a:txBody>
                  <a:tcPr marL="73152" marR="73152" marT="36576" marB="36576" anchor="ctr">
                    <a:solidFill>
                      <a:srgbClr val="0D9488"/>
                    </a:solidFill>
                  </a:tcPr>
                </a:tc>
                <a:tc>
                  <a:txBody>
                    <a:bodyPr wrap="square"/>
                    <a:lstStyle/>
                    <a:p>
                      <a:r>
                        <a:rPr sz="1600" b="1" i="0">
                          <a:solidFill>
                            <a:srgbClr val="FFFFFF"/>
                          </a:solidFill>
                          <a:latin typeface="Calibri"/>
                        </a:rPr>
                        <a:t>Resolución</a:t>
                      </a:r>
                    </a:p>
                  </a:txBody>
                  <a:tcPr marL="73152" marR="73152" marT="36576" marB="36576" anchor="ctr">
                    <a:solidFill>
                      <a:srgbClr val="0D9488"/>
                    </a:solidFill>
                  </a:tcPr>
                </a:tc>
                <a:tc>
                  <a:txBody>
                    <a:bodyPr wrap="square"/>
                    <a:lstStyle/>
                    <a:p>
                      <a:r>
                        <a:rPr sz="1600" b="1" i="0">
                          <a:solidFill>
                            <a:srgbClr val="FFFFFF"/>
                          </a:solidFill>
                          <a:latin typeface="Calibri"/>
                        </a:rPr>
                        <a:t>fps</a:t>
                      </a:r>
                    </a:p>
                  </a:txBody>
                  <a:tcPr marL="73152" marR="73152" marT="36576" marB="36576" anchor="ctr">
                    <a:solidFill>
                      <a:srgbClr val="0D9488"/>
                    </a:solidFill>
                  </a:tcPr>
                </a:tc>
                <a:tc>
                  <a:txBody>
                    <a:bodyPr wrap="square"/>
                    <a:lstStyle/>
                    <a:p>
                      <a:r>
                        <a:rPr sz="1600" b="1" i="0">
                          <a:solidFill>
                            <a:srgbClr val="FFFFFF"/>
                          </a:solidFill>
                          <a:latin typeface="Calibri"/>
                        </a:rPr>
                        <a:t>¿Spawn visible en vertical?</a:t>
                      </a:r>
                    </a:p>
                  </a:txBody>
                  <a:tcPr marL="73152" marR="73152" marT="36576" marB="36576" anchor="ctr">
                    <a:solidFill>
                      <a:srgbClr val="0D9488"/>
                    </a:solidFill>
                  </a:tcPr>
                </a:tc>
              </a:tr>
              <a:tr h="566928">
                <a:tc>
                  <a:txBody>
                    <a:bodyPr wrap="square"/>
                    <a:lstStyle/>
                    <a:p>
                      <a:r>
                        <a:rPr sz="1600" b="0" i="0">
                          <a:solidFill>
                            <a:srgbClr val="1F2937"/>
                          </a:solidFill>
                          <a:latin typeface="Calibri"/>
                        </a:rPr>
                        <a:t>1</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r>
              <a:tr h="566928">
                <a:tc>
                  <a:txBody>
                    <a:bodyPr wrap="square"/>
                    <a:lstStyle/>
                    <a:p>
                      <a:r>
                        <a:rPr sz="1600" b="0" i="0">
                          <a:solidFill>
                            <a:srgbClr val="1F2937"/>
                          </a:solidFill>
                          <a:latin typeface="Calibri"/>
                        </a:rPr>
                        <a:t>2</a:t>
                      </a:r>
                    </a:p>
                  </a:txBody>
                  <a:tcPr marL="73152" marR="73152" marT="36576" marB="36576" anchor="ctr">
                    <a:solidFill>
                      <a:srgbClr val="E6F4F2"/>
                    </a:solidFill>
                  </a:tcPr>
                </a:tc>
                <a:tc>
                  <a:txBody>
                    <a:bodyPr wrap="square"/>
                    <a:lstStyle/>
                    <a:p>
                      <a:r>
                        <a:rPr sz="1600" b="0" i="0">
                          <a:solidFill>
                            <a:srgbClr val="1F2937"/>
                          </a:solidFill>
                          <a:latin typeface="Calibri"/>
                        </a:rPr>
                        <a:t/>
                      </a:r>
                    </a:p>
                  </a:txBody>
                  <a:tcPr marL="73152" marR="73152" marT="36576" marB="36576" anchor="ctr">
                    <a:solidFill>
                      <a:srgbClr val="E6F4F2"/>
                    </a:solidFill>
                  </a:tcPr>
                </a:tc>
                <a:tc>
                  <a:txBody>
                    <a:bodyPr wrap="square"/>
                    <a:lstStyle/>
                    <a:p>
                      <a:r>
                        <a:rPr sz="1600" b="0" i="0">
                          <a:solidFill>
                            <a:srgbClr val="1F2937"/>
                          </a:solidFill>
                          <a:latin typeface="Calibri"/>
                        </a:rPr>
                        <a:t/>
                      </a:r>
                    </a:p>
                  </a:txBody>
                  <a:tcPr marL="73152" marR="73152" marT="36576" marB="36576" anchor="ctr">
                    <a:solidFill>
                      <a:srgbClr val="E6F4F2"/>
                    </a:solidFill>
                  </a:tcPr>
                </a:tc>
                <a:tc>
                  <a:txBody>
                    <a:bodyPr wrap="square"/>
                    <a:lstStyle/>
                    <a:p>
                      <a:r>
                        <a:rPr sz="1600" b="0" i="0">
                          <a:solidFill>
                            <a:srgbClr val="1F2937"/>
                          </a:solidFill>
                          <a:latin typeface="Calibri"/>
                        </a:rPr>
                        <a:t/>
                      </a:r>
                    </a:p>
                  </a:txBody>
                  <a:tcPr marL="73152" marR="73152" marT="36576" marB="36576" anchor="ctr">
                    <a:solidFill>
                      <a:srgbClr val="E6F4F2"/>
                    </a:solidFill>
                  </a:tcPr>
                </a:tc>
                <a:tc>
                  <a:txBody>
                    <a:bodyPr wrap="square"/>
                    <a:lstStyle/>
                    <a:p>
                      <a:r>
                        <a:rPr sz="1600" b="0" i="0">
                          <a:solidFill>
                            <a:srgbClr val="1F2937"/>
                          </a:solidFill>
                          <a:latin typeface="Calibri"/>
                        </a:rPr>
                        <a:t/>
                      </a:r>
                    </a:p>
                  </a:txBody>
                  <a:tcPr marL="73152" marR="73152" marT="36576" marB="36576" anchor="ctr">
                    <a:solidFill>
                      <a:srgbClr val="E6F4F2"/>
                    </a:solidFill>
                  </a:tcPr>
                </a:tc>
                <a:tc>
                  <a:txBody>
                    <a:bodyPr wrap="square"/>
                    <a:lstStyle/>
                    <a:p>
                      <a:r>
                        <a:rPr sz="1600" b="0" i="0">
                          <a:solidFill>
                            <a:srgbClr val="1F2937"/>
                          </a:solidFill>
                          <a:latin typeface="Calibri"/>
                        </a:rPr>
                        <a:t/>
                      </a:r>
                    </a:p>
                  </a:txBody>
                  <a:tcPr marL="73152" marR="73152" marT="36576" marB="36576" anchor="ctr">
                    <a:solidFill>
                      <a:srgbClr val="E6F4F2"/>
                    </a:solidFill>
                  </a:tcPr>
                </a:tc>
                <a:tc>
                  <a:txBody>
                    <a:bodyPr wrap="square"/>
                    <a:lstStyle/>
                    <a:p>
                      <a:r>
                        <a:rPr sz="1600" b="0" i="0">
                          <a:solidFill>
                            <a:srgbClr val="1F2937"/>
                          </a:solidFill>
                          <a:latin typeface="Calibri"/>
                        </a:rPr>
                        <a:t/>
                      </a:r>
                    </a:p>
                  </a:txBody>
                  <a:tcPr marL="73152" marR="73152" marT="36576" marB="36576" anchor="ctr">
                    <a:solidFill>
                      <a:srgbClr val="E6F4F2"/>
                    </a:solidFill>
                  </a:tcPr>
                </a:tc>
              </a:tr>
              <a:tr h="566928">
                <a:tc>
                  <a:txBody>
                    <a:bodyPr wrap="square"/>
                    <a:lstStyle/>
                    <a:p>
                      <a:r>
                        <a:rPr sz="1600" b="0" i="0">
                          <a:solidFill>
                            <a:srgbClr val="1F2937"/>
                          </a:solidFill>
                          <a:latin typeface="Calibri"/>
                        </a:rPr>
                        <a:t>3</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TESTING EN MÓVIL · 3 MIN</a:t>
            </a:r>
          </a:p>
          <a:p>
            <a:r>
              <a:rPr sz="2600" b="1" i="0">
                <a:solidFill>
                  <a:srgbClr val="FFFFFF"/>
                </a:solidFill>
                <a:latin typeface="Calibri"/>
              </a:rPr>
              <a:t>¿Qué prueba cada herramienta?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43/74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 Device Simulator, Run tests in a Player, Profiling on target; Firebase Game Loop; AWS Device Farm; Android vitals</a:t>
            </a:r>
          </a:p>
        </p:txBody>
      </p:sp>
      <p:graphicFrame>
        <p:nvGraphicFramePr>
          <p:cNvPr id="9" name="Table 8"/>
          <p:cNvGraphicFramePr>
            <a:graphicFrameLocks noGrp="1"/>
          </p:cNvGraphicFramePr>
          <p:nvPr/>
        </p:nvGraphicFramePr>
        <p:xfrm>
          <a:off x="502920" y="1234440"/>
          <a:ext cx="11185853" cy="3968496"/>
        </p:xfrm>
        <a:graphic>
          <a:graphicData uri="http://schemas.openxmlformats.org/drawingml/2006/table">
            <a:tbl>
              <a:tblPr firstRow="1" bandRow="1">
                <a:tableStyleId>{5C22544A-7EE6-4342-B048-85BDC9FD1C3A}</a:tableStyleId>
              </a:tblPr>
              <a:tblGrid>
                <a:gridCol w="3519145"/>
                <a:gridCol w="3770512"/>
                <a:gridCol w="3896196"/>
              </a:tblGrid>
              <a:tr h="566928">
                <a:tc>
                  <a:txBody>
                    <a:bodyPr wrap="square"/>
                    <a:lstStyle/>
                    <a:p>
                      <a:r>
                        <a:rPr sz="1200" b="1" i="0">
                          <a:solidFill>
                            <a:srgbClr val="FFFFFF"/>
                          </a:solidFill>
                          <a:latin typeface="Calibri"/>
                        </a:rPr>
                        <a:t>Nivel</a:t>
                      </a:r>
                    </a:p>
                  </a:txBody>
                  <a:tcPr marL="73152" marR="73152" marT="36576" marB="36576" anchor="ctr">
                    <a:solidFill>
                      <a:srgbClr val="0D9488"/>
                    </a:solidFill>
                  </a:tcPr>
                </a:tc>
                <a:tc>
                  <a:txBody>
                    <a:bodyPr wrap="square"/>
                    <a:lstStyle/>
                    <a:p>
                      <a:r>
                        <a:rPr sz="1200" b="1" i="0">
                          <a:solidFill>
                            <a:srgbClr val="FFFFFF"/>
                          </a:solidFill>
                          <a:latin typeface="Calibri"/>
                        </a:rPr>
                        <a:t>Prueba</a:t>
                      </a:r>
                    </a:p>
                  </a:txBody>
                  <a:tcPr marL="73152" marR="73152" marT="36576" marB="36576" anchor="ctr">
                    <a:solidFill>
                      <a:srgbClr val="0D9488"/>
                    </a:solidFill>
                  </a:tcPr>
                </a:tc>
                <a:tc>
                  <a:txBody>
                    <a:bodyPr wrap="square"/>
                    <a:lstStyle/>
                    <a:p>
                      <a:r>
                        <a:rPr sz="1200" b="1" i="0">
                          <a:solidFill>
                            <a:srgbClr val="FFFFFF"/>
                          </a:solidFill>
                          <a:latin typeface="Calibri"/>
                        </a:rPr>
                        <a:t>No prueba</a:t>
                      </a:r>
                    </a:p>
                  </a:txBody>
                  <a:tcPr marL="73152" marR="73152" marT="36576" marB="36576" anchor="ctr">
                    <a:solidFill>
                      <a:srgbClr val="0D9488"/>
                    </a:solidFill>
                  </a:tcPr>
                </a:tc>
              </a:tr>
              <a:tr h="566928">
                <a:tc>
                  <a:txBody>
                    <a:bodyPr wrap="square"/>
                    <a:lstStyle/>
                    <a:p>
                      <a:r>
                        <a:rPr sz="1200" b="0" i="0">
                          <a:solidFill>
                            <a:srgbClr val="1F2937"/>
                          </a:solidFill>
                          <a:latin typeface="Calibri"/>
                        </a:rPr>
                        <a:t>1. Device Simulator</a:t>
                      </a:r>
                    </a:p>
                  </a:txBody>
                  <a:tcPr marL="73152" marR="73152" marT="36576" marB="36576" anchor="ctr">
                    <a:solidFill>
                      <a:srgbClr val="FFFFFF"/>
                    </a:solidFill>
                  </a:tcPr>
                </a:tc>
                <a:tc>
                  <a:txBody>
                    <a:bodyPr wrap="square"/>
                    <a:lstStyle/>
                    <a:p>
                      <a:r>
                        <a:rPr sz="1200" b="0" i="0">
                          <a:solidFill>
                            <a:srgbClr val="1F2937"/>
                          </a:solidFill>
                          <a:latin typeface="Calibri"/>
                        </a:rPr>
                        <a:t>Layout, safe area</a:t>
                      </a:r>
                    </a:p>
                  </a:txBody>
                  <a:tcPr marL="73152" marR="73152" marT="36576" marB="36576" anchor="ctr">
                    <a:solidFill>
                      <a:srgbClr val="FFFFFF"/>
                    </a:solidFill>
                  </a:tcPr>
                </a:tc>
                <a:tc>
                  <a:txBody>
                    <a:bodyPr wrap="square"/>
                    <a:lstStyle/>
                    <a:p>
                      <a:r>
                        <a:rPr sz="1200" b="0" i="0">
                          <a:solidFill>
                            <a:srgbClr val="1F2937"/>
                          </a:solidFill>
                          <a:latin typeface="Calibri"/>
                        </a:rPr>
                        <a:t>Rendimiento, memoria</a:t>
                      </a:r>
                    </a:p>
                  </a:txBody>
                  <a:tcPr marL="73152" marR="73152" marT="36576" marB="36576" anchor="ctr">
                    <a:solidFill>
                      <a:srgbClr val="FFFFFF"/>
                    </a:solidFill>
                  </a:tcPr>
                </a:tc>
              </a:tr>
              <a:tr h="566928">
                <a:tc>
                  <a:txBody>
                    <a:bodyPr wrap="square"/>
                    <a:lstStyle/>
                    <a:p>
                      <a:r>
                        <a:rPr sz="1200" b="0" i="0">
                          <a:solidFill>
                            <a:srgbClr val="1F2937"/>
                          </a:solidFill>
                          <a:latin typeface="Calibri"/>
                        </a:rPr>
                        <a:t>2. Emulador</a:t>
                      </a:r>
                    </a:p>
                  </a:txBody>
                  <a:tcPr marL="73152" marR="73152" marT="36576" marB="36576" anchor="ctr">
                    <a:solidFill>
                      <a:srgbClr val="E6F4F2"/>
                    </a:solidFill>
                  </a:tcPr>
                </a:tc>
                <a:tc>
                  <a:txBody>
                    <a:bodyPr wrap="square"/>
                    <a:lstStyle/>
                    <a:p>
                      <a:r>
                        <a:rPr sz="1200" b="0" i="0">
                          <a:solidFill>
                            <a:srgbClr val="1F2937"/>
                          </a:solidFill>
                          <a:latin typeface="Calibri"/>
                        </a:rPr>
                        <a:t>Lógica y flujos</a:t>
                      </a:r>
                    </a:p>
                  </a:txBody>
                  <a:tcPr marL="73152" marR="73152" marT="36576" marB="36576" anchor="ctr">
                    <a:solidFill>
                      <a:srgbClr val="E6F4F2"/>
                    </a:solidFill>
                  </a:tcPr>
                </a:tc>
                <a:tc>
                  <a:txBody>
                    <a:bodyPr wrap="square"/>
                    <a:lstStyle/>
                    <a:p>
                      <a:r>
                        <a:rPr sz="1200" b="0" i="0">
                          <a:solidFill>
                            <a:srgbClr val="1F2937"/>
                          </a:solidFill>
                          <a:latin typeface="Calibri"/>
                        </a:rPr>
                        <a:t>Rendimiento real, térmica</a:t>
                      </a:r>
                    </a:p>
                  </a:txBody>
                  <a:tcPr marL="73152" marR="73152" marT="36576" marB="36576" anchor="ctr">
                    <a:solidFill>
                      <a:srgbClr val="E6F4F2"/>
                    </a:solidFill>
                  </a:tcPr>
                </a:tc>
              </a:tr>
              <a:tr h="566928">
                <a:tc>
                  <a:txBody>
                    <a:bodyPr wrap="square"/>
                    <a:lstStyle/>
                    <a:p>
                      <a:r>
                        <a:rPr sz="1200" b="0" i="0">
                          <a:solidFill>
                            <a:srgbClr val="1F2937"/>
                          </a:solidFill>
                          <a:latin typeface="Calibri"/>
                        </a:rPr>
                        <a:t>3. Teléfono + Profiler</a:t>
                      </a:r>
                    </a:p>
                  </a:txBody>
                  <a:tcPr marL="73152" marR="73152" marT="36576" marB="36576" anchor="ctr">
                    <a:solidFill>
                      <a:srgbClr val="FFFFFF"/>
                    </a:solidFill>
                  </a:tcPr>
                </a:tc>
                <a:tc>
                  <a:txBody>
                    <a:bodyPr wrap="square"/>
                    <a:lstStyle/>
                    <a:p>
                      <a:r>
                        <a:rPr sz="1200" b="0" i="0">
                          <a:solidFill>
                            <a:srgbClr val="1F2937"/>
                          </a:solidFill>
                          <a:latin typeface="Calibri"/>
                        </a:rPr>
                        <a:t>Rendimiento real</a:t>
                      </a:r>
                    </a:p>
                  </a:txBody>
                  <a:tcPr marL="73152" marR="73152" marT="36576" marB="36576" anchor="ctr">
                    <a:solidFill>
                      <a:srgbClr val="FFFFFF"/>
                    </a:solidFill>
                  </a:tcPr>
                </a:tc>
                <a:tc>
                  <a:txBody>
                    <a:bodyPr wrap="square"/>
                    <a:lstStyle/>
                    <a:p>
                      <a:r>
                        <a:rPr sz="1200" b="0" i="0">
                          <a:solidFill>
                            <a:srgbClr val="1F2937"/>
                          </a:solidFill>
                          <a:latin typeface="Calibri"/>
                        </a:rPr>
                        <a:t>Otros modelos</a:t>
                      </a:r>
                    </a:p>
                  </a:txBody>
                  <a:tcPr marL="73152" marR="73152" marT="36576" marB="36576" anchor="ctr">
                    <a:solidFill>
                      <a:srgbClr val="FFFFFF"/>
                    </a:solidFill>
                  </a:tcPr>
                </a:tc>
              </a:tr>
              <a:tr h="566928">
                <a:tc>
                  <a:txBody>
                    <a:bodyPr wrap="square"/>
                    <a:lstStyle/>
                    <a:p>
                      <a:r>
                        <a:rPr sz="1200" b="0" i="0">
                          <a:solidFill>
                            <a:srgbClr val="1F2937"/>
                          </a:solidFill>
                          <a:latin typeface="Calibri"/>
                        </a:rPr>
                        <a:t>4. Tests en el Player</a:t>
                      </a:r>
                    </a:p>
                  </a:txBody>
                  <a:tcPr marL="73152" marR="73152" marT="36576" marB="36576" anchor="ctr">
                    <a:solidFill>
                      <a:srgbClr val="E6F4F2"/>
                    </a:solidFill>
                  </a:tcPr>
                </a:tc>
                <a:tc>
                  <a:txBody>
                    <a:bodyPr wrap="square"/>
                    <a:lstStyle/>
                    <a:p>
                      <a:r>
                        <a:rPr sz="1200" b="0" i="0">
                          <a:solidFill>
                            <a:srgbClr val="1F2937"/>
                          </a:solidFill>
                          <a:latin typeface="Calibri"/>
                        </a:rPr>
                        <a:t>Tests en el dispositivo</a:t>
                      </a:r>
                    </a:p>
                  </a:txBody>
                  <a:tcPr marL="73152" marR="73152" marT="36576" marB="36576" anchor="ctr">
                    <a:solidFill>
                      <a:srgbClr val="E6F4F2"/>
                    </a:solidFill>
                  </a:tcPr>
                </a:tc>
                <a:tc>
                  <a:txBody>
                    <a:bodyPr wrap="square"/>
                    <a:lstStyle/>
                    <a:p>
                      <a:r>
                        <a:rPr sz="1200" b="0" i="0">
                          <a:solidFill>
                            <a:srgbClr val="1F2937"/>
                          </a:solidFill>
                          <a:latin typeface="Calibri"/>
                        </a:rPr>
                        <a:t>Lo no escrito como test</a:t>
                      </a:r>
                    </a:p>
                  </a:txBody>
                  <a:tcPr marL="73152" marR="73152" marT="36576" marB="36576" anchor="ctr">
                    <a:solidFill>
                      <a:srgbClr val="E6F4F2"/>
                    </a:solidFill>
                  </a:tcPr>
                </a:tc>
              </a:tr>
              <a:tr h="566928">
                <a:tc>
                  <a:txBody>
                    <a:bodyPr wrap="square"/>
                    <a:lstStyle/>
                    <a:p>
                      <a:r>
                        <a:rPr sz="1200" b="0" i="0">
                          <a:solidFill>
                            <a:srgbClr val="1F2937"/>
                          </a:solidFill>
                          <a:latin typeface="Calibri"/>
                        </a:rPr>
                        <a:t>5. Granjas en la nube</a:t>
                      </a:r>
                    </a:p>
                  </a:txBody>
                  <a:tcPr marL="73152" marR="73152" marT="36576" marB="36576" anchor="ctr">
                    <a:solidFill>
                      <a:srgbClr val="FFFFFF"/>
                    </a:solidFill>
                  </a:tcPr>
                </a:tc>
                <a:tc>
                  <a:txBody>
                    <a:bodyPr wrap="square"/>
                    <a:lstStyle/>
                    <a:p>
                      <a:r>
                        <a:rPr sz="1200" b="0" i="0">
                          <a:solidFill>
                            <a:srgbClr val="1F2937"/>
                          </a:solidFill>
                          <a:latin typeface="Calibri"/>
                        </a:rPr>
                        <a:t>Muchos modelos</a:t>
                      </a:r>
                    </a:p>
                  </a:txBody>
                  <a:tcPr marL="73152" marR="73152" marT="36576" marB="36576" anchor="ctr">
                    <a:solidFill>
                      <a:srgbClr val="FFFFFF"/>
                    </a:solidFill>
                  </a:tcPr>
                </a:tc>
                <a:tc>
                  <a:txBody>
                    <a:bodyPr wrap="square"/>
                    <a:lstStyle/>
                    <a:p>
                      <a:r>
                        <a:rPr sz="1200" b="0" i="0">
                          <a:solidFill>
                            <a:srgbClr val="1F2937"/>
                          </a:solidFill>
                          <a:latin typeface="Calibri"/>
                        </a:rPr>
                        <a:t>Ergonomía</a:t>
                      </a:r>
                    </a:p>
                  </a:txBody>
                  <a:tcPr marL="73152" marR="73152" marT="36576" marB="36576" anchor="ctr">
                    <a:solidFill>
                      <a:srgbClr val="FFFFFF"/>
                    </a:solidFill>
                  </a:tcPr>
                </a:tc>
              </a:tr>
              <a:tr h="566928">
                <a:tc>
                  <a:txBody>
                    <a:bodyPr wrap="square"/>
                    <a:lstStyle/>
                    <a:p>
                      <a:r>
                        <a:rPr sz="1200" b="0" i="0">
                          <a:solidFill>
                            <a:srgbClr val="1F2937"/>
                          </a:solidFill>
                          <a:latin typeface="Calibri"/>
                        </a:rPr>
                        <a:t>6. Android vitals</a:t>
                      </a:r>
                    </a:p>
                  </a:txBody>
                  <a:tcPr marL="73152" marR="73152" marT="36576" marB="36576" anchor="ctr">
                    <a:solidFill>
                      <a:srgbClr val="E6F4F2"/>
                    </a:solidFill>
                  </a:tcPr>
                </a:tc>
                <a:tc>
                  <a:txBody>
                    <a:bodyPr wrap="square"/>
                    <a:lstStyle/>
                    <a:p>
                      <a:r>
                        <a:rPr sz="1200" b="0" i="0">
                          <a:solidFill>
                            <a:srgbClr val="1F2937"/>
                          </a:solidFill>
                          <a:latin typeface="Calibri"/>
                        </a:rPr>
                        <a:t>Fallas reales publicadas</a:t>
                      </a:r>
                    </a:p>
                  </a:txBody>
                  <a:tcPr marL="73152" marR="73152" marT="36576" marB="36576" anchor="ctr">
                    <a:solidFill>
                      <a:srgbClr val="E6F4F2"/>
                    </a:solidFill>
                  </a:tcPr>
                </a:tc>
                <a:tc>
                  <a:txBody>
                    <a:bodyPr wrap="square"/>
                    <a:lstStyle/>
                    <a:p>
                      <a:r>
                        <a:rPr sz="1200" b="0" i="0">
                          <a:solidFill>
                            <a:srgbClr val="1F2937"/>
                          </a:solidFill>
                          <a:latin typeface="Calibri"/>
                        </a:rPr>
                        <a:t>Nada antes de publicar</a:t>
                      </a:r>
                    </a:p>
                  </a:txBody>
                  <a:tcPr marL="73152" marR="73152" marT="36576" marB="36576" anchor="ctr">
                    <a:solidFill>
                      <a:srgbClr val="E6F4F2"/>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LÍMITES · 2 MIN</a:t>
            </a:r>
          </a:p>
          <a:p>
            <a:r>
              <a:rPr sz="2600" b="1" i="0">
                <a:solidFill>
                  <a:srgbClr val="FFFFFF"/>
                </a:solidFill>
                <a:latin typeface="Calibri"/>
              </a:rPr>
              <a:t>Lo que el test automático no vio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44/74</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¿Qué protege el test y qué solo el QA manual?</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¿Coinciden tests y QA manual?</a:t>
            </a:r>
          </a:p>
          <a:p>
            <a:pPr>
              <a:spcAft>
                <a:spcPts val="800"/>
              </a:spcAft>
            </a:pPr>
            <a:r>
              <a:rPr sz="1600" b="1" i="0">
                <a:solidFill>
                  <a:srgbClr val="0D9488"/>
                </a:solidFill>
                <a:latin typeface="Calibri"/>
              </a:rPr>
              <a:t>■  </a:t>
            </a:r>
            <a:r>
              <a:rPr sz="2200" b="0" i="0">
                <a:solidFill>
                  <a:srgbClr val="1F2937"/>
                </a:solidFill>
                <a:latin typeface="Calibri"/>
              </a:rPr>
              <a:t>¿Qué apareció solo en el teléfono?</a:t>
            </a:r>
          </a:p>
          <a:p>
            <a:pPr>
              <a:spcAft>
                <a:spcPts val="800"/>
              </a:spcAft>
            </a:pPr>
            <a:r>
              <a:rPr sz="1600" b="1" i="0">
                <a:solidFill>
                  <a:srgbClr val="0D9488"/>
                </a:solidFill>
                <a:latin typeface="Calibri"/>
              </a:rPr>
              <a:t>■  </a:t>
            </a:r>
            <a:r>
              <a:rPr sz="2200" b="0" i="0">
                <a:solidFill>
                  <a:srgbClr val="1F2937"/>
                </a:solidFill>
                <a:latin typeface="Calibri"/>
              </a:rPr>
              <a:t>¿Qué no se puede automatizar?</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TESTING · ARQUITECTURA · 2 MIN</a:t>
            </a:r>
          </a:p>
          <a:p>
            <a:r>
              <a:rPr sz="2600" b="1" i="0">
                <a:solidFill>
                  <a:srgbClr val="FFFFFF"/>
                </a:solidFill>
                <a:latin typeface="Calibri"/>
              </a:rPr>
              <a:t>Mismo patrón, dos adaptadores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45/74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Código del proyecto (ShipInputAdapter.cs, ShipIntentTests.cs); resultados del Test Runner en batchmode (2026-10-10)</a:t>
            </a:r>
          </a:p>
        </p:txBody>
      </p:sp>
      <p:sp>
        <p:nvSpPr>
          <p:cNvPr id="9" name="TextBox 8"/>
          <p:cNvSpPr txBox="1"/>
          <p:nvPr/>
        </p:nvSpPr>
        <p:spPr>
          <a:xfrm>
            <a:off x="6019495" y="1234440"/>
            <a:ext cx="2697480" cy="411480"/>
          </a:xfrm>
          <a:prstGeom prst="rect">
            <a:avLst/>
          </a:prstGeom>
          <a:noFill/>
        </p:spPr>
        <p:txBody>
          <a:bodyPr wrap="square" anchor="ctr" lIns="0" rIns="0" tIns="0" bIns="0">
            <a:spAutoFit/>
          </a:bodyPr>
          <a:lstStyle/>
          <a:p>
            <a:pPr algn="ctr"/>
            <a:r>
              <a:rPr sz="1600" b="1" i="0">
                <a:solidFill>
                  <a:srgbClr val="0D9488"/>
                </a:solidFill>
                <a:latin typeface="Calibri"/>
              </a:rPr>
              <a:t>ENTRADA (YA PORTADA)</a:t>
            </a:r>
          </a:p>
        </p:txBody>
      </p:sp>
      <p:sp>
        <p:nvSpPr>
          <p:cNvPr id="10" name="Rounded Rectangle 9"/>
          <p:cNvSpPr/>
          <p:nvPr/>
        </p:nvSpPr>
        <p:spPr>
          <a:xfrm>
            <a:off x="6293815" y="2834640"/>
            <a:ext cx="214884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ShipInputAdapter</a:t>
            </a:r>
          </a:p>
        </p:txBody>
      </p:sp>
      <p:sp>
        <p:nvSpPr>
          <p:cNvPr id="11" name="Rounded Rectangle 10"/>
          <p:cNvSpPr/>
          <p:nvPr/>
        </p:nvSpPr>
        <p:spPr>
          <a:xfrm>
            <a:off x="6293815" y="3657600"/>
            <a:ext cx="214884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Ship.SetIntent</a:t>
            </a:r>
          </a:p>
        </p:txBody>
      </p:sp>
      <p:sp>
        <p:nvSpPr>
          <p:cNvPr id="12" name="TextBox 11"/>
          <p:cNvSpPr txBox="1"/>
          <p:nvPr/>
        </p:nvSpPr>
        <p:spPr>
          <a:xfrm>
            <a:off x="6019495" y="5349240"/>
            <a:ext cx="2697480" cy="640080"/>
          </a:xfrm>
          <a:prstGeom prst="rect">
            <a:avLst/>
          </a:prstGeom>
          <a:noFill/>
        </p:spPr>
        <p:txBody>
          <a:bodyPr wrap="square" anchor="t" lIns="0" rIns="0" tIns="0" bIns="0">
            <a:spAutoFit/>
          </a:bodyPr>
          <a:lstStyle/>
          <a:p>
            <a:pPr algn="ctr"/>
            <a:r>
              <a:rPr sz="1400" b="0" i="0">
                <a:solidFill>
                  <a:srgbClr val="1F2937"/>
                </a:solidFill>
                <a:latin typeface="Calibri"/>
              </a:rPr>
              <a:t>3 tests de intención en verde</a:t>
            </a:r>
          </a:p>
        </p:txBody>
      </p:sp>
      <p:sp>
        <p:nvSpPr>
          <p:cNvPr id="13" name="TextBox 12"/>
          <p:cNvSpPr txBox="1"/>
          <p:nvPr/>
        </p:nvSpPr>
        <p:spPr>
          <a:xfrm>
            <a:off x="8991295" y="1234440"/>
            <a:ext cx="2697480" cy="411480"/>
          </a:xfrm>
          <a:prstGeom prst="rect">
            <a:avLst/>
          </a:prstGeom>
          <a:noFill/>
        </p:spPr>
        <p:txBody>
          <a:bodyPr wrap="square" anchor="ctr" lIns="0" rIns="0" tIns="0" bIns="0">
            <a:spAutoFit/>
          </a:bodyPr>
          <a:lstStyle/>
          <a:p>
            <a:pPr algn="ctr"/>
            <a:r>
              <a:rPr sz="1600" b="1" i="0">
                <a:solidFill>
                  <a:srgbClr val="1F2A44"/>
                </a:solidFill>
                <a:latin typeface="Calibri"/>
              </a:rPr>
              <a:t>PAUSA (A4.4)</a:t>
            </a:r>
          </a:p>
        </p:txBody>
      </p:sp>
      <p:sp>
        <p:nvSpPr>
          <p:cNvPr id="14" name="Rounded Rectangle 13"/>
          <p:cNvSpPr/>
          <p:nvPr/>
        </p:nvSpPr>
        <p:spPr>
          <a:xfrm>
            <a:off x="9265615" y="2834640"/>
            <a:ext cx="214884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Adaptador OnApplicationPause</a:t>
            </a:r>
          </a:p>
        </p:txBody>
      </p:sp>
      <p:sp>
        <p:nvSpPr>
          <p:cNvPr id="15" name="Rounded Rectangle 14"/>
          <p:cNvSpPr/>
          <p:nvPr/>
        </p:nvSpPr>
        <p:spPr>
          <a:xfrm>
            <a:off x="9265615" y="3657600"/>
            <a:ext cx="214884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Regla de pausa</a:t>
            </a:r>
          </a:p>
        </p:txBody>
      </p:sp>
      <p:sp>
        <p:nvSpPr>
          <p:cNvPr id="16" name="TextBox 15"/>
          <p:cNvSpPr txBox="1"/>
          <p:nvPr/>
        </p:nvSpPr>
        <p:spPr>
          <a:xfrm>
            <a:off x="8991295" y="5349240"/>
            <a:ext cx="2697480" cy="640080"/>
          </a:xfrm>
          <a:prstGeom prst="rect">
            <a:avLst/>
          </a:prstGeom>
          <a:noFill/>
        </p:spPr>
        <p:txBody>
          <a:bodyPr wrap="square" anchor="t" lIns="0" rIns="0" tIns="0" bIns="0">
            <a:spAutoFit/>
          </a:bodyPr>
          <a:lstStyle/>
          <a:p>
            <a:pPr algn="ctr"/>
            <a:r>
              <a:rPr sz="1400" b="0" i="0">
                <a:solidFill>
                  <a:srgbClr val="1F2937"/>
                </a:solidFill>
                <a:latin typeface="Calibri"/>
              </a:rPr>
              <a:t>Su test de Edit Mode</a:t>
            </a:r>
          </a:p>
        </p:txBody>
      </p:sp>
      <p:sp>
        <p:nvSpPr>
          <p:cNvPr id="17" name="TextBox 16"/>
          <p:cNvSpPr txBox="1"/>
          <p:nvPr/>
        </p:nvSpPr>
        <p:spPr>
          <a:xfrm>
            <a:off x="502920" y="1234440"/>
            <a:ext cx="52422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Entrada: dispositivo → intención → nave</a:t>
            </a:r>
          </a:p>
          <a:p>
            <a:pPr>
              <a:spcAft>
                <a:spcPts val="800"/>
              </a:spcAft>
            </a:pPr>
            <a:r>
              <a:rPr sz="1600" b="1" i="0">
                <a:solidFill>
                  <a:srgbClr val="0D9488"/>
                </a:solidFill>
                <a:latin typeface="Calibri"/>
              </a:rPr>
              <a:t>■  </a:t>
            </a:r>
            <a:r>
              <a:rPr sz="2200" b="0" i="0">
                <a:solidFill>
                  <a:srgbClr val="1F2937"/>
                </a:solidFill>
                <a:latin typeface="Calibri"/>
              </a:rPr>
              <a:t>Pausa: SO → adaptador → regla</a:t>
            </a:r>
          </a:p>
          <a:p>
            <a:pPr>
              <a:spcAft>
                <a:spcPts val="800"/>
              </a:spcAft>
            </a:pPr>
            <a:r>
              <a:rPr sz="1600" b="1" i="0">
                <a:solidFill>
                  <a:srgbClr val="0D9488"/>
                </a:solidFill>
                <a:latin typeface="Calibri"/>
              </a:rPr>
              <a:t>■  </a:t>
            </a:r>
            <a:r>
              <a:rPr sz="2200" b="0" i="0">
                <a:solidFill>
                  <a:srgbClr val="1F2937"/>
                </a:solidFill>
                <a:latin typeface="Calibri"/>
              </a:rPr>
              <a:t>Se prueba la regla, no el dispositivo</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CÓDIGO REAL · TEST DE EDIT MODE · 2 MIN</a:t>
            </a:r>
          </a:p>
          <a:p>
            <a:r>
              <a:rPr sz="2600" b="1" i="0">
                <a:solidFill>
                  <a:srgbClr val="FFFFFF"/>
                </a:solidFill>
                <a:latin typeface="Calibri"/>
              </a:rPr>
              <a:t>La configuración también se prueba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46/74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 PlayerSettings.GetScriptingBackend; PlayerSettings.Android.targetArchitectures; Android Player settings</a:t>
            </a:r>
          </a:p>
        </p:txBody>
      </p:sp>
      <p:sp>
        <p:nvSpPr>
          <p:cNvPr id="9" name="TextBox 8"/>
          <p:cNvSpPr txBox="1"/>
          <p:nvPr/>
        </p:nvSpPr>
        <p:spPr>
          <a:xfrm>
            <a:off x="502920" y="1234440"/>
            <a:ext cx="11185855" cy="320040"/>
          </a:xfrm>
          <a:prstGeom prst="rect">
            <a:avLst/>
          </a:prstGeom>
          <a:noFill/>
        </p:spPr>
        <p:txBody>
          <a:bodyPr wrap="square" anchor="ctr" lIns="0" rIns="0" tIns="0" bIns="0">
            <a:spAutoFit/>
          </a:bodyPr>
          <a:lstStyle/>
          <a:p>
            <a:r>
              <a:rPr sz="1200" b="1" i="0">
                <a:solidFill>
                  <a:srgbClr val="6B7280"/>
                </a:solidFill>
                <a:latin typeface="Calibri"/>
              </a:rPr>
              <a:t>AndroidBuildConfigTests.cs  ·  líneas 12–26</a:t>
            </a:r>
          </a:p>
        </p:txBody>
      </p:sp>
      <p:sp>
        <p:nvSpPr>
          <p:cNvPr id="10" name="Rounded Rectangle 9"/>
          <p:cNvSpPr/>
          <p:nvPr/>
        </p:nvSpPr>
        <p:spPr>
          <a:xfrm>
            <a:off x="502920" y="1600200"/>
            <a:ext cx="11185855" cy="4389120"/>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28600"/>
          <a:lstStyle/>
          <a:p>
            <a:pPr algn="l"/>
            <a:r>
              <a:rPr sz="1500" b="0" i="0">
                <a:solidFill>
                  <a:srgbClr val="64748B"/>
                </a:solidFill>
                <a:latin typeface="Consolas"/>
              </a:rPr>
              <a:t> 12  </a:t>
            </a:r>
            <a:r>
              <a:rPr sz="1500" b="0" i="0">
                <a:solidFill>
                  <a:srgbClr val="E2E8F0"/>
                </a:solidFill>
                <a:latin typeface="Consolas"/>
              </a:rPr>
              <a:t>[Test]</a:t>
            </a:r>
          </a:p>
          <a:p>
            <a:pPr algn="l"/>
            <a:r>
              <a:rPr sz="1500" b="0" i="0">
                <a:solidFill>
                  <a:srgbClr val="64748B"/>
                </a:solidFill>
                <a:latin typeface="Consolas"/>
              </a:rPr>
              <a:t> 13  </a:t>
            </a:r>
            <a:r>
              <a:rPr sz="1500" b="0" i="0">
                <a:solidFill>
                  <a:srgbClr val="E2E8F0"/>
                </a:solidFill>
                <a:latin typeface="Consolas"/>
              </a:rPr>
              <a:t>public void ScriptingBackend_EsIL2CPP()</a:t>
            </a:r>
          </a:p>
          <a:p>
            <a:pPr algn="l"/>
            <a:r>
              <a:rPr sz="1500" b="0" i="0">
                <a:solidFill>
                  <a:srgbClr val="64748B"/>
                </a:solidFill>
                <a:latin typeface="Consolas"/>
              </a:rPr>
              <a:t> 14  </a:t>
            </a:r>
            <a:r>
              <a:rPr sz="1500" b="0" i="0">
                <a:solidFill>
                  <a:srgbClr val="E2E8F0"/>
                </a:solidFill>
                <a:latin typeface="Consolas"/>
              </a:rPr>
              <a:t>{</a:t>
            </a:r>
          </a:p>
          <a:p>
            <a:pPr algn="l"/>
            <a:r>
              <a:rPr sz="1500" b="0" i="0">
                <a:solidFill>
                  <a:srgbClr val="64748B"/>
                </a:solidFill>
                <a:latin typeface="Consolas"/>
              </a:rPr>
              <a:t> 15  </a:t>
            </a:r>
            <a:r>
              <a:rPr sz="1500" b="0" i="0">
                <a:solidFill>
                  <a:srgbClr val="E2E8F0"/>
                </a:solidFill>
                <a:latin typeface="Consolas"/>
              </a:rPr>
              <a:t>    // ARM64 solo se habilita con IL2CPP</a:t>
            </a:r>
          </a:p>
          <a:p>
            <a:pPr algn="l"/>
            <a:r>
              <a:rPr sz="1500" b="0" i="0">
                <a:solidFill>
                  <a:srgbClr val="64748B"/>
                </a:solidFill>
                <a:latin typeface="Consolas"/>
              </a:rPr>
              <a:t> 16  </a:t>
            </a:r>
            <a:r>
              <a:rPr sz="1500" b="0" i="0">
                <a:solidFill>
                  <a:srgbClr val="E2E8F0"/>
                </a:solidFill>
                <a:latin typeface="Consolas"/>
              </a:rPr>
              <a:t>    var backend = PlayerSettings.GetScriptingBackend(Android);</a:t>
            </a:r>
          </a:p>
          <a:p>
            <a:pPr algn="l"/>
            <a:r>
              <a:rPr sz="1500" b="0" i="0">
                <a:solidFill>
                  <a:srgbClr val="64748B"/>
                </a:solidFill>
                <a:latin typeface="Consolas"/>
              </a:rPr>
              <a:t> 17  </a:t>
            </a:r>
            <a:r>
              <a:rPr sz="1500" b="0" i="0">
                <a:solidFill>
                  <a:srgbClr val="E2E8F0"/>
                </a:solidFill>
                <a:latin typeface="Consolas"/>
              </a:rPr>
              <a:t>    Assert.AreEqual(ScriptingImplementation.IL2CPP, backend);</a:t>
            </a:r>
          </a:p>
          <a:p>
            <a:pPr algn="l"/>
            <a:r>
              <a:rPr sz="1500" b="0" i="0">
                <a:solidFill>
                  <a:srgbClr val="64748B"/>
                </a:solidFill>
                <a:latin typeface="Consolas"/>
              </a:rPr>
              <a:t> 18  </a:t>
            </a:r>
            <a:r>
              <a:rPr sz="1500" b="0" i="0">
                <a:solidFill>
                  <a:srgbClr val="E2E8F0"/>
                </a:solidFill>
                <a:latin typeface="Consolas"/>
              </a:rPr>
              <a:t>}</a:t>
            </a:r>
          </a:p>
          <a:p>
            <a:pPr algn="l"/>
            <a:r>
              <a:rPr sz="1500" b="0" i="0">
                <a:solidFill>
                  <a:srgbClr val="64748B"/>
                </a:solidFill>
                <a:latin typeface="Consolas"/>
              </a:rPr>
              <a:t> 19  </a:t>
            </a:r>
            <a:r>
              <a:rPr sz="1500" b="0" i="0">
                <a:solidFill>
                  <a:srgbClr val="E2E8F0"/>
                </a:solidFill>
                <a:latin typeface="Consolas"/>
              </a:rPr>
              <a:t> </a:t>
            </a:r>
          </a:p>
          <a:p>
            <a:pPr algn="l"/>
            <a:r>
              <a:rPr sz="1500" b="0" i="0">
                <a:solidFill>
                  <a:srgbClr val="64748B"/>
                </a:solidFill>
                <a:latin typeface="Consolas"/>
              </a:rPr>
              <a:t> 20  </a:t>
            </a:r>
            <a:r>
              <a:rPr sz="1500" b="0" i="0">
                <a:solidFill>
                  <a:srgbClr val="E2E8F0"/>
                </a:solidFill>
                <a:latin typeface="Consolas"/>
              </a:rPr>
              <a:t>[Test]</a:t>
            </a:r>
          </a:p>
          <a:p>
            <a:pPr algn="l"/>
            <a:r>
              <a:rPr sz="1500" b="0" i="0">
                <a:solidFill>
                  <a:srgbClr val="64748B"/>
                </a:solidFill>
                <a:latin typeface="Consolas"/>
              </a:rPr>
              <a:t> 21  </a:t>
            </a:r>
            <a:r>
              <a:rPr sz="1500" b="0" i="0">
                <a:solidFill>
                  <a:srgbClr val="E2E8F0"/>
                </a:solidFill>
                <a:latin typeface="Consolas"/>
              </a:rPr>
              <a:t>public void Arquitecturas_IncluyenARM64()</a:t>
            </a:r>
          </a:p>
          <a:p>
            <a:pPr algn="l"/>
            <a:r>
              <a:rPr sz="1500" b="0" i="0">
                <a:solidFill>
                  <a:srgbClr val="64748B"/>
                </a:solidFill>
                <a:latin typeface="Consolas"/>
              </a:rPr>
              <a:t> 22  </a:t>
            </a:r>
            <a:r>
              <a:rPr sz="1500" b="0" i="0">
                <a:solidFill>
                  <a:srgbClr val="E2E8F0"/>
                </a:solidFill>
                <a:latin typeface="Consolas"/>
              </a:rPr>
              <a:t>{</a:t>
            </a:r>
          </a:p>
          <a:p>
            <a:pPr algn="l"/>
            <a:r>
              <a:rPr sz="1500" b="0" i="0">
                <a:solidFill>
                  <a:srgbClr val="64748B"/>
                </a:solidFill>
                <a:latin typeface="Consolas"/>
              </a:rPr>
              <a:t> 23  </a:t>
            </a:r>
            <a:r>
              <a:rPr sz="1500" b="0" i="0">
                <a:solidFill>
                  <a:srgbClr val="E2E8F0"/>
                </a:solidFill>
                <a:latin typeface="Consolas"/>
              </a:rPr>
              <a:t>    // Hay teléfonos que solo aceptan apps de 64 bits</a:t>
            </a:r>
          </a:p>
          <a:p>
            <a:pPr algn="l"/>
            <a:r>
              <a:rPr sz="1500" b="0" i="0">
                <a:solidFill>
                  <a:srgbClr val="64748B"/>
                </a:solidFill>
                <a:latin typeface="Consolas"/>
              </a:rPr>
              <a:t> 24  </a:t>
            </a:r>
            <a:r>
              <a:rPr sz="1500" b="0" i="0">
                <a:solidFill>
                  <a:srgbClr val="E2E8F0"/>
                </a:solidFill>
                <a:latin typeface="Consolas"/>
              </a:rPr>
              <a:t>    var arqs = PlayerSettings.Android.targetArchitectures;</a:t>
            </a:r>
          </a:p>
          <a:p>
            <a:pPr algn="l"/>
            <a:r>
              <a:rPr sz="1500" b="0" i="0">
                <a:solidFill>
                  <a:srgbClr val="64748B"/>
                </a:solidFill>
                <a:latin typeface="Consolas"/>
              </a:rPr>
              <a:t> 25  </a:t>
            </a:r>
            <a:r>
              <a:rPr sz="1500" b="0" i="0">
                <a:solidFill>
                  <a:srgbClr val="E2E8F0"/>
                </a:solidFill>
                <a:latin typeface="Consolas"/>
              </a:rPr>
              <a:t>    Assert.IsTrue((arqs &amp; AndroidArchitecture.ARM64) != 0);</a:t>
            </a:r>
          </a:p>
          <a:p>
            <a:pPr algn="l"/>
            <a:r>
              <a:rPr sz="1500" b="0" i="0">
                <a:solidFill>
                  <a:srgbClr val="64748B"/>
                </a:solidFill>
                <a:latin typeface="Consolas"/>
              </a:rPr>
              <a:t> 26  </a:t>
            </a:r>
            <a:r>
              <a:rPr sz="1500" b="0" i="0">
                <a:solidFill>
                  <a:srgbClr val="E2E8F0"/>
                </a:solidFill>
                <a:latin typeface="Consolas"/>
              </a:rPr>
              <a: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ACTIVIDAD · 10 MIN · GRUPOS · EN UNITY</a:t>
            </a:r>
          </a:p>
          <a:p>
            <a:r>
              <a:rPr sz="2600" b="1" i="0">
                <a:solidFill>
                  <a:srgbClr val="FFFFFF"/>
                </a:solidFill>
                <a:latin typeface="Calibri"/>
              </a:rPr>
              <a:t>Actividad A4.8: el test que cuida la build</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47/74</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Entreguen la captura del Test Runner en rojo y en verde.</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Crear el test de Edit Mode</a:t>
            </a:r>
          </a:p>
          <a:p>
            <a:pPr>
              <a:spcAft>
                <a:spcPts val="800"/>
              </a:spcAft>
            </a:pPr>
            <a:r>
              <a:rPr sz="1600" b="1" i="0">
                <a:solidFill>
                  <a:srgbClr val="0D9488"/>
                </a:solidFill>
                <a:latin typeface="Calibri"/>
              </a:rPr>
              <a:t>■  </a:t>
            </a:r>
            <a:r>
              <a:rPr sz="2200" b="0" i="0">
                <a:solidFill>
                  <a:srgbClr val="1F2937"/>
                </a:solidFill>
                <a:latin typeface="Calibri"/>
              </a:rPr>
              <a:t>Verlo en rojo a propósito</a:t>
            </a:r>
          </a:p>
          <a:p>
            <a:pPr>
              <a:spcAft>
                <a:spcPts val="800"/>
              </a:spcAft>
            </a:pPr>
            <a:r>
              <a:rPr sz="1600" b="1" i="0">
                <a:solidFill>
                  <a:srgbClr val="0D9488"/>
                </a:solidFill>
                <a:latin typeface="Calibri"/>
              </a:rPr>
              <a:t>■  </a:t>
            </a:r>
            <a:r>
              <a:rPr sz="2200" b="0" i="0">
                <a:solidFill>
                  <a:srgbClr val="1F2937"/>
                </a:solidFill>
                <a:latin typeface="Calibri"/>
              </a:rPr>
              <a:t>Arreglar la configuración</a:t>
            </a:r>
          </a:p>
          <a:p>
            <a:pPr>
              <a:spcAft>
                <a:spcPts val="800"/>
              </a:spcAft>
            </a:pPr>
            <a:r>
              <a:rPr sz="1600" b="1" i="0">
                <a:solidFill>
                  <a:srgbClr val="0D9488"/>
                </a:solidFill>
                <a:latin typeface="Calibri"/>
              </a:rPr>
              <a:t>■  </a:t>
            </a:r>
            <a:r>
              <a:rPr sz="2200" b="0" i="0">
                <a:solidFill>
                  <a:srgbClr val="1F2937"/>
                </a:solidFill>
                <a:latin typeface="Calibri"/>
              </a:rPr>
              <a:t>¿Qué NO demuestra?</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MONETIZACIÓN · APERTURA · 2 MIN</a:t>
            </a:r>
          </a:p>
          <a:p>
            <a:r>
              <a:rPr sz="2600" b="1" i="0">
                <a:solidFill>
                  <a:srgbClr val="FFFFFF"/>
                </a:solidFill>
                <a:latin typeface="Calibri"/>
              </a:rPr>
              <a:t>USD 520 millones por una pantalla de compra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48/74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FTC, comunicado de prensa del 19/12/2022</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¿Monetizar es negocio o diseño?</a:t>
            </a:r>
          </a:p>
        </p:txBody>
      </p:sp>
      <p:sp>
        <p:nvSpPr>
          <p:cNvPr id="11" name="TextBox 10"/>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FTC vs. Epic Games (2022)</a:t>
            </a:r>
          </a:p>
          <a:p>
            <a:pPr>
              <a:spcAft>
                <a:spcPts val="800"/>
              </a:spcAft>
            </a:pPr>
            <a:r>
              <a:rPr sz="1600" b="1" i="0">
                <a:solidFill>
                  <a:srgbClr val="0D9488"/>
                </a:solidFill>
                <a:latin typeface="Calibri"/>
              </a:rPr>
              <a:t>■  </a:t>
            </a:r>
            <a:r>
              <a:rPr sz="2200" b="0" i="0">
                <a:solidFill>
                  <a:srgbClr val="1F2937"/>
                </a:solidFill>
                <a:latin typeface="Calibri"/>
              </a:rPr>
              <a:t>USD 275 M + USD 245 M</a:t>
            </a:r>
          </a:p>
          <a:p>
            <a:pPr>
              <a:spcAft>
                <a:spcPts val="800"/>
              </a:spcAft>
            </a:pPr>
            <a:r>
              <a:rPr sz="1600" b="1" i="0">
                <a:solidFill>
                  <a:srgbClr val="0D9488"/>
                </a:solidFill>
                <a:latin typeface="Calibri"/>
              </a:rPr>
              <a:t>■  </a:t>
            </a:r>
            <a:r>
              <a:rPr sz="2200" b="0" i="0">
                <a:solidFill>
                  <a:srgbClr val="1F2937"/>
                </a:solidFill>
                <a:latin typeface="Calibri"/>
              </a:rPr>
              <a:t>Botones confusos al comprar</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49</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MONETIZACIÓN · 3 MIN</a:t>
            </a:r>
          </a:p>
          <a:p>
            <a:r>
              <a:rPr sz="2600" b="1" i="0">
                <a:solidFill>
                  <a:srgbClr val="FFFFFF"/>
                </a:solidFill>
                <a:latin typeface="Calibri"/>
              </a:rPr>
              <a:t>Modelos y formatos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49/74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App Store — Alto's Adventure (ficha consultada 2026-10-04); Google AdMob — Rewarded ads; Interstitial ad guidance</a:t>
            </a:r>
          </a:p>
        </p:txBody>
      </p:sp>
      <p:graphicFrame>
        <p:nvGraphicFramePr>
          <p:cNvPr id="9" name="Table 8"/>
          <p:cNvGraphicFramePr>
            <a:graphicFrameLocks noGrp="1"/>
          </p:cNvGraphicFramePr>
          <p:nvPr/>
        </p:nvGraphicFramePr>
        <p:xfrm>
          <a:off x="502920" y="1234440"/>
          <a:ext cx="11185853" cy="2834640"/>
        </p:xfrm>
        <a:graphic>
          <a:graphicData uri="http://schemas.openxmlformats.org/drawingml/2006/table">
            <a:tbl>
              <a:tblPr firstRow="1" bandRow="1">
                <a:tableStyleId>{5C22544A-7EE6-4342-B048-85BDC9FD1C3A}</a:tableStyleId>
              </a:tblPr>
              <a:tblGrid>
                <a:gridCol w="3107181"/>
                <a:gridCol w="3573259"/>
                <a:gridCol w="4505413"/>
              </a:tblGrid>
              <a:tr h="566928">
                <a:tc>
                  <a:txBody>
                    <a:bodyPr wrap="square"/>
                    <a:lstStyle/>
                    <a:p>
                      <a:r>
                        <a:rPr sz="1400" b="1" i="0">
                          <a:solidFill>
                            <a:srgbClr val="FFFFFF"/>
                          </a:solidFill>
                          <a:latin typeface="Calibri"/>
                        </a:rPr>
                        <a:t>Modelo</a:t>
                      </a:r>
                    </a:p>
                  </a:txBody>
                  <a:tcPr marL="73152" marR="73152" marT="36576" marB="36576" anchor="ctr">
                    <a:solidFill>
                      <a:srgbClr val="0D9488"/>
                    </a:solidFill>
                  </a:tcPr>
                </a:tc>
                <a:tc>
                  <a:txBody>
                    <a:bodyPr wrap="square"/>
                    <a:lstStyle/>
                    <a:p>
                      <a:r>
                        <a:rPr sz="1400" b="1" i="0">
                          <a:solidFill>
                            <a:srgbClr val="FFFFFF"/>
                          </a:solidFill>
                          <a:latin typeface="Calibri"/>
                        </a:rPr>
                        <a:t>Quién paga</a:t>
                      </a:r>
                    </a:p>
                  </a:txBody>
                  <a:tcPr marL="73152" marR="73152" marT="36576" marB="36576" anchor="ctr">
                    <a:solidFill>
                      <a:srgbClr val="0D9488"/>
                    </a:solidFill>
                  </a:tcPr>
                </a:tc>
                <a:tc>
                  <a:txBody>
                    <a:bodyPr wrap="square"/>
                    <a:lstStyle/>
                    <a:p>
                      <a:r>
                        <a:rPr sz="1400" b="1" i="0">
                          <a:solidFill>
                            <a:srgbClr val="FFFFFF"/>
                          </a:solidFill>
                          <a:latin typeface="Calibri"/>
                        </a:rPr>
                        <a:t>Qué cambia en el diseño</a:t>
                      </a:r>
                    </a:p>
                  </a:txBody>
                  <a:tcPr marL="73152" marR="73152" marT="36576" marB="36576" anchor="ctr">
                    <a:solidFill>
                      <a:srgbClr val="0D9488"/>
                    </a:solidFill>
                  </a:tcPr>
                </a:tc>
              </a:tr>
              <a:tr h="566928">
                <a:tc>
                  <a:txBody>
                    <a:bodyPr wrap="square"/>
                    <a:lstStyle/>
                    <a:p>
                      <a:r>
                        <a:rPr sz="1400" b="0" i="0">
                          <a:solidFill>
                            <a:srgbClr val="1F2937"/>
                          </a:solidFill>
                          <a:latin typeface="Calibri"/>
                        </a:rPr>
                        <a:t>Premium</a:t>
                      </a:r>
                    </a:p>
                  </a:txBody>
                  <a:tcPr marL="73152" marR="73152" marT="36576" marB="36576" anchor="ctr">
                    <a:solidFill>
                      <a:srgbClr val="FFFFFF"/>
                    </a:solidFill>
                  </a:tcPr>
                </a:tc>
                <a:tc>
                  <a:txBody>
                    <a:bodyPr wrap="square"/>
                    <a:lstStyle/>
                    <a:p>
                      <a:r>
                        <a:rPr sz="1400" b="0" i="0">
                          <a:solidFill>
                            <a:srgbClr val="1F2937"/>
                          </a:solidFill>
                          <a:latin typeface="Calibri"/>
                        </a:rPr>
                        <a:t>Al comprar</a:t>
                      </a:r>
                    </a:p>
                  </a:txBody>
                  <a:tcPr marL="73152" marR="73152" marT="36576" marB="36576" anchor="ctr">
                    <a:solidFill>
                      <a:srgbClr val="FFFFFF"/>
                    </a:solidFill>
                  </a:tcPr>
                </a:tc>
                <a:tc>
                  <a:txBody>
                    <a:bodyPr wrap="square"/>
                    <a:lstStyle/>
                    <a:p>
                      <a:r>
                        <a:rPr sz="1400" b="0" i="0">
                          <a:solidFill>
                            <a:srgbClr val="1F2937"/>
                          </a:solidFill>
                          <a:latin typeface="Calibri"/>
                        </a:rPr>
                        <a:t>Sin interrupciones</a:t>
                      </a:r>
                    </a:p>
                  </a:txBody>
                  <a:tcPr marL="73152" marR="73152" marT="36576" marB="36576" anchor="ctr">
                    <a:solidFill>
                      <a:srgbClr val="FFFFFF"/>
                    </a:solidFill>
                  </a:tcPr>
                </a:tc>
              </a:tr>
              <a:tr h="566928">
                <a:tc>
                  <a:txBody>
                    <a:bodyPr wrap="square"/>
                    <a:lstStyle/>
                    <a:p>
                      <a:r>
                        <a:rPr sz="1400" b="0" i="0">
                          <a:solidFill>
                            <a:srgbClr val="1F2937"/>
                          </a:solidFill>
                          <a:latin typeface="Calibri"/>
                        </a:rPr>
                        <a:t>Freemium + IAP</a:t>
                      </a:r>
                    </a:p>
                  </a:txBody>
                  <a:tcPr marL="73152" marR="73152" marT="36576" marB="36576" anchor="ctr">
                    <a:solidFill>
                      <a:srgbClr val="E6F4F2"/>
                    </a:solidFill>
                  </a:tcPr>
                </a:tc>
                <a:tc>
                  <a:txBody>
                    <a:bodyPr wrap="square"/>
                    <a:lstStyle/>
                    <a:p>
                      <a:r>
                        <a:rPr sz="1400" b="0" i="0">
                          <a:solidFill>
                            <a:srgbClr val="1F2937"/>
                          </a:solidFill>
                          <a:latin typeface="Calibri"/>
                        </a:rPr>
                        <a:t>Algunos jugadores</a:t>
                      </a:r>
                    </a:p>
                  </a:txBody>
                  <a:tcPr marL="73152" marR="73152" marT="36576" marB="36576" anchor="ctr">
                    <a:solidFill>
                      <a:srgbClr val="E6F4F2"/>
                    </a:solidFill>
                  </a:tcPr>
                </a:tc>
                <a:tc>
                  <a:txBody>
                    <a:bodyPr wrap="square"/>
                    <a:lstStyle/>
                    <a:p>
                      <a:r>
                        <a:rPr sz="1400" b="0" i="0">
                          <a:solidFill>
                            <a:srgbClr val="1F2937"/>
                          </a:solidFill>
                          <a:latin typeface="Calibri"/>
                        </a:rPr>
                        <a:t>Tienda y progresión</a:t>
                      </a:r>
                    </a:p>
                  </a:txBody>
                  <a:tcPr marL="73152" marR="73152" marT="36576" marB="36576" anchor="ctr">
                    <a:solidFill>
                      <a:srgbClr val="E6F4F2"/>
                    </a:solidFill>
                  </a:tcPr>
                </a:tc>
              </a:tr>
              <a:tr h="566928">
                <a:tc>
                  <a:txBody>
                    <a:bodyPr wrap="square"/>
                    <a:lstStyle/>
                    <a:p>
                      <a:r>
                        <a:rPr sz="1400" b="0" i="0">
                          <a:solidFill>
                            <a:srgbClr val="1F2937"/>
                          </a:solidFill>
                          <a:latin typeface="Calibri"/>
                        </a:rPr>
                        <a:t>Anuncios</a:t>
                      </a:r>
                    </a:p>
                  </a:txBody>
                  <a:tcPr marL="73152" marR="73152" marT="36576" marB="36576" anchor="ctr">
                    <a:solidFill>
                      <a:srgbClr val="FFFFFF"/>
                    </a:solidFill>
                  </a:tcPr>
                </a:tc>
                <a:tc>
                  <a:txBody>
                    <a:bodyPr wrap="square"/>
                    <a:lstStyle/>
                    <a:p>
                      <a:r>
                        <a:rPr sz="1400" b="0" i="0">
                          <a:solidFill>
                            <a:srgbClr val="1F2937"/>
                          </a:solidFill>
                          <a:latin typeface="Calibri"/>
                        </a:rPr>
                        <a:t>El anunciante</a:t>
                      </a:r>
                    </a:p>
                  </a:txBody>
                  <a:tcPr marL="73152" marR="73152" marT="36576" marB="36576" anchor="ctr">
                    <a:solidFill>
                      <a:srgbClr val="FFFFFF"/>
                    </a:solidFill>
                  </a:tcPr>
                </a:tc>
                <a:tc>
                  <a:txBody>
                    <a:bodyPr wrap="square"/>
                    <a:lstStyle/>
                    <a:p>
                      <a:r>
                        <a:rPr sz="1400" b="0" i="0">
                          <a:solidFill>
                            <a:srgbClr val="1F2937"/>
                          </a:solidFill>
                          <a:latin typeface="Calibri"/>
                        </a:rPr>
                        <a:t>Cuándo interrumpir</a:t>
                      </a:r>
                    </a:p>
                  </a:txBody>
                  <a:tcPr marL="73152" marR="73152" marT="36576" marB="36576" anchor="ctr">
                    <a:solidFill>
                      <a:srgbClr val="FFFFFF"/>
                    </a:solidFill>
                  </a:tcPr>
                </a:tc>
              </a:tr>
              <a:tr h="566928">
                <a:tc>
                  <a:txBody>
                    <a:bodyPr wrap="square"/>
                    <a:lstStyle/>
                    <a:p>
                      <a:r>
                        <a:rPr sz="1400" b="0" i="0">
                          <a:solidFill>
                            <a:srgbClr val="1F2937"/>
                          </a:solidFill>
                          <a:latin typeface="Calibri"/>
                        </a:rPr>
                        <a:t>Híbrido</a:t>
                      </a:r>
                    </a:p>
                  </a:txBody>
                  <a:tcPr marL="73152" marR="73152" marT="36576" marB="36576" anchor="ctr">
                    <a:solidFill>
                      <a:srgbClr val="E6F4F2"/>
                    </a:solidFill>
                  </a:tcPr>
                </a:tc>
                <a:tc>
                  <a:txBody>
                    <a:bodyPr wrap="square"/>
                    <a:lstStyle/>
                    <a:p>
                      <a:r>
                        <a:rPr sz="1400" b="0" i="0">
                          <a:solidFill>
                            <a:srgbClr val="1F2937"/>
                          </a:solidFill>
                          <a:latin typeface="Calibri"/>
                        </a:rPr>
                        <a:t>Combinación</a:t>
                      </a:r>
                    </a:p>
                  </a:txBody>
                  <a:tcPr marL="73152" marR="73152" marT="36576" marB="36576" anchor="ctr">
                    <a:solidFill>
                      <a:srgbClr val="E6F4F2"/>
                    </a:solidFill>
                  </a:tcPr>
                </a:tc>
                <a:tc>
                  <a:txBody>
                    <a:bodyPr wrap="square"/>
                    <a:lstStyle/>
                    <a:p>
                      <a:r>
                        <a:rPr sz="1400" b="0" i="0">
                          <a:solidFill>
                            <a:srgbClr val="1F2937"/>
                          </a:solidFill>
                          <a:latin typeface="Calibri"/>
                        </a:rPr>
                        <a:t>Todo lo anterior</a:t>
                      </a:r>
                    </a:p>
                  </a:txBody>
                  <a:tcPr marL="73152" marR="73152" marT="36576" marB="36576" anchor="ctr">
                    <a:solidFill>
                      <a:srgbClr val="E6F4F2"/>
                    </a:solidFill>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50</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MONETIZACIÓN · REGLAS EXTERNAS · 4 MIN</a:t>
            </a:r>
          </a:p>
          <a:p>
            <a:r>
              <a:rPr sz="2600" b="1" i="0">
                <a:solidFill>
                  <a:srgbClr val="FFFFFF"/>
                </a:solidFill>
                <a:latin typeface="Calibri"/>
              </a:rPr>
              <a:t>Las reglas las pone la tienda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50/74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Google AdMob — Disallowed interstitial implementations; Apple App Review Guidelines 3.1.1 y 1.3; Google Play — Payments y Families policy</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¿Un anuncio en cada Game Over cumple?</a:t>
            </a:r>
          </a:p>
        </p:txBody>
      </p:sp>
      <p:sp>
        <p:nvSpPr>
          <p:cNvPr id="11" name="TextBox 10"/>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AdMob: nunca al abrir ni en cada acción</a:t>
            </a:r>
          </a:p>
          <a:p>
            <a:pPr>
              <a:spcAft>
                <a:spcPts val="800"/>
              </a:spcAft>
            </a:pPr>
            <a:r>
              <a:rPr sz="1600" b="1" i="0">
                <a:solidFill>
                  <a:srgbClr val="0D9488"/>
                </a:solidFill>
                <a:latin typeface="Calibri"/>
              </a:rPr>
              <a:t>■  </a:t>
            </a:r>
            <a:r>
              <a:rPr sz="2200" b="0" i="0">
                <a:solidFill>
                  <a:srgbClr val="1F2937"/>
                </a:solidFill>
                <a:latin typeface="Calibri"/>
              </a:rPr>
              <a:t>Apple 3.1.1: IAP obligatorio</a:t>
            </a:r>
          </a:p>
          <a:p>
            <a:pPr>
              <a:spcAft>
                <a:spcPts val="800"/>
              </a:spcAft>
            </a:pPr>
            <a:r>
              <a:rPr sz="1600" b="1" i="0">
                <a:solidFill>
                  <a:srgbClr val="0D9488"/>
                </a:solidFill>
                <a:latin typeface="Calibri"/>
              </a:rPr>
              <a:t>■  </a:t>
            </a:r>
            <a:r>
              <a:rPr sz="2200" b="0" i="0">
                <a:solidFill>
                  <a:srgbClr val="1F2937"/>
                </a:solidFill>
                <a:latin typeface="Calibri"/>
              </a:rPr>
              <a:t>Probabilidades visibles al comprar</a:t>
            </a:r>
          </a:p>
          <a:p>
            <a:pPr>
              <a:spcAft>
                <a:spcPts val="800"/>
              </a:spcAft>
            </a:pPr>
            <a:r>
              <a:rPr sz="1600" b="1" i="0">
                <a:solidFill>
                  <a:srgbClr val="0D9488"/>
                </a:solidFill>
                <a:latin typeface="Calibri"/>
              </a:rPr>
              <a:t>■  </a:t>
            </a:r>
            <a:r>
              <a:rPr sz="2200" b="0" i="0">
                <a:solidFill>
                  <a:srgbClr val="1F2937"/>
                </a:solidFill>
                <a:latin typeface="Calibri"/>
              </a:rPr>
              <a:t>Niños: sin publicidad personalizada</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51</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MONETIZACIÓN = GAME DESIGN · ÉTICA · 4 MIN</a:t>
            </a:r>
          </a:p>
          <a:p>
            <a:r>
              <a:rPr sz="2600" b="1" i="0">
                <a:solidFill>
                  <a:srgbClr val="FFFFFF"/>
                </a:solidFill>
                <a:latin typeface="Calibri"/>
              </a:rPr>
              <a:t>Monetizar cambia el juego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51/74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Kotaku (2023), citando a poncle; PLOS ONE 2018; Journal of Business Ethics 2022; UK Gambling Commission</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Con "continuar", ¿qué rebalancearían?</a:t>
            </a:r>
          </a:p>
        </p:txBody>
      </p:sp>
      <p:sp>
        <p:nvSpPr>
          <p:cNvPr id="11" name="TextBox 10"/>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"Continuar" cambia el Game Over</a:t>
            </a:r>
          </a:p>
          <a:p>
            <a:pPr>
              <a:spcAft>
                <a:spcPts val="800"/>
              </a:spcAft>
            </a:pPr>
            <a:r>
              <a:rPr sz="1600" b="1" i="0">
                <a:solidFill>
                  <a:srgbClr val="0D9488"/>
                </a:solidFill>
                <a:latin typeface="Calibri"/>
              </a:rPr>
              <a:t>■  </a:t>
            </a:r>
            <a:r>
              <a:rPr sz="2200" b="0" i="0">
                <a:solidFill>
                  <a:srgbClr val="1F2937"/>
                </a:solidFill>
                <a:latin typeface="Calibri"/>
              </a:rPr>
              <a:t>Dificultad para vender: cambia el balance</a:t>
            </a:r>
          </a:p>
          <a:p>
            <a:pPr>
              <a:spcAft>
                <a:spcPts val="800"/>
              </a:spcAft>
            </a:pPr>
            <a:r>
              <a:rPr sz="1600" b="1" i="0">
                <a:solidFill>
                  <a:srgbClr val="0D9488"/>
                </a:solidFill>
                <a:latin typeface="Calibri"/>
              </a:rPr>
              <a:t>■  </a:t>
            </a:r>
            <a:r>
              <a:rPr sz="2200" b="0" i="0">
                <a:solidFill>
                  <a:srgbClr val="1F2937"/>
                </a:solidFill>
                <a:latin typeface="Calibri"/>
              </a:rPr>
              <a:t>Vampire Survivors: nunca interrumpir</a:t>
            </a:r>
          </a:p>
          <a:p>
            <a:pPr>
              <a:spcAft>
                <a:spcPts val="800"/>
              </a:spcAft>
            </a:pPr>
            <a:r>
              <a:rPr sz="1600" b="1" i="0">
                <a:solidFill>
                  <a:srgbClr val="0D9488"/>
                </a:solidFill>
                <a:latin typeface="Calibri"/>
              </a:rPr>
              <a:t>■  </a:t>
            </a:r>
            <a:r>
              <a:rPr sz="2200" b="0" i="0">
                <a:solidFill>
                  <a:srgbClr val="1F2937"/>
                </a:solidFill>
                <a:latin typeface="Calibri"/>
              </a:rPr>
              <a:t>Dark patterns y loot boxes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ACTIVIDAD · 7 MIN · GRUPOS + VOTO</a:t>
            </a:r>
          </a:p>
          <a:p>
            <a:r>
              <a:rPr sz="2600" b="1" i="0">
                <a:solidFill>
                  <a:srgbClr val="FFFFFF"/>
                </a:solidFill>
                <a:latin typeface="Calibri"/>
              </a:rPr>
              <a:t>Actividad A4.5: ¿cuál publicarían?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52/74</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¿Cumple políticas? ¿Qué cambia? ¿Riesgos éticos? Elijan una.</a:t>
            </a:r>
          </a:p>
        </p:txBody>
      </p:sp>
      <p:graphicFrame>
        <p:nvGraphicFramePr>
          <p:cNvPr id="10" name="Table 9"/>
          <p:cNvGraphicFramePr>
            <a:graphicFrameLocks noGrp="1"/>
          </p:cNvGraphicFramePr>
          <p:nvPr/>
        </p:nvGraphicFramePr>
        <p:xfrm>
          <a:off x="502920" y="1234440"/>
          <a:ext cx="11185854" cy="2267712"/>
        </p:xfrm>
        <a:graphic>
          <a:graphicData uri="http://schemas.openxmlformats.org/drawingml/2006/table">
            <a:tbl>
              <a:tblPr firstRow="1" bandRow="1">
                <a:tableStyleId>{5C22544A-7EE6-4342-B048-85BDC9FD1C3A}</a:tableStyleId>
              </a:tblPr>
              <a:tblGrid>
                <a:gridCol w="1712120"/>
                <a:gridCol w="9473734"/>
              </a:tblGrid>
              <a:tr h="566928">
                <a:tc>
                  <a:txBody>
                    <a:bodyPr wrap="square"/>
                    <a:lstStyle/>
                    <a:p>
                      <a:r>
                        <a:rPr sz="1400" b="1" i="0">
                          <a:solidFill>
                            <a:srgbClr val="FFFFFF"/>
                          </a:solidFill>
                          <a:latin typeface="Calibri"/>
                        </a:rPr>
                        <a:t>Propuesta</a:t>
                      </a:r>
                    </a:p>
                  </a:txBody>
                  <a:tcPr marL="73152" marR="73152" marT="36576" marB="36576" anchor="ctr">
                    <a:solidFill>
                      <a:srgbClr val="0D9488"/>
                    </a:solidFill>
                  </a:tcPr>
                </a:tc>
                <a:tc>
                  <a:txBody>
                    <a:bodyPr wrap="square"/>
                    <a:lstStyle/>
                    <a:p>
                      <a:r>
                        <a:rPr sz="1400" b="1" i="0">
                          <a:solidFill>
                            <a:srgbClr val="FFFFFF"/>
                          </a:solidFill>
                          <a:latin typeface="Calibri"/>
                        </a:rPr>
                        <a:t>Modelo</a:t>
                      </a:r>
                    </a:p>
                  </a:txBody>
                  <a:tcPr marL="73152" marR="73152" marT="36576" marB="36576" anchor="ctr">
                    <a:solidFill>
                      <a:srgbClr val="0D9488"/>
                    </a:solidFill>
                  </a:tcPr>
                </a:tc>
              </a:tr>
              <a:tr h="566928">
                <a:tc>
                  <a:txBody>
                    <a:bodyPr wrap="square"/>
                    <a:lstStyle/>
                    <a:p>
                      <a:r>
                        <a:rPr sz="1400" b="0" i="0">
                          <a:solidFill>
                            <a:srgbClr val="1F2937"/>
                          </a:solidFill>
                          <a:latin typeface="Calibri"/>
                        </a:rPr>
                        <a:t>P1</a:t>
                      </a:r>
                    </a:p>
                  </a:txBody>
                  <a:tcPr marL="73152" marR="73152" marT="36576" marB="36576" anchor="ctr">
                    <a:solidFill>
                      <a:srgbClr val="FFFFFF"/>
                    </a:solidFill>
                  </a:tcPr>
                </a:tc>
                <a:tc>
                  <a:txBody>
                    <a:bodyPr wrap="square"/>
                    <a:lstStyle/>
                    <a:p>
                      <a:r>
                        <a:rPr sz="1400" b="0" i="0">
                          <a:solidFill>
                            <a:srgbClr val="1F2937"/>
                          </a:solidFill>
                          <a:latin typeface="Calibri"/>
                        </a:rPr>
                        <a:t>Premium, US$ 2,99, sin anuncios ni compras</a:t>
                      </a:r>
                    </a:p>
                  </a:txBody>
                  <a:tcPr marL="73152" marR="73152" marT="36576" marB="36576" anchor="ctr">
                    <a:solidFill>
                      <a:srgbClr val="FFFFFF"/>
                    </a:solidFill>
                  </a:tcPr>
                </a:tc>
              </a:tr>
              <a:tr h="566928">
                <a:tc>
                  <a:txBody>
                    <a:bodyPr wrap="square"/>
                    <a:lstStyle/>
                    <a:p>
                      <a:r>
                        <a:rPr sz="1400" b="0" i="0">
                          <a:solidFill>
                            <a:srgbClr val="1F2937"/>
                          </a:solidFill>
                          <a:latin typeface="Calibri"/>
                        </a:rPr>
                        <a:t>P2</a:t>
                      </a:r>
                    </a:p>
                  </a:txBody>
                  <a:tcPr marL="73152" marR="73152" marT="36576" marB="36576" anchor="ctr">
                    <a:solidFill>
                      <a:srgbClr val="E6F4F2"/>
                    </a:solidFill>
                  </a:tcPr>
                </a:tc>
                <a:tc>
                  <a:txBody>
                    <a:bodyPr wrap="square"/>
                    <a:lstStyle/>
                    <a:p>
                      <a:r>
                        <a:rPr sz="1400" b="0" i="0">
                          <a:solidFill>
                            <a:srgbClr val="1F2937"/>
                          </a:solidFill>
                          <a:latin typeface="Calibri"/>
                        </a:rPr>
                        <a:t>Gratis + rewarded "continuar" + IAP "quitar anuncios"</a:t>
                      </a:r>
                    </a:p>
                  </a:txBody>
                  <a:tcPr marL="73152" marR="73152" marT="36576" marB="36576" anchor="ctr">
                    <a:solidFill>
                      <a:srgbClr val="E6F4F2"/>
                    </a:solidFill>
                  </a:tcPr>
                </a:tc>
              </a:tr>
              <a:tr h="566928">
                <a:tc>
                  <a:txBody>
                    <a:bodyPr wrap="square"/>
                    <a:lstStyle/>
                    <a:p>
                      <a:r>
                        <a:rPr sz="1400" b="0" i="0">
                          <a:solidFill>
                            <a:srgbClr val="1F2937"/>
                          </a:solidFill>
                          <a:latin typeface="Calibri"/>
                        </a:rPr>
                        <a:t>P3</a:t>
                      </a:r>
                    </a:p>
                  </a:txBody>
                  <a:tcPr marL="73152" marR="73152" marT="36576" marB="36576" anchor="ctr">
                    <a:solidFill>
                      <a:srgbClr val="FFFFFF"/>
                    </a:solidFill>
                  </a:tcPr>
                </a:tc>
                <a:tc>
                  <a:txBody>
                    <a:bodyPr wrap="square"/>
                    <a:lstStyle/>
                    <a:p>
                      <a:r>
                        <a:rPr sz="1400" b="0" i="0">
                          <a:solidFill>
                            <a:srgbClr val="1F2937"/>
                          </a:solidFill>
                          <a:latin typeface="Calibri"/>
                        </a:rPr>
                        <a:t>Interstitial al abrir y en cada Game Over + cofres al azar sin probabilidades</a:t>
                      </a:r>
                    </a:p>
                  </a:txBody>
                  <a:tcPr marL="73152" marR="73152" marT="36576" marB="36576" anchor="ctr">
                    <a:solidFill>
                      <a:srgbClr val="FFFFFF"/>
                    </a:solidFill>
                  </a:tcPr>
                </a:tc>
              </a:tr>
            </a:tbl>
          </a:graphicData>
        </a:graphic>
      </p:graphicFrame>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TP 3 · 1 MIN · CONSIGNA</a:t>
            </a:r>
          </a:p>
          <a:p>
            <a:r>
              <a:rPr sz="2600" b="1" i="0">
                <a:solidFill>
                  <a:srgbClr val="FFFFFF"/>
                </a:solidFill>
                <a:latin typeface="Calibri"/>
              </a:rPr>
              <a:t>TP 3: entrega y defensa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53/74</a:t>
            </a:r>
          </a:p>
        </p:txBody>
      </p:sp>
      <p:sp>
        <p:nvSpPr>
          <p:cNvPr id="8" name="TextBox 7"/>
          <p:cNvSpPr txBox="1"/>
          <p:nvPr/>
        </p:nvSpPr>
        <p:spPr>
          <a:xfrm>
            <a:off x="502920" y="1234440"/>
            <a:ext cx="11185855" cy="210312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Una decisión de plataforma</a:t>
            </a:r>
          </a:p>
          <a:p>
            <a:pPr>
              <a:spcAft>
                <a:spcPts val="800"/>
              </a:spcAft>
            </a:pPr>
            <a:r>
              <a:rPr sz="1600" b="1" i="0">
                <a:solidFill>
                  <a:srgbClr val="0D9488"/>
                </a:solidFill>
                <a:latin typeface="Calibri"/>
              </a:rPr>
              <a:t>■  </a:t>
            </a:r>
            <a:r>
              <a:rPr sz="2200" b="0" i="0">
                <a:solidFill>
                  <a:srgbClr val="1F2937"/>
                </a:solidFill>
                <a:latin typeface="Calibri"/>
              </a:rPr>
              <a:t>La evidencia del teléfono</a:t>
            </a:r>
          </a:p>
          <a:p>
            <a:pPr>
              <a:spcAft>
                <a:spcPts val="800"/>
              </a:spcAft>
            </a:pPr>
            <a:r>
              <a:rPr sz="1600" b="1" i="0">
                <a:solidFill>
                  <a:srgbClr val="0D9488"/>
                </a:solidFill>
                <a:latin typeface="Calibri"/>
              </a:rPr>
              <a:t>■  </a:t>
            </a:r>
            <a:r>
              <a:rPr sz="2200" b="0" i="0">
                <a:solidFill>
                  <a:srgbClr val="1F2937"/>
                </a:solidFill>
                <a:latin typeface="Calibri"/>
              </a:rPr>
              <a:t>Lo que quedó sin probar</a:t>
            </a:r>
          </a:p>
          <a:p>
            <a:pPr>
              <a:spcAft>
                <a:spcPts val="800"/>
              </a:spcAft>
            </a:pPr>
            <a:r>
              <a:rPr sz="1600" b="1" i="0">
                <a:solidFill>
                  <a:srgbClr val="0D9488"/>
                </a:solidFill>
                <a:latin typeface="Calibri"/>
              </a:rPr>
              <a:t>■  </a:t>
            </a:r>
            <a:r>
              <a:rPr sz="2200" b="0" i="0">
                <a:solidFill>
                  <a:srgbClr val="1F2937"/>
                </a:solidFill>
                <a:latin typeface="Calibri"/>
              </a:rPr>
              <a:t>A4.4 (la pausa) va en el dossier</a:t>
            </a:r>
          </a:p>
        </p:txBody>
      </p:sp>
      <p:graphicFrame>
        <p:nvGraphicFramePr>
          <p:cNvPr id="9" name="Table 8"/>
          <p:cNvGraphicFramePr>
            <a:graphicFrameLocks noGrp="1"/>
          </p:cNvGraphicFramePr>
          <p:nvPr/>
        </p:nvGraphicFramePr>
        <p:xfrm>
          <a:off x="502920" y="3337560"/>
          <a:ext cx="11185854" cy="2267712"/>
        </p:xfrm>
        <a:graphic>
          <a:graphicData uri="http://schemas.openxmlformats.org/drawingml/2006/table">
            <a:tbl>
              <a:tblPr firstRow="1" bandRow="1">
                <a:tableStyleId>{5C22544A-7EE6-4342-B048-85BDC9FD1C3A}</a:tableStyleId>
              </a:tblPr>
              <a:tblGrid>
                <a:gridCol w="6635676"/>
                <a:gridCol w="4550178"/>
              </a:tblGrid>
              <a:tr h="566928">
                <a:tc>
                  <a:txBody>
                    <a:bodyPr wrap="square"/>
                    <a:lstStyle/>
                    <a:p>
                      <a:r>
                        <a:rPr sz="1600" b="1" i="0">
                          <a:solidFill>
                            <a:srgbClr val="FFFFFF"/>
                          </a:solidFill>
                          <a:latin typeface="Calibri"/>
                        </a:rPr>
                        <a:t>Criterio de coevaluación</a:t>
                      </a:r>
                    </a:p>
                  </a:txBody>
                  <a:tcPr marL="73152" marR="73152" marT="36576" marB="36576" anchor="ctr">
                    <a:solidFill>
                      <a:srgbClr val="0D9488"/>
                    </a:solidFill>
                  </a:tcPr>
                </a:tc>
                <a:tc>
                  <a:txBody>
                    <a:bodyPr wrap="square"/>
                    <a:lstStyle/>
                    <a:p>
                      <a:r>
                        <a:rPr sz="1600" b="1" i="0">
                          <a:solidFill>
                            <a:srgbClr val="FFFFFF"/>
                          </a:solidFill>
                          <a:latin typeface="Calibri"/>
                        </a:rPr>
                        <a:t>Sí / En parte / No</a:t>
                      </a:r>
                    </a:p>
                  </a:txBody>
                  <a:tcPr marL="73152" marR="73152" marT="36576" marB="36576" anchor="ctr">
                    <a:solidFill>
                      <a:srgbClr val="0D9488"/>
                    </a:solidFill>
                  </a:tcPr>
                </a:tc>
              </a:tr>
              <a:tr h="566928">
                <a:tc>
                  <a:txBody>
                    <a:bodyPr wrap="square"/>
                    <a:lstStyle/>
                    <a:p>
                      <a:r>
                        <a:rPr sz="1600" b="0" i="0">
                          <a:solidFill>
                            <a:srgbClr val="1F2937"/>
                          </a:solidFill>
                          <a:latin typeface="Calibri"/>
                        </a:rPr>
                        <a:t>La decisión está justificada</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r>
              <a:tr h="566928">
                <a:tc>
                  <a:txBody>
                    <a:bodyPr wrap="square"/>
                    <a:lstStyle/>
                    <a:p>
                      <a:r>
                        <a:rPr sz="1600" b="0" i="0">
                          <a:solidFill>
                            <a:srgbClr val="1F2937"/>
                          </a:solidFill>
                          <a:latin typeface="Calibri"/>
                        </a:rPr>
                        <a:t>Hay evidencia del dispositivo</a:t>
                      </a:r>
                    </a:p>
                  </a:txBody>
                  <a:tcPr marL="73152" marR="73152" marT="36576" marB="36576" anchor="ctr">
                    <a:solidFill>
                      <a:srgbClr val="E6F4F2"/>
                    </a:solidFill>
                  </a:tcPr>
                </a:tc>
                <a:tc>
                  <a:txBody>
                    <a:bodyPr wrap="square"/>
                    <a:lstStyle/>
                    <a:p>
                      <a:r>
                        <a:rPr sz="1600" b="0" i="0">
                          <a:solidFill>
                            <a:srgbClr val="1F2937"/>
                          </a:solidFill>
                          <a:latin typeface="Calibri"/>
                        </a:rPr>
                        <a:t/>
                      </a:r>
                    </a:p>
                  </a:txBody>
                  <a:tcPr marL="73152" marR="73152" marT="36576" marB="36576" anchor="ctr">
                    <a:solidFill>
                      <a:srgbClr val="E6F4F2"/>
                    </a:solidFill>
                  </a:tcPr>
                </a:tc>
              </a:tr>
              <a:tr h="566928">
                <a:tc>
                  <a:txBody>
                    <a:bodyPr wrap="square"/>
                    <a:lstStyle/>
                    <a:p>
                      <a:r>
                        <a:rPr sz="1600" b="0" i="0">
                          <a:solidFill>
                            <a:srgbClr val="1F2937"/>
                          </a:solidFill>
                          <a:latin typeface="Calibri"/>
                        </a:rPr>
                        <a:t>Se declaran los límites</a:t>
                      </a:r>
                    </a:p>
                  </a:txBody>
                  <a:tcPr marL="73152" marR="73152" marT="36576" marB="36576" anchor="ctr">
                    <a:solidFill>
                      <a:srgbClr val="FFFFFF"/>
                    </a:solidFill>
                  </a:tcPr>
                </a:tc>
                <a:tc>
                  <a:txBody>
                    <a:bodyPr wrap="square"/>
                    <a:lstStyle/>
                    <a:p>
                      <a:r>
                        <a:rPr sz="1600" b="0" i="0">
                          <a:solidFill>
                            <a:srgbClr val="1F2937"/>
                          </a:solidFill>
                          <a:latin typeface="Calibri"/>
                        </a:rPr>
                        <a:t/>
                      </a:r>
                    </a:p>
                  </a:txBody>
                  <a:tcPr marL="73152" marR="73152" marT="36576" marB="36576" anchor="ctr">
                    <a:solidFill>
                      <a:srgbClr val="FFFFFF"/>
                    </a:solidFill>
                  </a:tcPr>
                </a:tc>
              </a:tr>
            </a:tbl>
          </a:graphicData>
        </a:graphic>
      </p:graphicFrame>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CIERRE DE UNIDAD · 4 MIN · PUENTE A UNIDAD V</a:t>
            </a:r>
          </a:p>
          <a:p>
            <a:r>
              <a:rPr sz="2600" b="1" i="0">
                <a:solidFill>
                  <a:srgbClr val="FFFFFF"/>
                </a:solidFill>
                <a:latin typeface="Calibri"/>
              </a:rPr>
              <a:t>En móvil, el límite lo pone el dispositivo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3 · Asteroides en tu bolsillo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54/74</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En consola, ¿quién decide si se publica?</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El teléfono muestra lo que el editor no</a:t>
            </a:r>
          </a:p>
          <a:p>
            <a:pPr>
              <a:spcAft>
                <a:spcPts val="800"/>
              </a:spcAft>
            </a:pPr>
            <a:r>
              <a:rPr sz="1600" b="1" i="0">
                <a:solidFill>
                  <a:srgbClr val="0D9488"/>
                </a:solidFill>
                <a:latin typeface="Calibri"/>
              </a:rPr>
              <a:t>■  </a:t>
            </a:r>
            <a:r>
              <a:rPr sz="2200" b="0" i="0">
                <a:solidFill>
                  <a:srgbClr val="1F2937"/>
                </a:solidFill>
                <a:latin typeface="Calibri"/>
              </a:rPr>
              <a:t>Mismo patrón, otro juego: el Platformer</a:t>
            </a:r>
          </a:p>
          <a:p>
            <a:pPr>
              <a:spcAft>
                <a:spcPts val="800"/>
              </a:spcAft>
            </a:pPr>
            <a:r>
              <a:rPr sz="1600" b="1" i="0">
                <a:solidFill>
                  <a:srgbClr val="0D9488"/>
                </a:solidFill>
                <a:latin typeface="Calibri"/>
              </a:rPr>
              <a:t>■  </a:t>
            </a:r>
            <a:r>
              <a:rPr sz="2200" b="0" i="0">
                <a:solidFill>
                  <a:srgbClr val="1F2937"/>
                </a:solidFill>
                <a:latin typeface="Calibri"/>
              </a:rPr>
              <a:t>Mismo input, otro control: el gamepad</a:t>
            </a:r>
          </a:p>
          <a:p>
            <a:pPr>
              <a:spcAft>
                <a:spcPts val="800"/>
              </a:spcAft>
            </a:pPr>
            <a:r>
              <a:rPr sz="1600" b="1" i="0">
                <a:solidFill>
                  <a:srgbClr val="0D9488"/>
                </a:solidFill>
                <a:latin typeface="Calibri"/>
              </a:rPr>
              <a:t>■  </a:t>
            </a:r>
            <a:r>
              <a:rPr sz="2200" b="0" i="0">
                <a:solidFill>
                  <a:srgbClr val="1F2937"/>
                </a:solidFill>
                <a:latin typeface="Calibri"/>
              </a:rPr>
              <a:t>Consolas: el límite lo pone el fabricante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Rectangle 1"/>
          <p:cNvSpPr/>
          <p:nvPr/>
        </p:nvSpPr>
        <p:spPr>
          <a:xfrm>
            <a:off x="0" y="4754880"/>
            <a:ext cx="12191695" cy="508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0"/>
            <a:ext cx="11185855" cy="3291840"/>
          </a:xfrm>
          <a:prstGeom prst="rect">
            <a:avLst/>
          </a:prstGeom>
          <a:noFill/>
        </p:spPr>
        <p:txBody>
          <a:bodyPr wrap="square" anchor="b" lIns="0" rIns="0" tIns="0" bIns="0">
            <a:spAutoFit/>
          </a:bodyPr>
          <a:lstStyle/>
          <a:p>
            <a:r>
              <a:rPr sz="1400" b="1" i="0">
                <a:solidFill>
                  <a:srgbClr val="99F6E4"/>
                </a:solidFill>
                <a:latin typeface="Calibri"/>
              </a:rPr>
              <a:t>UNIDAD IV · ANEXO DE CONSULTA · NO SE EXPONE</a:t>
            </a:r>
          </a:p>
          <a:p>
            <a:r>
              <a:rPr sz="4000" b="1" i="0">
                <a:solidFill>
                  <a:srgbClr val="FFFFFF"/>
                </a:solidFill>
                <a:latin typeface="Calibri"/>
              </a:rPr>
              <a:t>Anexo: Android en Unity 6</a:t>
            </a:r>
          </a:p>
          <a:p>
            <a:pPr>
              <a:spcBef>
                <a:spcPts val="600"/>
              </a:spcBef>
            </a:pPr>
            <a:r>
              <a:rPr sz="2000" b="0" i="0">
                <a:solidFill>
                  <a:srgbClr val="CBD5E1"/>
                </a:solidFill>
                <a:latin typeface="Calibri"/>
              </a:rPr>
              <a:t>Paso a paso con capturas de Unity 6000.3.11f1</a:t>
            </a:r>
          </a:p>
          <a:p>
            <a:pPr>
              <a:spcBef>
                <a:spcPts val="600"/>
              </a:spcBef>
            </a:pPr>
            <a:r>
              <a:rPr sz="2000" b="0" i="0">
                <a:solidFill>
                  <a:srgbClr val="CBD5E1"/>
                </a:solidFill>
                <a:latin typeface="Calibri"/>
              </a:rPr>
              <a:t>Para la tarea y la práctica en el teléfono</a:t>
            </a:r>
          </a:p>
        </p:txBody>
      </p:sp>
      <p:sp>
        <p:nvSpPr>
          <p:cNvPr id="4" name="TextBox 3"/>
          <p:cNvSpPr txBox="1"/>
          <p:nvPr/>
        </p:nvSpPr>
        <p:spPr>
          <a:xfrm>
            <a:off x="502920" y="6035040"/>
            <a:ext cx="11185855" cy="365760"/>
          </a:xfrm>
          <a:prstGeom prst="rect">
            <a:avLst/>
          </a:prstGeom>
          <a:noFill/>
        </p:spPr>
        <p:txBody>
          <a:bodyPr wrap="square" anchor="t" lIns="0" rIns="0" tIns="0" bIns="0">
            <a:spAutoFit/>
          </a:bodyPr>
          <a:lstStyle/>
          <a:p>
            <a:r>
              <a:rPr sz="1200" b="0" i="0">
                <a:solidFill>
                  <a:srgbClr val="CBD5E1"/>
                </a:solidFill>
                <a:latin typeface="Calibri"/>
              </a:rPr>
              <a:t>Unidad IV · Anexo de consulta · 55/74</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 PASO 1 · INSTALAR</a:t>
            </a:r>
          </a:p>
          <a:p>
            <a:r>
              <a:rPr sz="2600" b="1" i="0">
                <a:solidFill>
                  <a:srgbClr val="FFFFFF"/>
                </a:solidFill>
                <a:latin typeface="Calibri"/>
              </a:rPr>
              <a:t>Build Support y External Tools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Anexo · Anexo: Android en Unity 6</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56/74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Manual — Android environment setup</a:t>
            </a:r>
          </a:p>
        </p:txBody>
      </p:sp>
      <p:pic>
        <p:nvPicPr>
          <p:cNvPr id="9" name="Picture 8" descr="u4-external-tools.png"/>
          <p:cNvPicPr>
            <a:picLocks noChangeAspect="1"/>
          </p:cNvPicPr>
          <p:nvPr/>
        </p:nvPicPr>
        <p:blipFill>
          <a:blip r:embed="rId2"/>
          <a:stretch>
            <a:fillRect/>
          </a:stretch>
        </p:blipFill>
        <p:spPr>
          <a:xfrm>
            <a:off x="4739335" y="2473452"/>
            <a:ext cx="6949439" cy="1911095"/>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Edit &gt; Preferences &gt; External Tools &gt; Android (Unity 6000.3.11f1)</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2200" b="1" i="0">
                <a:solidFill>
                  <a:srgbClr val="0D9488"/>
                </a:solidFill>
                <a:latin typeface="Calibri"/>
              </a:rPr>
              <a:t>1  </a:t>
            </a:r>
            <a:r>
              <a:rPr sz="2200" b="0" i="0">
                <a:solidFill>
                  <a:srgbClr val="1F2937"/>
                </a:solidFill>
                <a:latin typeface="Calibri"/>
              </a:rPr>
              <a:t>Unity Hub &gt; Installs &gt; Add modules</a:t>
            </a:r>
          </a:p>
          <a:p>
            <a:pPr>
              <a:spcAft>
                <a:spcPts val="800"/>
              </a:spcAft>
            </a:pPr>
            <a:r>
              <a:rPr sz="2200" b="1" i="0">
                <a:solidFill>
                  <a:srgbClr val="0D9488"/>
                </a:solidFill>
                <a:latin typeface="Calibri"/>
              </a:rPr>
              <a:t>2  </a:t>
            </a:r>
            <a:r>
              <a:rPr sz="2200" b="0" i="0">
                <a:solidFill>
                  <a:srgbClr val="1F2937"/>
                </a:solidFill>
                <a:latin typeface="Calibri"/>
              </a:rPr>
              <a:t>Android Build Support (+ OpenJDK, SDK, NDK)</a:t>
            </a:r>
          </a:p>
          <a:p>
            <a:pPr>
              <a:spcAft>
                <a:spcPts val="800"/>
              </a:spcAft>
            </a:pPr>
            <a:r>
              <a:rPr sz="2200" b="1" i="0">
                <a:solidFill>
                  <a:srgbClr val="0D9488"/>
                </a:solidFill>
                <a:latin typeface="Calibri"/>
              </a:rPr>
              <a:t>3  </a:t>
            </a:r>
            <a:r>
              <a:rPr sz="2200" b="0" i="0">
                <a:solidFill>
                  <a:srgbClr val="1F2937"/>
                </a:solidFill>
                <a:latin typeface="Calibri"/>
              </a:rPr>
              <a:t>Edit &gt; Preferences &gt; External Tools</a:t>
            </a:r>
          </a:p>
          <a:p>
            <a:pPr>
              <a:spcAft>
                <a:spcPts val="800"/>
              </a:spcAft>
            </a:pPr>
            <a:r>
              <a:rPr sz="2200" b="1" i="0">
                <a:solidFill>
                  <a:srgbClr val="0D9488"/>
                </a:solidFill>
                <a:latin typeface="Calibri"/>
              </a:rPr>
              <a:t>4  </a:t>
            </a:r>
            <a:r>
              <a:rPr sz="2200" b="0" i="0">
                <a:solidFill>
                  <a:srgbClr val="1F2937"/>
                </a:solidFill>
                <a:latin typeface="Calibri"/>
              </a:rPr>
              <a:t>Android: las 4 casillas tildadas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 PASO 2 · TELÉFONO</a:t>
            </a:r>
          </a:p>
          <a:p>
            <a:r>
              <a:rPr sz="2600" b="1" i="0">
                <a:solidFill>
                  <a:srgbClr val="FFFFFF"/>
                </a:solidFill>
                <a:latin typeface="Calibri"/>
              </a:rPr>
              <a:t>El teléfono listo para probar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Anexo · Anexo: Android en Unity 6</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57/74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Android — Configure on-device developer options; Unity 6.3 Manual — Debug on Android devices</a:t>
            </a:r>
          </a:p>
        </p:txBody>
      </p:sp>
      <p:sp>
        <p:nvSpPr>
          <p:cNvPr id="9" name="Rounded Rectangle 8"/>
          <p:cNvSpPr/>
          <p:nvPr/>
        </p:nvSpPr>
        <p:spPr>
          <a:xfrm>
            <a:off x="7116775" y="1234441"/>
            <a:ext cx="4572000" cy="672998"/>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Número de compilación × 7</a:t>
            </a:r>
          </a:p>
        </p:txBody>
      </p:sp>
      <p:sp>
        <p:nvSpPr>
          <p:cNvPr id="10" name="Down Arrow 9"/>
          <p:cNvSpPr/>
          <p:nvPr/>
        </p:nvSpPr>
        <p:spPr>
          <a:xfrm>
            <a:off x="9201607" y="1944015"/>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116775" y="2254911"/>
            <a:ext cx="4572000" cy="672998"/>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Opciones de desarrollador</a:t>
            </a:r>
          </a:p>
        </p:txBody>
      </p:sp>
      <p:sp>
        <p:nvSpPr>
          <p:cNvPr id="12" name="Down Arrow 11"/>
          <p:cNvSpPr/>
          <p:nvPr/>
        </p:nvSpPr>
        <p:spPr>
          <a:xfrm>
            <a:off x="9201607" y="2964485"/>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116775" y="3275381"/>
            <a:ext cx="4572000" cy="672998"/>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Depuración USB</a:t>
            </a:r>
          </a:p>
        </p:txBody>
      </p:sp>
      <p:sp>
        <p:nvSpPr>
          <p:cNvPr id="14" name="Down Arrow 13"/>
          <p:cNvSpPr/>
          <p:nvPr/>
        </p:nvSpPr>
        <p:spPr>
          <a:xfrm>
            <a:off x="9201607" y="3984955"/>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116775" y="4295851"/>
            <a:ext cx="4572000" cy="672998"/>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Cable de datos + "¿Permitir depuración USB?"</a:t>
            </a:r>
          </a:p>
        </p:txBody>
      </p:sp>
      <p:sp>
        <p:nvSpPr>
          <p:cNvPr id="16" name="Down Arrow 15"/>
          <p:cNvSpPr/>
          <p:nvPr/>
        </p:nvSpPr>
        <p:spPr>
          <a:xfrm>
            <a:off x="9201607" y="5005425"/>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116775" y="5316321"/>
            <a:ext cx="4572000" cy="672998"/>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adb devices → device</a:t>
            </a:r>
          </a:p>
        </p:txBody>
      </p:sp>
      <p:sp>
        <p:nvSpPr>
          <p:cNvPr id="18" name="TextBox 17"/>
          <p:cNvSpPr txBox="1"/>
          <p:nvPr/>
        </p:nvSpPr>
        <p:spPr>
          <a:xfrm>
            <a:off x="502920" y="1234440"/>
            <a:ext cx="6339535" cy="4754880"/>
          </a:xfrm>
          <a:prstGeom prst="rect">
            <a:avLst/>
          </a:prstGeom>
          <a:noFill/>
        </p:spPr>
        <p:txBody>
          <a:bodyPr wrap="square" anchor="t" lIns="0" rIns="0" tIns="0" bIns="0">
            <a:spAutoFit/>
          </a:bodyPr>
          <a:lstStyle/>
          <a:p>
            <a:pPr>
              <a:spcAft>
                <a:spcPts val="800"/>
              </a:spcAft>
            </a:pPr>
            <a:r>
              <a:rPr sz="2200" b="1" i="0">
                <a:solidFill>
                  <a:srgbClr val="0D9488"/>
                </a:solidFill>
                <a:latin typeface="Calibri"/>
              </a:rPr>
              <a:t>1  </a:t>
            </a:r>
            <a:r>
              <a:rPr sz="2200" b="0" i="0">
                <a:solidFill>
                  <a:srgbClr val="1F2937"/>
                </a:solidFill>
                <a:latin typeface="Calibri"/>
              </a:rPr>
              <a:t>7 toques en "Número de compilación"</a:t>
            </a:r>
          </a:p>
          <a:p>
            <a:pPr>
              <a:spcAft>
                <a:spcPts val="800"/>
              </a:spcAft>
            </a:pPr>
            <a:r>
              <a:rPr sz="2200" b="1" i="0">
                <a:solidFill>
                  <a:srgbClr val="0D9488"/>
                </a:solidFill>
                <a:latin typeface="Calibri"/>
              </a:rPr>
              <a:t>2  </a:t>
            </a:r>
            <a:r>
              <a:rPr sz="2200" b="0" i="0">
                <a:solidFill>
                  <a:srgbClr val="1F2937"/>
                </a:solidFill>
                <a:latin typeface="Calibri"/>
              </a:rPr>
              <a:t>Opciones de desarrollador &gt; Depuración USB</a:t>
            </a:r>
          </a:p>
          <a:p>
            <a:pPr>
              <a:spcAft>
                <a:spcPts val="800"/>
              </a:spcAft>
            </a:pPr>
            <a:r>
              <a:rPr sz="2200" b="1" i="0">
                <a:solidFill>
                  <a:srgbClr val="0D9488"/>
                </a:solidFill>
                <a:latin typeface="Calibri"/>
              </a:rPr>
              <a:t>3  </a:t>
            </a:r>
            <a:r>
              <a:rPr sz="2200" b="0" i="0">
                <a:solidFill>
                  <a:srgbClr val="1F2937"/>
                </a:solidFill>
                <a:latin typeface="Calibri"/>
              </a:rPr>
              <a:t>Cable de datos y aceptar el diálogo</a:t>
            </a:r>
          </a:p>
          <a:p>
            <a:pPr>
              <a:spcAft>
                <a:spcPts val="800"/>
              </a:spcAft>
            </a:pPr>
            <a:r>
              <a:rPr sz="2200" b="1" i="0">
                <a:solidFill>
                  <a:srgbClr val="0D9488"/>
                </a:solidFill>
                <a:latin typeface="Calibri"/>
              </a:rPr>
              <a:t>4  </a:t>
            </a:r>
            <a:r>
              <a:rPr sz="2200" b="0" i="0">
                <a:solidFill>
                  <a:srgbClr val="1F2937"/>
                </a:solidFill>
                <a:latin typeface="Calibri"/>
              </a:rPr>
              <a:t>adb devices: tiene que decir "device"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 PASO 3 · SIMULAR</a:t>
            </a:r>
          </a:p>
          <a:p>
            <a:r>
              <a:rPr sz="2600" b="1" i="0">
                <a:solidFill>
                  <a:srgbClr val="FFFFFF"/>
                </a:solidFill>
                <a:latin typeface="Calibri"/>
              </a:rPr>
              <a:t>Device Simulator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Anexo · Anexo: Android en Unity 6</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58/74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Manual — Device Simulator introduction</a:t>
            </a:r>
          </a:p>
        </p:txBody>
      </p:sp>
      <p:pic>
        <p:nvPicPr>
          <p:cNvPr id="9" name="Picture 8" descr="u4-simulator-plegable.png"/>
          <p:cNvPicPr>
            <a:picLocks noChangeAspect="1"/>
          </p:cNvPicPr>
          <p:nvPr/>
        </p:nvPicPr>
        <p:blipFill>
          <a:blip r:embed="rId2"/>
          <a:stretch>
            <a:fillRect/>
          </a:stretch>
        </p:blipFill>
        <p:spPr>
          <a:xfrm>
            <a:off x="6935060" y="1234440"/>
            <a:ext cx="2557990" cy="4389120"/>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Simulator con el Foldable Device (960×2658)</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2200" b="1" i="0">
                <a:solidFill>
                  <a:srgbClr val="0D9488"/>
                </a:solidFill>
                <a:latin typeface="Calibri"/>
              </a:rPr>
              <a:t>1  </a:t>
            </a:r>
            <a:r>
              <a:rPr sz="2200" b="0" i="0">
                <a:solidFill>
                  <a:srgbClr val="1F2937"/>
                </a:solidFill>
                <a:latin typeface="Calibri"/>
              </a:rPr>
              <a:t>Abrir la escena Scenes/Game</a:t>
            </a:r>
          </a:p>
          <a:p>
            <a:pPr>
              <a:spcAft>
                <a:spcPts val="800"/>
              </a:spcAft>
            </a:pPr>
            <a:r>
              <a:rPr sz="2200" b="1" i="0">
                <a:solidFill>
                  <a:srgbClr val="0D9488"/>
                </a:solidFill>
                <a:latin typeface="Calibri"/>
              </a:rPr>
              <a:t>2  </a:t>
            </a:r>
            <a:r>
              <a:rPr sz="2200" b="0" i="0">
                <a:solidFill>
                  <a:srgbClr val="1F2937"/>
                </a:solidFill>
                <a:latin typeface="Calibri"/>
              </a:rPr>
              <a:t>Game → Simulator</a:t>
            </a:r>
          </a:p>
          <a:p>
            <a:pPr>
              <a:spcAft>
                <a:spcPts val="800"/>
              </a:spcAft>
            </a:pPr>
            <a:r>
              <a:rPr sz="2200" b="1" i="0">
                <a:solidFill>
                  <a:srgbClr val="0D9488"/>
                </a:solidFill>
                <a:latin typeface="Calibri"/>
              </a:rPr>
              <a:t>3  </a:t>
            </a:r>
            <a:r>
              <a:rPr sz="2200" b="0" i="0">
                <a:solidFill>
                  <a:srgbClr val="1F2937"/>
                </a:solidFill>
                <a:latin typeface="Calibri"/>
              </a:rPr>
              <a:t>Elegir el dispositivo</a:t>
            </a:r>
          </a:p>
          <a:p>
            <a:pPr>
              <a:spcAft>
                <a:spcPts val="800"/>
              </a:spcAft>
            </a:pPr>
            <a:r>
              <a:rPr sz="2200" b="1" i="0">
                <a:solidFill>
                  <a:srgbClr val="0D9488"/>
                </a:solidFill>
                <a:latin typeface="Calibri"/>
              </a:rPr>
              <a:t>4  </a:t>
            </a:r>
            <a:r>
              <a:rPr sz="2200" b="0" i="0">
                <a:solidFill>
                  <a:srgbClr val="1F2937"/>
                </a:solidFill>
                <a:latin typeface="Calibri"/>
              </a:rPr>
              <a:t>Play y rotar</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59</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 PASO 4 · PLATAFORMA</a:t>
            </a:r>
          </a:p>
          <a:p>
            <a:r>
              <a:rPr sz="2600" b="1" i="0">
                <a:solidFill>
                  <a:srgbClr val="FFFFFF"/>
                </a:solidFill>
                <a:latin typeface="Calibri"/>
              </a:rPr>
              <a:t>Build Profiles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Anexo · Anexo: Android en Unity 6</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59/74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Manual — Build your application for Android</a:t>
            </a:r>
          </a:p>
        </p:txBody>
      </p:sp>
      <p:pic>
        <p:nvPicPr>
          <p:cNvPr id="9" name="Picture 8" descr="u4-build-profiles-android.png"/>
          <p:cNvPicPr>
            <a:picLocks noChangeAspect="1"/>
          </p:cNvPicPr>
          <p:nvPr/>
        </p:nvPicPr>
        <p:blipFill>
          <a:blip r:embed="rId2"/>
          <a:stretch>
            <a:fillRect/>
          </a:stretch>
        </p:blipFill>
        <p:spPr>
          <a:xfrm>
            <a:off x="5640500" y="1234440"/>
            <a:ext cx="5147109" cy="2125980"/>
          </a:xfrm>
          <a:prstGeom prst="rect">
            <a:avLst/>
          </a:prstGeom>
          <a:ln w="12700">
            <a:solidFill>
              <a:srgbClr val="E5E7EB"/>
            </a:solidFill>
          </a:ln>
        </p:spPr>
      </p:pic>
      <p:pic>
        <p:nvPicPr>
          <p:cNvPr id="10" name="Picture 9" descr="u4-switch-platform.png"/>
          <p:cNvPicPr>
            <a:picLocks noChangeAspect="1"/>
          </p:cNvPicPr>
          <p:nvPr/>
        </p:nvPicPr>
        <p:blipFill>
          <a:blip r:embed="rId3"/>
          <a:stretch>
            <a:fillRect/>
          </a:stretch>
        </p:blipFill>
        <p:spPr>
          <a:xfrm>
            <a:off x="5986398" y="3497580"/>
            <a:ext cx="4455314" cy="2125980"/>
          </a:xfrm>
          <a:prstGeom prst="rect">
            <a:avLst/>
          </a:prstGeom>
          <a:ln w="12700">
            <a:solidFill>
              <a:srgbClr val="E5E7EB"/>
            </a:solidFill>
          </a:ln>
        </p:spPr>
      </p:pic>
      <p:sp>
        <p:nvSpPr>
          <p:cNvPr id="11" name="TextBox 10"/>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Build Profiles con el perfil Android activo y el botón Switch Platform</a:t>
            </a:r>
          </a:p>
        </p:txBody>
      </p:sp>
      <p:sp>
        <p:nvSpPr>
          <p:cNvPr id="12" name="TextBox 11"/>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2200" b="1" i="0">
                <a:solidFill>
                  <a:srgbClr val="0D9488"/>
                </a:solidFill>
                <a:latin typeface="Calibri"/>
              </a:rPr>
              <a:t>1  </a:t>
            </a:r>
            <a:r>
              <a:rPr sz="2200" b="0" i="0">
                <a:solidFill>
                  <a:srgbClr val="1F2937"/>
                </a:solidFill>
                <a:latin typeface="Calibri"/>
              </a:rPr>
              <a:t>File &gt; Build Profiles</a:t>
            </a:r>
          </a:p>
          <a:p>
            <a:pPr>
              <a:spcAft>
                <a:spcPts val="800"/>
              </a:spcAft>
            </a:pPr>
            <a:r>
              <a:rPr sz="2200" b="1" i="0">
                <a:solidFill>
                  <a:srgbClr val="0D9488"/>
                </a:solidFill>
                <a:latin typeface="Calibri"/>
              </a:rPr>
              <a:t>2  </a:t>
            </a:r>
            <a:r>
              <a:rPr sz="2200" b="0" i="0">
                <a:solidFill>
                  <a:srgbClr val="1F2937"/>
                </a:solidFill>
                <a:latin typeface="Calibri"/>
              </a:rPr>
              <a:t>Android → Switch Platform</a:t>
            </a:r>
          </a:p>
          <a:p>
            <a:pPr>
              <a:spcAft>
                <a:spcPts val="800"/>
              </a:spcAft>
            </a:pPr>
            <a:r>
              <a:rPr sz="2200" b="1" i="0">
                <a:solidFill>
                  <a:srgbClr val="0D9488"/>
                </a:solidFill>
                <a:latin typeface="Calibri"/>
              </a:rPr>
              <a:t>3  </a:t>
            </a:r>
            <a:r>
              <a:rPr sz="2200" b="0" i="0">
                <a:solidFill>
                  <a:srgbClr val="1F2937"/>
                </a:solidFill>
                <a:latin typeface="Calibri"/>
              </a:rPr>
              <a:t>Build App Bundle: destildado</a:t>
            </a:r>
          </a:p>
          <a:p>
            <a:pPr>
              <a:spcAft>
                <a:spcPts val="800"/>
              </a:spcAft>
            </a:pPr>
            <a:r>
              <a:rPr sz="2200" b="1" i="0">
                <a:solidFill>
                  <a:srgbClr val="0D9488"/>
                </a:solidFill>
                <a:latin typeface="Calibri"/>
              </a:rPr>
              <a:t>4  </a:t>
            </a:r>
            <a:r>
              <a:rPr sz="2200" b="0" i="0">
                <a:solidFill>
                  <a:srgbClr val="1F2937"/>
                </a:solidFill>
                <a:latin typeface="Calibri"/>
              </a:rPr>
              <a:t>Development Build: para el Profiler</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60</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 PASO 5 · CONFIGURAR</a:t>
            </a:r>
          </a:p>
          <a:p>
            <a:r>
              <a:rPr sz="2600" b="1" i="0">
                <a:solidFill>
                  <a:srgbClr val="FFFFFF"/>
                </a:solidFill>
                <a:latin typeface="Calibri"/>
              </a:rPr>
              <a:t>Player Settings: identidad y 64 bits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Anexo · Anexo: Android en Unity 6</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60/74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Manual — Android Player settings</a:t>
            </a:r>
          </a:p>
        </p:txBody>
      </p:sp>
      <p:pic>
        <p:nvPicPr>
          <p:cNvPr id="9" name="Picture 8" descr="u4-player-settings-android.png"/>
          <p:cNvPicPr>
            <a:picLocks noChangeAspect="1"/>
          </p:cNvPicPr>
          <p:nvPr/>
        </p:nvPicPr>
        <p:blipFill>
          <a:blip r:embed="rId2"/>
          <a:stretch>
            <a:fillRect/>
          </a:stretch>
        </p:blipFill>
        <p:spPr>
          <a:xfrm>
            <a:off x="4739335" y="2227646"/>
            <a:ext cx="6949440" cy="2402708"/>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Other Settings antes de cambiar: Mono y ARM64 en gris</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2200" b="1" i="0">
                <a:solidFill>
                  <a:srgbClr val="0D9488"/>
                </a:solidFill>
                <a:latin typeface="Calibri"/>
              </a:rPr>
              <a:t>1  </a:t>
            </a:r>
            <a:r>
              <a:rPr sz="2200" b="0" i="0">
                <a:solidFill>
                  <a:srgbClr val="1F2937"/>
                </a:solidFill>
                <a:latin typeface="Calibri"/>
              </a:rPr>
              <a:t>Edit &gt; Project Settings &gt; Player</a:t>
            </a:r>
          </a:p>
          <a:p>
            <a:pPr>
              <a:spcAft>
                <a:spcPts val="800"/>
              </a:spcAft>
            </a:pPr>
            <a:r>
              <a:rPr sz="2200" b="1" i="0">
                <a:solidFill>
                  <a:srgbClr val="0D9488"/>
                </a:solidFill>
                <a:latin typeface="Calibri"/>
              </a:rPr>
              <a:t>2  </a:t>
            </a:r>
            <a:r>
              <a:rPr sz="2200" b="0" i="0">
                <a:solidFill>
                  <a:srgbClr val="1F2937"/>
                </a:solidFill>
                <a:latin typeface="Calibri"/>
              </a:rPr>
              <a:t>Pestaña Android &gt; Other Settings</a:t>
            </a:r>
          </a:p>
          <a:p>
            <a:pPr>
              <a:spcAft>
                <a:spcPts val="800"/>
              </a:spcAft>
            </a:pPr>
            <a:r>
              <a:rPr sz="2200" b="1" i="0">
                <a:solidFill>
                  <a:srgbClr val="0D9488"/>
                </a:solidFill>
                <a:latin typeface="Calibri"/>
              </a:rPr>
              <a:t>3  </a:t>
            </a:r>
            <a:r>
              <a:rPr sz="2200" b="0" i="0">
                <a:solidFill>
                  <a:srgbClr val="1F2937"/>
                </a:solidFill>
                <a:latin typeface="Calibri"/>
              </a:rPr>
              <a:t>Scripting Backend: IL2CPP</a:t>
            </a:r>
          </a:p>
          <a:p>
            <a:pPr>
              <a:spcAft>
                <a:spcPts val="800"/>
              </a:spcAft>
            </a:pPr>
            <a:r>
              <a:rPr sz="2200" b="1" i="0">
                <a:solidFill>
                  <a:srgbClr val="0D9488"/>
                </a:solidFill>
                <a:latin typeface="Calibri"/>
              </a:rPr>
              <a:t>4  </a:t>
            </a:r>
            <a:r>
              <a:rPr sz="2200" b="0" i="0">
                <a:solidFill>
                  <a:srgbClr val="1F2937"/>
                </a:solidFill>
                <a:latin typeface="Calibri"/>
              </a:rPr>
              <a:t>Target Architectures: ARM64</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61</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 PASO 6 · PANTALLA</a:t>
            </a:r>
          </a:p>
          <a:p>
            <a:r>
              <a:rPr sz="2600" b="1" i="0">
                <a:solidFill>
                  <a:srgbClr val="FFFFFF"/>
                </a:solidFill>
                <a:latin typeface="Calibri"/>
              </a:rPr>
              <a:t>Player Settings: pantalla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Anexo · Anexo: Android en Unity 6</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61/74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Manual — Android Player settings; Unity 6.3 — Screen.safeArea</a:t>
            </a:r>
          </a:p>
        </p:txBody>
      </p:sp>
      <p:pic>
        <p:nvPicPr>
          <p:cNvPr id="9" name="Picture 8" descr="u4-resolution-presentation.png"/>
          <p:cNvPicPr>
            <a:picLocks noChangeAspect="1"/>
          </p:cNvPicPr>
          <p:nvPr/>
        </p:nvPicPr>
        <p:blipFill>
          <a:blip r:embed="rId2"/>
          <a:stretch>
            <a:fillRect/>
          </a:stretch>
        </p:blipFill>
        <p:spPr>
          <a:xfrm>
            <a:off x="5170105" y="1234440"/>
            <a:ext cx="6087899" cy="4389120"/>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Resolution and Presentation de Asteroides: Auto Rotation con las 4 orientaciones</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2200" b="1" i="0">
                <a:solidFill>
                  <a:srgbClr val="0D9488"/>
                </a:solidFill>
                <a:latin typeface="Calibri"/>
              </a:rPr>
              <a:t>1  </a:t>
            </a:r>
            <a:r>
              <a:rPr sz="2200" b="0" i="0">
                <a:solidFill>
                  <a:srgbClr val="1F2937"/>
                </a:solidFill>
                <a:latin typeface="Calibri"/>
              </a:rPr>
              <a:t>Resolution and Presentation</a:t>
            </a:r>
          </a:p>
          <a:p>
            <a:pPr>
              <a:spcAft>
                <a:spcPts val="800"/>
              </a:spcAft>
            </a:pPr>
            <a:r>
              <a:rPr sz="2200" b="1" i="0">
                <a:solidFill>
                  <a:srgbClr val="0D9488"/>
                </a:solidFill>
                <a:latin typeface="Calibri"/>
              </a:rPr>
              <a:t>2  </a:t>
            </a:r>
            <a:r>
              <a:rPr sz="2200" b="0" i="0">
                <a:solidFill>
                  <a:srgbClr val="1F2937"/>
                </a:solidFill>
                <a:latin typeface="Calibri"/>
              </a:rPr>
              <a:t>Default Orientation: la del esquema</a:t>
            </a:r>
          </a:p>
          <a:p>
            <a:pPr>
              <a:spcAft>
                <a:spcPts val="800"/>
              </a:spcAft>
            </a:pPr>
            <a:r>
              <a:rPr sz="2200" b="1" i="0">
                <a:solidFill>
                  <a:srgbClr val="0D9488"/>
                </a:solidFill>
                <a:latin typeface="Calibri"/>
              </a:rPr>
              <a:t>3  </a:t>
            </a:r>
            <a:r>
              <a:rPr sz="2200" b="0" i="0">
                <a:solidFill>
                  <a:srgbClr val="1F2937"/>
                </a:solidFill>
                <a:latin typeface="Calibri"/>
              </a:rPr>
              <a:t>Rotación: solo las permitidas</a:t>
            </a:r>
          </a:p>
          <a:p>
            <a:pPr>
              <a:spcAft>
                <a:spcPts val="800"/>
              </a:spcAft>
            </a:pPr>
            <a:r>
              <a:rPr sz="2200" b="1" i="0">
                <a:solidFill>
                  <a:srgbClr val="0D9488"/>
                </a:solidFill>
                <a:latin typeface="Calibri"/>
              </a:rPr>
              <a:t>4  </a:t>
            </a:r>
            <a:r>
              <a:rPr sz="2200" b="0" i="0">
                <a:solidFill>
                  <a:srgbClr val="1F2937"/>
                </a:solidFill>
                <a:latin typeface="Calibri"/>
              </a:rPr>
              <a:t>Icon: el ícono del juego</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 PASO 7 · INSTALAR</a:t>
            </a:r>
          </a:p>
          <a:p>
            <a:r>
              <a:rPr sz="2600" b="1" i="0">
                <a:solidFill>
                  <a:srgbClr val="FFFFFF"/>
                </a:solidFill>
                <a:latin typeface="Calibri"/>
              </a:rPr>
              <a:t>Build e instalación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Anexo · Anexo: Android en Unity 6</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62/74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Manual — Build your application for Android</a:t>
            </a:r>
          </a:p>
        </p:txBody>
      </p:sp>
      <p:pic>
        <p:nvPicPr>
          <p:cNvPr id="9" name="Picture 8" descr="u4-build-botones.png"/>
          <p:cNvPicPr>
            <a:picLocks noChangeAspect="1"/>
          </p:cNvPicPr>
          <p:nvPr/>
        </p:nvPicPr>
        <p:blipFill>
          <a:blip r:embed="rId2"/>
          <a:stretch>
            <a:fillRect/>
          </a:stretch>
        </p:blipFill>
        <p:spPr>
          <a:xfrm>
            <a:off x="4739335" y="3163034"/>
            <a:ext cx="6949440" cy="531932"/>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Abajo a la derecha de Build Profiles: Build (marcado) y Build And Run</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2200" b="1" i="0">
                <a:solidFill>
                  <a:srgbClr val="0D9488"/>
                </a:solidFill>
                <a:latin typeface="Calibri"/>
              </a:rPr>
              <a:t>1  </a:t>
            </a:r>
            <a:r>
              <a:rPr sz="2200" b="0" i="0">
                <a:solidFill>
                  <a:srgbClr val="1F2937"/>
                </a:solidFill>
                <a:latin typeface="Calibri"/>
              </a:rPr>
              <a:t>Build → Builds/AsteroideTest.apk</a:t>
            </a:r>
          </a:p>
          <a:p>
            <a:pPr>
              <a:spcAft>
                <a:spcPts val="800"/>
              </a:spcAft>
            </a:pPr>
            <a:r>
              <a:rPr sz="2200" b="1" i="0">
                <a:solidFill>
                  <a:srgbClr val="0D9488"/>
                </a:solidFill>
                <a:latin typeface="Calibri"/>
              </a:rPr>
              <a:t>2  </a:t>
            </a:r>
            <a:r>
              <a:rPr sz="2200" b="0" i="0">
                <a:solidFill>
                  <a:srgbClr val="1F2937"/>
                </a:solidFill>
                <a:latin typeface="Calibri"/>
              </a:rPr>
              <a:t>Copiar el .apk al teléfono y abrirlo</a:t>
            </a:r>
          </a:p>
          <a:p>
            <a:pPr>
              <a:spcAft>
                <a:spcPts val="800"/>
              </a:spcAft>
            </a:pPr>
            <a:r>
              <a:rPr sz="2200" b="1" i="0">
                <a:solidFill>
                  <a:srgbClr val="0D9488"/>
                </a:solidFill>
                <a:latin typeface="Calibri"/>
              </a:rPr>
              <a:t>3  </a:t>
            </a:r>
            <a:r>
              <a:rPr sz="2200" b="0" i="0">
                <a:solidFill>
                  <a:srgbClr val="1F2937"/>
                </a:solidFill>
                <a:latin typeface="Calibri"/>
              </a:rPr>
              <a:t>Aceptar "fuentes desconocidas"</a:t>
            </a:r>
          </a:p>
          <a:p>
            <a:pPr>
              <a:spcAft>
                <a:spcPts val="800"/>
              </a:spcAft>
            </a:pPr>
            <a:r>
              <a:rPr sz="2200" b="1" i="0">
                <a:solidFill>
                  <a:srgbClr val="0D9488"/>
                </a:solidFill>
                <a:latin typeface="Calibri"/>
              </a:rPr>
              <a:t>4  </a:t>
            </a:r>
            <a:r>
              <a:rPr sz="2200" b="0" i="0">
                <a:solidFill>
                  <a:srgbClr val="1F2937"/>
                </a:solidFill>
                <a:latin typeface="Calibri"/>
              </a:rPr>
              <a:t>Con cable: adb install -r</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 PASO 8 · CUANDO ALGO FALLA</a:t>
            </a:r>
          </a:p>
          <a:p>
            <a:r>
              <a:rPr sz="2600" b="1" i="0">
                <a:solidFill>
                  <a:srgbClr val="FFFFFF"/>
                </a:solidFill>
                <a:latin typeface="Calibri"/>
              </a:rPr>
              <a:t>Diagnóstico rápido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Anexo · Anexo: Android en Unity 6</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63/74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Manual — Android Player settings; Debug on Android devices</a:t>
            </a:r>
          </a:p>
        </p:txBody>
      </p:sp>
      <p:graphicFrame>
        <p:nvGraphicFramePr>
          <p:cNvPr id="9" name="Table 8"/>
          <p:cNvGraphicFramePr>
            <a:graphicFrameLocks noGrp="1"/>
          </p:cNvGraphicFramePr>
          <p:nvPr/>
        </p:nvGraphicFramePr>
        <p:xfrm>
          <a:off x="502920" y="1234440"/>
          <a:ext cx="11185854" cy="3968496"/>
        </p:xfrm>
        <a:graphic>
          <a:graphicData uri="http://schemas.openxmlformats.org/drawingml/2006/table">
            <a:tbl>
              <a:tblPr firstRow="1" bandRow="1">
                <a:tableStyleId>{5C22544A-7EE6-4342-B048-85BDC9FD1C3A}</a:tableStyleId>
              </a:tblPr>
              <a:tblGrid>
                <a:gridCol w="5655769"/>
                <a:gridCol w="5530085"/>
              </a:tblGrid>
              <a:tr h="566928">
                <a:tc>
                  <a:txBody>
                    <a:bodyPr wrap="square"/>
                    <a:lstStyle/>
                    <a:p>
                      <a:r>
                        <a:rPr sz="1200" b="1" i="0">
                          <a:solidFill>
                            <a:srgbClr val="FFFFFF"/>
                          </a:solidFill>
                          <a:latin typeface="Calibri"/>
                        </a:rPr>
                        <a:t>Síntoma</a:t>
                      </a:r>
                    </a:p>
                  </a:txBody>
                  <a:tcPr marL="73152" marR="73152" marT="36576" marB="36576" anchor="ctr">
                    <a:solidFill>
                      <a:srgbClr val="0D9488"/>
                    </a:solidFill>
                  </a:tcPr>
                </a:tc>
                <a:tc>
                  <a:txBody>
                    <a:bodyPr wrap="square"/>
                    <a:lstStyle/>
                    <a:p>
                      <a:r>
                        <a:rPr sz="1200" b="1" i="0">
                          <a:solidFill>
                            <a:srgbClr val="FFFFFF"/>
                          </a:solidFill>
                          <a:latin typeface="Calibri"/>
                        </a:rPr>
                        <a:t>Qué hacer</a:t>
                      </a:r>
                    </a:p>
                  </a:txBody>
                  <a:tcPr marL="73152" marR="73152" marT="36576" marB="36576" anchor="ctr">
                    <a:solidFill>
                      <a:srgbClr val="0D9488"/>
                    </a:solidFill>
                  </a:tcPr>
                </a:tc>
              </a:tr>
              <a:tr h="566928">
                <a:tc>
                  <a:txBody>
                    <a:bodyPr wrap="square"/>
                    <a:lstStyle/>
                    <a:p>
                      <a:r>
                        <a:rPr sz="1200" b="0" i="0">
                          <a:solidFill>
                            <a:srgbClr val="1F2937"/>
                          </a:solidFill>
                          <a:latin typeface="Calibri"/>
                        </a:rPr>
                        <a:t>"Unsupported Input Handling on Android"</a:t>
                      </a:r>
                    </a:p>
                  </a:txBody>
                  <a:tcPr marL="73152" marR="73152" marT="36576" marB="36576" anchor="ctr">
                    <a:solidFill>
                      <a:srgbClr val="FFFFFF"/>
                    </a:solidFill>
                  </a:tcPr>
                </a:tc>
                <a:tc>
                  <a:txBody>
                    <a:bodyPr wrap="square"/>
                    <a:lstStyle/>
                    <a:p>
                      <a:r>
                        <a:rPr sz="1200" b="0" i="0">
                          <a:solidFill>
                            <a:srgbClr val="1F2937"/>
                          </a:solidFill>
                          <a:latin typeface="Calibri"/>
                        </a:rPr>
                        <a:t>Ignore y registrarlo</a:t>
                      </a:r>
                    </a:p>
                  </a:txBody>
                  <a:tcPr marL="73152" marR="73152" marT="36576" marB="36576" anchor="ctr">
                    <a:solidFill>
                      <a:srgbClr val="FFFFFF"/>
                    </a:solidFill>
                  </a:tcPr>
                </a:tc>
              </a:tr>
              <a:tr h="566928">
                <a:tc>
                  <a:txBody>
                    <a:bodyPr wrap="square"/>
                    <a:lstStyle/>
                    <a:p>
                      <a:r>
                        <a:rPr sz="1200" b="0" i="0">
                          <a:solidFill>
                            <a:srgbClr val="1F2937"/>
                          </a:solidFill>
                          <a:latin typeface="Calibri"/>
                        </a:rPr>
                        <a:t>"No Android devices connected"</a:t>
                      </a:r>
                    </a:p>
                  </a:txBody>
                  <a:tcPr marL="73152" marR="73152" marT="36576" marB="36576" anchor="ctr">
                    <a:solidFill>
                      <a:srgbClr val="E6F4F2"/>
                    </a:solidFill>
                  </a:tcPr>
                </a:tc>
                <a:tc>
                  <a:txBody>
                    <a:bodyPr wrap="square"/>
                    <a:lstStyle/>
                    <a:p>
                      <a:r>
                        <a:rPr sz="1200" b="0" i="0">
                          <a:solidFill>
                            <a:srgbClr val="1F2937"/>
                          </a:solidFill>
                          <a:latin typeface="Calibri"/>
                        </a:rPr>
                        <a:t>Usar Build, o cable, diálogo y Refresh</a:t>
                      </a:r>
                    </a:p>
                  </a:txBody>
                  <a:tcPr marL="73152" marR="73152" marT="36576" marB="36576" anchor="ctr">
                    <a:solidFill>
                      <a:srgbClr val="E6F4F2"/>
                    </a:solidFill>
                  </a:tcPr>
                </a:tc>
              </a:tr>
              <a:tr h="566928">
                <a:tc>
                  <a:txBody>
                    <a:bodyPr wrap="square"/>
                    <a:lstStyle/>
                    <a:p>
                      <a:r>
                        <a:rPr sz="1200" b="0" i="0">
                          <a:solidFill>
                            <a:srgbClr val="1F2937"/>
                          </a:solidFill>
                          <a:latin typeface="Calibri"/>
                        </a:rPr>
                        <a:t>adb dice "unauthorized"</a:t>
                      </a:r>
                    </a:p>
                  </a:txBody>
                  <a:tcPr marL="73152" marR="73152" marT="36576" marB="36576" anchor="ctr">
                    <a:solidFill>
                      <a:srgbClr val="FFFFFF"/>
                    </a:solidFill>
                  </a:tcPr>
                </a:tc>
                <a:tc>
                  <a:txBody>
                    <a:bodyPr wrap="square"/>
                    <a:lstStyle/>
                    <a:p>
                      <a:r>
                        <a:rPr sz="1200" b="0" i="0">
                          <a:solidFill>
                            <a:srgbClr val="1F2937"/>
                          </a:solidFill>
                          <a:latin typeface="Calibri"/>
                        </a:rPr>
                        <a:t>Aceptar el diálogo en el teléfono</a:t>
                      </a:r>
                    </a:p>
                  </a:txBody>
                  <a:tcPr marL="73152" marR="73152" marT="36576" marB="36576" anchor="ctr">
                    <a:solidFill>
                      <a:srgbClr val="FFFFFF"/>
                    </a:solidFill>
                  </a:tcPr>
                </a:tc>
              </a:tr>
              <a:tr h="566928">
                <a:tc>
                  <a:txBody>
                    <a:bodyPr wrap="square"/>
                    <a:lstStyle/>
                    <a:p>
                      <a:r>
                        <a:rPr sz="1200" b="0" i="0">
                          <a:solidFill>
                            <a:srgbClr val="1F2937"/>
                          </a:solidFill>
                          <a:latin typeface="Calibri"/>
                        </a:rPr>
                        <a:t>No se instala o no abre</a:t>
                      </a:r>
                    </a:p>
                  </a:txBody>
                  <a:tcPr marL="73152" marR="73152" marT="36576" marB="36576" anchor="ctr">
                    <a:solidFill>
                      <a:srgbClr val="E6F4F2"/>
                    </a:solidFill>
                  </a:tcPr>
                </a:tc>
                <a:tc>
                  <a:txBody>
                    <a:bodyPr wrap="square"/>
                    <a:lstStyle/>
                    <a:p>
                      <a:r>
                        <a:rPr sz="1200" b="0" i="0">
                          <a:solidFill>
                            <a:srgbClr val="1F2937"/>
                          </a:solidFill>
                          <a:latin typeface="Calibri"/>
                        </a:rPr>
                        <a:t>IL2CPP + ARM64</a:t>
                      </a:r>
                    </a:p>
                  </a:txBody>
                  <a:tcPr marL="73152" marR="73152" marT="36576" marB="36576" anchor="ctr">
                    <a:solidFill>
                      <a:srgbClr val="E6F4F2"/>
                    </a:solidFill>
                  </a:tcPr>
                </a:tc>
              </a:tr>
              <a:tr h="566928">
                <a:tc>
                  <a:txBody>
                    <a:bodyPr wrap="square"/>
                    <a:lstStyle/>
                    <a:p>
                      <a:r>
                        <a:rPr sz="1200" b="0" i="0">
                          <a:solidFill>
                            <a:srgbClr val="1F2937"/>
                          </a:solidFill>
                          <a:latin typeface="Calibri"/>
                        </a:rPr>
                        <a:t>Ícono negro</a:t>
                      </a:r>
                    </a:p>
                  </a:txBody>
                  <a:tcPr marL="73152" marR="73152" marT="36576" marB="36576" anchor="ctr">
                    <a:solidFill>
                      <a:srgbClr val="FFFFFF"/>
                    </a:solidFill>
                  </a:tcPr>
                </a:tc>
                <a:tc>
                  <a:txBody>
                    <a:bodyPr wrap="square"/>
                    <a:lstStyle/>
                    <a:p>
                      <a:r>
                        <a:rPr sz="1200" b="0" i="0">
                          <a:solidFill>
                            <a:srgbClr val="1F2937"/>
                          </a:solidFill>
                          <a:latin typeface="Calibri"/>
                        </a:rPr>
                        <a:t>Revisar Default Icon</a:t>
                      </a:r>
                    </a:p>
                  </a:txBody>
                  <a:tcPr marL="73152" marR="73152" marT="36576" marB="36576" anchor="ctr">
                    <a:solidFill>
                      <a:srgbClr val="FFFFFF"/>
                    </a:solidFill>
                  </a:tcPr>
                </a:tc>
              </a:tr>
              <a:tr h="566928">
                <a:tc>
                  <a:txBody>
                    <a:bodyPr wrap="square"/>
                    <a:lstStyle/>
                    <a:p>
                      <a:r>
                        <a:rPr sz="1200" b="0" i="0">
                          <a:solidFill>
                            <a:srgbClr val="1F2937"/>
                          </a:solidFill>
                          <a:latin typeface="Calibri"/>
                        </a:rPr>
                        <a:t>Ver errores del juego</a:t>
                      </a:r>
                    </a:p>
                  </a:txBody>
                  <a:tcPr marL="73152" marR="73152" marT="36576" marB="36576" anchor="ctr">
                    <a:solidFill>
                      <a:srgbClr val="E6F4F2"/>
                    </a:solidFill>
                  </a:tcPr>
                </a:tc>
                <a:tc>
                  <a:txBody>
                    <a:bodyPr wrap="square"/>
                    <a:lstStyle/>
                    <a:p>
                      <a:r>
                        <a:rPr sz="1200" b="0" i="0">
                          <a:solidFill>
                            <a:srgbClr val="1F2937"/>
                          </a:solidFill>
                          <a:latin typeface="Calibri"/>
                        </a:rPr>
                        <a:t>adb logcat -s Unity</a:t>
                      </a:r>
                    </a:p>
                  </a:txBody>
                  <a:tcPr marL="73152" marR="73152" marT="36576" marB="36576" anchor="ctr">
                    <a:solidFill>
                      <a:srgbClr val="E6F4F2"/>
                    </a:solidFill>
                  </a:tcPr>
                </a:tc>
              </a:tr>
            </a:tbl>
          </a:graphicData>
        </a:graphic>
      </p:graphicFrame>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Rectangle 1"/>
          <p:cNvSpPr/>
          <p:nvPr/>
        </p:nvSpPr>
        <p:spPr>
          <a:xfrm>
            <a:off x="0" y="4754880"/>
            <a:ext cx="12191695" cy="508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0"/>
            <a:ext cx="11185855" cy="3291840"/>
          </a:xfrm>
          <a:prstGeom prst="rect">
            <a:avLst/>
          </a:prstGeom>
          <a:noFill/>
        </p:spPr>
        <p:txBody>
          <a:bodyPr wrap="square" anchor="b" lIns="0" rIns="0" tIns="0" bIns="0">
            <a:spAutoFit/>
          </a:bodyPr>
          <a:lstStyle/>
          <a:p>
            <a:r>
              <a:rPr sz="1400" b="1" i="0">
                <a:solidFill>
                  <a:srgbClr val="99F6E4"/>
                </a:solidFill>
                <a:latin typeface="Calibri"/>
              </a:rPr>
              <a:t>UNIDAD IV · ANEXO DE CONSULTA · DATOS DE MERCADO</a:t>
            </a:r>
          </a:p>
          <a:p>
            <a:r>
              <a:rPr sz="4000" b="1" i="0">
                <a:solidFill>
                  <a:srgbClr val="FFFFFF"/>
                </a:solidFill>
                <a:latin typeface="Calibri"/>
              </a:rPr>
              <a:t>Anexo: Los plataformeros más vendidos</a:t>
            </a:r>
          </a:p>
          <a:p>
            <a:pPr>
              <a:spcBef>
                <a:spcPts val="600"/>
              </a:spcBef>
            </a:pPr>
            <a:r>
              <a:rPr sz="2000" b="0" i="0">
                <a:solidFill>
                  <a:srgbClr val="CBD5E1"/>
                </a:solidFill>
                <a:latin typeface="Calibri"/>
              </a:rPr>
              <a:t>Franquicias y juegos según VGSales Wiki, con imagen de cada título</a:t>
            </a:r>
          </a:p>
          <a:p>
            <a:pPr>
              <a:spcBef>
                <a:spcPts val="600"/>
              </a:spcBef>
            </a:pPr>
            <a:r>
              <a:rPr sz="2000" b="0" i="0">
                <a:solidFill>
                  <a:srgbClr val="CBD5E1"/>
                </a:solidFill>
                <a:latin typeface="Calibri"/>
              </a:rPr>
              <a:t>Ventas estimadas en unidades · cierre con tablas comparativas</a:t>
            </a:r>
          </a:p>
        </p:txBody>
      </p:sp>
      <p:sp>
        <p:nvSpPr>
          <p:cNvPr id="4" name="TextBox 3"/>
          <p:cNvSpPr txBox="1"/>
          <p:nvPr/>
        </p:nvSpPr>
        <p:spPr>
          <a:xfrm>
            <a:off x="502920" y="6035040"/>
            <a:ext cx="11185855" cy="365760"/>
          </a:xfrm>
          <a:prstGeom prst="rect">
            <a:avLst/>
          </a:prstGeom>
          <a:noFill/>
        </p:spPr>
        <p:txBody>
          <a:bodyPr wrap="square" anchor="t" lIns="0" rIns="0" tIns="0" bIns="0">
            <a:spAutoFit/>
          </a:bodyPr>
          <a:lstStyle/>
          <a:p>
            <a:r>
              <a:rPr sz="1200" b="0" i="0">
                <a:solidFill>
                  <a:srgbClr val="CBD5E1"/>
                </a:solidFill>
                <a:latin typeface="Calibri"/>
              </a:rPr>
              <a:t>Unidad IV · Anexo de consulta · 66/74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 PLATAFORMEROS · FRANQUICIAS 1–12</a:t>
            </a:r>
          </a:p>
          <a:p>
            <a:r>
              <a:rPr sz="2600" b="1" i="0">
                <a:solidFill>
                  <a:srgbClr val="FFFFFF"/>
                </a:solidFill>
                <a:latin typeface="Calibri"/>
              </a:rPr>
              <a:t>Franquicias de plataformas más vendidas (1 de 2)</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Anexo · Los plataformeros más vendidos</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67/74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VGSales Wiki, «Best-selling platformers» (ventas estimadas, consulta 19/10/2026); imágenes: Wikipedia, uso educativo</a:t>
            </a:r>
          </a:p>
        </p:txBody>
      </p:sp>
      <p:sp>
        <p:nvSpPr>
          <p:cNvPr id="9" name="Rounded Rectangle 8"/>
          <p:cNvSpPr/>
          <p:nvPr/>
        </p:nvSpPr>
        <p:spPr>
          <a:xfrm>
            <a:off x="502920" y="1234440"/>
            <a:ext cx="1727149" cy="2318004"/>
          </a:xfrm>
          <a:prstGeom prst="roundRect">
            <a:avLst>
              <a:gd name="adj" fmla="val 6000"/>
            </a:avLst>
          </a:prstGeom>
          <a:solidFill>
            <a:srgbClr val="F3F4F6"/>
          </a:solidFill>
          <a:ln>
            <a:noFill/>
          </a:ln>
        </p:spPr>
        <p:txBody>
          <a:bodyPr rtlCol="0" anchor="ctr"/>
          <a:lstStyle/>
          <a:p>
            <a:pPr algn="ctr"/>
          </a:p>
        </p:txBody>
      </p:sp>
      <p:pic>
        <p:nvPicPr>
          <p:cNvPr id="10" name="Picture 9" descr="f01.png"/>
          <p:cNvPicPr>
            <a:picLocks noChangeAspect="1"/>
          </p:cNvPicPr>
          <p:nvPr/>
        </p:nvPicPr>
        <p:blipFill>
          <a:blip r:embed="rId2"/>
          <a:stretch>
            <a:fillRect/>
          </a:stretch>
        </p:blipFill>
        <p:spPr>
          <a:xfrm>
            <a:off x="576072" y="1742070"/>
            <a:ext cx="1580845" cy="246611"/>
          </a:xfrm>
          <a:prstGeom prst="rect">
            <a:avLst/>
          </a:prstGeom>
        </p:spPr>
      </p:pic>
      <p:sp>
        <p:nvSpPr>
          <p:cNvPr id="11" name="Oval 10"/>
          <p:cNvSpPr/>
          <p:nvPr/>
        </p:nvSpPr>
        <p:spPr>
          <a:xfrm>
            <a:off x="1809445" y="2478024"/>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1</a:t>
            </a:r>
          </a:p>
        </p:txBody>
      </p:sp>
      <p:sp>
        <p:nvSpPr>
          <p:cNvPr id="12" name="TextBox 11"/>
          <p:cNvSpPr txBox="1"/>
          <p:nvPr/>
        </p:nvSpPr>
        <p:spPr>
          <a:xfrm>
            <a:off x="576072" y="2496312"/>
            <a:ext cx="1178509" cy="365760"/>
          </a:xfrm>
          <a:prstGeom prst="rect">
            <a:avLst/>
          </a:prstGeom>
          <a:noFill/>
        </p:spPr>
        <p:txBody>
          <a:bodyPr wrap="square" anchor="t" lIns="0" rIns="0" tIns="0" bIns="0">
            <a:spAutoFit/>
          </a:bodyPr>
          <a:lstStyle/>
          <a:p>
            <a:pPr algn="l"/>
            <a:r>
              <a:rPr sz="1150" b="1">
                <a:solidFill>
                  <a:srgbClr val="1F2937"/>
                </a:solidFill>
                <a:latin typeface="Calibri"/>
              </a:rPr>
              <a:t>Mario (plataformas)</a:t>
            </a:r>
          </a:p>
        </p:txBody>
      </p:sp>
      <p:sp>
        <p:nvSpPr>
          <p:cNvPr id="13" name="TextBox 12"/>
          <p:cNvSpPr txBox="1"/>
          <p:nvPr/>
        </p:nvSpPr>
        <p:spPr>
          <a:xfrm>
            <a:off x="576072" y="2935224"/>
            <a:ext cx="1580845" cy="237744"/>
          </a:xfrm>
          <a:prstGeom prst="rect">
            <a:avLst/>
          </a:prstGeom>
          <a:noFill/>
        </p:spPr>
        <p:txBody>
          <a:bodyPr wrap="square" anchor="t" lIns="0" rIns="0" tIns="0" bIns="0">
            <a:spAutoFit/>
          </a:bodyPr>
          <a:lstStyle/>
          <a:p>
            <a:pPr algn="l"/>
            <a:r>
              <a:rPr sz="1500" b="1">
                <a:solidFill>
                  <a:srgbClr val="0D9488"/>
                </a:solidFill>
                <a:latin typeface="Calibri"/>
              </a:rPr>
              <a:t>491,1</a:t>
            </a:r>
            <a:r>
              <a:rPr sz="900" b="0">
                <a:solidFill>
                  <a:srgbClr val="6B7280"/>
                </a:solidFill>
                <a:latin typeface="Calibri"/>
              </a:rPr>
              <a:t> M de unidades</a:t>
            </a:r>
          </a:p>
        </p:txBody>
      </p:sp>
      <p:sp>
        <p:nvSpPr>
          <p:cNvPr id="14" name="TextBox 13"/>
          <p:cNvSpPr txBox="1"/>
          <p:nvPr/>
        </p:nvSpPr>
        <p:spPr>
          <a:xfrm>
            <a:off x="576072" y="3172968"/>
            <a:ext cx="1580845" cy="201168"/>
          </a:xfrm>
          <a:prstGeom prst="rect">
            <a:avLst/>
          </a:prstGeom>
          <a:noFill/>
        </p:spPr>
        <p:txBody>
          <a:bodyPr wrap="square" anchor="t" lIns="0" rIns="0" tIns="0" bIns="0">
            <a:spAutoFit/>
          </a:bodyPr>
          <a:lstStyle/>
          <a:p>
            <a:pPr algn="l"/>
            <a:r>
              <a:rPr sz="900" b="0">
                <a:solidFill>
                  <a:srgbClr val="6B7280"/>
                </a:solidFill>
                <a:latin typeface="Calibri"/>
              </a:rPr>
              <a:t>1981 · Arcade · Nintendo</a:t>
            </a:r>
          </a:p>
        </p:txBody>
      </p:sp>
      <p:sp>
        <p:nvSpPr>
          <p:cNvPr id="15" name="Rounded Rectangle 14"/>
          <p:cNvSpPr/>
          <p:nvPr/>
        </p:nvSpPr>
        <p:spPr>
          <a:xfrm>
            <a:off x="2394661" y="1234440"/>
            <a:ext cx="1727149" cy="2318004"/>
          </a:xfrm>
          <a:prstGeom prst="roundRect">
            <a:avLst>
              <a:gd name="adj" fmla="val 6000"/>
            </a:avLst>
          </a:prstGeom>
          <a:solidFill>
            <a:srgbClr val="F3F4F6"/>
          </a:solidFill>
          <a:ln>
            <a:noFill/>
          </a:ln>
        </p:spPr>
        <p:txBody>
          <a:bodyPr rtlCol="0" anchor="ctr"/>
          <a:lstStyle/>
          <a:p>
            <a:pPr algn="ctr"/>
          </a:p>
        </p:txBody>
      </p:sp>
      <p:pic>
        <p:nvPicPr>
          <p:cNvPr id="16" name="Picture 15" descr="f02.png"/>
          <p:cNvPicPr>
            <a:picLocks noChangeAspect="1"/>
          </p:cNvPicPr>
          <p:nvPr/>
        </p:nvPicPr>
        <p:blipFill>
          <a:blip r:embed="rId3"/>
          <a:stretch>
            <a:fillRect/>
          </a:stretch>
        </p:blipFill>
        <p:spPr>
          <a:xfrm>
            <a:off x="2467813" y="1558692"/>
            <a:ext cx="1580845" cy="613367"/>
          </a:xfrm>
          <a:prstGeom prst="rect">
            <a:avLst/>
          </a:prstGeom>
        </p:spPr>
      </p:pic>
      <p:sp>
        <p:nvSpPr>
          <p:cNvPr id="17" name="Oval 16"/>
          <p:cNvSpPr/>
          <p:nvPr/>
        </p:nvSpPr>
        <p:spPr>
          <a:xfrm>
            <a:off x="3701186" y="2478024"/>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2</a:t>
            </a:r>
          </a:p>
        </p:txBody>
      </p:sp>
      <p:sp>
        <p:nvSpPr>
          <p:cNvPr id="18" name="TextBox 17"/>
          <p:cNvSpPr txBox="1"/>
          <p:nvPr/>
        </p:nvSpPr>
        <p:spPr>
          <a:xfrm>
            <a:off x="2467813" y="2496312"/>
            <a:ext cx="1178509" cy="365760"/>
          </a:xfrm>
          <a:prstGeom prst="rect">
            <a:avLst/>
          </a:prstGeom>
          <a:noFill/>
        </p:spPr>
        <p:txBody>
          <a:bodyPr wrap="square" anchor="t" lIns="0" rIns="0" tIns="0" bIns="0">
            <a:spAutoFit/>
          </a:bodyPr>
          <a:lstStyle/>
          <a:p>
            <a:pPr algn="l"/>
            <a:r>
              <a:rPr sz="1150" b="1">
                <a:solidFill>
                  <a:srgbClr val="1F2937"/>
                </a:solidFill>
                <a:latin typeface="Calibri"/>
              </a:rPr>
              <a:t>Sonic (plataformas)</a:t>
            </a:r>
          </a:p>
        </p:txBody>
      </p:sp>
      <p:sp>
        <p:nvSpPr>
          <p:cNvPr id="19" name="TextBox 18"/>
          <p:cNvSpPr txBox="1"/>
          <p:nvPr/>
        </p:nvSpPr>
        <p:spPr>
          <a:xfrm>
            <a:off x="2467813" y="2935224"/>
            <a:ext cx="1580845" cy="237744"/>
          </a:xfrm>
          <a:prstGeom prst="rect">
            <a:avLst/>
          </a:prstGeom>
          <a:noFill/>
        </p:spPr>
        <p:txBody>
          <a:bodyPr wrap="square" anchor="t" lIns="0" rIns="0" tIns="0" bIns="0">
            <a:spAutoFit/>
          </a:bodyPr>
          <a:lstStyle/>
          <a:p>
            <a:pPr algn="l"/>
            <a:r>
              <a:rPr sz="1500" b="1">
                <a:solidFill>
                  <a:srgbClr val="0D9488"/>
                </a:solidFill>
                <a:latin typeface="Calibri"/>
              </a:rPr>
              <a:t>195,8</a:t>
            </a:r>
            <a:r>
              <a:rPr sz="900" b="0">
                <a:solidFill>
                  <a:srgbClr val="6B7280"/>
                </a:solidFill>
                <a:latin typeface="Calibri"/>
              </a:rPr>
              <a:t> M de unidades</a:t>
            </a:r>
          </a:p>
        </p:txBody>
      </p:sp>
      <p:sp>
        <p:nvSpPr>
          <p:cNvPr id="20" name="TextBox 19"/>
          <p:cNvSpPr txBox="1"/>
          <p:nvPr/>
        </p:nvSpPr>
        <p:spPr>
          <a:xfrm>
            <a:off x="2467813" y="3172968"/>
            <a:ext cx="1580845" cy="201168"/>
          </a:xfrm>
          <a:prstGeom prst="rect">
            <a:avLst/>
          </a:prstGeom>
          <a:noFill/>
        </p:spPr>
        <p:txBody>
          <a:bodyPr wrap="square" anchor="t" lIns="0" rIns="0" tIns="0" bIns="0">
            <a:spAutoFit/>
          </a:bodyPr>
          <a:lstStyle/>
          <a:p>
            <a:pPr algn="l"/>
            <a:r>
              <a:rPr sz="900" b="0">
                <a:solidFill>
                  <a:srgbClr val="6B7280"/>
                </a:solidFill>
                <a:latin typeface="Calibri"/>
              </a:rPr>
              <a:t>1991 · Mega Drive · Sega</a:t>
            </a:r>
          </a:p>
        </p:txBody>
      </p:sp>
      <p:sp>
        <p:nvSpPr>
          <p:cNvPr id="21" name="Rounded Rectangle 20"/>
          <p:cNvSpPr/>
          <p:nvPr/>
        </p:nvSpPr>
        <p:spPr>
          <a:xfrm>
            <a:off x="4286402" y="1234440"/>
            <a:ext cx="1727149" cy="2318004"/>
          </a:xfrm>
          <a:prstGeom prst="roundRect">
            <a:avLst>
              <a:gd name="adj" fmla="val 6000"/>
            </a:avLst>
          </a:prstGeom>
          <a:solidFill>
            <a:srgbClr val="F3F4F6"/>
          </a:solidFill>
          <a:ln>
            <a:noFill/>
          </a:ln>
        </p:spPr>
        <p:txBody>
          <a:bodyPr rtlCol="0" anchor="ctr"/>
          <a:lstStyle/>
          <a:p>
            <a:pPr algn="ctr"/>
          </a:p>
        </p:txBody>
      </p:sp>
      <p:pic>
        <p:nvPicPr>
          <p:cNvPr id="22" name="Picture 21" descr="f03.png"/>
          <p:cNvPicPr>
            <a:picLocks noChangeAspect="1"/>
          </p:cNvPicPr>
          <p:nvPr/>
        </p:nvPicPr>
        <p:blipFill>
          <a:blip r:embed="rId4"/>
          <a:stretch>
            <a:fillRect/>
          </a:stretch>
        </p:blipFill>
        <p:spPr>
          <a:xfrm>
            <a:off x="4359554" y="1663028"/>
            <a:ext cx="1580845" cy="404696"/>
          </a:xfrm>
          <a:prstGeom prst="rect">
            <a:avLst/>
          </a:prstGeom>
        </p:spPr>
      </p:pic>
      <p:sp>
        <p:nvSpPr>
          <p:cNvPr id="23" name="Oval 22"/>
          <p:cNvSpPr/>
          <p:nvPr/>
        </p:nvSpPr>
        <p:spPr>
          <a:xfrm>
            <a:off x="5592927" y="2478024"/>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3</a:t>
            </a:r>
          </a:p>
        </p:txBody>
      </p:sp>
      <p:sp>
        <p:nvSpPr>
          <p:cNvPr id="24" name="TextBox 23"/>
          <p:cNvSpPr txBox="1"/>
          <p:nvPr/>
        </p:nvSpPr>
        <p:spPr>
          <a:xfrm>
            <a:off x="4359554" y="2496312"/>
            <a:ext cx="1178509" cy="365760"/>
          </a:xfrm>
          <a:prstGeom prst="rect">
            <a:avLst/>
          </a:prstGeom>
          <a:noFill/>
        </p:spPr>
        <p:txBody>
          <a:bodyPr wrap="square" anchor="t" lIns="0" rIns="0" tIns="0" bIns="0">
            <a:spAutoFit/>
          </a:bodyPr>
          <a:lstStyle/>
          <a:p>
            <a:pPr algn="l"/>
            <a:r>
              <a:rPr sz="1150" b="1">
                <a:solidFill>
                  <a:srgbClr val="1F2937"/>
                </a:solidFill>
                <a:latin typeface="Calibri"/>
              </a:rPr>
              <a:t>Donkey Kong (plataformas)</a:t>
            </a:r>
          </a:p>
        </p:txBody>
      </p:sp>
      <p:sp>
        <p:nvSpPr>
          <p:cNvPr id="25" name="TextBox 24"/>
          <p:cNvSpPr txBox="1"/>
          <p:nvPr/>
        </p:nvSpPr>
        <p:spPr>
          <a:xfrm>
            <a:off x="4359554" y="2935224"/>
            <a:ext cx="1580845" cy="237744"/>
          </a:xfrm>
          <a:prstGeom prst="rect">
            <a:avLst/>
          </a:prstGeom>
          <a:noFill/>
        </p:spPr>
        <p:txBody>
          <a:bodyPr wrap="square" anchor="t" lIns="0" rIns="0" tIns="0" bIns="0">
            <a:spAutoFit/>
          </a:bodyPr>
          <a:lstStyle/>
          <a:p>
            <a:pPr algn="l"/>
            <a:r>
              <a:rPr sz="1500" b="1">
                <a:solidFill>
                  <a:srgbClr val="0D9488"/>
                </a:solidFill>
                <a:latin typeface="Calibri"/>
              </a:rPr>
              <a:t>104,4</a:t>
            </a:r>
            <a:r>
              <a:rPr sz="900" b="0">
                <a:solidFill>
                  <a:srgbClr val="6B7280"/>
                </a:solidFill>
                <a:latin typeface="Calibri"/>
              </a:rPr>
              <a:t> M de unidades</a:t>
            </a:r>
          </a:p>
        </p:txBody>
      </p:sp>
      <p:sp>
        <p:nvSpPr>
          <p:cNvPr id="26" name="TextBox 25"/>
          <p:cNvSpPr txBox="1"/>
          <p:nvPr/>
        </p:nvSpPr>
        <p:spPr>
          <a:xfrm>
            <a:off x="4359554" y="3172968"/>
            <a:ext cx="1580845" cy="201168"/>
          </a:xfrm>
          <a:prstGeom prst="rect">
            <a:avLst/>
          </a:prstGeom>
          <a:noFill/>
        </p:spPr>
        <p:txBody>
          <a:bodyPr wrap="square" anchor="t" lIns="0" rIns="0" tIns="0" bIns="0">
            <a:spAutoFit/>
          </a:bodyPr>
          <a:lstStyle/>
          <a:p>
            <a:pPr algn="l"/>
            <a:r>
              <a:rPr sz="900" b="0">
                <a:solidFill>
                  <a:srgbClr val="6B7280"/>
                </a:solidFill>
                <a:latin typeface="Calibri"/>
              </a:rPr>
              <a:t>1981 · Arcade · Nintendo</a:t>
            </a:r>
          </a:p>
        </p:txBody>
      </p:sp>
      <p:sp>
        <p:nvSpPr>
          <p:cNvPr id="27" name="Rounded Rectangle 26"/>
          <p:cNvSpPr/>
          <p:nvPr/>
        </p:nvSpPr>
        <p:spPr>
          <a:xfrm>
            <a:off x="6178143" y="1234440"/>
            <a:ext cx="1727149" cy="2318004"/>
          </a:xfrm>
          <a:prstGeom prst="roundRect">
            <a:avLst>
              <a:gd name="adj" fmla="val 6000"/>
            </a:avLst>
          </a:prstGeom>
          <a:solidFill>
            <a:srgbClr val="F3F4F6"/>
          </a:solidFill>
          <a:ln>
            <a:noFill/>
          </a:ln>
        </p:spPr>
        <p:txBody>
          <a:bodyPr rtlCol="0" anchor="ctr"/>
          <a:lstStyle/>
          <a:p>
            <a:pPr algn="ctr"/>
          </a:p>
        </p:txBody>
      </p:sp>
      <p:pic>
        <p:nvPicPr>
          <p:cNvPr id="28" name="Picture 27" descr="f04.png"/>
          <p:cNvPicPr>
            <a:picLocks noChangeAspect="1"/>
          </p:cNvPicPr>
          <p:nvPr/>
        </p:nvPicPr>
        <p:blipFill>
          <a:blip r:embed="rId5"/>
          <a:stretch>
            <a:fillRect/>
          </a:stretch>
        </p:blipFill>
        <p:spPr>
          <a:xfrm>
            <a:off x="6251295" y="1549207"/>
            <a:ext cx="1580845" cy="632338"/>
          </a:xfrm>
          <a:prstGeom prst="rect">
            <a:avLst/>
          </a:prstGeom>
        </p:spPr>
      </p:pic>
      <p:sp>
        <p:nvSpPr>
          <p:cNvPr id="29" name="Oval 28"/>
          <p:cNvSpPr/>
          <p:nvPr/>
        </p:nvSpPr>
        <p:spPr>
          <a:xfrm>
            <a:off x="7484668" y="2478024"/>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4</a:t>
            </a:r>
          </a:p>
        </p:txBody>
      </p:sp>
      <p:sp>
        <p:nvSpPr>
          <p:cNvPr id="30" name="TextBox 29"/>
          <p:cNvSpPr txBox="1"/>
          <p:nvPr/>
        </p:nvSpPr>
        <p:spPr>
          <a:xfrm>
            <a:off x="6251295" y="2496312"/>
            <a:ext cx="1178509" cy="365760"/>
          </a:xfrm>
          <a:prstGeom prst="rect">
            <a:avLst/>
          </a:prstGeom>
          <a:noFill/>
        </p:spPr>
        <p:txBody>
          <a:bodyPr wrap="square" anchor="t" lIns="0" rIns="0" tIns="0" bIns="0">
            <a:spAutoFit/>
          </a:bodyPr>
          <a:lstStyle/>
          <a:p>
            <a:pPr algn="l"/>
            <a:r>
              <a:rPr sz="1150" b="1">
                <a:solidFill>
                  <a:srgbClr val="1F2937"/>
                </a:solidFill>
                <a:latin typeface="Calibri"/>
              </a:rPr>
              <a:t>Crash Bandicoot</a:t>
            </a:r>
          </a:p>
        </p:txBody>
      </p:sp>
      <p:sp>
        <p:nvSpPr>
          <p:cNvPr id="31" name="TextBox 30"/>
          <p:cNvSpPr txBox="1"/>
          <p:nvPr/>
        </p:nvSpPr>
        <p:spPr>
          <a:xfrm>
            <a:off x="6251295" y="2935224"/>
            <a:ext cx="1580845" cy="237744"/>
          </a:xfrm>
          <a:prstGeom prst="rect">
            <a:avLst/>
          </a:prstGeom>
          <a:noFill/>
        </p:spPr>
        <p:txBody>
          <a:bodyPr wrap="square" anchor="t" lIns="0" rIns="0" tIns="0" bIns="0">
            <a:spAutoFit/>
          </a:bodyPr>
          <a:lstStyle/>
          <a:p>
            <a:pPr algn="l"/>
            <a:r>
              <a:rPr sz="1500" b="1">
                <a:solidFill>
                  <a:srgbClr val="0D9488"/>
                </a:solidFill>
                <a:latin typeface="Calibri"/>
              </a:rPr>
              <a:t>65,0</a:t>
            </a:r>
            <a:r>
              <a:rPr sz="900" b="0">
                <a:solidFill>
                  <a:srgbClr val="6B7280"/>
                </a:solidFill>
                <a:latin typeface="Calibri"/>
              </a:rPr>
              <a:t> M de unidades</a:t>
            </a:r>
          </a:p>
        </p:txBody>
      </p:sp>
      <p:sp>
        <p:nvSpPr>
          <p:cNvPr id="32" name="TextBox 31"/>
          <p:cNvSpPr txBox="1"/>
          <p:nvPr/>
        </p:nvSpPr>
        <p:spPr>
          <a:xfrm>
            <a:off x="6251295" y="3172968"/>
            <a:ext cx="1580845" cy="201168"/>
          </a:xfrm>
          <a:prstGeom prst="rect">
            <a:avLst/>
          </a:prstGeom>
          <a:noFill/>
        </p:spPr>
        <p:txBody>
          <a:bodyPr wrap="square" anchor="t" lIns="0" rIns="0" tIns="0" bIns="0">
            <a:spAutoFit/>
          </a:bodyPr>
          <a:lstStyle/>
          <a:p>
            <a:pPr algn="l"/>
            <a:r>
              <a:rPr sz="900" b="0">
                <a:solidFill>
                  <a:srgbClr val="6B7280"/>
                </a:solidFill>
                <a:latin typeface="Calibri"/>
              </a:rPr>
              <a:t>1996 · PS1 · Activision</a:t>
            </a:r>
          </a:p>
        </p:txBody>
      </p:sp>
      <p:sp>
        <p:nvSpPr>
          <p:cNvPr id="33" name="Rounded Rectangle 32"/>
          <p:cNvSpPr/>
          <p:nvPr/>
        </p:nvSpPr>
        <p:spPr>
          <a:xfrm>
            <a:off x="8069884" y="1234440"/>
            <a:ext cx="1727149" cy="2318004"/>
          </a:xfrm>
          <a:prstGeom prst="roundRect">
            <a:avLst>
              <a:gd name="adj" fmla="val 6000"/>
            </a:avLst>
          </a:prstGeom>
          <a:solidFill>
            <a:srgbClr val="F3F4F6"/>
          </a:solidFill>
          <a:ln>
            <a:noFill/>
          </a:ln>
        </p:spPr>
        <p:txBody>
          <a:bodyPr rtlCol="0" anchor="ctr"/>
          <a:lstStyle/>
          <a:p>
            <a:pPr algn="ctr"/>
          </a:p>
        </p:txBody>
      </p:sp>
      <p:pic>
        <p:nvPicPr>
          <p:cNvPr id="34" name="Picture 33" descr="f05.png"/>
          <p:cNvPicPr>
            <a:picLocks noChangeAspect="1"/>
          </p:cNvPicPr>
          <p:nvPr/>
        </p:nvPicPr>
        <p:blipFill>
          <a:blip r:embed="rId6"/>
          <a:stretch>
            <a:fillRect/>
          </a:stretch>
        </p:blipFill>
        <p:spPr>
          <a:xfrm>
            <a:off x="8143036" y="1421159"/>
            <a:ext cx="1580845" cy="888434"/>
          </a:xfrm>
          <a:prstGeom prst="rect">
            <a:avLst/>
          </a:prstGeom>
        </p:spPr>
      </p:pic>
      <p:sp>
        <p:nvSpPr>
          <p:cNvPr id="35" name="Oval 34"/>
          <p:cNvSpPr/>
          <p:nvPr/>
        </p:nvSpPr>
        <p:spPr>
          <a:xfrm>
            <a:off x="9376409" y="2478024"/>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5</a:t>
            </a:r>
          </a:p>
        </p:txBody>
      </p:sp>
      <p:sp>
        <p:nvSpPr>
          <p:cNvPr id="36" name="TextBox 35"/>
          <p:cNvSpPr txBox="1"/>
          <p:nvPr/>
        </p:nvSpPr>
        <p:spPr>
          <a:xfrm>
            <a:off x="8143036" y="2496312"/>
            <a:ext cx="1178509" cy="365760"/>
          </a:xfrm>
          <a:prstGeom prst="rect">
            <a:avLst/>
          </a:prstGeom>
          <a:noFill/>
        </p:spPr>
        <p:txBody>
          <a:bodyPr wrap="square" anchor="t" lIns="0" rIns="0" tIns="0" bIns="0">
            <a:spAutoFit/>
          </a:bodyPr>
          <a:lstStyle/>
          <a:p>
            <a:pPr algn="l"/>
            <a:r>
              <a:rPr sz="1150" b="1">
                <a:solidFill>
                  <a:srgbClr val="1F2937"/>
                </a:solidFill>
                <a:latin typeface="Calibri"/>
              </a:rPr>
              <a:t>Kirby</a:t>
            </a:r>
          </a:p>
        </p:txBody>
      </p:sp>
      <p:sp>
        <p:nvSpPr>
          <p:cNvPr id="37" name="TextBox 36"/>
          <p:cNvSpPr txBox="1"/>
          <p:nvPr/>
        </p:nvSpPr>
        <p:spPr>
          <a:xfrm>
            <a:off x="8143036" y="2935224"/>
            <a:ext cx="1580845" cy="237744"/>
          </a:xfrm>
          <a:prstGeom prst="rect">
            <a:avLst/>
          </a:prstGeom>
          <a:noFill/>
        </p:spPr>
        <p:txBody>
          <a:bodyPr wrap="square" anchor="t" lIns="0" rIns="0" tIns="0" bIns="0">
            <a:spAutoFit/>
          </a:bodyPr>
          <a:lstStyle/>
          <a:p>
            <a:pPr algn="l"/>
            <a:r>
              <a:rPr sz="1500" b="1">
                <a:solidFill>
                  <a:srgbClr val="0D9488"/>
                </a:solidFill>
                <a:latin typeface="Calibri"/>
              </a:rPr>
              <a:t>62,0</a:t>
            </a:r>
            <a:r>
              <a:rPr sz="900" b="0">
                <a:solidFill>
                  <a:srgbClr val="6B7280"/>
                </a:solidFill>
                <a:latin typeface="Calibri"/>
              </a:rPr>
              <a:t> M de unidades</a:t>
            </a:r>
          </a:p>
        </p:txBody>
      </p:sp>
      <p:sp>
        <p:nvSpPr>
          <p:cNvPr id="38" name="TextBox 37"/>
          <p:cNvSpPr txBox="1"/>
          <p:nvPr/>
        </p:nvSpPr>
        <p:spPr>
          <a:xfrm>
            <a:off x="8143036" y="3172968"/>
            <a:ext cx="1580845" cy="201168"/>
          </a:xfrm>
          <a:prstGeom prst="rect">
            <a:avLst/>
          </a:prstGeom>
          <a:noFill/>
        </p:spPr>
        <p:txBody>
          <a:bodyPr wrap="square" anchor="t" lIns="0" rIns="0" tIns="0" bIns="0">
            <a:spAutoFit/>
          </a:bodyPr>
          <a:lstStyle/>
          <a:p>
            <a:pPr algn="l"/>
            <a:r>
              <a:rPr sz="900" b="0">
                <a:solidFill>
                  <a:srgbClr val="6B7280"/>
                </a:solidFill>
                <a:latin typeface="Calibri"/>
              </a:rPr>
              <a:t>1992 · Game Boy · Nintendo</a:t>
            </a:r>
          </a:p>
        </p:txBody>
      </p:sp>
      <p:sp>
        <p:nvSpPr>
          <p:cNvPr id="39" name="Rounded Rectangle 38"/>
          <p:cNvSpPr/>
          <p:nvPr/>
        </p:nvSpPr>
        <p:spPr>
          <a:xfrm>
            <a:off x="9961625" y="1234440"/>
            <a:ext cx="1727149" cy="2318004"/>
          </a:xfrm>
          <a:prstGeom prst="roundRect">
            <a:avLst>
              <a:gd name="adj" fmla="val 6000"/>
            </a:avLst>
          </a:prstGeom>
          <a:solidFill>
            <a:srgbClr val="F3F4F6"/>
          </a:solidFill>
          <a:ln>
            <a:noFill/>
          </a:ln>
        </p:spPr>
        <p:txBody>
          <a:bodyPr rtlCol="0" anchor="ctr"/>
          <a:lstStyle/>
          <a:p>
            <a:pPr algn="ctr"/>
          </a:p>
        </p:txBody>
      </p:sp>
      <p:pic>
        <p:nvPicPr>
          <p:cNvPr id="40" name="Picture 39" descr="f06.png"/>
          <p:cNvPicPr>
            <a:picLocks noChangeAspect="1"/>
          </p:cNvPicPr>
          <p:nvPr/>
        </p:nvPicPr>
        <p:blipFill>
          <a:blip r:embed="rId7"/>
          <a:stretch>
            <a:fillRect/>
          </a:stretch>
        </p:blipFill>
        <p:spPr>
          <a:xfrm>
            <a:off x="10034777" y="1710453"/>
            <a:ext cx="1580845" cy="309845"/>
          </a:xfrm>
          <a:prstGeom prst="rect">
            <a:avLst/>
          </a:prstGeom>
        </p:spPr>
      </p:pic>
      <p:sp>
        <p:nvSpPr>
          <p:cNvPr id="41" name="Oval 40"/>
          <p:cNvSpPr/>
          <p:nvPr/>
        </p:nvSpPr>
        <p:spPr>
          <a:xfrm>
            <a:off x="11268150" y="2478024"/>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6</a:t>
            </a:r>
          </a:p>
        </p:txBody>
      </p:sp>
      <p:sp>
        <p:nvSpPr>
          <p:cNvPr id="42" name="TextBox 41"/>
          <p:cNvSpPr txBox="1"/>
          <p:nvPr/>
        </p:nvSpPr>
        <p:spPr>
          <a:xfrm>
            <a:off x="10034777" y="2496312"/>
            <a:ext cx="1178509" cy="365760"/>
          </a:xfrm>
          <a:prstGeom prst="rect">
            <a:avLst/>
          </a:prstGeom>
          <a:noFill/>
        </p:spPr>
        <p:txBody>
          <a:bodyPr wrap="square" anchor="t" lIns="0" rIns="0" tIns="0" bIns="0">
            <a:spAutoFit/>
          </a:bodyPr>
          <a:lstStyle/>
          <a:p>
            <a:pPr algn="l"/>
            <a:r>
              <a:rPr sz="1150" b="1">
                <a:solidFill>
                  <a:srgbClr val="1F2937"/>
                </a:solidFill>
                <a:latin typeface="Calibri"/>
              </a:rPr>
              <a:t>Mega Man</a:t>
            </a:r>
          </a:p>
        </p:txBody>
      </p:sp>
      <p:sp>
        <p:nvSpPr>
          <p:cNvPr id="43" name="TextBox 42"/>
          <p:cNvSpPr txBox="1"/>
          <p:nvPr/>
        </p:nvSpPr>
        <p:spPr>
          <a:xfrm>
            <a:off x="10034777" y="2935224"/>
            <a:ext cx="1580845" cy="237744"/>
          </a:xfrm>
          <a:prstGeom prst="rect">
            <a:avLst/>
          </a:prstGeom>
          <a:noFill/>
        </p:spPr>
        <p:txBody>
          <a:bodyPr wrap="square" anchor="t" lIns="0" rIns="0" tIns="0" bIns="0">
            <a:spAutoFit/>
          </a:bodyPr>
          <a:lstStyle/>
          <a:p>
            <a:pPr algn="l"/>
            <a:r>
              <a:rPr sz="1500" b="1">
                <a:solidFill>
                  <a:srgbClr val="0D9488"/>
                </a:solidFill>
                <a:latin typeface="Calibri"/>
              </a:rPr>
              <a:t>43,0</a:t>
            </a:r>
            <a:r>
              <a:rPr sz="900" b="0">
                <a:solidFill>
                  <a:srgbClr val="6B7280"/>
                </a:solidFill>
                <a:latin typeface="Calibri"/>
              </a:rPr>
              <a:t> M de unidades</a:t>
            </a:r>
          </a:p>
        </p:txBody>
      </p:sp>
      <p:sp>
        <p:nvSpPr>
          <p:cNvPr id="44" name="TextBox 43"/>
          <p:cNvSpPr txBox="1"/>
          <p:nvPr/>
        </p:nvSpPr>
        <p:spPr>
          <a:xfrm>
            <a:off x="10034777" y="3172968"/>
            <a:ext cx="1580845" cy="201168"/>
          </a:xfrm>
          <a:prstGeom prst="rect">
            <a:avLst/>
          </a:prstGeom>
          <a:noFill/>
        </p:spPr>
        <p:txBody>
          <a:bodyPr wrap="square" anchor="t" lIns="0" rIns="0" tIns="0" bIns="0">
            <a:spAutoFit/>
          </a:bodyPr>
          <a:lstStyle/>
          <a:p>
            <a:pPr algn="l"/>
            <a:r>
              <a:rPr sz="900" b="0">
                <a:solidFill>
                  <a:srgbClr val="6B7280"/>
                </a:solidFill>
                <a:latin typeface="Calibri"/>
              </a:rPr>
              <a:t>1987 · NES · Capcom</a:t>
            </a:r>
          </a:p>
        </p:txBody>
      </p:sp>
      <p:sp>
        <p:nvSpPr>
          <p:cNvPr id="45" name="Rounded Rectangle 44"/>
          <p:cNvSpPr/>
          <p:nvPr/>
        </p:nvSpPr>
        <p:spPr>
          <a:xfrm>
            <a:off x="502920" y="3717036"/>
            <a:ext cx="1727149" cy="2318004"/>
          </a:xfrm>
          <a:prstGeom prst="roundRect">
            <a:avLst>
              <a:gd name="adj" fmla="val 6000"/>
            </a:avLst>
          </a:prstGeom>
          <a:solidFill>
            <a:srgbClr val="F3F4F6"/>
          </a:solidFill>
          <a:ln>
            <a:noFill/>
          </a:ln>
        </p:spPr>
        <p:txBody>
          <a:bodyPr rtlCol="0" anchor="ctr"/>
          <a:lstStyle/>
          <a:p>
            <a:pPr algn="ctr"/>
          </a:p>
        </p:txBody>
      </p:sp>
      <p:pic>
        <p:nvPicPr>
          <p:cNvPr id="46" name="Picture 45" descr="f07.png"/>
          <p:cNvPicPr>
            <a:picLocks noChangeAspect="1"/>
          </p:cNvPicPr>
          <p:nvPr/>
        </p:nvPicPr>
        <p:blipFill>
          <a:blip r:embed="rId8"/>
          <a:stretch>
            <a:fillRect/>
          </a:stretch>
        </p:blipFill>
        <p:spPr>
          <a:xfrm>
            <a:off x="576072" y="3991441"/>
            <a:ext cx="1580845" cy="713062"/>
          </a:xfrm>
          <a:prstGeom prst="rect">
            <a:avLst/>
          </a:prstGeom>
        </p:spPr>
      </p:pic>
      <p:sp>
        <p:nvSpPr>
          <p:cNvPr id="47" name="Oval 46"/>
          <p:cNvSpPr/>
          <p:nvPr/>
        </p:nvSpPr>
        <p:spPr>
          <a:xfrm>
            <a:off x="1809445" y="4960620"/>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7</a:t>
            </a:r>
          </a:p>
        </p:txBody>
      </p:sp>
      <p:sp>
        <p:nvSpPr>
          <p:cNvPr id="48" name="TextBox 47"/>
          <p:cNvSpPr txBox="1"/>
          <p:nvPr/>
        </p:nvSpPr>
        <p:spPr>
          <a:xfrm>
            <a:off x="576072" y="4978908"/>
            <a:ext cx="1178509" cy="365760"/>
          </a:xfrm>
          <a:prstGeom prst="rect">
            <a:avLst/>
          </a:prstGeom>
          <a:noFill/>
        </p:spPr>
        <p:txBody>
          <a:bodyPr wrap="square" anchor="t" lIns="0" rIns="0" tIns="0" bIns="0">
            <a:spAutoFit/>
          </a:bodyPr>
          <a:lstStyle/>
          <a:p>
            <a:pPr algn="l"/>
            <a:r>
              <a:rPr sz="1150" b="1">
                <a:solidFill>
                  <a:srgbClr val="1F2937"/>
                </a:solidFill>
                <a:latin typeface="Calibri"/>
              </a:rPr>
              <a:t>Ratchet &amp; Clank</a:t>
            </a:r>
          </a:p>
        </p:txBody>
      </p:sp>
      <p:sp>
        <p:nvSpPr>
          <p:cNvPr id="49" name="TextBox 48"/>
          <p:cNvSpPr txBox="1"/>
          <p:nvPr/>
        </p:nvSpPr>
        <p:spPr>
          <a:xfrm>
            <a:off x="576072" y="5417820"/>
            <a:ext cx="1580845" cy="237744"/>
          </a:xfrm>
          <a:prstGeom prst="rect">
            <a:avLst/>
          </a:prstGeom>
          <a:noFill/>
        </p:spPr>
        <p:txBody>
          <a:bodyPr wrap="square" anchor="t" lIns="0" rIns="0" tIns="0" bIns="0">
            <a:spAutoFit/>
          </a:bodyPr>
          <a:lstStyle/>
          <a:p>
            <a:pPr algn="l"/>
            <a:r>
              <a:rPr sz="1500" b="1">
                <a:solidFill>
                  <a:srgbClr val="0D9488"/>
                </a:solidFill>
                <a:latin typeface="Calibri"/>
              </a:rPr>
              <a:t>40,7</a:t>
            </a:r>
            <a:r>
              <a:rPr sz="900" b="0">
                <a:solidFill>
                  <a:srgbClr val="6B7280"/>
                </a:solidFill>
                <a:latin typeface="Calibri"/>
              </a:rPr>
              <a:t> M de unidades</a:t>
            </a:r>
          </a:p>
        </p:txBody>
      </p:sp>
      <p:sp>
        <p:nvSpPr>
          <p:cNvPr id="50" name="TextBox 49"/>
          <p:cNvSpPr txBox="1"/>
          <p:nvPr/>
        </p:nvSpPr>
        <p:spPr>
          <a:xfrm>
            <a:off x="576072" y="5655564"/>
            <a:ext cx="1580845" cy="201168"/>
          </a:xfrm>
          <a:prstGeom prst="rect">
            <a:avLst/>
          </a:prstGeom>
          <a:noFill/>
        </p:spPr>
        <p:txBody>
          <a:bodyPr wrap="square" anchor="t" lIns="0" rIns="0" tIns="0" bIns="0">
            <a:spAutoFit/>
          </a:bodyPr>
          <a:lstStyle/>
          <a:p>
            <a:pPr algn="l"/>
            <a:r>
              <a:rPr sz="900" b="0">
                <a:solidFill>
                  <a:srgbClr val="6B7280"/>
                </a:solidFill>
                <a:latin typeface="Calibri"/>
              </a:rPr>
              <a:t>2002 · PS2 · Sony</a:t>
            </a:r>
          </a:p>
        </p:txBody>
      </p:sp>
      <p:sp>
        <p:nvSpPr>
          <p:cNvPr id="51" name="Rounded Rectangle 50"/>
          <p:cNvSpPr/>
          <p:nvPr/>
        </p:nvSpPr>
        <p:spPr>
          <a:xfrm>
            <a:off x="2394661" y="3717036"/>
            <a:ext cx="1727149" cy="2318004"/>
          </a:xfrm>
          <a:prstGeom prst="roundRect">
            <a:avLst>
              <a:gd name="adj" fmla="val 6000"/>
            </a:avLst>
          </a:prstGeom>
          <a:solidFill>
            <a:srgbClr val="F3F4F6"/>
          </a:solidFill>
          <a:ln>
            <a:noFill/>
          </a:ln>
        </p:spPr>
        <p:txBody>
          <a:bodyPr rtlCol="0" anchor="ctr"/>
          <a:lstStyle/>
          <a:p>
            <a:pPr algn="ctr"/>
          </a:p>
        </p:txBody>
      </p:sp>
      <p:pic>
        <p:nvPicPr>
          <p:cNvPr id="52" name="Picture 51" descr="f08.png"/>
          <p:cNvPicPr>
            <a:picLocks noChangeAspect="1"/>
          </p:cNvPicPr>
          <p:nvPr/>
        </p:nvPicPr>
        <p:blipFill>
          <a:blip r:embed="rId9"/>
          <a:stretch>
            <a:fillRect/>
          </a:stretch>
        </p:blipFill>
        <p:spPr>
          <a:xfrm>
            <a:off x="2467813" y="3903007"/>
            <a:ext cx="1580845" cy="889929"/>
          </a:xfrm>
          <a:prstGeom prst="rect">
            <a:avLst/>
          </a:prstGeom>
        </p:spPr>
      </p:pic>
      <p:sp>
        <p:nvSpPr>
          <p:cNvPr id="53" name="Oval 52"/>
          <p:cNvSpPr/>
          <p:nvPr/>
        </p:nvSpPr>
        <p:spPr>
          <a:xfrm>
            <a:off x="3701186" y="4960620"/>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8</a:t>
            </a:r>
          </a:p>
        </p:txBody>
      </p:sp>
      <p:sp>
        <p:nvSpPr>
          <p:cNvPr id="54" name="TextBox 53"/>
          <p:cNvSpPr txBox="1"/>
          <p:nvPr/>
        </p:nvSpPr>
        <p:spPr>
          <a:xfrm>
            <a:off x="2467813" y="4978908"/>
            <a:ext cx="1178509" cy="365760"/>
          </a:xfrm>
          <a:prstGeom prst="rect">
            <a:avLst/>
          </a:prstGeom>
          <a:noFill/>
        </p:spPr>
        <p:txBody>
          <a:bodyPr wrap="square" anchor="t" lIns="0" rIns="0" tIns="0" bIns="0">
            <a:spAutoFit/>
          </a:bodyPr>
          <a:lstStyle/>
          <a:p>
            <a:pPr algn="l"/>
            <a:r>
              <a:rPr sz="1150" b="1">
                <a:solidFill>
                  <a:srgbClr val="1F2937"/>
                </a:solidFill>
                <a:latin typeface="Calibri"/>
              </a:rPr>
              <a:t>Tomb Raider (plataformas)</a:t>
            </a:r>
          </a:p>
        </p:txBody>
      </p:sp>
      <p:sp>
        <p:nvSpPr>
          <p:cNvPr id="55" name="TextBox 54"/>
          <p:cNvSpPr txBox="1"/>
          <p:nvPr/>
        </p:nvSpPr>
        <p:spPr>
          <a:xfrm>
            <a:off x="2467813" y="5417820"/>
            <a:ext cx="1580845" cy="237744"/>
          </a:xfrm>
          <a:prstGeom prst="rect">
            <a:avLst/>
          </a:prstGeom>
          <a:noFill/>
        </p:spPr>
        <p:txBody>
          <a:bodyPr wrap="square" anchor="t" lIns="0" rIns="0" tIns="0" bIns="0">
            <a:spAutoFit/>
          </a:bodyPr>
          <a:lstStyle/>
          <a:p>
            <a:pPr algn="l"/>
            <a:r>
              <a:rPr sz="1500" b="1">
                <a:solidFill>
                  <a:srgbClr val="0D9488"/>
                </a:solidFill>
                <a:latin typeface="Calibri"/>
              </a:rPr>
              <a:t>40,5</a:t>
            </a:r>
            <a:r>
              <a:rPr sz="900" b="0">
                <a:solidFill>
                  <a:srgbClr val="6B7280"/>
                </a:solidFill>
                <a:latin typeface="Calibri"/>
              </a:rPr>
              <a:t> M de unidades</a:t>
            </a:r>
          </a:p>
        </p:txBody>
      </p:sp>
      <p:sp>
        <p:nvSpPr>
          <p:cNvPr id="56" name="TextBox 55"/>
          <p:cNvSpPr txBox="1"/>
          <p:nvPr/>
        </p:nvSpPr>
        <p:spPr>
          <a:xfrm>
            <a:off x="2467813" y="5655564"/>
            <a:ext cx="1580845" cy="201168"/>
          </a:xfrm>
          <a:prstGeom prst="rect">
            <a:avLst/>
          </a:prstGeom>
          <a:noFill/>
        </p:spPr>
        <p:txBody>
          <a:bodyPr wrap="square" anchor="t" lIns="0" rIns="0" tIns="0" bIns="0">
            <a:spAutoFit/>
          </a:bodyPr>
          <a:lstStyle/>
          <a:p>
            <a:pPr algn="l"/>
            <a:r>
              <a:rPr sz="900" b="0">
                <a:solidFill>
                  <a:srgbClr val="6B7280"/>
                </a:solidFill>
                <a:latin typeface="Calibri"/>
              </a:rPr>
              <a:t>1996 · Saturn · Embracer</a:t>
            </a:r>
          </a:p>
        </p:txBody>
      </p:sp>
      <p:sp>
        <p:nvSpPr>
          <p:cNvPr id="57" name="Rounded Rectangle 56"/>
          <p:cNvSpPr/>
          <p:nvPr/>
        </p:nvSpPr>
        <p:spPr>
          <a:xfrm>
            <a:off x="4286402" y="3717036"/>
            <a:ext cx="1727149" cy="2318004"/>
          </a:xfrm>
          <a:prstGeom prst="roundRect">
            <a:avLst>
              <a:gd name="adj" fmla="val 6000"/>
            </a:avLst>
          </a:prstGeom>
          <a:solidFill>
            <a:srgbClr val="F3F4F6"/>
          </a:solidFill>
          <a:ln>
            <a:noFill/>
          </a:ln>
        </p:spPr>
        <p:txBody>
          <a:bodyPr rtlCol="0" anchor="ctr"/>
          <a:lstStyle/>
          <a:p>
            <a:pPr algn="ctr"/>
          </a:p>
        </p:txBody>
      </p:sp>
      <p:pic>
        <p:nvPicPr>
          <p:cNvPr id="58" name="Picture 57" descr="f09.png"/>
          <p:cNvPicPr>
            <a:picLocks noChangeAspect="1"/>
          </p:cNvPicPr>
          <p:nvPr/>
        </p:nvPicPr>
        <p:blipFill>
          <a:blip r:embed="rId10"/>
          <a:stretch>
            <a:fillRect/>
          </a:stretch>
        </p:blipFill>
        <p:spPr>
          <a:xfrm>
            <a:off x="4359554" y="4096618"/>
            <a:ext cx="1580845" cy="502708"/>
          </a:xfrm>
          <a:prstGeom prst="rect">
            <a:avLst/>
          </a:prstGeom>
        </p:spPr>
      </p:pic>
      <p:sp>
        <p:nvSpPr>
          <p:cNvPr id="59" name="Oval 58"/>
          <p:cNvSpPr/>
          <p:nvPr/>
        </p:nvSpPr>
        <p:spPr>
          <a:xfrm>
            <a:off x="5592927" y="4960620"/>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9</a:t>
            </a:r>
          </a:p>
        </p:txBody>
      </p:sp>
      <p:sp>
        <p:nvSpPr>
          <p:cNvPr id="60" name="TextBox 59"/>
          <p:cNvSpPr txBox="1"/>
          <p:nvPr/>
        </p:nvSpPr>
        <p:spPr>
          <a:xfrm>
            <a:off x="4359554" y="4978908"/>
            <a:ext cx="1178509" cy="365760"/>
          </a:xfrm>
          <a:prstGeom prst="rect">
            <a:avLst/>
          </a:prstGeom>
          <a:noFill/>
        </p:spPr>
        <p:txBody>
          <a:bodyPr wrap="square" anchor="t" lIns="0" rIns="0" tIns="0" bIns="0">
            <a:spAutoFit/>
          </a:bodyPr>
          <a:lstStyle/>
          <a:p>
            <a:pPr algn="l"/>
            <a:r>
              <a:rPr sz="1150" b="1">
                <a:solidFill>
                  <a:srgbClr val="1F2937"/>
                </a:solidFill>
                <a:latin typeface="Calibri"/>
              </a:rPr>
              <a:t>Rayman</a:t>
            </a:r>
          </a:p>
        </p:txBody>
      </p:sp>
      <p:sp>
        <p:nvSpPr>
          <p:cNvPr id="61" name="TextBox 60"/>
          <p:cNvSpPr txBox="1"/>
          <p:nvPr/>
        </p:nvSpPr>
        <p:spPr>
          <a:xfrm>
            <a:off x="4359554" y="5417820"/>
            <a:ext cx="1580845" cy="237744"/>
          </a:xfrm>
          <a:prstGeom prst="rect">
            <a:avLst/>
          </a:prstGeom>
          <a:noFill/>
        </p:spPr>
        <p:txBody>
          <a:bodyPr wrap="square" anchor="t" lIns="0" rIns="0" tIns="0" bIns="0">
            <a:spAutoFit/>
          </a:bodyPr>
          <a:lstStyle/>
          <a:p>
            <a:pPr algn="l"/>
            <a:r>
              <a:rPr sz="1500" b="1">
                <a:solidFill>
                  <a:srgbClr val="0D9488"/>
                </a:solidFill>
                <a:latin typeface="Calibri"/>
              </a:rPr>
              <a:t>30,0</a:t>
            </a:r>
            <a:r>
              <a:rPr sz="900" b="0">
                <a:solidFill>
                  <a:srgbClr val="6B7280"/>
                </a:solidFill>
                <a:latin typeface="Calibri"/>
              </a:rPr>
              <a:t> M de unidades</a:t>
            </a:r>
          </a:p>
        </p:txBody>
      </p:sp>
      <p:sp>
        <p:nvSpPr>
          <p:cNvPr id="62" name="TextBox 61"/>
          <p:cNvSpPr txBox="1"/>
          <p:nvPr/>
        </p:nvSpPr>
        <p:spPr>
          <a:xfrm>
            <a:off x="4359554" y="5655564"/>
            <a:ext cx="1580845" cy="201168"/>
          </a:xfrm>
          <a:prstGeom prst="rect">
            <a:avLst/>
          </a:prstGeom>
          <a:noFill/>
        </p:spPr>
        <p:txBody>
          <a:bodyPr wrap="square" anchor="t" lIns="0" rIns="0" tIns="0" bIns="0">
            <a:spAutoFit/>
          </a:bodyPr>
          <a:lstStyle/>
          <a:p>
            <a:pPr algn="l"/>
            <a:r>
              <a:rPr sz="900" b="0">
                <a:solidFill>
                  <a:srgbClr val="6B7280"/>
                </a:solidFill>
                <a:latin typeface="Calibri"/>
              </a:rPr>
              <a:t>1995 · PS1 · Ubisoft</a:t>
            </a:r>
          </a:p>
        </p:txBody>
      </p:sp>
      <p:sp>
        <p:nvSpPr>
          <p:cNvPr id="63" name="Rounded Rectangle 62"/>
          <p:cNvSpPr/>
          <p:nvPr/>
        </p:nvSpPr>
        <p:spPr>
          <a:xfrm>
            <a:off x="6178143" y="3717036"/>
            <a:ext cx="1727149" cy="2318004"/>
          </a:xfrm>
          <a:prstGeom prst="roundRect">
            <a:avLst>
              <a:gd name="adj" fmla="val 6000"/>
            </a:avLst>
          </a:prstGeom>
          <a:solidFill>
            <a:srgbClr val="F3F4F6"/>
          </a:solidFill>
          <a:ln>
            <a:noFill/>
          </a:ln>
        </p:spPr>
        <p:txBody>
          <a:bodyPr rtlCol="0" anchor="ctr"/>
          <a:lstStyle/>
          <a:p>
            <a:pPr algn="ctr"/>
          </a:p>
        </p:txBody>
      </p:sp>
      <p:pic>
        <p:nvPicPr>
          <p:cNvPr id="64" name="Picture 63" descr="f10.png"/>
          <p:cNvPicPr>
            <a:picLocks noChangeAspect="1"/>
          </p:cNvPicPr>
          <p:nvPr/>
        </p:nvPicPr>
        <p:blipFill>
          <a:blip r:embed="rId11"/>
          <a:stretch>
            <a:fillRect/>
          </a:stretch>
        </p:blipFill>
        <p:spPr>
          <a:xfrm>
            <a:off x="6251295" y="4079228"/>
            <a:ext cx="1580845" cy="537487"/>
          </a:xfrm>
          <a:prstGeom prst="rect">
            <a:avLst/>
          </a:prstGeom>
        </p:spPr>
      </p:pic>
      <p:sp>
        <p:nvSpPr>
          <p:cNvPr id="65" name="Oval 64"/>
          <p:cNvSpPr/>
          <p:nvPr/>
        </p:nvSpPr>
        <p:spPr>
          <a:xfrm>
            <a:off x="7484668" y="4960620"/>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10</a:t>
            </a:r>
          </a:p>
        </p:txBody>
      </p:sp>
      <p:sp>
        <p:nvSpPr>
          <p:cNvPr id="66" name="TextBox 65"/>
          <p:cNvSpPr txBox="1"/>
          <p:nvPr/>
        </p:nvSpPr>
        <p:spPr>
          <a:xfrm>
            <a:off x="6251295" y="4978908"/>
            <a:ext cx="1178509" cy="365760"/>
          </a:xfrm>
          <a:prstGeom prst="rect">
            <a:avLst/>
          </a:prstGeom>
          <a:noFill/>
        </p:spPr>
        <p:txBody>
          <a:bodyPr wrap="square" anchor="t" lIns="0" rIns="0" tIns="0" bIns="0">
            <a:spAutoFit/>
          </a:bodyPr>
          <a:lstStyle/>
          <a:p>
            <a:pPr algn="l"/>
            <a:r>
              <a:rPr sz="1150" b="1">
                <a:solidFill>
                  <a:srgbClr val="1F2937"/>
                </a:solidFill>
                <a:latin typeface="Calibri"/>
              </a:rPr>
              <a:t>Spyro</a:t>
            </a:r>
          </a:p>
        </p:txBody>
      </p:sp>
      <p:sp>
        <p:nvSpPr>
          <p:cNvPr id="67" name="TextBox 66"/>
          <p:cNvSpPr txBox="1"/>
          <p:nvPr/>
        </p:nvSpPr>
        <p:spPr>
          <a:xfrm>
            <a:off x="6251295" y="5417820"/>
            <a:ext cx="1580845" cy="237744"/>
          </a:xfrm>
          <a:prstGeom prst="rect">
            <a:avLst/>
          </a:prstGeom>
          <a:noFill/>
        </p:spPr>
        <p:txBody>
          <a:bodyPr wrap="square" anchor="t" lIns="0" rIns="0" tIns="0" bIns="0">
            <a:spAutoFit/>
          </a:bodyPr>
          <a:lstStyle/>
          <a:p>
            <a:pPr algn="l"/>
            <a:r>
              <a:rPr sz="1500" b="1">
                <a:solidFill>
                  <a:srgbClr val="0D9488"/>
                </a:solidFill>
                <a:latin typeface="Calibri"/>
              </a:rPr>
              <a:t>30,0</a:t>
            </a:r>
            <a:r>
              <a:rPr sz="900" b="0">
                <a:solidFill>
                  <a:srgbClr val="6B7280"/>
                </a:solidFill>
                <a:latin typeface="Calibri"/>
              </a:rPr>
              <a:t> M de unidades</a:t>
            </a:r>
          </a:p>
        </p:txBody>
      </p:sp>
      <p:sp>
        <p:nvSpPr>
          <p:cNvPr id="68" name="TextBox 67"/>
          <p:cNvSpPr txBox="1"/>
          <p:nvPr/>
        </p:nvSpPr>
        <p:spPr>
          <a:xfrm>
            <a:off x="6251295" y="5655564"/>
            <a:ext cx="1580845" cy="201168"/>
          </a:xfrm>
          <a:prstGeom prst="rect">
            <a:avLst/>
          </a:prstGeom>
          <a:noFill/>
        </p:spPr>
        <p:txBody>
          <a:bodyPr wrap="square" anchor="t" lIns="0" rIns="0" tIns="0" bIns="0">
            <a:spAutoFit/>
          </a:bodyPr>
          <a:lstStyle/>
          <a:p>
            <a:pPr algn="l"/>
            <a:r>
              <a:rPr sz="900" b="0">
                <a:solidFill>
                  <a:srgbClr val="6B7280"/>
                </a:solidFill>
                <a:latin typeface="Calibri"/>
              </a:rPr>
              <a:t>1998 · PS1 · Activision</a:t>
            </a:r>
          </a:p>
        </p:txBody>
      </p:sp>
      <p:sp>
        <p:nvSpPr>
          <p:cNvPr id="69" name="Rounded Rectangle 68"/>
          <p:cNvSpPr/>
          <p:nvPr/>
        </p:nvSpPr>
        <p:spPr>
          <a:xfrm>
            <a:off x="8069884" y="3717036"/>
            <a:ext cx="1727149" cy="2318004"/>
          </a:xfrm>
          <a:prstGeom prst="roundRect">
            <a:avLst>
              <a:gd name="adj" fmla="val 6000"/>
            </a:avLst>
          </a:prstGeom>
          <a:solidFill>
            <a:srgbClr val="F3F4F6"/>
          </a:solidFill>
          <a:ln>
            <a:noFill/>
          </a:ln>
        </p:spPr>
        <p:txBody>
          <a:bodyPr rtlCol="0" anchor="ctr"/>
          <a:lstStyle/>
          <a:p>
            <a:pPr algn="ctr"/>
          </a:p>
        </p:txBody>
      </p:sp>
      <p:pic>
        <p:nvPicPr>
          <p:cNvPr id="70" name="Picture 69" descr="f11.png"/>
          <p:cNvPicPr>
            <a:picLocks noChangeAspect="1"/>
          </p:cNvPicPr>
          <p:nvPr/>
        </p:nvPicPr>
        <p:blipFill>
          <a:blip r:embed="rId12"/>
          <a:stretch>
            <a:fillRect/>
          </a:stretch>
        </p:blipFill>
        <p:spPr>
          <a:xfrm>
            <a:off x="8143036" y="3923779"/>
            <a:ext cx="1580845" cy="848386"/>
          </a:xfrm>
          <a:prstGeom prst="rect">
            <a:avLst/>
          </a:prstGeom>
        </p:spPr>
      </p:pic>
      <p:sp>
        <p:nvSpPr>
          <p:cNvPr id="71" name="Oval 70"/>
          <p:cNvSpPr/>
          <p:nvPr/>
        </p:nvSpPr>
        <p:spPr>
          <a:xfrm>
            <a:off x="9376409" y="4960620"/>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11</a:t>
            </a:r>
          </a:p>
        </p:txBody>
      </p:sp>
      <p:sp>
        <p:nvSpPr>
          <p:cNvPr id="72" name="TextBox 71"/>
          <p:cNvSpPr txBox="1"/>
          <p:nvPr/>
        </p:nvSpPr>
        <p:spPr>
          <a:xfrm>
            <a:off x="8143036" y="4978908"/>
            <a:ext cx="1178509" cy="365760"/>
          </a:xfrm>
          <a:prstGeom prst="rect">
            <a:avLst/>
          </a:prstGeom>
          <a:noFill/>
        </p:spPr>
        <p:txBody>
          <a:bodyPr wrap="square" anchor="t" lIns="0" rIns="0" tIns="0" bIns="0">
            <a:spAutoFit/>
          </a:bodyPr>
          <a:lstStyle/>
          <a:p>
            <a:pPr algn="l"/>
            <a:r>
              <a:rPr sz="1150" b="1">
                <a:solidFill>
                  <a:srgbClr val="1F2937"/>
                </a:solidFill>
                <a:latin typeface="Calibri"/>
              </a:rPr>
              <a:t>Yoshi</a:t>
            </a:r>
          </a:p>
        </p:txBody>
      </p:sp>
      <p:sp>
        <p:nvSpPr>
          <p:cNvPr id="73" name="TextBox 72"/>
          <p:cNvSpPr txBox="1"/>
          <p:nvPr/>
        </p:nvSpPr>
        <p:spPr>
          <a:xfrm>
            <a:off x="8143036" y="5417820"/>
            <a:ext cx="1580845" cy="237744"/>
          </a:xfrm>
          <a:prstGeom prst="rect">
            <a:avLst/>
          </a:prstGeom>
          <a:noFill/>
        </p:spPr>
        <p:txBody>
          <a:bodyPr wrap="square" anchor="t" lIns="0" rIns="0" tIns="0" bIns="0">
            <a:spAutoFit/>
          </a:bodyPr>
          <a:lstStyle/>
          <a:p>
            <a:pPr algn="l"/>
            <a:r>
              <a:rPr sz="1500" b="1">
                <a:solidFill>
                  <a:srgbClr val="0D9488"/>
                </a:solidFill>
                <a:latin typeface="Calibri"/>
              </a:rPr>
              <a:t>29,5</a:t>
            </a:r>
            <a:r>
              <a:rPr sz="900" b="0">
                <a:solidFill>
                  <a:srgbClr val="6B7280"/>
                </a:solidFill>
                <a:latin typeface="Calibri"/>
              </a:rPr>
              <a:t> M de unidades</a:t>
            </a:r>
          </a:p>
        </p:txBody>
      </p:sp>
      <p:sp>
        <p:nvSpPr>
          <p:cNvPr id="74" name="TextBox 73"/>
          <p:cNvSpPr txBox="1"/>
          <p:nvPr/>
        </p:nvSpPr>
        <p:spPr>
          <a:xfrm>
            <a:off x="8143036" y="5655564"/>
            <a:ext cx="1580845" cy="201168"/>
          </a:xfrm>
          <a:prstGeom prst="rect">
            <a:avLst/>
          </a:prstGeom>
          <a:noFill/>
        </p:spPr>
        <p:txBody>
          <a:bodyPr wrap="square" anchor="t" lIns="0" rIns="0" tIns="0" bIns="0">
            <a:spAutoFit/>
          </a:bodyPr>
          <a:lstStyle/>
          <a:p>
            <a:pPr algn="l"/>
            <a:r>
              <a:rPr sz="900" b="0">
                <a:solidFill>
                  <a:srgbClr val="6B7280"/>
                </a:solidFill>
                <a:latin typeface="Calibri"/>
              </a:rPr>
              <a:t>1995 · SNES · Nintendo</a:t>
            </a:r>
          </a:p>
        </p:txBody>
      </p:sp>
      <p:sp>
        <p:nvSpPr>
          <p:cNvPr id="75" name="Rounded Rectangle 74"/>
          <p:cNvSpPr/>
          <p:nvPr/>
        </p:nvSpPr>
        <p:spPr>
          <a:xfrm>
            <a:off x="9961625" y="3717036"/>
            <a:ext cx="1727149" cy="2318004"/>
          </a:xfrm>
          <a:prstGeom prst="roundRect">
            <a:avLst>
              <a:gd name="adj" fmla="val 6000"/>
            </a:avLst>
          </a:prstGeom>
          <a:solidFill>
            <a:srgbClr val="F3F4F6"/>
          </a:solidFill>
          <a:ln>
            <a:noFill/>
          </a:ln>
        </p:spPr>
        <p:txBody>
          <a:bodyPr rtlCol="0" anchor="ctr"/>
          <a:lstStyle/>
          <a:p>
            <a:pPr algn="ctr"/>
          </a:p>
        </p:txBody>
      </p:sp>
      <p:pic>
        <p:nvPicPr>
          <p:cNvPr id="76" name="Picture 75" descr="f12.png"/>
          <p:cNvPicPr>
            <a:picLocks noChangeAspect="1"/>
          </p:cNvPicPr>
          <p:nvPr/>
        </p:nvPicPr>
        <p:blipFill>
          <a:blip r:embed="rId13"/>
          <a:stretch>
            <a:fillRect/>
          </a:stretch>
        </p:blipFill>
        <p:spPr>
          <a:xfrm>
            <a:off x="10034777" y="4069743"/>
            <a:ext cx="1580845" cy="556457"/>
          </a:xfrm>
          <a:prstGeom prst="rect">
            <a:avLst/>
          </a:prstGeom>
        </p:spPr>
      </p:pic>
      <p:sp>
        <p:nvSpPr>
          <p:cNvPr id="77" name="Oval 76"/>
          <p:cNvSpPr/>
          <p:nvPr/>
        </p:nvSpPr>
        <p:spPr>
          <a:xfrm>
            <a:off x="11268150" y="4960620"/>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12</a:t>
            </a:r>
          </a:p>
        </p:txBody>
      </p:sp>
      <p:sp>
        <p:nvSpPr>
          <p:cNvPr id="78" name="TextBox 77"/>
          <p:cNvSpPr txBox="1"/>
          <p:nvPr/>
        </p:nvSpPr>
        <p:spPr>
          <a:xfrm>
            <a:off x="10034777" y="4978908"/>
            <a:ext cx="1178509" cy="365760"/>
          </a:xfrm>
          <a:prstGeom prst="rect">
            <a:avLst/>
          </a:prstGeom>
          <a:noFill/>
        </p:spPr>
        <p:txBody>
          <a:bodyPr wrap="square" anchor="t" lIns="0" rIns="0" tIns="0" bIns="0">
            <a:spAutoFit/>
          </a:bodyPr>
          <a:lstStyle/>
          <a:p>
            <a:pPr algn="l"/>
            <a:r>
              <a:rPr sz="1150" b="1">
                <a:solidFill>
                  <a:srgbClr val="1F2937"/>
                </a:solidFill>
                <a:latin typeface="Calibri"/>
              </a:rPr>
              <a:t>Castlevania</a:t>
            </a:r>
          </a:p>
        </p:txBody>
      </p:sp>
      <p:sp>
        <p:nvSpPr>
          <p:cNvPr id="79" name="TextBox 78"/>
          <p:cNvSpPr txBox="1"/>
          <p:nvPr/>
        </p:nvSpPr>
        <p:spPr>
          <a:xfrm>
            <a:off x="10034777" y="5417820"/>
            <a:ext cx="1580845" cy="237744"/>
          </a:xfrm>
          <a:prstGeom prst="rect">
            <a:avLst/>
          </a:prstGeom>
          <a:noFill/>
        </p:spPr>
        <p:txBody>
          <a:bodyPr wrap="square" anchor="t" lIns="0" rIns="0" tIns="0" bIns="0">
            <a:spAutoFit/>
          </a:bodyPr>
          <a:lstStyle/>
          <a:p>
            <a:pPr algn="l"/>
            <a:r>
              <a:rPr sz="1500" b="1">
                <a:solidFill>
                  <a:srgbClr val="0D9488"/>
                </a:solidFill>
                <a:latin typeface="Calibri"/>
              </a:rPr>
              <a:t>24,0</a:t>
            </a:r>
            <a:r>
              <a:rPr sz="900" b="0">
                <a:solidFill>
                  <a:srgbClr val="6B7280"/>
                </a:solidFill>
                <a:latin typeface="Calibri"/>
              </a:rPr>
              <a:t> M de unidades</a:t>
            </a:r>
          </a:p>
        </p:txBody>
      </p:sp>
      <p:sp>
        <p:nvSpPr>
          <p:cNvPr id="80" name="TextBox 79"/>
          <p:cNvSpPr txBox="1"/>
          <p:nvPr/>
        </p:nvSpPr>
        <p:spPr>
          <a:xfrm>
            <a:off x="10034777" y="5655564"/>
            <a:ext cx="1580845" cy="201168"/>
          </a:xfrm>
          <a:prstGeom prst="rect">
            <a:avLst/>
          </a:prstGeom>
          <a:noFill/>
        </p:spPr>
        <p:txBody>
          <a:bodyPr wrap="square" anchor="t" lIns="0" rIns="0" tIns="0" bIns="0">
            <a:spAutoFit/>
          </a:bodyPr>
          <a:lstStyle/>
          <a:p>
            <a:pPr algn="l"/>
            <a:r>
              <a:rPr sz="900" b="0">
                <a:solidFill>
                  <a:srgbClr val="6B7280"/>
                </a:solidFill>
                <a:latin typeface="Calibri"/>
              </a:rPr>
              <a:t>1986 · Famicom Disk · Konami</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 PLATAFORMEROS · FRANQUICIAS 13–24</a:t>
            </a:r>
          </a:p>
          <a:p>
            <a:r>
              <a:rPr sz="2600" b="1" i="0">
                <a:solidFill>
                  <a:srgbClr val="FFFFFF"/>
                </a:solidFill>
                <a:latin typeface="Calibri"/>
              </a:rPr>
              <a:t>Franquicias de plataformas más vendidas (2 de 2)</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Anexo · Los plataformeros más vendidos</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68/74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VGSales Wiki, «Best-selling platformers» (ventas estimadas, consulta 19/10/2026); imágenes: Wikipedia, uso educativo</a:t>
            </a:r>
          </a:p>
        </p:txBody>
      </p:sp>
      <p:sp>
        <p:nvSpPr>
          <p:cNvPr id="9" name="Rounded Rectangle 8"/>
          <p:cNvSpPr/>
          <p:nvPr/>
        </p:nvSpPr>
        <p:spPr>
          <a:xfrm>
            <a:off x="502920" y="1234440"/>
            <a:ext cx="1727149" cy="2318004"/>
          </a:xfrm>
          <a:prstGeom prst="roundRect">
            <a:avLst>
              <a:gd name="adj" fmla="val 6000"/>
            </a:avLst>
          </a:prstGeom>
          <a:solidFill>
            <a:srgbClr val="F3F4F6"/>
          </a:solidFill>
          <a:ln>
            <a:noFill/>
          </a:ln>
        </p:spPr>
        <p:txBody>
          <a:bodyPr rtlCol="0" anchor="ctr"/>
          <a:lstStyle/>
          <a:p>
            <a:pPr algn="ctr"/>
          </a:p>
        </p:txBody>
      </p:sp>
      <p:pic>
        <p:nvPicPr>
          <p:cNvPr id="10" name="Picture 9" descr="f13.png"/>
          <p:cNvPicPr>
            <a:picLocks noChangeAspect="1"/>
          </p:cNvPicPr>
          <p:nvPr/>
        </p:nvPicPr>
        <p:blipFill>
          <a:blip r:embed="rId2"/>
          <a:stretch>
            <a:fillRect/>
          </a:stretch>
        </p:blipFill>
        <p:spPr>
          <a:xfrm>
            <a:off x="576072" y="1685160"/>
            <a:ext cx="1580845" cy="360432"/>
          </a:xfrm>
          <a:prstGeom prst="rect">
            <a:avLst/>
          </a:prstGeom>
        </p:spPr>
      </p:pic>
      <p:sp>
        <p:nvSpPr>
          <p:cNvPr id="11" name="Oval 10"/>
          <p:cNvSpPr/>
          <p:nvPr/>
        </p:nvSpPr>
        <p:spPr>
          <a:xfrm>
            <a:off x="1809445" y="2478024"/>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13</a:t>
            </a:r>
          </a:p>
        </p:txBody>
      </p:sp>
      <p:sp>
        <p:nvSpPr>
          <p:cNvPr id="12" name="TextBox 11"/>
          <p:cNvSpPr txBox="1"/>
          <p:nvPr/>
        </p:nvSpPr>
        <p:spPr>
          <a:xfrm>
            <a:off x="576072" y="2496312"/>
            <a:ext cx="1178509" cy="365760"/>
          </a:xfrm>
          <a:prstGeom prst="rect">
            <a:avLst/>
          </a:prstGeom>
          <a:noFill/>
        </p:spPr>
        <p:txBody>
          <a:bodyPr wrap="square" anchor="t" lIns="0" rIns="0" tIns="0" bIns="0">
            <a:spAutoFit/>
          </a:bodyPr>
          <a:lstStyle/>
          <a:p>
            <a:pPr algn="l"/>
            <a:r>
              <a:rPr sz="1150" b="1">
                <a:solidFill>
                  <a:srgbClr val="1F2937"/>
                </a:solidFill>
                <a:latin typeface="Calibri"/>
              </a:rPr>
              <a:t>Metroid</a:t>
            </a:r>
          </a:p>
        </p:txBody>
      </p:sp>
      <p:sp>
        <p:nvSpPr>
          <p:cNvPr id="13" name="TextBox 12"/>
          <p:cNvSpPr txBox="1"/>
          <p:nvPr/>
        </p:nvSpPr>
        <p:spPr>
          <a:xfrm>
            <a:off x="576072" y="2935224"/>
            <a:ext cx="1580845" cy="237744"/>
          </a:xfrm>
          <a:prstGeom prst="rect">
            <a:avLst/>
          </a:prstGeom>
          <a:noFill/>
        </p:spPr>
        <p:txBody>
          <a:bodyPr wrap="square" anchor="t" lIns="0" rIns="0" tIns="0" bIns="0">
            <a:spAutoFit/>
          </a:bodyPr>
          <a:lstStyle/>
          <a:p>
            <a:pPr algn="l"/>
            <a:r>
              <a:rPr sz="1500" b="1">
                <a:solidFill>
                  <a:srgbClr val="0D9488"/>
                </a:solidFill>
                <a:latin typeface="Calibri"/>
              </a:rPr>
              <a:t>22,8</a:t>
            </a:r>
            <a:r>
              <a:rPr sz="900" b="0">
                <a:solidFill>
                  <a:srgbClr val="6B7280"/>
                </a:solidFill>
                <a:latin typeface="Calibri"/>
              </a:rPr>
              <a:t> M de unidades</a:t>
            </a:r>
          </a:p>
        </p:txBody>
      </p:sp>
      <p:sp>
        <p:nvSpPr>
          <p:cNvPr id="14" name="TextBox 13"/>
          <p:cNvSpPr txBox="1"/>
          <p:nvPr/>
        </p:nvSpPr>
        <p:spPr>
          <a:xfrm>
            <a:off x="576072" y="3172968"/>
            <a:ext cx="1580845" cy="201168"/>
          </a:xfrm>
          <a:prstGeom prst="rect">
            <a:avLst/>
          </a:prstGeom>
          <a:noFill/>
        </p:spPr>
        <p:txBody>
          <a:bodyPr wrap="square" anchor="t" lIns="0" rIns="0" tIns="0" bIns="0">
            <a:spAutoFit/>
          </a:bodyPr>
          <a:lstStyle/>
          <a:p>
            <a:pPr algn="l"/>
            <a:r>
              <a:rPr sz="900" b="0">
                <a:solidFill>
                  <a:srgbClr val="6B7280"/>
                </a:solidFill>
                <a:latin typeface="Calibri"/>
              </a:rPr>
              <a:t>1986 · Famicom Disk · Nintendo</a:t>
            </a:r>
          </a:p>
        </p:txBody>
      </p:sp>
      <p:sp>
        <p:nvSpPr>
          <p:cNvPr id="15" name="Rounded Rectangle 14"/>
          <p:cNvSpPr/>
          <p:nvPr/>
        </p:nvSpPr>
        <p:spPr>
          <a:xfrm>
            <a:off x="2394661" y="1234440"/>
            <a:ext cx="1727149" cy="2318004"/>
          </a:xfrm>
          <a:prstGeom prst="roundRect">
            <a:avLst>
              <a:gd name="adj" fmla="val 6000"/>
            </a:avLst>
          </a:prstGeom>
          <a:solidFill>
            <a:srgbClr val="F3F4F6"/>
          </a:solidFill>
          <a:ln>
            <a:noFill/>
          </a:ln>
        </p:spPr>
        <p:txBody>
          <a:bodyPr rtlCol="0" anchor="ctr"/>
          <a:lstStyle/>
          <a:p>
            <a:pPr algn="ctr"/>
          </a:p>
        </p:txBody>
      </p:sp>
      <p:pic>
        <p:nvPicPr>
          <p:cNvPr id="16" name="Picture 15" descr="f14.png"/>
          <p:cNvPicPr>
            <a:picLocks noChangeAspect="1"/>
          </p:cNvPicPr>
          <p:nvPr/>
        </p:nvPicPr>
        <p:blipFill>
          <a:blip r:embed="rId3"/>
          <a:stretch>
            <a:fillRect/>
          </a:stretch>
        </p:blipFill>
        <p:spPr>
          <a:xfrm>
            <a:off x="2467813" y="1667770"/>
            <a:ext cx="1580845" cy="395211"/>
          </a:xfrm>
          <a:prstGeom prst="rect">
            <a:avLst/>
          </a:prstGeom>
        </p:spPr>
      </p:pic>
      <p:sp>
        <p:nvSpPr>
          <p:cNvPr id="17" name="Oval 16"/>
          <p:cNvSpPr/>
          <p:nvPr/>
        </p:nvSpPr>
        <p:spPr>
          <a:xfrm>
            <a:off x="3701186" y="2478024"/>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14</a:t>
            </a:r>
          </a:p>
        </p:txBody>
      </p:sp>
      <p:sp>
        <p:nvSpPr>
          <p:cNvPr id="18" name="TextBox 17"/>
          <p:cNvSpPr txBox="1"/>
          <p:nvPr/>
        </p:nvSpPr>
        <p:spPr>
          <a:xfrm>
            <a:off x="2467813" y="2496312"/>
            <a:ext cx="1178509" cy="365760"/>
          </a:xfrm>
          <a:prstGeom prst="rect">
            <a:avLst/>
          </a:prstGeom>
          <a:noFill/>
        </p:spPr>
        <p:txBody>
          <a:bodyPr wrap="square" anchor="t" lIns="0" rIns="0" tIns="0" bIns="0">
            <a:spAutoFit/>
          </a:bodyPr>
          <a:lstStyle/>
          <a:p>
            <a:pPr algn="l"/>
            <a:r>
              <a:rPr sz="1150" b="1">
                <a:solidFill>
                  <a:srgbClr val="1F2937"/>
                </a:solidFill>
                <a:latin typeface="Calibri"/>
              </a:rPr>
              <a:t>Prince of Persia</a:t>
            </a:r>
          </a:p>
        </p:txBody>
      </p:sp>
      <p:sp>
        <p:nvSpPr>
          <p:cNvPr id="19" name="TextBox 18"/>
          <p:cNvSpPr txBox="1"/>
          <p:nvPr/>
        </p:nvSpPr>
        <p:spPr>
          <a:xfrm>
            <a:off x="2467813" y="2935224"/>
            <a:ext cx="1580845" cy="237744"/>
          </a:xfrm>
          <a:prstGeom prst="rect">
            <a:avLst/>
          </a:prstGeom>
          <a:noFill/>
        </p:spPr>
        <p:txBody>
          <a:bodyPr wrap="square" anchor="t" lIns="0" rIns="0" tIns="0" bIns="0">
            <a:spAutoFit/>
          </a:bodyPr>
          <a:lstStyle/>
          <a:p>
            <a:pPr algn="l"/>
            <a:r>
              <a:rPr sz="1500" b="1">
                <a:solidFill>
                  <a:srgbClr val="0D9488"/>
                </a:solidFill>
                <a:latin typeface="Calibri"/>
              </a:rPr>
              <a:t>21,0</a:t>
            </a:r>
            <a:r>
              <a:rPr sz="900" b="0">
                <a:solidFill>
                  <a:srgbClr val="6B7280"/>
                </a:solidFill>
                <a:latin typeface="Calibri"/>
              </a:rPr>
              <a:t> M de unidades</a:t>
            </a:r>
          </a:p>
        </p:txBody>
      </p:sp>
      <p:sp>
        <p:nvSpPr>
          <p:cNvPr id="20" name="TextBox 19"/>
          <p:cNvSpPr txBox="1"/>
          <p:nvPr/>
        </p:nvSpPr>
        <p:spPr>
          <a:xfrm>
            <a:off x="2467813" y="3172968"/>
            <a:ext cx="1580845" cy="201168"/>
          </a:xfrm>
          <a:prstGeom prst="rect">
            <a:avLst/>
          </a:prstGeom>
          <a:noFill/>
        </p:spPr>
        <p:txBody>
          <a:bodyPr wrap="square" anchor="t" lIns="0" rIns="0" tIns="0" bIns="0">
            <a:spAutoFit/>
          </a:bodyPr>
          <a:lstStyle/>
          <a:p>
            <a:pPr algn="l"/>
            <a:r>
              <a:rPr sz="900" b="0">
                <a:solidFill>
                  <a:srgbClr val="6B7280"/>
                </a:solidFill>
                <a:latin typeface="Calibri"/>
              </a:rPr>
              <a:t>1989 · Apple II · Ubisoft</a:t>
            </a:r>
          </a:p>
        </p:txBody>
      </p:sp>
      <p:sp>
        <p:nvSpPr>
          <p:cNvPr id="21" name="Rounded Rectangle 20"/>
          <p:cNvSpPr/>
          <p:nvPr/>
        </p:nvSpPr>
        <p:spPr>
          <a:xfrm>
            <a:off x="4286402" y="1234440"/>
            <a:ext cx="1727149" cy="2318004"/>
          </a:xfrm>
          <a:prstGeom prst="roundRect">
            <a:avLst>
              <a:gd name="adj" fmla="val 6000"/>
            </a:avLst>
          </a:prstGeom>
          <a:solidFill>
            <a:srgbClr val="F3F4F6"/>
          </a:solidFill>
          <a:ln>
            <a:noFill/>
          </a:ln>
        </p:spPr>
        <p:txBody>
          <a:bodyPr rtlCol="0" anchor="ctr"/>
          <a:lstStyle/>
          <a:p>
            <a:pPr algn="ctr"/>
          </a:p>
        </p:txBody>
      </p:sp>
      <p:pic>
        <p:nvPicPr>
          <p:cNvPr id="22" name="Picture 21" descr="f15.jpg"/>
          <p:cNvPicPr>
            <a:picLocks noChangeAspect="1"/>
          </p:cNvPicPr>
          <p:nvPr/>
        </p:nvPicPr>
        <p:blipFill>
          <a:blip r:embed="rId4"/>
          <a:stretch>
            <a:fillRect/>
          </a:stretch>
        </p:blipFill>
        <p:spPr>
          <a:xfrm>
            <a:off x="4754755" y="1307592"/>
            <a:ext cx="790442" cy="1115568"/>
          </a:xfrm>
          <a:prstGeom prst="rect">
            <a:avLst/>
          </a:prstGeom>
        </p:spPr>
      </p:pic>
      <p:sp>
        <p:nvSpPr>
          <p:cNvPr id="23" name="Oval 22"/>
          <p:cNvSpPr/>
          <p:nvPr/>
        </p:nvSpPr>
        <p:spPr>
          <a:xfrm>
            <a:off x="5592927" y="2478024"/>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15</a:t>
            </a:r>
          </a:p>
        </p:txBody>
      </p:sp>
      <p:sp>
        <p:nvSpPr>
          <p:cNvPr id="24" name="TextBox 23"/>
          <p:cNvSpPr txBox="1"/>
          <p:nvPr/>
        </p:nvSpPr>
        <p:spPr>
          <a:xfrm>
            <a:off x="4359554" y="2496312"/>
            <a:ext cx="1178509" cy="365760"/>
          </a:xfrm>
          <a:prstGeom prst="rect">
            <a:avLst/>
          </a:prstGeom>
          <a:noFill/>
        </p:spPr>
        <p:txBody>
          <a:bodyPr wrap="square" anchor="t" lIns="0" rIns="0" tIns="0" bIns="0">
            <a:spAutoFit/>
          </a:bodyPr>
          <a:lstStyle/>
          <a:p>
            <a:pPr algn="l"/>
            <a:r>
              <a:rPr sz="1150" b="1">
                <a:solidFill>
                  <a:srgbClr val="1F2937"/>
                </a:solidFill>
                <a:latin typeface="Calibri"/>
              </a:rPr>
              <a:t>SpongeBob (plataformas)</a:t>
            </a:r>
          </a:p>
        </p:txBody>
      </p:sp>
      <p:sp>
        <p:nvSpPr>
          <p:cNvPr id="25" name="TextBox 24"/>
          <p:cNvSpPr txBox="1"/>
          <p:nvPr/>
        </p:nvSpPr>
        <p:spPr>
          <a:xfrm>
            <a:off x="4359554" y="2935224"/>
            <a:ext cx="1580845" cy="237744"/>
          </a:xfrm>
          <a:prstGeom prst="rect">
            <a:avLst/>
          </a:prstGeom>
          <a:noFill/>
        </p:spPr>
        <p:txBody>
          <a:bodyPr wrap="square" anchor="t" lIns="0" rIns="0" tIns="0" bIns="0">
            <a:spAutoFit/>
          </a:bodyPr>
          <a:lstStyle/>
          <a:p>
            <a:pPr algn="l"/>
            <a:r>
              <a:rPr sz="1500" b="1">
                <a:solidFill>
                  <a:srgbClr val="0D9488"/>
                </a:solidFill>
                <a:latin typeface="Calibri"/>
              </a:rPr>
              <a:t>17,0</a:t>
            </a:r>
            <a:r>
              <a:rPr sz="900" b="0">
                <a:solidFill>
                  <a:srgbClr val="6B7280"/>
                </a:solidFill>
                <a:latin typeface="Calibri"/>
              </a:rPr>
              <a:t> M de unidades</a:t>
            </a:r>
          </a:p>
        </p:txBody>
      </p:sp>
      <p:sp>
        <p:nvSpPr>
          <p:cNvPr id="26" name="TextBox 25"/>
          <p:cNvSpPr txBox="1"/>
          <p:nvPr/>
        </p:nvSpPr>
        <p:spPr>
          <a:xfrm>
            <a:off x="4359554" y="3172968"/>
            <a:ext cx="1580845" cy="201168"/>
          </a:xfrm>
          <a:prstGeom prst="rect">
            <a:avLst/>
          </a:prstGeom>
          <a:noFill/>
        </p:spPr>
        <p:txBody>
          <a:bodyPr wrap="square" anchor="t" lIns="0" rIns="0" tIns="0" bIns="0">
            <a:spAutoFit/>
          </a:bodyPr>
          <a:lstStyle/>
          <a:p>
            <a:pPr algn="l"/>
            <a:r>
              <a:rPr sz="900" b="0">
                <a:solidFill>
                  <a:srgbClr val="6B7280"/>
                </a:solidFill>
                <a:latin typeface="Calibri"/>
              </a:rPr>
              <a:t>2001 · GBC · Nickelodeon</a:t>
            </a:r>
          </a:p>
        </p:txBody>
      </p:sp>
      <p:sp>
        <p:nvSpPr>
          <p:cNvPr id="27" name="Rounded Rectangle 26"/>
          <p:cNvSpPr/>
          <p:nvPr/>
        </p:nvSpPr>
        <p:spPr>
          <a:xfrm>
            <a:off x="6178143" y="1234440"/>
            <a:ext cx="1727149" cy="2318004"/>
          </a:xfrm>
          <a:prstGeom prst="roundRect">
            <a:avLst>
              <a:gd name="adj" fmla="val 6000"/>
            </a:avLst>
          </a:prstGeom>
          <a:solidFill>
            <a:srgbClr val="F3F4F6"/>
          </a:solidFill>
          <a:ln>
            <a:noFill/>
          </a:ln>
        </p:spPr>
        <p:txBody>
          <a:bodyPr rtlCol="0" anchor="ctr"/>
          <a:lstStyle/>
          <a:p>
            <a:pPr algn="ctr"/>
          </a:p>
        </p:txBody>
      </p:sp>
      <p:pic>
        <p:nvPicPr>
          <p:cNvPr id="28" name="Picture 27" descr="f16.jpg"/>
          <p:cNvPicPr>
            <a:picLocks noChangeAspect="1"/>
          </p:cNvPicPr>
          <p:nvPr/>
        </p:nvPicPr>
        <p:blipFill>
          <a:blip r:embed="rId5"/>
          <a:stretch>
            <a:fillRect/>
          </a:stretch>
        </p:blipFill>
        <p:spPr>
          <a:xfrm>
            <a:off x="6750700" y="1307592"/>
            <a:ext cx="582035" cy="1115568"/>
          </a:xfrm>
          <a:prstGeom prst="rect">
            <a:avLst/>
          </a:prstGeom>
        </p:spPr>
      </p:pic>
      <p:sp>
        <p:nvSpPr>
          <p:cNvPr id="29" name="Oval 28"/>
          <p:cNvSpPr/>
          <p:nvPr/>
        </p:nvSpPr>
        <p:spPr>
          <a:xfrm>
            <a:off x="7484668" y="2478024"/>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16</a:t>
            </a:r>
          </a:p>
        </p:txBody>
      </p:sp>
      <p:sp>
        <p:nvSpPr>
          <p:cNvPr id="30" name="TextBox 29"/>
          <p:cNvSpPr txBox="1"/>
          <p:nvPr/>
        </p:nvSpPr>
        <p:spPr>
          <a:xfrm>
            <a:off x="6251295" y="2496312"/>
            <a:ext cx="1178509" cy="365760"/>
          </a:xfrm>
          <a:prstGeom prst="rect">
            <a:avLst/>
          </a:prstGeom>
          <a:noFill/>
        </p:spPr>
        <p:txBody>
          <a:bodyPr wrap="square" anchor="t" lIns="0" rIns="0" tIns="0" bIns="0">
            <a:spAutoFit/>
          </a:bodyPr>
          <a:lstStyle/>
          <a:p>
            <a:pPr algn="l"/>
            <a:r>
              <a:rPr sz="1150" b="1">
                <a:solidFill>
                  <a:srgbClr val="1F2937"/>
                </a:solidFill>
                <a:latin typeface="Calibri"/>
              </a:rPr>
              <a:t>Gex</a:t>
            </a:r>
          </a:p>
        </p:txBody>
      </p:sp>
      <p:sp>
        <p:nvSpPr>
          <p:cNvPr id="31" name="TextBox 30"/>
          <p:cNvSpPr txBox="1"/>
          <p:nvPr/>
        </p:nvSpPr>
        <p:spPr>
          <a:xfrm>
            <a:off x="6251295" y="2935224"/>
            <a:ext cx="1580845" cy="237744"/>
          </a:xfrm>
          <a:prstGeom prst="rect">
            <a:avLst/>
          </a:prstGeom>
          <a:noFill/>
        </p:spPr>
        <p:txBody>
          <a:bodyPr wrap="square" anchor="t" lIns="0" rIns="0" tIns="0" bIns="0">
            <a:spAutoFit/>
          </a:bodyPr>
          <a:lstStyle/>
          <a:p>
            <a:pPr algn="l"/>
            <a:r>
              <a:rPr sz="1500" b="1">
                <a:solidFill>
                  <a:srgbClr val="0D9488"/>
                </a:solidFill>
                <a:latin typeface="Calibri"/>
              </a:rPr>
              <a:t>15,0</a:t>
            </a:r>
            <a:r>
              <a:rPr sz="900" b="0">
                <a:solidFill>
                  <a:srgbClr val="6B7280"/>
                </a:solidFill>
                <a:latin typeface="Calibri"/>
              </a:rPr>
              <a:t> M de unidades</a:t>
            </a:r>
          </a:p>
        </p:txBody>
      </p:sp>
      <p:sp>
        <p:nvSpPr>
          <p:cNvPr id="32" name="TextBox 31"/>
          <p:cNvSpPr txBox="1"/>
          <p:nvPr/>
        </p:nvSpPr>
        <p:spPr>
          <a:xfrm>
            <a:off x="6251295" y="3172968"/>
            <a:ext cx="1580845" cy="201168"/>
          </a:xfrm>
          <a:prstGeom prst="rect">
            <a:avLst/>
          </a:prstGeom>
          <a:noFill/>
        </p:spPr>
        <p:txBody>
          <a:bodyPr wrap="square" anchor="t" lIns="0" rIns="0" tIns="0" bIns="0">
            <a:spAutoFit/>
          </a:bodyPr>
          <a:lstStyle/>
          <a:p>
            <a:pPr algn="l"/>
            <a:r>
              <a:rPr sz="900" b="0">
                <a:solidFill>
                  <a:srgbClr val="6B7280"/>
                </a:solidFill>
                <a:latin typeface="Calibri"/>
              </a:rPr>
              <a:t>1995 · 3DO · Square Enix</a:t>
            </a:r>
          </a:p>
        </p:txBody>
      </p:sp>
      <p:sp>
        <p:nvSpPr>
          <p:cNvPr id="33" name="Rounded Rectangle 32"/>
          <p:cNvSpPr/>
          <p:nvPr/>
        </p:nvSpPr>
        <p:spPr>
          <a:xfrm>
            <a:off x="8069884" y="1234440"/>
            <a:ext cx="1727149" cy="2318004"/>
          </a:xfrm>
          <a:prstGeom prst="roundRect">
            <a:avLst>
              <a:gd name="adj" fmla="val 6000"/>
            </a:avLst>
          </a:prstGeom>
          <a:solidFill>
            <a:srgbClr val="F3F4F6"/>
          </a:solidFill>
          <a:ln>
            <a:noFill/>
          </a:ln>
        </p:spPr>
        <p:txBody>
          <a:bodyPr rtlCol="0" anchor="ctr"/>
          <a:lstStyle/>
          <a:p>
            <a:pPr algn="ctr"/>
          </a:p>
        </p:txBody>
      </p:sp>
      <p:pic>
        <p:nvPicPr>
          <p:cNvPr id="34" name="Picture 33" descr="f17.png"/>
          <p:cNvPicPr>
            <a:picLocks noChangeAspect="1"/>
          </p:cNvPicPr>
          <p:nvPr/>
        </p:nvPicPr>
        <p:blipFill>
          <a:blip r:embed="rId6"/>
          <a:stretch>
            <a:fillRect/>
          </a:stretch>
        </p:blipFill>
        <p:spPr>
          <a:xfrm>
            <a:off x="8143036" y="1397446"/>
            <a:ext cx="1580845" cy="935860"/>
          </a:xfrm>
          <a:prstGeom prst="rect">
            <a:avLst/>
          </a:prstGeom>
        </p:spPr>
      </p:pic>
      <p:sp>
        <p:nvSpPr>
          <p:cNvPr id="35" name="Oval 34"/>
          <p:cNvSpPr/>
          <p:nvPr/>
        </p:nvSpPr>
        <p:spPr>
          <a:xfrm>
            <a:off x="9376409" y="2478024"/>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17</a:t>
            </a:r>
          </a:p>
        </p:txBody>
      </p:sp>
      <p:sp>
        <p:nvSpPr>
          <p:cNvPr id="36" name="TextBox 35"/>
          <p:cNvSpPr txBox="1"/>
          <p:nvPr/>
        </p:nvSpPr>
        <p:spPr>
          <a:xfrm>
            <a:off x="8143036" y="2496312"/>
            <a:ext cx="1178509" cy="365760"/>
          </a:xfrm>
          <a:prstGeom prst="rect">
            <a:avLst/>
          </a:prstGeom>
          <a:noFill/>
        </p:spPr>
        <p:txBody>
          <a:bodyPr wrap="square" anchor="t" lIns="0" rIns="0" tIns="0" bIns="0">
            <a:spAutoFit/>
          </a:bodyPr>
          <a:lstStyle/>
          <a:p>
            <a:pPr algn="l"/>
            <a:r>
              <a:rPr sz="1150" b="1">
                <a:solidFill>
                  <a:srgbClr val="1F2937"/>
                </a:solidFill>
                <a:latin typeface="Calibri"/>
              </a:rPr>
              <a:t>Jak &amp; Daxter</a:t>
            </a:r>
          </a:p>
        </p:txBody>
      </p:sp>
      <p:sp>
        <p:nvSpPr>
          <p:cNvPr id="37" name="TextBox 36"/>
          <p:cNvSpPr txBox="1"/>
          <p:nvPr/>
        </p:nvSpPr>
        <p:spPr>
          <a:xfrm>
            <a:off x="8143036" y="2935224"/>
            <a:ext cx="1580845" cy="237744"/>
          </a:xfrm>
          <a:prstGeom prst="rect">
            <a:avLst/>
          </a:prstGeom>
          <a:noFill/>
        </p:spPr>
        <p:txBody>
          <a:bodyPr wrap="square" anchor="t" lIns="0" rIns="0" tIns="0" bIns="0">
            <a:spAutoFit/>
          </a:bodyPr>
          <a:lstStyle/>
          <a:p>
            <a:pPr algn="l"/>
            <a:r>
              <a:rPr sz="1500" b="1">
                <a:solidFill>
                  <a:srgbClr val="0D9488"/>
                </a:solidFill>
                <a:latin typeface="Calibri"/>
              </a:rPr>
              <a:t>15,0</a:t>
            </a:r>
            <a:r>
              <a:rPr sz="900" b="0">
                <a:solidFill>
                  <a:srgbClr val="6B7280"/>
                </a:solidFill>
                <a:latin typeface="Calibri"/>
              </a:rPr>
              <a:t> M de unidades</a:t>
            </a:r>
          </a:p>
        </p:txBody>
      </p:sp>
      <p:sp>
        <p:nvSpPr>
          <p:cNvPr id="38" name="TextBox 37"/>
          <p:cNvSpPr txBox="1"/>
          <p:nvPr/>
        </p:nvSpPr>
        <p:spPr>
          <a:xfrm>
            <a:off x="8143036" y="3172968"/>
            <a:ext cx="1580845" cy="201168"/>
          </a:xfrm>
          <a:prstGeom prst="rect">
            <a:avLst/>
          </a:prstGeom>
          <a:noFill/>
        </p:spPr>
        <p:txBody>
          <a:bodyPr wrap="square" anchor="t" lIns="0" rIns="0" tIns="0" bIns="0">
            <a:spAutoFit/>
          </a:bodyPr>
          <a:lstStyle/>
          <a:p>
            <a:pPr algn="l"/>
            <a:r>
              <a:rPr sz="900" b="0">
                <a:solidFill>
                  <a:srgbClr val="6B7280"/>
                </a:solidFill>
                <a:latin typeface="Calibri"/>
              </a:rPr>
              <a:t>2001 · PS2 · Sony</a:t>
            </a:r>
          </a:p>
        </p:txBody>
      </p:sp>
      <p:sp>
        <p:nvSpPr>
          <p:cNvPr id="39" name="Rounded Rectangle 38"/>
          <p:cNvSpPr/>
          <p:nvPr/>
        </p:nvSpPr>
        <p:spPr>
          <a:xfrm>
            <a:off x="9961625" y="1234440"/>
            <a:ext cx="1727149" cy="2318004"/>
          </a:xfrm>
          <a:prstGeom prst="roundRect">
            <a:avLst>
              <a:gd name="adj" fmla="val 6000"/>
            </a:avLst>
          </a:prstGeom>
          <a:solidFill>
            <a:srgbClr val="F3F4F6"/>
          </a:solidFill>
          <a:ln>
            <a:noFill/>
          </a:ln>
        </p:spPr>
        <p:txBody>
          <a:bodyPr rtlCol="0" anchor="ctr"/>
          <a:lstStyle/>
          <a:p>
            <a:pPr algn="ctr"/>
          </a:p>
        </p:txBody>
      </p:sp>
      <p:pic>
        <p:nvPicPr>
          <p:cNvPr id="40" name="Picture 39" descr="f18.png"/>
          <p:cNvPicPr>
            <a:picLocks noChangeAspect="1"/>
          </p:cNvPicPr>
          <p:nvPr/>
        </p:nvPicPr>
        <p:blipFill>
          <a:blip r:embed="rId7"/>
          <a:stretch>
            <a:fillRect/>
          </a:stretch>
        </p:blipFill>
        <p:spPr>
          <a:xfrm>
            <a:off x="10034777" y="1621926"/>
            <a:ext cx="1580845" cy="486900"/>
          </a:xfrm>
          <a:prstGeom prst="rect">
            <a:avLst/>
          </a:prstGeom>
        </p:spPr>
      </p:pic>
      <p:sp>
        <p:nvSpPr>
          <p:cNvPr id="41" name="Oval 40"/>
          <p:cNvSpPr/>
          <p:nvPr/>
        </p:nvSpPr>
        <p:spPr>
          <a:xfrm>
            <a:off x="11268150" y="2478024"/>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18</a:t>
            </a:r>
          </a:p>
        </p:txBody>
      </p:sp>
      <p:sp>
        <p:nvSpPr>
          <p:cNvPr id="42" name="TextBox 41"/>
          <p:cNvSpPr txBox="1"/>
          <p:nvPr/>
        </p:nvSpPr>
        <p:spPr>
          <a:xfrm>
            <a:off x="10034777" y="2496312"/>
            <a:ext cx="1178509" cy="365760"/>
          </a:xfrm>
          <a:prstGeom prst="rect">
            <a:avLst/>
          </a:prstGeom>
          <a:noFill/>
        </p:spPr>
        <p:txBody>
          <a:bodyPr wrap="square" anchor="t" lIns="0" rIns="0" tIns="0" bIns="0">
            <a:spAutoFit/>
          </a:bodyPr>
          <a:lstStyle/>
          <a:p>
            <a:pPr algn="l"/>
            <a:r>
              <a:rPr sz="1150" b="1">
                <a:solidFill>
                  <a:srgbClr val="1F2937"/>
                </a:solidFill>
                <a:latin typeface="Calibri"/>
              </a:rPr>
              <a:t>Wario Land</a:t>
            </a:r>
          </a:p>
        </p:txBody>
      </p:sp>
      <p:sp>
        <p:nvSpPr>
          <p:cNvPr id="43" name="TextBox 42"/>
          <p:cNvSpPr txBox="1"/>
          <p:nvPr/>
        </p:nvSpPr>
        <p:spPr>
          <a:xfrm>
            <a:off x="10034777" y="2935224"/>
            <a:ext cx="1580845" cy="237744"/>
          </a:xfrm>
          <a:prstGeom prst="rect">
            <a:avLst/>
          </a:prstGeom>
          <a:noFill/>
        </p:spPr>
        <p:txBody>
          <a:bodyPr wrap="square" anchor="t" lIns="0" rIns="0" tIns="0" bIns="0">
            <a:spAutoFit/>
          </a:bodyPr>
          <a:lstStyle/>
          <a:p>
            <a:pPr algn="l"/>
            <a:r>
              <a:rPr sz="1500" b="1">
                <a:solidFill>
                  <a:srgbClr val="0D9488"/>
                </a:solidFill>
                <a:latin typeface="Calibri"/>
              </a:rPr>
              <a:t>13,4</a:t>
            </a:r>
            <a:r>
              <a:rPr sz="900" b="0">
                <a:solidFill>
                  <a:srgbClr val="6B7280"/>
                </a:solidFill>
                <a:latin typeface="Calibri"/>
              </a:rPr>
              <a:t> M de unidades</a:t>
            </a:r>
          </a:p>
        </p:txBody>
      </p:sp>
      <p:sp>
        <p:nvSpPr>
          <p:cNvPr id="44" name="TextBox 43"/>
          <p:cNvSpPr txBox="1"/>
          <p:nvPr/>
        </p:nvSpPr>
        <p:spPr>
          <a:xfrm>
            <a:off x="10034777" y="3172968"/>
            <a:ext cx="1580845" cy="201168"/>
          </a:xfrm>
          <a:prstGeom prst="rect">
            <a:avLst/>
          </a:prstGeom>
          <a:noFill/>
        </p:spPr>
        <p:txBody>
          <a:bodyPr wrap="square" anchor="t" lIns="0" rIns="0" tIns="0" bIns="0">
            <a:spAutoFit/>
          </a:bodyPr>
          <a:lstStyle/>
          <a:p>
            <a:pPr algn="l"/>
            <a:r>
              <a:rPr sz="900" b="0">
                <a:solidFill>
                  <a:srgbClr val="6B7280"/>
                </a:solidFill>
                <a:latin typeface="Calibri"/>
              </a:rPr>
              <a:t>1994 · Game Boy · Nintendo</a:t>
            </a:r>
          </a:p>
        </p:txBody>
      </p:sp>
      <p:sp>
        <p:nvSpPr>
          <p:cNvPr id="45" name="Rounded Rectangle 44"/>
          <p:cNvSpPr/>
          <p:nvPr/>
        </p:nvSpPr>
        <p:spPr>
          <a:xfrm>
            <a:off x="502920" y="3717036"/>
            <a:ext cx="1727149" cy="2318004"/>
          </a:xfrm>
          <a:prstGeom prst="roundRect">
            <a:avLst>
              <a:gd name="adj" fmla="val 6000"/>
            </a:avLst>
          </a:prstGeom>
          <a:solidFill>
            <a:srgbClr val="F3F4F6"/>
          </a:solidFill>
          <a:ln>
            <a:noFill/>
          </a:ln>
        </p:spPr>
        <p:txBody>
          <a:bodyPr rtlCol="0" anchor="ctr"/>
          <a:lstStyle/>
          <a:p>
            <a:pPr algn="ctr"/>
          </a:p>
        </p:txBody>
      </p:sp>
      <p:pic>
        <p:nvPicPr>
          <p:cNvPr id="46" name="Picture 45" descr="f19.png"/>
          <p:cNvPicPr>
            <a:picLocks noChangeAspect="1"/>
          </p:cNvPicPr>
          <p:nvPr/>
        </p:nvPicPr>
        <p:blipFill>
          <a:blip r:embed="rId8"/>
          <a:stretch>
            <a:fillRect/>
          </a:stretch>
        </p:blipFill>
        <p:spPr>
          <a:xfrm>
            <a:off x="618696" y="3790188"/>
            <a:ext cx="1495596" cy="1115568"/>
          </a:xfrm>
          <a:prstGeom prst="rect">
            <a:avLst/>
          </a:prstGeom>
        </p:spPr>
      </p:pic>
      <p:sp>
        <p:nvSpPr>
          <p:cNvPr id="47" name="Oval 46"/>
          <p:cNvSpPr/>
          <p:nvPr/>
        </p:nvSpPr>
        <p:spPr>
          <a:xfrm>
            <a:off x="1809445" y="4960620"/>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19</a:t>
            </a:r>
          </a:p>
        </p:txBody>
      </p:sp>
      <p:sp>
        <p:nvSpPr>
          <p:cNvPr id="48" name="TextBox 47"/>
          <p:cNvSpPr txBox="1"/>
          <p:nvPr/>
        </p:nvSpPr>
        <p:spPr>
          <a:xfrm>
            <a:off x="576072" y="4978908"/>
            <a:ext cx="1178509" cy="365760"/>
          </a:xfrm>
          <a:prstGeom prst="rect">
            <a:avLst/>
          </a:prstGeom>
          <a:noFill/>
        </p:spPr>
        <p:txBody>
          <a:bodyPr wrap="square" anchor="t" lIns="0" rIns="0" tIns="0" bIns="0">
            <a:spAutoFit/>
          </a:bodyPr>
          <a:lstStyle/>
          <a:p>
            <a:pPr algn="l"/>
            <a:r>
              <a:rPr sz="1150" b="1">
                <a:solidFill>
                  <a:srgbClr val="1F2937"/>
                </a:solidFill>
                <a:latin typeface="Calibri"/>
              </a:rPr>
              <a:t>LittleBigPlanet</a:t>
            </a:r>
          </a:p>
        </p:txBody>
      </p:sp>
      <p:sp>
        <p:nvSpPr>
          <p:cNvPr id="49" name="TextBox 48"/>
          <p:cNvSpPr txBox="1"/>
          <p:nvPr/>
        </p:nvSpPr>
        <p:spPr>
          <a:xfrm>
            <a:off x="576072" y="5417820"/>
            <a:ext cx="1580845" cy="237744"/>
          </a:xfrm>
          <a:prstGeom prst="rect">
            <a:avLst/>
          </a:prstGeom>
          <a:noFill/>
        </p:spPr>
        <p:txBody>
          <a:bodyPr wrap="square" anchor="t" lIns="0" rIns="0" tIns="0" bIns="0">
            <a:spAutoFit/>
          </a:bodyPr>
          <a:lstStyle/>
          <a:p>
            <a:pPr algn="l"/>
            <a:r>
              <a:rPr sz="1500" b="1">
                <a:solidFill>
                  <a:srgbClr val="0D9488"/>
                </a:solidFill>
                <a:latin typeface="Calibri"/>
              </a:rPr>
              <a:t>11,5</a:t>
            </a:r>
            <a:r>
              <a:rPr sz="900" b="0">
                <a:solidFill>
                  <a:srgbClr val="6B7280"/>
                </a:solidFill>
                <a:latin typeface="Calibri"/>
              </a:rPr>
              <a:t> M de unidades</a:t>
            </a:r>
          </a:p>
        </p:txBody>
      </p:sp>
      <p:sp>
        <p:nvSpPr>
          <p:cNvPr id="50" name="TextBox 49"/>
          <p:cNvSpPr txBox="1"/>
          <p:nvPr/>
        </p:nvSpPr>
        <p:spPr>
          <a:xfrm>
            <a:off x="576072" y="5655564"/>
            <a:ext cx="1580845" cy="201168"/>
          </a:xfrm>
          <a:prstGeom prst="rect">
            <a:avLst/>
          </a:prstGeom>
          <a:noFill/>
        </p:spPr>
        <p:txBody>
          <a:bodyPr wrap="square" anchor="t" lIns="0" rIns="0" tIns="0" bIns="0">
            <a:spAutoFit/>
          </a:bodyPr>
          <a:lstStyle/>
          <a:p>
            <a:pPr algn="l"/>
            <a:r>
              <a:rPr sz="900" b="0">
                <a:solidFill>
                  <a:srgbClr val="6B7280"/>
                </a:solidFill>
                <a:latin typeface="Calibri"/>
              </a:rPr>
              <a:t>2008 · PS3 · Sony</a:t>
            </a:r>
          </a:p>
        </p:txBody>
      </p:sp>
      <p:sp>
        <p:nvSpPr>
          <p:cNvPr id="51" name="Rounded Rectangle 50"/>
          <p:cNvSpPr/>
          <p:nvPr/>
        </p:nvSpPr>
        <p:spPr>
          <a:xfrm>
            <a:off x="2394661" y="3717036"/>
            <a:ext cx="1727149" cy="2318004"/>
          </a:xfrm>
          <a:prstGeom prst="roundRect">
            <a:avLst>
              <a:gd name="adj" fmla="val 6000"/>
            </a:avLst>
          </a:prstGeom>
          <a:solidFill>
            <a:srgbClr val="F3F4F6"/>
          </a:solidFill>
          <a:ln>
            <a:noFill/>
          </a:ln>
        </p:spPr>
        <p:txBody>
          <a:bodyPr rtlCol="0" anchor="ctr"/>
          <a:lstStyle/>
          <a:p>
            <a:pPr algn="ctr"/>
          </a:p>
        </p:txBody>
      </p:sp>
      <p:pic>
        <p:nvPicPr>
          <p:cNvPr id="52" name="Picture 51" descr="f20.jpg"/>
          <p:cNvPicPr>
            <a:picLocks noChangeAspect="1"/>
          </p:cNvPicPr>
          <p:nvPr/>
        </p:nvPicPr>
        <p:blipFill>
          <a:blip r:embed="rId9"/>
          <a:stretch>
            <a:fillRect/>
          </a:stretch>
        </p:blipFill>
        <p:spPr>
          <a:xfrm>
            <a:off x="2849303" y="3790188"/>
            <a:ext cx="817865" cy="1115568"/>
          </a:xfrm>
          <a:prstGeom prst="rect">
            <a:avLst/>
          </a:prstGeom>
        </p:spPr>
      </p:pic>
      <p:sp>
        <p:nvSpPr>
          <p:cNvPr id="53" name="Oval 52"/>
          <p:cNvSpPr/>
          <p:nvPr/>
        </p:nvSpPr>
        <p:spPr>
          <a:xfrm>
            <a:off x="3701186" y="4960620"/>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20</a:t>
            </a:r>
          </a:p>
        </p:txBody>
      </p:sp>
      <p:sp>
        <p:nvSpPr>
          <p:cNvPr id="54" name="TextBox 53"/>
          <p:cNvSpPr txBox="1"/>
          <p:nvPr/>
        </p:nvSpPr>
        <p:spPr>
          <a:xfrm>
            <a:off x="2467813" y="4978908"/>
            <a:ext cx="1178509" cy="365760"/>
          </a:xfrm>
          <a:prstGeom prst="rect">
            <a:avLst/>
          </a:prstGeom>
          <a:noFill/>
        </p:spPr>
        <p:txBody>
          <a:bodyPr wrap="square" anchor="t" lIns="0" rIns="0" tIns="0" bIns="0">
            <a:spAutoFit/>
          </a:bodyPr>
          <a:lstStyle/>
          <a:p>
            <a:pPr algn="l"/>
            <a:r>
              <a:rPr sz="1150" b="1">
                <a:solidFill>
                  <a:srgbClr val="1F2937"/>
                </a:solidFill>
                <a:latin typeface="Calibri"/>
              </a:rPr>
              <a:t>Pitfall</a:t>
            </a:r>
          </a:p>
        </p:txBody>
      </p:sp>
      <p:sp>
        <p:nvSpPr>
          <p:cNvPr id="55" name="TextBox 54"/>
          <p:cNvSpPr txBox="1"/>
          <p:nvPr/>
        </p:nvSpPr>
        <p:spPr>
          <a:xfrm>
            <a:off x="2467813" y="5417820"/>
            <a:ext cx="1580845" cy="237744"/>
          </a:xfrm>
          <a:prstGeom prst="rect">
            <a:avLst/>
          </a:prstGeom>
          <a:noFill/>
        </p:spPr>
        <p:txBody>
          <a:bodyPr wrap="square" anchor="t" lIns="0" rIns="0" tIns="0" bIns="0">
            <a:spAutoFit/>
          </a:bodyPr>
          <a:lstStyle/>
          <a:p>
            <a:pPr algn="l"/>
            <a:r>
              <a:rPr sz="1500" b="1">
                <a:solidFill>
                  <a:srgbClr val="0D9488"/>
                </a:solidFill>
                <a:latin typeface="Calibri"/>
              </a:rPr>
              <a:t>10,0</a:t>
            </a:r>
            <a:r>
              <a:rPr sz="900" b="0">
                <a:solidFill>
                  <a:srgbClr val="6B7280"/>
                </a:solidFill>
                <a:latin typeface="Calibri"/>
              </a:rPr>
              <a:t> M de unidades</a:t>
            </a:r>
          </a:p>
        </p:txBody>
      </p:sp>
      <p:sp>
        <p:nvSpPr>
          <p:cNvPr id="56" name="TextBox 55"/>
          <p:cNvSpPr txBox="1"/>
          <p:nvPr/>
        </p:nvSpPr>
        <p:spPr>
          <a:xfrm>
            <a:off x="2467813" y="5655564"/>
            <a:ext cx="1580845" cy="201168"/>
          </a:xfrm>
          <a:prstGeom prst="rect">
            <a:avLst/>
          </a:prstGeom>
          <a:noFill/>
        </p:spPr>
        <p:txBody>
          <a:bodyPr wrap="square" anchor="t" lIns="0" rIns="0" tIns="0" bIns="0">
            <a:spAutoFit/>
          </a:bodyPr>
          <a:lstStyle/>
          <a:p>
            <a:pPr algn="l"/>
            <a:r>
              <a:rPr sz="900" b="0">
                <a:solidFill>
                  <a:srgbClr val="6B7280"/>
                </a:solidFill>
                <a:latin typeface="Calibri"/>
              </a:rPr>
              <a:t>1982 · Atari 2600 · Activision</a:t>
            </a:r>
          </a:p>
        </p:txBody>
      </p:sp>
      <p:sp>
        <p:nvSpPr>
          <p:cNvPr id="57" name="Rounded Rectangle 56"/>
          <p:cNvSpPr/>
          <p:nvPr/>
        </p:nvSpPr>
        <p:spPr>
          <a:xfrm>
            <a:off x="4286402" y="3717036"/>
            <a:ext cx="1727149" cy="2318004"/>
          </a:xfrm>
          <a:prstGeom prst="roundRect">
            <a:avLst>
              <a:gd name="adj" fmla="val 6000"/>
            </a:avLst>
          </a:prstGeom>
          <a:solidFill>
            <a:srgbClr val="F3F4F6"/>
          </a:solidFill>
          <a:ln>
            <a:noFill/>
          </a:ln>
        </p:spPr>
        <p:txBody>
          <a:bodyPr rtlCol="0" anchor="ctr"/>
          <a:lstStyle/>
          <a:p>
            <a:pPr algn="ctr"/>
          </a:p>
        </p:txBody>
      </p:sp>
      <p:pic>
        <p:nvPicPr>
          <p:cNvPr id="58" name="Picture 57" descr="f21.jpg"/>
          <p:cNvPicPr>
            <a:picLocks noChangeAspect="1"/>
          </p:cNvPicPr>
          <p:nvPr/>
        </p:nvPicPr>
        <p:blipFill>
          <a:blip r:embed="rId10"/>
          <a:stretch>
            <a:fillRect/>
          </a:stretch>
        </p:blipFill>
        <p:spPr>
          <a:xfrm>
            <a:off x="4744315" y="3790188"/>
            <a:ext cx="811322" cy="1115568"/>
          </a:xfrm>
          <a:prstGeom prst="rect">
            <a:avLst/>
          </a:prstGeom>
        </p:spPr>
      </p:pic>
      <p:sp>
        <p:nvSpPr>
          <p:cNvPr id="59" name="Oval 58"/>
          <p:cNvSpPr/>
          <p:nvPr/>
        </p:nvSpPr>
        <p:spPr>
          <a:xfrm>
            <a:off x="5592927" y="4960620"/>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21</a:t>
            </a:r>
          </a:p>
        </p:txBody>
      </p:sp>
      <p:sp>
        <p:nvSpPr>
          <p:cNvPr id="60" name="TextBox 59"/>
          <p:cNvSpPr txBox="1"/>
          <p:nvPr/>
        </p:nvSpPr>
        <p:spPr>
          <a:xfrm>
            <a:off x="4359554" y="4978908"/>
            <a:ext cx="1178509" cy="365760"/>
          </a:xfrm>
          <a:prstGeom prst="rect">
            <a:avLst/>
          </a:prstGeom>
          <a:noFill/>
        </p:spPr>
        <p:txBody>
          <a:bodyPr wrap="square" anchor="t" lIns="0" rIns="0" tIns="0" bIns="0">
            <a:spAutoFit/>
          </a:bodyPr>
          <a:lstStyle/>
          <a:p>
            <a:pPr algn="l"/>
            <a:r>
              <a:rPr sz="1150" b="1">
                <a:solidFill>
                  <a:srgbClr val="1F2937"/>
                </a:solidFill>
                <a:latin typeface="Calibri"/>
              </a:rPr>
              <a:t>Adventure Island</a:t>
            </a:r>
          </a:p>
        </p:txBody>
      </p:sp>
      <p:sp>
        <p:nvSpPr>
          <p:cNvPr id="61" name="TextBox 60"/>
          <p:cNvSpPr txBox="1"/>
          <p:nvPr/>
        </p:nvSpPr>
        <p:spPr>
          <a:xfrm>
            <a:off x="4359554" y="5417820"/>
            <a:ext cx="1580845" cy="237744"/>
          </a:xfrm>
          <a:prstGeom prst="rect">
            <a:avLst/>
          </a:prstGeom>
          <a:noFill/>
        </p:spPr>
        <p:txBody>
          <a:bodyPr wrap="square" anchor="t" lIns="0" rIns="0" tIns="0" bIns="0">
            <a:spAutoFit/>
          </a:bodyPr>
          <a:lstStyle/>
          <a:p>
            <a:pPr algn="l"/>
            <a:r>
              <a:rPr sz="1500" b="1">
                <a:solidFill>
                  <a:srgbClr val="0D9488"/>
                </a:solidFill>
                <a:latin typeface="Calibri"/>
              </a:rPr>
              <a:t>10,0</a:t>
            </a:r>
            <a:r>
              <a:rPr sz="900" b="0">
                <a:solidFill>
                  <a:srgbClr val="6B7280"/>
                </a:solidFill>
                <a:latin typeface="Calibri"/>
              </a:rPr>
              <a:t> M de unidades</a:t>
            </a:r>
          </a:p>
        </p:txBody>
      </p:sp>
      <p:sp>
        <p:nvSpPr>
          <p:cNvPr id="62" name="TextBox 61"/>
          <p:cNvSpPr txBox="1"/>
          <p:nvPr/>
        </p:nvSpPr>
        <p:spPr>
          <a:xfrm>
            <a:off x="4359554" y="5655564"/>
            <a:ext cx="1580845" cy="201168"/>
          </a:xfrm>
          <a:prstGeom prst="rect">
            <a:avLst/>
          </a:prstGeom>
          <a:noFill/>
        </p:spPr>
        <p:txBody>
          <a:bodyPr wrap="square" anchor="t" lIns="0" rIns="0" tIns="0" bIns="0">
            <a:spAutoFit/>
          </a:bodyPr>
          <a:lstStyle/>
          <a:p>
            <a:pPr algn="l"/>
            <a:r>
              <a:rPr sz="900" b="0">
                <a:solidFill>
                  <a:srgbClr val="6B7280"/>
                </a:solidFill>
                <a:latin typeface="Calibri"/>
              </a:rPr>
              <a:t>1986 · NES, MSX · Hudson Soft</a:t>
            </a:r>
          </a:p>
        </p:txBody>
      </p:sp>
      <p:sp>
        <p:nvSpPr>
          <p:cNvPr id="63" name="Rounded Rectangle 62"/>
          <p:cNvSpPr/>
          <p:nvPr/>
        </p:nvSpPr>
        <p:spPr>
          <a:xfrm>
            <a:off x="6178143" y="3717036"/>
            <a:ext cx="1727149" cy="2318004"/>
          </a:xfrm>
          <a:prstGeom prst="roundRect">
            <a:avLst>
              <a:gd name="adj" fmla="val 6000"/>
            </a:avLst>
          </a:prstGeom>
          <a:solidFill>
            <a:srgbClr val="F3F4F6"/>
          </a:solidFill>
          <a:ln>
            <a:noFill/>
          </a:ln>
        </p:spPr>
        <p:txBody>
          <a:bodyPr rtlCol="0" anchor="ctr"/>
          <a:lstStyle/>
          <a:p>
            <a:pPr algn="ctr"/>
          </a:p>
        </p:txBody>
      </p:sp>
      <p:pic>
        <p:nvPicPr>
          <p:cNvPr id="64" name="Picture 63" descr="f22.png"/>
          <p:cNvPicPr>
            <a:picLocks noChangeAspect="1"/>
          </p:cNvPicPr>
          <p:nvPr/>
        </p:nvPicPr>
        <p:blipFill>
          <a:blip r:embed="rId11"/>
          <a:stretch>
            <a:fillRect/>
          </a:stretch>
        </p:blipFill>
        <p:spPr>
          <a:xfrm>
            <a:off x="6251295" y="4235732"/>
            <a:ext cx="1580845" cy="224479"/>
          </a:xfrm>
          <a:prstGeom prst="rect">
            <a:avLst/>
          </a:prstGeom>
        </p:spPr>
      </p:pic>
      <p:sp>
        <p:nvSpPr>
          <p:cNvPr id="65" name="Oval 64"/>
          <p:cNvSpPr/>
          <p:nvPr/>
        </p:nvSpPr>
        <p:spPr>
          <a:xfrm>
            <a:off x="7484668" y="4960620"/>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22</a:t>
            </a:r>
          </a:p>
        </p:txBody>
      </p:sp>
      <p:sp>
        <p:nvSpPr>
          <p:cNvPr id="66" name="TextBox 65"/>
          <p:cNvSpPr txBox="1"/>
          <p:nvPr/>
        </p:nvSpPr>
        <p:spPr>
          <a:xfrm>
            <a:off x="6251295" y="4978908"/>
            <a:ext cx="1178509" cy="365760"/>
          </a:xfrm>
          <a:prstGeom prst="rect">
            <a:avLst/>
          </a:prstGeom>
          <a:noFill/>
        </p:spPr>
        <p:txBody>
          <a:bodyPr wrap="square" anchor="t" lIns="0" rIns="0" tIns="0" bIns="0">
            <a:spAutoFit/>
          </a:bodyPr>
          <a:lstStyle/>
          <a:p>
            <a:pPr algn="l"/>
            <a:r>
              <a:rPr sz="1150" b="1">
                <a:solidFill>
                  <a:srgbClr val="1F2937"/>
                </a:solidFill>
                <a:latin typeface="Calibri"/>
              </a:rPr>
              <a:t>Oddworld</a:t>
            </a:r>
          </a:p>
        </p:txBody>
      </p:sp>
      <p:sp>
        <p:nvSpPr>
          <p:cNvPr id="67" name="TextBox 66"/>
          <p:cNvSpPr txBox="1"/>
          <p:nvPr/>
        </p:nvSpPr>
        <p:spPr>
          <a:xfrm>
            <a:off x="6251295" y="5417820"/>
            <a:ext cx="1580845" cy="237744"/>
          </a:xfrm>
          <a:prstGeom prst="rect">
            <a:avLst/>
          </a:prstGeom>
          <a:noFill/>
        </p:spPr>
        <p:txBody>
          <a:bodyPr wrap="square" anchor="t" lIns="0" rIns="0" tIns="0" bIns="0">
            <a:spAutoFit/>
          </a:bodyPr>
          <a:lstStyle/>
          <a:p>
            <a:pPr algn="l"/>
            <a:r>
              <a:rPr sz="1500" b="1">
                <a:solidFill>
                  <a:srgbClr val="0D9488"/>
                </a:solidFill>
                <a:latin typeface="Calibri"/>
              </a:rPr>
              <a:t>7,0</a:t>
            </a:r>
            <a:r>
              <a:rPr sz="900" b="0">
                <a:solidFill>
                  <a:srgbClr val="6B7280"/>
                </a:solidFill>
                <a:latin typeface="Calibri"/>
              </a:rPr>
              <a:t> M de unidades</a:t>
            </a:r>
          </a:p>
        </p:txBody>
      </p:sp>
      <p:sp>
        <p:nvSpPr>
          <p:cNvPr id="68" name="TextBox 67"/>
          <p:cNvSpPr txBox="1"/>
          <p:nvPr/>
        </p:nvSpPr>
        <p:spPr>
          <a:xfrm>
            <a:off x="6251295" y="5655564"/>
            <a:ext cx="1580845" cy="201168"/>
          </a:xfrm>
          <a:prstGeom prst="rect">
            <a:avLst/>
          </a:prstGeom>
          <a:noFill/>
        </p:spPr>
        <p:txBody>
          <a:bodyPr wrap="square" anchor="t" lIns="0" rIns="0" tIns="0" bIns="0">
            <a:spAutoFit/>
          </a:bodyPr>
          <a:lstStyle/>
          <a:p>
            <a:pPr algn="l"/>
            <a:r>
              <a:rPr sz="900" b="0">
                <a:solidFill>
                  <a:srgbClr val="6B7280"/>
                </a:solidFill>
                <a:latin typeface="Calibri"/>
              </a:rPr>
              <a:t>1997 · PS1 · Oddworld Inhabitants</a:t>
            </a:r>
          </a:p>
        </p:txBody>
      </p:sp>
      <p:sp>
        <p:nvSpPr>
          <p:cNvPr id="69" name="Rounded Rectangle 68"/>
          <p:cNvSpPr/>
          <p:nvPr/>
        </p:nvSpPr>
        <p:spPr>
          <a:xfrm>
            <a:off x="8069884" y="3717036"/>
            <a:ext cx="1727149" cy="2318004"/>
          </a:xfrm>
          <a:prstGeom prst="roundRect">
            <a:avLst>
              <a:gd name="adj" fmla="val 6000"/>
            </a:avLst>
          </a:prstGeom>
          <a:solidFill>
            <a:srgbClr val="F3F4F6"/>
          </a:solidFill>
          <a:ln>
            <a:noFill/>
          </a:ln>
        </p:spPr>
        <p:txBody>
          <a:bodyPr rtlCol="0" anchor="ctr"/>
          <a:lstStyle/>
          <a:p>
            <a:pPr algn="ctr"/>
          </a:p>
        </p:txBody>
      </p:sp>
      <p:pic>
        <p:nvPicPr>
          <p:cNvPr id="70" name="Picture 69" descr="f23.png"/>
          <p:cNvPicPr>
            <a:picLocks noChangeAspect="1"/>
          </p:cNvPicPr>
          <p:nvPr/>
        </p:nvPicPr>
        <p:blipFill>
          <a:blip r:embed="rId12"/>
          <a:stretch>
            <a:fillRect/>
          </a:stretch>
        </p:blipFill>
        <p:spPr>
          <a:xfrm>
            <a:off x="8143036" y="3900819"/>
            <a:ext cx="1580845" cy="894306"/>
          </a:xfrm>
          <a:prstGeom prst="rect">
            <a:avLst/>
          </a:prstGeom>
        </p:spPr>
      </p:pic>
      <p:sp>
        <p:nvSpPr>
          <p:cNvPr id="71" name="Oval 70"/>
          <p:cNvSpPr/>
          <p:nvPr/>
        </p:nvSpPr>
        <p:spPr>
          <a:xfrm>
            <a:off x="9376409" y="4960620"/>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23</a:t>
            </a:r>
          </a:p>
        </p:txBody>
      </p:sp>
      <p:sp>
        <p:nvSpPr>
          <p:cNvPr id="72" name="TextBox 71"/>
          <p:cNvSpPr txBox="1"/>
          <p:nvPr/>
        </p:nvSpPr>
        <p:spPr>
          <a:xfrm>
            <a:off x="8143036" y="4978908"/>
            <a:ext cx="1178509" cy="365760"/>
          </a:xfrm>
          <a:prstGeom prst="rect">
            <a:avLst/>
          </a:prstGeom>
          <a:noFill/>
        </p:spPr>
        <p:txBody>
          <a:bodyPr wrap="square" anchor="t" lIns="0" rIns="0" tIns="0" bIns="0">
            <a:spAutoFit/>
          </a:bodyPr>
          <a:lstStyle/>
          <a:p>
            <a:pPr algn="l"/>
            <a:r>
              <a:rPr sz="1150" b="1">
                <a:solidFill>
                  <a:srgbClr val="1F2937"/>
                </a:solidFill>
                <a:latin typeface="Calibri"/>
              </a:rPr>
              <a:t>Sly Cooper</a:t>
            </a:r>
          </a:p>
        </p:txBody>
      </p:sp>
      <p:sp>
        <p:nvSpPr>
          <p:cNvPr id="73" name="TextBox 72"/>
          <p:cNvSpPr txBox="1"/>
          <p:nvPr/>
        </p:nvSpPr>
        <p:spPr>
          <a:xfrm>
            <a:off x="8143036" y="5417820"/>
            <a:ext cx="1580845" cy="237744"/>
          </a:xfrm>
          <a:prstGeom prst="rect">
            <a:avLst/>
          </a:prstGeom>
          <a:noFill/>
        </p:spPr>
        <p:txBody>
          <a:bodyPr wrap="square" anchor="t" lIns="0" rIns="0" tIns="0" bIns="0">
            <a:spAutoFit/>
          </a:bodyPr>
          <a:lstStyle/>
          <a:p>
            <a:pPr algn="l"/>
            <a:r>
              <a:rPr sz="1500" b="1">
                <a:solidFill>
                  <a:srgbClr val="0D9488"/>
                </a:solidFill>
                <a:latin typeface="Calibri"/>
              </a:rPr>
              <a:t>5,4</a:t>
            </a:r>
            <a:r>
              <a:rPr sz="900" b="0">
                <a:solidFill>
                  <a:srgbClr val="6B7280"/>
                </a:solidFill>
                <a:latin typeface="Calibri"/>
              </a:rPr>
              <a:t> M de unidades</a:t>
            </a:r>
          </a:p>
        </p:txBody>
      </p:sp>
      <p:sp>
        <p:nvSpPr>
          <p:cNvPr id="74" name="TextBox 73"/>
          <p:cNvSpPr txBox="1"/>
          <p:nvPr/>
        </p:nvSpPr>
        <p:spPr>
          <a:xfrm>
            <a:off x="8143036" y="5655564"/>
            <a:ext cx="1580845" cy="201168"/>
          </a:xfrm>
          <a:prstGeom prst="rect">
            <a:avLst/>
          </a:prstGeom>
          <a:noFill/>
        </p:spPr>
        <p:txBody>
          <a:bodyPr wrap="square" anchor="t" lIns="0" rIns="0" tIns="0" bIns="0">
            <a:spAutoFit/>
          </a:bodyPr>
          <a:lstStyle/>
          <a:p>
            <a:pPr algn="l"/>
            <a:r>
              <a:rPr sz="900" b="0">
                <a:solidFill>
                  <a:srgbClr val="6B7280"/>
                </a:solidFill>
                <a:latin typeface="Calibri"/>
              </a:rPr>
              <a:t>2002 · PS2 · Sony</a:t>
            </a:r>
          </a:p>
        </p:txBody>
      </p:sp>
      <p:sp>
        <p:nvSpPr>
          <p:cNvPr id="75" name="Rounded Rectangle 74"/>
          <p:cNvSpPr/>
          <p:nvPr/>
        </p:nvSpPr>
        <p:spPr>
          <a:xfrm>
            <a:off x="9961625" y="3717036"/>
            <a:ext cx="1727149" cy="2318004"/>
          </a:xfrm>
          <a:prstGeom prst="roundRect">
            <a:avLst>
              <a:gd name="adj" fmla="val 6000"/>
            </a:avLst>
          </a:prstGeom>
          <a:solidFill>
            <a:srgbClr val="F3F4F6"/>
          </a:solidFill>
          <a:ln>
            <a:noFill/>
          </a:ln>
        </p:spPr>
        <p:txBody>
          <a:bodyPr rtlCol="0" anchor="ctr"/>
          <a:lstStyle/>
          <a:p>
            <a:pPr algn="ctr"/>
          </a:p>
        </p:txBody>
      </p:sp>
      <p:pic>
        <p:nvPicPr>
          <p:cNvPr id="76" name="Picture 75" descr="f24.png"/>
          <p:cNvPicPr>
            <a:picLocks noChangeAspect="1"/>
          </p:cNvPicPr>
          <p:nvPr/>
        </p:nvPicPr>
        <p:blipFill>
          <a:blip r:embed="rId13"/>
          <a:stretch>
            <a:fillRect/>
          </a:stretch>
        </p:blipFill>
        <p:spPr>
          <a:xfrm>
            <a:off x="10034777" y="4034965"/>
            <a:ext cx="1580845" cy="626014"/>
          </a:xfrm>
          <a:prstGeom prst="rect">
            <a:avLst/>
          </a:prstGeom>
        </p:spPr>
      </p:pic>
      <p:sp>
        <p:nvSpPr>
          <p:cNvPr id="77" name="Oval 76"/>
          <p:cNvSpPr/>
          <p:nvPr/>
        </p:nvSpPr>
        <p:spPr>
          <a:xfrm>
            <a:off x="11268150" y="4960620"/>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24</a:t>
            </a:r>
          </a:p>
        </p:txBody>
      </p:sp>
      <p:sp>
        <p:nvSpPr>
          <p:cNvPr id="78" name="TextBox 77"/>
          <p:cNvSpPr txBox="1"/>
          <p:nvPr/>
        </p:nvSpPr>
        <p:spPr>
          <a:xfrm>
            <a:off x="10034777" y="4978908"/>
            <a:ext cx="1178509" cy="365760"/>
          </a:xfrm>
          <a:prstGeom prst="rect">
            <a:avLst/>
          </a:prstGeom>
          <a:noFill/>
        </p:spPr>
        <p:txBody>
          <a:bodyPr wrap="square" anchor="t" lIns="0" rIns="0" tIns="0" bIns="0">
            <a:spAutoFit/>
          </a:bodyPr>
          <a:lstStyle/>
          <a:p>
            <a:pPr algn="l"/>
            <a:r>
              <a:rPr sz="1150" b="1">
                <a:solidFill>
                  <a:srgbClr val="1F2937"/>
                </a:solidFill>
                <a:latin typeface="Calibri"/>
              </a:rPr>
              <a:t>Banjo-Kazooie</a:t>
            </a:r>
          </a:p>
        </p:txBody>
      </p:sp>
      <p:sp>
        <p:nvSpPr>
          <p:cNvPr id="79" name="TextBox 78"/>
          <p:cNvSpPr txBox="1"/>
          <p:nvPr/>
        </p:nvSpPr>
        <p:spPr>
          <a:xfrm>
            <a:off x="10034777" y="5417820"/>
            <a:ext cx="1580845" cy="237744"/>
          </a:xfrm>
          <a:prstGeom prst="rect">
            <a:avLst/>
          </a:prstGeom>
          <a:noFill/>
        </p:spPr>
        <p:txBody>
          <a:bodyPr wrap="square" anchor="t" lIns="0" rIns="0" tIns="0" bIns="0">
            <a:spAutoFit/>
          </a:bodyPr>
          <a:lstStyle/>
          <a:p>
            <a:pPr algn="l"/>
            <a:r>
              <a:rPr sz="1500" b="1">
                <a:solidFill>
                  <a:srgbClr val="0D9488"/>
                </a:solidFill>
                <a:latin typeface="Calibri"/>
              </a:rPr>
              <a:t>5,1</a:t>
            </a:r>
            <a:r>
              <a:rPr sz="900" b="0">
                <a:solidFill>
                  <a:srgbClr val="6B7280"/>
                </a:solidFill>
                <a:latin typeface="Calibri"/>
              </a:rPr>
              <a:t> M de unidades</a:t>
            </a:r>
          </a:p>
        </p:txBody>
      </p:sp>
      <p:sp>
        <p:nvSpPr>
          <p:cNvPr id="80" name="TextBox 79"/>
          <p:cNvSpPr txBox="1"/>
          <p:nvPr/>
        </p:nvSpPr>
        <p:spPr>
          <a:xfrm>
            <a:off x="10034777" y="5655564"/>
            <a:ext cx="1580845" cy="201168"/>
          </a:xfrm>
          <a:prstGeom prst="rect">
            <a:avLst/>
          </a:prstGeom>
          <a:noFill/>
        </p:spPr>
        <p:txBody>
          <a:bodyPr wrap="square" anchor="t" lIns="0" rIns="0" tIns="0" bIns="0">
            <a:spAutoFit/>
          </a:bodyPr>
          <a:lstStyle/>
          <a:p>
            <a:pPr algn="l"/>
            <a:r>
              <a:rPr sz="900" b="0">
                <a:solidFill>
                  <a:srgbClr val="6B7280"/>
                </a:solidFill>
                <a:latin typeface="Calibri"/>
              </a:rPr>
              <a:t>1998 · N64 · Microsoft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69</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 PLATAFORMEROS · JUEGOS 1–10</a:t>
            </a:r>
          </a:p>
          <a:p>
            <a:r>
              <a:rPr sz="2600" b="1" i="0">
                <a:solidFill>
                  <a:srgbClr val="FFFFFF"/>
                </a:solidFill>
                <a:latin typeface="Calibri"/>
              </a:rPr>
              <a:t>Juegos de plataformas más vendidos (1 de 5)</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Anexo · Los plataformeros más vendidos</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69/74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VGSales Wiki, «Best-selling platformers» (ventas estimadas, consulta 19/10/2026); imágenes: Wikipedia, uso educativo</a:t>
            </a:r>
          </a:p>
        </p:txBody>
      </p:sp>
      <p:sp>
        <p:nvSpPr>
          <p:cNvPr id="9" name="Rounded Rectangle 8"/>
          <p:cNvSpPr/>
          <p:nvPr/>
        </p:nvSpPr>
        <p:spPr>
          <a:xfrm>
            <a:off x="502920" y="1234440"/>
            <a:ext cx="2105497" cy="2318004"/>
          </a:xfrm>
          <a:prstGeom prst="roundRect">
            <a:avLst>
              <a:gd name="adj" fmla="val 6000"/>
            </a:avLst>
          </a:prstGeom>
          <a:solidFill>
            <a:srgbClr val="F3F4F6"/>
          </a:solidFill>
          <a:ln>
            <a:noFill/>
          </a:ln>
        </p:spPr>
        <p:txBody>
          <a:bodyPr rtlCol="0" anchor="ctr"/>
          <a:lstStyle/>
          <a:p>
            <a:pPr algn="ctr"/>
          </a:p>
        </p:txBody>
      </p:sp>
      <p:pic>
        <p:nvPicPr>
          <p:cNvPr id="10" name="Picture 9" descr="g01.png"/>
          <p:cNvPicPr>
            <a:picLocks noChangeAspect="1"/>
          </p:cNvPicPr>
          <p:nvPr/>
        </p:nvPicPr>
        <p:blipFill>
          <a:blip r:embed="rId2"/>
          <a:stretch>
            <a:fillRect/>
          </a:stretch>
        </p:blipFill>
        <p:spPr>
          <a:xfrm>
            <a:off x="1169391" y="1307592"/>
            <a:ext cx="772554" cy="1115568"/>
          </a:xfrm>
          <a:prstGeom prst="rect">
            <a:avLst/>
          </a:prstGeom>
        </p:spPr>
      </p:pic>
      <p:sp>
        <p:nvSpPr>
          <p:cNvPr id="11" name="Oval 10"/>
          <p:cNvSpPr/>
          <p:nvPr/>
        </p:nvSpPr>
        <p:spPr>
          <a:xfrm>
            <a:off x="2187793" y="2478024"/>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1</a:t>
            </a:r>
          </a:p>
        </p:txBody>
      </p:sp>
      <p:sp>
        <p:nvSpPr>
          <p:cNvPr id="12" name="TextBox 11"/>
          <p:cNvSpPr txBox="1"/>
          <p:nvPr/>
        </p:nvSpPr>
        <p:spPr>
          <a:xfrm>
            <a:off x="576072" y="2496312"/>
            <a:ext cx="1556857" cy="365760"/>
          </a:xfrm>
          <a:prstGeom prst="rect">
            <a:avLst/>
          </a:prstGeom>
          <a:noFill/>
        </p:spPr>
        <p:txBody>
          <a:bodyPr wrap="square" anchor="t" lIns="0" rIns="0" tIns="0" bIns="0">
            <a:spAutoFit/>
          </a:bodyPr>
          <a:lstStyle/>
          <a:p>
            <a:pPr algn="l"/>
            <a:r>
              <a:rPr sz="1150" b="1">
                <a:solidFill>
                  <a:srgbClr val="1F2937"/>
                </a:solidFill>
                <a:latin typeface="Calibri"/>
              </a:rPr>
              <a:t>Super Mario Bros.</a:t>
            </a:r>
          </a:p>
        </p:txBody>
      </p:sp>
      <p:sp>
        <p:nvSpPr>
          <p:cNvPr id="13" name="TextBox 12"/>
          <p:cNvSpPr txBox="1"/>
          <p:nvPr/>
        </p:nvSpPr>
        <p:spPr>
          <a:xfrm>
            <a:off x="576072" y="2935224"/>
            <a:ext cx="1959193" cy="237744"/>
          </a:xfrm>
          <a:prstGeom prst="rect">
            <a:avLst/>
          </a:prstGeom>
          <a:noFill/>
        </p:spPr>
        <p:txBody>
          <a:bodyPr wrap="square" anchor="t" lIns="0" rIns="0" tIns="0" bIns="0">
            <a:spAutoFit/>
          </a:bodyPr>
          <a:lstStyle/>
          <a:p>
            <a:pPr algn="l"/>
            <a:r>
              <a:rPr sz="1500" b="1">
                <a:solidFill>
                  <a:srgbClr val="0D9488"/>
                </a:solidFill>
                <a:latin typeface="Calibri"/>
              </a:rPr>
              <a:t>65,9</a:t>
            </a:r>
            <a:r>
              <a:rPr sz="900" b="0">
                <a:solidFill>
                  <a:srgbClr val="6B7280"/>
                </a:solidFill>
                <a:latin typeface="Calibri"/>
              </a:rPr>
              <a:t> M de unidades</a:t>
            </a:r>
          </a:p>
        </p:txBody>
      </p:sp>
      <p:sp>
        <p:nvSpPr>
          <p:cNvPr id="14" name="TextBox 13"/>
          <p:cNvSpPr txBox="1"/>
          <p:nvPr/>
        </p:nvSpPr>
        <p:spPr>
          <a:xfrm>
            <a:off x="576072" y="3172968"/>
            <a:ext cx="1959193" cy="201168"/>
          </a:xfrm>
          <a:prstGeom prst="rect">
            <a:avLst/>
          </a:prstGeom>
          <a:noFill/>
        </p:spPr>
        <p:txBody>
          <a:bodyPr wrap="square" anchor="t" lIns="0" rIns="0" tIns="0" bIns="0">
            <a:spAutoFit/>
          </a:bodyPr>
          <a:lstStyle/>
          <a:p>
            <a:pPr algn="l"/>
            <a:r>
              <a:rPr sz="900" b="0">
                <a:solidFill>
                  <a:srgbClr val="6B7280"/>
                </a:solidFill>
                <a:latin typeface="Calibri"/>
              </a:rPr>
              <a:t>1985 · Multiplataforma · Nintendo</a:t>
            </a:r>
          </a:p>
        </p:txBody>
      </p:sp>
      <p:sp>
        <p:nvSpPr>
          <p:cNvPr id="15" name="Rounded Rectangle 14"/>
          <p:cNvSpPr/>
          <p:nvPr/>
        </p:nvSpPr>
        <p:spPr>
          <a:xfrm>
            <a:off x="2773009" y="1234440"/>
            <a:ext cx="2105497" cy="2318004"/>
          </a:xfrm>
          <a:prstGeom prst="roundRect">
            <a:avLst>
              <a:gd name="adj" fmla="val 6000"/>
            </a:avLst>
          </a:prstGeom>
          <a:solidFill>
            <a:srgbClr val="F3F4F6"/>
          </a:solidFill>
          <a:ln>
            <a:noFill/>
          </a:ln>
        </p:spPr>
        <p:txBody>
          <a:bodyPr rtlCol="0" anchor="ctr"/>
          <a:lstStyle/>
          <a:p>
            <a:pPr algn="ctr"/>
          </a:p>
        </p:txBody>
      </p:sp>
      <p:pic>
        <p:nvPicPr>
          <p:cNvPr id="16" name="Picture 15" descr="g02.jpg"/>
          <p:cNvPicPr>
            <a:picLocks noChangeAspect="1"/>
          </p:cNvPicPr>
          <p:nvPr/>
        </p:nvPicPr>
        <p:blipFill>
          <a:blip r:embed="rId3"/>
          <a:stretch>
            <a:fillRect/>
          </a:stretch>
        </p:blipFill>
        <p:spPr>
          <a:xfrm>
            <a:off x="3267973" y="1307592"/>
            <a:ext cx="1115568" cy="1115568"/>
          </a:xfrm>
          <a:prstGeom prst="rect">
            <a:avLst/>
          </a:prstGeom>
        </p:spPr>
      </p:pic>
      <p:sp>
        <p:nvSpPr>
          <p:cNvPr id="17" name="Oval 16"/>
          <p:cNvSpPr/>
          <p:nvPr/>
        </p:nvSpPr>
        <p:spPr>
          <a:xfrm>
            <a:off x="4457882" y="2478024"/>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2</a:t>
            </a:r>
          </a:p>
        </p:txBody>
      </p:sp>
      <p:sp>
        <p:nvSpPr>
          <p:cNvPr id="18" name="TextBox 17"/>
          <p:cNvSpPr txBox="1"/>
          <p:nvPr/>
        </p:nvSpPr>
        <p:spPr>
          <a:xfrm>
            <a:off x="2846161" y="2496312"/>
            <a:ext cx="1556857" cy="365760"/>
          </a:xfrm>
          <a:prstGeom prst="rect">
            <a:avLst/>
          </a:prstGeom>
          <a:noFill/>
        </p:spPr>
        <p:txBody>
          <a:bodyPr wrap="square" anchor="t" lIns="0" rIns="0" tIns="0" bIns="0">
            <a:spAutoFit/>
          </a:bodyPr>
          <a:lstStyle/>
          <a:p>
            <a:pPr algn="l"/>
            <a:r>
              <a:rPr sz="1150" b="1">
                <a:solidFill>
                  <a:srgbClr val="1F2937"/>
                </a:solidFill>
                <a:latin typeface="Calibri"/>
              </a:rPr>
              <a:t>Human: Fall Flat</a:t>
            </a:r>
          </a:p>
        </p:txBody>
      </p:sp>
      <p:sp>
        <p:nvSpPr>
          <p:cNvPr id="19" name="TextBox 18"/>
          <p:cNvSpPr txBox="1"/>
          <p:nvPr/>
        </p:nvSpPr>
        <p:spPr>
          <a:xfrm>
            <a:off x="2846161" y="2935224"/>
            <a:ext cx="1959193" cy="237744"/>
          </a:xfrm>
          <a:prstGeom prst="rect">
            <a:avLst/>
          </a:prstGeom>
          <a:noFill/>
        </p:spPr>
        <p:txBody>
          <a:bodyPr wrap="square" anchor="t" lIns="0" rIns="0" tIns="0" bIns="0">
            <a:spAutoFit/>
          </a:bodyPr>
          <a:lstStyle/>
          <a:p>
            <a:pPr algn="l"/>
            <a:r>
              <a:rPr sz="1500" b="1">
                <a:solidFill>
                  <a:srgbClr val="0D9488"/>
                </a:solidFill>
                <a:latin typeface="Calibri"/>
              </a:rPr>
              <a:t>55,0</a:t>
            </a:r>
            <a:r>
              <a:rPr sz="900" b="0">
                <a:solidFill>
                  <a:srgbClr val="6B7280"/>
                </a:solidFill>
                <a:latin typeface="Calibri"/>
              </a:rPr>
              <a:t> M de unidades</a:t>
            </a:r>
          </a:p>
        </p:txBody>
      </p:sp>
      <p:sp>
        <p:nvSpPr>
          <p:cNvPr id="20" name="TextBox 19"/>
          <p:cNvSpPr txBox="1"/>
          <p:nvPr/>
        </p:nvSpPr>
        <p:spPr>
          <a:xfrm>
            <a:off x="2846161" y="3172968"/>
            <a:ext cx="1959193" cy="201168"/>
          </a:xfrm>
          <a:prstGeom prst="rect">
            <a:avLst/>
          </a:prstGeom>
          <a:noFill/>
        </p:spPr>
        <p:txBody>
          <a:bodyPr wrap="square" anchor="t" lIns="0" rIns="0" tIns="0" bIns="0">
            <a:spAutoFit/>
          </a:bodyPr>
          <a:lstStyle/>
          <a:p>
            <a:pPr algn="l"/>
            <a:r>
              <a:rPr sz="900" b="0">
                <a:solidFill>
                  <a:srgbClr val="6B7280"/>
                </a:solidFill>
                <a:latin typeface="Calibri"/>
              </a:rPr>
              <a:t>2016 · Multiplataforma · No Brakes</a:t>
            </a:r>
          </a:p>
        </p:txBody>
      </p:sp>
      <p:sp>
        <p:nvSpPr>
          <p:cNvPr id="21" name="Rounded Rectangle 20"/>
          <p:cNvSpPr/>
          <p:nvPr/>
        </p:nvSpPr>
        <p:spPr>
          <a:xfrm>
            <a:off x="5043098" y="1234440"/>
            <a:ext cx="2105497" cy="2318004"/>
          </a:xfrm>
          <a:prstGeom prst="roundRect">
            <a:avLst>
              <a:gd name="adj" fmla="val 6000"/>
            </a:avLst>
          </a:prstGeom>
          <a:solidFill>
            <a:srgbClr val="F3F4F6"/>
          </a:solidFill>
          <a:ln>
            <a:noFill/>
          </a:ln>
        </p:spPr>
        <p:txBody>
          <a:bodyPr rtlCol="0" anchor="ctr"/>
          <a:lstStyle/>
          <a:p>
            <a:pPr algn="ctr"/>
          </a:p>
        </p:txBody>
      </p:sp>
      <p:pic>
        <p:nvPicPr>
          <p:cNvPr id="22" name="Picture 21" descr="g03.jpg"/>
          <p:cNvPicPr>
            <a:picLocks noChangeAspect="1"/>
          </p:cNvPicPr>
          <p:nvPr/>
        </p:nvPicPr>
        <p:blipFill>
          <a:blip r:embed="rId4"/>
          <a:stretch>
            <a:fillRect/>
          </a:stretch>
        </p:blipFill>
        <p:spPr>
          <a:xfrm>
            <a:off x="5708971" y="1307592"/>
            <a:ext cx="773750" cy="1115568"/>
          </a:xfrm>
          <a:prstGeom prst="rect">
            <a:avLst/>
          </a:prstGeom>
        </p:spPr>
      </p:pic>
      <p:sp>
        <p:nvSpPr>
          <p:cNvPr id="23" name="Oval 22"/>
          <p:cNvSpPr/>
          <p:nvPr/>
        </p:nvSpPr>
        <p:spPr>
          <a:xfrm>
            <a:off x="6727971" y="2478024"/>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3</a:t>
            </a:r>
          </a:p>
        </p:txBody>
      </p:sp>
      <p:sp>
        <p:nvSpPr>
          <p:cNvPr id="24" name="TextBox 23"/>
          <p:cNvSpPr txBox="1"/>
          <p:nvPr/>
        </p:nvSpPr>
        <p:spPr>
          <a:xfrm>
            <a:off x="5116250" y="2496312"/>
            <a:ext cx="1556857" cy="365760"/>
          </a:xfrm>
          <a:prstGeom prst="rect">
            <a:avLst/>
          </a:prstGeom>
          <a:noFill/>
        </p:spPr>
        <p:txBody>
          <a:bodyPr wrap="square" anchor="t" lIns="0" rIns="0" tIns="0" bIns="0">
            <a:spAutoFit/>
          </a:bodyPr>
          <a:lstStyle/>
          <a:p>
            <a:pPr algn="l"/>
            <a:r>
              <a:rPr sz="1150" b="1">
                <a:solidFill>
                  <a:srgbClr val="1F2937"/>
                </a:solidFill>
                <a:latin typeface="Calibri"/>
              </a:rPr>
              <a:t>Sonic the Hedgehog</a:t>
            </a:r>
          </a:p>
        </p:txBody>
      </p:sp>
      <p:sp>
        <p:nvSpPr>
          <p:cNvPr id="25" name="TextBox 24"/>
          <p:cNvSpPr txBox="1"/>
          <p:nvPr/>
        </p:nvSpPr>
        <p:spPr>
          <a:xfrm>
            <a:off x="5116250" y="2935224"/>
            <a:ext cx="1959193" cy="237744"/>
          </a:xfrm>
          <a:prstGeom prst="rect">
            <a:avLst/>
          </a:prstGeom>
          <a:noFill/>
        </p:spPr>
        <p:txBody>
          <a:bodyPr wrap="square" anchor="t" lIns="0" rIns="0" tIns="0" bIns="0">
            <a:spAutoFit/>
          </a:bodyPr>
          <a:lstStyle/>
          <a:p>
            <a:pPr algn="l"/>
            <a:r>
              <a:rPr sz="1500" b="1">
                <a:solidFill>
                  <a:srgbClr val="0D9488"/>
                </a:solidFill>
                <a:latin typeface="Calibri"/>
              </a:rPr>
              <a:t>51,8</a:t>
            </a:r>
            <a:r>
              <a:rPr sz="900" b="0">
                <a:solidFill>
                  <a:srgbClr val="6B7280"/>
                </a:solidFill>
                <a:latin typeface="Calibri"/>
              </a:rPr>
              <a:t> M de unidades</a:t>
            </a:r>
          </a:p>
        </p:txBody>
      </p:sp>
      <p:sp>
        <p:nvSpPr>
          <p:cNvPr id="26" name="TextBox 25"/>
          <p:cNvSpPr txBox="1"/>
          <p:nvPr/>
        </p:nvSpPr>
        <p:spPr>
          <a:xfrm>
            <a:off x="5116250" y="3172968"/>
            <a:ext cx="1959193" cy="201168"/>
          </a:xfrm>
          <a:prstGeom prst="rect">
            <a:avLst/>
          </a:prstGeom>
          <a:noFill/>
        </p:spPr>
        <p:txBody>
          <a:bodyPr wrap="square" anchor="t" lIns="0" rIns="0" tIns="0" bIns="0">
            <a:spAutoFit/>
          </a:bodyPr>
          <a:lstStyle/>
          <a:p>
            <a:pPr algn="l"/>
            <a:r>
              <a:rPr sz="900" b="0">
                <a:solidFill>
                  <a:srgbClr val="6B7280"/>
                </a:solidFill>
                <a:latin typeface="Calibri"/>
              </a:rPr>
              <a:t>1991 · Multiplataforma · Sega</a:t>
            </a:r>
          </a:p>
        </p:txBody>
      </p:sp>
      <p:sp>
        <p:nvSpPr>
          <p:cNvPr id="27" name="Rounded Rectangle 26"/>
          <p:cNvSpPr/>
          <p:nvPr/>
        </p:nvSpPr>
        <p:spPr>
          <a:xfrm>
            <a:off x="7313187" y="1234440"/>
            <a:ext cx="2105497" cy="2318004"/>
          </a:xfrm>
          <a:prstGeom prst="roundRect">
            <a:avLst>
              <a:gd name="adj" fmla="val 6000"/>
            </a:avLst>
          </a:prstGeom>
          <a:solidFill>
            <a:srgbClr val="F3F4F6"/>
          </a:solidFill>
          <a:ln>
            <a:noFill/>
          </a:ln>
        </p:spPr>
        <p:txBody>
          <a:bodyPr rtlCol="0" anchor="ctr"/>
          <a:lstStyle/>
          <a:p>
            <a:pPr algn="ctr"/>
          </a:p>
        </p:txBody>
      </p:sp>
      <p:pic>
        <p:nvPicPr>
          <p:cNvPr id="28" name="Picture 27" descr="g04.png"/>
          <p:cNvPicPr>
            <a:picLocks noChangeAspect="1"/>
          </p:cNvPicPr>
          <p:nvPr/>
        </p:nvPicPr>
        <p:blipFill>
          <a:blip r:embed="rId5"/>
          <a:stretch>
            <a:fillRect/>
          </a:stretch>
        </p:blipFill>
        <p:spPr>
          <a:xfrm>
            <a:off x="7979777" y="1307592"/>
            <a:ext cx="772316" cy="1115568"/>
          </a:xfrm>
          <a:prstGeom prst="rect">
            <a:avLst/>
          </a:prstGeom>
        </p:spPr>
      </p:pic>
      <p:sp>
        <p:nvSpPr>
          <p:cNvPr id="29" name="Oval 28"/>
          <p:cNvSpPr/>
          <p:nvPr/>
        </p:nvSpPr>
        <p:spPr>
          <a:xfrm>
            <a:off x="8998060" y="2478024"/>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4</a:t>
            </a:r>
          </a:p>
        </p:txBody>
      </p:sp>
      <p:sp>
        <p:nvSpPr>
          <p:cNvPr id="30" name="TextBox 29"/>
          <p:cNvSpPr txBox="1"/>
          <p:nvPr/>
        </p:nvSpPr>
        <p:spPr>
          <a:xfrm>
            <a:off x="7386339" y="2496312"/>
            <a:ext cx="1556857" cy="365760"/>
          </a:xfrm>
          <a:prstGeom prst="rect">
            <a:avLst/>
          </a:prstGeom>
          <a:noFill/>
        </p:spPr>
        <p:txBody>
          <a:bodyPr wrap="square" anchor="t" lIns="0" rIns="0" tIns="0" bIns="0">
            <a:spAutoFit/>
          </a:bodyPr>
          <a:lstStyle/>
          <a:p>
            <a:pPr algn="l"/>
            <a:r>
              <a:rPr sz="1150" b="1">
                <a:solidFill>
                  <a:srgbClr val="1F2937"/>
                </a:solidFill>
                <a:latin typeface="Calibri"/>
              </a:rPr>
              <a:t>Super Mario Bros. 3</a:t>
            </a:r>
          </a:p>
        </p:txBody>
      </p:sp>
      <p:sp>
        <p:nvSpPr>
          <p:cNvPr id="31" name="TextBox 30"/>
          <p:cNvSpPr txBox="1"/>
          <p:nvPr/>
        </p:nvSpPr>
        <p:spPr>
          <a:xfrm>
            <a:off x="7386339" y="2935224"/>
            <a:ext cx="1959193" cy="237744"/>
          </a:xfrm>
          <a:prstGeom prst="rect">
            <a:avLst/>
          </a:prstGeom>
          <a:noFill/>
        </p:spPr>
        <p:txBody>
          <a:bodyPr wrap="square" anchor="t" lIns="0" rIns="0" tIns="0" bIns="0">
            <a:spAutoFit/>
          </a:bodyPr>
          <a:lstStyle/>
          <a:p>
            <a:pPr algn="l"/>
            <a:r>
              <a:rPr sz="1500" b="1">
                <a:solidFill>
                  <a:srgbClr val="0D9488"/>
                </a:solidFill>
                <a:latin typeface="Calibri"/>
              </a:rPr>
              <a:t>40,8</a:t>
            </a:r>
            <a:r>
              <a:rPr sz="900" b="0">
                <a:solidFill>
                  <a:srgbClr val="6B7280"/>
                </a:solidFill>
                <a:latin typeface="Calibri"/>
              </a:rPr>
              <a:t> M de unidades</a:t>
            </a:r>
          </a:p>
        </p:txBody>
      </p:sp>
      <p:sp>
        <p:nvSpPr>
          <p:cNvPr id="32" name="TextBox 31"/>
          <p:cNvSpPr txBox="1"/>
          <p:nvPr/>
        </p:nvSpPr>
        <p:spPr>
          <a:xfrm>
            <a:off x="7386339" y="3172968"/>
            <a:ext cx="1959193" cy="201168"/>
          </a:xfrm>
          <a:prstGeom prst="rect">
            <a:avLst/>
          </a:prstGeom>
          <a:noFill/>
        </p:spPr>
        <p:txBody>
          <a:bodyPr wrap="square" anchor="t" lIns="0" rIns="0" tIns="0" bIns="0">
            <a:spAutoFit/>
          </a:bodyPr>
          <a:lstStyle/>
          <a:p>
            <a:pPr algn="l"/>
            <a:r>
              <a:rPr sz="900" b="0">
                <a:solidFill>
                  <a:srgbClr val="6B7280"/>
                </a:solidFill>
                <a:latin typeface="Calibri"/>
              </a:rPr>
              <a:t>1988 · Multiplataforma · Nintendo</a:t>
            </a:r>
          </a:p>
        </p:txBody>
      </p:sp>
      <p:sp>
        <p:nvSpPr>
          <p:cNvPr id="33" name="Rounded Rectangle 32"/>
          <p:cNvSpPr/>
          <p:nvPr/>
        </p:nvSpPr>
        <p:spPr>
          <a:xfrm>
            <a:off x="9583276" y="1234440"/>
            <a:ext cx="2105497" cy="2318004"/>
          </a:xfrm>
          <a:prstGeom prst="roundRect">
            <a:avLst>
              <a:gd name="adj" fmla="val 6000"/>
            </a:avLst>
          </a:prstGeom>
          <a:solidFill>
            <a:srgbClr val="F3F4F6"/>
          </a:solidFill>
          <a:ln>
            <a:noFill/>
          </a:ln>
        </p:spPr>
        <p:txBody>
          <a:bodyPr rtlCol="0" anchor="ctr"/>
          <a:lstStyle/>
          <a:p>
            <a:pPr algn="ctr"/>
          </a:p>
        </p:txBody>
      </p:sp>
      <p:pic>
        <p:nvPicPr>
          <p:cNvPr id="34" name="Picture 33" descr="g05.png"/>
          <p:cNvPicPr>
            <a:picLocks noChangeAspect="1"/>
          </p:cNvPicPr>
          <p:nvPr/>
        </p:nvPicPr>
        <p:blipFill>
          <a:blip r:embed="rId6"/>
          <a:stretch>
            <a:fillRect/>
          </a:stretch>
        </p:blipFill>
        <p:spPr>
          <a:xfrm>
            <a:off x="10249396" y="1307592"/>
            <a:ext cx="773256" cy="1115568"/>
          </a:xfrm>
          <a:prstGeom prst="rect">
            <a:avLst/>
          </a:prstGeom>
        </p:spPr>
      </p:pic>
      <p:sp>
        <p:nvSpPr>
          <p:cNvPr id="35" name="Oval 34"/>
          <p:cNvSpPr/>
          <p:nvPr/>
        </p:nvSpPr>
        <p:spPr>
          <a:xfrm>
            <a:off x="11268149" y="2478024"/>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5</a:t>
            </a:r>
          </a:p>
        </p:txBody>
      </p:sp>
      <p:sp>
        <p:nvSpPr>
          <p:cNvPr id="36" name="TextBox 35"/>
          <p:cNvSpPr txBox="1"/>
          <p:nvPr/>
        </p:nvSpPr>
        <p:spPr>
          <a:xfrm>
            <a:off x="9656428" y="2496312"/>
            <a:ext cx="1556857" cy="365760"/>
          </a:xfrm>
          <a:prstGeom prst="rect">
            <a:avLst/>
          </a:prstGeom>
          <a:noFill/>
        </p:spPr>
        <p:txBody>
          <a:bodyPr wrap="square" anchor="t" lIns="0" rIns="0" tIns="0" bIns="0">
            <a:spAutoFit/>
          </a:bodyPr>
          <a:lstStyle/>
          <a:p>
            <a:pPr algn="l"/>
            <a:r>
              <a:rPr sz="1150" b="1">
                <a:solidFill>
                  <a:srgbClr val="1F2937"/>
                </a:solidFill>
                <a:latin typeface="Calibri"/>
              </a:rPr>
              <a:t>Super Mario Bros. 2</a:t>
            </a:r>
          </a:p>
        </p:txBody>
      </p:sp>
      <p:sp>
        <p:nvSpPr>
          <p:cNvPr id="37" name="TextBox 36"/>
          <p:cNvSpPr txBox="1"/>
          <p:nvPr/>
        </p:nvSpPr>
        <p:spPr>
          <a:xfrm>
            <a:off x="9656428" y="2935224"/>
            <a:ext cx="1959193" cy="237744"/>
          </a:xfrm>
          <a:prstGeom prst="rect">
            <a:avLst/>
          </a:prstGeom>
          <a:noFill/>
        </p:spPr>
        <p:txBody>
          <a:bodyPr wrap="square" anchor="t" lIns="0" rIns="0" tIns="0" bIns="0">
            <a:spAutoFit/>
          </a:bodyPr>
          <a:lstStyle/>
          <a:p>
            <a:pPr algn="l"/>
            <a:r>
              <a:rPr sz="1500" b="1">
                <a:solidFill>
                  <a:srgbClr val="0D9488"/>
                </a:solidFill>
                <a:latin typeface="Calibri"/>
              </a:rPr>
              <a:t>37,5</a:t>
            </a:r>
            <a:r>
              <a:rPr sz="900" b="0">
                <a:solidFill>
                  <a:srgbClr val="6B7280"/>
                </a:solidFill>
                <a:latin typeface="Calibri"/>
              </a:rPr>
              <a:t> M de unidades</a:t>
            </a:r>
          </a:p>
        </p:txBody>
      </p:sp>
      <p:sp>
        <p:nvSpPr>
          <p:cNvPr id="38" name="TextBox 37"/>
          <p:cNvSpPr txBox="1"/>
          <p:nvPr/>
        </p:nvSpPr>
        <p:spPr>
          <a:xfrm>
            <a:off x="9656428" y="3172968"/>
            <a:ext cx="1959193" cy="201168"/>
          </a:xfrm>
          <a:prstGeom prst="rect">
            <a:avLst/>
          </a:prstGeom>
          <a:noFill/>
        </p:spPr>
        <p:txBody>
          <a:bodyPr wrap="square" anchor="t" lIns="0" rIns="0" tIns="0" bIns="0">
            <a:spAutoFit/>
          </a:bodyPr>
          <a:lstStyle/>
          <a:p>
            <a:pPr algn="l"/>
            <a:r>
              <a:rPr sz="900" b="0">
                <a:solidFill>
                  <a:srgbClr val="6B7280"/>
                </a:solidFill>
                <a:latin typeface="Calibri"/>
              </a:rPr>
              <a:t>1986 · Multiplataforma · Nintendo</a:t>
            </a:r>
          </a:p>
        </p:txBody>
      </p:sp>
      <p:sp>
        <p:nvSpPr>
          <p:cNvPr id="39" name="Rounded Rectangle 38"/>
          <p:cNvSpPr/>
          <p:nvPr/>
        </p:nvSpPr>
        <p:spPr>
          <a:xfrm>
            <a:off x="502920" y="3717036"/>
            <a:ext cx="2105497" cy="2318004"/>
          </a:xfrm>
          <a:prstGeom prst="roundRect">
            <a:avLst>
              <a:gd name="adj" fmla="val 6000"/>
            </a:avLst>
          </a:prstGeom>
          <a:solidFill>
            <a:srgbClr val="F3F4F6"/>
          </a:solidFill>
          <a:ln>
            <a:noFill/>
          </a:ln>
        </p:spPr>
        <p:txBody>
          <a:bodyPr rtlCol="0" anchor="ctr"/>
          <a:lstStyle/>
          <a:p>
            <a:pPr algn="ctr"/>
          </a:p>
        </p:txBody>
      </p:sp>
      <p:pic>
        <p:nvPicPr>
          <p:cNvPr id="40" name="Picture 39" descr="g06.png"/>
          <p:cNvPicPr>
            <a:picLocks noChangeAspect="1"/>
          </p:cNvPicPr>
          <p:nvPr/>
        </p:nvPicPr>
        <p:blipFill>
          <a:blip r:embed="rId7"/>
          <a:stretch>
            <a:fillRect/>
          </a:stretch>
        </p:blipFill>
        <p:spPr>
          <a:xfrm>
            <a:off x="753987" y="3790188"/>
            <a:ext cx="1603363" cy="1115568"/>
          </a:xfrm>
          <a:prstGeom prst="rect">
            <a:avLst/>
          </a:prstGeom>
        </p:spPr>
      </p:pic>
      <p:sp>
        <p:nvSpPr>
          <p:cNvPr id="41" name="Oval 40"/>
          <p:cNvSpPr/>
          <p:nvPr/>
        </p:nvSpPr>
        <p:spPr>
          <a:xfrm>
            <a:off x="2187793" y="4960620"/>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6</a:t>
            </a:r>
          </a:p>
        </p:txBody>
      </p:sp>
      <p:sp>
        <p:nvSpPr>
          <p:cNvPr id="42" name="TextBox 41"/>
          <p:cNvSpPr txBox="1"/>
          <p:nvPr/>
        </p:nvSpPr>
        <p:spPr>
          <a:xfrm>
            <a:off x="576072" y="4978908"/>
            <a:ext cx="1556857" cy="365760"/>
          </a:xfrm>
          <a:prstGeom prst="rect">
            <a:avLst/>
          </a:prstGeom>
          <a:noFill/>
        </p:spPr>
        <p:txBody>
          <a:bodyPr wrap="square" anchor="t" lIns="0" rIns="0" tIns="0" bIns="0">
            <a:spAutoFit/>
          </a:bodyPr>
          <a:lstStyle/>
          <a:p>
            <a:pPr algn="l"/>
            <a:r>
              <a:rPr sz="1150" b="1">
                <a:solidFill>
                  <a:srgbClr val="1F2937"/>
                </a:solidFill>
                <a:latin typeface="Calibri"/>
              </a:rPr>
              <a:t>Super Mario World</a:t>
            </a:r>
          </a:p>
        </p:txBody>
      </p:sp>
      <p:sp>
        <p:nvSpPr>
          <p:cNvPr id="43" name="TextBox 42"/>
          <p:cNvSpPr txBox="1"/>
          <p:nvPr/>
        </p:nvSpPr>
        <p:spPr>
          <a:xfrm>
            <a:off x="576072" y="5417820"/>
            <a:ext cx="1959193" cy="237744"/>
          </a:xfrm>
          <a:prstGeom prst="rect">
            <a:avLst/>
          </a:prstGeom>
          <a:noFill/>
        </p:spPr>
        <p:txBody>
          <a:bodyPr wrap="square" anchor="t" lIns="0" rIns="0" tIns="0" bIns="0">
            <a:spAutoFit/>
          </a:bodyPr>
          <a:lstStyle/>
          <a:p>
            <a:pPr algn="l"/>
            <a:r>
              <a:rPr sz="1500" b="1">
                <a:solidFill>
                  <a:srgbClr val="0D9488"/>
                </a:solidFill>
                <a:latin typeface="Calibri"/>
              </a:rPr>
              <a:t>34,2</a:t>
            </a:r>
            <a:r>
              <a:rPr sz="900" b="0">
                <a:solidFill>
                  <a:srgbClr val="6B7280"/>
                </a:solidFill>
                <a:latin typeface="Calibri"/>
              </a:rPr>
              <a:t> M de unidades</a:t>
            </a:r>
          </a:p>
        </p:txBody>
      </p:sp>
      <p:sp>
        <p:nvSpPr>
          <p:cNvPr id="44" name="TextBox 43"/>
          <p:cNvSpPr txBox="1"/>
          <p:nvPr/>
        </p:nvSpPr>
        <p:spPr>
          <a:xfrm>
            <a:off x="576072" y="5655564"/>
            <a:ext cx="1959193" cy="201168"/>
          </a:xfrm>
          <a:prstGeom prst="rect">
            <a:avLst/>
          </a:prstGeom>
          <a:noFill/>
        </p:spPr>
        <p:txBody>
          <a:bodyPr wrap="square" anchor="t" lIns="0" rIns="0" tIns="0" bIns="0">
            <a:spAutoFit/>
          </a:bodyPr>
          <a:lstStyle/>
          <a:p>
            <a:pPr algn="l"/>
            <a:r>
              <a:rPr sz="900" b="0">
                <a:solidFill>
                  <a:srgbClr val="6B7280"/>
                </a:solidFill>
                <a:latin typeface="Calibri"/>
              </a:rPr>
              <a:t>1990 · Multiplataforma · Nintendo</a:t>
            </a:r>
          </a:p>
        </p:txBody>
      </p:sp>
      <p:sp>
        <p:nvSpPr>
          <p:cNvPr id="45" name="Rounded Rectangle 44"/>
          <p:cNvSpPr/>
          <p:nvPr/>
        </p:nvSpPr>
        <p:spPr>
          <a:xfrm>
            <a:off x="2773009" y="3717036"/>
            <a:ext cx="2105497" cy="2318004"/>
          </a:xfrm>
          <a:prstGeom prst="roundRect">
            <a:avLst>
              <a:gd name="adj" fmla="val 6000"/>
            </a:avLst>
          </a:prstGeom>
          <a:solidFill>
            <a:srgbClr val="F3F4F6"/>
          </a:solidFill>
          <a:ln>
            <a:noFill/>
          </a:ln>
        </p:spPr>
        <p:txBody>
          <a:bodyPr rtlCol="0" anchor="ctr"/>
          <a:lstStyle/>
          <a:p>
            <a:pPr algn="ctr"/>
          </a:p>
        </p:txBody>
      </p:sp>
      <p:pic>
        <p:nvPicPr>
          <p:cNvPr id="46" name="Picture 45" descr="g07.png"/>
          <p:cNvPicPr>
            <a:picLocks noChangeAspect="1"/>
          </p:cNvPicPr>
          <p:nvPr/>
        </p:nvPicPr>
        <p:blipFill>
          <a:blip r:embed="rId8"/>
          <a:stretch>
            <a:fillRect/>
          </a:stretch>
        </p:blipFill>
        <p:spPr>
          <a:xfrm>
            <a:off x="3026267" y="3790188"/>
            <a:ext cx="1598980" cy="1115568"/>
          </a:xfrm>
          <a:prstGeom prst="rect">
            <a:avLst/>
          </a:prstGeom>
        </p:spPr>
      </p:pic>
      <p:sp>
        <p:nvSpPr>
          <p:cNvPr id="47" name="Oval 46"/>
          <p:cNvSpPr/>
          <p:nvPr/>
        </p:nvSpPr>
        <p:spPr>
          <a:xfrm>
            <a:off x="4457882" y="4960620"/>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7</a:t>
            </a:r>
          </a:p>
        </p:txBody>
      </p:sp>
      <p:sp>
        <p:nvSpPr>
          <p:cNvPr id="48" name="TextBox 47"/>
          <p:cNvSpPr txBox="1"/>
          <p:nvPr/>
        </p:nvSpPr>
        <p:spPr>
          <a:xfrm>
            <a:off x="2846161" y="4978908"/>
            <a:ext cx="1556857" cy="365760"/>
          </a:xfrm>
          <a:prstGeom prst="rect">
            <a:avLst/>
          </a:prstGeom>
          <a:noFill/>
        </p:spPr>
        <p:txBody>
          <a:bodyPr wrap="square" anchor="t" lIns="0" rIns="0" tIns="0" bIns="0">
            <a:spAutoFit/>
          </a:bodyPr>
          <a:lstStyle/>
          <a:p>
            <a:pPr algn="l"/>
            <a:r>
              <a:rPr sz="1150" b="1">
                <a:solidFill>
                  <a:srgbClr val="1F2937"/>
                </a:solidFill>
                <a:latin typeface="Calibri"/>
              </a:rPr>
              <a:t>Super Mario 64</a:t>
            </a:r>
          </a:p>
        </p:txBody>
      </p:sp>
      <p:sp>
        <p:nvSpPr>
          <p:cNvPr id="49" name="TextBox 48"/>
          <p:cNvSpPr txBox="1"/>
          <p:nvPr/>
        </p:nvSpPr>
        <p:spPr>
          <a:xfrm>
            <a:off x="2846161" y="5417820"/>
            <a:ext cx="1959193" cy="237744"/>
          </a:xfrm>
          <a:prstGeom prst="rect">
            <a:avLst/>
          </a:prstGeom>
          <a:noFill/>
        </p:spPr>
        <p:txBody>
          <a:bodyPr wrap="square" anchor="t" lIns="0" rIns="0" tIns="0" bIns="0">
            <a:spAutoFit/>
          </a:bodyPr>
          <a:lstStyle/>
          <a:p>
            <a:pPr algn="l"/>
            <a:r>
              <a:rPr sz="1500" b="1">
                <a:solidFill>
                  <a:srgbClr val="0D9488"/>
                </a:solidFill>
                <a:latin typeface="Calibri"/>
              </a:rPr>
              <a:t>32,3</a:t>
            </a:r>
            <a:r>
              <a:rPr sz="900" b="0">
                <a:solidFill>
                  <a:srgbClr val="6B7280"/>
                </a:solidFill>
                <a:latin typeface="Calibri"/>
              </a:rPr>
              <a:t> M de unidades</a:t>
            </a:r>
          </a:p>
        </p:txBody>
      </p:sp>
      <p:sp>
        <p:nvSpPr>
          <p:cNvPr id="50" name="TextBox 49"/>
          <p:cNvSpPr txBox="1"/>
          <p:nvPr/>
        </p:nvSpPr>
        <p:spPr>
          <a:xfrm>
            <a:off x="2846161" y="5655564"/>
            <a:ext cx="1959193" cy="201168"/>
          </a:xfrm>
          <a:prstGeom prst="rect">
            <a:avLst/>
          </a:prstGeom>
          <a:noFill/>
        </p:spPr>
        <p:txBody>
          <a:bodyPr wrap="square" anchor="t" lIns="0" rIns="0" tIns="0" bIns="0">
            <a:spAutoFit/>
          </a:bodyPr>
          <a:lstStyle/>
          <a:p>
            <a:pPr algn="l"/>
            <a:r>
              <a:rPr sz="900" b="0">
                <a:solidFill>
                  <a:srgbClr val="6B7280"/>
                </a:solidFill>
                <a:latin typeface="Calibri"/>
              </a:rPr>
              <a:t>1996 · Multiplataforma · Nintendo</a:t>
            </a:r>
          </a:p>
        </p:txBody>
      </p:sp>
      <p:sp>
        <p:nvSpPr>
          <p:cNvPr id="51" name="Rounded Rectangle 50"/>
          <p:cNvSpPr/>
          <p:nvPr/>
        </p:nvSpPr>
        <p:spPr>
          <a:xfrm>
            <a:off x="5043098" y="3717036"/>
            <a:ext cx="2105497" cy="2318004"/>
          </a:xfrm>
          <a:prstGeom prst="roundRect">
            <a:avLst>
              <a:gd name="adj" fmla="val 6000"/>
            </a:avLst>
          </a:prstGeom>
          <a:solidFill>
            <a:srgbClr val="F3F4F6"/>
          </a:solidFill>
          <a:ln>
            <a:noFill/>
          </a:ln>
        </p:spPr>
        <p:txBody>
          <a:bodyPr rtlCol="0" anchor="ctr"/>
          <a:lstStyle/>
          <a:p>
            <a:pPr algn="ctr"/>
          </a:p>
        </p:txBody>
      </p:sp>
      <p:pic>
        <p:nvPicPr>
          <p:cNvPr id="52" name="Picture 51" descr="g08.jpg"/>
          <p:cNvPicPr>
            <a:picLocks noChangeAspect="1"/>
          </p:cNvPicPr>
          <p:nvPr/>
        </p:nvPicPr>
        <p:blipFill>
          <a:blip r:embed="rId9"/>
          <a:stretch>
            <a:fillRect/>
          </a:stretch>
        </p:blipFill>
        <p:spPr>
          <a:xfrm>
            <a:off x="5475009" y="3790188"/>
            <a:ext cx="1241675" cy="1115568"/>
          </a:xfrm>
          <a:prstGeom prst="rect">
            <a:avLst/>
          </a:prstGeom>
        </p:spPr>
      </p:pic>
      <p:sp>
        <p:nvSpPr>
          <p:cNvPr id="53" name="Oval 52"/>
          <p:cNvSpPr/>
          <p:nvPr/>
        </p:nvSpPr>
        <p:spPr>
          <a:xfrm>
            <a:off x="6727971" y="4960620"/>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8</a:t>
            </a:r>
          </a:p>
        </p:txBody>
      </p:sp>
      <p:sp>
        <p:nvSpPr>
          <p:cNvPr id="54" name="TextBox 53"/>
          <p:cNvSpPr txBox="1"/>
          <p:nvPr/>
        </p:nvSpPr>
        <p:spPr>
          <a:xfrm>
            <a:off x="5116250" y="4978908"/>
            <a:ext cx="1556857" cy="365760"/>
          </a:xfrm>
          <a:prstGeom prst="rect">
            <a:avLst/>
          </a:prstGeom>
          <a:noFill/>
        </p:spPr>
        <p:txBody>
          <a:bodyPr wrap="square" anchor="t" lIns="0" rIns="0" tIns="0" bIns="0">
            <a:spAutoFit/>
          </a:bodyPr>
          <a:lstStyle/>
          <a:p>
            <a:pPr algn="l"/>
            <a:r>
              <a:rPr sz="1150" b="1">
                <a:solidFill>
                  <a:srgbClr val="1F2937"/>
                </a:solidFill>
                <a:latin typeface="Calibri"/>
              </a:rPr>
              <a:t>New Super Mario Bros.</a:t>
            </a:r>
          </a:p>
        </p:txBody>
      </p:sp>
      <p:sp>
        <p:nvSpPr>
          <p:cNvPr id="55" name="TextBox 54"/>
          <p:cNvSpPr txBox="1"/>
          <p:nvPr/>
        </p:nvSpPr>
        <p:spPr>
          <a:xfrm>
            <a:off x="5116250" y="5417820"/>
            <a:ext cx="1959193" cy="237744"/>
          </a:xfrm>
          <a:prstGeom prst="rect">
            <a:avLst/>
          </a:prstGeom>
          <a:noFill/>
        </p:spPr>
        <p:txBody>
          <a:bodyPr wrap="square" anchor="t" lIns="0" rIns="0" tIns="0" bIns="0">
            <a:spAutoFit/>
          </a:bodyPr>
          <a:lstStyle/>
          <a:p>
            <a:pPr algn="l"/>
            <a:r>
              <a:rPr sz="1500" b="1">
                <a:solidFill>
                  <a:srgbClr val="0D9488"/>
                </a:solidFill>
                <a:latin typeface="Calibri"/>
              </a:rPr>
              <a:t>30,8</a:t>
            </a:r>
            <a:r>
              <a:rPr sz="900" b="0">
                <a:solidFill>
                  <a:srgbClr val="6B7280"/>
                </a:solidFill>
                <a:latin typeface="Calibri"/>
              </a:rPr>
              <a:t> M de unidades</a:t>
            </a:r>
          </a:p>
        </p:txBody>
      </p:sp>
      <p:sp>
        <p:nvSpPr>
          <p:cNvPr id="56" name="TextBox 55"/>
          <p:cNvSpPr txBox="1"/>
          <p:nvPr/>
        </p:nvSpPr>
        <p:spPr>
          <a:xfrm>
            <a:off x="5116250" y="5655564"/>
            <a:ext cx="1959193" cy="201168"/>
          </a:xfrm>
          <a:prstGeom prst="rect">
            <a:avLst/>
          </a:prstGeom>
          <a:noFill/>
        </p:spPr>
        <p:txBody>
          <a:bodyPr wrap="square" anchor="t" lIns="0" rIns="0" tIns="0" bIns="0">
            <a:spAutoFit/>
          </a:bodyPr>
          <a:lstStyle/>
          <a:p>
            <a:pPr algn="l"/>
            <a:r>
              <a:rPr sz="900" b="0">
                <a:solidFill>
                  <a:srgbClr val="6B7280"/>
                </a:solidFill>
                <a:latin typeface="Calibri"/>
              </a:rPr>
              <a:t>2006 · DS · Nintendo</a:t>
            </a:r>
          </a:p>
        </p:txBody>
      </p:sp>
      <p:sp>
        <p:nvSpPr>
          <p:cNvPr id="57" name="Rounded Rectangle 56"/>
          <p:cNvSpPr/>
          <p:nvPr/>
        </p:nvSpPr>
        <p:spPr>
          <a:xfrm>
            <a:off x="7313187" y="3717036"/>
            <a:ext cx="2105497" cy="2318004"/>
          </a:xfrm>
          <a:prstGeom prst="roundRect">
            <a:avLst>
              <a:gd name="adj" fmla="val 6000"/>
            </a:avLst>
          </a:prstGeom>
          <a:solidFill>
            <a:srgbClr val="F3F4F6"/>
          </a:solidFill>
          <a:ln>
            <a:noFill/>
          </a:ln>
        </p:spPr>
        <p:txBody>
          <a:bodyPr rtlCol="0" anchor="ctr"/>
          <a:lstStyle/>
          <a:p>
            <a:pPr algn="ctr"/>
          </a:p>
        </p:txBody>
      </p:sp>
      <p:pic>
        <p:nvPicPr>
          <p:cNvPr id="58" name="Picture 57" descr="g09.jpg"/>
          <p:cNvPicPr>
            <a:picLocks noChangeAspect="1"/>
          </p:cNvPicPr>
          <p:nvPr/>
        </p:nvPicPr>
        <p:blipFill>
          <a:blip r:embed="rId10"/>
          <a:stretch>
            <a:fillRect/>
          </a:stretch>
        </p:blipFill>
        <p:spPr>
          <a:xfrm>
            <a:off x="7808151" y="3790188"/>
            <a:ext cx="1115568" cy="1115568"/>
          </a:xfrm>
          <a:prstGeom prst="rect">
            <a:avLst/>
          </a:prstGeom>
        </p:spPr>
      </p:pic>
      <p:sp>
        <p:nvSpPr>
          <p:cNvPr id="59" name="Oval 58"/>
          <p:cNvSpPr/>
          <p:nvPr/>
        </p:nvSpPr>
        <p:spPr>
          <a:xfrm>
            <a:off x="8998060" y="4960620"/>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9</a:t>
            </a:r>
          </a:p>
        </p:txBody>
      </p:sp>
      <p:sp>
        <p:nvSpPr>
          <p:cNvPr id="60" name="TextBox 59"/>
          <p:cNvSpPr txBox="1"/>
          <p:nvPr/>
        </p:nvSpPr>
        <p:spPr>
          <a:xfrm>
            <a:off x="7386339" y="4978908"/>
            <a:ext cx="1556857" cy="365760"/>
          </a:xfrm>
          <a:prstGeom prst="rect">
            <a:avLst/>
          </a:prstGeom>
          <a:noFill/>
        </p:spPr>
        <p:txBody>
          <a:bodyPr wrap="square" anchor="t" lIns="0" rIns="0" tIns="0" bIns="0">
            <a:spAutoFit/>
          </a:bodyPr>
          <a:lstStyle/>
          <a:p>
            <a:pPr algn="l"/>
            <a:r>
              <a:rPr sz="1150" b="1">
                <a:solidFill>
                  <a:srgbClr val="1F2937"/>
                </a:solidFill>
                <a:latin typeface="Calibri"/>
              </a:rPr>
              <a:t>Super Mario Odyssey</a:t>
            </a:r>
          </a:p>
        </p:txBody>
      </p:sp>
      <p:sp>
        <p:nvSpPr>
          <p:cNvPr id="61" name="TextBox 60"/>
          <p:cNvSpPr txBox="1"/>
          <p:nvPr/>
        </p:nvSpPr>
        <p:spPr>
          <a:xfrm>
            <a:off x="7386339" y="5417820"/>
            <a:ext cx="1959193" cy="237744"/>
          </a:xfrm>
          <a:prstGeom prst="rect">
            <a:avLst/>
          </a:prstGeom>
          <a:noFill/>
        </p:spPr>
        <p:txBody>
          <a:bodyPr wrap="square" anchor="t" lIns="0" rIns="0" tIns="0" bIns="0">
            <a:spAutoFit/>
          </a:bodyPr>
          <a:lstStyle/>
          <a:p>
            <a:pPr algn="l"/>
            <a:r>
              <a:rPr sz="1500" b="1">
                <a:solidFill>
                  <a:srgbClr val="0D9488"/>
                </a:solidFill>
                <a:latin typeface="Calibri"/>
              </a:rPr>
              <a:t>30,5</a:t>
            </a:r>
            <a:r>
              <a:rPr sz="900" b="0">
                <a:solidFill>
                  <a:srgbClr val="6B7280"/>
                </a:solidFill>
                <a:latin typeface="Calibri"/>
              </a:rPr>
              <a:t> M de unidades</a:t>
            </a:r>
          </a:p>
        </p:txBody>
      </p:sp>
      <p:sp>
        <p:nvSpPr>
          <p:cNvPr id="62" name="TextBox 61"/>
          <p:cNvSpPr txBox="1"/>
          <p:nvPr/>
        </p:nvSpPr>
        <p:spPr>
          <a:xfrm>
            <a:off x="7386339" y="5655564"/>
            <a:ext cx="1959193" cy="201168"/>
          </a:xfrm>
          <a:prstGeom prst="rect">
            <a:avLst/>
          </a:prstGeom>
          <a:noFill/>
        </p:spPr>
        <p:txBody>
          <a:bodyPr wrap="square" anchor="t" lIns="0" rIns="0" tIns="0" bIns="0">
            <a:spAutoFit/>
          </a:bodyPr>
          <a:lstStyle/>
          <a:p>
            <a:pPr algn="l"/>
            <a:r>
              <a:rPr sz="900" b="0">
                <a:solidFill>
                  <a:srgbClr val="6B7280"/>
                </a:solidFill>
                <a:latin typeface="Calibri"/>
              </a:rPr>
              <a:t>2017 · Switch · Nintendo</a:t>
            </a:r>
          </a:p>
        </p:txBody>
      </p:sp>
      <p:sp>
        <p:nvSpPr>
          <p:cNvPr id="63" name="Rounded Rectangle 62"/>
          <p:cNvSpPr/>
          <p:nvPr/>
        </p:nvSpPr>
        <p:spPr>
          <a:xfrm>
            <a:off x="9583276" y="3717036"/>
            <a:ext cx="2105497" cy="2318004"/>
          </a:xfrm>
          <a:prstGeom prst="roundRect">
            <a:avLst>
              <a:gd name="adj" fmla="val 6000"/>
            </a:avLst>
          </a:prstGeom>
          <a:solidFill>
            <a:srgbClr val="F3F4F6"/>
          </a:solidFill>
          <a:ln>
            <a:noFill/>
          </a:ln>
        </p:spPr>
        <p:txBody>
          <a:bodyPr rtlCol="0" anchor="ctr"/>
          <a:lstStyle/>
          <a:p>
            <a:pPr algn="ctr"/>
          </a:p>
        </p:txBody>
      </p:sp>
      <p:pic>
        <p:nvPicPr>
          <p:cNvPr id="64" name="Picture 63" descr="g10.png"/>
          <p:cNvPicPr>
            <a:picLocks noChangeAspect="1"/>
          </p:cNvPicPr>
          <p:nvPr/>
        </p:nvPicPr>
        <p:blipFill>
          <a:blip r:embed="rId11"/>
          <a:stretch>
            <a:fillRect/>
          </a:stretch>
        </p:blipFill>
        <p:spPr>
          <a:xfrm>
            <a:off x="10225666" y="3790188"/>
            <a:ext cx="820717" cy="1115568"/>
          </a:xfrm>
          <a:prstGeom prst="rect">
            <a:avLst/>
          </a:prstGeom>
        </p:spPr>
      </p:pic>
      <p:sp>
        <p:nvSpPr>
          <p:cNvPr id="65" name="Oval 64"/>
          <p:cNvSpPr/>
          <p:nvPr/>
        </p:nvSpPr>
        <p:spPr>
          <a:xfrm>
            <a:off x="11268149" y="4960620"/>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10</a:t>
            </a:r>
          </a:p>
        </p:txBody>
      </p:sp>
      <p:sp>
        <p:nvSpPr>
          <p:cNvPr id="66" name="TextBox 65"/>
          <p:cNvSpPr txBox="1"/>
          <p:nvPr/>
        </p:nvSpPr>
        <p:spPr>
          <a:xfrm>
            <a:off x="9656428" y="4978908"/>
            <a:ext cx="1556857" cy="365760"/>
          </a:xfrm>
          <a:prstGeom prst="rect">
            <a:avLst/>
          </a:prstGeom>
          <a:noFill/>
        </p:spPr>
        <p:txBody>
          <a:bodyPr wrap="square" anchor="t" lIns="0" rIns="0" tIns="0" bIns="0">
            <a:spAutoFit/>
          </a:bodyPr>
          <a:lstStyle/>
          <a:p>
            <a:pPr algn="l"/>
            <a:r>
              <a:rPr sz="1150" b="1">
                <a:solidFill>
                  <a:srgbClr val="1F2937"/>
                </a:solidFill>
                <a:latin typeface="Calibri"/>
              </a:rPr>
              <a:t>New Super Mario Bros. Wii</a:t>
            </a:r>
          </a:p>
        </p:txBody>
      </p:sp>
      <p:sp>
        <p:nvSpPr>
          <p:cNvPr id="67" name="TextBox 66"/>
          <p:cNvSpPr txBox="1"/>
          <p:nvPr/>
        </p:nvSpPr>
        <p:spPr>
          <a:xfrm>
            <a:off x="9656428" y="5417820"/>
            <a:ext cx="1959193" cy="237744"/>
          </a:xfrm>
          <a:prstGeom prst="rect">
            <a:avLst/>
          </a:prstGeom>
          <a:noFill/>
        </p:spPr>
        <p:txBody>
          <a:bodyPr wrap="square" anchor="t" lIns="0" rIns="0" tIns="0" bIns="0">
            <a:spAutoFit/>
          </a:bodyPr>
          <a:lstStyle/>
          <a:p>
            <a:pPr algn="l"/>
            <a:r>
              <a:rPr sz="1500" b="1">
                <a:solidFill>
                  <a:srgbClr val="0D9488"/>
                </a:solidFill>
                <a:latin typeface="Calibri"/>
              </a:rPr>
              <a:t>30,3</a:t>
            </a:r>
            <a:r>
              <a:rPr sz="900" b="0">
                <a:solidFill>
                  <a:srgbClr val="6B7280"/>
                </a:solidFill>
                <a:latin typeface="Calibri"/>
              </a:rPr>
              <a:t> M de unidades</a:t>
            </a:r>
          </a:p>
        </p:txBody>
      </p:sp>
      <p:sp>
        <p:nvSpPr>
          <p:cNvPr id="68" name="TextBox 67"/>
          <p:cNvSpPr txBox="1"/>
          <p:nvPr/>
        </p:nvSpPr>
        <p:spPr>
          <a:xfrm>
            <a:off x="9656428" y="5655564"/>
            <a:ext cx="1959193" cy="201168"/>
          </a:xfrm>
          <a:prstGeom prst="rect">
            <a:avLst/>
          </a:prstGeom>
          <a:noFill/>
        </p:spPr>
        <p:txBody>
          <a:bodyPr wrap="square" anchor="t" lIns="0" rIns="0" tIns="0" bIns="0">
            <a:spAutoFit/>
          </a:bodyPr>
          <a:lstStyle/>
          <a:p>
            <a:pPr algn="l"/>
            <a:r>
              <a:rPr sz="900" b="0">
                <a:solidFill>
                  <a:srgbClr val="6B7280"/>
                </a:solidFill>
                <a:latin typeface="Calibri"/>
              </a:rPr>
              <a:t>2009 · Wii · Nintendo</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70</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 PLATAFORMEROS · JUEGOS 11–20</a:t>
            </a:r>
          </a:p>
          <a:p>
            <a:r>
              <a:rPr sz="2600" b="1" i="0">
                <a:solidFill>
                  <a:srgbClr val="FFFFFF"/>
                </a:solidFill>
                <a:latin typeface="Calibri"/>
              </a:rPr>
              <a:t>Juegos de plataformas más vendidos (2 de 5)</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Anexo · Los plataformeros más vendidos</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70/74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VGSales Wiki, «Best-selling platformers» (ventas estimadas, consulta 19/10/2026); imágenes: Wikipedia, uso educativo</a:t>
            </a:r>
          </a:p>
        </p:txBody>
      </p:sp>
      <p:sp>
        <p:nvSpPr>
          <p:cNvPr id="9" name="Rounded Rectangle 8"/>
          <p:cNvSpPr/>
          <p:nvPr/>
        </p:nvSpPr>
        <p:spPr>
          <a:xfrm>
            <a:off x="502920" y="1234440"/>
            <a:ext cx="2105497" cy="2318004"/>
          </a:xfrm>
          <a:prstGeom prst="roundRect">
            <a:avLst>
              <a:gd name="adj" fmla="val 6000"/>
            </a:avLst>
          </a:prstGeom>
          <a:solidFill>
            <a:srgbClr val="F3F4F6"/>
          </a:solidFill>
          <a:ln>
            <a:noFill/>
          </a:ln>
        </p:spPr>
        <p:txBody>
          <a:bodyPr rtlCol="0" anchor="ctr"/>
          <a:lstStyle/>
          <a:p>
            <a:pPr algn="ctr"/>
          </a:p>
        </p:txBody>
      </p:sp>
      <p:pic>
        <p:nvPicPr>
          <p:cNvPr id="10" name="Picture 9" descr="g11.jpg"/>
          <p:cNvPicPr>
            <a:picLocks noChangeAspect="1"/>
          </p:cNvPicPr>
          <p:nvPr/>
        </p:nvPicPr>
        <p:blipFill>
          <a:blip r:embed="rId2"/>
          <a:stretch>
            <a:fillRect/>
          </a:stretch>
        </p:blipFill>
        <p:spPr>
          <a:xfrm>
            <a:off x="1157464" y="1307592"/>
            <a:ext cx="796408" cy="1115568"/>
          </a:xfrm>
          <a:prstGeom prst="rect">
            <a:avLst/>
          </a:prstGeom>
        </p:spPr>
      </p:pic>
      <p:sp>
        <p:nvSpPr>
          <p:cNvPr id="11" name="Oval 10"/>
          <p:cNvSpPr/>
          <p:nvPr/>
        </p:nvSpPr>
        <p:spPr>
          <a:xfrm>
            <a:off x="2187793" y="2478024"/>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11</a:t>
            </a:r>
          </a:p>
        </p:txBody>
      </p:sp>
      <p:sp>
        <p:nvSpPr>
          <p:cNvPr id="12" name="TextBox 11"/>
          <p:cNvSpPr txBox="1"/>
          <p:nvPr/>
        </p:nvSpPr>
        <p:spPr>
          <a:xfrm>
            <a:off x="576072" y="2496312"/>
            <a:ext cx="1556857" cy="365760"/>
          </a:xfrm>
          <a:prstGeom prst="rect">
            <a:avLst/>
          </a:prstGeom>
          <a:noFill/>
        </p:spPr>
        <p:txBody>
          <a:bodyPr wrap="square" anchor="t" lIns="0" rIns="0" tIns="0" bIns="0">
            <a:spAutoFit/>
          </a:bodyPr>
          <a:lstStyle/>
          <a:p>
            <a:pPr algn="l"/>
            <a:r>
              <a:rPr sz="1150" b="1">
                <a:solidFill>
                  <a:srgbClr val="1F2937"/>
                </a:solidFill>
                <a:latin typeface="Calibri"/>
              </a:rPr>
              <a:t>Sonic the Hedgehog 2</a:t>
            </a:r>
          </a:p>
        </p:txBody>
      </p:sp>
      <p:sp>
        <p:nvSpPr>
          <p:cNvPr id="13" name="TextBox 12"/>
          <p:cNvSpPr txBox="1"/>
          <p:nvPr/>
        </p:nvSpPr>
        <p:spPr>
          <a:xfrm>
            <a:off x="576072" y="2935224"/>
            <a:ext cx="1959193" cy="237744"/>
          </a:xfrm>
          <a:prstGeom prst="rect">
            <a:avLst/>
          </a:prstGeom>
          <a:noFill/>
        </p:spPr>
        <p:txBody>
          <a:bodyPr wrap="square" anchor="t" lIns="0" rIns="0" tIns="0" bIns="0">
            <a:spAutoFit/>
          </a:bodyPr>
          <a:lstStyle/>
          <a:p>
            <a:pPr algn="l"/>
            <a:r>
              <a:rPr sz="1500" b="1">
                <a:solidFill>
                  <a:srgbClr val="0D9488"/>
                </a:solidFill>
                <a:latin typeface="Calibri"/>
              </a:rPr>
              <a:t>25,4</a:t>
            </a:r>
            <a:r>
              <a:rPr sz="900" b="0">
                <a:solidFill>
                  <a:srgbClr val="6B7280"/>
                </a:solidFill>
                <a:latin typeface="Calibri"/>
              </a:rPr>
              <a:t> M de unidades</a:t>
            </a:r>
          </a:p>
        </p:txBody>
      </p:sp>
      <p:sp>
        <p:nvSpPr>
          <p:cNvPr id="14" name="TextBox 13"/>
          <p:cNvSpPr txBox="1"/>
          <p:nvPr/>
        </p:nvSpPr>
        <p:spPr>
          <a:xfrm>
            <a:off x="576072" y="3172968"/>
            <a:ext cx="1959193" cy="201168"/>
          </a:xfrm>
          <a:prstGeom prst="rect">
            <a:avLst/>
          </a:prstGeom>
          <a:noFill/>
        </p:spPr>
        <p:txBody>
          <a:bodyPr wrap="square" anchor="t" lIns="0" rIns="0" tIns="0" bIns="0">
            <a:spAutoFit/>
          </a:bodyPr>
          <a:lstStyle/>
          <a:p>
            <a:pPr algn="l"/>
            <a:r>
              <a:rPr sz="900" b="0">
                <a:solidFill>
                  <a:srgbClr val="6B7280"/>
                </a:solidFill>
                <a:latin typeface="Calibri"/>
              </a:rPr>
              <a:t>1992 · Multiplataforma · Sega</a:t>
            </a:r>
          </a:p>
        </p:txBody>
      </p:sp>
      <p:sp>
        <p:nvSpPr>
          <p:cNvPr id="15" name="Rounded Rectangle 14"/>
          <p:cNvSpPr/>
          <p:nvPr/>
        </p:nvSpPr>
        <p:spPr>
          <a:xfrm>
            <a:off x="2773009" y="1234440"/>
            <a:ext cx="2105497" cy="2318004"/>
          </a:xfrm>
          <a:prstGeom prst="roundRect">
            <a:avLst>
              <a:gd name="adj" fmla="val 6000"/>
            </a:avLst>
          </a:prstGeom>
          <a:solidFill>
            <a:srgbClr val="F3F4F6"/>
          </a:solidFill>
          <a:ln>
            <a:noFill/>
          </a:ln>
        </p:spPr>
        <p:txBody>
          <a:bodyPr rtlCol="0" anchor="ctr"/>
          <a:lstStyle/>
          <a:p>
            <a:pPr algn="ctr"/>
          </a:p>
        </p:txBody>
      </p:sp>
      <p:pic>
        <p:nvPicPr>
          <p:cNvPr id="16" name="Picture 15" descr="g12.png"/>
          <p:cNvPicPr>
            <a:picLocks noChangeAspect="1"/>
          </p:cNvPicPr>
          <p:nvPr/>
        </p:nvPicPr>
        <p:blipFill>
          <a:blip r:embed="rId3"/>
          <a:stretch>
            <a:fillRect/>
          </a:stretch>
        </p:blipFill>
        <p:spPr>
          <a:xfrm>
            <a:off x="3431303" y="1307592"/>
            <a:ext cx="788909" cy="1115568"/>
          </a:xfrm>
          <a:prstGeom prst="rect">
            <a:avLst/>
          </a:prstGeom>
        </p:spPr>
      </p:pic>
      <p:sp>
        <p:nvSpPr>
          <p:cNvPr id="17" name="Oval 16"/>
          <p:cNvSpPr/>
          <p:nvPr/>
        </p:nvSpPr>
        <p:spPr>
          <a:xfrm>
            <a:off x="4457882" y="2478024"/>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12</a:t>
            </a:r>
          </a:p>
        </p:txBody>
      </p:sp>
      <p:sp>
        <p:nvSpPr>
          <p:cNvPr id="18" name="TextBox 17"/>
          <p:cNvSpPr txBox="1"/>
          <p:nvPr/>
        </p:nvSpPr>
        <p:spPr>
          <a:xfrm>
            <a:off x="2846161" y="2496312"/>
            <a:ext cx="1556857" cy="365760"/>
          </a:xfrm>
          <a:prstGeom prst="rect">
            <a:avLst/>
          </a:prstGeom>
          <a:noFill/>
        </p:spPr>
        <p:txBody>
          <a:bodyPr wrap="square" anchor="t" lIns="0" rIns="0" tIns="0" bIns="0">
            <a:spAutoFit/>
          </a:bodyPr>
          <a:lstStyle/>
          <a:p>
            <a:pPr algn="l"/>
            <a:r>
              <a:rPr sz="1150" b="1">
                <a:solidFill>
                  <a:srgbClr val="1F2937"/>
                </a:solidFill>
                <a:latin typeface="Calibri"/>
              </a:rPr>
              <a:t>New Super Mario Bros. U</a:t>
            </a:r>
          </a:p>
        </p:txBody>
      </p:sp>
      <p:sp>
        <p:nvSpPr>
          <p:cNvPr id="19" name="TextBox 18"/>
          <p:cNvSpPr txBox="1"/>
          <p:nvPr/>
        </p:nvSpPr>
        <p:spPr>
          <a:xfrm>
            <a:off x="2846161" y="2935224"/>
            <a:ext cx="1959193" cy="237744"/>
          </a:xfrm>
          <a:prstGeom prst="rect">
            <a:avLst/>
          </a:prstGeom>
          <a:noFill/>
        </p:spPr>
        <p:txBody>
          <a:bodyPr wrap="square" anchor="t" lIns="0" rIns="0" tIns="0" bIns="0">
            <a:spAutoFit/>
          </a:bodyPr>
          <a:lstStyle/>
          <a:p>
            <a:pPr algn="l"/>
            <a:r>
              <a:rPr sz="1500" b="1">
                <a:solidFill>
                  <a:srgbClr val="0D9488"/>
                </a:solidFill>
                <a:latin typeface="Calibri"/>
              </a:rPr>
              <a:t>24,2</a:t>
            </a:r>
            <a:r>
              <a:rPr sz="900" b="0">
                <a:solidFill>
                  <a:srgbClr val="6B7280"/>
                </a:solidFill>
                <a:latin typeface="Calibri"/>
              </a:rPr>
              <a:t> M de unidades</a:t>
            </a:r>
          </a:p>
        </p:txBody>
      </p:sp>
      <p:sp>
        <p:nvSpPr>
          <p:cNvPr id="20" name="TextBox 19"/>
          <p:cNvSpPr txBox="1"/>
          <p:nvPr/>
        </p:nvSpPr>
        <p:spPr>
          <a:xfrm>
            <a:off x="2846161" y="3172968"/>
            <a:ext cx="1959193" cy="201168"/>
          </a:xfrm>
          <a:prstGeom prst="rect">
            <a:avLst/>
          </a:prstGeom>
          <a:noFill/>
        </p:spPr>
        <p:txBody>
          <a:bodyPr wrap="square" anchor="t" lIns="0" rIns="0" tIns="0" bIns="0">
            <a:spAutoFit/>
          </a:bodyPr>
          <a:lstStyle/>
          <a:p>
            <a:pPr algn="l"/>
            <a:r>
              <a:rPr sz="900" b="0">
                <a:solidFill>
                  <a:srgbClr val="6B7280"/>
                </a:solidFill>
                <a:latin typeface="Calibri"/>
              </a:rPr>
              <a:t>2012 · Wii U, Switch · Nintendo</a:t>
            </a:r>
          </a:p>
        </p:txBody>
      </p:sp>
      <p:sp>
        <p:nvSpPr>
          <p:cNvPr id="21" name="Rounded Rectangle 20"/>
          <p:cNvSpPr/>
          <p:nvPr/>
        </p:nvSpPr>
        <p:spPr>
          <a:xfrm>
            <a:off x="5043098" y="1234440"/>
            <a:ext cx="2105497" cy="2318004"/>
          </a:xfrm>
          <a:prstGeom prst="roundRect">
            <a:avLst>
              <a:gd name="adj" fmla="val 6000"/>
            </a:avLst>
          </a:prstGeom>
          <a:solidFill>
            <a:srgbClr val="F3F4F6"/>
          </a:solidFill>
          <a:ln>
            <a:noFill/>
          </a:ln>
        </p:spPr>
        <p:txBody>
          <a:bodyPr rtlCol="0" anchor="ctr"/>
          <a:lstStyle/>
          <a:p>
            <a:pPr algn="ctr"/>
          </a:p>
        </p:txBody>
      </p:sp>
      <p:pic>
        <p:nvPicPr>
          <p:cNvPr id="22" name="Picture 21" descr="g13.jpg"/>
          <p:cNvPicPr>
            <a:picLocks noChangeAspect="1"/>
          </p:cNvPicPr>
          <p:nvPr/>
        </p:nvPicPr>
        <p:blipFill>
          <a:blip r:embed="rId4"/>
          <a:stretch>
            <a:fillRect/>
          </a:stretch>
        </p:blipFill>
        <p:spPr>
          <a:xfrm>
            <a:off x="5724697" y="1307592"/>
            <a:ext cx="742298" cy="1115568"/>
          </a:xfrm>
          <a:prstGeom prst="rect">
            <a:avLst/>
          </a:prstGeom>
        </p:spPr>
      </p:pic>
      <p:sp>
        <p:nvSpPr>
          <p:cNvPr id="23" name="Oval 22"/>
          <p:cNvSpPr/>
          <p:nvPr/>
        </p:nvSpPr>
        <p:spPr>
          <a:xfrm>
            <a:off x="6727971" y="2478024"/>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13</a:t>
            </a:r>
          </a:p>
        </p:txBody>
      </p:sp>
      <p:sp>
        <p:nvSpPr>
          <p:cNvPr id="24" name="TextBox 23"/>
          <p:cNvSpPr txBox="1"/>
          <p:nvPr/>
        </p:nvSpPr>
        <p:spPr>
          <a:xfrm>
            <a:off x="5116250" y="2496312"/>
            <a:ext cx="1556857" cy="365760"/>
          </a:xfrm>
          <a:prstGeom prst="rect">
            <a:avLst/>
          </a:prstGeom>
          <a:noFill/>
        </p:spPr>
        <p:txBody>
          <a:bodyPr wrap="square" anchor="t" lIns="0" rIns="0" tIns="0" bIns="0">
            <a:spAutoFit/>
          </a:bodyPr>
          <a:lstStyle/>
          <a:p>
            <a:pPr algn="l"/>
            <a:r>
              <a:rPr sz="1150" b="1">
                <a:solidFill>
                  <a:srgbClr val="1F2937"/>
                </a:solidFill>
                <a:latin typeface="Calibri"/>
              </a:rPr>
              <a:t>Sonic Dash</a:t>
            </a:r>
          </a:p>
        </p:txBody>
      </p:sp>
      <p:sp>
        <p:nvSpPr>
          <p:cNvPr id="25" name="TextBox 24"/>
          <p:cNvSpPr txBox="1"/>
          <p:nvPr/>
        </p:nvSpPr>
        <p:spPr>
          <a:xfrm>
            <a:off x="5116250" y="2935224"/>
            <a:ext cx="1959193" cy="237744"/>
          </a:xfrm>
          <a:prstGeom prst="rect">
            <a:avLst/>
          </a:prstGeom>
          <a:noFill/>
        </p:spPr>
        <p:txBody>
          <a:bodyPr wrap="square" anchor="t" lIns="0" rIns="0" tIns="0" bIns="0">
            <a:spAutoFit/>
          </a:bodyPr>
          <a:lstStyle/>
          <a:p>
            <a:pPr algn="l"/>
            <a:r>
              <a:rPr sz="1500" b="1">
                <a:solidFill>
                  <a:srgbClr val="0D9488"/>
                </a:solidFill>
                <a:latin typeface="Calibri"/>
              </a:rPr>
              <a:t>22,6</a:t>
            </a:r>
            <a:r>
              <a:rPr sz="900" b="0">
                <a:solidFill>
                  <a:srgbClr val="6B7280"/>
                </a:solidFill>
                <a:latin typeface="Calibri"/>
              </a:rPr>
              <a:t> M de unidades</a:t>
            </a:r>
          </a:p>
        </p:txBody>
      </p:sp>
      <p:sp>
        <p:nvSpPr>
          <p:cNvPr id="26" name="TextBox 25"/>
          <p:cNvSpPr txBox="1"/>
          <p:nvPr/>
        </p:nvSpPr>
        <p:spPr>
          <a:xfrm>
            <a:off x="5116250" y="3172968"/>
            <a:ext cx="1959193" cy="201168"/>
          </a:xfrm>
          <a:prstGeom prst="rect">
            <a:avLst/>
          </a:prstGeom>
          <a:noFill/>
        </p:spPr>
        <p:txBody>
          <a:bodyPr wrap="square" anchor="t" lIns="0" rIns="0" tIns="0" bIns="0">
            <a:spAutoFit/>
          </a:bodyPr>
          <a:lstStyle/>
          <a:p>
            <a:pPr algn="l"/>
            <a:r>
              <a:rPr sz="900" b="0">
                <a:solidFill>
                  <a:srgbClr val="6B7280"/>
                </a:solidFill>
                <a:latin typeface="Calibri"/>
              </a:rPr>
              <a:t>2013 · iOS · Sega</a:t>
            </a:r>
          </a:p>
        </p:txBody>
      </p:sp>
      <p:sp>
        <p:nvSpPr>
          <p:cNvPr id="27" name="Rounded Rectangle 26"/>
          <p:cNvSpPr/>
          <p:nvPr/>
        </p:nvSpPr>
        <p:spPr>
          <a:xfrm>
            <a:off x="7313187" y="1234440"/>
            <a:ext cx="2105497" cy="2318004"/>
          </a:xfrm>
          <a:prstGeom prst="roundRect">
            <a:avLst>
              <a:gd name="adj" fmla="val 6000"/>
            </a:avLst>
          </a:prstGeom>
          <a:solidFill>
            <a:srgbClr val="F3F4F6"/>
          </a:solidFill>
          <a:ln>
            <a:noFill/>
          </a:ln>
        </p:spPr>
        <p:txBody>
          <a:bodyPr rtlCol="0" anchor="ctr"/>
          <a:lstStyle/>
          <a:p>
            <a:pPr algn="ctr"/>
          </a:p>
        </p:txBody>
      </p:sp>
      <p:pic>
        <p:nvPicPr>
          <p:cNvPr id="28" name="Picture 27" descr="g14.jpg"/>
          <p:cNvPicPr>
            <a:picLocks noChangeAspect="1"/>
          </p:cNvPicPr>
          <p:nvPr/>
        </p:nvPicPr>
        <p:blipFill>
          <a:blip r:embed="rId5"/>
          <a:stretch>
            <a:fillRect/>
          </a:stretch>
        </p:blipFill>
        <p:spPr>
          <a:xfrm>
            <a:off x="7934214" y="1307592"/>
            <a:ext cx="863442" cy="1115568"/>
          </a:xfrm>
          <a:prstGeom prst="rect">
            <a:avLst/>
          </a:prstGeom>
        </p:spPr>
      </p:pic>
      <p:sp>
        <p:nvSpPr>
          <p:cNvPr id="29" name="Oval 28"/>
          <p:cNvSpPr/>
          <p:nvPr/>
        </p:nvSpPr>
        <p:spPr>
          <a:xfrm>
            <a:off x="8998060" y="2478024"/>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14</a:t>
            </a:r>
          </a:p>
        </p:txBody>
      </p:sp>
      <p:sp>
        <p:nvSpPr>
          <p:cNvPr id="30" name="TextBox 29"/>
          <p:cNvSpPr txBox="1"/>
          <p:nvPr/>
        </p:nvSpPr>
        <p:spPr>
          <a:xfrm>
            <a:off x="7386339" y="2496312"/>
            <a:ext cx="1556857" cy="365760"/>
          </a:xfrm>
          <a:prstGeom prst="rect">
            <a:avLst/>
          </a:prstGeom>
          <a:noFill/>
        </p:spPr>
        <p:txBody>
          <a:bodyPr wrap="square" anchor="t" lIns="0" rIns="0" tIns="0" bIns="0">
            <a:spAutoFit/>
          </a:bodyPr>
          <a:lstStyle/>
          <a:p>
            <a:pPr algn="l"/>
            <a:r>
              <a:rPr sz="1150" b="1">
                <a:solidFill>
                  <a:srgbClr val="1F2937"/>
                </a:solidFill>
                <a:latin typeface="Calibri"/>
              </a:rPr>
              <a:t>Donkey Kong</a:t>
            </a:r>
          </a:p>
        </p:txBody>
      </p:sp>
      <p:sp>
        <p:nvSpPr>
          <p:cNvPr id="31" name="TextBox 30"/>
          <p:cNvSpPr txBox="1"/>
          <p:nvPr/>
        </p:nvSpPr>
        <p:spPr>
          <a:xfrm>
            <a:off x="7386339" y="2935224"/>
            <a:ext cx="1959193" cy="237744"/>
          </a:xfrm>
          <a:prstGeom prst="rect">
            <a:avLst/>
          </a:prstGeom>
          <a:noFill/>
        </p:spPr>
        <p:txBody>
          <a:bodyPr wrap="square" anchor="t" lIns="0" rIns="0" tIns="0" bIns="0">
            <a:spAutoFit/>
          </a:bodyPr>
          <a:lstStyle/>
          <a:p>
            <a:pPr algn="l"/>
            <a:r>
              <a:rPr sz="1500" b="1">
                <a:solidFill>
                  <a:srgbClr val="0D9488"/>
                </a:solidFill>
                <a:latin typeface="Calibri"/>
              </a:rPr>
              <a:t>22,6</a:t>
            </a:r>
            <a:r>
              <a:rPr sz="900" b="0">
                <a:solidFill>
                  <a:srgbClr val="6B7280"/>
                </a:solidFill>
                <a:latin typeface="Calibri"/>
              </a:rPr>
              <a:t> M de unidades</a:t>
            </a:r>
          </a:p>
        </p:txBody>
      </p:sp>
      <p:sp>
        <p:nvSpPr>
          <p:cNvPr id="32" name="TextBox 31"/>
          <p:cNvSpPr txBox="1"/>
          <p:nvPr/>
        </p:nvSpPr>
        <p:spPr>
          <a:xfrm>
            <a:off x="7386339" y="3172968"/>
            <a:ext cx="1959193" cy="201168"/>
          </a:xfrm>
          <a:prstGeom prst="rect">
            <a:avLst/>
          </a:prstGeom>
          <a:noFill/>
        </p:spPr>
        <p:txBody>
          <a:bodyPr wrap="square" anchor="t" lIns="0" rIns="0" tIns="0" bIns="0">
            <a:spAutoFit/>
          </a:bodyPr>
          <a:lstStyle/>
          <a:p>
            <a:pPr algn="l"/>
            <a:r>
              <a:rPr sz="900" b="0">
                <a:solidFill>
                  <a:srgbClr val="6B7280"/>
                </a:solidFill>
                <a:latin typeface="Calibri"/>
              </a:rPr>
              <a:t>1981 · Multiplataforma · Nintendo</a:t>
            </a:r>
          </a:p>
        </p:txBody>
      </p:sp>
      <p:sp>
        <p:nvSpPr>
          <p:cNvPr id="33" name="Rounded Rectangle 32"/>
          <p:cNvSpPr/>
          <p:nvPr/>
        </p:nvSpPr>
        <p:spPr>
          <a:xfrm>
            <a:off x="9583276" y="1234440"/>
            <a:ext cx="2105497" cy="2318004"/>
          </a:xfrm>
          <a:prstGeom prst="roundRect">
            <a:avLst>
              <a:gd name="adj" fmla="val 6000"/>
            </a:avLst>
          </a:prstGeom>
          <a:solidFill>
            <a:srgbClr val="F3F4F6"/>
          </a:solidFill>
          <a:ln>
            <a:noFill/>
          </a:ln>
        </p:spPr>
        <p:txBody>
          <a:bodyPr rtlCol="0" anchor="ctr"/>
          <a:lstStyle/>
          <a:p>
            <a:pPr algn="ctr"/>
          </a:p>
        </p:txBody>
      </p:sp>
      <p:pic>
        <p:nvPicPr>
          <p:cNvPr id="34" name="Picture 33" descr="g15.jpg"/>
          <p:cNvPicPr>
            <a:picLocks noChangeAspect="1"/>
          </p:cNvPicPr>
          <p:nvPr/>
        </p:nvPicPr>
        <p:blipFill>
          <a:blip r:embed="rId6"/>
          <a:stretch>
            <a:fillRect/>
          </a:stretch>
        </p:blipFill>
        <p:spPr>
          <a:xfrm>
            <a:off x="10241570" y="1307592"/>
            <a:ext cx="788909" cy="1115568"/>
          </a:xfrm>
          <a:prstGeom prst="rect">
            <a:avLst/>
          </a:prstGeom>
        </p:spPr>
      </p:pic>
      <p:sp>
        <p:nvSpPr>
          <p:cNvPr id="35" name="Oval 34"/>
          <p:cNvSpPr/>
          <p:nvPr/>
        </p:nvSpPr>
        <p:spPr>
          <a:xfrm>
            <a:off x="11268149" y="2478024"/>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15</a:t>
            </a:r>
          </a:p>
        </p:txBody>
      </p:sp>
      <p:sp>
        <p:nvSpPr>
          <p:cNvPr id="36" name="TextBox 35"/>
          <p:cNvSpPr txBox="1"/>
          <p:nvPr/>
        </p:nvSpPr>
        <p:spPr>
          <a:xfrm>
            <a:off x="9656428" y="2496312"/>
            <a:ext cx="1556857" cy="365760"/>
          </a:xfrm>
          <a:prstGeom prst="rect">
            <a:avLst/>
          </a:prstGeom>
          <a:noFill/>
        </p:spPr>
        <p:txBody>
          <a:bodyPr wrap="square" anchor="t" lIns="0" rIns="0" tIns="0" bIns="0">
            <a:spAutoFit/>
          </a:bodyPr>
          <a:lstStyle/>
          <a:p>
            <a:pPr algn="l"/>
            <a:r>
              <a:rPr sz="1150" b="1">
                <a:solidFill>
                  <a:srgbClr val="1F2937"/>
                </a:solidFill>
                <a:latin typeface="Calibri"/>
              </a:rPr>
              <a:t>Super Mario Galaxy</a:t>
            </a:r>
          </a:p>
        </p:txBody>
      </p:sp>
      <p:sp>
        <p:nvSpPr>
          <p:cNvPr id="37" name="TextBox 36"/>
          <p:cNvSpPr txBox="1"/>
          <p:nvPr/>
        </p:nvSpPr>
        <p:spPr>
          <a:xfrm>
            <a:off x="9656428" y="2935224"/>
            <a:ext cx="1959193" cy="237744"/>
          </a:xfrm>
          <a:prstGeom prst="rect">
            <a:avLst/>
          </a:prstGeom>
          <a:noFill/>
        </p:spPr>
        <p:txBody>
          <a:bodyPr wrap="square" anchor="t" lIns="0" rIns="0" tIns="0" bIns="0">
            <a:spAutoFit/>
          </a:bodyPr>
          <a:lstStyle/>
          <a:p>
            <a:pPr algn="l"/>
            <a:r>
              <a:rPr sz="1500" b="1">
                <a:solidFill>
                  <a:srgbClr val="0D9488"/>
                </a:solidFill>
                <a:latin typeface="Calibri"/>
              </a:rPr>
              <a:t>21,9</a:t>
            </a:r>
            <a:r>
              <a:rPr sz="900" b="0">
                <a:solidFill>
                  <a:srgbClr val="6B7280"/>
                </a:solidFill>
                <a:latin typeface="Calibri"/>
              </a:rPr>
              <a:t> M de unidades</a:t>
            </a:r>
          </a:p>
        </p:txBody>
      </p:sp>
      <p:sp>
        <p:nvSpPr>
          <p:cNvPr id="38" name="TextBox 37"/>
          <p:cNvSpPr txBox="1"/>
          <p:nvPr/>
        </p:nvSpPr>
        <p:spPr>
          <a:xfrm>
            <a:off x="9656428" y="3172968"/>
            <a:ext cx="1959193" cy="201168"/>
          </a:xfrm>
          <a:prstGeom prst="rect">
            <a:avLst/>
          </a:prstGeom>
          <a:noFill/>
        </p:spPr>
        <p:txBody>
          <a:bodyPr wrap="square" anchor="t" lIns="0" rIns="0" tIns="0" bIns="0">
            <a:spAutoFit/>
          </a:bodyPr>
          <a:lstStyle/>
          <a:p>
            <a:pPr algn="l"/>
            <a:r>
              <a:rPr sz="900" b="0">
                <a:solidFill>
                  <a:srgbClr val="6B7280"/>
                </a:solidFill>
                <a:latin typeface="Calibri"/>
              </a:rPr>
              <a:t>2007 · Wii, Switch · Nintendo</a:t>
            </a:r>
          </a:p>
        </p:txBody>
      </p:sp>
      <p:sp>
        <p:nvSpPr>
          <p:cNvPr id="39" name="Rounded Rectangle 38"/>
          <p:cNvSpPr/>
          <p:nvPr/>
        </p:nvSpPr>
        <p:spPr>
          <a:xfrm>
            <a:off x="502920" y="3717036"/>
            <a:ext cx="2105497" cy="2318004"/>
          </a:xfrm>
          <a:prstGeom prst="roundRect">
            <a:avLst>
              <a:gd name="adj" fmla="val 6000"/>
            </a:avLst>
          </a:prstGeom>
          <a:solidFill>
            <a:srgbClr val="F3F4F6"/>
          </a:solidFill>
          <a:ln>
            <a:noFill/>
          </a:ln>
        </p:spPr>
        <p:txBody>
          <a:bodyPr rtlCol="0" anchor="ctr"/>
          <a:lstStyle/>
          <a:p>
            <a:pPr algn="ctr"/>
          </a:p>
        </p:txBody>
      </p:sp>
      <p:pic>
        <p:nvPicPr>
          <p:cNvPr id="40" name="Picture 39" descr="g16.jpg"/>
          <p:cNvPicPr>
            <a:picLocks noChangeAspect="1"/>
          </p:cNvPicPr>
          <p:nvPr/>
        </p:nvPicPr>
        <p:blipFill>
          <a:blip r:embed="rId7"/>
          <a:stretch>
            <a:fillRect/>
          </a:stretch>
        </p:blipFill>
        <p:spPr>
          <a:xfrm>
            <a:off x="1112908" y="3790188"/>
            <a:ext cx="885521" cy="1115568"/>
          </a:xfrm>
          <a:prstGeom prst="rect">
            <a:avLst/>
          </a:prstGeom>
        </p:spPr>
      </p:pic>
      <p:sp>
        <p:nvSpPr>
          <p:cNvPr id="41" name="Oval 40"/>
          <p:cNvSpPr/>
          <p:nvPr/>
        </p:nvSpPr>
        <p:spPr>
          <a:xfrm>
            <a:off x="2187793" y="4960620"/>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16</a:t>
            </a:r>
          </a:p>
        </p:txBody>
      </p:sp>
      <p:sp>
        <p:nvSpPr>
          <p:cNvPr id="42" name="TextBox 41"/>
          <p:cNvSpPr txBox="1"/>
          <p:nvPr/>
        </p:nvSpPr>
        <p:spPr>
          <a:xfrm>
            <a:off x="576072" y="4978908"/>
            <a:ext cx="1556857" cy="365760"/>
          </a:xfrm>
          <a:prstGeom prst="rect">
            <a:avLst/>
          </a:prstGeom>
          <a:noFill/>
        </p:spPr>
        <p:txBody>
          <a:bodyPr wrap="square" anchor="t" lIns="0" rIns="0" tIns="0" bIns="0">
            <a:spAutoFit/>
          </a:bodyPr>
          <a:lstStyle/>
          <a:p>
            <a:pPr algn="l"/>
            <a:r>
              <a:rPr sz="1150" b="1">
                <a:solidFill>
                  <a:srgbClr val="1F2937"/>
                </a:solidFill>
                <a:latin typeface="Calibri"/>
              </a:rPr>
              <a:t>Crash Bandicoot N. Sane Trilogy</a:t>
            </a:r>
          </a:p>
        </p:txBody>
      </p:sp>
      <p:sp>
        <p:nvSpPr>
          <p:cNvPr id="43" name="TextBox 42"/>
          <p:cNvSpPr txBox="1"/>
          <p:nvPr/>
        </p:nvSpPr>
        <p:spPr>
          <a:xfrm>
            <a:off x="576072" y="5417820"/>
            <a:ext cx="1959193" cy="237744"/>
          </a:xfrm>
          <a:prstGeom prst="rect">
            <a:avLst/>
          </a:prstGeom>
          <a:noFill/>
        </p:spPr>
        <p:txBody>
          <a:bodyPr wrap="square" anchor="t" lIns="0" rIns="0" tIns="0" bIns="0">
            <a:spAutoFit/>
          </a:bodyPr>
          <a:lstStyle/>
          <a:p>
            <a:pPr algn="l"/>
            <a:r>
              <a:rPr sz="1500" b="1">
                <a:solidFill>
                  <a:srgbClr val="0D9488"/>
                </a:solidFill>
                <a:latin typeface="Calibri"/>
              </a:rPr>
              <a:t>20,0</a:t>
            </a:r>
            <a:r>
              <a:rPr sz="900" b="0">
                <a:solidFill>
                  <a:srgbClr val="6B7280"/>
                </a:solidFill>
                <a:latin typeface="Calibri"/>
              </a:rPr>
              <a:t> M de unidades</a:t>
            </a:r>
          </a:p>
        </p:txBody>
      </p:sp>
      <p:sp>
        <p:nvSpPr>
          <p:cNvPr id="44" name="TextBox 43"/>
          <p:cNvSpPr txBox="1"/>
          <p:nvPr/>
        </p:nvSpPr>
        <p:spPr>
          <a:xfrm>
            <a:off x="576072" y="5655564"/>
            <a:ext cx="1959193" cy="201168"/>
          </a:xfrm>
          <a:prstGeom prst="rect">
            <a:avLst/>
          </a:prstGeom>
          <a:noFill/>
        </p:spPr>
        <p:txBody>
          <a:bodyPr wrap="square" anchor="t" lIns="0" rIns="0" tIns="0" bIns="0">
            <a:spAutoFit/>
          </a:bodyPr>
          <a:lstStyle/>
          <a:p>
            <a:pPr algn="l"/>
            <a:r>
              <a:rPr sz="900" b="0">
                <a:solidFill>
                  <a:srgbClr val="6B7280"/>
                </a:solidFill>
                <a:latin typeface="Calibri"/>
              </a:rPr>
              <a:t>2017 · Multiplataforma · Activision</a:t>
            </a:r>
          </a:p>
        </p:txBody>
      </p:sp>
      <p:sp>
        <p:nvSpPr>
          <p:cNvPr id="45" name="Rounded Rectangle 44"/>
          <p:cNvSpPr/>
          <p:nvPr/>
        </p:nvSpPr>
        <p:spPr>
          <a:xfrm>
            <a:off x="2773009" y="3717036"/>
            <a:ext cx="2105497" cy="2318004"/>
          </a:xfrm>
          <a:prstGeom prst="roundRect">
            <a:avLst>
              <a:gd name="adj" fmla="val 6000"/>
            </a:avLst>
          </a:prstGeom>
          <a:solidFill>
            <a:srgbClr val="F3F4F6"/>
          </a:solidFill>
          <a:ln>
            <a:noFill/>
          </a:ln>
        </p:spPr>
        <p:txBody>
          <a:bodyPr rtlCol="0" anchor="ctr"/>
          <a:lstStyle/>
          <a:p>
            <a:pPr algn="ctr"/>
          </a:p>
        </p:txBody>
      </p:sp>
      <p:pic>
        <p:nvPicPr>
          <p:cNvPr id="46" name="Picture 45" descr="g17.png"/>
          <p:cNvPicPr>
            <a:picLocks noChangeAspect="1"/>
          </p:cNvPicPr>
          <p:nvPr/>
        </p:nvPicPr>
        <p:blipFill>
          <a:blip r:embed="rId8"/>
          <a:stretch>
            <a:fillRect/>
          </a:stretch>
        </p:blipFill>
        <p:spPr>
          <a:xfrm>
            <a:off x="3387051" y="3790188"/>
            <a:ext cx="877413" cy="1115568"/>
          </a:xfrm>
          <a:prstGeom prst="rect">
            <a:avLst/>
          </a:prstGeom>
        </p:spPr>
      </p:pic>
      <p:sp>
        <p:nvSpPr>
          <p:cNvPr id="47" name="Oval 46"/>
          <p:cNvSpPr/>
          <p:nvPr/>
        </p:nvSpPr>
        <p:spPr>
          <a:xfrm>
            <a:off x="4457882" y="4960620"/>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17</a:t>
            </a:r>
          </a:p>
        </p:txBody>
      </p:sp>
      <p:sp>
        <p:nvSpPr>
          <p:cNvPr id="48" name="TextBox 47"/>
          <p:cNvSpPr txBox="1"/>
          <p:nvPr/>
        </p:nvSpPr>
        <p:spPr>
          <a:xfrm>
            <a:off x="2846161" y="4978908"/>
            <a:ext cx="1556857" cy="365760"/>
          </a:xfrm>
          <a:prstGeom prst="rect">
            <a:avLst/>
          </a:prstGeom>
          <a:noFill/>
        </p:spPr>
        <p:txBody>
          <a:bodyPr wrap="square" anchor="t" lIns="0" rIns="0" tIns="0" bIns="0">
            <a:spAutoFit/>
          </a:bodyPr>
          <a:lstStyle/>
          <a:p>
            <a:pPr algn="l"/>
            <a:r>
              <a:rPr sz="1150" b="1">
                <a:solidFill>
                  <a:srgbClr val="1F2937"/>
                </a:solidFill>
                <a:latin typeface="Calibri"/>
              </a:rPr>
              <a:t>It Takes Two</a:t>
            </a:r>
          </a:p>
        </p:txBody>
      </p:sp>
      <p:sp>
        <p:nvSpPr>
          <p:cNvPr id="49" name="TextBox 48"/>
          <p:cNvSpPr txBox="1"/>
          <p:nvPr/>
        </p:nvSpPr>
        <p:spPr>
          <a:xfrm>
            <a:off x="2846161" y="5417820"/>
            <a:ext cx="1959193" cy="237744"/>
          </a:xfrm>
          <a:prstGeom prst="rect">
            <a:avLst/>
          </a:prstGeom>
          <a:noFill/>
        </p:spPr>
        <p:txBody>
          <a:bodyPr wrap="square" anchor="t" lIns="0" rIns="0" tIns="0" bIns="0">
            <a:spAutoFit/>
          </a:bodyPr>
          <a:lstStyle/>
          <a:p>
            <a:pPr algn="l"/>
            <a:r>
              <a:rPr sz="1500" b="1">
                <a:solidFill>
                  <a:srgbClr val="0D9488"/>
                </a:solidFill>
                <a:latin typeface="Calibri"/>
              </a:rPr>
              <a:t>20,0</a:t>
            </a:r>
            <a:r>
              <a:rPr sz="900" b="0">
                <a:solidFill>
                  <a:srgbClr val="6B7280"/>
                </a:solidFill>
                <a:latin typeface="Calibri"/>
              </a:rPr>
              <a:t> M de unidades</a:t>
            </a:r>
          </a:p>
        </p:txBody>
      </p:sp>
      <p:sp>
        <p:nvSpPr>
          <p:cNvPr id="50" name="TextBox 49"/>
          <p:cNvSpPr txBox="1"/>
          <p:nvPr/>
        </p:nvSpPr>
        <p:spPr>
          <a:xfrm>
            <a:off x="2846161" y="5655564"/>
            <a:ext cx="1959193" cy="201168"/>
          </a:xfrm>
          <a:prstGeom prst="rect">
            <a:avLst/>
          </a:prstGeom>
          <a:noFill/>
        </p:spPr>
        <p:txBody>
          <a:bodyPr wrap="square" anchor="t" lIns="0" rIns="0" tIns="0" bIns="0">
            <a:spAutoFit/>
          </a:bodyPr>
          <a:lstStyle/>
          <a:p>
            <a:pPr algn="l"/>
            <a:r>
              <a:rPr sz="900" b="0">
                <a:solidFill>
                  <a:srgbClr val="6B7280"/>
                </a:solidFill>
                <a:latin typeface="Calibri"/>
              </a:rPr>
              <a:t>2021 · Multiplataforma · EA</a:t>
            </a:r>
          </a:p>
        </p:txBody>
      </p:sp>
      <p:sp>
        <p:nvSpPr>
          <p:cNvPr id="51" name="Rounded Rectangle 50"/>
          <p:cNvSpPr/>
          <p:nvPr/>
        </p:nvSpPr>
        <p:spPr>
          <a:xfrm>
            <a:off x="5043098" y="3717036"/>
            <a:ext cx="2105497" cy="2318004"/>
          </a:xfrm>
          <a:prstGeom prst="roundRect">
            <a:avLst>
              <a:gd name="adj" fmla="val 6000"/>
            </a:avLst>
          </a:prstGeom>
          <a:solidFill>
            <a:srgbClr val="F3F4F6"/>
          </a:solidFill>
          <a:ln>
            <a:noFill/>
          </a:ln>
        </p:spPr>
        <p:txBody>
          <a:bodyPr rtlCol="0" anchor="ctr"/>
          <a:lstStyle/>
          <a:p>
            <a:pPr algn="ctr"/>
          </a:p>
        </p:txBody>
      </p:sp>
      <p:pic>
        <p:nvPicPr>
          <p:cNvPr id="52" name="Picture 51" descr="g18.jpg"/>
          <p:cNvPicPr>
            <a:picLocks noChangeAspect="1"/>
          </p:cNvPicPr>
          <p:nvPr/>
        </p:nvPicPr>
        <p:blipFill>
          <a:blip r:embed="rId9"/>
          <a:stretch>
            <a:fillRect/>
          </a:stretch>
        </p:blipFill>
        <p:spPr>
          <a:xfrm>
            <a:off x="5700815" y="3790188"/>
            <a:ext cx="790062" cy="1115568"/>
          </a:xfrm>
          <a:prstGeom prst="rect">
            <a:avLst/>
          </a:prstGeom>
        </p:spPr>
      </p:pic>
      <p:sp>
        <p:nvSpPr>
          <p:cNvPr id="53" name="Oval 52"/>
          <p:cNvSpPr/>
          <p:nvPr/>
        </p:nvSpPr>
        <p:spPr>
          <a:xfrm>
            <a:off x="6727971" y="4960620"/>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18</a:t>
            </a:r>
          </a:p>
        </p:txBody>
      </p:sp>
      <p:sp>
        <p:nvSpPr>
          <p:cNvPr id="54" name="TextBox 53"/>
          <p:cNvSpPr txBox="1"/>
          <p:nvPr/>
        </p:nvSpPr>
        <p:spPr>
          <a:xfrm>
            <a:off x="5116250" y="4978908"/>
            <a:ext cx="1556857" cy="365760"/>
          </a:xfrm>
          <a:prstGeom prst="rect">
            <a:avLst/>
          </a:prstGeom>
          <a:noFill/>
        </p:spPr>
        <p:txBody>
          <a:bodyPr wrap="square" anchor="t" lIns="0" rIns="0" tIns="0" bIns="0">
            <a:spAutoFit/>
          </a:bodyPr>
          <a:lstStyle/>
          <a:p>
            <a:pPr algn="l"/>
            <a:r>
              <a:rPr sz="1150" b="1">
                <a:solidFill>
                  <a:srgbClr val="1F2937"/>
                </a:solidFill>
                <a:latin typeface="Calibri"/>
              </a:rPr>
              <a:t>Super Mario 3D World</a:t>
            </a:r>
          </a:p>
        </p:txBody>
      </p:sp>
      <p:sp>
        <p:nvSpPr>
          <p:cNvPr id="55" name="TextBox 54"/>
          <p:cNvSpPr txBox="1"/>
          <p:nvPr/>
        </p:nvSpPr>
        <p:spPr>
          <a:xfrm>
            <a:off x="5116250" y="5417820"/>
            <a:ext cx="1959193" cy="237744"/>
          </a:xfrm>
          <a:prstGeom prst="rect">
            <a:avLst/>
          </a:prstGeom>
          <a:noFill/>
        </p:spPr>
        <p:txBody>
          <a:bodyPr wrap="square" anchor="t" lIns="0" rIns="0" tIns="0" bIns="0">
            <a:spAutoFit/>
          </a:bodyPr>
          <a:lstStyle/>
          <a:p>
            <a:pPr algn="l"/>
            <a:r>
              <a:rPr sz="1500" b="1">
                <a:solidFill>
                  <a:srgbClr val="0D9488"/>
                </a:solidFill>
                <a:latin typeface="Calibri"/>
              </a:rPr>
              <a:t>19,1</a:t>
            </a:r>
            <a:r>
              <a:rPr sz="900" b="0">
                <a:solidFill>
                  <a:srgbClr val="6B7280"/>
                </a:solidFill>
                <a:latin typeface="Calibri"/>
              </a:rPr>
              <a:t> M de unidades</a:t>
            </a:r>
          </a:p>
        </p:txBody>
      </p:sp>
      <p:sp>
        <p:nvSpPr>
          <p:cNvPr id="56" name="TextBox 55"/>
          <p:cNvSpPr txBox="1"/>
          <p:nvPr/>
        </p:nvSpPr>
        <p:spPr>
          <a:xfrm>
            <a:off x="5116250" y="5655564"/>
            <a:ext cx="1959193" cy="201168"/>
          </a:xfrm>
          <a:prstGeom prst="rect">
            <a:avLst/>
          </a:prstGeom>
          <a:noFill/>
        </p:spPr>
        <p:txBody>
          <a:bodyPr wrap="square" anchor="t" lIns="0" rIns="0" tIns="0" bIns="0">
            <a:spAutoFit/>
          </a:bodyPr>
          <a:lstStyle/>
          <a:p>
            <a:pPr algn="l"/>
            <a:r>
              <a:rPr sz="900" b="0">
                <a:solidFill>
                  <a:srgbClr val="6B7280"/>
                </a:solidFill>
                <a:latin typeface="Calibri"/>
              </a:rPr>
              <a:t>2013 · Wii U, Switch · Nintendo</a:t>
            </a:r>
          </a:p>
        </p:txBody>
      </p:sp>
      <p:sp>
        <p:nvSpPr>
          <p:cNvPr id="57" name="Rounded Rectangle 56"/>
          <p:cNvSpPr/>
          <p:nvPr/>
        </p:nvSpPr>
        <p:spPr>
          <a:xfrm>
            <a:off x="7313187" y="3717036"/>
            <a:ext cx="2105497" cy="2318004"/>
          </a:xfrm>
          <a:prstGeom prst="roundRect">
            <a:avLst>
              <a:gd name="adj" fmla="val 6000"/>
            </a:avLst>
          </a:prstGeom>
          <a:solidFill>
            <a:srgbClr val="F3F4F6"/>
          </a:solidFill>
          <a:ln>
            <a:noFill/>
          </a:ln>
        </p:spPr>
        <p:txBody>
          <a:bodyPr rtlCol="0" anchor="ctr"/>
          <a:lstStyle/>
          <a:p>
            <a:pPr algn="ctr"/>
          </a:p>
        </p:txBody>
      </p:sp>
      <p:pic>
        <p:nvPicPr>
          <p:cNvPr id="58" name="Picture 57" descr="g19.png"/>
          <p:cNvPicPr>
            <a:picLocks noChangeAspect="1"/>
          </p:cNvPicPr>
          <p:nvPr/>
        </p:nvPicPr>
        <p:blipFill>
          <a:blip r:embed="rId10"/>
          <a:stretch>
            <a:fillRect/>
          </a:stretch>
        </p:blipFill>
        <p:spPr>
          <a:xfrm>
            <a:off x="7780987" y="3790188"/>
            <a:ext cx="1169897" cy="1115568"/>
          </a:xfrm>
          <a:prstGeom prst="rect">
            <a:avLst/>
          </a:prstGeom>
        </p:spPr>
      </p:pic>
      <p:sp>
        <p:nvSpPr>
          <p:cNvPr id="59" name="Oval 58"/>
          <p:cNvSpPr/>
          <p:nvPr/>
        </p:nvSpPr>
        <p:spPr>
          <a:xfrm>
            <a:off x="8998060" y="4960620"/>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19</a:t>
            </a:r>
          </a:p>
        </p:txBody>
      </p:sp>
      <p:sp>
        <p:nvSpPr>
          <p:cNvPr id="60" name="TextBox 59"/>
          <p:cNvSpPr txBox="1"/>
          <p:nvPr/>
        </p:nvSpPr>
        <p:spPr>
          <a:xfrm>
            <a:off x="7386339" y="4978908"/>
            <a:ext cx="1556857" cy="365760"/>
          </a:xfrm>
          <a:prstGeom prst="rect">
            <a:avLst/>
          </a:prstGeom>
          <a:noFill/>
        </p:spPr>
        <p:txBody>
          <a:bodyPr wrap="square" anchor="t" lIns="0" rIns="0" tIns="0" bIns="0">
            <a:spAutoFit/>
          </a:bodyPr>
          <a:lstStyle/>
          <a:p>
            <a:pPr algn="l"/>
            <a:r>
              <a:rPr sz="1150" b="1">
                <a:solidFill>
                  <a:srgbClr val="1F2937"/>
                </a:solidFill>
                <a:latin typeface="Calibri"/>
              </a:rPr>
              <a:t>Super Mario Land</a:t>
            </a:r>
          </a:p>
        </p:txBody>
      </p:sp>
      <p:sp>
        <p:nvSpPr>
          <p:cNvPr id="61" name="TextBox 60"/>
          <p:cNvSpPr txBox="1"/>
          <p:nvPr/>
        </p:nvSpPr>
        <p:spPr>
          <a:xfrm>
            <a:off x="7386339" y="5417820"/>
            <a:ext cx="1959193" cy="237744"/>
          </a:xfrm>
          <a:prstGeom prst="rect">
            <a:avLst/>
          </a:prstGeom>
          <a:noFill/>
        </p:spPr>
        <p:txBody>
          <a:bodyPr wrap="square" anchor="t" lIns="0" rIns="0" tIns="0" bIns="0">
            <a:spAutoFit/>
          </a:bodyPr>
          <a:lstStyle/>
          <a:p>
            <a:pPr algn="l"/>
            <a:r>
              <a:rPr sz="1500" b="1">
                <a:solidFill>
                  <a:srgbClr val="0D9488"/>
                </a:solidFill>
                <a:latin typeface="Calibri"/>
              </a:rPr>
              <a:t>18,4</a:t>
            </a:r>
            <a:r>
              <a:rPr sz="900" b="0">
                <a:solidFill>
                  <a:srgbClr val="6B7280"/>
                </a:solidFill>
                <a:latin typeface="Calibri"/>
              </a:rPr>
              <a:t> M de unidades</a:t>
            </a:r>
          </a:p>
        </p:txBody>
      </p:sp>
      <p:sp>
        <p:nvSpPr>
          <p:cNvPr id="62" name="TextBox 61"/>
          <p:cNvSpPr txBox="1"/>
          <p:nvPr/>
        </p:nvSpPr>
        <p:spPr>
          <a:xfrm>
            <a:off x="7386339" y="5655564"/>
            <a:ext cx="1959193" cy="201168"/>
          </a:xfrm>
          <a:prstGeom prst="rect">
            <a:avLst/>
          </a:prstGeom>
          <a:noFill/>
        </p:spPr>
        <p:txBody>
          <a:bodyPr wrap="square" anchor="t" lIns="0" rIns="0" tIns="0" bIns="0">
            <a:spAutoFit/>
          </a:bodyPr>
          <a:lstStyle/>
          <a:p>
            <a:pPr algn="l"/>
            <a:r>
              <a:rPr sz="900" b="0">
                <a:solidFill>
                  <a:srgbClr val="6B7280"/>
                </a:solidFill>
                <a:latin typeface="Calibri"/>
              </a:rPr>
              <a:t>1989 · GB, 3DS · Nintendo</a:t>
            </a:r>
          </a:p>
        </p:txBody>
      </p:sp>
      <p:sp>
        <p:nvSpPr>
          <p:cNvPr id="63" name="Rounded Rectangle 62"/>
          <p:cNvSpPr/>
          <p:nvPr/>
        </p:nvSpPr>
        <p:spPr>
          <a:xfrm>
            <a:off x="9583276" y="3717036"/>
            <a:ext cx="2105497" cy="2318004"/>
          </a:xfrm>
          <a:prstGeom prst="roundRect">
            <a:avLst>
              <a:gd name="adj" fmla="val 6000"/>
            </a:avLst>
          </a:prstGeom>
          <a:solidFill>
            <a:srgbClr val="F3F4F6"/>
          </a:solidFill>
          <a:ln>
            <a:noFill/>
          </a:ln>
        </p:spPr>
        <p:txBody>
          <a:bodyPr rtlCol="0" anchor="ctr"/>
          <a:lstStyle/>
          <a:p>
            <a:pPr algn="ctr"/>
          </a:p>
        </p:txBody>
      </p:sp>
      <p:pic>
        <p:nvPicPr>
          <p:cNvPr id="64" name="Picture 63" descr="g20.jpg"/>
          <p:cNvPicPr>
            <a:picLocks noChangeAspect="1"/>
          </p:cNvPicPr>
          <p:nvPr/>
        </p:nvPicPr>
        <p:blipFill>
          <a:blip r:embed="rId11"/>
          <a:stretch>
            <a:fillRect/>
          </a:stretch>
        </p:blipFill>
        <p:spPr>
          <a:xfrm>
            <a:off x="10237820" y="3790188"/>
            <a:ext cx="796408" cy="1115568"/>
          </a:xfrm>
          <a:prstGeom prst="rect">
            <a:avLst/>
          </a:prstGeom>
        </p:spPr>
      </p:pic>
      <p:sp>
        <p:nvSpPr>
          <p:cNvPr id="65" name="Oval 64"/>
          <p:cNvSpPr/>
          <p:nvPr/>
        </p:nvSpPr>
        <p:spPr>
          <a:xfrm>
            <a:off x="11268149" y="4960620"/>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20</a:t>
            </a:r>
          </a:p>
        </p:txBody>
      </p:sp>
      <p:sp>
        <p:nvSpPr>
          <p:cNvPr id="66" name="TextBox 65"/>
          <p:cNvSpPr txBox="1"/>
          <p:nvPr/>
        </p:nvSpPr>
        <p:spPr>
          <a:xfrm>
            <a:off x="9656428" y="4978908"/>
            <a:ext cx="1556857" cy="365760"/>
          </a:xfrm>
          <a:prstGeom prst="rect">
            <a:avLst/>
          </a:prstGeom>
          <a:noFill/>
        </p:spPr>
        <p:txBody>
          <a:bodyPr wrap="square" anchor="t" lIns="0" rIns="0" tIns="0" bIns="0">
            <a:spAutoFit/>
          </a:bodyPr>
          <a:lstStyle/>
          <a:p>
            <a:pPr algn="l"/>
            <a:r>
              <a:rPr sz="1150" b="1">
                <a:solidFill>
                  <a:srgbClr val="1F2937"/>
                </a:solidFill>
                <a:latin typeface="Calibri"/>
              </a:rPr>
              <a:t>Sonic 3 &amp; Knuckles</a:t>
            </a:r>
          </a:p>
        </p:txBody>
      </p:sp>
      <p:sp>
        <p:nvSpPr>
          <p:cNvPr id="67" name="TextBox 66"/>
          <p:cNvSpPr txBox="1"/>
          <p:nvPr/>
        </p:nvSpPr>
        <p:spPr>
          <a:xfrm>
            <a:off x="9656428" y="5417820"/>
            <a:ext cx="1959193" cy="237744"/>
          </a:xfrm>
          <a:prstGeom prst="rect">
            <a:avLst/>
          </a:prstGeom>
          <a:noFill/>
        </p:spPr>
        <p:txBody>
          <a:bodyPr wrap="square" anchor="t" lIns="0" rIns="0" tIns="0" bIns="0">
            <a:spAutoFit/>
          </a:bodyPr>
          <a:lstStyle/>
          <a:p>
            <a:pPr algn="l"/>
            <a:r>
              <a:rPr sz="1500" b="1">
                <a:solidFill>
                  <a:srgbClr val="0D9488"/>
                </a:solidFill>
                <a:latin typeface="Calibri"/>
              </a:rPr>
              <a:t>17,0</a:t>
            </a:r>
            <a:r>
              <a:rPr sz="900" b="0">
                <a:solidFill>
                  <a:srgbClr val="6B7280"/>
                </a:solidFill>
                <a:latin typeface="Calibri"/>
              </a:rPr>
              <a:t> M de unidades</a:t>
            </a:r>
          </a:p>
        </p:txBody>
      </p:sp>
      <p:sp>
        <p:nvSpPr>
          <p:cNvPr id="68" name="TextBox 67"/>
          <p:cNvSpPr txBox="1"/>
          <p:nvPr/>
        </p:nvSpPr>
        <p:spPr>
          <a:xfrm>
            <a:off x="9656428" y="5655564"/>
            <a:ext cx="1959193" cy="201168"/>
          </a:xfrm>
          <a:prstGeom prst="rect">
            <a:avLst/>
          </a:prstGeom>
          <a:noFill/>
        </p:spPr>
        <p:txBody>
          <a:bodyPr wrap="square" anchor="t" lIns="0" rIns="0" tIns="0" bIns="0">
            <a:spAutoFit/>
          </a:bodyPr>
          <a:lstStyle/>
          <a:p>
            <a:pPr algn="l"/>
            <a:r>
              <a:rPr sz="900" b="0">
                <a:solidFill>
                  <a:srgbClr val="6B7280"/>
                </a:solidFill>
                <a:latin typeface="Calibri"/>
              </a:rPr>
              <a:t>1994 · Multiplataforma · Sega</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71</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 PLATAFORMEROS · JUEGOS 21–30</a:t>
            </a:r>
          </a:p>
          <a:p>
            <a:r>
              <a:rPr sz="2600" b="1" i="0">
                <a:solidFill>
                  <a:srgbClr val="FFFFFF"/>
                </a:solidFill>
                <a:latin typeface="Calibri"/>
              </a:rPr>
              <a:t>Juegos de plataformas más vendidos (3 de 5)</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Anexo · Los plataformeros más vendidos</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71/74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VGSales Wiki, «Best-selling platformers» (ventas estimadas, consulta 19/10/2026); imágenes: Wikipedia, uso educativo</a:t>
            </a:r>
          </a:p>
        </p:txBody>
      </p:sp>
      <p:sp>
        <p:nvSpPr>
          <p:cNvPr id="9" name="Rounded Rectangle 8"/>
          <p:cNvSpPr/>
          <p:nvPr/>
        </p:nvSpPr>
        <p:spPr>
          <a:xfrm>
            <a:off x="502920" y="1234440"/>
            <a:ext cx="2105497" cy="2318004"/>
          </a:xfrm>
          <a:prstGeom prst="roundRect">
            <a:avLst>
              <a:gd name="adj" fmla="val 6000"/>
            </a:avLst>
          </a:prstGeom>
          <a:solidFill>
            <a:srgbClr val="F3F4F6"/>
          </a:solidFill>
          <a:ln>
            <a:noFill/>
          </a:ln>
        </p:spPr>
        <p:txBody>
          <a:bodyPr rtlCol="0" anchor="ctr"/>
          <a:lstStyle/>
          <a:p>
            <a:pPr algn="ctr"/>
          </a:p>
        </p:txBody>
      </p:sp>
      <p:pic>
        <p:nvPicPr>
          <p:cNvPr id="10" name="Picture 9" descr="g21.png"/>
          <p:cNvPicPr>
            <a:picLocks noChangeAspect="1"/>
          </p:cNvPicPr>
          <p:nvPr/>
        </p:nvPicPr>
        <p:blipFill>
          <a:blip r:embed="rId2"/>
          <a:stretch>
            <a:fillRect/>
          </a:stretch>
        </p:blipFill>
        <p:spPr>
          <a:xfrm>
            <a:off x="994116" y="1307592"/>
            <a:ext cx="1123105" cy="1115568"/>
          </a:xfrm>
          <a:prstGeom prst="rect">
            <a:avLst/>
          </a:prstGeom>
        </p:spPr>
      </p:pic>
      <p:sp>
        <p:nvSpPr>
          <p:cNvPr id="11" name="Oval 10"/>
          <p:cNvSpPr/>
          <p:nvPr/>
        </p:nvSpPr>
        <p:spPr>
          <a:xfrm>
            <a:off x="2187793" y="2478024"/>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21</a:t>
            </a:r>
          </a:p>
        </p:txBody>
      </p:sp>
      <p:sp>
        <p:nvSpPr>
          <p:cNvPr id="12" name="TextBox 11"/>
          <p:cNvSpPr txBox="1"/>
          <p:nvPr/>
        </p:nvSpPr>
        <p:spPr>
          <a:xfrm>
            <a:off x="576072" y="2496312"/>
            <a:ext cx="1556857" cy="365760"/>
          </a:xfrm>
          <a:prstGeom prst="rect">
            <a:avLst/>
          </a:prstGeom>
          <a:noFill/>
        </p:spPr>
        <p:txBody>
          <a:bodyPr wrap="square" anchor="t" lIns="0" rIns="0" tIns="0" bIns="0">
            <a:spAutoFit/>
          </a:bodyPr>
          <a:lstStyle/>
          <a:p>
            <a:pPr algn="l"/>
            <a:r>
              <a:rPr sz="1150" b="1">
                <a:solidFill>
                  <a:srgbClr val="1F2937"/>
                </a:solidFill>
                <a:latin typeface="Calibri"/>
              </a:rPr>
              <a:t>Super Mario Bros. Wonder</a:t>
            </a:r>
          </a:p>
        </p:txBody>
      </p:sp>
      <p:sp>
        <p:nvSpPr>
          <p:cNvPr id="13" name="TextBox 12"/>
          <p:cNvSpPr txBox="1"/>
          <p:nvPr/>
        </p:nvSpPr>
        <p:spPr>
          <a:xfrm>
            <a:off x="576072" y="2935224"/>
            <a:ext cx="1959193" cy="237744"/>
          </a:xfrm>
          <a:prstGeom prst="rect">
            <a:avLst/>
          </a:prstGeom>
          <a:noFill/>
        </p:spPr>
        <p:txBody>
          <a:bodyPr wrap="square" anchor="t" lIns="0" rIns="0" tIns="0" bIns="0">
            <a:spAutoFit/>
          </a:bodyPr>
          <a:lstStyle/>
          <a:p>
            <a:pPr algn="l"/>
            <a:r>
              <a:rPr sz="1500" b="1">
                <a:solidFill>
                  <a:srgbClr val="0D9488"/>
                </a:solidFill>
                <a:latin typeface="Calibri"/>
              </a:rPr>
              <a:t>16,0</a:t>
            </a:r>
            <a:r>
              <a:rPr sz="900" b="0">
                <a:solidFill>
                  <a:srgbClr val="6B7280"/>
                </a:solidFill>
                <a:latin typeface="Calibri"/>
              </a:rPr>
              <a:t> M de unidades</a:t>
            </a:r>
          </a:p>
        </p:txBody>
      </p:sp>
      <p:sp>
        <p:nvSpPr>
          <p:cNvPr id="14" name="TextBox 13"/>
          <p:cNvSpPr txBox="1"/>
          <p:nvPr/>
        </p:nvSpPr>
        <p:spPr>
          <a:xfrm>
            <a:off x="576072" y="3172968"/>
            <a:ext cx="1959193" cy="201168"/>
          </a:xfrm>
          <a:prstGeom prst="rect">
            <a:avLst/>
          </a:prstGeom>
          <a:noFill/>
        </p:spPr>
        <p:txBody>
          <a:bodyPr wrap="square" anchor="t" lIns="0" rIns="0" tIns="0" bIns="0">
            <a:spAutoFit/>
          </a:bodyPr>
          <a:lstStyle/>
          <a:p>
            <a:pPr algn="l"/>
            <a:r>
              <a:rPr sz="900" b="0">
                <a:solidFill>
                  <a:srgbClr val="6B7280"/>
                </a:solidFill>
                <a:latin typeface="Calibri"/>
              </a:rPr>
              <a:t>2023 · Switch · Nintendo</a:t>
            </a:r>
          </a:p>
        </p:txBody>
      </p:sp>
      <p:sp>
        <p:nvSpPr>
          <p:cNvPr id="15" name="Rounded Rectangle 14"/>
          <p:cNvSpPr/>
          <p:nvPr/>
        </p:nvSpPr>
        <p:spPr>
          <a:xfrm>
            <a:off x="2773009" y="1234440"/>
            <a:ext cx="2105497" cy="2318004"/>
          </a:xfrm>
          <a:prstGeom prst="roundRect">
            <a:avLst>
              <a:gd name="adj" fmla="val 6000"/>
            </a:avLst>
          </a:prstGeom>
          <a:solidFill>
            <a:srgbClr val="F3F4F6"/>
          </a:solidFill>
          <a:ln>
            <a:noFill/>
          </a:ln>
        </p:spPr>
        <p:txBody>
          <a:bodyPr rtlCol="0" anchor="ctr"/>
          <a:lstStyle/>
          <a:p>
            <a:pPr algn="ctr"/>
          </a:p>
        </p:txBody>
      </p:sp>
      <p:pic>
        <p:nvPicPr>
          <p:cNvPr id="16" name="Picture 15" descr="g22.png"/>
          <p:cNvPicPr>
            <a:picLocks noChangeAspect="1"/>
          </p:cNvPicPr>
          <p:nvPr/>
        </p:nvPicPr>
        <p:blipFill>
          <a:blip r:embed="rId3"/>
          <a:stretch>
            <a:fillRect/>
          </a:stretch>
        </p:blipFill>
        <p:spPr>
          <a:xfrm>
            <a:off x="3424706" y="1307592"/>
            <a:ext cx="802102" cy="1115568"/>
          </a:xfrm>
          <a:prstGeom prst="rect">
            <a:avLst/>
          </a:prstGeom>
        </p:spPr>
      </p:pic>
      <p:sp>
        <p:nvSpPr>
          <p:cNvPr id="17" name="Oval 16"/>
          <p:cNvSpPr/>
          <p:nvPr/>
        </p:nvSpPr>
        <p:spPr>
          <a:xfrm>
            <a:off x="4457882" y="2478024"/>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22</a:t>
            </a:r>
          </a:p>
        </p:txBody>
      </p:sp>
      <p:sp>
        <p:nvSpPr>
          <p:cNvPr id="18" name="TextBox 17"/>
          <p:cNvSpPr txBox="1"/>
          <p:nvPr/>
        </p:nvSpPr>
        <p:spPr>
          <a:xfrm>
            <a:off x="2846161" y="2496312"/>
            <a:ext cx="1556857" cy="365760"/>
          </a:xfrm>
          <a:prstGeom prst="rect">
            <a:avLst/>
          </a:prstGeom>
          <a:noFill/>
        </p:spPr>
        <p:txBody>
          <a:bodyPr wrap="square" anchor="t" lIns="0" rIns="0" tIns="0" bIns="0">
            <a:spAutoFit/>
          </a:bodyPr>
          <a:lstStyle/>
          <a:p>
            <a:pPr algn="l"/>
            <a:r>
              <a:rPr sz="1150" b="1">
                <a:solidFill>
                  <a:srgbClr val="1F2937"/>
                </a:solidFill>
                <a:latin typeface="Calibri"/>
              </a:rPr>
              <a:t>Super Mario Sunshine</a:t>
            </a:r>
          </a:p>
        </p:txBody>
      </p:sp>
      <p:sp>
        <p:nvSpPr>
          <p:cNvPr id="19" name="TextBox 18"/>
          <p:cNvSpPr txBox="1"/>
          <p:nvPr/>
        </p:nvSpPr>
        <p:spPr>
          <a:xfrm>
            <a:off x="2846161" y="2935224"/>
            <a:ext cx="1959193" cy="237744"/>
          </a:xfrm>
          <a:prstGeom prst="rect">
            <a:avLst/>
          </a:prstGeom>
          <a:noFill/>
        </p:spPr>
        <p:txBody>
          <a:bodyPr wrap="square" anchor="t" lIns="0" rIns="0" tIns="0" bIns="0">
            <a:spAutoFit/>
          </a:bodyPr>
          <a:lstStyle/>
          <a:p>
            <a:pPr algn="l"/>
            <a:r>
              <a:rPr sz="1500" b="1">
                <a:solidFill>
                  <a:srgbClr val="0D9488"/>
                </a:solidFill>
                <a:latin typeface="Calibri"/>
              </a:rPr>
              <a:t>15,4</a:t>
            </a:r>
            <a:r>
              <a:rPr sz="900" b="0">
                <a:solidFill>
                  <a:srgbClr val="6B7280"/>
                </a:solidFill>
                <a:latin typeface="Calibri"/>
              </a:rPr>
              <a:t> M de unidades</a:t>
            </a:r>
          </a:p>
        </p:txBody>
      </p:sp>
      <p:sp>
        <p:nvSpPr>
          <p:cNvPr id="20" name="TextBox 19"/>
          <p:cNvSpPr txBox="1"/>
          <p:nvPr/>
        </p:nvSpPr>
        <p:spPr>
          <a:xfrm>
            <a:off x="2846161" y="3172968"/>
            <a:ext cx="1959193" cy="201168"/>
          </a:xfrm>
          <a:prstGeom prst="rect">
            <a:avLst/>
          </a:prstGeom>
          <a:noFill/>
        </p:spPr>
        <p:txBody>
          <a:bodyPr wrap="square" anchor="t" lIns="0" rIns="0" tIns="0" bIns="0">
            <a:spAutoFit/>
          </a:bodyPr>
          <a:lstStyle/>
          <a:p>
            <a:pPr algn="l"/>
            <a:r>
              <a:rPr sz="900" b="0">
                <a:solidFill>
                  <a:srgbClr val="6B7280"/>
                </a:solidFill>
                <a:latin typeface="Calibri"/>
              </a:rPr>
              <a:t>2002 · GC, Switch · Nintendo</a:t>
            </a:r>
          </a:p>
        </p:txBody>
      </p:sp>
      <p:sp>
        <p:nvSpPr>
          <p:cNvPr id="21" name="Rounded Rectangle 20"/>
          <p:cNvSpPr/>
          <p:nvPr/>
        </p:nvSpPr>
        <p:spPr>
          <a:xfrm>
            <a:off x="5043098" y="1234440"/>
            <a:ext cx="2105497" cy="2318004"/>
          </a:xfrm>
          <a:prstGeom prst="roundRect">
            <a:avLst>
              <a:gd name="adj" fmla="val 6000"/>
            </a:avLst>
          </a:prstGeom>
          <a:solidFill>
            <a:srgbClr val="F3F4F6"/>
          </a:solidFill>
          <a:ln>
            <a:noFill/>
          </a:ln>
        </p:spPr>
        <p:txBody>
          <a:bodyPr rtlCol="0" anchor="ctr"/>
          <a:lstStyle/>
          <a:p>
            <a:pPr algn="ctr"/>
          </a:p>
        </p:txBody>
      </p:sp>
      <p:pic>
        <p:nvPicPr>
          <p:cNvPr id="22" name="Picture 21" descr="g23.jpg"/>
          <p:cNvPicPr>
            <a:picLocks noChangeAspect="1"/>
          </p:cNvPicPr>
          <p:nvPr/>
        </p:nvPicPr>
        <p:blipFill>
          <a:blip r:embed="rId4"/>
          <a:stretch>
            <a:fillRect/>
          </a:stretch>
        </p:blipFill>
        <p:spPr>
          <a:xfrm>
            <a:off x="5661149" y="1307592"/>
            <a:ext cx="869395" cy="1115568"/>
          </a:xfrm>
          <a:prstGeom prst="rect">
            <a:avLst/>
          </a:prstGeom>
        </p:spPr>
      </p:pic>
      <p:sp>
        <p:nvSpPr>
          <p:cNvPr id="23" name="Oval 22"/>
          <p:cNvSpPr/>
          <p:nvPr/>
        </p:nvSpPr>
        <p:spPr>
          <a:xfrm>
            <a:off x="6727971" y="2478024"/>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23</a:t>
            </a:r>
          </a:p>
        </p:txBody>
      </p:sp>
      <p:sp>
        <p:nvSpPr>
          <p:cNvPr id="24" name="TextBox 23"/>
          <p:cNvSpPr txBox="1"/>
          <p:nvPr/>
        </p:nvSpPr>
        <p:spPr>
          <a:xfrm>
            <a:off x="5116250" y="2496312"/>
            <a:ext cx="1556857" cy="365760"/>
          </a:xfrm>
          <a:prstGeom prst="rect">
            <a:avLst/>
          </a:prstGeom>
          <a:noFill/>
        </p:spPr>
        <p:txBody>
          <a:bodyPr wrap="square" anchor="t" lIns="0" rIns="0" tIns="0" bIns="0">
            <a:spAutoFit/>
          </a:bodyPr>
          <a:lstStyle/>
          <a:p>
            <a:pPr algn="l"/>
            <a:r>
              <a:rPr sz="1150" b="1">
                <a:solidFill>
                  <a:srgbClr val="1F2937"/>
                </a:solidFill>
                <a:latin typeface="Calibri"/>
              </a:rPr>
              <a:t>Prince of Persia: The Sands of Time</a:t>
            </a:r>
          </a:p>
        </p:txBody>
      </p:sp>
      <p:sp>
        <p:nvSpPr>
          <p:cNvPr id="25" name="TextBox 24"/>
          <p:cNvSpPr txBox="1"/>
          <p:nvPr/>
        </p:nvSpPr>
        <p:spPr>
          <a:xfrm>
            <a:off x="5116250" y="2935224"/>
            <a:ext cx="1959193" cy="237744"/>
          </a:xfrm>
          <a:prstGeom prst="rect">
            <a:avLst/>
          </a:prstGeom>
          <a:noFill/>
        </p:spPr>
        <p:txBody>
          <a:bodyPr wrap="square" anchor="t" lIns="0" rIns="0" tIns="0" bIns="0">
            <a:spAutoFit/>
          </a:bodyPr>
          <a:lstStyle/>
          <a:p>
            <a:pPr algn="l"/>
            <a:r>
              <a:rPr sz="1500" b="1">
                <a:solidFill>
                  <a:srgbClr val="0D9488"/>
                </a:solidFill>
                <a:latin typeface="Calibri"/>
              </a:rPr>
              <a:t>14,0</a:t>
            </a:r>
            <a:r>
              <a:rPr sz="900" b="0">
                <a:solidFill>
                  <a:srgbClr val="6B7280"/>
                </a:solidFill>
                <a:latin typeface="Calibri"/>
              </a:rPr>
              <a:t> M de unidades</a:t>
            </a:r>
          </a:p>
        </p:txBody>
      </p:sp>
      <p:sp>
        <p:nvSpPr>
          <p:cNvPr id="26" name="TextBox 25"/>
          <p:cNvSpPr txBox="1"/>
          <p:nvPr/>
        </p:nvSpPr>
        <p:spPr>
          <a:xfrm>
            <a:off x="5116250" y="3172968"/>
            <a:ext cx="1959193" cy="201168"/>
          </a:xfrm>
          <a:prstGeom prst="rect">
            <a:avLst/>
          </a:prstGeom>
          <a:noFill/>
        </p:spPr>
        <p:txBody>
          <a:bodyPr wrap="square" anchor="t" lIns="0" rIns="0" tIns="0" bIns="0">
            <a:spAutoFit/>
          </a:bodyPr>
          <a:lstStyle/>
          <a:p>
            <a:pPr algn="l"/>
            <a:r>
              <a:rPr sz="900" b="0">
                <a:solidFill>
                  <a:srgbClr val="6B7280"/>
                </a:solidFill>
                <a:latin typeface="Calibri"/>
              </a:rPr>
              <a:t>2003 · Multiplataforma · Ubisoft</a:t>
            </a:r>
          </a:p>
        </p:txBody>
      </p:sp>
      <p:sp>
        <p:nvSpPr>
          <p:cNvPr id="27" name="Rounded Rectangle 26"/>
          <p:cNvSpPr/>
          <p:nvPr/>
        </p:nvSpPr>
        <p:spPr>
          <a:xfrm>
            <a:off x="7313187" y="1234440"/>
            <a:ext cx="2105497" cy="2318004"/>
          </a:xfrm>
          <a:prstGeom prst="roundRect">
            <a:avLst>
              <a:gd name="adj" fmla="val 6000"/>
            </a:avLst>
          </a:prstGeom>
          <a:solidFill>
            <a:srgbClr val="F3F4F6"/>
          </a:solidFill>
          <a:ln>
            <a:noFill/>
          </a:ln>
        </p:spPr>
        <p:txBody>
          <a:bodyPr rtlCol="0" anchor="ctr"/>
          <a:lstStyle/>
          <a:p>
            <a:pPr algn="ctr"/>
          </a:p>
        </p:txBody>
      </p:sp>
      <p:pic>
        <p:nvPicPr>
          <p:cNvPr id="28" name="Picture 27" descr="g24.png"/>
          <p:cNvPicPr>
            <a:picLocks noChangeAspect="1"/>
          </p:cNvPicPr>
          <p:nvPr/>
        </p:nvPicPr>
        <p:blipFill>
          <a:blip r:embed="rId5"/>
          <a:stretch>
            <a:fillRect/>
          </a:stretch>
        </p:blipFill>
        <p:spPr>
          <a:xfrm>
            <a:off x="7808151" y="1307592"/>
            <a:ext cx="1115568" cy="1115568"/>
          </a:xfrm>
          <a:prstGeom prst="rect">
            <a:avLst/>
          </a:prstGeom>
        </p:spPr>
      </p:pic>
      <p:sp>
        <p:nvSpPr>
          <p:cNvPr id="29" name="Oval 28"/>
          <p:cNvSpPr/>
          <p:nvPr/>
        </p:nvSpPr>
        <p:spPr>
          <a:xfrm>
            <a:off x="8998060" y="2478024"/>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24</a:t>
            </a:r>
          </a:p>
        </p:txBody>
      </p:sp>
      <p:sp>
        <p:nvSpPr>
          <p:cNvPr id="30" name="TextBox 29"/>
          <p:cNvSpPr txBox="1"/>
          <p:nvPr/>
        </p:nvSpPr>
        <p:spPr>
          <a:xfrm>
            <a:off x="7386339" y="2496312"/>
            <a:ext cx="1556857" cy="365760"/>
          </a:xfrm>
          <a:prstGeom prst="rect">
            <a:avLst/>
          </a:prstGeom>
          <a:noFill/>
        </p:spPr>
        <p:txBody>
          <a:bodyPr wrap="square" anchor="t" lIns="0" rIns="0" tIns="0" bIns="0">
            <a:spAutoFit/>
          </a:bodyPr>
          <a:lstStyle/>
          <a:p>
            <a:pPr algn="l"/>
            <a:r>
              <a:rPr sz="1150" b="1">
                <a:solidFill>
                  <a:srgbClr val="1F2937"/>
                </a:solidFill>
                <a:latin typeface="Calibri"/>
              </a:rPr>
              <a:t>New Super Mario Bros. 2</a:t>
            </a:r>
          </a:p>
        </p:txBody>
      </p:sp>
      <p:sp>
        <p:nvSpPr>
          <p:cNvPr id="31" name="TextBox 30"/>
          <p:cNvSpPr txBox="1"/>
          <p:nvPr/>
        </p:nvSpPr>
        <p:spPr>
          <a:xfrm>
            <a:off x="7386339" y="2935224"/>
            <a:ext cx="1959193" cy="237744"/>
          </a:xfrm>
          <a:prstGeom prst="rect">
            <a:avLst/>
          </a:prstGeom>
          <a:noFill/>
        </p:spPr>
        <p:txBody>
          <a:bodyPr wrap="square" anchor="t" lIns="0" rIns="0" tIns="0" bIns="0">
            <a:spAutoFit/>
          </a:bodyPr>
          <a:lstStyle/>
          <a:p>
            <a:pPr algn="l"/>
            <a:r>
              <a:rPr sz="1500" b="1">
                <a:solidFill>
                  <a:srgbClr val="0D9488"/>
                </a:solidFill>
                <a:latin typeface="Calibri"/>
              </a:rPr>
              <a:t>13,4</a:t>
            </a:r>
            <a:r>
              <a:rPr sz="900" b="0">
                <a:solidFill>
                  <a:srgbClr val="6B7280"/>
                </a:solidFill>
                <a:latin typeface="Calibri"/>
              </a:rPr>
              <a:t> M de unidades</a:t>
            </a:r>
          </a:p>
        </p:txBody>
      </p:sp>
      <p:sp>
        <p:nvSpPr>
          <p:cNvPr id="32" name="TextBox 31"/>
          <p:cNvSpPr txBox="1"/>
          <p:nvPr/>
        </p:nvSpPr>
        <p:spPr>
          <a:xfrm>
            <a:off x="7386339" y="3172968"/>
            <a:ext cx="1959193" cy="201168"/>
          </a:xfrm>
          <a:prstGeom prst="rect">
            <a:avLst/>
          </a:prstGeom>
          <a:noFill/>
        </p:spPr>
        <p:txBody>
          <a:bodyPr wrap="square" anchor="t" lIns="0" rIns="0" tIns="0" bIns="0">
            <a:spAutoFit/>
          </a:bodyPr>
          <a:lstStyle/>
          <a:p>
            <a:pPr algn="l"/>
            <a:r>
              <a:rPr sz="900" b="0">
                <a:solidFill>
                  <a:srgbClr val="6B7280"/>
                </a:solidFill>
                <a:latin typeface="Calibri"/>
              </a:rPr>
              <a:t>2012 · 3DS · Nintendo</a:t>
            </a:r>
          </a:p>
        </p:txBody>
      </p:sp>
      <p:sp>
        <p:nvSpPr>
          <p:cNvPr id="33" name="Rounded Rectangle 32"/>
          <p:cNvSpPr/>
          <p:nvPr/>
        </p:nvSpPr>
        <p:spPr>
          <a:xfrm>
            <a:off x="9583276" y="1234440"/>
            <a:ext cx="2105497" cy="2318004"/>
          </a:xfrm>
          <a:prstGeom prst="roundRect">
            <a:avLst>
              <a:gd name="adj" fmla="val 6000"/>
            </a:avLst>
          </a:prstGeom>
          <a:solidFill>
            <a:srgbClr val="F3F4F6"/>
          </a:solidFill>
          <a:ln>
            <a:noFill/>
          </a:ln>
        </p:spPr>
        <p:txBody>
          <a:bodyPr rtlCol="0" anchor="ctr"/>
          <a:lstStyle/>
          <a:p>
            <a:pPr algn="ctr"/>
          </a:p>
        </p:txBody>
      </p:sp>
      <p:pic>
        <p:nvPicPr>
          <p:cNvPr id="34" name="Picture 33" descr="g25.png"/>
          <p:cNvPicPr>
            <a:picLocks noChangeAspect="1"/>
          </p:cNvPicPr>
          <p:nvPr/>
        </p:nvPicPr>
        <p:blipFill>
          <a:blip r:embed="rId6"/>
          <a:stretch>
            <a:fillRect/>
          </a:stretch>
        </p:blipFill>
        <p:spPr>
          <a:xfrm>
            <a:off x="9835726" y="1307592"/>
            <a:ext cx="1600597" cy="1115568"/>
          </a:xfrm>
          <a:prstGeom prst="rect">
            <a:avLst/>
          </a:prstGeom>
        </p:spPr>
      </p:pic>
      <p:sp>
        <p:nvSpPr>
          <p:cNvPr id="35" name="Oval 34"/>
          <p:cNvSpPr/>
          <p:nvPr/>
        </p:nvSpPr>
        <p:spPr>
          <a:xfrm>
            <a:off x="11268149" y="2478024"/>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25</a:t>
            </a:r>
          </a:p>
        </p:txBody>
      </p:sp>
      <p:sp>
        <p:nvSpPr>
          <p:cNvPr id="36" name="TextBox 35"/>
          <p:cNvSpPr txBox="1"/>
          <p:nvPr/>
        </p:nvSpPr>
        <p:spPr>
          <a:xfrm>
            <a:off x="9656428" y="2496312"/>
            <a:ext cx="1556857" cy="365760"/>
          </a:xfrm>
          <a:prstGeom prst="rect">
            <a:avLst/>
          </a:prstGeom>
          <a:noFill/>
        </p:spPr>
        <p:txBody>
          <a:bodyPr wrap="square" anchor="t" lIns="0" rIns="0" tIns="0" bIns="0">
            <a:spAutoFit/>
          </a:bodyPr>
          <a:lstStyle/>
          <a:p>
            <a:pPr algn="l"/>
            <a:r>
              <a:rPr sz="1150" b="1">
                <a:solidFill>
                  <a:srgbClr val="1F2937"/>
                </a:solidFill>
                <a:latin typeface="Calibri"/>
              </a:rPr>
              <a:t>Donkey Kong Country</a:t>
            </a:r>
          </a:p>
        </p:txBody>
      </p:sp>
      <p:sp>
        <p:nvSpPr>
          <p:cNvPr id="37" name="TextBox 36"/>
          <p:cNvSpPr txBox="1"/>
          <p:nvPr/>
        </p:nvSpPr>
        <p:spPr>
          <a:xfrm>
            <a:off x="9656428" y="2935224"/>
            <a:ext cx="1959193" cy="237744"/>
          </a:xfrm>
          <a:prstGeom prst="rect">
            <a:avLst/>
          </a:prstGeom>
          <a:noFill/>
        </p:spPr>
        <p:txBody>
          <a:bodyPr wrap="square" anchor="t" lIns="0" rIns="0" tIns="0" bIns="0">
            <a:spAutoFit/>
          </a:bodyPr>
          <a:lstStyle/>
          <a:p>
            <a:pPr algn="l"/>
            <a:r>
              <a:rPr sz="1500" b="1">
                <a:solidFill>
                  <a:srgbClr val="0D9488"/>
                </a:solidFill>
                <a:latin typeface="Calibri"/>
              </a:rPr>
              <a:t>13,3</a:t>
            </a:r>
            <a:r>
              <a:rPr sz="900" b="0">
                <a:solidFill>
                  <a:srgbClr val="6B7280"/>
                </a:solidFill>
                <a:latin typeface="Calibri"/>
              </a:rPr>
              <a:t> M de unidades</a:t>
            </a:r>
          </a:p>
        </p:txBody>
      </p:sp>
      <p:sp>
        <p:nvSpPr>
          <p:cNvPr id="38" name="TextBox 37"/>
          <p:cNvSpPr txBox="1"/>
          <p:nvPr/>
        </p:nvSpPr>
        <p:spPr>
          <a:xfrm>
            <a:off x="9656428" y="3172968"/>
            <a:ext cx="1959193" cy="201168"/>
          </a:xfrm>
          <a:prstGeom prst="rect">
            <a:avLst/>
          </a:prstGeom>
          <a:noFill/>
        </p:spPr>
        <p:txBody>
          <a:bodyPr wrap="square" anchor="t" lIns="0" rIns="0" tIns="0" bIns="0">
            <a:spAutoFit/>
          </a:bodyPr>
          <a:lstStyle/>
          <a:p>
            <a:pPr algn="l"/>
            <a:r>
              <a:rPr sz="900" b="0">
                <a:solidFill>
                  <a:srgbClr val="6B7280"/>
                </a:solidFill>
                <a:latin typeface="Calibri"/>
              </a:rPr>
              <a:t>1994 · Multiplataforma · Nintendo</a:t>
            </a:r>
          </a:p>
        </p:txBody>
      </p:sp>
      <p:sp>
        <p:nvSpPr>
          <p:cNvPr id="39" name="Rounded Rectangle 38"/>
          <p:cNvSpPr/>
          <p:nvPr/>
        </p:nvSpPr>
        <p:spPr>
          <a:xfrm>
            <a:off x="502920" y="3717036"/>
            <a:ext cx="2105497" cy="2318004"/>
          </a:xfrm>
          <a:prstGeom prst="roundRect">
            <a:avLst>
              <a:gd name="adj" fmla="val 6000"/>
            </a:avLst>
          </a:prstGeom>
          <a:solidFill>
            <a:srgbClr val="F3F4F6"/>
          </a:solidFill>
          <a:ln>
            <a:noFill/>
          </a:ln>
        </p:spPr>
        <p:txBody>
          <a:bodyPr rtlCol="0" anchor="ctr"/>
          <a:lstStyle/>
          <a:p>
            <a:pPr algn="ctr"/>
          </a:p>
        </p:txBody>
      </p:sp>
      <p:pic>
        <p:nvPicPr>
          <p:cNvPr id="40" name="Picture 39" descr="g26.jpg"/>
          <p:cNvPicPr>
            <a:picLocks noChangeAspect="1"/>
          </p:cNvPicPr>
          <p:nvPr/>
        </p:nvPicPr>
        <p:blipFill>
          <a:blip r:embed="rId7"/>
          <a:stretch>
            <a:fillRect/>
          </a:stretch>
        </p:blipFill>
        <p:spPr>
          <a:xfrm>
            <a:off x="997884" y="3790188"/>
            <a:ext cx="1115568" cy="1115568"/>
          </a:xfrm>
          <a:prstGeom prst="rect">
            <a:avLst/>
          </a:prstGeom>
        </p:spPr>
      </p:pic>
      <p:sp>
        <p:nvSpPr>
          <p:cNvPr id="41" name="Oval 40"/>
          <p:cNvSpPr/>
          <p:nvPr/>
        </p:nvSpPr>
        <p:spPr>
          <a:xfrm>
            <a:off x="2187793" y="4960620"/>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26</a:t>
            </a:r>
          </a:p>
        </p:txBody>
      </p:sp>
      <p:sp>
        <p:nvSpPr>
          <p:cNvPr id="42" name="TextBox 41"/>
          <p:cNvSpPr txBox="1"/>
          <p:nvPr/>
        </p:nvSpPr>
        <p:spPr>
          <a:xfrm>
            <a:off x="576072" y="4978908"/>
            <a:ext cx="1556857" cy="365760"/>
          </a:xfrm>
          <a:prstGeom prst="rect">
            <a:avLst/>
          </a:prstGeom>
          <a:noFill/>
        </p:spPr>
        <p:txBody>
          <a:bodyPr wrap="square" anchor="t" lIns="0" rIns="0" tIns="0" bIns="0">
            <a:spAutoFit/>
          </a:bodyPr>
          <a:lstStyle/>
          <a:p>
            <a:pPr algn="l"/>
            <a:r>
              <a:rPr sz="1150" b="1">
                <a:solidFill>
                  <a:srgbClr val="1F2937"/>
                </a:solidFill>
                <a:latin typeface="Calibri"/>
              </a:rPr>
              <a:t>Super Mario 3D Land</a:t>
            </a:r>
          </a:p>
        </p:txBody>
      </p:sp>
      <p:sp>
        <p:nvSpPr>
          <p:cNvPr id="43" name="TextBox 42"/>
          <p:cNvSpPr txBox="1"/>
          <p:nvPr/>
        </p:nvSpPr>
        <p:spPr>
          <a:xfrm>
            <a:off x="576072" y="5417820"/>
            <a:ext cx="1959193" cy="237744"/>
          </a:xfrm>
          <a:prstGeom prst="rect">
            <a:avLst/>
          </a:prstGeom>
          <a:noFill/>
        </p:spPr>
        <p:txBody>
          <a:bodyPr wrap="square" anchor="t" lIns="0" rIns="0" tIns="0" bIns="0">
            <a:spAutoFit/>
          </a:bodyPr>
          <a:lstStyle/>
          <a:p>
            <a:pPr algn="l"/>
            <a:r>
              <a:rPr sz="1500" b="1">
                <a:solidFill>
                  <a:srgbClr val="0D9488"/>
                </a:solidFill>
                <a:latin typeface="Calibri"/>
              </a:rPr>
              <a:t>12,9</a:t>
            </a:r>
            <a:r>
              <a:rPr sz="900" b="0">
                <a:solidFill>
                  <a:srgbClr val="6B7280"/>
                </a:solidFill>
                <a:latin typeface="Calibri"/>
              </a:rPr>
              <a:t> M de unidades</a:t>
            </a:r>
          </a:p>
        </p:txBody>
      </p:sp>
      <p:sp>
        <p:nvSpPr>
          <p:cNvPr id="44" name="TextBox 43"/>
          <p:cNvSpPr txBox="1"/>
          <p:nvPr/>
        </p:nvSpPr>
        <p:spPr>
          <a:xfrm>
            <a:off x="576072" y="5655564"/>
            <a:ext cx="1959193" cy="201168"/>
          </a:xfrm>
          <a:prstGeom prst="rect">
            <a:avLst/>
          </a:prstGeom>
          <a:noFill/>
        </p:spPr>
        <p:txBody>
          <a:bodyPr wrap="square" anchor="t" lIns="0" rIns="0" tIns="0" bIns="0">
            <a:spAutoFit/>
          </a:bodyPr>
          <a:lstStyle/>
          <a:p>
            <a:pPr algn="l"/>
            <a:r>
              <a:rPr sz="900" b="0">
                <a:solidFill>
                  <a:srgbClr val="6B7280"/>
                </a:solidFill>
                <a:latin typeface="Calibri"/>
              </a:rPr>
              <a:t>2011 · 3DS · Nintendo</a:t>
            </a:r>
          </a:p>
        </p:txBody>
      </p:sp>
      <p:sp>
        <p:nvSpPr>
          <p:cNvPr id="45" name="Rounded Rectangle 44"/>
          <p:cNvSpPr/>
          <p:nvPr/>
        </p:nvSpPr>
        <p:spPr>
          <a:xfrm>
            <a:off x="2773009" y="3717036"/>
            <a:ext cx="2105497" cy="2318004"/>
          </a:xfrm>
          <a:prstGeom prst="roundRect">
            <a:avLst>
              <a:gd name="adj" fmla="val 6000"/>
            </a:avLst>
          </a:prstGeom>
          <a:solidFill>
            <a:srgbClr val="F3F4F6"/>
          </a:solidFill>
          <a:ln>
            <a:noFill/>
          </a:ln>
        </p:spPr>
        <p:txBody>
          <a:bodyPr rtlCol="0" anchor="ctr"/>
          <a:lstStyle/>
          <a:p>
            <a:pPr algn="ctr"/>
          </a:p>
        </p:txBody>
      </p:sp>
      <p:pic>
        <p:nvPicPr>
          <p:cNvPr id="46" name="Picture 45" descr="g27.jpg"/>
          <p:cNvPicPr>
            <a:picLocks noChangeAspect="1"/>
          </p:cNvPicPr>
          <p:nvPr/>
        </p:nvPicPr>
        <p:blipFill>
          <a:blip r:embed="rId8"/>
          <a:stretch>
            <a:fillRect/>
          </a:stretch>
        </p:blipFill>
        <p:spPr>
          <a:xfrm>
            <a:off x="3027112" y="3790188"/>
            <a:ext cx="1597290" cy="1115568"/>
          </a:xfrm>
          <a:prstGeom prst="rect">
            <a:avLst/>
          </a:prstGeom>
        </p:spPr>
      </p:pic>
      <p:sp>
        <p:nvSpPr>
          <p:cNvPr id="47" name="Oval 46"/>
          <p:cNvSpPr/>
          <p:nvPr/>
        </p:nvSpPr>
        <p:spPr>
          <a:xfrm>
            <a:off x="4457882" y="4960620"/>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27</a:t>
            </a:r>
          </a:p>
        </p:txBody>
      </p:sp>
      <p:sp>
        <p:nvSpPr>
          <p:cNvPr id="48" name="TextBox 47"/>
          <p:cNvSpPr txBox="1"/>
          <p:nvPr/>
        </p:nvSpPr>
        <p:spPr>
          <a:xfrm>
            <a:off x="2846161" y="4978908"/>
            <a:ext cx="1556857" cy="365760"/>
          </a:xfrm>
          <a:prstGeom prst="rect">
            <a:avLst/>
          </a:prstGeom>
          <a:noFill/>
        </p:spPr>
        <p:txBody>
          <a:bodyPr wrap="square" anchor="t" lIns="0" rIns="0" tIns="0" bIns="0">
            <a:spAutoFit/>
          </a:bodyPr>
          <a:lstStyle/>
          <a:p>
            <a:pPr algn="l"/>
            <a:r>
              <a:rPr sz="1150" b="1">
                <a:solidFill>
                  <a:srgbClr val="1F2937"/>
                </a:solidFill>
                <a:latin typeface="Calibri"/>
              </a:rPr>
              <a:t>Super Mario All-Stars</a:t>
            </a:r>
          </a:p>
        </p:txBody>
      </p:sp>
      <p:sp>
        <p:nvSpPr>
          <p:cNvPr id="49" name="TextBox 48"/>
          <p:cNvSpPr txBox="1"/>
          <p:nvPr/>
        </p:nvSpPr>
        <p:spPr>
          <a:xfrm>
            <a:off x="2846161" y="5417820"/>
            <a:ext cx="1959193" cy="237744"/>
          </a:xfrm>
          <a:prstGeom prst="rect">
            <a:avLst/>
          </a:prstGeom>
          <a:noFill/>
        </p:spPr>
        <p:txBody>
          <a:bodyPr wrap="square" anchor="t" lIns="0" rIns="0" tIns="0" bIns="0">
            <a:spAutoFit/>
          </a:bodyPr>
          <a:lstStyle/>
          <a:p>
            <a:pPr algn="l"/>
            <a:r>
              <a:rPr sz="1500" b="1">
                <a:solidFill>
                  <a:srgbClr val="0D9488"/>
                </a:solidFill>
                <a:latin typeface="Calibri"/>
              </a:rPr>
              <a:t>12,8</a:t>
            </a:r>
            <a:r>
              <a:rPr sz="900" b="0">
                <a:solidFill>
                  <a:srgbClr val="6B7280"/>
                </a:solidFill>
                <a:latin typeface="Calibri"/>
              </a:rPr>
              <a:t> M de unidades</a:t>
            </a:r>
          </a:p>
        </p:txBody>
      </p:sp>
      <p:sp>
        <p:nvSpPr>
          <p:cNvPr id="50" name="TextBox 49"/>
          <p:cNvSpPr txBox="1"/>
          <p:nvPr/>
        </p:nvSpPr>
        <p:spPr>
          <a:xfrm>
            <a:off x="2846161" y="5655564"/>
            <a:ext cx="1959193" cy="201168"/>
          </a:xfrm>
          <a:prstGeom prst="rect">
            <a:avLst/>
          </a:prstGeom>
          <a:noFill/>
        </p:spPr>
        <p:txBody>
          <a:bodyPr wrap="square" anchor="t" lIns="0" rIns="0" tIns="0" bIns="0">
            <a:spAutoFit/>
          </a:bodyPr>
          <a:lstStyle/>
          <a:p>
            <a:pPr algn="l"/>
            <a:r>
              <a:rPr sz="900" b="0">
                <a:solidFill>
                  <a:srgbClr val="6B7280"/>
                </a:solidFill>
                <a:latin typeface="Calibri"/>
              </a:rPr>
              <a:t>1993 · SNES, Wii · Nintendo</a:t>
            </a:r>
          </a:p>
        </p:txBody>
      </p:sp>
      <p:sp>
        <p:nvSpPr>
          <p:cNvPr id="51" name="Rounded Rectangle 50"/>
          <p:cNvSpPr/>
          <p:nvPr/>
        </p:nvSpPr>
        <p:spPr>
          <a:xfrm>
            <a:off x="5043098" y="3717036"/>
            <a:ext cx="2105497" cy="2318004"/>
          </a:xfrm>
          <a:prstGeom prst="roundRect">
            <a:avLst>
              <a:gd name="adj" fmla="val 6000"/>
            </a:avLst>
          </a:prstGeom>
          <a:solidFill>
            <a:srgbClr val="F3F4F6"/>
          </a:solidFill>
          <a:ln>
            <a:noFill/>
          </a:ln>
        </p:spPr>
        <p:txBody>
          <a:bodyPr rtlCol="0" anchor="ctr"/>
          <a:lstStyle/>
          <a:p>
            <a:pPr algn="ctr"/>
          </a:p>
        </p:txBody>
      </p:sp>
      <p:pic>
        <p:nvPicPr>
          <p:cNvPr id="52" name="Picture 51" descr="g28.jpg"/>
          <p:cNvPicPr>
            <a:picLocks noChangeAspect="1"/>
          </p:cNvPicPr>
          <p:nvPr/>
        </p:nvPicPr>
        <p:blipFill>
          <a:blip r:embed="rId9"/>
          <a:stretch>
            <a:fillRect/>
          </a:stretch>
        </p:blipFill>
        <p:spPr>
          <a:xfrm>
            <a:off x="5471461" y="3790188"/>
            <a:ext cx="1248770" cy="1115568"/>
          </a:xfrm>
          <a:prstGeom prst="rect">
            <a:avLst/>
          </a:prstGeom>
        </p:spPr>
      </p:pic>
      <p:sp>
        <p:nvSpPr>
          <p:cNvPr id="53" name="Oval 52"/>
          <p:cNvSpPr/>
          <p:nvPr/>
        </p:nvSpPr>
        <p:spPr>
          <a:xfrm>
            <a:off x="6727971" y="4960620"/>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28</a:t>
            </a:r>
          </a:p>
        </p:txBody>
      </p:sp>
      <p:sp>
        <p:nvSpPr>
          <p:cNvPr id="54" name="TextBox 53"/>
          <p:cNvSpPr txBox="1"/>
          <p:nvPr/>
        </p:nvSpPr>
        <p:spPr>
          <a:xfrm>
            <a:off x="5116250" y="4978908"/>
            <a:ext cx="1556857" cy="365760"/>
          </a:xfrm>
          <a:prstGeom prst="rect">
            <a:avLst/>
          </a:prstGeom>
          <a:noFill/>
        </p:spPr>
        <p:txBody>
          <a:bodyPr wrap="square" anchor="t" lIns="0" rIns="0" tIns="0" bIns="0">
            <a:spAutoFit/>
          </a:bodyPr>
          <a:lstStyle/>
          <a:p>
            <a:pPr algn="l"/>
            <a:r>
              <a:rPr sz="1150" b="1">
                <a:solidFill>
                  <a:srgbClr val="1F2937"/>
                </a:solidFill>
                <a:latin typeface="Calibri"/>
              </a:rPr>
              <a:t>Super Mario Land 2</a:t>
            </a:r>
          </a:p>
        </p:txBody>
      </p:sp>
      <p:sp>
        <p:nvSpPr>
          <p:cNvPr id="55" name="TextBox 54"/>
          <p:cNvSpPr txBox="1"/>
          <p:nvPr/>
        </p:nvSpPr>
        <p:spPr>
          <a:xfrm>
            <a:off x="5116250" y="5417820"/>
            <a:ext cx="1959193" cy="237744"/>
          </a:xfrm>
          <a:prstGeom prst="rect">
            <a:avLst/>
          </a:prstGeom>
          <a:noFill/>
        </p:spPr>
        <p:txBody>
          <a:bodyPr wrap="square" anchor="t" lIns="0" rIns="0" tIns="0" bIns="0">
            <a:spAutoFit/>
          </a:bodyPr>
          <a:lstStyle/>
          <a:p>
            <a:pPr algn="l"/>
            <a:r>
              <a:rPr sz="1500" b="1">
                <a:solidFill>
                  <a:srgbClr val="0D9488"/>
                </a:solidFill>
                <a:latin typeface="Calibri"/>
              </a:rPr>
              <a:t>11,2</a:t>
            </a:r>
            <a:r>
              <a:rPr sz="900" b="0">
                <a:solidFill>
                  <a:srgbClr val="6B7280"/>
                </a:solidFill>
                <a:latin typeface="Calibri"/>
              </a:rPr>
              <a:t> M de unidades</a:t>
            </a:r>
          </a:p>
        </p:txBody>
      </p:sp>
      <p:sp>
        <p:nvSpPr>
          <p:cNvPr id="56" name="TextBox 55"/>
          <p:cNvSpPr txBox="1"/>
          <p:nvPr/>
        </p:nvSpPr>
        <p:spPr>
          <a:xfrm>
            <a:off x="5116250" y="5655564"/>
            <a:ext cx="1959193" cy="201168"/>
          </a:xfrm>
          <a:prstGeom prst="rect">
            <a:avLst/>
          </a:prstGeom>
          <a:noFill/>
        </p:spPr>
        <p:txBody>
          <a:bodyPr wrap="square" anchor="t" lIns="0" rIns="0" tIns="0" bIns="0">
            <a:spAutoFit/>
          </a:bodyPr>
          <a:lstStyle/>
          <a:p>
            <a:pPr algn="l"/>
            <a:r>
              <a:rPr sz="900" b="0">
                <a:solidFill>
                  <a:srgbClr val="6B7280"/>
                </a:solidFill>
                <a:latin typeface="Calibri"/>
              </a:rPr>
              <a:t>1992 · Game Boy · Nintendo</a:t>
            </a:r>
          </a:p>
        </p:txBody>
      </p:sp>
      <p:sp>
        <p:nvSpPr>
          <p:cNvPr id="57" name="Rounded Rectangle 56"/>
          <p:cNvSpPr/>
          <p:nvPr/>
        </p:nvSpPr>
        <p:spPr>
          <a:xfrm>
            <a:off x="7313187" y="3717036"/>
            <a:ext cx="2105497" cy="2318004"/>
          </a:xfrm>
          <a:prstGeom prst="roundRect">
            <a:avLst>
              <a:gd name="adj" fmla="val 6000"/>
            </a:avLst>
          </a:prstGeom>
          <a:solidFill>
            <a:srgbClr val="F3F4F6"/>
          </a:solidFill>
          <a:ln>
            <a:noFill/>
          </a:ln>
        </p:spPr>
        <p:txBody>
          <a:bodyPr rtlCol="0" anchor="ctr"/>
          <a:lstStyle/>
          <a:p>
            <a:pPr algn="ctr"/>
          </a:p>
        </p:txBody>
      </p:sp>
      <p:pic>
        <p:nvPicPr>
          <p:cNvPr id="58" name="Picture 57" descr="g29.png"/>
          <p:cNvPicPr>
            <a:picLocks noChangeAspect="1"/>
          </p:cNvPicPr>
          <p:nvPr/>
        </p:nvPicPr>
        <p:blipFill>
          <a:blip r:embed="rId10"/>
          <a:stretch>
            <a:fillRect/>
          </a:stretch>
        </p:blipFill>
        <p:spPr>
          <a:xfrm>
            <a:off x="7386339" y="4161849"/>
            <a:ext cx="1959193" cy="372246"/>
          </a:xfrm>
          <a:prstGeom prst="rect">
            <a:avLst/>
          </a:prstGeom>
        </p:spPr>
      </p:pic>
      <p:sp>
        <p:nvSpPr>
          <p:cNvPr id="59" name="Oval 58"/>
          <p:cNvSpPr/>
          <p:nvPr/>
        </p:nvSpPr>
        <p:spPr>
          <a:xfrm>
            <a:off x="8998060" y="4960620"/>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29</a:t>
            </a:r>
          </a:p>
        </p:txBody>
      </p:sp>
      <p:sp>
        <p:nvSpPr>
          <p:cNvPr id="60" name="TextBox 59"/>
          <p:cNvSpPr txBox="1"/>
          <p:nvPr/>
        </p:nvSpPr>
        <p:spPr>
          <a:xfrm>
            <a:off x="7386339" y="4978908"/>
            <a:ext cx="1556857" cy="365760"/>
          </a:xfrm>
          <a:prstGeom prst="rect">
            <a:avLst/>
          </a:prstGeom>
          <a:noFill/>
        </p:spPr>
        <p:txBody>
          <a:bodyPr wrap="square" anchor="t" lIns="0" rIns="0" tIns="0" bIns="0">
            <a:spAutoFit/>
          </a:bodyPr>
          <a:lstStyle/>
          <a:p>
            <a:pPr algn="l"/>
            <a:r>
              <a:rPr sz="1150" b="1">
                <a:solidFill>
                  <a:srgbClr val="1F2937"/>
                </a:solidFill>
                <a:latin typeface="Calibri"/>
              </a:rPr>
              <a:t>Fall Guys: Ultimate Knockout</a:t>
            </a:r>
          </a:p>
        </p:txBody>
      </p:sp>
      <p:sp>
        <p:nvSpPr>
          <p:cNvPr id="61" name="TextBox 60"/>
          <p:cNvSpPr txBox="1"/>
          <p:nvPr/>
        </p:nvSpPr>
        <p:spPr>
          <a:xfrm>
            <a:off x="7386339" y="5417820"/>
            <a:ext cx="1959193" cy="237744"/>
          </a:xfrm>
          <a:prstGeom prst="rect">
            <a:avLst/>
          </a:prstGeom>
          <a:noFill/>
        </p:spPr>
        <p:txBody>
          <a:bodyPr wrap="square" anchor="t" lIns="0" rIns="0" tIns="0" bIns="0">
            <a:spAutoFit/>
          </a:bodyPr>
          <a:lstStyle/>
          <a:p>
            <a:pPr algn="l"/>
            <a:r>
              <a:rPr sz="1500" b="1">
                <a:solidFill>
                  <a:srgbClr val="0D9488"/>
                </a:solidFill>
                <a:latin typeface="Calibri"/>
              </a:rPr>
              <a:t>11,0</a:t>
            </a:r>
            <a:r>
              <a:rPr sz="900" b="0">
                <a:solidFill>
                  <a:srgbClr val="6B7280"/>
                </a:solidFill>
                <a:latin typeface="Calibri"/>
              </a:rPr>
              <a:t> M de unidades</a:t>
            </a:r>
          </a:p>
        </p:txBody>
      </p:sp>
      <p:sp>
        <p:nvSpPr>
          <p:cNvPr id="62" name="TextBox 61"/>
          <p:cNvSpPr txBox="1"/>
          <p:nvPr/>
        </p:nvSpPr>
        <p:spPr>
          <a:xfrm>
            <a:off x="7386339" y="5655564"/>
            <a:ext cx="1959193" cy="201168"/>
          </a:xfrm>
          <a:prstGeom prst="rect">
            <a:avLst/>
          </a:prstGeom>
          <a:noFill/>
        </p:spPr>
        <p:txBody>
          <a:bodyPr wrap="square" anchor="t" lIns="0" rIns="0" tIns="0" bIns="0">
            <a:spAutoFit/>
          </a:bodyPr>
          <a:lstStyle/>
          <a:p>
            <a:pPr algn="l"/>
            <a:r>
              <a:rPr sz="900" b="0">
                <a:solidFill>
                  <a:srgbClr val="6B7280"/>
                </a:solidFill>
                <a:latin typeface="Calibri"/>
              </a:rPr>
              <a:t>2020 · Multiplataforma · Epic Games</a:t>
            </a:r>
          </a:p>
        </p:txBody>
      </p:sp>
      <p:sp>
        <p:nvSpPr>
          <p:cNvPr id="63" name="Rounded Rectangle 62"/>
          <p:cNvSpPr/>
          <p:nvPr/>
        </p:nvSpPr>
        <p:spPr>
          <a:xfrm>
            <a:off x="9583276" y="3717036"/>
            <a:ext cx="2105497" cy="2318004"/>
          </a:xfrm>
          <a:prstGeom prst="roundRect">
            <a:avLst>
              <a:gd name="adj" fmla="val 6000"/>
            </a:avLst>
          </a:prstGeom>
          <a:solidFill>
            <a:srgbClr val="F3F4F6"/>
          </a:solidFill>
          <a:ln>
            <a:noFill/>
          </a:ln>
        </p:spPr>
        <p:txBody>
          <a:bodyPr rtlCol="0" anchor="ctr"/>
          <a:lstStyle/>
          <a:p>
            <a:pPr algn="ctr"/>
          </a:p>
        </p:txBody>
      </p:sp>
      <p:pic>
        <p:nvPicPr>
          <p:cNvPr id="64" name="Picture 63" descr="g30.jpg"/>
          <p:cNvPicPr>
            <a:picLocks noChangeAspect="1"/>
          </p:cNvPicPr>
          <p:nvPr/>
        </p:nvPicPr>
        <p:blipFill>
          <a:blip r:embed="rId11"/>
          <a:stretch>
            <a:fillRect/>
          </a:stretch>
        </p:blipFill>
        <p:spPr>
          <a:xfrm>
            <a:off x="10243219" y="3790188"/>
            <a:ext cx="785611" cy="1115568"/>
          </a:xfrm>
          <a:prstGeom prst="rect">
            <a:avLst/>
          </a:prstGeom>
        </p:spPr>
      </p:pic>
      <p:sp>
        <p:nvSpPr>
          <p:cNvPr id="65" name="Oval 64"/>
          <p:cNvSpPr/>
          <p:nvPr/>
        </p:nvSpPr>
        <p:spPr>
          <a:xfrm>
            <a:off x="11268149" y="4960620"/>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30</a:t>
            </a:r>
          </a:p>
        </p:txBody>
      </p:sp>
      <p:sp>
        <p:nvSpPr>
          <p:cNvPr id="66" name="TextBox 65"/>
          <p:cNvSpPr txBox="1"/>
          <p:nvPr/>
        </p:nvSpPr>
        <p:spPr>
          <a:xfrm>
            <a:off x="9656428" y="4978908"/>
            <a:ext cx="1556857" cy="365760"/>
          </a:xfrm>
          <a:prstGeom prst="rect">
            <a:avLst/>
          </a:prstGeom>
          <a:noFill/>
        </p:spPr>
        <p:txBody>
          <a:bodyPr wrap="square" anchor="t" lIns="0" rIns="0" tIns="0" bIns="0">
            <a:spAutoFit/>
          </a:bodyPr>
          <a:lstStyle/>
          <a:p>
            <a:pPr algn="l"/>
            <a:r>
              <a:rPr sz="1150" b="1">
                <a:solidFill>
                  <a:srgbClr val="1F2937"/>
                </a:solidFill>
                <a:latin typeface="Calibri"/>
              </a:rPr>
              <a:t>Donkey Kong Country Returns</a:t>
            </a:r>
          </a:p>
        </p:txBody>
      </p:sp>
      <p:sp>
        <p:nvSpPr>
          <p:cNvPr id="67" name="TextBox 66"/>
          <p:cNvSpPr txBox="1"/>
          <p:nvPr/>
        </p:nvSpPr>
        <p:spPr>
          <a:xfrm>
            <a:off x="9656428" y="5417820"/>
            <a:ext cx="1959193" cy="237744"/>
          </a:xfrm>
          <a:prstGeom prst="rect">
            <a:avLst/>
          </a:prstGeom>
          <a:noFill/>
        </p:spPr>
        <p:txBody>
          <a:bodyPr wrap="square" anchor="t" lIns="0" rIns="0" tIns="0" bIns="0">
            <a:spAutoFit/>
          </a:bodyPr>
          <a:lstStyle/>
          <a:p>
            <a:pPr algn="l"/>
            <a:r>
              <a:rPr sz="1500" b="1">
                <a:solidFill>
                  <a:srgbClr val="0D9488"/>
                </a:solidFill>
                <a:latin typeface="Calibri"/>
              </a:rPr>
              <a:t>10,7</a:t>
            </a:r>
            <a:r>
              <a:rPr sz="900" b="0">
                <a:solidFill>
                  <a:srgbClr val="6B7280"/>
                </a:solidFill>
                <a:latin typeface="Calibri"/>
              </a:rPr>
              <a:t> M de unidades</a:t>
            </a:r>
          </a:p>
        </p:txBody>
      </p:sp>
      <p:sp>
        <p:nvSpPr>
          <p:cNvPr id="68" name="TextBox 67"/>
          <p:cNvSpPr txBox="1"/>
          <p:nvPr/>
        </p:nvSpPr>
        <p:spPr>
          <a:xfrm>
            <a:off x="9656428" y="5655564"/>
            <a:ext cx="1959193" cy="201168"/>
          </a:xfrm>
          <a:prstGeom prst="rect">
            <a:avLst/>
          </a:prstGeom>
          <a:noFill/>
        </p:spPr>
        <p:txBody>
          <a:bodyPr wrap="square" anchor="t" lIns="0" rIns="0" tIns="0" bIns="0">
            <a:spAutoFit/>
          </a:bodyPr>
          <a:lstStyle/>
          <a:p>
            <a:pPr algn="l"/>
            <a:r>
              <a:rPr sz="900" b="0">
                <a:solidFill>
                  <a:srgbClr val="6B7280"/>
                </a:solidFill>
                <a:latin typeface="Calibri"/>
              </a:rPr>
              <a:t>2010 · Multiplataforma · Nintendo</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72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 PLATAFORMEROS · JUEGOS 31–41</a:t>
            </a:r>
          </a:p>
          <a:p>
            <a:r>
              <a:rPr sz="2600" b="1" i="0">
                <a:solidFill>
                  <a:srgbClr val="FFFFFF"/>
                </a:solidFill>
                <a:latin typeface="Calibri"/>
              </a:rPr>
              <a:t>Juegos de plataformas más vendidos (4 de 5)</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Anexo · Los plataformeros más vendidos</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72/74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VGSales Wiki, «Best-selling platformers» (ventas estimadas, consulta 19/10/2026); imágenes: Wikipedia, uso educativo. El puesto 37 no figura en la fuente</a:t>
            </a:r>
          </a:p>
        </p:txBody>
      </p:sp>
      <p:sp>
        <p:nvSpPr>
          <p:cNvPr id="9" name="Rounded Rectangle 8"/>
          <p:cNvSpPr/>
          <p:nvPr/>
        </p:nvSpPr>
        <p:spPr>
          <a:xfrm>
            <a:off x="502920" y="1234440"/>
            <a:ext cx="2105497" cy="2318004"/>
          </a:xfrm>
          <a:prstGeom prst="roundRect">
            <a:avLst>
              <a:gd name="adj" fmla="val 6000"/>
            </a:avLst>
          </a:prstGeom>
          <a:solidFill>
            <a:srgbClr val="F3F4F6"/>
          </a:solidFill>
          <a:ln>
            <a:noFill/>
          </a:ln>
        </p:spPr>
        <p:txBody>
          <a:bodyPr rtlCol="0" anchor="ctr"/>
          <a:lstStyle/>
          <a:p>
            <a:pPr algn="ctr"/>
          </a:p>
        </p:txBody>
      </p:sp>
      <p:pic>
        <p:nvPicPr>
          <p:cNvPr id="10" name="Picture 9" descr="g31.png"/>
          <p:cNvPicPr>
            <a:picLocks noChangeAspect="1"/>
          </p:cNvPicPr>
          <p:nvPr/>
        </p:nvPicPr>
        <p:blipFill>
          <a:blip r:embed="rId2"/>
          <a:stretch>
            <a:fillRect/>
          </a:stretch>
        </p:blipFill>
        <p:spPr>
          <a:xfrm>
            <a:off x="1062627" y="1307592"/>
            <a:ext cx="986082" cy="1115568"/>
          </a:xfrm>
          <a:prstGeom prst="rect">
            <a:avLst/>
          </a:prstGeom>
        </p:spPr>
      </p:pic>
      <p:sp>
        <p:nvSpPr>
          <p:cNvPr id="11" name="Oval 10"/>
          <p:cNvSpPr/>
          <p:nvPr/>
        </p:nvSpPr>
        <p:spPr>
          <a:xfrm>
            <a:off x="2187793" y="2478024"/>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31</a:t>
            </a:r>
          </a:p>
        </p:txBody>
      </p:sp>
      <p:sp>
        <p:nvSpPr>
          <p:cNvPr id="12" name="TextBox 11"/>
          <p:cNvSpPr txBox="1"/>
          <p:nvPr/>
        </p:nvSpPr>
        <p:spPr>
          <a:xfrm>
            <a:off x="576072" y="2496312"/>
            <a:ext cx="1556857" cy="365760"/>
          </a:xfrm>
          <a:prstGeom prst="rect">
            <a:avLst/>
          </a:prstGeom>
          <a:noFill/>
        </p:spPr>
        <p:txBody>
          <a:bodyPr wrap="square" anchor="t" lIns="0" rIns="0" tIns="0" bIns="0">
            <a:spAutoFit/>
          </a:bodyPr>
          <a:lstStyle/>
          <a:p>
            <a:pPr algn="l"/>
            <a:r>
              <a:rPr sz="1150" b="1">
                <a:solidFill>
                  <a:srgbClr val="1F2937"/>
                </a:solidFill>
                <a:latin typeface="Calibri"/>
              </a:rPr>
              <a:t>Spyro Reignited Trilogy</a:t>
            </a:r>
          </a:p>
        </p:txBody>
      </p:sp>
      <p:sp>
        <p:nvSpPr>
          <p:cNvPr id="13" name="TextBox 12"/>
          <p:cNvSpPr txBox="1"/>
          <p:nvPr/>
        </p:nvSpPr>
        <p:spPr>
          <a:xfrm>
            <a:off x="576072" y="2935224"/>
            <a:ext cx="1959193" cy="237744"/>
          </a:xfrm>
          <a:prstGeom prst="rect">
            <a:avLst/>
          </a:prstGeom>
          <a:noFill/>
        </p:spPr>
        <p:txBody>
          <a:bodyPr wrap="square" anchor="t" lIns="0" rIns="0" tIns="0" bIns="0">
            <a:spAutoFit/>
          </a:bodyPr>
          <a:lstStyle/>
          <a:p>
            <a:pPr algn="l"/>
            <a:r>
              <a:rPr sz="1500" b="1">
                <a:solidFill>
                  <a:srgbClr val="0D9488"/>
                </a:solidFill>
                <a:latin typeface="Calibri"/>
              </a:rPr>
              <a:t>10,0</a:t>
            </a:r>
            <a:r>
              <a:rPr sz="900" b="0">
                <a:solidFill>
                  <a:srgbClr val="6B7280"/>
                </a:solidFill>
                <a:latin typeface="Calibri"/>
              </a:rPr>
              <a:t> M de unidades</a:t>
            </a:r>
          </a:p>
        </p:txBody>
      </p:sp>
      <p:sp>
        <p:nvSpPr>
          <p:cNvPr id="14" name="TextBox 13"/>
          <p:cNvSpPr txBox="1"/>
          <p:nvPr/>
        </p:nvSpPr>
        <p:spPr>
          <a:xfrm>
            <a:off x="576072" y="3172968"/>
            <a:ext cx="1959193" cy="201168"/>
          </a:xfrm>
          <a:prstGeom prst="rect">
            <a:avLst/>
          </a:prstGeom>
          <a:noFill/>
        </p:spPr>
        <p:txBody>
          <a:bodyPr wrap="square" anchor="t" lIns="0" rIns="0" tIns="0" bIns="0">
            <a:spAutoFit/>
          </a:bodyPr>
          <a:lstStyle/>
          <a:p>
            <a:pPr algn="l"/>
            <a:r>
              <a:rPr sz="900" b="0">
                <a:solidFill>
                  <a:srgbClr val="6B7280"/>
                </a:solidFill>
                <a:latin typeface="Calibri"/>
              </a:rPr>
              <a:t>2018 · Multiplataforma · Activision</a:t>
            </a:r>
          </a:p>
        </p:txBody>
      </p:sp>
      <p:sp>
        <p:nvSpPr>
          <p:cNvPr id="15" name="Rounded Rectangle 14"/>
          <p:cNvSpPr/>
          <p:nvPr/>
        </p:nvSpPr>
        <p:spPr>
          <a:xfrm>
            <a:off x="2773009" y="1234440"/>
            <a:ext cx="2105497" cy="2318004"/>
          </a:xfrm>
          <a:prstGeom prst="roundRect">
            <a:avLst>
              <a:gd name="adj" fmla="val 6000"/>
            </a:avLst>
          </a:prstGeom>
          <a:solidFill>
            <a:srgbClr val="F3F4F6"/>
          </a:solidFill>
          <a:ln>
            <a:noFill/>
          </a:ln>
        </p:spPr>
        <p:txBody>
          <a:bodyPr rtlCol="0" anchor="ctr"/>
          <a:lstStyle/>
          <a:p>
            <a:pPr algn="ctr"/>
          </a:p>
        </p:txBody>
      </p:sp>
      <p:pic>
        <p:nvPicPr>
          <p:cNvPr id="16" name="Picture 15" descr="g32.png"/>
          <p:cNvPicPr>
            <a:picLocks noChangeAspect="1"/>
          </p:cNvPicPr>
          <p:nvPr/>
        </p:nvPicPr>
        <p:blipFill>
          <a:blip r:embed="rId3"/>
          <a:stretch>
            <a:fillRect/>
          </a:stretch>
        </p:blipFill>
        <p:spPr>
          <a:xfrm>
            <a:off x="3262339" y="1307592"/>
            <a:ext cx="1126836" cy="1115568"/>
          </a:xfrm>
          <a:prstGeom prst="rect">
            <a:avLst/>
          </a:prstGeom>
        </p:spPr>
      </p:pic>
      <p:sp>
        <p:nvSpPr>
          <p:cNvPr id="17" name="Oval 16"/>
          <p:cNvSpPr/>
          <p:nvPr/>
        </p:nvSpPr>
        <p:spPr>
          <a:xfrm>
            <a:off x="4457882" y="2478024"/>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32</a:t>
            </a:r>
          </a:p>
        </p:txBody>
      </p:sp>
      <p:sp>
        <p:nvSpPr>
          <p:cNvPr id="18" name="TextBox 17"/>
          <p:cNvSpPr txBox="1"/>
          <p:nvPr/>
        </p:nvSpPr>
        <p:spPr>
          <a:xfrm>
            <a:off x="2846161" y="2496312"/>
            <a:ext cx="1556857" cy="365760"/>
          </a:xfrm>
          <a:prstGeom prst="rect">
            <a:avLst/>
          </a:prstGeom>
          <a:noFill/>
        </p:spPr>
        <p:txBody>
          <a:bodyPr wrap="square" anchor="t" lIns="0" rIns="0" tIns="0" bIns="0">
            <a:spAutoFit/>
          </a:bodyPr>
          <a:lstStyle/>
          <a:p>
            <a:pPr algn="l"/>
            <a:r>
              <a:rPr sz="1150" b="1">
                <a:solidFill>
                  <a:srgbClr val="1F2937"/>
                </a:solidFill>
                <a:latin typeface="Calibri"/>
              </a:rPr>
              <a:t>Sonic Adventure</a:t>
            </a:r>
          </a:p>
        </p:txBody>
      </p:sp>
      <p:sp>
        <p:nvSpPr>
          <p:cNvPr id="19" name="TextBox 18"/>
          <p:cNvSpPr txBox="1"/>
          <p:nvPr/>
        </p:nvSpPr>
        <p:spPr>
          <a:xfrm>
            <a:off x="2846161" y="2935224"/>
            <a:ext cx="1959193" cy="237744"/>
          </a:xfrm>
          <a:prstGeom prst="rect">
            <a:avLst/>
          </a:prstGeom>
          <a:noFill/>
        </p:spPr>
        <p:txBody>
          <a:bodyPr wrap="square" anchor="t" lIns="0" rIns="0" tIns="0" bIns="0">
            <a:spAutoFit/>
          </a:bodyPr>
          <a:lstStyle/>
          <a:p>
            <a:pPr algn="l"/>
            <a:r>
              <a:rPr sz="1500" b="1">
                <a:solidFill>
                  <a:srgbClr val="0D9488"/>
                </a:solidFill>
                <a:latin typeface="Calibri"/>
              </a:rPr>
              <a:t>9,5</a:t>
            </a:r>
            <a:r>
              <a:rPr sz="900" b="0">
                <a:solidFill>
                  <a:srgbClr val="6B7280"/>
                </a:solidFill>
                <a:latin typeface="Calibri"/>
              </a:rPr>
              <a:t> M de unidades</a:t>
            </a:r>
          </a:p>
        </p:txBody>
      </p:sp>
      <p:sp>
        <p:nvSpPr>
          <p:cNvPr id="20" name="TextBox 19"/>
          <p:cNvSpPr txBox="1"/>
          <p:nvPr/>
        </p:nvSpPr>
        <p:spPr>
          <a:xfrm>
            <a:off x="2846161" y="3172968"/>
            <a:ext cx="1959193" cy="201168"/>
          </a:xfrm>
          <a:prstGeom prst="rect">
            <a:avLst/>
          </a:prstGeom>
          <a:noFill/>
        </p:spPr>
        <p:txBody>
          <a:bodyPr wrap="square" anchor="t" lIns="0" rIns="0" tIns="0" bIns="0">
            <a:spAutoFit/>
          </a:bodyPr>
          <a:lstStyle/>
          <a:p>
            <a:pPr algn="l"/>
            <a:r>
              <a:rPr sz="900" b="0">
                <a:solidFill>
                  <a:srgbClr val="6B7280"/>
                </a:solidFill>
                <a:latin typeface="Calibri"/>
              </a:rPr>
              <a:t>1998 · Multiplataforma · Sega</a:t>
            </a:r>
          </a:p>
        </p:txBody>
      </p:sp>
      <p:sp>
        <p:nvSpPr>
          <p:cNvPr id="21" name="Rounded Rectangle 20"/>
          <p:cNvSpPr/>
          <p:nvPr/>
        </p:nvSpPr>
        <p:spPr>
          <a:xfrm>
            <a:off x="5043098" y="1234440"/>
            <a:ext cx="2105497" cy="2318004"/>
          </a:xfrm>
          <a:prstGeom prst="roundRect">
            <a:avLst>
              <a:gd name="adj" fmla="val 6000"/>
            </a:avLst>
          </a:prstGeom>
          <a:solidFill>
            <a:srgbClr val="F3F4F6"/>
          </a:solidFill>
          <a:ln>
            <a:noFill/>
          </a:ln>
        </p:spPr>
        <p:txBody>
          <a:bodyPr rtlCol="0" anchor="ctr"/>
          <a:lstStyle/>
          <a:p>
            <a:pPr algn="ctr"/>
          </a:p>
        </p:txBody>
      </p:sp>
      <p:pic>
        <p:nvPicPr>
          <p:cNvPr id="22" name="Picture 21" descr="g33.jpg"/>
          <p:cNvPicPr>
            <a:picLocks noChangeAspect="1"/>
          </p:cNvPicPr>
          <p:nvPr/>
        </p:nvPicPr>
        <p:blipFill>
          <a:blip r:embed="rId4"/>
          <a:stretch>
            <a:fillRect/>
          </a:stretch>
        </p:blipFill>
        <p:spPr>
          <a:xfrm>
            <a:off x="5697642" y="1307592"/>
            <a:ext cx="796408" cy="1115568"/>
          </a:xfrm>
          <a:prstGeom prst="rect">
            <a:avLst/>
          </a:prstGeom>
        </p:spPr>
      </p:pic>
      <p:sp>
        <p:nvSpPr>
          <p:cNvPr id="23" name="Oval 22"/>
          <p:cNvSpPr/>
          <p:nvPr/>
        </p:nvSpPr>
        <p:spPr>
          <a:xfrm>
            <a:off x="6727971" y="2478024"/>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33</a:t>
            </a:r>
          </a:p>
        </p:txBody>
      </p:sp>
      <p:sp>
        <p:nvSpPr>
          <p:cNvPr id="24" name="TextBox 23"/>
          <p:cNvSpPr txBox="1"/>
          <p:nvPr/>
        </p:nvSpPr>
        <p:spPr>
          <a:xfrm>
            <a:off x="5116250" y="2496312"/>
            <a:ext cx="1556857" cy="365760"/>
          </a:xfrm>
          <a:prstGeom prst="rect">
            <a:avLst/>
          </a:prstGeom>
          <a:noFill/>
        </p:spPr>
        <p:txBody>
          <a:bodyPr wrap="square" anchor="t" lIns="0" rIns="0" tIns="0" bIns="0">
            <a:spAutoFit/>
          </a:bodyPr>
          <a:lstStyle/>
          <a:p>
            <a:pPr algn="l"/>
            <a:r>
              <a:rPr sz="1150" b="1">
                <a:solidFill>
                  <a:srgbClr val="1F2937"/>
                </a:solidFill>
                <a:latin typeface="Calibri"/>
              </a:rPr>
              <a:t>Super Mario 3D All-Stars</a:t>
            </a:r>
          </a:p>
        </p:txBody>
      </p:sp>
      <p:sp>
        <p:nvSpPr>
          <p:cNvPr id="25" name="TextBox 24"/>
          <p:cNvSpPr txBox="1"/>
          <p:nvPr/>
        </p:nvSpPr>
        <p:spPr>
          <a:xfrm>
            <a:off x="5116250" y="2935224"/>
            <a:ext cx="1959193" cy="237744"/>
          </a:xfrm>
          <a:prstGeom prst="rect">
            <a:avLst/>
          </a:prstGeom>
          <a:noFill/>
        </p:spPr>
        <p:txBody>
          <a:bodyPr wrap="square" anchor="t" lIns="0" rIns="0" tIns="0" bIns="0">
            <a:spAutoFit/>
          </a:bodyPr>
          <a:lstStyle/>
          <a:p>
            <a:pPr algn="l"/>
            <a:r>
              <a:rPr sz="1500" b="1">
                <a:solidFill>
                  <a:srgbClr val="0D9488"/>
                </a:solidFill>
                <a:latin typeface="Calibri"/>
              </a:rPr>
              <a:t>9,1</a:t>
            </a:r>
            <a:r>
              <a:rPr sz="900" b="0">
                <a:solidFill>
                  <a:srgbClr val="6B7280"/>
                </a:solidFill>
                <a:latin typeface="Calibri"/>
              </a:rPr>
              <a:t> M de unidades</a:t>
            </a:r>
          </a:p>
        </p:txBody>
      </p:sp>
      <p:sp>
        <p:nvSpPr>
          <p:cNvPr id="26" name="TextBox 25"/>
          <p:cNvSpPr txBox="1"/>
          <p:nvPr/>
        </p:nvSpPr>
        <p:spPr>
          <a:xfrm>
            <a:off x="5116250" y="3172968"/>
            <a:ext cx="1959193" cy="201168"/>
          </a:xfrm>
          <a:prstGeom prst="rect">
            <a:avLst/>
          </a:prstGeom>
          <a:noFill/>
        </p:spPr>
        <p:txBody>
          <a:bodyPr wrap="square" anchor="t" lIns="0" rIns="0" tIns="0" bIns="0">
            <a:spAutoFit/>
          </a:bodyPr>
          <a:lstStyle/>
          <a:p>
            <a:pPr algn="l"/>
            <a:r>
              <a:rPr sz="900" b="0">
                <a:solidFill>
                  <a:srgbClr val="6B7280"/>
                </a:solidFill>
                <a:latin typeface="Calibri"/>
              </a:rPr>
              <a:t>2020 · Switch · Nintendo</a:t>
            </a:r>
          </a:p>
        </p:txBody>
      </p:sp>
      <p:sp>
        <p:nvSpPr>
          <p:cNvPr id="27" name="Rounded Rectangle 26"/>
          <p:cNvSpPr/>
          <p:nvPr/>
        </p:nvSpPr>
        <p:spPr>
          <a:xfrm>
            <a:off x="7313187" y="1234440"/>
            <a:ext cx="2105497" cy="2318004"/>
          </a:xfrm>
          <a:prstGeom prst="roundRect">
            <a:avLst>
              <a:gd name="adj" fmla="val 6000"/>
            </a:avLst>
          </a:prstGeom>
          <a:solidFill>
            <a:srgbClr val="F3F4F6"/>
          </a:solidFill>
          <a:ln>
            <a:noFill/>
          </a:ln>
        </p:spPr>
        <p:txBody>
          <a:bodyPr rtlCol="0" anchor="ctr"/>
          <a:lstStyle/>
          <a:p>
            <a:pPr algn="ctr"/>
          </a:p>
        </p:txBody>
      </p:sp>
      <p:pic>
        <p:nvPicPr>
          <p:cNvPr id="28" name="Picture 27" descr="g34.png"/>
          <p:cNvPicPr>
            <a:picLocks noChangeAspect="1"/>
          </p:cNvPicPr>
          <p:nvPr/>
        </p:nvPicPr>
        <p:blipFill>
          <a:blip r:embed="rId5"/>
          <a:stretch>
            <a:fillRect/>
          </a:stretch>
        </p:blipFill>
        <p:spPr>
          <a:xfrm>
            <a:off x="7808151" y="1307592"/>
            <a:ext cx="1115568" cy="1115568"/>
          </a:xfrm>
          <a:prstGeom prst="rect">
            <a:avLst/>
          </a:prstGeom>
        </p:spPr>
      </p:pic>
      <p:sp>
        <p:nvSpPr>
          <p:cNvPr id="29" name="Oval 28"/>
          <p:cNvSpPr/>
          <p:nvPr/>
        </p:nvSpPr>
        <p:spPr>
          <a:xfrm>
            <a:off x="8998060" y="2478024"/>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34</a:t>
            </a:r>
          </a:p>
        </p:txBody>
      </p:sp>
      <p:sp>
        <p:nvSpPr>
          <p:cNvPr id="30" name="TextBox 29"/>
          <p:cNvSpPr txBox="1"/>
          <p:nvPr/>
        </p:nvSpPr>
        <p:spPr>
          <a:xfrm>
            <a:off x="7386339" y="2496312"/>
            <a:ext cx="1556857" cy="365760"/>
          </a:xfrm>
          <a:prstGeom prst="rect">
            <a:avLst/>
          </a:prstGeom>
          <a:noFill/>
        </p:spPr>
        <p:txBody>
          <a:bodyPr wrap="square" anchor="t" lIns="0" rIns="0" tIns="0" bIns="0">
            <a:spAutoFit/>
          </a:bodyPr>
          <a:lstStyle/>
          <a:p>
            <a:pPr algn="l"/>
            <a:r>
              <a:rPr sz="1150" b="1">
                <a:solidFill>
                  <a:srgbClr val="1F2937"/>
                </a:solidFill>
                <a:latin typeface="Calibri"/>
              </a:rPr>
              <a:t>Sonic Jump</a:t>
            </a:r>
          </a:p>
        </p:txBody>
      </p:sp>
      <p:sp>
        <p:nvSpPr>
          <p:cNvPr id="31" name="TextBox 30"/>
          <p:cNvSpPr txBox="1"/>
          <p:nvPr/>
        </p:nvSpPr>
        <p:spPr>
          <a:xfrm>
            <a:off x="7386339" y="2935224"/>
            <a:ext cx="1959193" cy="237744"/>
          </a:xfrm>
          <a:prstGeom prst="rect">
            <a:avLst/>
          </a:prstGeom>
          <a:noFill/>
        </p:spPr>
        <p:txBody>
          <a:bodyPr wrap="square" anchor="t" lIns="0" rIns="0" tIns="0" bIns="0">
            <a:spAutoFit/>
          </a:bodyPr>
          <a:lstStyle/>
          <a:p>
            <a:pPr algn="l"/>
            <a:r>
              <a:rPr sz="1500" b="1">
                <a:solidFill>
                  <a:srgbClr val="0D9488"/>
                </a:solidFill>
                <a:latin typeface="Calibri"/>
              </a:rPr>
              <a:t>8,8</a:t>
            </a:r>
            <a:r>
              <a:rPr sz="900" b="0">
                <a:solidFill>
                  <a:srgbClr val="6B7280"/>
                </a:solidFill>
                <a:latin typeface="Calibri"/>
              </a:rPr>
              <a:t> M de unidades</a:t>
            </a:r>
          </a:p>
        </p:txBody>
      </p:sp>
      <p:sp>
        <p:nvSpPr>
          <p:cNvPr id="32" name="TextBox 31"/>
          <p:cNvSpPr txBox="1"/>
          <p:nvPr/>
        </p:nvSpPr>
        <p:spPr>
          <a:xfrm>
            <a:off x="7386339" y="3172968"/>
            <a:ext cx="1959193" cy="201168"/>
          </a:xfrm>
          <a:prstGeom prst="rect">
            <a:avLst/>
          </a:prstGeom>
          <a:noFill/>
        </p:spPr>
        <p:txBody>
          <a:bodyPr wrap="square" anchor="t" lIns="0" rIns="0" tIns="0" bIns="0">
            <a:spAutoFit/>
          </a:bodyPr>
          <a:lstStyle/>
          <a:p>
            <a:pPr algn="l"/>
            <a:r>
              <a:rPr sz="900" b="0">
                <a:solidFill>
                  <a:srgbClr val="6B7280"/>
                </a:solidFill>
                <a:latin typeface="Calibri"/>
              </a:rPr>
              <a:t>2005 · Móvil · Sega</a:t>
            </a:r>
          </a:p>
        </p:txBody>
      </p:sp>
      <p:sp>
        <p:nvSpPr>
          <p:cNvPr id="33" name="Rounded Rectangle 32"/>
          <p:cNvSpPr/>
          <p:nvPr/>
        </p:nvSpPr>
        <p:spPr>
          <a:xfrm>
            <a:off x="9583276" y="1234440"/>
            <a:ext cx="2105497" cy="2318004"/>
          </a:xfrm>
          <a:prstGeom prst="roundRect">
            <a:avLst>
              <a:gd name="adj" fmla="val 6000"/>
            </a:avLst>
          </a:prstGeom>
          <a:solidFill>
            <a:srgbClr val="F3F4F6"/>
          </a:solidFill>
          <a:ln>
            <a:noFill/>
          </a:ln>
        </p:spPr>
        <p:txBody>
          <a:bodyPr rtlCol="0" anchor="ctr"/>
          <a:lstStyle/>
          <a:p>
            <a:pPr algn="ctr"/>
          </a:p>
        </p:txBody>
      </p:sp>
      <p:pic>
        <p:nvPicPr>
          <p:cNvPr id="34" name="Picture 33" descr="g35.jpg"/>
          <p:cNvPicPr>
            <a:picLocks noChangeAspect="1"/>
          </p:cNvPicPr>
          <p:nvPr/>
        </p:nvPicPr>
        <p:blipFill>
          <a:blip r:embed="rId6"/>
          <a:stretch>
            <a:fillRect/>
          </a:stretch>
        </p:blipFill>
        <p:spPr>
          <a:xfrm>
            <a:off x="10078240" y="1307592"/>
            <a:ext cx="1115568" cy="1115568"/>
          </a:xfrm>
          <a:prstGeom prst="rect">
            <a:avLst/>
          </a:prstGeom>
        </p:spPr>
      </p:pic>
      <p:sp>
        <p:nvSpPr>
          <p:cNvPr id="35" name="Oval 34"/>
          <p:cNvSpPr/>
          <p:nvPr/>
        </p:nvSpPr>
        <p:spPr>
          <a:xfrm>
            <a:off x="11268149" y="2478024"/>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35</a:t>
            </a:r>
          </a:p>
        </p:txBody>
      </p:sp>
      <p:sp>
        <p:nvSpPr>
          <p:cNvPr id="36" name="TextBox 35"/>
          <p:cNvSpPr txBox="1"/>
          <p:nvPr/>
        </p:nvSpPr>
        <p:spPr>
          <a:xfrm>
            <a:off x="9656428" y="2496312"/>
            <a:ext cx="1556857" cy="365760"/>
          </a:xfrm>
          <a:prstGeom prst="rect">
            <a:avLst/>
          </a:prstGeom>
          <a:noFill/>
        </p:spPr>
        <p:txBody>
          <a:bodyPr wrap="square" anchor="t" lIns="0" rIns="0" tIns="0" bIns="0">
            <a:spAutoFit/>
          </a:bodyPr>
          <a:lstStyle/>
          <a:p>
            <a:pPr algn="l"/>
            <a:r>
              <a:rPr sz="1150" b="1">
                <a:solidFill>
                  <a:srgbClr val="1F2937"/>
                </a:solidFill>
                <a:latin typeface="Calibri"/>
              </a:rPr>
              <a:t>Super Mario Maker 2</a:t>
            </a:r>
          </a:p>
        </p:txBody>
      </p:sp>
      <p:sp>
        <p:nvSpPr>
          <p:cNvPr id="37" name="TextBox 36"/>
          <p:cNvSpPr txBox="1"/>
          <p:nvPr/>
        </p:nvSpPr>
        <p:spPr>
          <a:xfrm>
            <a:off x="9656428" y="2935224"/>
            <a:ext cx="1959193" cy="237744"/>
          </a:xfrm>
          <a:prstGeom prst="rect">
            <a:avLst/>
          </a:prstGeom>
          <a:noFill/>
        </p:spPr>
        <p:txBody>
          <a:bodyPr wrap="square" anchor="t" lIns="0" rIns="0" tIns="0" bIns="0">
            <a:spAutoFit/>
          </a:bodyPr>
          <a:lstStyle/>
          <a:p>
            <a:pPr algn="l"/>
            <a:r>
              <a:rPr sz="1500" b="1">
                <a:solidFill>
                  <a:srgbClr val="0D9488"/>
                </a:solidFill>
                <a:latin typeface="Calibri"/>
              </a:rPr>
              <a:t>8,4</a:t>
            </a:r>
            <a:r>
              <a:rPr sz="900" b="0">
                <a:solidFill>
                  <a:srgbClr val="6B7280"/>
                </a:solidFill>
                <a:latin typeface="Calibri"/>
              </a:rPr>
              <a:t> M de unidades</a:t>
            </a:r>
          </a:p>
        </p:txBody>
      </p:sp>
      <p:sp>
        <p:nvSpPr>
          <p:cNvPr id="38" name="TextBox 37"/>
          <p:cNvSpPr txBox="1"/>
          <p:nvPr/>
        </p:nvSpPr>
        <p:spPr>
          <a:xfrm>
            <a:off x="9656428" y="3172968"/>
            <a:ext cx="1959193" cy="201168"/>
          </a:xfrm>
          <a:prstGeom prst="rect">
            <a:avLst/>
          </a:prstGeom>
          <a:noFill/>
        </p:spPr>
        <p:txBody>
          <a:bodyPr wrap="square" anchor="t" lIns="0" rIns="0" tIns="0" bIns="0">
            <a:spAutoFit/>
          </a:bodyPr>
          <a:lstStyle/>
          <a:p>
            <a:pPr algn="l"/>
            <a:r>
              <a:rPr sz="900" b="0">
                <a:solidFill>
                  <a:srgbClr val="6B7280"/>
                </a:solidFill>
                <a:latin typeface="Calibri"/>
              </a:rPr>
              <a:t>2019 · Switch · Nintendo</a:t>
            </a:r>
          </a:p>
        </p:txBody>
      </p:sp>
      <p:sp>
        <p:nvSpPr>
          <p:cNvPr id="39" name="Rounded Rectangle 38"/>
          <p:cNvSpPr/>
          <p:nvPr/>
        </p:nvSpPr>
        <p:spPr>
          <a:xfrm>
            <a:off x="502920" y="3717036"/>
            <a:ext cx="2105497" cy="2318004"/>
          </a:xfrm>
          <a:prstGeom prst="roundRect">
            <a:avLst>
              <a:gd name="adj" fmla="val 6000"/>
            </a:avLst>
          </a:prstGeom>
          <a:solidFill>
            <a:srgbClr val="F3F4F6"/>
          </a:solidFill>
          <a:ln>
            <a:noFill/>
          </a:ln>
        </p:spPr>
        <p:txBody>
          <a:bodyPr rtlCol="0" anchor="ctr"/>
          <a:lstStyle/>
          <a:p>
            <a:pPr algn="ctr"/>
          </a:p>
        </p:txBody>
      </p:sp>
      <p:pic>
        <p:nvPicPr>
          <p:cNvPr id="40" name="Picture 39" descr="g36.png"/>
          <p:cNvPicPr>
            <a:picLocks noChangeAspect="1"/>
          </p:cNvPicPr>
          <p:nvPr/>
        </p:nvPicPr>
        <p:blipFill>
          <a:blip r:embed="rId7"/>
          <a:stretch>
            <a:fillRect/>
          </a:stretch>
        </p:blipFill>
        <p:spPr>
          <a:xfrm>
            <a:off x="997884" y="3790188"/>
            <a:ext cx="1115568" cy="1115568"/>
          </a:xfrm>
          <a:prstGeom prst="rect">
            <a:avLst/>
          </a:prstGeom>
        </p:spPr>
      </p:pic>
      <p:sp>
        <p:nvSpPr>
          <p:cNvPr id="41" name="Oval 40"/>
          <p:cNvSpPr/>
          <p:nvPr/>
        </p:nvSpPr>
        <p:spPr>
          <a:xfrm>
            <a:off x="2187793" y="4960620"/>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36</a:t>
            </a:r>
          </a:p>
        </p:txBody>
      </p:sp>
      <p:sp>
        <p:nvSpPr>
          <p:cNvPr id="42" name="TextBox 41"/>
          <p:cNvSpPr txBox="1"/>
          <p:nvPr/>
        </p:nvSpPr>
        <p:spPr>
          <a:xfrm>
            <a:off x="576072" y="4978908"/>
            <a:ext cx="1556857" cy="365760"/>
          </a:xfrm>
          <a:prstGeom prst="rect">
            <a:avLst/>
          </a:prstGeom>
          <a:noFill/>
        </p:spPr>
        <p:txBody>
          <a:bodyPr wrap="square" anchor="t" lIns="0" rIns="0" tIns="0" bIns="0">
            <a:spAutoFit/>
          </a:bodyPr>
          <a:lstStyle/>
          <a:p>
            <a:pPr algn="l"/>
            <a:r>
              <a:rPr sz="1150" b="1">
                <a:solidFill>
                  <a:srgbClr val="1F2937"/>
                </a:solidFill>
                <a:latin typeface="Calibri"/>
              </a:rPr>
              <a:t>Sonic Adventure 2</a:t>
            </a:r>
          </a:p>
        </p:txBody>
      </p:sp>
      <p:sp>
        <p:nvSpPr>
          <p:cNvPr id="43" name="TextBox 42"/>
          <p:cNvSpPr txBox="1"/>
          <p:nvPr/>
        </p:nvSpPr>
        <p:spPr>
          <a:xfrm>
            <a:off x="576072" y="5417820"/>
            <a:ext cx="1959193" cy="237744"/>
          </a:xfrm>
          <a:prstGeom prst="rect">
            <a:avLst/>
          </a:prstGeom>
          <a:noFill/>
        </p:spPr>
        <p:txBody>
          <a:bodyPr wrap="square" anchor="t" lIns="0" rIns="0" tIns="0" bIns="0">
            <a:spAutoFit/>
          </a:bodyPr>
          <a:lstStyle/>
          <a:p>
            <a:pPr algn="l"/>
            <a:r>
              <a:rPr sz="1500" b="1">
                <a:solidFill>
                  <a:srgbClr val="0D9488"/>
                </a:solidFill>
                <a:latin typeface="Calibri"/>
              </a:rPr>
              <a:t>8,3</a:t>
            </a:r>
            <a:r>
              <a:rPr sz="900" b="0">
                <a:solidFill>
                  <a:srgbClr val="6B7280"/>
                </a:solidFill>
                <a:latin typeface="Calibri"/>
              </a:rPr>
              <a:t> M de unidades</a:t>
            </a:r>
          </a:p>
        </p:txBody>
      </p:sp>
      <p:sp>
        <p:nvSpPr>
          <p:cNvPr id="44" name="TextBox 43"/>
          <p:cNvSpPr txBox="1"/>
          <p:nvPr/>
        </p:nvSpPr>
        <p:spPr>
          <a:xfrm>
            <a:off x="576072" y="5655564"/>
            <a:ext cx="1959193" cy="201168"/>
          </a:xfrm>
          <a:prstGeom prst="rect">
            <a:avLst/>
          </a:prstGeom>
          <a:noFill/>
        </p:spPr>
        <p:txBody>
          <a:bodyPr wrap="square" anchor="t" lIns="0" rIns="0" tIns="0" bIns="0">
            <a:spAutoFit/>
          </a:bodyPr>
          <a:lstStyle/>
          <a:p>
            <a:pPr algn="l"/>
            <a:r>
              <a:rPr sz="900" b="0">
                <a:solidFill>
                  <a:srgbClr val="6B7280"/>
                </a:solidFill>
                <a:latin typeface="Calibri"/>
              </a:rPr>
              <a:t>2001 · Multiplataforma · Sega</a:t>
            </a:r>
          </a:p>
        </p:txBody>
      </p:sp>
      <p:sp>
        <p:nvSpPr>
          <p:cNvPr id="45" name="Rounded Rectangle 44"/>
          <p:cNvSpPr/>
          <p:nvPr/>
        </p:nvSpPr>
        <p:spPr>
          <a:xfrm>
            <a:off x="2773009" y="3717036"/>
            <a:ext cx="2105497" cy="2318004"/>
          </a:xfrm>
          <a:prstGeom prst="roundRect">
            <a:avLst>
              <a:gd name="adj" fmla="val 6000"/>
            </a:avLst>
          </a:prstGeom>
          <a:solidFill>
            <a:srgbClr val="F3F4F6"/>
          </a:solidFill>
          <a:ln>
            <a:noFill/>
          </a:ln>
        </p:spPr>
        <p:txBody>
          <a:bodyPr rtlCol="0" anchor="ctr"/>
          <a:lstStyle/>
          <a:p>
            <a:pPr algn="ctr"/>
          </a:p>
        </p:txBody>
      </p:sp>
      <p:pic>
        <p:nvPicPr>
          <p:cNvPr id="46" name="Picture 45" descr="g38.png"/>
          <p:cNvPicPr>
            <a:picLocks noChangeAspect="1"/>
          </p:cNvPicPr>
          <p:nvPr/>
        </p:nvPicPr>
        <p:blipFill>
          <a:blip r:embed="rId8"/>
          <a:stretch>
            <a:fillRect/>
          </a:stretch>
        </p:blipFill>
        <p:spPr>
          <a:xfrm>
            <a:off x="3024076" y="3790188"/>
            <a:ext cx="1603363" cy="1115568"/>
          </a:xfrm>
          <a:prstGeom prst="rect">
            <a:avLst/>
          </a:prstGeom>
        </p:spPr>
      </p:pic>
      <p:sp>
        <p:nvSpPr>
          <p:cNvPr id="47" name="Oval 46"/>
          <p:cNvSpPr/>
          <p:nvPr/>
        </p:nvSpPr>
        <p:spPr>
          <a:xfrm>
            <a:off x="4457882" y="4960620"/>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38</a:t>
            </a:r>
          </a:p>
        </p:txBody>
      </p:sp>
      <p:sp>
        <p:nvSpPr>
          <p:cNvPr id="48" name="TextBox 47"/>
          <p:cNvSpPr txBox="1"/>
          <p:nvPr/>
        </p:nvSpPr>
        <p:spPr>
          <a:xfrm>
            <a:off x="2846161" y="4978908"/>
            <a:ext cx="1556857" cy="365760"/>
          </a:xfrm>
          <a:prstGeom prst="rect">
            <a:avLst/>
          </a:prstGeom>
          <a:noFill/>
        </p:spPr>
        <p:txBody>
          <a:bodyPr wrap="square" anchor="t" lIns="0" rIns="0" tIns="0" bIns="0">
            <a:spAutoFit/>
          </a:bodyPr>
          <a:lstStyle/>
          <a:p>
            <a:pPr algn="l"/>
            <a:r>
              <a:rPr sz="1150" b="1">
                <a:solidFill>
                  <a:srgbClr val="1F2937"/>
                </a:solidFill>
                <a:latin typeface="Calibri"/>
              </a:rPr>
              <a:t>Mega Man X</a:t>
            </a:r>
          </a:p>
        </p:txBody>
      </p:sp>
      <p:sp>
        <p:nvSpPr>
          <p:cNvPr id="49" name="TextBox 48"/>
          <p:cNvSpPr txBox="1"/>
          <p:nvPr/>
        </p:nvSpPr>
        <p:spPr>
          <a:xfrm>
            <a:off x="2846161" y="5417820"/>
            <a:ext cx="1959193" cy="237744"/>
          </a:xfrm>
          <a:prstGeom prst="rect">
            <a:avLst/>
          </a:prstGeom>
          <a:noFill/>
        </p:spPr>
        <p:txBody>
          <a:bodyPr wrap="square" anchor="t" lIns="0" rIns="0" tIns="0" bIns="0">
            <a:spAutoFit/>
          </a:bodyPr>
          <a:lstStyle/>
          <a:p>
            <a:pPr algn="l"/>
            <a:r>
              <a:rPr sz="1500" b="1">
                <a:solidFill>
                  <a:srgbClr val="0D9488"/>
                </a:solidFill>
                <a:latin typeface="Calibri"/>
              </a:rPr>
              <a:t>7,9</a:t>
            </a:r>
            <a:r>
              <a:rPr sz="900" b="0">
                <a:solidFill>
                  <a:srgbClr val="6B7280"/>
                </a:solidFill>
                <a:latin typeface="Calibri"/>
              </a:rPr>
              <a:t> M de unidades</a:t>
            </a:r>
          </a:p>
        </p:txBody>
      </p:sp>
      <p:sp>
        <p:nvSpPr>
          <p:cNvPr id="50" name="TextBox 49"/>
          <p:cNvSpPr txBox="1"/>
          <p:nvPr/>
        </p:nvSpPr>
        <p:spPr>
          <a:xfrm>
            <a:off x="2846161" y="5655564"/>
            <a:ext cx="1959193" cy="201168"/>
          </a:xfrm>
          <a:prstGeom prst="rect">
            <a:avLst/>
          </a:prstGeom>
          <a:noFill/>
        </p:spPr>
        <p:txBody>
          <a:bodyPr wrap="square" anchor="t" lIns="0" rIns="0" tIns="0" bIns="0">
            <a:spAutoFit/>
          </a:bodyPr>
          <a:lstStyle/>
          <a:p>
            <a:pPr algn="l"/>
            <a:r>
              <a:rPr sz="900" b="0">
                <a:solidFill>
                  <a:srgbClr val="6B7280"/>
                </a:solidFill>
                <a:latin typeface="Calibri"/>
              </a:rPr>
              <a:t>1993 · Multiplataforma · Capcom</a:t>
            </a:r>
          </a:p>
        </p:txBody>
      </p:sp>
      <p:sp>
        <p:nvSpPr>
          <p:cNvPr id="51" name="Rounded Rectangle 50"/>
          <p:cNvSpPr/>
          <p:nvPr/>
        </p:nvSpPr>
        <p:spPr>
          <a:xfrm>
            <a:off x="5043098" y="3717036"/>
            <a:ext cx="2105497" cy="2318004"/>
          </a:xfrm>
          <a:prstGeom prst="roundRect">
            <a:avLst>
              <a:gd name="adj" fmla="val 6000"/>
            </a:avLst>
          </a:prstGeom>
          <a:solidFill>
            <a:srgbClr val="F3F4F6"/>
          </a:solidFill>
          <a:ln>
            <a:noFill/>
          </a:ln>
        </p:spPr>
        <p:txBody>
          <a:bodyPr rtlCol="0" anchor="ctr"/>
          <a:lstStyle/>
          <a:p>
            <a:pPr algn="ctr"/>
          </a:p>
        </p:txBody>
      </p:sp>
      <p:pic>
        <p:nvPicPr>
          <p:cNvPr id="52" name="Picture 51" descr="g39.jpg"/>
          <p:cNvPicPr>
            <a:picLocks noChangeAspect="1"/>
          </p:cNvPicPr>
          <p:nvPr/>
        </p:nvPicPr>
        <p:blipFill>
          <a:blip r:embed="rId9"/>
          <a:stretch>
            <a:fillRect/>
          </a:stretch>
        </p:blipFill>
        <p:spPr>
          <a:xfrm>
            <a:off x="5765813" y="3790188"/>
            <a:ext cx="660067" cy="1115568"/>
          </a:xfrm>
          <a:prstGeom prst="rect">
            <a:avLst/>
          </a:prstGeom>
        </p:spPr>
      </p:pic>
      <p:sp>
        <p:nvSpPr>
          <p:cNvPr id="53" name="Oval 52"/>
          <p:cNvSpPr/>
          <p:nvPr/>
        </p:nvSpPr>
        <p:spPr>
          <a:xfrm>
            <a:off x="6727971" y="4960620"/>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39</a:t>
            </a:r>
          </a:p>
        </p:txBody>
      </p:sp>
      <p:sp>
        <p:nvSpPr>
          <p:cNvPr id="54" name="TextBox 53"/>
          <p:cNvSpPr txBox="1"/>
          <p:nvPr/>
        </p:nvSpPr>
        <p:spPr>
          <a:xfrm>
            <a:off x="5116250" y="4978908"/>
            <a:ext cx="1556857" cy="365760"/>
          </a:xfrm>
          <a:prstGeom prst="rect">
            <a:avLst/>
          </a:prstGeom>
          <a:noFill/>
        </p:spPr>
        <p:txBody>
          <a:bodyPr wrap="square" anchor="t" lIns="0" rIns="0" tIns="0" bIns="0">
            <a:spAutoFit/>
          </a:bodyPr>
          <a:lstStyle/>
          <a:p>
            <a:pPr algn="l"/>
            <a:r>
              <a:rPr sz="1150" b="1">
                <a:solidFill>
                  <a:srgbClr val="1F2937"/>
                </a:solidFill>
                <a:latin typeface="Calibri"/>
              </a:rPr>
              <a:t>Sonic CD</a:t>
            </a:r>
          </a:p>
        </p:txBody>
      </p:sp>
      <p:sp>
        <p:nvSpPr>
          <p:cNvPr id="55" name="TextBox 54"/>
          <p:cNvSpPr txBox="1"/>
          <p:nvPr/>
        </p:nvSpPr>
        <p:spPr>
          <a:xfrm>
            <a:off x="5116250" y="5417820"/>
            <a:ext cx="1959193" cy="237744"/>
          </a:xfrm>
          <a:prstGeom prst="rect">
            <a:avLst/>
          </a:prstGeom>
          <a:noFill/>
        </p:spPr>
        <p:txBody>
          <a:bodyPr wrap="square" anchor="t" lIns="0" rIns="0" tIns="0" bIns="0">
            <a:spAutoFit/>
          </a:bodyPr>
          <a:lstStyle/>
          <a:p>
            <a:pPr algn="l"/>
            <a:r>
              <a:rPr sz="1500" b="1">
                <a:solidFill>
                  <a:srgbClr val="0D9488"/>
                </a:solidFill>
                <a:latin typeface="Calibri"/>
              </a:rPr>
              <a:t>7,9</a:t>
            </a:r>
            <a:r>
              <a:rPr sz="900" b="0">
                <a:solidFill>
                  <a:srgbClr val="6B7280"/>
                </a:solidFill>
                <a:latin typeface="Calibri"/>
              </a:rPr>
              <a:t> M de unidades</a:t>
            </a:r>
          </a:p>
        </p:txBody>
      </p:sp>
      <p:sp>
        <p:nvSpPr>
          <p:cNvPr id="56" name="TextBox 55"/>
          <p:cNvSpPr txBox="1"/>
          <p:nvPr/>
        </p:nvSpPr>
        <p:spPr>
          <a:xfrm>
            <a:off x="5116250" y="5655564"/>
            <a:ext cx="1959193" cy="201168"/>
          </a:xfrm>
          <a:prstGeom prst="rect">
            <a:avLst/>
          </a:prstGeom>
          <a:noFill/>
        </p:spPr>
        <p:txBody>
          <a:bodyPr wrap="square" anchor="t" lIns="0" rIns="0" tIns="0" bIns="0">
            <a:spAutoFit/>
          </a:bodyPr>
          <a:lstStyle/>
          <a:p>
            <a:pPr algn="l"/>
            <a:r>
              <a:rPr sz="900" b="0">
                <a:solidFill>
                  <a:srgbClr val="6B7280"/>
                </a:solidFill>
                <a:latin typeface="Calibri"/>
              </a:rPr>
              <a:t>1993 · Multiplataforma · Sega</a:t>
            </a:r>
          </a:p>
        </p:txBody>
      </p:sp>
      <p:sp>
        <p:nvSpPr>
          <p:cNvPr id="57" name="Rounded Rectangle 56"/>
          <p:cNvSpPr/>
          <p:nvPr/>
        </p:nvSpPr>
        <p:spPr>
          <a:xfrm>
            <a:off x="7313187" y="3717036"/>
            <a:ext cx="2105497" cy="2318004"/>
          </a:xfrm>
          <a:prstGeom prst="roundRect">
            <a:avLst>
              <a:gd name="adj" fmla="val 6000"/>
            </a:avLst>
          </a:prstGeom>
          <a:solidFill>
            <a:srgbClr val="F3F4F6"/>
          </a:solidFill>
          <a:ln>
            <a:noFill/>
          </a:ln>
        </p:spPr>
        <p:txBody>
          <a:bodyPr rtlCol="0" anchor="ctr"/>
          <a:lstStyle/>
          <a:p>
            <a:pPr algn="ctr"/>
          </a:p>
        </p:txBody>
      </p:sp>
      <p:pic>
        <p:nvPicPr>
          <p:cNvPr id="58" name="Picture 57" descr="g40.jpg"/>
          <p:cNvPicPr>
            <a:picLocks noChangeAspect="1"/>
          </p:cNvPicPr>
          <p:nvPr/>
        </p:nvPicPr>
        <p:blipFill>
          <a:blip r:embed="rId10"/>
          <a:stretch>
            <a:fillRect/>
          </a:stretch>
        </p:blipFill>
        <p:spPr>
          <a:xfrm>
            <a:off x="7972020" y="3790188"/>
            <a:ext cx="787830" cy="1115568"/>
          </a:xfrm>
          <a:prstGeom prst="rect">
            <a:avLst/>
          </a:prstGeom>
        </p:spPr>
      </p:pic>
      <p:sp>
        <p:nvSpPr>
          <p:cNvPr id="59" name="Oval 58"/>
          <p:cNvSpPr/>
          <p:nvPr/>
        </p:nvSpPr>
        <p:spPr>
          <a:xfrm>
            <a:off x="8998060" y="4960620"/>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40</a:t>
            </a:r>
          </a:p>
        </p:txBody>
      </p:sp>
      <p:sp>
        <p:nvSpPr>
          <p:cNvPr id="60" name="TextBox 59"/>
          <p:cNvSpPr txBox="1"/>
          <p:nvPr/>
        </p:nvSpPr>
        <p:spPr>
          <a:xfrm>
            <a:off x="7386339" y="4978908"/>
            <a:ext cx="1556857" cy="365760"/>
          </a:xfrm>
          <a:prstGeom prst="rect">
            <a:avLst/>
          </a:prstGeom>
          <a:noFill/>
        </p:spPr>
        <p:txBody>
          <a:bodyPr wrap="square" anchor="t" lIns="0" rIns="0" tIns="0" bIns="0">
            <a:spAutoFit/>
          </a:bodyPr>
          <a:lstStyle/>
          <a:p>
            <a:pPr algn="l"/>
            <a:r>
              <a:rPr sz="1150" b="1">
                <a:solidFill>
                  <a:srgbClr val="1F2937"/>
                </a:solidFill>
                <a:latin typeface="Calibri"/>
              </a:rPr>
              <a:t>Super Mario Maker</a:t>
            </a:r>
          </a:p>
        </p:txBody>
      </p:sp>
      <p:sp>
        <p:nvSpPr>
          <p:cNvPr id="61" name="TextBox 60"/>
          <p:cNvSpPr txBox="1"/>
          <p:nvPr/>
        </p:nvSpPr>
        <p:spPr>
          <a:xfrm>
            <a:off x="7386339" y="5417820"/>
            <a:ext cx="1959193" cy="237744"/>
          </a:xfrm>
          <a:prstGeom prst="rect">
            <a:avLst/>
          </a:prstGeom>
          <a:noFill/>
        </p:spPr>
        <p:txBody>
          <a:bodyPr wrap="square" anchor="t" lIns="0" rIns="0" tIns="0" bIns="0">
            <a:spAutoFit/>
          </a:bodyPr>
          <a:lstStyle/>
          <a:p>
            <a:pPr algn="l"/>
            <a:r>
              <a:rPr sz="1500" b="1">
                <a:solidFill>
                  <a:srgbClr val="0D9488"/>
                </a:solidFill>
                <a:latin typeface="Calibri"/>
              </a:rPr>
              <a:t>7,8</a:t>
            </a:r>
            <a:r>
              <a:rPr sz="900" b="0">
                <a:solidFill>
                  <a:srgbClr val="6B7280"/>
                </a:solidFill>
                <a:latin typeface="Calibri"/>
              </a:rPr>
              <a:t> M de unidades</a:t>
            </a:r>
          </a:p>
        </p:txBody>
      </p:sp>
      <p:sp>
        <p:nvSpPr>
          <p:cNvPr id="62" name="TextBox 61"/>
          <p:cNvSpPr txBox="1"/>
          <p:nvPr/>
        </p:nvSpPr>
        <p:spPr>
          <a:xfrm>
            <a:off x="7386339" y="5655564"/>
            <a:ext cx="1959193" cy="201168"/>
          </a:xfrm>
          <a:prstGeom prst="rect">
            <a:avLst/>
          </a:prstGeom>
          <a:noFill/>
        </p:spPr>
        <p:txBody>
          <a:bodyPr wrap="square" anchor="t" lIns="0" rIns="0" tIns="0" bIns="0">
            <a:spAutoFit/>
          </a:bodyPr>
          <a:lstStyle/>
          <a:p>
            <a:pPr algn="l"/>
            <a:r>
              <a:rPr sz="900" b="0">
                <a:solidFill>
                  <a:srgbClr val="6B7280"/>
                </a:solidFill>
                <a:latin typeface="Calibri"/>
              </a:rPr>
              <a:t>2015 · Wii U, 3DS · Nintendo</a:t>
            </a:r>
          </a:p>
        </p:txBody>
      </p:sp>
      <p:sp>
        <p:nvSpPr>
          <p:cNvPr id="63" name="Rounded Rectangle 62"/>
          <p:cNvSpPr/>
          <p:nvPr/>
        </p:nvSpPr>
        <p:spPr>
          <a:xfrm>
            <a:off x="9583276" y="3717036"/>
            <a:ext cx="2105497" cy="2318004"/>
          </a:xfrm>
          <a:prstGeom prst="roundRect">
            <a:avLst>
              <a:gd name="adj" fmla="val 6000"/>
            </a:avLst>
          </a:prstGeom>
          <a:solidFill>
            <a:srgbClr val="F3F4F6"/>
          </a:solidFill>
          <a:ln>
            <a:noFill/>
          </a:ln>
        </p:spPr>
        <p:txBody>
          <a:bodyPr rtlCol="0" anchor="ctr"/>
          <a:lstStyle/>
          <a:p>
            <a:pPr algn="ctr"/>
          </a:p>
        </p:txBody>
      </p:sp>
      <p:pic>
        <p:nvPicPr>
          <p:cNvPr id="64" name="Picture 63" descr="g41.jpg"/>
          <p:cNvPicPr>
            <a:picLocks noChangeAspect="1"/>
          </p:cNvPicPr>
          <p:nvPr/>
        </p:nvPicPr>
        <p:blipFill>
          <a:blip r:embed="rId11"/>
          <a:stretch>
            <a:fillRect/>
          </a:stretch>
        </p:blipFill>
        <p:spPr>
          <a:xfrm>
            <a:off x="10083763" y="3790188"/>
            <a:ext cx="1104522" cy="1115568"/>
          </a:xfrm>
          <a:prstGeom prst="rect">
            <a:avLst/>
          </a:prstGeom>
        </p:spPr>
      </p:pic>
      <p:sp>
        <p:nvSpPr>
          <p:cNvPr id="65" name="Oval 64"/>
          <p:cNvSpPr/>
          <p:nvPr/>
        </p:nvSpPr>
        <p:spPr>
          <a:xfrm>
            <a:off x="11268149" y="4960620"/>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41</a:t>
            </a:r>
          </a:p>
        </p:txBody>
      </p:sp>
      <p:sp>
        <p:nvSpPr>
          <p:cNvPr id="66" name="TextBox 65"/>
          <p:cNvSpPr txBox="1"/>
          <p:nvPr/>
        </p:nvSpPr>
        <p:spPr>
          <a:xfrm>
            <a:off x="9656428" y="4978908"/>
            <a:ext cx="1556857" cy="365760"/>
          </a:xfrm>
          <a:prstGeom prst="rect">
            <a:avLst/>
          </a:prstGeom>
          <a:noFill/>
        </p:spPr>
        <p:txBody>
          <a:bodyPr wrap="square" anchor="t" lIns="0" rIns="0" tIns="0" bIns="0">
            <a:spAutoFit/>
          </a:bodyPr>
          <a:lstStyle/>
          <a:p>
            <a:pPr algn="l"/>
            <a:r>
              <a:rPr sz="1150" b="1">
                <a:solidFill>
                  <a:srgbClr val="1F2937"/>
                </a:solidFill>
                <a:latin typeface="Calibri"/>
              </a:rPr>
              <a:t>Crash Bandicoot 2: Cortex Strikes Back</a:t>
            </a:r>
          </a:p>
        </p:txBody>
      </p:sp>
      <p:sp>
        <p:nvSpPr>
          <p:cNvPr id="67" name="TextBox 66"/>
          <p:cNvSpPr txBox="1"/>
          <p:nvPr/>
        </p:nvSpPr>
        <p:spPr>
          <a:xfrm>
            <a:off x="9656428" y="5417820"/>
            <a:ext cx="1959193" cy="237744"/>
          </a:xfrm>
          <a:prstGeom prst="rect">
            <a:avLst/>
          </a:prstGeom>
          <a:noFill/>
        </p:spPr>
        <p:txBody>
          <a:bodyPr wrap="square" anchor="t" lIns="0" rIns="0" tIns="0" bIns="0">
            <a:spAutoFit/>
          </a:bodyPr>
          <a:lstStyle/>
          <a:p>
            <a:pPr algn="l"/>
            <a:r>
              <a:rPr sz="1500" b="1">
                <a:solidFill>
                  <a:srgbClr val="0D9488"/>
                </a:solidFill>
                <a:latin typeface="Calibri"/>
              </a:rPr>
              <a:t>7,6</a:t>
            </a:r>
            <a:r>
              <a:rPr sz="900" b="0">
                <a:solidFill>
                  <a:srgbClr val="6B7280"/>
                </a:solidFill>
                <a:latin typeface="Calibri"/>
              </a:rPr>
              <a:t> M de unidades</a:t>
            </a:r>
          </a:p>
        </p:txBody>
      </p:sp>
      <p:sp>
        <p:nvSpPr>
          <p:cNvPr id="68" name="TextBox 67"/>
          <p:cNvSpPr txBox="1"/>
          <p:nvPr/>
        </p:nvSpPr>
        <p:spPr>
          <a:xfrm>
            <a:off x="9656428" y="5655564"/>
            <a:ext cx="1959193" cy="201168"/>
          </a:xfrm>
          <a:prstGeom prst="rect">
            <a:avLst/>
          </a:prstGeom>
          <a:noFill/>
        </p:spPr>
        <p:txBody>
          <a:bodyPr wrap="square" anchor="t" lIns="0" rIns="0" tIns="0" bIns="0">
            <a:spAutoFit/>
          </a:bodyPr>
          <a:lstStyle/>
          <a:p>
            <a:pPr algn="l"/>
            <a:r>
              <a:rPr sz="900" b="0">
                <a:solidFill>
                  <a:srgbClr val="6B7280"/>
                </a:solidFill>
                <a:latin typeface="Calibri"/>
              </a:rPr>
              <a:t>1997 · PS1 · Sony</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73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 PLATAFORMEROS · JUEGOS 42–50</a:t>
            </a:r>
          </a:p>
          <a:p>
            <a:r>
              <a:rPr sz="2600" b="1" i="0">
                <a:solidFill>
                  <a:srgbClr val="FFFFFF"/>
                </a:solidFill>
                <a:latin typeface="Calibri"/>
              </a:rPr>
              <a:t>Juegos de plataformas más vendidos (5 de 5)</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Anexo · Los plataformeros más vendidos</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73/74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VGSales Wiki, «Best-selling platformers» (ventas estimadas, consulta 19/10/2026); imágenes: Wikipedia, uso educativo</a:t>
            </a:r>
          </a:p>
        </p:txBody>
      </p:sp>
      <p:sp>
        <p:nvSpPr>
          <p:cNvPr id="9" name="Rounded Rectangle 8"/>
          <p:cNvSpPr/>
          <p:nvPr/>
        </p:nvSpPr>
        <p:spPr>
          <a:xfrm>
            <a:off x="502920" y="1234440"/>
            <a:ext cx="2105497" cy="2318004"/>
          </a:xfrm>
          <a:prstGeom prst="roundRect">
            <a:avLst>
              <a:gd name="adj" fmla="val 6000"/>
            </a:avLst>
          </a:prstGeom>
          <a:solidFill>
            <a:srgbClr val="F3F4F6"/>
          </a:solidFill>
          <a:ln>
            <a:noFill/>
          </a:ln>
        </p:spPr>
        <p:txBody>
          <a:bodyPr rtlCol="0" anchor="ctr"/>
          <a:lstStyle/>
          <a:p>
            <a:pPr algn="ctr"/>
          </a:p>
        </p:txBody>
      </p:sp>
      <p:pic>
        <p:nvPicPr>
          <p:cNvPr id="10" name="Picture 9" descr="g42.jpg"/>
          <p:cNvPicPr>
            <a:picLocks noChangeAspect="1"/>
          </p:cNvPicPr>
          <p:nvPr/>
        </p:nvPicPr>
        <p:blipFill>
          <a:blip r:embed="rId2"/>
          <a:stretch>
            <a:fillRect/>
          </a:stretch>
        </p:blipFill>
        <p:spPr>
          <a:xfrm>
            <a:off x="997884" y="1307592"/>
            <a:ext cx="1115568" cy="1115568"/>
          </a:xfrm>
          <a:prstGeom prst="rect">
            <a:avLst/>
          </a:prstGeom>
        </p:spPr>
      </p:pic>
      <p:sp>
        <p:nvSpPr>
          <p:cNvPr id="11" name="Oval 10"/>
          <p:cNvSpPr/>
          <p:nvPr/>
        </p:nvSpPr>
        <p:spPr>
          <a:xfrm>
            <a:off x="2187793" y="2478024"/>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42</a:t>
            </a:r>
          </a:p>
        </p:txBody>
      </p:sp>
      <p:sp>
        <p:nvSpPr>
          <p:cNvPr id="12" name="TextBox 11"/>
          <p:cNvSpPr txBox="1"/>
          <p:nvPr/>
        </p:nvSpPr>
        <p:spPr>
          <a:xfrm>
            <a:off x="576072" y="2496312"/>
            <a:ext cx="1556857" cy="365760"/>
          </a:xfrm>
          <a:prstGeom prst="rect">
            <a:avLst/>
          </a:prstGeom>
          <a:noFill/>
        </p:spPr>
        <p:txBody>
          <a:bodyPr wrap="square" anchor="t" lIns="0" rIns="0" tIns="0" bIns="0">
            <a:spAutoFit/>
          </a:bodyPr>
          <a:lstStyle/>
          <a:p>
            <a:pPr algn="l"/>
            <a:r>
              <a:rPr sz="1150" b="1">
                <a:solidFill>
                  <a:srgbClr val="1F2937"/>
                </a:solidFill>
                <a:latin typeface="Calibri"/>
              </a:rPr>
              <a:t>Kirby and the Forgotten Land</a:t>
            </a:r>
          </a:p>
        </p:txBody>
      </p:sp>
      <p:sp>
        <p:nvSpPr>
          <p:cNvPr id="13" name="TextBox 12"/>
          <p:cNvSpPr txBox="1"/>
          <p:nvPr/>
        </p:nvSpPr>
        <p:spPr>
          <a:xfrm>
            <a:off x="576072" y="2935224"/>
            <a:ext cx="1959193" cy="237744"/>
          </a:xfrm>
          <a:prstGeom prst="rect">
            <a:avLst/>
          </a:prstGeom>
          <a:noFill/>
        </p:spPr>
        <p:txBody>
          <a:bodyPr wrap="square" anchor="t" lIns="0" rIns="0" tIns="0" bIns="0">
            <a:spAutoFit/>
          </a:bodyPr>
          <a:lstStyle/>
          <a:p>
            <a:pPr algn="l"/>
            <a:r>
              <a:rPr sz="1500" b="1">
                <a:solidFill>
                  <a:srgbClr val="0D9488"/>
                </a:solidFill>
                <a:latin typeface="Calibri"/>
              </a:rPr>
              <a:t>7,5</a:t>
            </a:r>
            <a:r>
              <a:rPr sz="900" b="0">
                <a:solidFill>
                  <a:srgbClr val="6B7280"/>
                </a:solidFill>
                <a:latin typeface="Calibri"/>
              </a:rPr>
              <a:t> M de unidades</a:t>
            </a:r>
          </a:p>
        </p:txBody>
      </p:sp>
      <p:sp>
        <p:nvSpPr>
          <p:cNvPr id="14" name="TextBox 13"/>
          <p:cNvSpPr txBox="1"/>
          <p:nvPr/>
        </p:nvSpPr>
        <p:spPr>
          <a:xfrm>
            <a:off x="576072" y="3172968"/>
            <a:ext cx="1959193" cy="201168"/>
          </a:xfrm>
          <a:prstGeom prst="rect">
            <a:avLst/>
          </a:prstGeom>
          <a:noFill/>
        </p:spPr>
        <p:txBody>
          <a:bodyPr wrap="square" anchor="t" lIns="0" rIns="0" tIns="0" bIns="0">
            <a:spAutoFit/>
          </a:bodyPr>
          <a:lstStyle/>
          <a:p>
            <a:pPr algn="l"/>
            <a:r>
              <a:rPr sz="900" b="0">
                <a:solidFill>
                  <a:srgbClr val="6B7280"/>
                </a:solidFill>
                <a:latin typeface="Calibri"/>
              </a:rPr>
              <a:t>2022 · Switch, Switch 2 · Nintendo</a:t>
            </a:r>
          </a:p>
        </p:txBody>
      </p:sp>
      <p:sp>
        <p:nvSpPr>
          <p:cNvPr id="15" name="Rounded Rectangle 14"/>
          <p:cNvSpPr/>
          <p:nvPr/>
        </p:nvSpPr>
        <p:spPr>
          <a:xfrm>
            <a:off x="2773009" y="1234440"/>
            <a:ext cx="2105497" cy="2318004"/>
          </a:xfrm>
          <a:prstGeom prst="roundRect">
            <a:avLst>
              <a:gd name="adj" fmla="val 6000"/>
            </a:avLst>
          </a:prstGeom>
          <a:solidFill>
            <a:srgbClr val="F3F4F6"/>
          </a:solidFill>
          <a:ln>
            <a:noFill/>
          </a:ln>
        </p:spPr>
        <p:txBody>
          <a:bodyPr rtlCol="0" anchor="ctr"/>
          <a:lstStyle/>
          <a:p>
            <a:pPr algn="ctr"/>
          </a:p>
        </p:txBody>
      </p:sp>
      <p:pic>
        <p:nvPicPr>
          <p:cNvPr id="16" name="Picture 15" descr="g43.jpg"/>
          <p:cNvPicPr>
            <a:picLocks noChangeAspect="1"/>
          </p:cNvPicPr>
          <p:nvPr/>
        </p:nvPicPr>
        <p:blipFill>
          <a:blip r:embed="rId3"/>
          <a:stretch>
            <a:fillRect/>
          </a:stretch>
        </p:blipFill>
        <p:spPr>
          <a:xfrm>
            <a:off x="3337490" y="1307592"/>
            <a:ext cx="976535" cy="1115568"/>
          </a:xfrm>
          <a:prstGeom prst="rect">
            <a:avLst/>
          </a:prstGeom>
        </p:spPr>
      </p:pic>
      <p:sp>
        <p:nvSpPr>
          <p:cNvPr id="17" name="Oval 16"/>
          <p:cNvSpPr/>
          <p:nvPr/>
        </p:nvSpPr>
        <p:spPr>
          <a:xfrm>
            <a:off x="4457882" y="2478024"/>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43</a:t>
            </a:r>
          </a:p>
        </p:txBody>
      </p:sp>
      <p:sp>
        <p:nvSpPr>
          <p:cNvPr id="18" name="TextBox 17"/>
          <p:cNvSpPr txBox="1"/>
          <p:nvPr/>
        </p:nvSpPr>
        <p:spPr>
          <a:xfrm>
            <a:off x="2846161" y="2496312"/>
            <a:ext cx="1556857" cy="365760"/>
          </a:xfrm>
          <a:prstGeom prst="rect">
            <a:avLst/>
          </a:prstGeom>
          <a:noFill/>
        </p:spPr>
        <p:txBody>
          <a:bodyPr wrap="square" anchor="t" lIns="0" rIns="0" tIns="0" bIns="0">
            <a:spAutoFit/>
          </a:bodyPr>
          <a:lstStyle/>
          <a:p>
            <a:pPr algn="l"/>
            <a:r>
              <a:rPr sz="1150" b="1">
                <a:solidFill>
                  <a:srgbClr val="1F2937"/>
                </a:solidFill>
                <a:latin typeface="Calibri"/>
              </a:rPr>
              <a:t>Sonic Generations</a:t>
            </a:r>
          </a:p>
        </p:txBody>
      </p:sp>
      <p:sp>
        <p:nvSpPr>
          <p:cNvPr id="19" name="TextBox 18"/>
          <p:cNvSpPr txBox="1"/>
          <p:nvPr/>
        </p:nvSpPr>
        <p:spPr>
          <a:xfrm>
            <a:off x="2846161" y="2935224"/>
            <a:ext cx="1959193" cy="237744"/>
          </a:xfrm>
          <a:prstGeom prst="rect">
            <a:avLst/>
          </a:prstGeom>
          <a:noFill/>
        </p:spPr>
        <p:txBody>
          <a:bodyPr wrap="square" anchor="t" lIns="0" rIns="0" tIns="0" bIns="0">
            <a:spAutoFit/>
          </a:bodyPr>
          <a:lstStyle/>
          <a:p>
            <a:pPr algn="l"/>
            <a:r>
              <a:rPr sz="1500" b="1">
                <a:solidFill>
                  <a:srgbClr val="0D9488"/>
                </a:solidFill>
                <a:latin typeface="Calibri"/>
              </a:rPr>
              <a:t>7,5</a:t>
            </a:r>
            <a:r>
              <a:rPr sz="900" b="0">
                <a:solidFill>
                  <a:srgbClr val="6B7280"/>
                </a:solidFill>
                <a:latin typeface="Calibri"/>
              </a:rPr>
              <a:t> M de unidades</a:t>
            </a:r>
          </a:p>
        </p:txBody>
      </p:sp>
      <p:sp>
        <p:nvSpPr>
          <p:cNvPr id="20" name="TextBox 19"/>
          <p:cNvSpPr txBox="1"/>
          <p:nvPr/>
        </p:nvSpPr>
        <p:spPr>
          <a:xfrm>
            <a:off x="2846161" y="3172968"/>
            <a:ext cx="1959193" cy="201168"/>
          </a:xfrm>
          <a:prstGeom prst="rect">
            <a:avLst/>
          </a:prstGeom>
          <a:noFill/>
        </p:spPr>
        <p:txBody>
          <a:bodyPr wrap="square" anchor="t" lIns="0" rIns="0" tIns="0" bIns="0">
            <a:spAutoFit/>
          </a:bodyPr>
          <a:lstStyle/>
          <a:p>
            <a:pPr algn="l"/>
            <a:r>
              <a:rPr sz="900" b="0">
                <a:solidFill>
                  <a:srgbClr val="6B7280"/>
                </a:solidFill>
                <a:latin typeface="Calibri"/>
              </a:rPr>
              <a:t>2011 · Multiplataforma · Sega</a:t>
            </a:r>
          </a:p>
        </p:txBody>
      </p:sp>
      <p:sp>
        <p:nvSpPr>
          <p:cNvPr id="21" name="Rounded Rectangle 20"/>
          <p:cNvSpPr/>
          <p:nvPr/>
        </p:nvSpPr>
        <p:spPr>
          <a:xfrm>
            <a:off x="5043098" y="1234440"/>
            <a:ext cx="2105497" cy="2318004"/>
          </a:xfrm>
          <a:prstGeom prst="roundRect">
            <a:avLst>
              <a:gd name="adj" fmla="val 6000"/>
            </a:avLst>
          </a:prstGeom>
          <a:solidFill>
            <a:srgbClr val="F3F4F6"/>
          </a:solidFill>
          <a:ln>
            <a:noFill/>
          </a:ln>
        </p:spPr>
        <p:txBody>
          <a:bodyPr rtlCol="0" anchor="ctr"/>
          <a:lstStyle/>
          <a:p>
            <a:pPr algn="ctr"/>
          </a:p>
        </p:txBody>
      </p:sp>
      <p:pic>
        <p:nvPicPr>
          <p:cNvPr id="22" name="Picture 21" descr="g44.jpg"/>
          <p:cNvPicPr>
            <a:picLocks noChangeAspect="1"/>
          </p:cNvPicPr>
          <p:nvPr/>
        </p:nvPicPr>
        <p:blipFill>
          <a:blip r:embed="rId4"/>
          <a:stretch>
            <a:fillRect/>
          </a:stretch>
        </p:blipFill>
        <p:spPr>
          <a:xfrm>
            <a:off x="5701931" y="1307592"/>
            <a:ext cx="787830" cy="1115568"/>
          </a:xfrm>
          <a:prstGeom prst="rect">
            <a:avLst/>
          </a:prstGeom>
        </p:spPr>
      </p:pic>
      <p:sp>
        <p:nvSpPr>
          <p:cNvPr id="23" name="Oval 22"/>
          <p:cNvSpPr/>
          <p:nvPr/>
        </p:nvSpPr>
        <p:spPr>
          <a:xfrm>
            <a:off x="6727971" y="2478024"/>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44</a:t>
            </a:r>
          </a:p>
        </p:txBody>
      </p:sp>
      <p:sp>
        <p:nvSpPr>
          <p:cNvPr id="24" name="TextBox 23"/>
          <p:cNvSpPr txBox="1"/>
          <p:nvPr/>
        </p:nvSpPr>
        <p:spPr>
          <a:xfrm>
            <a:off x="5116250" y="2496312"/>
            <a:ext cx="1556857" cy="365760"/>
          </a:xfrm>
          <a:prstGeom prst="rect">
            <a:avLst/>
          </a:prstGeom>
          <a:noFill/>
        </p:spPr>
        <p:txBody>
          <a:bodyPr wrap="square" anchor="t" lIns="0" rIns="0" tIns="0" bIns="0">
            <a:spAutoFit/>
          </a:bodyPr>
          <a:lstStyle/>
          <a:p>
            <a:pPr algn="l"/>
            <a:r>
              <a:rPr sz="1150" b="1">
                <a:solidFill>
                  <a:srgbClr val="1F2937"/>
                </a:solidFill>
                <a:latin typeface="Calibri"/>
              </a:rPr>
              <a:t>Super Mario Galaxy 2</a:t>
            </a:r>
          </a:p>
        </p:txBody>
      </p:sp>
      <p:sp>
        <p:nvSpPr>
          <p:cNvPr id="25" name="TextBox 24"/>
          <p:cNvSpPr txBox="1"/>
          <p:nvPr/>
        </p:nvSpPr>
        <p:spPr>
          <a:xfrm>
            <a:off x="5116250" y="2935224"/>
            <a:ext cx="1959193" cy="237744"/>
          </a:xfrm>
          <a:prstGeom prst="rect">
            <a:avLst/>
          </a:prstGeom>
          <a:noFill/>
        </p:spPr>
        <p:txBody>
          <a:bodyPr wrap="square" anchor="t" lIns="0" rIns="0" tIns="0" bIns="0">
            <a:spAutoFit/>
          </a:bodyPr>
          <a:lstStyle/>
          <a:p>
            <a:pPr algn="l"/>
            <a:r>
              <a:rPr sz="1500" b="1">
                <a:solidFill>
                  <a:srgbClr val="0D9488"/>
                </a:solidFill>
                <a:latin typeface="Calibri"/>
              </a:rPr>
              <a:t>7,5</a:t>
            </a:r>
            <a:r>
              <a:rPr sz="900" b="0">
                <a:solidFill>
                  <a:srgbClr val="6B7280"/>
                </a:solidFill>
                <a:latin typeface="Calibri"/>
              </a:rPr>
              <a:t> M de unidades</a:t>
            </a:r>
          </a:p>
        </p:txBody>
      </p:sp>
      <p:sp>
        <p:nvSpPr>
          <p:cNvPr id="26" name="TextBox 25"/>
          <p:cNvSpPr txBox="1"/>
          <p:nvPr/>
        </p:nvSpPr>
        <p:spPr>
          <a:xfrm>
            <a:off x="5116250" y="3172968"/>
            <a:ext cx="1959193" cy="201168"/>
          </a:xfrm>
          <a:prstGeom prst="rect">
            <a:avLst/>
          </a:prstGeom>
          <a:noFill/>
        </p:spPr>
        <p:txBody>
          <a:bodyPr wrap="square" anchor="t" lIns="0" rIns="0" tIns="0" bIns="0">
            <a:spAutoFit/>
          </a:bodyPr>
          <a:lstStyle/>
          <a:p>
            <a:pPr algn="l"/>
            <a:r>
              <a:rPr sz="900" b="0">
                <a:solidFill>
                  <a:srgbClr val="6B7280"/>
                </a:solidFill>
                <a:latin typeface="Calibri"/>
              </a:rPr>
              <a:t>2010 · Wii, Switch · Nintendo</a:t>
            </a:r>
          </a:p>
        </p:txBody>
      </p:sp>
      <p:sp>
        <p:nvSpPr>
          <p:cNvPr id="27" name="Rounded Rectangle 26"/>
          <p:cNvSpPr/>
          <p:nvPr/>
        </p:nvSpPr>
        <p:spPr>
          <a:xfrm>
            <a:off x="7313187" y="1234440"/>
            <a:ext cx="2105497" cy="2318004"/>
          </a:xfrm>
          <a:prstGeom prst="roundRect">
            <a:avLst>
              <a:gd name="adj" fmla="val 6000"/>
            </a:avLst>
          </a:prstGeom>
          <a:solidFill>
            <a:srgbClr val="F3F4F6"/>
          </a:solidFill>
          <a:ln>
            <a:noFill/>
          </a:ln>
        </p:spPr>
        <p:txBody>
          <a:bodyPr rtlCol="0" anchor="ctr"/>
          <a:lstStyle/>
          <a:p>
            <a:pPr algn="ctr"/>
          </a:p>
        </p:txBody>
      </p:sp>
      <p:pic>
        <p:nvPicPr>
          <p:cNvPr id="28" name="Picture 27" descr="g45.jpg"/>
          <p:cNvPicPr>
            <a:picLocks noChangeAspect="1"/>
          </p:cNvPicPr>
          <p:nvPr/>
        </p:nvPicPr>
        <p:blipFill>
          <a:blip r:embed="rId5"/>
          <a:stretch>
            <a:fillRect/>
          </a:stretch>
        </p:blipFill>
        <p:spPr>
          <a:xfrm>
            <a:off x="7790960" y="1307592"/>
            <a:ext cx="1149951" cy="1115568"/>
          </a:xfrm>
          <a:prstGeom prst="rect">
            <a:avLst/>
          </a:prstGeom>
        </p:spPr>
      </p:pic>
      <p:sp>
        <p:nvSpPr>
          <p:cNvPr id="29" name="Oval 28"/>
          <p:cNvSpPr/>
          <p:nvPr/>
        </p:nvSpPr>
        <p:spPr>
          <a:xfrm>
            <a:off x="8998060" y="2478024"/>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45</a:t>
            </a:r>
          </a:p>
        </p:txBody>
      </p:sp>
      <p:sp>
        <p:nvSpPr>
          <p:cNvPr id="30" name="TextBox 29"/>
          <p:cNvSpPr txBox="1"/>
          <p:nvPr/>
        </p:nvSpPr>
        <p:spPr>
          <a:xfrm>
            <a:off x="7386339" y="2496312"/>
            <a:ext cx="1556857" cy="365760"/>
          </a:xfrm>
          <a:prstGeom prst="rect">
            <a:avLst/>
          </a:prstGeom>
          <a:noFill/>
        </p:spPr>
        <p:txBody>
          <a:bodyPr wrap="square" anchor="t" lIns="0" rIns="0" tIns="0" bIns="0">
            <a:spAutoFit/>
          </a:bodyPr>
          <a:lstStyle/>
          <a:p>
            <a:pPr algn="l"/>
            <a:r>
              <a:rPr sz="1150" b="1">
                <a:solidFill>
                  <a:srgbClr val="1F2937"/>
                </a:solidFill>
                <a:latin typeface="Calibri"/>
              </a:rPr>
              <a:t>Crash Bandicoot: Warped</a:t>
            </a:r>
          </a:p>
        </p:txBody>
      </p:sp>
      <p:sp>
        <p:nvSpPr>
          <p:cNvPr id="31" name="TextBox 30"/>
          <p:cNvSpPr txBox="1"/>
          <p:nvPr/>
        </p:nvSpPr>
        <p:spPr>
          <a:xfrm>
            <a:off x="7386339" y="2935224"/>
            <a:ext cx="1959193" cy="237744"/>
          </a:xfrm>
          <a:prstGeom prst="rect">
            <a:avLst/>
          </a:prstGeom>
          <a:noFill/>
        </p:spPr>
        <p:txBody>
          <a:bodyPr wrap="square" anchor="t" lIns="0" rIns="0" tIns="0" bIns="0">
            <a:spAutoFit/>
          </a:bodyPr>
          <a:lstStyle/>
          <a:p>
            <a:pPr algn="l"/>
            <a:r>
              <a:rPr sz="1500" b="1">
                <a:solidFill>
                  <a:srgbClr val="0D9488"/>
                </a:solidFill>
                <a:latin typeface="Calibri"/>
              </a:rPr>
              <a:t>7,1</a:t>
            </a:r>
            <a:r>
              <a:rPr sz="900" b="0">
                <a:solidFill>
                  <a:srgbClr val="6B7280"/>
                </a:solidFill>
                <a:latin typeface="Calibri"/>
              </a:rPr>
              <a:t> M de unidades</a:t>
            </a:r>
          </a:p>
        </p:txBody>
      </p:sp>
      <p:sp>
        <p:nvSpPr>
          <p:cNvPr id="32" name="TextBox 31"/>
          <p:cNvSpPr txBox="1"/>
          <p:nvPr/>
        </p:nvSpPr>
        <p:spPr>
          <a:xfrm>
            <a:off x="7386339" y="3172968"/>
            <a:ext cx="1959193" cy="201168"/>
          </a:xfrm>
          <a:prstGeom prst="rect">
            <a:avLst/>
          </a:prstGeom>
          <a:noFill/>
        </p:spPr>
        <p:txBody>
          <a:bodyPr wrap="square" anchor="t" lIns="0" rIns="0" tIns="0" bIns="0">
            <a:spAutoFit/>
          </a:bodyPr>
          <a:lstStyle/>
          <a:p>
            <a:pPr algn="l"/>
            <a:r>
              <a:rPr sz="900" b="0">
                <a:solidFill>
                  <a:srgbClr val="6B7280"/>
                </a:solidFill>
                <a:latin typeface="Calibri"/>
              </a:rPr>
              <a:t>1998 · PS1 · Sony</a:t>
            </a:r>
          </a:p>
        </p:txBody>
      </p:sp>
      <p:sp>
        <p:nvSpPr>
          <p:cNvPr id="33" name="Rounded Rectangle 32"/>
          <p:cNvSpPr/>
          <p:nvPr/>
        </p:nvSpPr>
        <p:spPr>
          <a:xfrm>
            <a:off x="9583276" y="1234440"/>
            <a:ext cx="2105497" cy="2318004"/>
          </a:xfrm>
          <a:prstGeom prst="roundRect">
            <a:avLst>
              <a:gd name="adj" fmla="val 6000"/>
            </a:avLst>
          </a:prstGeom>
          <a:solidFill>
            <a:srgbClr val="F3F4F6"/>
          </a:solidFill>
          <a:ln>
            <a:noFill/>
          </a:ln>
        </p:spPr>
        <p:txBody>
          <a:bodyPr rtlCol="0" anchor="ctr"/>
          <a:lstStyle/>
          <a:p>
            <a:pPr algn="ctr"/>
          </a:p>
        </p:txBody>
      </p:sp>
      <p:pic>
        <p:nvPicPr>
          <p:cNvPr id="34" name="Picture 33" descr="g46.jpg"/>
          <p:cNvPicPr>
            <a:picLocks noChangeAspect="1"/>
          </p:cNvPicPr>
          <p:nvPr/>
        </p:nvPicPr>
        <p:blipFill>
          <a:blip r:embed="rId6"/>
          <a:stretch>
            <a:fillRect/>
          </a:stretch>
        </p:blipFill>
        <p:spPr>
          <a:xfrm>
            <a:off x="10217686" y="1307592"/>
            <a:ext cx="836676" cy="1115568"/>
          </a:xfrm>
          <a:prstGeom prst="rect">
            <a:avLst/>
          </a:prstGeom>
        </p:spPr>
      </p:pic>
      <p:sp>
        <p:nvSpPr>
          <p:cNvPr id="35" name="Oval 34"/>
          <p:cNvSpPr/>
          <p:nvPr/>
        </p:nvSpPr>
        <p:spPr>
          <a:xfrm>
            <a:off x="11268149" y="2478024"/>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46</a:t>
            </a:r>
          </a:p>
        </p:txBody>
      </p:sp>
      <p:sp>
        <p:nvSpPr>
          <p:cNvPr id="36" name="TextBox 35"/>
          <p:cNvSpPr txBox="1"/>
          <p:nvPr/>
        </p:nvSpPr>
        <p:spPr>
          <a:xfrm>
            <a:off x="9656428" y="2496312"/>
            <a:ext cx="1556857" cy="365760"/>
          </a:xfrm>
          <a:prstGeom prst="rect">
            <a:avLst/>
          </a:prstGeom>
          <a:noFill/>
        </p:spPr>
        <p:txBody>
          <a:bodyPr wrap="square" anchor="t" lIns="0" rIns="0" tIns="0" bIns="0">
            <a:spAutoFit/>
          </a:bodyPr>
          <a:lstStyle/>
          <a:p>
            <a:pPr algn="l"/>
            <a:r>
              <a:rPr sz="1150" b="1">
                <a:solidFill>
                  <a:srgbClr val="1F2937"/>
                </a:solidFill>
                <a:latin typeface="Calibri"/>
              </a:rPr>
              <a:t>Ratchet &amp; Clank</a:t>
            </a:r>
          </a:p>
        </p:txBody>
      </p:sp>
      <p:sp>
        <p:nvSpPr>
          <p:cNvPr id="37" name="TextBox 36"/>
          <p:cNvSpPr txBox="1"/>
          <p:nvPr/>
        </p:nvSpPr>
        <p:spPr>
          <a:xfrm>
            <a:off x="9656428" y="2935224"/>
            <a:ext cx="1959193" cy="237744"/>
          </a:xfrm>
          <a:prstGeom prst="rect">
            <a:avLst/>
          </a:prstGeom>
          <a:noFill/>
        </p:spPr>
        <p:txBody>
          <a:bodyPr wrap="square" anchor="t" lIns="0" rIns="0" tIns="0" bIns="0">
            <a:spAutoFit/>
          </a:bodyPr>
          <a:lstStyle/>
          <a:p>
            <a:pPr algn="l"/>
            <a:r>
              <a:rPr sz="1500" b="1">
                <a:solidFill>
                  <a:srgbClr val="0D9488"/>
                </a:solidFill>
                <a:latin typeface="Calibri"/>
              </a:rPr>
              <a:t>7,1</a:t>
            </a:r>
            <a:r>
              <a:rPr sz="900" b="0">
                <a:solidFill>
                  <a:srgbClr val="6B7280"/>
                </a:solidFill>
                <a:latin typeface="Calibri"/>
              </a:rPr>
              <a:t> M de unidades</a:t>
            </a:r>
          </a:p>
        </p:txBody>
      </p:sp>
      <p:sp>
        <p:nvSpPr>
          <p:cNvPr id="38" name="TextBox 37"/>
          <p:cNvSpPr txBox="1"/>
          <p:nvPr/>
        </p:nvSpPr>
        <p:spPr>
          <a:xfrm>
            <a:off x="9656428" y="3172968"/>
            <a:ext cx="1959193" cy="201168"/>
          </a:xfrm>
          <a:prstGeom prst="rect">
            <a:avLst/>
          </a:prstGeom>
          <a:noFill/>
        </p:spPr>
        <p:txBody>
          <a:bodyPr wrap="square" anchor="t" lIns="0" rIns="0" tIns="0" bIns="0">
            <a:spAutoFit/>
          </a:bodyPr>
          <a:lstStyle/>
          <a:p>
            <a:pPr algn="l"/>
            <a:r>
              <a:rPr sz="900" b="0">
                <a:solidFill>
                  <a:srgbClr val="6B7280"/>
                </a:solidFill>
                <a:latin typeface="Calibri"/>
              </a:rPr>
              <a:t>2016 · PS4 · Sony</a:t>
            </a:r>
          </a:p>
        </p:txBody>
      </p:sp>
      <p:sp>
        <p:nvSpPr>
          <p:cNvPr id="39" name="Rounded Rectangle 38"/>
          <p:cNvSpPr/>
          <p:nvPr/>
        </p:nvSpPr>
        <p:spPr>
          <a:xfrm>
            <a:off x="502920" y="3717036"/>
            <a:ext cx="2105497" cy="2318004"/>
          </a:xfrm>
          <a:prstGeom prst="roundRect">
            <a:avLst>
              <a:gd name="adj" fmla="val 6000"/>
            </a:avLst>
          </a:prstGeom>
          <a:solidFill>
            <a:srgbClr val="F3F4F6"/>
          </a:solidFill>
          <a:ln>
            <a:noFill/>
          </a:ln>
        </p:spPr>
        <p:txBody>
          <a:bodyPr rtlCol="0" anchor="ctr"/>
          <a:lstStyle/>
          <a:p>
            <a:pPr algn="ctr"/>
          </a:p>
        </p:txBody>
      </p:sp>
      <p:pic>
        <p:nvPicPr>
          <p:cNvPr id="40" name="Picture 39" descr="g47.png"/>
          <p:cNvPicPr>
            <a:picLocks noChangeAspect="1"/>
          </p:cNvPicPr>
          <p:nvPr/>
        </p:nvPicPr>
        <p:blipFill>
          <a:blip r:embed="rId7"/>
          <a:stretch>
            <a:fillRect/>
          </a:stretch>
        </p:blipFill>
        <p:spPr>
          <a:xfrm>
            <a:off x="1116962" y="3790188"/>
            <a:ext cx="877413" cy="1115568"/>
          </a:xfrm>
          <a:prstGeom prst="rect">
            <a:avLst/>
          </a:prstGeom>
        </p:spPr>
      </p:pic>
      <p:sp>
        <p:nvSpPr>
          <p:cNvPr id="41" name="Oval 40"/>
          <p:cNvSpPr/>
          <p:nvPr/>
        </p:nvSpPr>
        <p:spPr>
          <a:xfrm>
            <a:off x="2187793" y="4960620"/>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47</a:t>
            </a:r>
          </a:p>
        </p:txBody>
      </p:sp>
      <p:sp>
        <p:nvSpPr>
          <p:cNvPr id="42" name="TextBox 41"/>
          <p:cNvSpPr txBox="1"/>
          <p:nvPr/>
        </p:nvSpPr>
        <p:spPr>
          <a:xfrm>
            <a:off x="576072" y="4978908"/>
            <a:ext cx="1556857" cy="365760"/>
          </a:xfrm>
          <a:prstGeom prst="rect">
            <a:avLst/>
          </a:prstGeom>
          <a:noFill/>
        </p:spPr>
        <p:txBody>
          <a:bodyPr wrap="square" anchor="t" lIns="0" rIns="0" tIns="0" bIns="0">
            <a:spAutoFit/>
          </a:bodyPr>
          <a:lstStyle/>
          <a:p>
            <a:pPr algn="l"/>
            <a:r>
              <a:rPr sz="1150" b="1">
                <a:solidFill>
                  <a:srgbClr val="1F2937"/>
                </a:solidFill>
                <a:latin typeface="Calibri"/>
              </a:rPr>
              <a:t>Tomb Raider</a:t>
            </a:r>
          </a:p>
        </p:txBody>
      </p:sp>
      <p:sp>
        <p:nvSpPr>
          <p:cNvPr id="43" name="TextBox 42"/>
          <p:cNvSpPr txBox="1"/>
          <p:nvPr/>
        </p:nvSpPr>
        <p:spPr>
          <a:xfrm>
            <a:off x="576072" y="5417820"/>
            <a:ext cx="1959193" cy="237744"/>
          </a:xfrm>
          <a:prstGeom prst="rect">
            <a:avLst/>
          </a:prstGeom>
          <a:noFill/>
        </p:spPr>
        <p:txBody>
          <a:bodyPr wrap="square" anchor="t" lIns="0" rIns="0" tIns="0" bIns="0">
            <a:spAutoFit/>
          </a:bodyPr>
          <a:lstStyle/>
          <a:p>
            <a:pPr algn="l"/>
            <a:r>
              <a:rPr sz="1500" b="1">
                <a:solidFill>
                  <a:srgbClr val="0D9488"/>
                </a:solidFill>
                <a:latin typeface="Calibri"/>
              </a:rPr>
              <a:t>7,0</a:t>
            </a:r>
            <a:r>
              <a:rPr sz="900" b="0">
                <a:solidFill>
                  <a:srgbClr val="6B7280"/>
                </a:solidFill>
                <a:latin typeface="Calibri"/>
              </a:rPr>
              <a:t> M de unidades</a:t>
            </a:r>
          </a:p>
        </p:txBody>
      </p:sp>
      <p:sp>
        <p:nvSpPr>
          <p:cNvPr id="44" name="TextBox 43"/>
          <p:cNvSpPr txBox="1"/>
          <p:nvPr/>
        </p:nvSpPr>
        <p:spPr>
          <a:xfrm>
            <a:off x="576072" y="5655564"/>
            <a:ext cx="1959193" cy="201168"/>
          </a:xfrm>
          <a:prstGeom prst="rect">
            <a:avLst/>
          </a:prstGeom>
          <a:noFill/>
        </p:spPr>
        <p:txBody>
          <a:bodyPr wrap="square" anchor="t" lIns="0" rIns="0" tIns="0" bIns="0">
            <a:spAutoFit/>
          </a:bodyPr>
          <a:lstStyle/>
          <a:p>
            <a:pPr algn="l"/>
            <a:r>
              <a:rPr sz="900" b="0">
                <a:solidFill>
                  <a:srgbClr val="6B7280"/>
                </a:solidFill>
                <a:latin typeface="Calibri"/>
              </a:rPr>
              <a:t>1996 · Multiplataforma · Eidos</a:t>
            </a:r>
          </a:p>
        </p:txBody>
      </p:sp>
      <p:sp>
        <p:nvSpPr>
          <p:cNvPr id="45" name="Rounded Rectangle 44"/>
          <p:cNvSpPr/>
          <p:nvPr/>
        </p:nvSpPr>
        <p:spPr>
          <a:xfrm>
            <a:off x="2773009" y="3717036"/>
            <a:ext cx="2105497" cy="2318004"/>
          </a:xfrm>
          <a:prstGeom prst="roundRect">
            <a:avLst>
              <a:gd name="adj" fmla="val 6000"/>
            </a:avLst>
          </a:prstGeom>
          <a:solidFill>
            <a:srgbClr val="F3F4F6"/>
          </a:solidFill>
          <a:ln>
            <a:noFill/>
          </a:ln>
        </p:spPr>
        <p:txBody>
          <a:bodyPr rtlCol="0" anchor="ctr"/>
          <a:lstStyle/>
          <a:p>
            <a:pPr algn="ctr"/>
          </a:p>
        </p:txBody>
      </p:sp>
      <p:pic>
        <p:nvPicPr>
          <p:cNvPr id="46" name="Picture 45" descr="g48.png"/>
          <p:cNvPicPr>
            <a:picLocks noChangeAspect="1"/>
          </p:cNvPicPr>
          <p:nvPr/>
        </p:nvPicPr>
        <p:blipFill>
          <a:blip r:embed="rId8"/>
          <a:stretch>
            <a:fillRect/>
          </a:stretch>
        </p:blipFill>
        <p:spPr>
          <a:xfrm>
            <a:off x="3376034" y="3790188"/>
            <a:ext cx="899446" cy="1115568"/>
          </a:xfrm>
          <a:prstGeom prst="rect">
            <a:avLst/>
          </a:prstGeom>
        </p:spPr>
      </p:pic>
      <p:sp>
        <p:nvSpPr>
          <p:cNvPr id="47" name="Oval 46"/>
          <p:cNvSpPr/>
          <p:nvPr/>
        </p:nvSpPr>
        <p:spPr>
          <a:xfrm>
            <a:off x="4457882" y="4960620"/>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48</a:t>
            </a:r>
          </a:p>
        </p:txBody>
      </p:sp>
      <p:sp>
        <p:nvSpPr>
          <p:cNvPr id="48" name="TextBox 47"/>
          <p:cNvSpPr txBox="1"/>
          <p:nvPr/>
        </p:nvSpPr>
        <p:spPr>
          <a:xfrm>
            <a:off x="2846161" y="4978908"/>
            <a:ext cx="1556857" cy="365760"/>
          </a:xfrm>
          <a:prstGeom prst="rect">
            <a:avLst/>
          </a:prstGeom>
          <a:noFill/>
        </p:spPr>
        <p:txBody>
          <a:bodyPr wrap="square" anchor="t" lIns="0" rIns="0" tIns="0" bIns="0">
            <a:spAutoFit/>
          </a:bodyPr>
          <a:lstStyle/>
          <a:p>
            <a:pPr algn="l"/>
            <a:r>
              <a:rPr sz="1150" b="1">
                <a:solidFill>
                  <a:srgbClr val="1F2937"/>
                </a:solidFill>
                <a:latin typeface="Calibri"/>
              </a:rPr>
              <a:t>Tomb Raider II</a:t>
            </a:r>
          </a:p>
        </p:txBody>
      </p:sp>
      <p:sp>
        <p:nvSpPr>
          <p:cNvPr id="49" name="TextBox 48"/>
          <p:cNvSpPr txBox="1"/>
          <p:nvPr/>
        </p:nvSpPr>
        <p:spPr>
          <a:xfrm>
            <a:off x="2846161" y="5417820"/>
            <a:ext cx="1959193" cy="237744"/>
          </a:xfrm>
          <a:prstGeom prst="rect">
            <a:avLst/>
          </a:prstGeom>
          <a:noFill/>
        </p:spPr>
        <p:txBody>
          <a:bodyPr wrap="square" anchor="t" lIns="0" rIns="0" tIns="0" bIns="0">
            <a:spAutoFit/>
          </a:bodyPr>
          <a:lstStyle/>
          <a:p>
            <a:pPr algn="l"/>
            <a:r>
              <a:rPr sz="1500" b="1">
                <a:solidFill>
                  <a:srgbClr val="0D9488"/>
                </a:solidFill>
                <a:latin typeface="Calibri"/>
              </a:rPr>
              <a:t>7,0</a:t>
            </a:r>
            <a:r>
              <a:rPr sz="900" b="0">
                <a:solidFill>
                  <a:srgbClr val="6B7280"/>
                </a:solidFill>
                <a:latin typeface="Calibri"/>
              </a:rPr>
              <a:t> M de unidades</a:t>
            </a:r>
          </a:p>
        </p:txBody>
      </p:sp>
      <p:sp>
        <p:nvSpPr>
          <p:cNvPr id="50" name="TextBox 49"/>
          <p:cNvSpPr txBox="1"/>
          <p:nvPr/>
        </p:nvSpPr>
        <p:spPr>
          <a:xfrm>
            <a:off x="2846161" y="5655564"/>
            <a:ext cx="1959193" cy="201168"/>
          </a:xfrm>
          <a:prstGeom prst="rect">
            <a:avLst/>
          </a:prstGeom>
          <a:noFill/>
        </p:spPr>
        <p:txBody>
          <a:bodyPr wrap="square" anchor="t" lIns="0" rIns="0" tIns="0" bIns="0">
            <a:spAutoFit/>
          </a:bodyPr>
          <a:lstStyle/>
          <a:p>
            <a:pPr algn="l"/>
            <a:r>
              <a:rPr sz="900" b="0">
                <a:solidFill>
                  <a:srgbClr val="6B7280"/>
                </a:solidFill>
                <a:latin typeface="Calibri"/>
              </a:rPr>
              <a:t>1997 · Multiplataforma · Eidos</a:t>
            </a:r>
          </a:p>
        </p:txBody>
      </p:sp>
      <p:sp>
        <p:nvSpPr>
          <p:cNvPr id="51" name="Rounded Rectangle 50"/>
          <p:cNvSpPr/>
          <p:nvPr/>
        </p:nvSpPr>
        <p:spPr>
          <a:xfrm>
            <a:off x="5043098" y="3717036"/>
            <a:ext cx="2105497" cy="2318004"/>
          </a:xfrm>
          <a:prstGeom prst="roundRect">
            <a:avLst>
              <a:gd name="adj" fmla="val 6000"/>
            </a:avLst>
          </a:prstGeom>
          <a:solidFill>
            <a:srgbClr val="F3F4F6"/>
          </a:solidFill>
          <a:ln>
            <a:noFill/>
          </a:ln>
        </p:spPr>
        <p:txBody>
          <a:bodyPr rtlCol="0" anchor="ctr"/>
          <a:lstStyle/>
          <a:p>
            <a:pPr algn="ctr"/>
          </a:p>
        </p:txBody>
      </p:sp>
      <p:pic>
        <p:nvPicPr>
          <p:cNvPr id="52" name="Picture 51" descr="g49.jpg"/>
          <p:cNvPicPr>
            <a:picLocks noChangeAspect="1"/>
          </p:cNvPicPr>
          <p:nvPr/>
        </p:nvPicPr>
        <p:blipFill>
          <a:blip r:embed="rId9"/>
          <a:stretch>
            <a:fillRect/>
          </a:stretch>
        </p:blipFill>
        <p:spPr>
          <a:xfrm>
            <a:off x="5294165" y="3790188"/>
            <a:ext cx="1603363" cy="1115568"/>
          </a:xfrm>
          <a:prstGeom prst="rect">
            <a:avLst/>
          </a:prstGeom>
        </p:spPr>
      </p:pic>
      <p:sp>
        <p:nvSpPr>
          <p:cNvPr id="53" name="Oval 52"/>
          <p:cNvSpPr/>
          <p:nvPr/>
        </p:nvSpPr>
        <p:spPr>
          <a:xfrm>
            <a:off x="6727971" y="4960620"/>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49</a:t>
            </a:r>
          </a:p>
        </p:txBody>
      </p:sp>
      <p:sp>
        <p:nvSpPr>
          <p:cNvPr id="54" name="TextBox 53"/>
          <p:cNvSpPr txBox="1"/>
          <p:nvPr/>
        </p:nvSpPr>
        <p:spPr>
          <a:xfrm>
            <a:off x="5116250" y="4978908"/>
            <a:ext cx="1556857" cy="365760"/>
          </a:xfrm>
          <a:prstGeom prst="rect">
            <a:avLst/>
          </a:prstGeom>
          <a:noFill/>
        </p:spPr>
        <p:txBody>
          <a:bodyPr wrap="square" anchor="t" lIns="0" rIns="0" tIns="0" bIns="0">
            <a:spAutoFit/>
          </a:bodyPr>
          <a:lstStyle/>
          <a:p>
            <a:pPr algn="l"/>
            <a:r>
              <a:rPr sz="1150" b="1">
                <a:solidFill>
                  <a:srgbClr val="1F2937"/>
                </a:solidFill>
                <a:latin typeface="Calibri"/>
              </a:rPr>
              <a:t>Yoshi's Island</a:t>
            </a:r>
          </a:p>
        </p:txBody>
      </p:sp>
      <p:sp>
        <p:nvSpPr>
          <p:cNvPr id="55" name="TextBox 54"/>
          <p:cNvSpPr txBox="1"/>
          <p:nvPr/>
        </p:nvSpPr>
        <p:spPr>
          <a:xfrm>
            <a:off x="5116250" y="5417820"/>
            <a:ext cx="1959193" cy="237744"/>
          </a:xfrm>
          <a:prstGeom prst="rect">
            <a:avLst/>
          </a:prstGeom>
          <a:noFill/>
        </p:spPr>
        <p:txBody>
          <a:bodyPr wrap="square" anchor="t" lIns="0" rIns="0" tIns="0" bIns="0">
            <a:spAutoFit/>
          </a:bodyPr>
          <a:lstStyle/>
          <a:p>
            <a:pPr algn="l"/>
            <a:r>
              <a:rPr sz="1500" b="1">
                <a:solidFill>
                  <a:srgbClr val="0D9488"/>
                </a:solidFill>
                <a:latin typeface="Calibri"/>
              </a:rPr>
              <a:t>7,0</a:t>
            </a:r>
            <a:r>
              <a:rPr sz="900" b="0">
                <a:solidFill>
                  <a:srgbClr val="6B7280"/>
                </a:solidFill>
                <a:latin typeface="Calibri"/>
              </a:rPr>
              <a:t> M de unidades</a:t>
            </a:r>
          </a:p>
        </p:txBody>
      </p:sp>
      <p:sp>
        <p:nvSpPr>
          <p:cNvPr id="56" name="TextBox 55"/>
          <p:cNvSpPr txBox="1"/>
          <p:nvPr/>
        </p:nvSpPr>
        <p:spPr>
          <a:xfrm>
            <a:off x="5116250" y="5655564"/>
            <a:ext cx="1959193" cy="201168"/>
          </a:xfrm>
          <a:prstGeom prst="rect">
            <a:avLst/>
          </a:prstGeom>
          <a:noFill/>
        </p:spPr>
        <p:txBody>
          <a:bodyPr wrap="square" anchor="t" lIns="0" rIns="0" tIns="0" bIns="0">
            <a:spAutoFit/>
          </a:bodyPr>
          <a:lstStyle/>
          <a:p>
            <a:pPr algn="l"/>
            <a:r>
              <a:rPr sz="900" b="0">
                <a:solidFill>
                  <a:srgbClr val="6B7280"/>
                </a:solidFill>
                <a:latin typeface="Calibri"/>
              </a:rPr>
              <a:t>1995 · SNES, GBA · Nintendo</a:t>
            </a:r>
          </a:p>
        </p:txBody>
      </p:sp>
      <p:sp>
        <p:nvSpPr>
          <p:cNvPr id="57" name="Rounded Rectangle 56"/>
          <p:cNvSpPr/>
          <p:nvPr/>
        </p:nvSpPr>
        <p:spPr>
          <a:xfrm>
            <a:off x="7313187" y="3717036"/>
            <a:ext cx="2105497" cy="2318004"/>
          </a:xfrm>
          <a:prstGeom prst="roundRect">
            <a:avLst>
              <a:gd name="adj" fmla="val 6000"/>
            </a:avLst>
          </a:prstGeom>
          <a:solidFill>
            <a:srgbClr val="F3F4F6"/>
          </a:solidFill>
          <a:ln>
            <a:noFill/>
          </a:ln>
        </p:spPr>
        <p:txBody>
          <a:bodyPr rtlCol="0" anchor="ctr"/>
          <a:lstStyle/>
          <a:p>
            <a:pPr algn="ctr"/>
          </a:p>
        </p:txBody>
      </p:sp>
      <p:pic>
        <p:nvPicPr>
          <p:cNvPr id="58" name="Picture 57" descr="g50.jpg"/>
          <p:cNvPicPr>
            <a:picLocks noChangeAspect="1"/>
          </p:cNvPicPr>
          <p:nvPr/>
        </p:nvPicPr>
        <p:blipFill>
          <a:blip r:embed="rId10"/>
          <a:stretch>
            <a:fillRect/>
          </a:stretch>
        </p:blipFill>
        <p:spPr>
          <a:xfrm>
            <a:off x="7970904" y="3790188"/>
            <a:ext cx="790062" cy="1115568"/>
          </a:xfrm>
          <a:prstGeom prst="rect">
            <a:avLst/>
          </a:prstGeom>
        </p:spPr>
      </p:pic>
      <p:sp>
        <p:nvSpPr>
          <p:cNvPr id="59" name="Oval 58"/>
          <p:cNvSpPr/>
          <p:nvPr/>
        </p:nvSpPr>
        <p:spPr>
          <a:xfrm>
            <a:off x="8998060" y="4960620"/>
            <a:ext cx="347472" cy="347472"/>
          </a:xfrm>
          <a:prstGeom prst="ellipse">
            <a:avLst/>
          </a:prstGeom>
          <a:solidFill>
            <a:srgbClr val="1F2A44"/>
          </a:solidFill>
          <a:ln>
            <a:noFill/>
          </a:ln>
        </p:spPr>
        <p:txBody>
          <a:bodyPr rtlCol="0" anchor="ctr" lIns="0" rIns="0" tIns="0" bIns="0"/>
          <a:lstStyle/>
          <a:p>
            <a:pPr algn="ctr"/>
            <a:r>
              <a:rPr sz="1100" b="1">
                <a:solidFill>
                  <a:srgbClr val="FFFFFF"/>
                </a:solidFill>
                <a:latin typeface="Calibri"/>
              </a:rPr>
              <a:t>50</a:t>
            </a:r>
          </a:p>
        </p:txBody>
      </p:sp>
      <p:sp>
        <p:nvSpPr>
          <p:cNvPr id="60" name="TextBox 59"/>
          <p:cNvSpPr txBox="1"/>
          <p:nvPr/>
        </p:nvSpPr>
        <p:spPr>
          <a:xfrm>
            <a:off x="7386339" y="4978908"/>
            <a:ext cx="1556857" cy="365760"/>
          </a:xfrm>
          <a:prstGeom prst="rect">
            <a:avLst/>
          </a:prstGeom>
          <a:noFill/>
        </p:spPr>
        <p:txBody>
          <a:bodyPr wrap="square" anchor="t" lIns="0" rIns="0" tIns="0" bIns="0">
            <a:spAutoFit/>
          </a:bodyPr>
          <a:lstStyle/>
          <a:p>
            <a:pPr algn="l"/>
            <a:r>
              <a:rPr sz="1150" b="1">
                <a:solidFill>
                  <a:srgbClr val="1F2937"/>
                </a:solidFill>
                <a:latin typeface="Calibri"/>
              </a:rPr>
              <a:t>Donkey Kong Country: Tropical Freeze</a:t>
            </a:r>
          </a:p>
        </p:txBody>
      </p:sp>
      <p:sp>
        <p:nvSpPr>
          <p:cNvPr id="61" name="TextBox 60"/>
          <p:cNvSpPr txBox="1"/>
          <p:nvPr/>
        </p:nvSpPr>
        <p:spPr>
          <a:xfrm>
            <a:off x="7386339" y="5417820"/>
            <a:ext cx="1959193" cy="237744"/>
          </a:xfrm>
          <a:prstGeom prst="rect">
            <a:avLst/>
          </a:prstGeom>
          <a:noFill/>
        </p:spPr>
        <p:txBody>
          <a:bodyPr wrap="square" anchor="t" lIns="0" rIns="0" tIns="0" bIns="0">
            <a:spAutoFit/>
          </a:bodyPr>
          <a:lstStyle/>
          <a:p>
            <a:pPr algn="l"/>
            <a:r>
              <a:rPr sz="1500" b="1">
                <a:solidFill>
                  <a:srgbClr val="0D9488"/>
                </a:solidFill>
                <a:latin typeface="Calibri"/>
              </a:rPr>
              <a:t>6,6</a:t>
            </a:r>
            <a:r>
              <a:rPr sz="900" b="0">
                <a:solidFill>
                  <a:srgbClr val="6B7280"/>
                </a:solidFill>
                <a:latin typeface="Calibri"/>
              </a:rPr>
              <a:t> M de unidades</a:t>
            </a:r>
          </a:p>
        </p:txBody>
      </p:sp>
      <p:sp>
        <p:nvSpPr>
          <p:cNvPr id="62" name="TextBox 61"/>
          <p:cNvSpPr txBox="1"/>
          <p:nvPr/>
        </p:nvSpPr>
        <p:spPr>
          <a:xfrm>
            <a:off x="7386339" y="5655564"/>
            <a:ext cx="1959193" cy="201168"/>
          </a:xfrm>
          <a:prstGeom prst="rect">
            <a:avLst/>
          </a:prstGeom>
          <a:noFill/>
        </p:spPr>
        <p:txBody>
          <a:bodyPr wrap="square" anchor="t" lIns="0" rIns="0" tIns="0" bIns="0">
            <a:spAutoFit/>
          </a:bodyPr>
          <a:lstStyle/>
          <a:p>
            <a:pPr algn="l"/>
            <a:r>
              <a:rPr sz="900" b="0">
                <a:solidFill>
                  <a:srgbClr val="6B7280"/>
                </a:solidFill>
                <a:latin typeface="Calibri"/>
              </a:rPr>
              <a:t>2014 · Wii U, Switch · Nintendo</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74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 PLATAFORMEROS · ESTADÍSTICA</a:t>
            </a:r>
          </a:p>
          <a:p>
            <a:r>
              <a:rPr sz="2600" b="1" i="0">
                <a:solidFill>
                  <a:srgbClr val="FFFFFF"/>
                </a:solidFill>
                <a:latin typeface="Calibri"/>
              </a:rPr>
              <a:t>Comparativa: franquicias y juegos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Anexo · Los plataformeros más vendidos</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74/74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VGSales Wiki, «Best-selling platformers» (ventas estimadas, consulta 19/10/2026); imágenes: Wikipedia, uso educativo</a:t>
            </a:r>
          </a:p>
        </p:txBody>
      </p:sp>
      <p:sp>
        <p:nvSpPr>
          <p:cNvPr id="9" name="TextBox 8"/>
          <p:cNvSpPr txBox="1"/>
          <p:nvPr/>
        </p:nvSpPr>
        <p:spPr>
          <a:xfrm>
            <a:off x="502920" y="1188720"/>
            <a:ext cx="5410047" cy="292608"/>
          </a:xfrm>
          <a:prstGeom prst="rect">
            <a:avLst/>
          </a:prstGeom>
          <a:noFill/>
        </p:spPr>
        <p:txBody>
          <a:bodyPr wrap="square" anchor="t" lIns="0" rIns="0" tIns="0" bIns="0">
            <a:spAutoFit/>
          </a:bodyPr>
          <a:lstStyle/>
          <a:p>
            <a:pPr algn="l"/>
            <a:r>
              <a:rPr sz="1500" b="1">
                <a:solidFill>
                  <a:srgbClr val="1F2A44"/>
                </a:solidFill>
                <a:latin typeface="Calibri"/>
              </a:rPr>
              <a:t>1 · Franquicias (top 24) por propietario</a:t>
            </a:r>
          </a:p>
        </p:txBody>
      </p:sp>
      <p:graphicFrame>
        <p:nvGraphicFramePr>
          <p:cNvPr id="10" name="Table 9"/>
          <p:cNvGraphicFramePr>
            <a:graphicFrameLocks noGrp="1"/>
          </p:cNvGraphicFramePr>
          <p:nvPr/>
        </p:nvGraphicFramePr>
        <p:xfrm>
          <a:off x="502920" y="1554480"/>
          <a:ext cx="5410043" cy="3209544"/>
        </p:xfrm>
        <a:graphic>
          <a:graphicData uri="http://schemas.openxmlformats.org/drawingml/2006/table">
            <a:tbl>
              <a:tblPr firstRow="1" bandRow="1">
                <a:tableStyleId>{5C22544A-7EE6-4342-B048-85BDC9FD1C3A}</a:tableStyleId>
              </a:tblPr>
              <a:tblGrid>
                <a:gridCol w="1839415"/>
                <a:gridCol w="649205"/>
                <a:gridCol w="1027908"/>
                <a:gridCol w="1027908"/>
                <a:gridCol w="865607"/>
              </a:tblGrid>
              <a:tr h="356616">
                <a:tc>
                  <a:txBody>
                    <a:bodyPr/>
                    <a:lstStyle/>
                    <a:p>
                      <a:pPr algn="l"/>
                      <a:r>
                        <a:rPr sz="1200" b="1">
                          <a:solidFill>
                            <a:srgbClr val="FFFFFF"/>
                          </a:solidFill>
                          <a:latin typeface="Calibri"/>
                        </a:rPr>
                        <a:t>Propietario</a:t>
                      </a:r>
                    </a:p>
                  </a:txBody>
                  <a:tcPr marL="73152" marR="73152" marT="27432" marB="27432" anchor="ctr">
                    <a:solidFill>
                      <a:srgbClr val="0D9488"/>
                    </a:solidFill>
                  </a:tcPr>
                </a:tc>
                <a:tc>
                  <a:txBody>
                    <a:bodyPr/>
                    <a:lstStyle/>
                    <a:p>
                      <a:pPr algn="r"/>
                      <a:r>
                        <a:rPr sz="1200" b="1">
                          <a:solidFill>
                            <a:srgbClr val="FFFFFF"/>
                          </a:solidFill>
                          <a:latin typeface="Calibri"/>
                        </a:rPr>
                        <a:t>Cant.</a:t>
                      </a:r>
                    </a:p>
                  </a:txBody>
                  <a:tcPr marL="73152" marR="73152" marT="27432" marB="27432" anchor="ctr">
                    <a:solidFill>
                      <a:srgbClr val="0D9488"/>
                    </a:solidFill>
                  </a:tcPr>
                </a:tc>
                <a:tc>
                  <a:txBody>
                    <a:bodyPr/>
                    <a:lstStyle/>
                    <a:p>
                      <a:pPr algn="r"/>
                      <a:r>
                        <a:rPr sz="1200" b="1">
                          <a:solidFill>
                            <a:srgbClr val="FFFFFF"/>
                          </a:solidFill>
                          <a:latin typeface="Calibri"/>
                        </a:rPr>
                        <a:t>Ventas (M)</a:t>
                      </a:r>
                    </a:p>
                  </a:txBody>
                  <a:tcPr marL="73152" marR="73152" marT="27432" marB="27432" anchor="ctr">
                    <a:solidFill>
                      <a:srgbClr val="0D9488"/>
                    </a:solidFill>
                  </a:tcPr>
                </a:tc>
                <a:tc>
                  <a:txBody>
                    <a:bodyPr/>
                    <a:lstStyle/>
                    <a:p>
                      <a:pPr algn="r"/>
                      <a:r>
                        <a:rPr sz="1200" b="1">
                          <a:solidFill>
                            <a:srgbClr val="FFFFFF"/>
                          </a:solidFill>
                          <a:latin typeface="Calibri"/>
                        </a:rPr>
                        <a:t>% del total</a:t>
                      </a:r>
                    </a:p>
                  </a:txBody>
                  <a:tcPr marL="73152" marR="73152" marT="27432" marB="27432" anchor="ctr">
                    <a:solidFill>
                      <a:srgbClr val="0D9488"/>
                    </a:solidFill>
                  </a:tcPr>
                </a:tc>
                <a:tc>
                  <a:txBody>
                    <a:bodyPr/>
                    <a:lstStyle/>
                    <a:p>
                      <a:pPr algn="r"/>
                      <a:r>
                        <a:rPr sz="1200" b="1">
                          <a:solidFill>
                            <a:srgbClr val="FFFFFF"/>
                          </a:solidFill>
                          <a:latin typeface="Calibri"/>
                        </a:rPr>
                        <a:t>Prom. (M)</a:t>
                      </a:r>
                    </a:p>
                  </a:txBody>
                  <a:tcPr marL="73152" marR="73152" marT="27432" marB="27432" anchor="ctr">
                    <a:solidFill>
                      <a:srgbClr val="0D9488"/>
                    </a:solidFill>
                  </a:tcPr>
                </a:tc>
              </a:tr>
              <a:tr h="356616">
                <a:tc>
                  <a:txBody>
                    <a:bodyPr/>
                    <a:lstStyle/>
                    <a:p>
                      <a:pPr algn="l"/>
                      <a:r>
                        <a:rPr sz="1200" b="0">
                          <a:solidFill>
                            <a:srgbClr val="1F2937"/>
                          </a:solidFill>
                          <a:latin typeface="Calibri"/>
                        </a:rPr>
                        <a:t>Nintendo</a:t>
                      </a:r>
                    </a:p>
                  </a:txBody>
                  <a:tcPr marL="73152" marR="73152" marT="27432" marB="27432" anchor="ctr">
                    <a:solidFill>
                      <a:srgbClr val="FFFFFF"/>
                    </a:solidFill>
                  </a:tcPr>
                </a:tc>
                <a:tc>
                  <a:txBody>
                    <a:bodyPr/>
                    <a:lstStyle/>
                    <a:p>
                      <a:pPr algn="r"/>
                      <a:r>
                        <a:rPr sz="1200" b="0">
                          <a:solidFill>
                            <a:srgbClr val="1F2937"/>
                          </a:solidFill>
                          <a:latin typeface="Calibri"/>
                        </a:rPr>
                        <a:t>6</a:t>
                      </a:r>
                    </a:p>
                  </a:txBody>
                  <a:tcPr marL="73152" marR="73152" marT="27432" marB="27432" anchor="ctr">
                    <a:solidFill>
                      <a:srgbClr val="FFFFFF"/>
                    </a:solidFill>
                  </a:tcPr>
                </a:tc>
                <a:tc>
                  <a:txBody>
                    <a:bodyPr/>
                    <a:lstStyle/>
                    <a:p>
                      <a:pPr algn="r"/>
                      <a:r>
                        <a:rPr sz="1200" b="0">
                          <a:solidFill>
                            <a:srgbClr val="1F2937"/>
                          </a:solidFill>
                          <a:latin typeface="Calibri"/>
                        </a:rPr>
                        <a:t>723,0</a:t>
                      </a:r>
                    </a:p>
                  </a:txBody>
                  <a:tcPr marL="73152" marR="73152" marT="27432" marB="27432" anchor="ctr">
                    <a:solidFill>
                      <a:srgbClr val="FFFFFF"/>
                    </a:solidFill>
                  </a:tcPr>
                </a:tc>
                <a:tc>
                  <a:txBody>
                    <a:bodyPr/>
                    <a:lstStyle/>
                    <a:p>
                      <a:pPr algn="r"/>
                      <a:r>
                        <a:rPr sz="1200" b="0">
                          <a:solidFill>
                            <a:srgbClr val="1F2937"/>
                          </a:solidFill>
                          <a:latin typeface="Calibri"/>
                        </a:rPr>
                        <a:t>55,2 %</a:t>
                      </a:r>
                    </a:p>
                  </a:txBody>
                  <a:tcPr marL="73152" marR="73152" marT="27432" marB="27432" anchor="ctr">
                    <a:solidFill>
                      <a:srgbClr val="FFFFFF"/>
                    </a:solidFill>
                  </a:tcPr>
                </a:tc>
                <a:tc>
                  <a:txBody>
                    <a:bodyPr/>
                    <a:lstStyle/>
                    <a:p>
                      <a:pPr algn="r"/>
                      <a:r>
                        <a:rPr sz="1200" b="0">
                          <a:solidFill>
                            <a:srgbClr val="1F2937"/>
                          </a:solidFill>
                          <a:latin typeface="Calibri"/>
                        </a:rPr>
                        <a:t>120,5</a:t>
                      </a:r>
                    </a:p>
                  </a:txBody>
                  <a:tcPr marL="73152" marR="73152" marT="27432" marB="27432" anchor="ctr">
                    <a:solidFill>
                      <a:srgbClr val="FFFFFF"/>
                    </a:solidFill>
                  </a:tcPr>
                </a:tc>
              </a:tr>
              <a:tr h="356616">
                <a:tc>
                  <a:txBody>
                    <a:bodyPr/>
                    <a:lstStyle/>
                    <a:p>
                      <a:pPr algn="l"/>
                      <a:r>
                        <a:rPr sz="1200" b="0">
                          <a:solidFill>
                            <a:srgbClr val="1F2937"/>
                          </a:solidFill>
                          <a:latin typeface="Calibri"/>
                        </a:rPr>
                        <a:t>Sega</a:t>
                      </a:r>
                    </a:p>
                  </a:txBody>
                  <a:tcPr marL="73152" marR="73152" marT="27432" marB="27432" anchor="ctr">
                    <a:solidFill>
                      <a:srgbClr val="E6F4F2"/>
                    </a:solidFill>
                  </a:tcPr>
                </a:tc>
                <a:tc>
                  <a:txBody>
                    <a:bodyPr/>
                    <a:lstStyle/>
                    <a:p>
                      <a:pPr algn="r"/>
                      <a:r>
                        <a:rPr sz="1200" b="0">
                          <a:solidFill>
                            <a:srgbClr val="1F2937"/>
                          </a:solidFill>
                          <a:latin typeface="Calibri"/>
                        </a:rPr>
                        <a:t>1</a:t>
                      </a:r>
                    </a:p>
                  </a:txBody>
                  <a:tcPr marL="73152" marR="73152" marT="27432" marB="27432" anchor="ctr">
                    <a:solidFill>
                      <a:srgbClr val="E6F4F2"/>
                    </a:solidFill>
                  </a:tcPr>
                </a:tc>
                <a:tc>
                  <a:txBody>
                    <a:bodyPr/>
                    <a:lstStyle/>
                    <a:p>
                      <a:pPr algn="r"/>
                      <a:r>
                        <a:rPr sz="1200" b="0">
                          <a:solidFill>
                            <a:srgbClr val="1F2937"/>
                          </a:solidFill>
                          <a:latin typeface="Calibri"/>
                        </a:rPr>
                        <a:t>195,8</a:t>
                      </a:r>
                    </a:p>
                  </a:txBody>
                  <a:tcPr marL="73152" marR="73152" marT="27432" marB="27432" anchor="ctr">
                    <a:solidFill>
                      <a:srgbClr val="E6F4F2"/>
                    </a:solidFill>
                  </a:tcPr>
                </a:tc>
                <a:tc>
                  <a:txBody>
                    <a:bodyPr/>
                    <a:lstStyle/>
                    <a:p>
                      <a:pPr algn="r"/>
                      <a:r>
                        <a:rPr sz="1200" b="0">
                          <a:solidFill>
                            <a:srgbClr val="1F2937"/>
                          </a:solidFill>
                          <a:latin typeface="Calibri"/>
                        </a:rPr>
                        <a:t>15,0 %</a:t>
                      </a:r>
                    </a:p>
                  </a:txBody>
                  <a:tcPr marL="73152" marR="73152" marT="27432" marB="27432" anchor="ctr">
                    <a:solidFill>
                      <a:srgbClr val="E6F4F2"/>
                    </a:solidFill>
                  </a:tcPr>
                </a:tc>
                <a:tc>
                  <a:txBody>
                    <a:bodyPr/>
                    <a:lstStyle/>
                    <a:p>
                      <a:pPr algn="r"/>
                      <a:r>
                        <a:rPr sz="1200" b="0">
                          <a:solidFill>
                            <a:srgbClr val="1F2937"/>
                          </a:solidFill>
                          <a:latin typeface="Calibri"/>
                        </a:rPr>
                        <a:t>195,8</a:t>
                      </a:r>
                    </a:p>
                  </a:txBody>
                  <a:tcPr marL="73152" marR="73152" marT="27432" marB="27432" anchor="ctr">
                    <a:solidFill>
                      <a:srgbClr val="E6F4F2"/>
                    </a:solidFill>
                  </a:tcPr>
                </a:tc>
              </a:tr>
              <a:tr h="356616">
                <a:tc>
                  <a:txBody>
                    <a:bodyPr/>
                    <a:lstStyle/>
                    <a:p>
                      <a:pPr algn="l"/>
                      <a:r>
                        <a:rPr sz="1200" b="0">
                          <a:solidFill>
                            <a:srgbClr val="1F2937"/>
                          </a:solidFill>
                          <a:latin typeface="Calibri"/>
                        </a:rPr>
                        <a:t>Activision</a:t>
                      </a:r>
                    </a:p>
                  </a:txBody>
                  <a:tcPr marL="73152" marR="73152" marT="27432" marB="27432" anchor="ctr">
                    <a:solidFill>
                      <a:srgbClr val="FFFFFF"/>
                    </a:solidFill>
                  </a:tcPr>
                </a:tc>
                <a:tc>
                  <a:txBody>
                    <a:bodyPr/>
                    <a:lstStyle/>
                    <a:p>
                      <a:pPr algn="r"/>
                      <a:r>
                        <a:rPr sz="1200" b="0">
                          <a:solidFill>
                            <a:srgbClr val="1F2937"/>
                          </a:solidFill>
                          <a:latin typeface="Calibri"/>
                        </a:rPr>
                        <a:t>3</a:t>
                      </a:r>
                    </a:p>
                  </a:txBody>
                  <a:tcPr marL="73152" marR="73152" marT="27432" marB="27432" anchor="ctr">
                    <a:solidFill>
                      <a:srgbClr val="FFFFFF"/>
                    </a:solidFill>
                  </a:tcPr>
                </a:tc>
                <a:tc>
                  <a:txBody>
                    <a:bodyPr/>
                    <a:lstStyle/>
                    <a:p>
                      <a:pPr algn="r"/>
                      <a:r>
                        <a:rPr sz="1200" b="0">
                          <a:solidFill>
                            <a:srgbClr val="1F2937"/>
                          </a:solidFill>
                          <a:latin typeface="Calibri"/>
                        </a:rPr>
                        <a:t>105,0</a:t>
                      </a:r>
                    </a:p>
                  </a:txBody>
                  <a:tcPr marL="73152" marR="73152" marT="27432" marB="27432" anchor="ctr">
                    <a:solidFill>
                      <a:srgbClr val="FFFFFF"/>
                    </a:solidFill>
                  </a:tcPr>
                </a:tc>
                <a:tc>
                  <a:txBody>
                    <a:bodyPr/>
                    <a:lstStyle/>
                    <a:p>
                      <a:pPr algn="r"/>
                      <a:r>
                        <a:rPr sz="1200" b="0">
                          <a:solidFill>
                            <a:srgbClr val="1F2937"/>
                          </a:solidFill>
                          <a:latin typeface="Calibri"/>
                        </a:rPr>
                        <a:t>8,0 %</a:t>
                      </a:r>
                    </a:p>
                  </a:txBody>
                  <a:tcPr marL="73152" marR="73152" marT="27432" marB="27432" anchor="ctr">
                    <a:solidFill>
                      <a:srgbClr val="FFFFFF"/>
                    </a:solidFill>
                  </a:tcPr>
                </a:tc>
                <a:tc>
                  <a:txBody>
                    <a:bodyPr/>
                    <a:lstStyle/>
                    <a:p>
                      <a:pPr algn="r"/>
                      <a:r>
                        <a:rPr sz="1200" b="0">
                          <a:solidFill>
                            <a:srgbClr val="1F2937"/>
                          </a:solidFill>
                          <a:latin typeface="Calibri"/>
                        </a:rPr>
                        <a:t>35,0</a:t>
                      </a:r>
                    </a:p>
                  </a:txBody>
                  <a:tcPr marL="73152" marR="73152" marT="27432" marB="27432" anchor="ctr">
                    <a:solidFill>
                      <a:srgbClr val="FFFFFF"/>
                    </a:solidFill>
                  </a:tcPr>
                </a:tc>
              </a:tr>
              <a:tr h="356616">
                <a:tc>
                  <a:txBody>
                    <a:bodyPr/>
                    <a:lstStyle/>
                    <a:p>
                      <a:pPr algn="l"/>
                      <a:r>
                        <a:rPr sz="1200" b="0">
                          <a:solidFill>
                            <a:srgbClr val="1F2937"/>
                          </a:solidFill>
                          <a:latin typeface="Calibri"/>
                        </a:rPr>
                        <a:t>Sony</a:t>
                      </a:r>
                    </a:p>
                  </a:txBody>
                  <a:tcPr marL="73152" marR="73152" marT="27432" marB="27432" anchor="ctr">
                    <a:solidFill>
                      <a:srgbClr val="E6F4F2"/>
                    </a:solidFill>
                  </a:tcPr>
                </a:tc>
                <a:tc>
                  <a:txBody>
                    <a:bodyPr/>
                    <a:lstStyle/>
                    <a:p>
                      <a:pPr algn="r"/>
                      <a:r>
                        <a:rPr sz="1200" b="0">
                          <a:solidFill>
                            <a:srgbClr val="1F2937"/>
                          </a:solidFill>
                          <a:latin typeface="Calibri"/>
                        </a:rPr>
                        <a:t>4</a:t>
                      </a:r>
                    </a:p>
                  </a:txBody>
                  <a:tcPr marL="73152" marR="73152" marT="27432" marB="27432" anchor="ctr">
                    <a:solidFill>
                      <a:srgbClr val="E6F4F2"/>
                    </a:solidFill>
                  </a:tcPr>
                </a:tc>
                <a:tc>
                  <a:txBody>
                    <a:bodyPr/>
                    <a:lstStyle/>
                    <a:p>
                      <a:pPr algn="r"/>
                      <a:r>
                        <a:rPr sz="1200" b="0">
                          <a:solidFill>
                            <a:srgbClr val="1F2937"/>
                          </a:solidFill>
                          <a:latin typeface="Calibri"/>
                        </a:rPr>
                        <a:t>72,6</a:t>
                      </a:r>
                    </a:p>
                  </a:txBody>
                  <a:tcPr marL="73152" marR="73152" marT="27432" marB="27432" anchor="ctr">
                    <a:solidFill>
                      <a:srgbClr val="E6F4F2"/>
                    </a:solidFill>
                  </a:tcPr>
                </a:tc>
                <a:tc>
                  <a:txBody>
                    <a:bodyPr/>
                    <a:lstStyle/>
                    <a:p>
                      <a:pPr algn="r"/>
                      <a:r>
                        <a:rPr sz="1200" b="0">
                          <a:solidFill>
                            <a:srgbClr val="1F2937"/>
                          </a:solidFill>
                          <a:latin typeface="Calibri"/>
                        </a:rPr>
                        <a:t>5,5 %</a:t>
                      </a:r>
                    </a:p>
                  </a:txBody>
                  <a:tcPr marL="73152" marR="73152" marT="27432" marB="27432" anchor="ctr">
                    <a:solidFill>
                      <a:srgbClr val="E6F4F2"/>
                    </a:solidFill>
                  </a:tcPr>
                </a:tc>
                <a:tc>
                  <a:txBody>
                    <a:bodyPr/>
                    <a:lstStyle/>
                    <a:p>
                      <a:pPr algn="r"/>
                      <a:r>
                        <a:rPr sz="1200" b="0">
                          <a:solidFill>
                            <a:srgbClr val="1F2937"/>
                          </a:solidFill>
                          <a:latin typeface="Calibri"/>
                        </a:rPr>
                        <a:t>18,1</a:t>
                      </a:r>
                    </a:p>
                  </a:txBody>
                  <a:tcPr marL="73152" marR="73152" marT="27432" marB="27432" anchor="ctr">
                    <a:solidFill>
                      <a:srgbClr val="E6F4F2"/>
                    </a:solidFill>
                  </a:tcPr>
                </a:tc>
              </a:tr>
              <a:tr h="356616">
                <a:tc>
                  <a:txBody>
                    <a:bodyPr/>
                    <a:lstStyle/>
                    <a:p>
                      <a:pPr algn="l"/>
                      <a:r>
                        <a:rPr sz="1200" b="0">
                          <a:solidFill>
                            <a:srgbClr val="1F2937"/>
                          </a:solidFill>
                          <a:latin typeface="Calibri"/>
                        </a:rPr>
                        <a:t>Ubisoft</a:t>
                      </a:r>
                    </a:p>
                  </a:txBody>
                  <a:tcPr marL="73152" marR="73152" marT="27432" marB="27432" anchor="ctr">
                    <a:solidFill>
                      <a:srgbClr val="FFFFFF"/>
                    </a:solidFill>
                  </a:tcPr>
                </a:tc>
                <a:tc>
                  <a:txBody>
                    <a:bodyPr/>
                    <a:lstStyle/>
                    <a:p>
                      <a:pPr algn="r"/>
                      <a:r>
                        <a:rPr sz="1200" b="0">
                          <a:solidFill>
                            <a:srgbClr val="1F2937"/>
                          </a:solidFill>
                          <a:latin typeface="Calibri"/>
                        </a:rPr>
                        <a:t>2</a:t>
                      </a:r>
                    </a:p>
                  </a:txBody>
                  <a:tcPr marL="73152" marR="73152" marT="27432" marB="27432" anchor="ctr">
                    <a:solidFill>
                      <a:srgbClr val="FFFFFF"/>
                    </a:solidFill>
                  </a:tcPr>
                </a:tc>
                <a:tc>
                  <a:txBody>
                    <a:bodyPr/>
                    <a:lstStyle/>
                    <a:p>
                      <a:pPr algn="r"/>
                      <a:r>
                        <a:rPr sz="1200" b="0">
                          <a:solidFill>
                            <a:srgbClr val="1F2937"/>
                          </a:solidFill>
                          <a:latin typeface="Calibri"/>
                        </a:rPr>
                        <a:t>51,0</a:t>
                      </a:r>
                    </a:p>
                  </a:txBody>
                  <a:tcPr marL="73152" marR="73152" marT="27432" marB="27432" anchor="ctr">
                    <a:solidFill>
                      <a:srgbClr val="FFFFFF"/>
                    </a:solidFill>
                  </a:tcPr>
                </a:tc>
                <a:tc>
                  <a:txBody>
                    <a:bodyPr/>
                    <a:lstStyle/>
                    <a:p>
                      <a:pPr algn="r"/>
                      <a:r>
                        <a:rPr sz="1200" b="0">
                          <a:solidFill>
                            <a:srgbClr val="1F2937"/>
                          </a:solidFill>
                          <a:latin typeface="Calibri"/>
                        </a:rPr>
                        <a:t>3,9 %</a:t>
                      </a:r>
                    </a:p>
                  </a:txBody>
                  <a:tcPr marL="73152" marR="73152" marT="27432" marB="27432" anchor="ctr">
                    <a:solidFill>
                      <a:srgbClr val="FFFFFF"/>
                    </a:solidFill>
                  </a:tcPr>
                </a:tc>
                <a:tc>
                  <a:txBody>
                    <a:bodyPr/>
                    <a:lstStyle/>
                    <a:p>
                      <a:pPr algn="r"/>
                      <a:r>
                        <a:rPr sz="1200" b="0">
                          <a:solidFill>
                            <a:srgbClr val="1F2937"/>
                          </a:solidFill>
                          <a:latin typeface="Calibri"/>
                        </a:rPr>
                        <a:t>25,5</a:t>
                      </a:r>
                    </a:p>
                  </a:txBody>
                  <a:tcPr marL="73152" marR="73152" marT="27432" marB="27432" anchor="ctr">
                    <a:solidFill>
                      <a:srgbClr val="FFFFFF"/>
                    </a:solidFill>
                  </a:tcPr>
                </a:tc>
              </a:tr>
              <a:tr h="356616">
                <a:tc>
                  <a:txBody>
                    <a:bodyPr/>
                    <a:lstStyle/>
                    <a:p>
                      <a:pPr algn="l"/>
                      <a:r>
                        <a:rPr sz="1200" b="0">
                          <a:solidFill>
                            <a:srgbClr val="1F2937"/>
                          </a:solidFill>
                          <a:latin typeface="Calibri"/>
                        </a:rPr>
                        <a:t>Capcom</a:t>
                      </a:r>
                    </a:p>
                  </a:txBody>
                  <a:tcPr marL="73152" marR="73152" marT="27432" marB="27432" anchor="ctr">
                    <a:solidFill>
                      <a:srgbClr val="E6F4F2"/>
                    </a:solidFill>
                  </a:tcPr>
                </a:tc>
                <a:tc>
                  <a:txBody>
                    <a:bodyPr/>
                    <a:lstStyle/>
                    <a:p>
                      <a:pPr algn="r"/>
                      <a:r>
                        <a:rPr sz="1200" b="0">
                          <a:solidFill>
                            <a:srgbClr val="1F2937"/>
                          </a:solidFill>
                          <a:latin typeface="Calibri"/>
                        </a:rPr>
                        <a:t>1</a:t>
                      </a:r>
                    </a:p>
                  </a:txBody>
                  <a:tcPr marL="73152" marR="73152" marT="27432" marB="27432" anchor="ctr">
                    <a:solidFill>
                      <a:srgbClr val="E6F4F2"/>
                    </a:solidFill>
                  </a:tcPr>
                </a:tc>
                <a:tc>
                  <a:txBody>
                    <a:bodyPr/>
                    <a:lstStyle/>
                    <a:p>
                      <a:pPr algn="r"/>
                      <a:r>
                        <a:rPr sz="1200" b="0">
                          <a:solidFill>
                            <a:srgbClr val="1F2937"/>
                          </a:solidFill>
                          <a:latin typeface="Calibri"/>
                        </a:rPr>
                        <a:t>43,0</a:t>
                      </a:r>
                    </a:p>
                  </a:txBody>
                  <a:tcPr marL="73152" marR="73152" marT="27432" marB="27432" anchor="ctr">
                    <a:solidFill>
                      <a:srgbClr val="E6F4F2"/>
                    </a:solidFill>
                  </a:tcPr>
                </a:tc>
                <a:tc>
                  <a:txBody>
                    <a:bodyPr/>
                    <a:lstStyle/>
                    <a:p>
                      <a:pPr algn="r"/>
                      <a:r>
                        <a:rPr sz="1200" b="0">
                          <a:solidFill>
                            <a:srgbClr val="1F2937"/>
                          </a:solidFill>
                          <a:latin typeface="Calibri"/>
                        </a:rPr>
                        <a:t>3,3 %</a:t>
                      </a:r>
                    </a:p>
                  </a:txBody>
                  <a:tcPr marL="73152" marR="73152" marT="27432" marB="27432" anchor="ctr">
                    <a:solidFill>
                      <a:srgbClr val="E6F4F2"/>
                    </a:solidFill>
                  </a:tcPr>
                </a:tc>
                <a:tc>
                  <a:txBody>
                    <a:bodyPr/>
                    <a:lstStyle/>
                    <a:p>
                      <a:pPr algn="r"/>
                      <a:r>
                        <a:rPr sz="1200" b="0">
                          <a:solidFill>
                            <a:srgbClr val="1F2937"/>
                          </a:solidFill>
                          <a:latin typeface="Calibri"/>
                        </a:rPr>
                        <a:t>43,0</a:t>
                      </a:r>
                    </a:p>
                  </a:txBody>
                  <a:tcPr marL="73152" marR="73152" marT="27432" marB="27432" anchor="ctr">
                    <a:solidFill>
                      <a:srgbClr val="E6F4F2"/>
                    </a:solidFill>
                  </a:tcPr>
                </a:tc>
              </a:tr>
              <a:tr h="356616">
                <a:tc>
                  <a:txBody>
                    <a:bodyPr/>
                    <a:lstStyle/>
                    <a:p>
                      <a:pPr algn="l"/>
                      <a:r>
                        <a:rPr sz="1200" b="0">
                          <a:solidFill>
                            <a:srgbClr val="1F2937"/>
                          </a:solidFill>
                          <a:latin typeface="Calibri"/>
                        </a:rPr>
                        <a:t>Otros (7)</a:t>
                      </a:r>
                    </a:p>
                  </a:txBody>
                  <a:tcPr marL="73152" marR="73152" marT="27432" marB="27432" anchor="ctr">
                    <a:solidFill>
                      <a:srgbClr val="FFFFFF"/>
                    </a:solidFill>
                  </a:tcPr>
                </a:tc>
                <a:tc>
                  <a:txBody>
                    <a:bodyPr/>
                    <a:lstStyle/>
                    <a:p>
                      <a:pPr algn="r"/>
                      <a:r>
                        <a:rPr sz="1200" b="0">
                          <a:solidFill>
                            <a:srgbClr val="1F2937"/>
                          </a:solidFill>
                          <a:latin typeface="Calibri"/>
                        </a:rPr>
                        <a:t>7</a:t>
                      </a:r>
                    </a:p>
                  </a:txBody>
                  <a:tcPr marL="73152" marR="73152" marT="27432" marB="27432" anchor="ctr">
                    <a:solidFill>
                      <a:srgbClr val="FFFFFF"/>
                    </a:solidFill>
                  </a:tcPr>
                </a:tc>
                <a:tc>
                  <a:txBody>
                    <a:bodyPr/>
                    <a:lstStyle/>
                    <a:p>
                      <a:pPr algn="r"/>
                      <a:r>
                        <a:rPr sz="1200" b="0">
                          <a:solidFill>
                            <a:srgbClr val="1F2937"/>
                          </a:solidFill>
                          <a:latin typeface="Calibri"/>
                        </a:rPr>
                        <a:t>118,6</a:t>
                      </a:r>
                    </a:p>
                  </a:txBody>
                  <a:tcPr marL="73152" marR="73152" marT="27432" marB="27432" anchor="ctr">
                    <a:solidFill>
                      <a:srgbClr val="FFFFFF"/>
                    </a:solidFill>
                  </a:tcPr>
                </a:tc>
                <a:tc>
                  <a:txBody>
                    <a:bodyPr/>
                    <a:lstStyle/>
                    <a:p>
                      <a:pPr algn="r"/>
                      <a:r>
                        <a:rPr sz="1200" b="0">
                          <a:solidFill>
                            <a:srgbClr val="1F2937"/>
                          </a:solidFill>
                          <a:latin typeface="Calibri"/>
                        </a:rPr>
                        <a:t>9,1 %</a:t>
                      </a:r>
                    </a:p>
                  </a:txBody>
                  <a:tcPr marL="73152" marR="73152" marT="27432" marB="27432" anchor="ctr">
                    <a:solidFill>
                      <a:srgbClr val="FFFFFF"/>
                    </a:solidFill>
                  </a:tcPr>
                </a:tc>
                <a:tc>
                  <a:txBody>
                    <a:bodyPr/>
                    <a:lstStyle/>
                    <a:p>
                      <a:pPr algn="r"/>
                      <a:r>
                        <a:rPr sz="1200" b="0">
                          <a:solidFill>
                            <a:srgbClr val="1F2937"/>
                          </a:solidFill>
                          <a:latin typeface="Calibri"/>
                        </a:rPr>
                        <a:t>16,9</a:t>
                      </a:r>
                    </a:p>
                  </a:txBody>
                  <a:tcPr marL="73152" marR="73152" marT="27432" marB="27432" anchor="ctr">
                    <a:solidFill>
                      <a:srgbClr val="FFFFFF"/>
                    </a:solidFill>
                  </a:tcPr>
                </a:tc>
              </a:tr>
              <a:tr h="356616">
                <a:tc>
                  <a:txBody>
                    <a:bodyPr/>
                    <a:lstStyle/>
                    <a:p>
                      <a:pPr algn="l"/>
                      <a:r>
                        <a:rPr sz="1200" b="1">
                          <a:solidFill>
                            <a:srgbClr val="1F2937"/>
                          </a:solidFill>
                          <a:latin typeface="Calibri"/>
                        </a:rPr>
                        <a:t>Total</a:t>
                      </a:r>
                    </a:p>
                  </a:txBody>
                  <a:tcPr marL="73152" marR="73152" marT="27432" marB="27432" anchor="ctr">
                    <a:solidFill>
                      <a:srgbClr val="D1E7E4"/>
                    </a:solidFill>
                  </a:tcPr>
                </a:tc>
                <a:tc>
                  <a:txBody>
                    <a:bodyPr/>
                    <a:lstStyle/>
                    <a:p>
                      <a:pPr algn="r"/>
                      <a:r>
                        <a:rPr sz="1200" b="1">
                          <a:solidFill>
                            <a:srgbClr val="1F2937"/>
                          </a:solidFill>
                          <a:latin typeface="Calibri"/>
                        </a:rPr>
                        <a:t>24</a:t>
                      </a:r>
                    </a:p>
                  </a:txBody>
                  <a:tcPr marL="73152" marR="73152" marT="27432" marB="27432" anchor="ctr">
                    <a:solidFill>
                      <a:srgbClr val="D1E7E4"/>
                    </a:solidFill>
                  </a:tcPr>
                </a:tc>
                <a:tc>
                  <a:txBody>
                    <a:bodyPr/>
                    <a:lstStyle/>
                    <a:p>
                      <a:pPr algn="r"/>
                      <a:r>
                        <a:rPr sz="1200" b="1">
                          <a:solidFill>
                            <a:srgbClr val="1F2937"/>
                          </a:solidFill>
                          <a:latin typeface="Calibri"/>
                        </a:rPr>
                        <a:t>1.309,0</a:t>
                      </a:r>
                    </a:p>
                  </a:txBody>
                  <a:tcPr marL="73152" marR="73152" marT="27432" marB="27432" anchor="ctr">
                    <a:solidFill>
                      <a:srgbClr val="D1E7E4"/>
                    </a:solidFill>
                  </a:tcPr>
                </a:tc>
                <a:tc>
                  <a:txBody>
                    <a:bodyPr/>
                    <a:lstStyle/>
                    <a:p>
                      <a:pPr algn="r"/>
                      <a:r>
                        <a:rPr sz="1200" b="1">
                          <a:solidFill>
                            <a:srgbClr val="1F2937"/>
                          </a:solidFill>
                          <a:latin typeface="Calibri"/>
                        </a:rPr>
                        <a:t>100 %</a:t>
                      </a:r>
                    </a:p>
                  </a:txBody>
                  <a:tcPr marL="73152" marR="73152" marT="27432" marB="27432" anchor="ctr">
                    <a:solidFill>
                      <a:srgbClr val="D1E7E4"/>
                    </a:solidFill>
                  </a:tcPr>
                </a:tc>
                <a:tc>
                  <a:txBody>
                    <a:bodyPr/>
                    <a:lstStyle/>
                    <a:p>
                      <a:pPr algn="r"/>
                      <a:r>
                        <a:rPr sz="1200" b="1">
                          <a:solidFill>
                            <a:srgbClr val="1F2937"/>
                          </a:solidFill>
                          <a:latin typeface="Calibri"/>
                        </a:rPr>
                        <a:t>54,5</a:t>
                      </a:r>
                    </a:p>
                  </a:txBody>
                  <a:tcPr marL="73152" marR="73152" marT="27432" marB="27432" anchor="ctr">
                    <a:solidFill>
                      <a:srgbClr val="D1E7E4"/>
                    </a:solidFill>
                  </a:tcPr>
                </a:tc>
              </a:tr>
            </a:tbl>
          </a:graphicData>
        </a:graphic>
      </p:graphicFrame>
      <p:sp>
        <p:nvSpPr>
          <p:cNvPr id="11" name="TextBox 10"/>
          <p:cNvSpPr txBox="1"/>
          <p:nvPr/>
        </p:nvSpPr>
        <p:spPr>
          <a:xfrm>
            <a:off x="6278727" y="1188720"/>
            <a:ext cx="5410047" cy="292608"/>
          </a:xfrm>
          <a:prstGeom prst="rect">
            <a:avLst/>
          </a:prstGeom>
          <a:noFill/>
        </p:spPr>
        <p:txBody>
          <a:bodyPr wrap="square" anchor="t" lIns="0" rIns="0" tIns="0" bIns="0">
            <a:spAutoFit/>
          </a:bodyPr>
          <a:lstStyle/>
          <a:p>
            <a:pPr algn="l"/>
            <a:r>
              <a:rPr sz="1500" b="1">
                <a:solidFill>
                  <a:srgbClr val="1F2A44"/>
                </a:solidFill>
                <a:latin typeface="Calibri"/>
              </a:rPr>
              <a:t>2 · Juegos (top 49) por editor</a:t>
            </a:r>
          </a:p>
        </p:txBody>
      </p:sp>
      <p:graphicFrame>
        <p:nvGraphicFramePr>
          <p:cNvPr id="12" name="Table 11"/>
          <p:cNvGraphicFramePr>
            <a:graphicFrameLocks noGrp="1"/>
          </p:cNvGraphicFramePr>
          <p:nvPr/>
        </p:nvGraphicFramePr>
        <p:xfrm>
          <a:off x="6278727" y="1554480"/>
          <a:ext cx="5410043" cy="3209544"/>
        </p:xfrm>
        <a:graphic>
          <a:graphicData uri="http://schemas.openxmlformats.org/drawingml/2006/table">
            <a:tbl>
              <a:tblPr firstRow="1" bandRow="1">
                <a:tableStyleId>{5C22544A-7EE6-4342-B048-85BDC9FD1C3A}</a:tableStyleId>
              </a:tblPr>
              <a:tblGrid>
                <a:gridCol w="1839415"/>
                <a:gridCol w="649205"/>
                <a:gridCol w="1027908"/>
                <a:gridCol w="1027908"/>
                <a:gridCol w="865607"/>
              </a:tblGrid>
              <a:tr h="356616">
                <a:tc>
                  <a:txBody>
                    <a:bodyPr/>
                    <a:lstStyle/>
                    <a:p>
                      <a:pPr algn="l"/>
                      <a:r>
                        <a:rPr sz="1200" b="1">
                          <a:solidFill>
                            <a:srgbClr val="FFFFFF"/>
                          </a:solidFill>
                          <a:latin typeface="Calibri"/>
                        </a:rPr>
                        <a:t>Editor</a:t>
                      </a:r>
                    </a:p>
                  </a:txBody>
                  <a:tcPr marL="73152" marR="73152" marT="27432" marB="27432" anchor="ctr">
                    <a:solidFill>
                      <a:srgbClr val="0D9488"/>
                    </a:solidFill>
                  </a:tcPr>
                </a:tc>
                <a:tc>
                  <a:txBody>
                    <a:bodyPr/>
                    <a:lstStyle/>
                    <a:p>
                      <a:pPr algn="r"/>
                      <a:r>
                        <a:rPr sz="1200" b="1">
                          <a:solidFill>
                            <a:srgbClr val="FFFFFF"/>
                          </a:solidFill>
                          <a:latin typeface="Calibri"/>
                        </a:rPr>
                        <a:t>Cant.</a:t>
                      </a:r>
                    </a:p>
                  </a:txBody>
                  <a:tcPr marL="73152" marR="73152" marT="27432" marB="27432" anchor="ctr">
                    <a:solidFill>
                      <a:srgbClr val="0D9488"/>
                    </a:solidFill>
                  </a:tcPr>
                </a:tc>
                <a:tc>
                  <a:txBody>
                    <a:bodyPr/>
                    <a:lstStyle/>
                    <a:p>
                      <a:pPr algn="r"/>
                      <a:r>
                        <a:rPr sz="1200" b="1">
                          <a:solidFill>
                            <a:srgbClr val="FFFFFF"/>
                          </a:solidFill>
                          <a:latin typeface="Calibri"/>
                        </a:rPr>
                        <a:t>Ventas (M)</a:t>
                      </a:r>
                    </a:p>
                  </a:txBody>
                  <a:tcPr marL="73152" marR="73152" marT="27432" marB="27432" anchor="ctr">
                    <a:solidFill>
                      <a:srgbClr val="0D9488"/>
                    </a:solidFill>
                  </a:tcPr>
                </a:tc>
                <a:tc>
                  <a:txBody>
                    <a:bodyPr/>
                    <a:lstStyle/>
                    <a:p>
                      <a:pPr algn="r"/>
                      <a:r>
                        <a:rPr sz="1200" b="1">
                          <a:solidFill>
                            <a:srgbClr val="FFFFFF"/>
                          </a:solidFill>
                          <a:latin typeface="Calibri"/>
                        </a:rPr>
                        <a:t>% del total</a:t>
                      </a:r>
                    </a:p>
                  </a:txBody>
                  <a:tcPr marL="73152" marR="73152" marT="27432" marB="27432" anchor="ctr">
                    <a:solidFill>
                      <a:srgbClr val="0D9488"/>
                    </a:solidFill>
                  </a:tcPr>
                </a:tc>
                <a:tc>
                  <a:txBody>
                    <a:bodyPr/>
                    <a:lstStyle/>
                    <a:p>
                      <a:pPr algn="r"/>
                      <a:r>
                        <a:rPr sz="1200" b="1">
                          <a:solidFill>
                            <a:srgbClr val="FFFFFF"/>
                          </a:solidFill>
                          <a:latin typeface="Calibri"/>
                        </a:rPr>
                        <a:t>Prom. (M)</a:t>
                      </a:r>
                    </a:p>
                  </a:txBody>
                  <a:tcPr marL="73152" marR="73152" marT="27432" marB="27432" anchor="ctr">
                    <a:solidFill>
                      <a:srgbClr val="0D9488"/>
                    </a:solidFill>
                  </a:tcPr>
                </a:tc>
              </a:tr>
              <a:tr h="356616">
                <a:tc>
                  <a:txBody>
                    <a:bodyPr/>
                    <a:lstStyle/>
                    <a:p>
                      <a:pPr algn="l"/>
                      <a:r>
                        <a:rPr sz="1200" b="0">
                          <a:solidFill>
                            <a:srgbClr val="1F2937"/>
                          </a:solidFill>
                          <a:latin typeface="Calibri"/>
                        </a:rPr>
                        <a:t>Nintendo</a:t>
                      </a:r>
                    </a:p>
                  </a:txBody>
                  <a:tcPr marL="73152" marR="73152" marT="27432" marB="27432" anchor="ctr">
                    <a:solidFill>
                      <a:srgbClr val="FFFFFF"/>
                    </a:solidFill>
                  </a:tcPr>
                </a:tc>
                <a:tc>
                  <a:txBody>
                    <a:bodyPr/>
                    <a:lstStyle/>
                    <a:p>
                      <a:pPr algn="r"/>
                      <a:r>
                        <a:rPr sz="1200" b="0">
                          <a:solidFill>
                            <a:srgbClr val="1F2937"/>
                          </a:solidFill>
                          <a:latin typeface="Calibri"/>
                        </a:rPr>
                        <a:t>28</a:t>
                      </a:r>
                    </a:p>
                  </a:txBody>
                  <a:tcPr marL="73152" marR="73152" marT="27432" marB="27432" anchor="ctr">
                    <a:solidFill>
                      <a:srgbClr val="FFFFFF"/>
                    </a:solidFill>
                  </a:tcPr>
                </a:tc>
                <a:tc>
                  <a:txBody>
                    <a:bodyPr/>
                    <a:lstStyle/>
                    <a:p>
                      <a:pPr algn="r"/>
                      <a:r>
                        <a:rPr sz="1200" b="0">
                          <a:solidFill>
                            <a:srgbClr val="1F2937"/>
                          </a:solidFill>
                          <a:latin typeface="Calibri"/>
                        </a:rPr>
                        <a:t>568,1</a:t>
                      </a:r>
                    </a:p>
                  </a:txBody>
                  <a:tcPr marL="73152" marR="73152" marT="27432" marB="27432" anchor="ctr">
                    <a:solidFill>
                      <a:srgbClr val="FFFFFF"/>
                    </a:solidFill>
                  </a:tcPr>
                </a:tc>
                <a:tc>
                  <a:txBody>
                    <a:bodyPr/>
                    <a:lstStyle/>
                    <a:p>
                      <a:pPr algn="r"/>
                      <a:r>
                        <a:rPr sz="1200" b="0">
                          <a:solidFill>
                            <a:srgbClr val="1F2937"/>
                          </a:solidFill>
                          <a:latin typeface="Calibri"/>
                        </a:rPr>
                        <a:t>63,1 %</a:t>
                      </a:r>
                    </a:p>
                  </a:txBody>
                  <a:tcPr marL="73152" marR="73152" marT="27432" marB="27432" anchor="ctr">
                    <a:solidFill>
                      <a:srgbClr val="FFFFFF"/>
                    </a:solidFill>
                  </a:tcPr>
                </a:tc>
                <a:tc>
                  <a:txBody>
                    <a:bodyPr/>
                    <a:lstStyle/>
                    <a:p>
                      <a:pPr algn="r"/>
                      <a:r>
                        <a:rPr sz="1200" b="0">
                          <a:solidFill>
                            <a:srgbClr val="1F2937"/>
                          </a:solidFill>
                          <a:latin typeface="Calibri"/>
                        </a:rPr>
                        <a:t>20,3</a:t>
                      </a:r>
                    </a:p>
                  </a:txBody>
                  <a:tcPr marL="73152" marR="73152" marT="27432" marB="27432" anchor="ctr">
                    <a:solidFill>
                      <a:srgbClr val="FFFFFF"/>
                    </a:solidFill>
                  </a:tcPr>
                </a:tc>
              </a:tr>
              <a:tr h="356616">
                <a:tc>
                  <a:txBody>
                    <a:bodyPr/>
                    <a:lstStyle/>
                    <a:p>
                      <a:pPr algn="l"/>
                      <a:r>
                        <a:rPr sz="1200" b="0">
                          <a:solidFill>
                            <a:srgbClr val="1F2937"/>
                          </a:solidFill>
                          <a:latin typeface="Calibri"/>
                        </a:rPr>
                        <a:t>Sega</a:t>
                      </a:r>
                    </a:p>
                  </a:txBody>
                  <a:tcPr marL="73152" marR="73152" marT="27432" marB="27432" anchor="ctr">
                    <a:solidFill>
                      <a:srgbClr val="E6F4F2"/>
                    </a:solidFill>
                  </a:tcPr>
                </a:tc>
                <a:tc>
                  <a:txBody>
                    <a:bodyPr/>
                    <a:lstStyle/>
                    <a:p>
                      <a:pPr algn="r"/>
                      <a:r>
                        <a:rPr sz="1200" b="0">
                          <a:solidFill>
                            <a:srgbClr val="1F2937"/>
                          </a:solidFill>
                          <a:latin typeface="Calibri"/>
                        </a:rPr>
                        <a:t>9</a:t>
                      </a:r>
                    </a:p>
                  </a:txBody>
                  <a:tcPr marL="73152" marR="73152" marT="27432" marB="27432" anchor="ctr">
                    <a:solidFill>
                      <a:srgbClr val="E6F4F2"/>
                    </a:solidFill>
                  </a:tcPr>
                </a:tc>
                <a:tc>
                  <a:txBody>
                    <a:bodyPr/>
                    <a:lstStyle/>
                    <a:p>
                      <a:pPr algn="r"/>
                      <a:r>
                        <a:rPr sz="1200" b="0">
                          <a:solidFill>
                            <a:srgbClr val="1F2937"/>
                          </a:solidFill>
                          <a:latin typeface="Calibri"/>
                        </a:rPr>
                        <a:t>158,8</a:t>
                      </a:r>
                    </a:p>
                  </a:txBody>
                  <a:tcPr marL="73152" marR="73152" marT="27432" marB="27432" anchor="ctr">
                    <a:solidFill>
                      <a:srgbClr val="E6F4F2"/>
                    </a:solidFill>
                  </a:tcPr>
                </a:tc>
                <a:tc>
                  <a:txBody>
                    <a:bodyPr/>
                    <a:lstStyle/>
                    <a:p>
                      <a:pPr algn="r"/>
                      <a:r>
                        <a:rPr sz="1200" b="0">
                          <a:solidFill>
                            <a:srgbClr val="1F2937"/>
                          </a:solidFill>
                          <a:latin typeface="Calibri"/>
                        </a:rPr>
                        <a:t>17,6 %</a:t>
                      </a:r>
                    </a:p>
                  </a:txBody>
                  <a:tcPr marL="73152" marR="73152" marT="27432" marB="27432" anchor="ctr">
                    <a:solidFill>
                      <a:srgbClr val="E6F4F2"/>
                    </a:solidFill>
                  </a:tcPr>
                </a:tc>
                <a:tc>
                  <a:txBody>
                    <a:bodyPr/>
                    <a:lstStyle/>
                    <a:p>
                      <a:pPr algn="r"/>
                      <a:r>
                        <a:rPr sz="1200" b="0">
                          <a:solidFill>
                            <a:srgbClr val="1F2937"/>
                          </a:solidFill>
                          <a:latin typeface="Calibri"/>
                        </a:rPr>
                        <a:t>17,6</a:t>
                      </a:r>
                    </a:p>
                  </a:txBody>
                  <a:tcPr marL="73152" marR="73152" marT="27432" marB="27432" anchor="ctr">
                    <a:solidFill>
                      <a:srgbClr val="E6F4F2"/>
                    </a:solidFill>
                  </a:tcPr>
                </a:tc>
              </a:tr>
              <a:tr h="356616">
                <a:tc>
                  <a:txBody>
                    <a:bodyPr/>
                    <a:lstStyle/>
                    <a:p>
                      <a:pPr algn="l"/>
                      <a:r>
                        <a:rPr sz="1200" b="0">
                          <a:solidFill>
                            <a:srgbClr val="1F2937"/>
                          </a:solidFill>
                          <a:latin typeface="Calibri"/>
                        </a:rPr>
                        <a:t>No Brakes</a:t>
                      </a:r>
                    </a:p>
                  </a:txBody>
                  <a:tcPr marL="73152" marR="73152" marT="27432" marB="27432" anchor="ctr">
                    <a:solidFill>
                      <a:srgbClr val="FFFFFF"/>
                    </a:solidFill>
                  </a:tcPr>
                </a:tc>
                <a:tc>
                  <a:txBody>
                    <a:bodyPr/>
                    <a:lstStyle/>
                    <a:p>
                      <a:pPr algn="r"/>
                      <a:r>
                        <a:rPr sz="1200" b="0">
                          <a:solidFill>
                            <a:srgbClr val="1F2937"/>
                          </a:solidFill>
                          <a:latin typeface="Calibri"/>
                        </a:rPr>
                        <a:t>1</a:t>
                      </a:r>
                    </a:p>
                  </a:txBody>
                  <a:tcPr marL="73152" marR="73152" marT="27432" marB="27432" anchor="ctr">
                    <a:solidFill>
                      <a:srgbClr val="FFFFFF"/>
                    </a:solidFill>
                  </a:tcPr>
                </a:tc>
                <a:tc>
                  <a:txBody>
                    <a:bodyPr/>
                    <a:lstStyle/>
                    <a:p>
                      <a:pPr algn="r"/>
                      <a:r>
                        <a:rPr sz="1200" b="0">
                          <a:solidFill>
                            <a:srgbClr val="1F2937"/>
                          </a:solidFill>
                          <a:latin typeface="Calibri"/>
                        </a:rPr>
                        <a:t>55,0</a:t>
                      </a:r>
                    </a:p>
                  </a:txBody>
                  <a:tcPr marL="73152" marR="73152" marT="27432" marB="27432" anchor="ctr">
                    <a:solidFill>
                      <a:srgbClr val="FFFFFF"/>
                    </a:solidFill>
                  </a:tcPr>
                </a:tc>
                <a:tc>
                  <a:txBody>
                    <a:bodyPr/>
                    <a:lstStyle/>
                    <a:p>
                      <a:pPr algn="r"/>
                      <a:r>
                        <a:rPr sz="1200" b="0">
                          <a:solidFill>
                            <a:srgbClr val="1F2937"/>
                          </a:solidFill>
                          <a:latin typeface="Calibri"/>
                        </a:rPr>
                        <a:t>6,1 %</a:t>
                      </a:r>
                    </a:p>
                  </a:txBody>
                  <a:tcPr marL="73152" marR="73152" marT="27432" marB="27432" anchor="ctr">
                    <a:solidFill>
                      <a:srgbClr val="FFFFFF"/>
                    </a:solidFill>
                  </a:tcPr>
                </a:tc>
                <a:tc>
                  <a:txBody>
                    <a:bodyPr/>
                    <a:lstStyle/>
                    <a:p>
                      <a:pPr algn="r"/>
                      <a:r>
                        <a:rPr sz="1200" b="0">
                          <a:solidFill>
                            <a:srgbClr val="1F2937"/>
                          </a:solidFill>
                          <a:latin typeface="Calibri"/>
                        </a:rPr>
                        <a:t>55,0</a:t>
                      </a:r>
                    </a:p>
                  </a:txBody>
                  <a:tcPr marL="73152" marR="73152" marT="27432" marB="27432" anchor="ctr">
                    <a:solidFill>
                      <a:srgbClr val="FFFFFF"/>
                    </a:solidFill>
                  </a:tcPr>
                </a:tc>
              </a:tr>
              <a:tr h="356616">
                <a:tc>
                  <a:txBody>
                    <a:bodyPr/>
                    <a:lstStyle/>
                    <a:p>
                      <a:pPr algn="l"/>
                      <a:r>
                        <a:rPr sz="1200" b="0">
                          <a:solidFill>
                            <a:srgbClr val="1F2937"/>
                          </a:solidFill>
                          <a:latin typeface="Calibri"/>
                        </a:rPr>
                        <a:t>Activision</a:t>
                      </a:r>
                    </a:p>
                  </a:txBody>
                  <a:tcPr marL="73152" marR="73152" marT="27432" marB="27432" anchor="ctr">
                    <a:solidFill>
                      <a:srgbClr val="E6F4F2"/>
                    </a:solidFill>
                  </a:tcPr>
                </a:tc>
                <a:tc>
                  <a:txBody>
                    <a:bodyPr/>
                    <a:lstStyle/>
                    <a:p>
                      <a:pPr algn="r"/>
                      <a:r>
                        <a:rPr sz="1200" b="0">
                          <a:solidFill>
                            <a:srgbClr val="1F2937"/>
                          </a:solidFill>
                          <a:latin typeface="Calibri"/>
                        </a:rPr>
                        <a:t>2</a:t>
                      </a:r>
                    </a:p>
                  </a:txBody>
                  <a:tcPr marL="73152" marR="73152" marT="27432" marB="27432" anchor="ctr">
                    <a:solidFill>
                      <a:srgbClr val="E6F4F2"/>
                    </a:solidFill>
                  </a:tcPr>
                </a:tc>
                <a:tc>
                  <a:txBody>
                    <a:bodyPr/>
                    <a:lstStyle/>
                    <a:p>
                      <a:pPr algn="r"/>
                      <a:r>
                        <a:rPr sz="1200" b="0">
                          <a:solidFill>
                            <a:srgbClr val="1F2937"/>
                          </a:solidFill>
                          <a:latin typeface="Calibri"/>
                        </a:rPr>
                        <a:t>30,0</a:t>
                      </a:r>
                    </a:p>
                  </a:txBody>
                  <a:tcPr marL="73152" marR="73152" marT="27432" marB="27432" anchor="ctr">
                    <a:solidFill>
                      <a:srgbClr val="E6F4F2"/>
                    </a:solidFill>
                  </a:tcPr>
                </a:tc>
                <a:tc>
                  <a:txBody>
                    <a:bodyPr/>
                    <a:lstStyle/>
                    <a:p>
                      <a:pPr algn="r"/>
                      <a:r>
                        <a:rPr sz="1200" b="0">
                          <a:solidFill>
                            <a:srgbClr val="1F2937"/>
                          </a:solidFill>
                          <a:latin typeface="Calibri"/>
                        </a:rPr>
                        <a:t>3,3 %</a:t>
                      </a:r>
                    </a:p>
                  </a:txBody>
                  <a:tcPr marL="73152" marR="73152" marT="27432" marB="27432" anchor="ctr">
                    <a:solidFill>
                      <a:srgbClr val="E6F4F2"/>
                    </a:solidFill>
                  </a:tcPr>
                </a:tc>
                <a:tc>
                  <a:txBody>
                    <a:bodyPr/>
                    <a:lstStyle/>
                    <a:p>
                      <a:pPr algn="r"/>
                      <a:r>
                        <a:rPr sz="1200" b="0">
                          <a:solidFill>
                            <a:srgbClr val="1F2937"/>
                          </a:solidFill>
                          <a:latin typeface="Calibri"/>
                        </a:rPr>
                        <a:t>15,0</a:t>
                      </a:r>
                    </a:p>
                  </a:txBody>
                  <a:tcPr marL="73152" marR="73152" marT="27432" marB="27432" anchor="ctr">
                    <a:solidFill>
                      <a:srgbClr val="E6F4F2"/>
                    </a:solidFill>
                  </a:tcPr>
                </a:tc>
              </a:tr>
              <a:tr h="356616">
                <a:tc>
                  <a:txBody>
                    <a:bodyPr/>
                    <a:lstStyle/>
                    <a:p>
                      <a:pPr algn="l"/>
                      <a:r>
                        <a:rPr sz="1200" b="0">
                          <a:solidFill>
                            <a:srgbClr val="1F2937"/>
                          </a:solidFill>
                          <a:latin typeface="Calibri"/>
                        </a:rPr>
                        <a:t>Sony</a:t>
                      </a:r>
                    </a:p>
                  </a:txBody>
                  <a:tcPr marL="73152" marR="73152" marT="27432" marB="27432" anchor="ctr">
                    <a:solidFill>
                      <a:srgbClr val="FFFFFF"/>
                    </a:solidFill>
                  </a:tcPr>
                </a:tc>
                <a:tc>
                  <a:txBody>
                    <a:bodyPr/>
                    <a:lstStyle/>
                    <a:p>
                      <a:pPr algn="r"/>
                      <a:r>
                        <a:rPr sz="1200" b="0">
                          <a:solidFill>
                            <a:srgbClr val="1F2937"/>
                          </a:solidFill>
                          <a:latin typeface="Calibri"/>
                        </a:rPr>
                        <a:t>3</a:t>
                      </a:r>
                    </a:p>
                  </a:txBody>
                  <a:tcPr marL="73152" marR="73152" marT="27432" marB="27432" anchor="ctr">
                    <a:solidFill>
                      <a:srgbClr val="FFFFFF"/>
                    </a:solidFill>
                  </a:tcPr>
                </a:tc>
                <a:tc>
                  <a:txBody>
                    <a:bodyPr/>
                    <a:lstStyle/>
                    <a:p>
                      <a:pPr algn="r"/>
                      <a:r>
                        <a:rPr sz="1200" b="0">
                          <a:solidFill>
                            <a:srgbClr val="1F2937"/>
                          </a:solidFill>
                          <a:latin typeface="Calibri"/>
                        </a:rPr>
                        <a:t>21,8</a:t>
                      </a:r>
                    </a:p>
                  </a:txBody>
                  <a:tcPr marL="73152" marR="73152" marT="27432" marB="27432" anchor="ctr">
                    <a:solidFill>
                      <a:srgbClr val="FFFFFF"/>
                    </a:solidFill>
                  </a:tcPr>
                </a:tc>
                <a:tc>
                  <a:txBody>
                    <a:bodyPr/>
                    <a:lstStyle/>
                    <a:p>
                      <a:pPr algn="r"/>
                      <a:r>
                        <a:rPr sz="1200" b="0">
                          <a:solidFill>
                            <a:srgbClr val="1F2937"/>
                          </a:solidFill>
                          <a:latin typeface="Calibri"/>
                        </a:rPr>
                        <a:t>2,4 %</a:t>
                      </a:r>
                    </a:p>
                  </a:txBody>
                  <a:tcPr marL="73152" marR="73152" marT="27432" marB="27432" anchor="ctr">
                    <a:solidFill>
                      <a:srgbClr val="FFFFFF"/>
                    </a:solidFill>
                  </a:tcPr>
                </a:tc>
                <a:tc>
                  <a:txBody>
                    <a:bodyPr/>
                    <a:lstStyle/>
                    <a:p>
                      <a:pPr algn="r"/>
                      <a:r>
                        <a:rPr sz="1200" b="0">
                          <a:solidFill>
                            <a:srgbClr val="1F2937"/>
                          </a:solidFill>
                          <a:latin typeface="Calibri"/>
                        </a:rPr>
                        <a:t>7,3</a:t>
                      </a:r>
                    </a:p>
                  </a:txBody>
                  <a:tcPr marL="73152" marR="73152" marT="27432" marB="27432" anchor="ctr">
                    <a:solidFill>
                      <a:srgbClr val="FFFFFF"/>
                    </a:solidFill>
                  </a:tcPr>
                </a:tc>
              </a:tr>
              <a:tr h="356616">
                <a:tc>
                  <a:txBody>
                    <a:bodyPr/>
                    <a:lstStyle/>
                    <a:p>
                      <a:pPr algn="l"/>
                      <a:r>
                        <a:rPr sz="1200" b="0">
                          <a:solidFill>
                            <a:srgbClr val="1F2937"/>
                          </a:solidFill>
                          <a:latin typeface="Calibri"/>
                        </a:rPr>
                        <a:t>Eidos</a:t>
                      </a:r>
                    </a:p>
                  </a:txBody>
                  <a:tcPr marL="73152" marR="73152" marT="27432" marB="27432" anchor="ctr">
                    <a:solidFill>
                      <a:srgbClr val="E6F4F2"/>
                    </a:solidFill>
                  </a:tcPr>
                </a:tc>
                <a:tc>
                  <a:txBody>
                    <a:bodyPr/>
                    <a:lstStyle/>
                    <a:p>
                      <a:pPr algn="r"/>
                      <a:r>
                        <a:rPr sz="1200" b="0">
                          <a:solidFill>
                            <a:srgbClr val="1F2937"/>
                          </a:solidFill>
                          <a:latin typeface="Calibri"/>
                        </a:rPr>
                        <a:t>2</a:t>
                      </a:r>
                    </a:p>
                  </a:txBody>
                  <a:tcPr marL="73152" marR="73152" marT="27432" marB="27432" anchor="ctr">
                    <a:solidFill>
                      <a:srgbClr val="E6F4F2"/>
                    </a:solidFill>
                  </a:tcPr>
                </a:tc>
                <a:tc>
                  <a:txBody>
                    <a:bodyPr/>
                    <a:lstStyle/>
                    <a:p>
                      <a:pPr algn="r"/>
                      <a:r>
                        <a:rPr sz="1200" b="0">
                          <a:solidFill>
                            <a:srgbClr val="1F2937"/>
                          </a:solidFill>
                          <a:latin typeface="Calibri"/>
                        </a:rPr>
                        <a:t>14,0</a:t>
                      </a:r>
                    </a:p>
                  </a:txBody>
                  <a:tcPr marL="73152" marR="73152" marT="27432" marB="27432" anchor="ctr">
                    <a:solidFill>
                      <a:srgbClr val="E6F4F2"/>
                    </a:solidFill>
                  </a:tcPr>
                </a:tc>
                <a:tc>
                  <a:txBody>
                    <a:bodyPr/>
                    <a:lstStyle/>
                    <a:p>
                      <a:pPr algn="r"/>
                      <a:r>
                        <a:rPr sz="1200" b="0">
                          <a:solidFill>
                            <a:srgbClr val="1F2937"/>
                          </a:solidFill>
                          <a:latin typeface="Calibri"/>
                        </a:rPr>
                        <a:t>1,6 %</a:t>
                      </a:r>
                    </a:p>
                  </a:txBody>
                  <a:tcPr marL="73152" marR="73152" marT="27432" marB="27432" anchor="ctr">
                    <a:solidFill>
                      <a:srgbClr val="E6F4F2"/>
                    </a:solidFill>
                  </a:tcPr>
                </a:tc>
                <a:tc>
                  <a:txBody>
                    <a:bodyPr/>
                    <a:lstStyle/>
                    <a:p>
                      <a:pPr algn="r"/>
                      <a:r>
                        <a:rPr sz="1200" b="0">
                          <a:solidFill>
                            <a:srgbClr val="1F2937"/>
                          </a:solidFill>
                          <a:latin typeface="Calibri"/>
                        </a:rPr>
                        <a:t>7,0</a:t>
                      </a:r>
                    </a:p>
                  </a:txBody>
                  <a:tcPr marL="73152" marR="73152" marT="27432" marB="27432" anchor="ctr">
                    <a:solidFill>
                      <a:srgbClr val="E6F4F2"/>
                    </a:solidFill>
                  </a:tcPr>
                </a:tc>
              </a:tr>
              <a:tr h="356616">
                <a:tc>
                  <a:txBody>
                    <a:bodyPr/>
                    <a:lstStyle/>
                    <a:p>
                      <a:pPr algn="l"/>
                      <a:r>
                        <a:rPr sz="1200" b="0">
                          <a:solidFill>
                            <a:srgbClr val="1F2937"/>
                          </a:solidFill>
                          <a:latin typeface="Calibri"/>
                        </a:rPr>
                        <a:t>Otros (4)</a:t>
                      </a:r>
                    </a:p>
                  </a:txBody>
                  <a:tcPr marL="73152" marR="73152" marT="27432" marB="27432" anchor="ctr">
                    <a:solidFill>
                      <a:srgbClr val="FFFFFF"/>
                    </a:solidFill>
                  </a:tcPr>
                </a:tc>
                <a:tc>
                  <a:txBody>
                    <a:bodyPr/>
                    <a:lstStyle/>
                    <a:p>
                      <a:pPr algn="r"/>
                      <a:r>
                        <a:rPr sz="1200" b="0">
                          <a:solidFill>
                            <a:srgbClr val="1F2937"/>
                          </a:solidFill>
                          <a:latin typeface="Calibri"/>
                        </a:rPr>
                        <a:t>4</a:t>
                      </a:r>
                    </a:p>
                  </a:txBody>
                  <a:tcPr marL="73152" marR="73152" marT="27432" marB="27432" anchor="ctr">
                    <a:solidFill>
                      <a:srgbClr val="FFFFFF"/>
                    </a:solidFill>
                  </a:tcPr>
                </a:tc>
                <a:tc>
                  <a:txBody>
                    <a:bodyPr/>
                    <a:lstStyle/>
                    <a:p>
                      <a:pPr algn="r"/>
                      <a:r>
                        <a:rPr sz="1200" b="0">
                          <a:solidFill>
                            <a:srgbClr val="1F2937"/>
                          </a:solidFill>
                          <a:latin typeface="Calibri"/>
                        </a:rPr>
                        <a:t>52,9</a:t>
                      </a:r>
                    </a:p>
                  </a:txBody>
                  <a:tcPr marL="73152" marR="73152" marT="27432" marB="27432" anchor="ctr">
                    <a:solidFill>
                      <a:srgbClr val="FFFFFF"/>
                    </a:solidFill>
                  </a:tcPr>
                </a:tc>
                <a:tc>
                  <a:txBody>
                    <a:bodyPr/>
                    <a:lstStyle/>
                    <a:p>
                      <a:pPr algn="r"/>
                      <a:r>
                        <a:rPr sz="1200" b="0">
                          <a:solidFill>
                            <a:srgbClr val="1F2937"/>
                          </a:solidFill>
                          <a:latin typeface="Calibri"/>
                        </a:rPr>
                        <a:t>5,9 %</a:t>
                      </a:r>
                    </a:p>
                  </a:txBody>
                  <a:tcPr marL="73152" marR="73152" marT="27432" marB="27432" anchor="ctr">
                    <a:solidFill>
                      <a:srgbClr val="FFFFFF"/>
                    </a:solidFill>
                  </a:tcPr>
                </a:tc>
                <a:tc>
                  <a:txBody>
                    <a:bodyPr/>
                    <a:lstStyle/>
                    <a:p>
                      <a:pPr algn="r"/>
                      <a:r>
                        <a:rPr sz="1200" b="0">
                          <a:solidFill>
                            <a:srgbClr val="1F2937"/>
                          </a:solidFill>
                          <a:latin typeface="Calibri"/>
                        </a:rPr>
                        <a:t>13,2</a:t>
                      </a:r>
                    </a:p>
                  </a:txBody>
                  <a:tcPr marL="73152" marR="73152" marT="27432" marB="27432" anchor="ctr">
                    <a:solidFill>
                      <a:srgbClr val="FFFFFF"/>
                    </a:solidFill>
                  </a:tcPr>
                </a:tc>
              </a:tr>
              <a:tr h="356616">
                <a:tc>
                  <a:txBody>
                    <a:bodyPr/>
                    <a:lstStyle/>
                    <a:p>
                      <a:pPr algn="l"/>
                      <a:r>
                        <a:rPr sz="1200" b="1">
                          <a:solidFill>
                            <a:srgbClr val="1F2937"/>
                          </a:solidFill>
                          <a:latin typeface="Calibri"/>
                        </a:rPr>
                        <a:t>Total</a:t>
                      </a:r>
                    </a:p>
                  </a:txBody>
                  <a:tcPr marL="73152" marR="73152" marT="27432" marB="27432" anchor="ctr">
                    <a:solidFill>
                      <a:srgbClr val="D1E7E4"/>
                    </a:solidFill>
                  </a:tcPr>
                </a:tc>
                <a:tc>
                  <a:txBody>
                    <a:bodyPr/>
                    <a:lstStyle/>
                    <a:p>
                      <a:pPr algn="r"/>
                      <a:r>
                        <a:rPr sz="1200" b="1">
                          <a:solidFill>
                            <a:srgbClr val="1F2937"/>
                          </a:solidFill>
                          <a:latin typeface="Calibri"/>
                        </a:rPr>
                        <a:t>49</a:t>
                      </a:r>
                    </a:p>
                  </a:txBody>
                  <a:tcPr marL="73152" marR="73152" marT="27432" marB="27432" anchor="ctr">
                    <a:solidFill>
                      <a:srgbClr val="D1E7E4"/>
                    </a:solidFill>
                  </a:tcPr>
                </a:tc>
                <a:tc>
                  <a:txBody>
                    <a:bodyPr/>
                    <a:lstStyle/>
                    <a:p>
                      <a:pPr algn="r"/>
                      <a:r>
                        <a:rPr sz="1200" b="1">
                          <a:solidFill>
                            <a:srgbClr val="1F2937"/>
                          </a:solidFill>
                          <a:latin typeface="Calibri"/>
                        </a:rPr>
                        <a:t>900,6</a:t>
                      </a:r>
                    </a:p>
                  </a:txBody>
                  <a:tcPr marL="73152" marR="73152" marT="27432" marB="27432" anchor="ctr">
                    <a:solidFill>
                      <a:srgbClr val="D1E7E4"/>
                    </a:solidFill>
                  </a:tcPr>
                </a:tc>
                <a:tc>
                  <a:txBody>
                    <a:bodyPr/>
                    <a:lstStyle/>
                    <a:p>
                      <a:pPr algn="r"/>
                      <a:r>
                        <a:rPr sz="1200" b="1">
                          <a:solidFill>
                            <a:srgbClr val="1F2937"/>
                          </a:solidFill>
                          <a:latin typeface="Calibri"/>
                        </a:rPr>
                        <a:t>100 %</a:t>
                      </a:r>
                    </a:p>
                  </a:txBody>
                  <a:tcPr marL="73152" marR="73152" marT="27432" marB="27432" anchor="ctr">
                    <a:solidFill>
                      <a:srgbClr val="D1E7E4"/>
                    </a:solidFill>
                  </a:tcPr>
                </a:tc>
                <a:tc>
                  <a:txBody>
                    <a:bodyPr/>
                    <a:lstStyle/>
                    <a:p>
                      <a:pPr algn="r"/>
                      <a:r>
                        <a:rPr sz="1200" b="1">
                          <a:solidFill>
                            <a:srgbClr val="1F2937"/>
                          </a:solidFill>
                          <a:latin typeface="Calibri"/>
                        </a:rPr>
                        <a:t>18,4</a:t>
                      </a:r>
                    </a:p>
                  </a:txBody>
                  <a:tcPr marL="73152" marR="73152" marT="27432" marB="27432" anchor="ctr">
                    <a:solidFill>
                      <a:srgbClr val="D1E7E4"/>
                    </a:solidFill>
                  </a:tcPr>
                </a:tc>
              </a:tr>
            </a:tbl>
          </a:graphicData>
        </a:graphic>
      </p:graphicFrame>
      <p:sp>
        <p:nvSpPr>
          <p:cNvPr id="13" name="Rectangle 12"/>
          <p:cNvSpPr/>
          <p:nvPr/>
        </p:nvSpPr>
        <p:spPr>
          <a:xfrm>
            <a:off x="502920" y="4956048"/>
            <a:ext cx="109728" cy="457200"/>
          </a:xfrm>
          <a:prstGeom prst="rect">
            <a:avLst/>
          </a:prstGeom>
          <a:solidFill>
            <a:srgbClr val="D97706"/>
          </a:solidFill>
          <a:ln>
            <a:noFill/>
          </a:ln>
        </p:spPr>
        <p:txBody>
          <a:bodyPr rtlCol="0" anchor="ctr"/>
          <a:lstStyle/>
          <a:p>
            <a:pPr algn="ctr"/>
          </a:p>
        </p:txBody>
      </p:sp>
      <p:sp>
        <p:nvSpPr>
          <p:cNvPr id="14" name="Rectangle 13"/>
          <p:cNvSpPr/>
          <p:nvPr/>
        </p:nvSpPr>
        <p:spPr>
          <a:xfrm>
            <a:off x="612648" y="4956048"/>
            <a:ext cx="11076127" cy="457200"/>
          </a:xfrm>
          <a:prstGeom prst="rect">
            <a:avLst/>
          </a:prstGeom>
          <a:solidFill>
            <a:srgbClr val="F3F4F6"/>
          </a:solidFill>
          <a:ln>
            <a:noFill/>
          </a:ln>
        </p:spPr>
        <p:txBody>
          <a:bodyPr rtlCol="0" anchor="ctr" lIns="137160" wrap="square"/>
          <a:lstStyle/>
          <a:p>
            <a:pPr algn="l"/>
            <a:r>
              <a:rPr sz="1300" b="1">
                <a:solidFill>
                  <a:srgbClr val="D97706"/>
                </a:solidFill>
                <a:latin typeface="Calibri"/>
              </a:rPr>
              <a:t>PARA MÓVIL  </a:t>
            </a:r>
            <a:r>
              <a:rPr sz="1400" b="0">
                <a:solidFill>
                  <a:srgbClr val="1F2937"/>
                </a:solidFill>
                <a:latin typeface="Calibri"/>
              </a:rPr>
              <a:t>Solo 2 de los 49 juegos nacieron en móvil (Sonic Dash y Sonic Jump). ¿Qué los hace jugables con el pulgar?</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 CASO 2D PLATFORMER · PC Y ANDROID</a:t>
            </a:r>
          </a:p>
          <a:p>
            <a:r>
              <a:rPr sz="2600" b="1" i="0">
                <a:solidFill>
                  <a:srgbClr val="FFFFFF"/>
                </a:solidFill>
                <a:latin typeface="Calibri"/>
              </a:rPr>
              <a:t>Antes y después: controles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Anexo · Anexo: Android en Unity 6</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64/74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proyectos-unity/2D-Platformer-Unity-v2; laboratorio-adaptacion/PORTEO-PLATFORMER.md (evidencia del 19/10/2026)</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¿Qué cambió para quien juega en PC?</a:t>
            </a:r>
          </a:p>
        </p:txBody>
      </p:sp>
      <p:graphicFrame>
        <p:nvGraphicFramePr>
          <p:cNvPr id="11" name="Table 10"/>
          <p:cNvGraphicFramePr>
            <a:graphicFrameLocks noGrp="1"/>
          </p:cNvGraphicFramePr>
          <p:nvPr/>
        </p:nvGraphicFramePr>
        <p:xfrm>
          <a:off x="502920" y="1234440"/>
          <a:ext cx="11185852" cy="2834640"/>
        </p:xfrm>
        <a:graphic>
          <a:graphicData uri="http://schemas.openxmlformats.org/drawingml/2006/table">
            <a:tbl>
              <a:tblPr firstRow="1" bandRow="1">
                <a:tableStyleId>{5C22544A-7EE6-4342-B048-85BDC9FD1C3A}</a:tableStyleId>
              </a:tblPr>
              <a:tblGrid>
                <a:gridCol w="1618079"/>
                <a:gridCol w="2321592"/>
                <a:gridCol w="2180889"/>
                <a:gridCol w="1618079"/>
                <a:gridCol w="1969836"/>
                <a:gridCol w="1477377"/>
              </a:tblGrid>
              <a:tr h="566928">
                <a:tc>
                  <a:txBody>
                    <a:bodyPr wrap="square"/>
                    <a:lstStyle/>
                    <a:p>
                      <a:r>
                        <a:rPr sz="1400" b="1" i="0">
                          <a:solidFill>
                            <a:srgbClr val="FFFFFF"/>
                          </a:solidFill>
                          <a:latin typeface="Calibri"/>
                        </a:rPr>
                        <a:t>Versión</a:t>
                      </a:r>
                    </a:p>
                  </a:txBody>
                  <a:tcPr marL="73152" marR="73152" marT="36576" marB="36576" anchor="ctr">
                    <a:solidFill>
                      <a:srgbClr val="0D9488"/>
                    </a:solidFill>
                  </a:tcPr>
                </a:tc>
                <a:tc>
                  <a:txBody>
                    <a:bodyPr wrap="square"/>
                    <a:lstStyle/>
                    <a:p>
                      <a:r>
                        <a:rPr sz="1400" b="1" i="0">
                          <a:solidFill>
                            <a:srgbClr val="FFFFFF"/>
                          </a:solidFill>
                          <a:latin typeface="Calibri"/>
                        </a:rPr>
                        <a:t>Controles</a:t>
                      </a:r>
                    </a:p>
                  </a:txBody>
                  <a:tcPr marL="73152" marR="73152" marT="36576" marB="36576" anchor="ctr">
                    <a:solidFill>
                      <a:srgbClr val="0D9488"/>
                    </a:solidFill>
                  </a:tcPr>
                </a:tc>
                <a:tc>
                  <a:txBody>
                    <a:bodyPr wrap="square"/>
                    <a:lstStyle/>
                    <a:p>
                      <a:r>
                        <a:rPr sz="1400" b="1" i="0">
                          <a:solidFill>
                            <a:srgbClr val="FFFFFF"/>
                          </a:solidFill>
                          <a:latin typeface="Calibri"/>
                        </a:rPr>
                        <a:t>Mover</a:t>
                      </a:r>
                    </a:p>
                  </a:txBody>
                  <a:tcPr marL="73152" marR="73152" marT="36576" marB="36576" anchor="ctr">
                    <a:solidFill>
                      <a:srgbClr val="0D9488"/>
                    </a:solidFill>
                  </a:tcPr>
                </a:tc>
                <a:tc>
                  <a:txBody>
                    <a:bodyPr wrap="square"/>
                    <a:lstStyle/>
                    <a:p>
                      <a:r>
                        <a:rPr sz="1400" b="1" i="0">
                          <a:solidFill>
                            <a:srgbClr val="FFFFFF"/>
                          </a:solidFill>
                          <a:latin typeface="Calibri"/>
                        </a:rPr>
                        <a:t>Saltar</a:t>
                      </a:r>
                    </a:p>
                  </a:txBody>
                  <a:tcPr marL="73152" marR="73152" marT="36576" marB="36576" anchor="ctr">
                    <a:solidFill>
                      <a:srgbClr val="0D9488"/>
                    </a:solidFill>
                  </a:tcPr>
                </a:tc>
                <a:tc>
                  <a:txBody>
                    <a:bodyPr wrap="square"/>
                    <a:lstStyle/>
                    <a:p>
                      <a:r>
                        <a:rPr sz="1400" b="1" i="0">
                          <a:solidFill>
                            <a:srgbClr val="FFFFFF"/>
                          </a:solidFill>
                          <a:latin typeface="Calibri"/>
                        </a:rPr>
                        <a:t>En pantalla</a:t>
                      </a:r>
                    </a:p>
                  </a:txBody>
                  <a:tcPr marL="73152" marR="73152" marT="36576" marB="36576" anchor="ctr">
                    <a:solidFill>
                      <a:srgbClr val="0D9488"/>
                    </a:solidFill>
                  </a:tcPr>
                </a:tc>
                <a:tc>
                  <a:txBody>
                    <a:bodyPr wrap="square"/>
                    <a:lstStyle/>
                    <a:p>
                      <a:r>
                        <a:rPr sz="1400" b="1" i="0">
                          <a:solidFill>
                            <a:srgbClr val="FFFFFF"/>
                          </a:solidFill>
                          <a:latin typeface="Calibri"/>
                        </a:rPr>
                        <a:t>Orientación</a:t>
                      </a:r>
                    </a:p>
                  </a:txBody>
                  <a:tcPr marL="73152" marR="73152" marT="36576" marB="36576" anchor="ctr">
                    <a:solidFill>
                      <a:srgbClr val="0D9488"/>
                    </a:solidFill>
                  </a:tcPr>
                </a:tc>
              </a:tr>
              <a:tr h="566928">
                <a:tc>
                  <a:txBody>
                    <a:bodyPr wrap="square"/>
                    <a:lstStyle/>
                    <a:p>
                      <a:r>
                        <a:rPr sz="1400" b="0" i="0">
                          <a:solidFill>
                            <a:srgbClr val="1F2937"/>
                          </a:solidFill>
                          <a:latin typeface="Calibri"/>
                        </a:rPr>
                        <a:t>PC · antes</a:t>
                      </a:r>
                    </a:p>
                  </a:txBody>
                  <a:tcPr marL="73152" marR="73152" marT="36576" marB="36576" anchor="ctr">
                    <a:solidFill>
                      <a:srgbClr val="FFFFFF"/>
                    </a:solidFill>
                  </a:tcPr>
                </a:tc>
                <a:tc>
                  <a:txBody>
                    <a:bodyPr wrap="square"/>
                    <a:lstStyle/>
                    <a:p>
                      <a:r>
                        <a:rPr sz="1400" b="0" i="0">
                          <a:solidFill>
                            <a:srgbClr val="1F2937"/>
                          </a:solidFill>
                          <a:latin typeface="Calibri"/>
                        </a:rPr>
                        <a:t>Teclado y joystick (legacy)</a:t>
                      </a:r>
                    </a:p>
                  </a:txBody>
                  <a:tcPr marL="73152" marR="73152" marT="36576" marB="36576" anchor="ctr">
                    <a:solidFill>
                      <a:srgbClr val="FFFFFF"/>
                    </a:solidFill>
                  </a:tcPr>
                </a:tc>
                <a:tc>
                  <a:txBody>
                    <a:bodyPr wrap="square"/>
                    <a:lstStyle/>
                    <a:p>
                      <a:r>
                        <a:rPr sz="1400" b="0" i="0">
                          <a:solidFill>
                            <a:srgbClr val="1F2937"/>
                          </a:solidFill>
                          <a:latin typeface="Calibri"/>
                        </a:rPr>
                        <a:t>← → / A D, con suavizado</a:t>
                      </a:r>
                    </a:p>
                  </a:txBody>
                  <a:tcPr marL="73152" marR="73152" marT="36576" marB="36576" anchor="ctr">
                    <a:solidFill>
                      <a:srgbClr val="FFFFFF"/>
                    </a:solidFill>
                  </a:tcPr>
                </a:tc>
                <a:tc>
                  <a:txBody>
                    <a:bodyPr wrap="square"/>
                    <a:lstStyle/>
                    <a:p>
                      <a:r>
                        <a:rPr sz="1400" b="0" i="0">
                          <a:solidFill>
                            <a:srgbClr val="1F2937"/>
                          </a:solidFill>
                          <a:latin typeface="Calibri"/>
                        </a:rPr>
                        <a:t>Espacio</a:t>
                      </a:r>
                    </a:p>
                  </a:txBody>
                  <a:tcPr marL="73152" marR="73152" marT="36576" marB="36576" anchor="ctr">
                    <a:solidFill>
                      <a:srgbClr val="FFFFFF"/>
                    </a:solidFill>
                  </a:tcPr>
                </a:tc>
                <a:tc>
                  <a:txBody>
                    <a:bodyPr wrap="square"/>
                    <a:lstStyle/>
                    <a:p>
                      <a:r>
                        <a:rPr sz="1400" b="0" i="0">
                          <a:solidFill>
                            <a:srgbClr val="1F2937"/>
                          </a:solidFill>
                          <a:latin typeface="Calibri"/>
                        </a:rPr>
                        <a:t>Nada</a:t>
                      </a:r>
                    </a:p>
                  </a:txBody>
                  <a:tcPr marL="73152" marR="73152" marT="36576" marB="36576" anchor="ctr">
                    <a:solidFill>
                      <a:srgbClr val="FFFFFF"/>
                    </a:solidFill>
                  </a:tcPr>
                </a:tc>
                <a:tc>
                  <a:txBody>
                    <a:bodyPr wrap="square"/>
                    <a:lstStyle/>
                    <a:p>
                      <a:r>
                        <a:rPr sz="1400" b="0" i="0">
                          <a:solidFill>
                            <a:srgbClr val="1F2937"/>
                          </a:solidFill>
                          <a:latin typeface="Calibri"/>
                        </a:rPr>
                        <a:t>Ventana</a:t>
                      </a:r>
                    </a:p>
                  </a:txBody>
                  <a:tcPr marL="73152" marR="73152" marT="36576" marB="36576" anchor="ctr">
                    <a:solidFill>
                      <a:srgbClr val="FFFFFF"/>
                    </a:solidFill>
                  </a:tcPr>
                </a:tc>
              </a:tr>
              <a:tr h="566928">
                <a:tc>
                  <a:txBody>
                    <a:bodyPr wrap="square"/>
                    <a:lstStyle/>
                    <a:p>
                      <a:r>
                        <a:rPr sz="1400" b="0" i="0">
                          <a:solidFill>
                            <a:srgbClr val="1F2937"/>
                          </a:solidFill>
                          <a:latin typeface="Calibri"/>
                        </a:rPr>
                        <a:t>PC · después</a:t>
                      </a:r>
                    </a:p>
                  </a:txBody>
                  <a:tcPr marL="73152" marR="73152" marT="36576" marB="36576" anchor="ctr">
                    <a:solidFill>
                      <a:srgbClr val="E6F4F2"/>
                    </a:solidFill>
                  </a:tcPr>
                </a:tc>
                <a:tc>
                  <a:txBody>
                    <a:bodyPr wrap="square"/>
                    <a:lstStyle/>
                    <a:p>
                      <a:r>
                        <a:rPr sz="1400" b="0" i="0">
                          <a:solidFill>
                            <a:srgbClr val="1F2937"/>
                          </a:solidFill>
                          <a:latin typeface="Calibri"/>
                        </a:rPr>
                        <a:t>Teclado y gamepad</a:t>
                      </a:r>
                    </a:p>
                  </a:txBody>
                  <a:tcPr marL="73152" marR="73152" marT="36576" marB="36576" anchor="ctr">
                    <a:solidFill>
                      <a:srgbClr val="E6F4F2"/>
                    </a:solidFill>
                  </a:tcPr>
                </a:tc>
                <a:tc>
                  <a:txBody>
                    <a:bodyPr wrap="square"/>
                    <a:lstStyle/>
                    <a:p>
                      <a:r>
                        <a:rPr sz="1400" b="0" i="0">
                          <a:solidFill>
                            <a:srgbClr val="1F2937"/>
                          </a:solidFill>
                          <a:latin typeface="Calibri"/>
                        </a:rPr>
                        <a:t>← → / A D, stick, cruceta</a:t>
                      </a:r>
                    </a:p>
                  </a:txBody>
                  <a:tcPr marL="73152" marR="73152" marT="36576" marB="36576" anchor="ctr">
                    <a:solidFill>
                      <a:srgbClr val="E6F4F2"/>
                    </a:solidFill>
                  </a:tcPr>
                </a:tc>
                <a:tc>
                  <a:txBody>
                    <a:bodyPr wrap="square"/>
                    <a:lstStyle/>
                    <a:p>
                      <a:r>
                        <a:rPr sz="1400" b="0" i="0">
                          <a:solidFill>
                            <a:srgbClr val="1F2937"/>
                          </a:solidFill>
                          <a:latin typeface="Calibri"/>
                        </a:rPr>
                        <a:t>Espacio o botón A</a:t>
                      </a:r>
                    </a:p>
                  </a:txBody>
                  <a:tcPr marL="73152" marR="73152" marT="36576" marB="36576" anchor="ctr">
                    <a:solidFill>
                      <a:srgbClr val="E6F4F2"/>
                    </a:solidFill>
                  </a:tcPr>
                </a:tc>
                <a:tc>
                  <a:txBody>
                    <a:bodyPr wrap="square"/>
                    <a:lstStyle/>
                    <a:p>
                      <a:r>
                        <a:rPr sz="1400" b="0" i="0">
                          <a:solidFill>
                            <a:srgbClr val="1F2937"/>
                          </a:solidFill>
                          <a:latin typeface="Calibri"/>
                        </a:rPr>
                        <a:t>Nada (oculto)</a:t>
                      </a:r>
                    </a:p>
                  </a:txBody>
                  <a:tcPr marL="73152" marR="73152" marT="36576" marB="36576" anchor="ctr">
                    <a:solidFill>
                      <a:srgbClr val="E6F4F2"/>
                    </a:solidFill>
                  </a:tcPr>
                </a:tc>
                <a:tc>
                  <a:txBody>
                    <a:bodyPr wrap="square"/>
                    <a:lstStyle/>
                    <a:p>
                      <a:r>
                        <a:rPr sz="1400" b="0" i="0">
                          <a:solidFill>
                            <a:srgbClr val="1F2937"/>
                          </a:solidFill>
                          <a:latin typeface="Calibri"/>
                        </a:rPr>
                        <a:t>Ventana</a:t>
                      </a:r>
                    </a:p>
                  </a:txBody>
                  <a:tcPr marL="73152" marR="73152" marT="36576" marB="36576" anchor="ctr">
                    <a:solidFill>
                      <a:srgbClr val="E6F4F2"/>
                    </a:solidFill>
                  </a:tcPr>
                </a:tc>
              </a:tr>
              <a:tr h="566928">
                <a:tc>
                  <a:txBody>
                    <a:bodyPr wrap="square"/>
                    <a:lstStyle/>
                    <a:p>
                      <a:r>
                        <a:rPr sz="1400" b="0" i="0">
                          <a:solidFill>
                            <a:srgbClr val="1F2937"/>
                          </a:solidFill>
                          <a:latin typeface="Calibri"/>
                        </a:rPr>
                        <a:t>Android · antes</a:t>
                      </a:r>
                    </a:p>
                  </a:txBody>
                  <a:tcPr marL="73152" marR="73152" marT="36576" marB="36576" anchor="ctr">
                    <a:solidFill>
                      <a:srgbClr val="FFFFFF"/>
                    </a:solidFill>
                  </a:tcPr>
                </a:tc>
                <a:tc>
                  <a:txBody>
                    <a:bodyPr wrap="square"/>
                    <a:lstStyle/>
                    <a:p>
                      <a:r>
                        <a:rPr sz="1400" b="0" i="0">
                          <a:solidFill>
                            <a:srgbClr val="1F2937"/>
                          </a:solidFill>
                          <a:latin typeface="Calibri"/>
                        </a:rPr>
                        <a:t>Ninguno</a:t>
                      </a:r>
                    </a:p>
                  </a:txBody>
                  <a:tcPr marL="73152" marR="73152" marT="36576" marB="36576" anchor="ctr">
                    <a:solidFill>
                      <a:srgbClr val="FFFFFF"/>
                    </a:solidFill>
                  </a:tcPr>
                </a:tc>
                <a:tc>
                  <a:txBody>
                    <a:bodyPr wrap="square"/>
                    <a:lstStyle/>
                    <a:p>
                      <a:r>
                        <a:rPr sz="1400" b="0" i="0">
                          <a:solidFill>
                            <a:srgbClr val="1F2937"/>
                          </a:solidFill>
                          <a:latin typeface="Calibri"/>
                        </a:rPr>
                        <a:t>No se puede</a:t>
                      </a:r>
                    </a:p>
                  </a:txBody>
                  <a:tcPr marL="73152" marR="73152" marT="36576" marB="36576" anchor="ctr">
                    <a:solidFill>
                      <a:srgbClr val="FFFFFF"/>
                    </a:solidFill>
                  </a:tcPr>
                </a:tc>
                <a:tc>
                  <a:txBody>
                    <a:bodyPr wrap="square"/>
                    <a:lstStyle/>
                    <a:p>
                      <a:r>
                        <a:rPr sz="1400" b="0" i="0">
                          <a:solidFill>
                            <a:srgbClr val="1F2937"/>
                          </a:solidFill>
                          <a:latin typeface="Calibri"/>
                        </a:rPr>
                        <a:t>No se puede</a:t>
                      </a:r>
                    </a:p>
                  </a:txBody>
                  <a:tcPr marL="73152" marR="73152" marT="36576" marB="36576" anchor="ctr">
                    <a:solidFill>
                      <a:srgbClr val="FFFFFF"/>
                    </a:solidFill>
                  </a:tcPr>
                </a:tc>
                <a:tc>
                  <a:txBody>
                    <a:bodyPr wrap="square"/>
                    <a:lstStyle/>
                    <a:p>
                      <a:r>
                        <a:rPr sz="1400" b="0" i="0">
                          <a:solidFill>
                            <a:srgbClr val="1F2937"/>
                          </a:solidFill>
                          <a:latin typeface="Calibri"/>
                        </a:rPr>
                        <a:t>Contenedor vacío</a:t>
                      </a:r>
                    </a:p>
                  </a:txBody>
                  <a:tcPr marL="73152" marR="73152" marT="36576" marB="36576" anchor="ctr">
                    <a:solidFill>
                      <a:srgbClr val="FFFFFF"/>
                    </a:solidFill>
                  </a:tcPr>
                </a:tc>
                <a:tc>
                  <a:txBody>
                    <a:bodyPr wrap="square"/>
                    <a:lstStyle/>
                    <a:p>
                      <a:r>
                        <a:rPr sz="1400" b="0" i="0">
                          <a:solidFill>
                            <a:srgbClr val="1F2937"/>
                          </a:solidFill>
                          <a:latin typeface="Calibri"/>
                        </a:rPr>
                        <a:t>Las 4</a:t>
                      </a:r>
                    </a:p>
                  </a:txBody>
                  <a:tcPr marL="73152" marR="73152" marT="36576" marB="36576" anchor="ctr">
                    <a:solidFill>
                      <a:srgbClr val="FFFFFF"/>
                    </a:solidFill>
                  </a:tcPr>
                </a:tc>
              </a:tr>
              <a:tr h="566928">
                <a:tc>
                  <a:txBody>
                    <a:bodyPr wrap="square"/>
                    <a:lstStyle/>
                    <a:p>
                      <a:r>
                        <a:rPr sz="1400" b="0" i="0">
                          <a:solidFill>
                            <a:srgbClr val="1F2937"/>
                          </a:solidFill>
                          <a:latin typeface="Calibri"/>
                        </a:rPr>
                        <a:t>Android · después</a:t>
                      </a:r>
                    </a:p>
                  </a:txBody>
                  <a:tcPr marL="73152" marR="73152" marT="36576" marB="36576" anchor="ctr">
                    <a:solidFill>
                      <a:srgbClr val="E6F4F2"/>
                    </a:solidFill>
                  </a:tcPr>
                </a:tc>
                <a:tc>
                  <a:txBody>
                    <a:bodyPr wrap="square"/>
                    <a:lstStyle/>
                    <a:p>
                      <a:r>
                        <a:rPr sz="1400" b="0" i="0">
                          <a:solidFill>
                            <a:srgbClr val="1F2937"/>
                          </a:solidFill>
                          <a:latin typeface="Calibri"/>
                        </a:rPr>
                        <a:t>Táctil = gamepad virtual</a:t>
                      </a:r>
                    </a:p>
                  </a:txBody>
                  <a:tcPr marL="73152" marR="73152" marT="36576" marB="36576" anchor="ctr">
                    <a:solidFill>
                      <a:srgbClr val="E6F4F2"/>
                    </a:solidFill>
                  </a:tcPr>
                </a:tc>
                <a:tc>
                  <a:txBody>
                    <a:bodyPr wrap="square"/>
                    <a:lstStyle/>
                    <a:p>
                      <a:r>
                        <a:rPr sz="1400" b="0" i="0">
                          <a:solidFill>
                            <a:srgbClr val="1F2937"/>
                          </a:solidFill>
                          <a:latin typeface="Calibri"/>
                        </a:rPr>
                        <a:t>Botones ◀ ▶</a:t>
                      </a:r>
                    </a:p>
                  </a:txBody>
                  <a:tcPr marL="73152" marR="73152" marT="36576" marB="36576" anchor="ctr">
                    <a:solidFill>
                      <a:srgbClr val="E6F4F2"/>
                    </a:solidFill>
                  </a:tcPr>
                </a:tc>
                <a:tc>
                  <a:txBody>
                    <a:bodyPr wrap="square"/>
                    <a:lstStyle/>
                    <a:p>
                      <a:r>
                        <a:rPr sz="1400" b="0" i="0">
                          <a:solidFill>
                            <a:srgbClr val="1F2937"/>
                          </a:solidFill>
                          <a:latin typeface="Calibri"/>
                        </a:rPr>
                        <a:t>Botón SALTAR</a:t>
                      </a:r>
                    </a:p>
                  </a:txBody>
                  <a:tcPr marL="73152" marR="73152" marT="36576" marB="36576" anchor="ctr">
                    <a:solidFill>
                      <a:srgbClr val="E6F4F2"/>
                    </a:solidFill>
                  </a:tcPr>
                </a:tc>
                <a:tc>
                  <a:txBody>
                    <a:bodyPr wrap="square"/>
                    <a:lstStyle/>
                    <a:p>
                      <a:r>
                        <a:rPr sz="1400" b="0" i="0">
                          <a:solidFill>
                            <a:srgbClr val="1F2937"/>
                          </a:solidFill>
                          <a:latin typeface="Calibri"/>
                        </a:rPr>
                        <a:t>◀ ▶ SALTAR + safe area</a:t>
                      </a:r>
                    </a:p>
                  </a:txBody>
                  <a:tcPr marL="73152" marR="73152" marT="36576" marB="36576" anchor="ctr">
                    <a:solidFill>
                      <a:srgbClr val="E6F4F2"/>
                    </a:solidFill>
                  </a:tcPr>
                </a:tc>
                <a:tc>
                  <a:txBody>
                    <a:bodyPr wrap="square"/>
                    <a:lstStyle/>
                    <a:p>
                      <a:r>
                        <a:rPr sz="1400" b="0" i="0">
                          <a:solidFill>
                            <a:srgbClr val="1F2937"/>
                          </a:solidFill>
                          <a:latin typeface="Calibri"/>
                        </a:rPr>
                        <a:t>Solo horizontal</a:t>
                      </a:r>
                    </a:p>
                  </a:txBody>
                  <a:tcPr marL="73152" marR="73152" marT="36576" marB="36576" anchor="ctr">
                    <a:solidFill>
                      <a:srgbClr val="E6F4F2"/>
                    </a:solidFill>
                  </a:tcPr>
                </a:tc>
              </a:tr>
            </a:tbl>
          </a:graphicData>
        </a:graphic>
      </p:graphicFrame>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 CASO 2D PLATFORMER · LO QUE NO SE VE</a:t>
            </a:r>
          </a:p>
          <a:p>
            <a:r>
              <a:rPr sz="2600" b="1" i="0">
                <a:solidFill>
                  <a:srgbClr val="FFFFFF"/>
                </a:solidFill>
                <a:latin typeface="Calibri"/>
              </a:rPr>
              <a:t>Antes y después: proyecto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Anexo · Anexo: Android en Unity 6</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65/74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laboratorio-adaptacion/PORTEO-PLATFORMER.md; logs y XML en laboratorio-adaptacion/evidencia/platformer-v2-*</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¿Por qué fallan 2 tests si el porteo está bien?</a:t>
            </a:r>
          </a:p>
        </p:txBody>
      </p:sp>
      <p:graphicFrame>
        <p:nvGraphicFramePr>
          <p:cNvPr id="11" name="Table 10"/>
          <p:cNvGraphicFramePr>
            <a:graphicFrameLocks noGrp="1"/>
          </p:cNvGraphicFramePr>
          <p:nvPr/>
        </p:nvGraphicFramePr>
        <p:xfrm>
          <a:off x="502920" y="1234440"/>
          <a:ext cx="11185854" cy="3968496"/>
        </p:xfrm>
        <a:graphic>
          <a:graphicData uri="http://schemas.openxmlformats.org/drawingml/2006/table">
            <a:tbl>
              <a:tblPr firstRow="1" bandRow="1">
                <a:tableStyleId>{5C22544A-7EE6-4342-B048-85BDC9FD1C3A}</a:tableStyleId>
              </a:tblPr>
              <a:tblGrid>
                <a:gridCol w="2684605"/>
                <a:gridCol w="4474342"/>
                <a:gridCol w="4026907"/>
              </a:tblGrid>
              <a:tr h="566928">
                <a:tc>
                  <a:txBody>
                    <a:bodyPr wrap="square"/>
                    <a:lstStyle/>
                    <a:p>
                      <a:r>
                        <a:rPr sz="1200" b="1" i="0">
                          <a:solidFill>
                            <a:srgbClr val="FFFFFF"/>
                          </a:solidFill>
                          <a:latin typeface="Calibri"/>
                        </a:rPr>
                        <a:t>Aspecto</a:t>
                      </a:r>
                    </a:p>
                  </a:txBody>
                  <a:tcPr marL="73152" marR="73152" marT="36576" marB="36576" anchor="ctr">
                    <a:solidFill>
                      <a:srgbClr val="0D9488"/>
                    </a:solidFill>
                  </a:tcPr>
                </a:tc>
                <a:tc>
                  <a:txBody>
                    <a:bodyPr wrap="square"/>
                    <a:lstStyle/>
                    <a:p>
                      <a:r>
                        <a:rPr sz="1200" b="1" i="0">
                          <a:solidFill>
                            <a:srgbClr val="FFFFFF"/>
                          </a:solidFill>
                          <a:latin typeface="Calibri"/>
                        </a:rPr>
                        <a:t>Antes (original)</a:t>
                      </a:r>
                    </a:p>
                  </a:txBody>
                  <a:tcPr marL="73152" marR="73152" marT="36576" marB="36576" anchor="ctr">
                    <a:solidFill>
                      <a:srgbClr val="0D9488"/>
                    </a:solidFill>
                  </a:tcPr>
                </a:tc>
                <a:tc>
                  <a:txBody>
                    <a:bodyPr wrap="square"/>
                    <a:lstStyle/>
                    <a:p>
                      <a:r>
                        <a:rPr sz="1200" b="1" i="0">
                          <a:solidFill>
                            <a:srgbClr val="FFFFFF"/>
                          </a:solidFill>
                          <a:latin typeface="Calibri"/>
                        </a:rPr>
                        <a:t>Después (versión 2)</a:t>
                      </a:r>
                    </a:p>
                  </a:txBody>
                  <a:tcPr marL="73152" marR="73152" marT="36576" marB="36576" anchor="ctr">
                    <a:solidFill>
                      <a:srgbClr val="0D9488"/>
                    </a:solidFill>
                  </a:tcPr>
                </a:tc>
              </a:tr>
              <a:tr h="566928">
                <a:tc>
                  <a:txBody>
                    <a:bodyPr wrap="square"/>
                    <a:lstStyle/>
                    <a:p>
                      <a:r>
                        <a:rPr sz="1200" b="0" i="0">
                          <a:solidFill>
                            <a:srgbClr val="1F2937"/>
                          </a:solidFill>
                          <a:latin typeface="Calibri"/>
                        </a:rPr>
                        <a:t>Sistema de entrada</a:t>
                      </a:r>
                    </a:p>
                  </a:txBody>
                  <a:tcPr marL="73152" marR="73152" marT="36576" marB="36576" anchor="ctr">
                    <a:solidFill>
                      <a:srgbClr val="FFFFFF"/>
                    </a:solidFill>
                  </a:tcPr>
                </a:tc>
                <a:tc>
                  <a:txBody>
                    <a:bodyPr wrap="square"/>
                    <a:lstStyle/>
                    <a:p>
                      <a:r>
                        <a:rPr sz="1200" b="0" i="0">
                          <a:solidFill>
                            <a:srgbClr val="1F2937"/>
                          </a:solidFill>
                          <a:latin typeface="Calibri"/>
                        </a:rPr>
                        <a:t>Input Manager</a:t>
                      </a:r>
                    </a:p>
                  </a:txBody>
                  <a:tcPr marL="73152" marR="73152" marT="36576" marB="36576" anchor="ctr">
                    <a:solidFill>
                      <a:srgbClr val="FFFFFF"/>
                    </a:solidFill>
                  </a:tcPr>
                </a:tc>
                <a:tc>
                  <a:txBody>
                    <a:bodyPr wrap="square"/>
                    <a:lstStyle/>
                    <a:p>
                      <a:r>
                        <a:rPr sz="1200" b="0" i="0">
                          <a:solidFill>
                            <a:srgbClr val="1F2937"/>
                          </a:solidFill>
                          <a:latin typeface="Calibri"/>
                        </a:rPr>
                        <a:t>Input System 1.19 (solo "New")</a:t>
                      </a:r>
                    </a:p>
                  </a:txBody>
                  <a:tcPr marL="73152" marR="73152" marT="36576" marB="36576" anchor="ctr">
                    <a:solidFill>
                      <a:srgbClr val="FFFFFF"/>
                    </a:solidFill>
                  </a:tcPr>
                </a:tc>
              </a:tr>
              <a:tr h="566928">
                <a:tc>
                  <a:txBody>
                    <a:bodyPr wrap="square"/>
                    <a:lstStyle/>
                    <a:p>
                      <a:r>
                        <a:rPr sz="1200" b="0" i="0">
                          <a:solidFill>
                            <a:srgbClr val="1F2937"/>
                          </a:solidFill>
                          <a:latin typeface="Calibri"/>
                        </a:rPr>
                        <a:t>Quién lee el input</a:t>
                      </a:r>
                    </a:p>
                  </a:txBody>
                  <a:tcPr marL="73152" marR="73152" marT="36576" marB="36576" anchor="ctr">
                    <a:solidFill>
                      <a:srgbClr val="E6F4F2"/>
                    </a:solidFill>
                  </a:tcPr>
                </a:tc>
                <a:tc>
                  <a:txBody>
                    <a:bodyPr wrap="square"/>
                    <a:lstStyle/>
                    <a:p>
                      <a:r>
                        <a:rPr sz="1200" b="0" i="0">
                          <a:solidFill>
                            <a:srgbClr val="1F2937"/>
                          </a:solidFill>
                          <a:latin typeface="Calibri"/>
                        </a:rPr>
                        <a:t>PlayerController</a:t>
                      </a:r>
                    </a:p>
                  </a:txBody>
                  <a:tcPr marL="73152" marR="73152" marT="36576" marB="36576" anchor="ctr">
                    <a:solidFill>
                      <a:srgbClr val="E6F4F2"/>
                    </a:solidFill>
                  </a:tcPr>
                </a:tc>
                <a:tc>
                  <a:txBody>
                    <a:bodyPr wrap="square"/>
                    <a:lstStyle/>
                    <a:p>
                      <a:r>
                        <a:rPr sz="1200" b="0" i="0">
                          <a:solidFill>
                            <a:srgbClr val="1F2937"/>
                          </a:solidFill>
                          <a:latin typeface="Calibri"/>
                        </a:rPr>
                        <a:t>Adaptador → SetIntent</a:t>
                      </a:r>
                    </a:p>
                  </a:txBody>
                  <a:tcPr marL="73152" marR="73152" marT="36576" marB="36576" anchor="ctr">
                    <a:solidFill>
                      <a:srgbClr val="E6F4F2"/>
                    </a:solidFill>
                  </a:tcPr>
                </a:tc>
              </a:tr>
              <a:tr h="566928">
                <a:tc>
                  <a:txBody>
                    <a:bodyPr wrap="square"/>
                    <a:lstStyle/>
                    <a:p>
                      <a:r>
                        <a:rPr sz="1200" b="0" i="0">
                          <a:solidFill>
                            <a:srgbClr val="1F2937"/>
                          </a:solidFill>
                          <a:latin typeface="Calibri"/>
                        </a:rPr>
                        <a:t>Módulo de UI</a:t>
                      </a:r>
                    </a:p>
                  </a:txBody>
                  <a:tcPr marL="73152" marR="73152" marT="36576" marB="36576" anchor="ctr">
                    <a:solidFill>
                      <a:srgbClr val="FFFFFF"/>
                    </a:solidFill>
                  </a:tcPr>
                </a:tc>
                <a:tc>
                  <a:txBody>
                    <a:bodyPr wrap="square"/>
                    <a:lstStyle/>
                    <a:p>
                      <a:r>
                        <a:rPr sz="1200" b="0" i="0">
                          <a:solidFill>
                            <a:srgbClr val="1F2937"/>
                          </a:solidFill>
                          <a:latin typeface="Calibri"/>
                        </a:rPr>
                        <a:t>StandaloneInputModule</a:t>
                      </a:r>
                    </a:p>
                  </a:txBody>
                  <a:tcPr marL="73152" marR="73152" marT="36576" marB="36576" anchor="ctr">
                    <a:solidFill>
                      <a:srgbClr val="FFFFFF"/>
                    </a:solidFill>
                  </a:tcPr>
                </a:tc>
                <a:tc>
                  <a:txBody>
                    <a:bodyPr wrap="square"/>
                    <a:lstStyle/>
                    <a:p>
                      <a:r>
                        <a:rPr sz="1200" b="0" i="0">
                          <a:solidFill>
                            <a:srgbClr val="1F2937"/>
                          </a:solidFill>
                          <a:latin typeface="Calibri"/>
                        </a:rPr>
                        <a:t>InputSystemUIInputModule</a:t>
                      </a:r>
                    </a:p>
                  </a:txBody>
                  <a:tcPr marL="73152" marR="73152" marT="36576" marB="36576" anchor="ctr">
                    <a:solidFill>
                      <a:srgbClr val="FFFFFF"/>
                    </a:solidFill>
                  </a:tcPr>
                </a:tc>
              </a:tr>
              <a:tr h="566928">
                <a:tc>
                  <a:txBody>
                    <a:bodyPr wrap="square"/>
                    <a:lstStyle/>
                    <a:p>
                      <a:r>
                        <a:rPr sz="1200" b="0" i="0">
                          <a:solidFill>
                            <a:srgbClr val="1F2937"/>
                          </a:solidFill>
                          <a:latin typeface="Calibri"/>
                        </a:rPr>
                        <a:t>Error "isGrounded"</a:t>
                      </a:r>
                    </a:p>
                  </a:txBody>
                  <a:tcPr marL="73152" marR="73152" marT="36576" marB="36576" anchor="ctr">
                    <a:solidFill>
                      <a:srgbClr val="E6F4F2"/>
                    </a:solidFill>
                  </a:tcPr>
                </a:tc>
                <a:tc>
                  <a:txBody>
                    <a:bodyPr wrap="square"/>
                    <a:lstStyle/>
                    <a:p>
                      <a:r>
                        <a:rPr sz="1200" b="0" i="0">
                          <a:solidFill>
                            <a:srgbClr val="1F2937"/>
                          </a:solidFill>
                          <a:latin typeface="Calibri"/>
                        </a:rPr>
                        <a:t>2447 por sesión</a:t>
                      </a:r>
                    </a:p>
                  </a:txBody>
                  <a:tcPr marL="73152" marR="73152" marT="36576" marB="36576" anchor="ctr">
                    <a:solidFill>
                      <a:srgbClr val="E6F4F2"/>
                    </a:solidFill>
                  </a:tcPr>
                </a:tc>
                <a:tc>
                  <a:txBody>
                    <a:bodyPr wrap="square"/>
                    <a:lstStyle/>
                    <a:p>
                      <a:r>
                        <a:rPr sz="1200" b="0" i="0">
                          <a:solidFill>
                            <a:srgbClr val="1F2937"/>
                          </a:solidFill>
                          <a:latin typeface="Calibri"/>
                        </a:rPr>
                        <a:t>0</a:t>
                      </a:r>
                    </a:p>
                  </a:txBody>
                  <a:tcPr marL="73152" marR="73152" marT="36576" marB="36576" anchor="ctr">
                    <a:solidFill>
                      <a:srgbClr val="E6F4F2"/>
                    </a:solidFill>
                  </a:tcPr>
                </a:tc>
              </a:tr>
              <a:tr h="566928">
                <a:tc>
                  <a:txBody>
                    <a:bodyPr wrap="square"/>
                    <a:lstStyle/>
                    <a:p>
                      <a:r>
                        <a:rPr sz="1200" b="0" i="0">
                          <a:solidFill>
                            <a:srgbClr val="1F2937"/>
                          </a:solidFill>
                          <a:latin typeface="Calibri"/>
                        </a:rPr>
                        <a:t>Build Android</a:t>
                      </a:r>
                    </a:p>
                  </a:txBody>
                  <a:tcPr marL="73152" marR="73152" marT="36576" marB="36576" anchor="ctr">
                    <a:solidFill>
                      <a:srgbClr val="FFFFFF"/>
                    </a:solidFill>
                  </a:tcPr>
                </a:tc>
                <a:tc>
                  <a:txBody>
                    <a:bodyPr wrap="square"/>
                    <a:lstStyle/>
                    <a:p>
                      <a:r>
                        <a:rPr sz="1200" b="0" i="0">
                          <a:solidFill>
                            <a:srgbClr val="1F2937"/>
                          </a:solidFill>
                          <a:latin typeface="Calibri"/>
                        </a:rPr>
                        <a:t>Falla (URP en modo compatibilidad)</a:t>
                      </a:r>
                    </a:p>
                  </a:txBody>
                  <a:tcPr marL="73152" marR="73152" marT="36576" marB="36576" anchor="ctr">
                    <a:solidFill>
                      <a:srgbClr val="FFFFFF"/>
                    </a:solidFill>
                  </a:tcPr>
                </a:tc>
                <a:tc>
                  <a:txBody>
                    <a:bodyPr wrap="square"/>
                    <a:lstStyle/>
                    <a:p>
                      <a:r>
                        <a:rPr sz="1200" b="0" i="0">
                          <a:solidFill>
                            <a:srgbClr val="1F2937"/>
                          </a:solidFill>
                          <a:latin typeface="Calibri"/>
                        </a:rPr>
                        <a:t>APK de 35,9 MB</a:t>
                      </a:r>
                    </a:p>
                  </a:txBody>
                  <a:tcPr marL="73152" marR="73152" marT="36576" marB="36576" anchor="ctr">
                    <a:solidFill>
                      <a:srgbClr val="FFFFFF"/>
                    </a:solidFill>
                  </a:tcPr>
                </a:tc>
              </a:tr>
              <a:tr h="566928">
                <a:tc>
                  <a:txBody>
                    <a:bodyPr wrap="square"/>
                    <a:lstStyle/>
                    <a:p>
                      <a:r>
                        <a:rPr sz="1200" b="0" i="0">
                          <a:solidFill>
                            <a:srgbClr val="1F2937"/>
                          </a:solidFill>
                          <a:latin typeface="Calibri"/>
                        </a:rPr>
                        <a:t>Tests automáticos</a:t>
                      </a:r>
                    </a:p>
                  </a:txBody>
                  <a:tcPr marL="73152" marR="73152" marT="36576" marB="36576" anchor="ctr">
                    <a:solidFill>
                      <a:srgbClr val="E6F4F2"/>
                    </a:solidFill>
                  </a:tcPr>
                </a:tc>
                <a:tc>
                  <a:txBody>
                    <a:bodyPr wrap="square"/>
                    <a:lstStyle/>
                    <a:p>
                      <a:r>
                        <a:rPr sz="1200" b="0" i="0">
                          <a:solidFill>
                            <a:srgbClr val="1F2937"/>
                          </a:solidFill>
                          <a:latin typeface="Calibri"/>
                        </a:rPr>
                        <a:t>Ninguno</a:t>
                      </a:r>
                    </a:p>
                  </a:txBody>
                  <a:tcPr marL="73152" marR="73152" marT="36576" marB="36576" anchor="ctr">
                    <a:solidFill>
                      <a:srgbClr val="E6F4F2"/>
                    </a:solidFill>
                  </a:tcPr>
                </a:tc>
                <a:tc>
                  <a:txBody>
                    <a:bodyPr wrap="square"/>
                    <a:lstStyle/>
                    <a:p>
                      <a:r>
                        <a:rPr sz="1200" b="0" i="0">
                          <a:solidFill>
                            <a:srgbClr val="1F2937"/>
                          </a:solidFill>
                          <a:latin typeface="Calibri"/>
                        </a:rPr>
                        <a:t>16: pasan 14, fallan 2</a:t>
                      </a:r>
                    </a:p>
                  </a:txBody>
                  <a:tcPr marL="73152" marR="73152" marT="36576" marB="36576" anchor="ctr">
                    <a:solidFill>
                      <a:srgbClr val="E6F4F2"/>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