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Presentar la unidad como continuación directa del panorama del 28/09: ese día recorrimos todas las plataformas; desde hoy, y durante cuatro clases, nos quedamos en el bolsillo del jugador.</a:t>
            </a:r>
          </a:p>
          <a:p>
            <a:r>
              <a:t>No anticipar contenidos: la clase arranca con un problema, no con una definición ni con una herramienta.</a:t>
            </a:r>
          </a:p>
          <a:p>
            <a:r>
              <a:t>Versión 2 de la clase (2026-10-05): incorpora conceptos del artículo "What Are the Best Platforms for Games?" de Kevuru Games (definición de plataforma, rol de las tiendas móviles, criterios para elegir plataforma), leído con mirada crítica (slide 19).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Relato completo: "Asteroides funciona perfecto en la PC del aula. Lo instalamos en un teléfono: a los 10 minutos empieza a trabarse, el teléfono quema en la mano, y si entra una llamada y volvemos, la nave ya explotó y perdimos la partida".</a:t>
            </a:r>
          </a:p>
          <a:p>
            <a:r>
              <a:t>Dejar que discutan 3–4 minutos. Respuesta esperada: al menos tres problemas de distinta naturaleza: (1) calor y rendimiento sostenido, (2) consumo de batería, (3) interrupción del sistema operativo.</a:t>
            </a:r>
          </a:p>
          <a:p>
            <a:r>
              <a:t>Ninguno aparece en el editor y ninguno es un error de lógica en sentido estricto: son supuestos de PC que el juego trae consigo. Esa es la idea de toda la unidad.</a:t>
            </a:r>
          </a:p>
          <a:p>
            <a:r>
              <a:t>No dar todavía las explicaciones: anotarlas en el pizarrón para volver a ellas en las slides 10 a 15.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Recuperar, no repetir. Las cinco ideas del 28/09, completas:</a:t>
            </a:r>
          </a:p>
          <a:p>
            <a:r>
              <a:t>- Táctil: no hay respuesta física del botón y los dedos tapan la pantalla.</a:t>
            </a:r>
          </a:p>
          <a:p>
            <a:r>
              <a:t>- Pantallas muy variadas: muescas, bordes y zonas seguras.</a:t>
            </a:r>
          </a:p>
          <a:p>
            <a:r>
              <a:t>- Batería y temperatura: si el equipo se calienta, baja el rendimiento.</a:t>
            </a:r>
          </a:p>
          <a:p>
            <a:r>
              <a:t>- Interrupciones: llamadas, notificaciones, cambio de app.</a:t>
            </a:r>
          </a:p>
          <a:p>
            <a:r>
              <a:t>- Separar QUÉ quiere hacer el jugador (mover, disparar) de CÓMO lo pide (teclado, toque, mando).</a:t>
            </a:r>
          </a:p>
          <a:p>
            <a:r>
              <a:t>Preguntar quién recuerda el diagrama de tres capas (dispositivo → intención → nave). Hoy vamos a ver por qué cada viñeta es una restricción de diseño, con números y fuentes oficiales.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Versión completa de los objetivos:</a:t>
            </a:r>
          </a:p>
          <a:p>
            <a:r>
              <a:t>1. Explicar por qué el rendimiento sostenido, la memoria y la batería condicionan el diseño.</a:t>
            </a:r>
          </a:p>
          <a:p>
            <a:r>
              <a:t>2. Detectar en un juego existente los supuestos de PC que fallan en móvil.</a:t>
            </a:r>
          </a:p>
          <a:p>
            <a:r>
              <a:t>3. Diseñar controles y HUD táctiles con medidas verificables (pt, dp, safe area).</a:t>
            </a:r>
          </a:p>
          <a:p>
            <a:r>
              <a:t>4. Elegir y defender un modelo de monetización con sus reglas de tienda y su ética.</a:t>
            </a:r>
          </a:p>
          <a:p>
            <a:r>
              <a:t>5. Decidir qué se prueba en el editor y qué exige un teléfono real.</a:t>
            </a:r>
          </a:p>
          <a:p>
            <a:r>
              <a:t>Remarcar los verbos: explicar, detectar, diseñar, defender, decidir. La unidad no evalúa memorizar especificaciones, sino tomar decisiones justificadas. El TP 3 recorre las cinco.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El artículo de Kevuru Games define las plataformas como "la base de cómo los jugadores se conectan con los juegos", ya sea una consola física, un gabinete arcade o un servicio en la nube que corre todo en línea. Y usa una metáfora útil: la plataforma es el escenario donde el juego "actúa", y hay escenarios más grandes que otros.</a:t>
            </a:r>
          </a:p>
          <a:p>
            <a:r>
              <a:t>Pero el artículo mezcla bajo la palabra "plataforma" cuatro cosas distintas: hardware (PlayStation, Xbox, Nintendo), tiendas (Steam, Epic Games Store, Google Play, App Store), servicios de cloud gaming (GeForce Now) y sitios donde se mira jugar (Twitch, YouTube Gaming, Facebook Gaming). La tabla las separa en capas.</a:t>
            </a:r>
          </a:p>
          <a:p>
            <a:r>
              <a:t>Definición de trabajo de esta materia: plataforma = el entorno de ejecución (hardware + sistema operativo) MÁS las reglas de su ecosistema (tienda, certificación, políticas). Por eso en esta unidad hablamos del teléfono y también de Google Play y del App Store.</a:t>
            </a:r>
          </a:p>
          <a:p>
            <a:r>
              <a:t>Respuesta esperada a la pregunta: la capa de ejecución condiciona más el diseño (input, pantalla, rendimiento); la de distribución condiciona el negocio y las reglas (Clase 3); la de comunidad influye en el diseño solo de forma indirecta (juegos pensados para ser vistos, como Among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Idea del artículo: cada época tuvo una plataforma que definió cómo se juega. Los arcades fueron las primeras plataformas reales, y además eran espacios sociales.</a:t>
            </a:r>
          </a:p>
          <a:p>
            <a:r>
              <a:t>Ejemplos que da el artículo, por si alguien pregunta: Pong (1972), Space Invaders (1978), Pac-Man (1980), Donkey Kong (1981, primera aparición de Mario como "Jumpman"), Galaga (1981), Street Fighter II (1991) y Mortal Kombat (1992), cuya polémica contribuyó a la creación de la ESRB (el sistema de clasificación por edades que vamos a ver en la Unidad V).</a:t>
            </a:r>
          </a:p>
          <a:p>
            <a:r>
              <a:t>Conexión con el diseño: el arcade se diseñaba para cobrar por partida (partidas cortas y difíciles, "insert coin"); la consola, para el sillón y la TV; el teléfono, para el bolsillo y las interrupciones. La plataforma siempre moldeó el diseño: no es un fenómeno nuevo.</a:t>
            </a:r>
          </a:p>
          <a:p>
            <a:r>
              <a:t>Dato a remarcar: Asteroids, el juego que inspira nuestro proyecto, es justamente un clásico arcade (Atari, 1979). Estamos llevando un diseño de arcade al teléfono.</a:t>
            </a:r>
          </a:p>
          <a:p>
            <a:r>
              <a:t>No detenerse más de 3 minutos: es contexto, no contenido evaluable.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Idea del artículo: con Google Play y el App Store, "los estudios pequeños e incluso desarrolladores solos" pudieron poner sus juegos frente a millones de personas. Los ejemplos que da:</a:t>
            </a:r>
          </a:p>
          <a:p>
            <a:r>
              <a:t>- Éxitos casuales que atrajeron jugadores de todo el mundo: Candy Crush y Clash of Clans.</a:t>
            </a:r>
          </a:p>
          <a:p>
            <a:r>
              <a:t>- Among Us se volvió viral años después de su lanzamiento (salió en 2018 y explotó en 2020).</a:t>
            </a:r>
          </a:p>
          <a:p>
            <a:r>
              <a:t>- Marcas de consola que funcionan en el teléfono: PUBG Mobile y FIFA Mobile.</a:t>
            </a:r>
          </a:p>
          <a:p>
            <a:r>
              <a:t>Conclusión del artículo: el juego móvil no es una moda pasajera, es una parte central de la industria.</a:t>
            </a:r>
          </a:p>
          <a:p>
            <a:r>
              <a:t>Matiz docente (importante): que la tienda esté abierta no significa que no tenga reglas. Para publicar hay que cumplir políticas de pago, de anuncios, de privacidad y de nivel de API (lo vemos en la Clase 3). Y que cualquiera pueda publicar crea otro problema: la visibilidad entre millones de juegos.</a:t>
            </a:r>
          </a:p>
          <a:p>
            <a:r>
              <a:t>Respuesta esperada a la pregunta: la visibilidad depende de la propia tienda (búsqueda, destacados, calificaciones), de la comunidad (streamers, boca en boca) y de la calidad técnica (Android vitals puede bajar la visibilidad de un juego con muchos cierres inesperados; lo vemos en la Clase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teléfono, CPU, GPU y memoria viven en un mismo chip (SoC, System on a Chip). Comparten la energía de la batería y el calor que generan. El calor se disipa por la carcasa: no hay ventilador.</a:t>
            </a:r>
          </a:p>
          <a:p>
            <a:r>
              <a:t>La documentación de Android (ADPF) menciona explícitamente la diversidad de topologías de núcleos (núcleos de distinto tamaño y potencia) y los relojes que cambian en tiempo real como complejidades propias del móvil, que no existen en PC ni en consola.</a:t>
            </a:r>
          </a:p>
          <a:p>
            <a:r>
              <a:t>No dar arquitectura de hardware: alcanza con la idea de que todo comparte energía y calor.</a:t>
            </a:r>
          </a:p>
          <a:p>
            <a:r>
              <a:t>Pregunta rápida: ¿qué pasa con la GPU si la CPU se calienta? Respuesta: comparten el presupuesto térmico; si uno se calienta, ambos pueden bajar su frecuencia.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GPU móviles dibujan la pantalla por porciones (tiles): técnica TBDR, tile-based deferred rendering. Leer y escribir memoria consume ancho de banda, y el ancho de banda consume batería.</a:t>
            </a:r>
          </a:p>
          <a:p>
            <a:r>
              <a:t>Overdraw: pintar varias veces el mismo píxel, típico de transparencias y partículas. Por eso una explosión con muchas partículas pesa más en un teléfono que en una PC.</a:t>
            </a:r>
          </a:p>
          <a:p>
            <a:r>
              <a:t>Citas de Arm para leer en voz alta: "Overdraw causes excess memory bandwidth use" y "Excess memory bandwidth use causes excess power use".</a:t>
            </a:r>
          </a:p>
          <a:p>
            <a:r>
              <a:t>Llegar solo hasta acá: no explicar el pipeline de la GPU. Conectar con Asteroides: la explosión de la nave usa partículas con transparencia, candidata a medir en la Clase 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el concepto más importante de la clase.</a:t>
            </a:r>
          </a:p>
          <a:p>
            <a:r>
              <a:t>Cadena causal: el chip se calienta → el sistema baja la frecuencia de CPU y GPU para protegerlo (throttling) → caen los fps. Lo que importa es el fps del minuto 10, no el del minuto 1.</a:t>
            </a:r>
          </a:p>
          <a:p>
            <a:r>
              <a:t>Recomendación de Unity: usar alrededor del 65 % del tiempo de frame disponible, es decir, ~22 ms a 30 fps y ~11 ms a 60 fps. Motivo oficial textual: "Most mobile devices do not have active cooling".</a:t>
            </a:r>
          </a:p>
          <a:p>
            <a:r>
              <a:t>Respuesta esperada a la pregunta: medir durante un tiempo largo (10 minutos o más), registrar el frame time (no solo el promedio de fps) y hacerlo en un dispositivo de gama baja.</a:t>
            </a:r>
          </a:p>
          <a:p>
            <a:r>
              <a:t>Para mencionar, sin profundizar: Android ofrece getThermalHeadroom e iOS ofrece thermalState para que el juego reaccione al calor; Unity 6.3 trae Adaptive Performance como módulo integrado.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Android e iOS, por defecto Unity renderiza a 30 fps fijos "to conserve battery power" (texto de la documentación de Application.targetFrameRate: abrir la página y leer la frase).</a:t>
            </a:r>
          </a:p>
          <a:p>
            <a:r>
              <a:t>60 fps duplica el trabajo por segundo: más calor y menos batería. Elegir el fps es una decisión de diseño, no un detalle técnico.</a:t>
            </a:r>
          </a:p>
          <a:p>
            <a:r>
              <a:t>En Asteroides no se define targetFrameRate: nadie tomó la decisión (supuesto S12 del caso práctico).</a:t>
            </a:r>
          </a:p>
          <a:p>
            <a:r>
              <a:t>Preguntar: ¿qué juegos necesitan 60 fps y cuáles no? Respuesta: acción rápida o competitiva sí; puzzle, estrategia o narrativa, generalmente no.</a:t>
            </a:r>
          </a:p>
          <a:p>
            <a:r>
              <a:t>Android recomienda además igualar la frecuencia de refresco de la pantalla al fps objetivo (frame pacing).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el jugador sale de la app (llamada, notificación, cambio de app), el juego pasa a segundo plano. Si falta memoria, el sistema operativo cierra procesos en segundo plano: en Android lo hace el Low Memory Killer; en iOS, el sistema termina la app si no libera memoria.</a:t>
            </a:r>
          </a:p>
          <a:p>
            <a:r>
              <a:t>Corrección de un mito frecuente: los callbacks onTrimMemory de Android NO evitan el cierre. Android los declara deprecados salvo dos niveles (UI_HIDDEN y BACKGROUND) y dice textualmente que "haven't been helpful at preventing low-memory kills".</a:t>
            </a:r>
          </a:p>
          <a:p>
            <a:r>
              <a:t>Conclusión de diseño: el juego puede morir sin aviso. Si puede retomarse, hay que guardar estado; si no puede, al menos no castigar al jugador por algo que hizo el sistema.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OnApplicationPause(bool) avisa que la app pasa a segundo plano o vuelve. OnApplicationFocus(bool) avisa que la app pierde o recupera el foco. Dato práctico: en Android, abrir el teclado en pantalla dispara OnApplicationFocus(false).</a:t>
            </a:r>
          </a:p>
          <a:p>
            <a:r>
              <a:t>Asteroides no implementa ninguno de los dos (supuesto S8 del caso práctico).</a:t>
            </a:r>
          </a:p>
          <a:p>
            <a:r>
              <a:t>No escribir código todavía: eso se hace en la Clase 3 con el defecto deliberado. Solo mostrar que el motor avisa y que el juego base no escucha.</a:t>
            </a:r>
          </a:p>
          <a:p>
            <a:r>
              <a:t>Anticipar: ¿alcanza con escuchar el aviso? No: si el sistema mata el proceso, no se llama nada.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Consigna completa: para cada reporte, indicar (a) la restricción de plataforma más probable, (b) qué evidencia le pedirían al tester, y (c) qué tipo de prueba lo habría detectado antes.</a:t>
            </a:r>
          </a:p>
          <a:p>
            <a:r>
              <a:t>Respuestas esperadas (detalle en 05, A4.1):</a:t>
            </a:r>
          </a:p>
          <a:p>
            <a:r>
              <a:t>1. Ciclo de vida / Low Memory Killer → QA manual en dispositivo.</a:t>
            </a:r>
          </a:p>
          <a:p>
            <a:r>
              <a:t>2. Térmica → rendimiento sostenido en dispositivo.</a:t>
            </a:r>
          </a:p>
          <a:p>
            <a:r>
              <a:t>3. Safe area → Device Simulator + dispositivo.</a:t>
            </a:r>
          </a:p>
          <a:p>
            <a:r>
              <a:t>4. Escalado de UI → Device Simulator con varios perfiles.</a:t>
            </a:r>
          </a:p>
          <a:p>
            <a:r>
              <a:t>5. fps y energía → medición en dispositivo.</a:t>
            </a:r>
          </a:p>
          <a:p>
            <a:r>
              <a:t>6. El emulador no representa el rendimiento → Profiler en un teléfono de gama baja.</a:t>
            </a:r>
          </a:p>
          <a:p>
            <a:r>
              <a:t>Error típico a corregir: proponer un unit test para los casos 2, 3 o 5. Recordar pedir siempre el modelo del dispositivo.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Pasos de la demo:</a:t>
            </a:r>
          </a:p>
          <a:p>
            <a:r>
              <a:t>1. Player Settings de Android: Application Category = Game (por defecto en Unity 6.3; exime a los juegos del cambio de Android 16 que ignora la orientación en pantallas grandes), orientación y API mínima.</a:t>
            </a:r>
          </a:p>
          <a:p>
            <a:r>
              <a:t>2. Abrir la página oficial del Device Simulator y leer la lista de lo que NO simula ANTES de usarlo: rendimiento, memoria, capacidades de render y giroscopio. La herramienta llega con sus límites.</a:t>
            </a:r>
          </a:p>
          <a:p>
            <a:r>
              <a:t>3. Lo que sí simula: safe area, rotación y toque de un dedo.</a:t>
            </a:r>
          </a:p>
          <a:p>
            <a:r>
              <a:t>4. Poner Asteroides en un perfil de teléfono en vertical. Confirmar en vivo el supuesto de que la cámara está centrada en x = 0.</a:t>
            </a:r>
          </a:p>
          <a:p>
            <a:r>
              <a:t>No revelar todavía el problema del spawn: lo descubren en A4.2.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Consigna completa: listar al menos 5 supuestos que dejan de valer en un teléfono, indicando dónde están (archivo:línea), qué pasaría en móvil y a qué eje pertenecen (input, pantalla, UI, ciclo de vida, rendimiento).</a:t>
            </a:r>
          </a:p>
          <a:p>
            <a:r>
              <a:t>La respuesta completa es la tabla S1–S13 de 02-caso-practico. Para aprobar alcanza con S1 (teclado), S3/S4/S5 (límites, cámara, spawn), S6 (Canvas en Constant Pixel Size) y S8 (sin pausa).</a:t>
            </a:r>
          </a:p>
          <a:p>
            <a:r>
              <a:t>Pista si se traban: "¿qué pasa con la cámara si la pantalla es más angosta que alta?".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cámara es ortográfica de tamaño 5: el semiancho visible es 5 × aspect. A 16:9 se ven ≈ 8,9 unidades a cada lado; en vertical 9:16, ≈ 2,8.</a:t>
            </a:r>
          </a:p>
          <a:p>
            <a:r>
              <a:t>El Spawner crea asteroides en x ∈ [−8, 8] (coordenadas de mundo). En vertical, la mayoría de los asteroides nace fuera de pantalla.</a:t>
            </a:r>
          </a:p>
          <a:p>
            <a:r>
              <a:t>No hay error de lógica: hay un supuesto de plataforma. Ningún archivo tiene un error por sí solo; el problema aparece en la combinación cámara + spawner + orientación.</a:t>
            </a:r>
          </a:p>
          <a:p>
            <a:r>
              <a:t>Mostrarlo en el Device Simulator. Conectar con el testing de integración de la U3: es un defecto de integración con la plataforma.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El artículo de Kevuru propone cuatro consideraciones para elegir plataforma, y concluye que el desafío no es encontrar la "mejor" plataforma, sino la que encaja con la visión del juego y su público:</a:t>
            </a:r>
          </a:p>
          <a:p>
            <a:r>
              <a:t>1. Audiencia: saber para quién se construye. Un puzzle casual puede encontrar su público en móvil; un RPG con mucha narrativa puede funcionar mejor en consola o PC.</a:t>
            </a:r>
          </a:p>
          <a:p>
            <a:r>
              <a:t>2. Modelos de monetización: suscripción, free-to-play con compras integradas o venta premium. Cada plataforma se inclina por estrategias distintas y el modelo de ingresos tiene que coincidir.</a:t>
            </a:r>
          </a:p>
          <a:p>
            <a:r>
              <a:t>3. Integración y soporte: algunas plataformas ofrecen mejores herramientas, documentación o ayuda directa; una buena integración ahorra meses.</a:t>
            </a:r>
          </a:p>
          <a:p>
            <a:r>
              <a:t>4. Vigencia (future-proofing): preferir plataformas que sigan evolucionando para que el juego no quede desactualizado en uno o dos años.</a:t>
            </a:r>
          </a:p>
          <a:p>
            <a:r>
              <a:t>Lo que agrega la cátedra: un quinto criterio, las restricciones técnicas y de diseño de la plataforma (todo lo que vimos hoy: calor, batería, memoria, interrupciones, pantalla). El artículo no lo menciona y es justamente el núcleo de esta materia.</a:t>
            </a:r>
          </a:p>
          <a:p>
            <a:r>
              <a:t>Respuesta esperada a la pregunta: Asteroides encaja en móvil por audiencia (partidas cortas y casuales) y por sus requisitos técnicos bajos, pero exige rediseñar el control, la pantalla y la pausa (lo que encontramos en A4.2). La monetización se decide en la Clase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nueva en la versión 2.]</a:t>
            </a:r>
          </a:p>
          <a:p>
            <a:r>
              <a:t>El artículo que usamos para las slides 5, 6, 7 y 18 es útil para los conceptos, pero tiene problemas que conviene mostrar:</a:t>
            </a:r>
          </a:p>
          <a:p>
            <a:r>
              <a:t>1. Es el blog de un estudio de desarrollo (Kevuru Games) que termina ofreciendo sus servicios y un formulario de cotización: es una fuente comercial, no una autoridad.</a:t>
            </a:r>
          </a:p>
          <a:p>
            <a:r>
              <a:t>2. Presenta Google Stadia como un servicio activo. Google anunció el cierre el 29/09/2022 y fue efectivo el 18/01/2023, con reembolsos (verificado en la investigación de la Unidad VII, fuente oficial de Google).</a:t>
            </a:r>
          </a:p>
          <a:p>
            <a:r>
              <a:t>3. Nombra la tienda "Origin" entre las plataformas de PC. EA anunció el 06/10/2022 que la EA app la reemplaza como su plataforma principal de PC (fuente oficial de EA).</a:t>
            </a:r>
          </a:p>
          <a:p>
            <a:r>
              <a:t>4. Da cifras de ingresos y usuarios proyectadas desde 2023 (por ejemplo, ingresos del sector y cantidad de usuarios a 2027) sin citar de dónde salen. No las usamos en clase.</a:t>
            </a:r>
          </a:p>
          <a:p>
            <a:r>
              <a:t>5. Mezcla bajo "plataforma" hardware, tiendas, cloud y sitios de streaming (lo ordenamos en la slide 5).</a:t>
            </a:r>
          </a:p>
          <a:p>
            <a:r>
              <a:t>Mensaje para los alumnos: el mismo criterio que aplicamos a los tests (¿qué demuestra y qué no?) se aplica a las fuentes. Un blog sirve para ideas; los datos se verifican en la documentación oficial o en papers. Es el mismo criterio que van a usar en el TP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el límite de la herramienta, no con la herramienta: el simulador encontró el problema de la pantalla, pero no mide calor ni batería. Eso lo vamos a medir en sus teléfonos, en la Clase 4.</a:t>
            </a:r>
          </a:p>
          <a:p>
            <a:r>
              <a:t>TP 3: Dossier de plataforma, Asteroides móvil (consigna en el aula virtual).</a:t>
            </a:r>
          </a:p>
          <a:p>
            <a:r>
              <a:t>Tarea técnica obligatoria (sin ella la Clase 4 no se puede hacer):</a:t>
            </a:r>
          </a:p>
          <a:p>
            <a:r>
              <a:t>1. Instalar el módulo Android Build Support (con OpenJDK, Android SDK y NDK) en Unity 6000.3.11f1 desde Unity Hub.</a:t>
            </a:r>
          </a:p>
          <a:p>
            <a:r>
              <a:t>2. En el teléfono: tocar 7 veces "Número de compilación" para habilitar las Opciones de desarrollador y activar "Depuración USB" (en Android 9 o superior: Ajustes &gt; Sistema &gt; Avanzado &gt; Opciones de desarrollador).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Rectangle 1"/>
          <p:cNvSpPr/>
          <p:nvPr/>
        </p:nvSpPr>
        <p:spPr>
          <a:xfrm>
            <a:off x="0" y="4754880"/>
            <a:ext cx="12191695" cy="508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0"/>
            <a:ext cx="6979615" cy="3291840"/>
          </a:xfrm>
          <a:prstGeom prst="rect">
            <a:avLst/>
          </a:prstGeom>
          <a:noFill/>
        </p:spPr>
        <p:txBody>
          <a:bodyPr wrap="square" anchor="b" lIns="0" rIns="0" tIns="0" bIns="0">
            <a:spAutoFit/>
          </a:bodyPr>
          <a:lstStyle/>
          <a:p>
            <a:r>
              <a:rPr sz="1400" b="1" i="0">
                <a:solidFill>
                  <a:srgbClr val="99F6E4"/>
                </a:solidFill>
                <a:latin typeface="Calibri"/>
              </a:rPr>
              <a:t>UNIDAD IV · CLASE 1 DE 4</a:t>
            </a:r>
          </a:p>
          <a:p>
            <a:r>
              <a:rPr sz="4000" b="1" i="0">
                <a:solidFill>
                  <a:srgbClr val="FFFFFF"/>
                </a:solidFill>
                <a:latin typeface="Calibri"/>
              </a:rPr>
              <a:t>Diseño según Plataforma Móvil</a:t>
            </a:r>
          </a:p>
          <a:p>
            <a:pPr>
              <a:spcBef>
                <a:spcPts val="600"/>
              </a:spcBef>
            </a:pPr>
            <a:r>
              <a:rPr sz="2000" b="0" i="0">
                <a:solidFill>
                  <a:srgbClr val="CBD5E1"/>
                </a:solidFill>
                <a:latin typeface="Calibri"/>
              </a:rPr>
              <a:t>Un teléfono no es una PC chica</a:t>
            </a:r>
          </a:p>
          <a:p>
            <a:pPr>
              <a:spcBef>
                <a:spcPts val="600"/>
              </a:spcBef>
            </a:pPr>
            <a:r>
              <a:rPr sz="2000" b="0" i="0">
                <a:solidFill>
                  <a:srgbClr val="CBD5E1"/>
                </a:solidFill>
                <a:latin typeface="Calibri"/>
              </a:rPr>
              <a:t>Diseño según Plataformas de Juego · Ing. Elsa Daniela Ramírez · FI – UNJu · 2026</a:t>
            </a:r>
          </a:p>
        </p:txBody>
      </p:sp>
      <p:sp>
        <p:nvSpPr>
          <p:cNvPr id="4" name="Rectangle 3"/>
          <p:cNvSpPr/>
          <p:nvPr/>
        </p:nvSpPr>
        <p:spPr>
          <a:xfrm>
            <a:off x="7756855" y="1188720"/>
            <a:ext cx="3931920" cy="329184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Teléfono en vertical con Asteroides corriendo, sostenido con una mano.</a:t>
            </a:r>
          </a:p>
        </p:txBody>
      </p:sp>
      <p:sp>
        <p:nvSpPr>
          <p:cNvPr id="5" name="TextBox 4"/>
          <p:cNvSpPr txBox="1"/>
          <p:nvPr/>
        </p:nvSpPr>
        <p:spPr>
          <a:xfrm>
            <a:off x="502920" y="6035040"/>
            <a:ext cx="11185855" cy="365760"/>
          </a:xfrm>
          <a:prstGeom prst="rect">
            <a:avLst/>
          </a:prstGeom>
          <a:noFill/>
        </p:spPr>
        <p:txBody>
          <a:bodyPr wrap="square" anchor="t" lIns="0" rIns="0" tIns="0" bIns="0">
            <a:spAutoFit/>
          </a:bodyPr>
          <a:lstStyle/>
          <a:p>
            <a:r>
              <a:rPr sz="1200" b="0" i="0">
                <a:solidFill>
                  <a:srgbClr val="CBD5E1"/>
                </a:solidFill>
                <a:latin typeface="Calibri"/>
              </a:rPr>
              <a:t>Unidad IV · Clase 1 · v2 · 1/20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APERTURA</a:t>
            </a:r>
          </a:p>
          <a:p>
            <a:r>
              <a:rPr sz="2600" b="1" i="0">
                <a:solidFill>
                  <a:srgbClr val="FFFFFF"/>
                </a:solidFill>
                <a:latin typeface="Calibri"/>
              </a:rPr>
              <a:t>El juego que anda… hasta que 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2/20</a:t>
            </a:r>
          </a:p>
        </p:txBody>
      </p:sp>
      <p:sp>
        <p:nvSpPr>
          <p:cNvPr id="8" name="Rectangle 7"/>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¿Cuántos problemas distintos hay? ¿Alguno es un "bug"?</a:t>
            </a:r>
          </a:p>
        </p:txBody>
      </p:sp>
      <p:sp>
        <p:nvSpPr>
          <p:cNvPr id="10" name="Rectangle 9"/>
          <p:cNvSpPr/>
          <p:nvPr/>
        </p:nvSpPr>
        <p:spPr>
          <a:xfrm>
            <a:off x="7756855" y="1234440"/>
            <a:ext cx="3931920" cy="420624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Captura del juego con tres íconos superpuestos: termómetro, batería baja y llamada entrante.</a:t>
            </a:r>
          </a:p>
        </p:txBody>
      </p:sp>
      <p:sp>
        <p:nvSpPr>
          <p:cNvPr id="11" name="TextBox 10"/>
          <p:cNvSpPr txBox="1"/>
          <p:nvPr/>
        </p:nvSpPr>
        <p:spPr>
          <a:xfrm>
            <a:off x="502920" y="1234440"/>
            <a:ext cx="697961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En la PC del aula: perfecto</a:t>
            </a:r>
          </a:p>
          <a:p>
            <a:pPr>
              <a:spcAft>
                <a:spcPts val="800"/>
              </a:spcAft>
            </a:pPr>
            <a:r>
              <a:rPr sz="1600" b="1" i="0">
                <a:solidFill>
                  <a:srgbClr val="0D9488"/>
                </a:solidFill>
                <a:latin typeface="Calibri"/>
              </a:rPr>
              <a:t>■  </a:t>
            </a:r>
            <a:r>
              <a:rPr sz="2200" b="0" i="0">
                <a:solidFill>
                  <a:srgbClr val="1F2937"/>
                </a:solidFill>
                <a:latin typeface="Calibri"/>
              </a:rPr>
              <a:t>En el teléfono, a los 10 min: se traba</a:t>
            </a:r>
          </a:p>
          <a:p>
            <a:pPr>
              <a:spcAft>
                <a:spcPts val="800"/>
              </a:spcAft>
            </a:pPr>
            <a:r>
              <a:rPr sz="1600" b="1" i="0">
                <a:solidFill>
                  <a:srgbClr val="0D9488"/>
                </a:solidFill>
                <a:latin typeface="Calibri"/>
              </a:rPr>
              <a:t>■  </a:t>
            </a:r>
            <a:r>
              <a:rPr sz="2200" b="0" i="0">
                <a:solidFill>
                  <a:srgbClr val="1F2937"/>
                </a:solidFill>
                <a:latin typeface="Calibri"/>
              </a:rPr>
              <a:t>El teléfono quema</a:t>
            </a:r>
          </a:p>
          <a:p>
            <a:pPr>
              <a:spcAft>
                <a:spcPts val="800"/>
              </a:spcAft>
            </a:pPr>
            <a:r>
              <a:rPr sz="1600" b="1" i="0">
                <a:solidFill>
                  <a:srgbClr val="0D9488"/>
                </a:solidFill>
                <a:latin typeface="Calibri"/>
              </a:rPr>
              <a:t>■  </a:t>
            </a:r>
            <a:r>
              <a:rPr sz="2200" b="0" i="0">
                <a:solidFill>
                  <a:srgbClr val="1F2937"/>
                </a:solidFill>
                <a:latin typeface="Calibri"/>
              </a:rPr>
              <a:t>Llamada, volvés… y la nave explotó</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CONTINUIDAD [RECICLADO 28/09]</a:t>
            </a:r>
          </a:p>
          <a:p>
            <a:r>
              <a:rPr sz="2600" b="1" i="0">
                <a:solidFill>
                  <a:srgbClr val="FFFFFF"/>
                </a:solidFill>
                <a:latin typeface="Calibri"/>
              </a:rPr>
              <a:t>Lo que ya vimos el 28/09</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3/20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Clase 28/09/2026 — Clase2-Plataformas.pptx</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Miniaturas de las slides 8 (móvil) y 12 (intención vs. dispositivo) de la clase del 28/09.</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Táctil sin botón físico</a:t>
            </a:r>
          </a:p>
          <a:p>
            <a:pPr>
              <a:spcAft>
                <a:spcPts val="800"/>
              </a:spcAft>
            </a:pPr>
            <a:r>
              <a:rPr sz="1400" b="1" i="0">
                <a:solidFill>
                  <a:srgbClr val="0D9488"/>
                </a:solidFill>
                <a:latin typeface="Calibri"/>
              </a:rPr>
              <a:t>■  </a:t>
            </a:r>
            <a:r>
              <a:rPr sz="2000" b="0" i="0">
                <a:solidFill>
                  <a:srgbClr val="1F2937"/>
                </a:solidFill>
                <a:latin typeface="Calibri"/>
              </a:rPr>
              <a:t>Pantallas y zonas seguras</a:t>
            </a:r>
          </a:p>
          <a:p>
            <a:pPr>
              <a:spcAft>
                <a:spcPts val="800"/>
              </a:spcAft>
            </a:pPr>
            <a:r>
              <a:rPr sz="1400" b="1" i="0">
                <a:solidFill>
                  <a:srgbClr val="0D9488"/>
                </a:solidFill>
                <a:latin typeface="Calibri"/>
              </a:rPr>
              <a:t>■  </a:t>
            </a:r>
            <a:r>
              <a:rPr sz="2000" b="0" i="0">
                <a:solidFill>
                  <a:srgbClr val="1F2937"/>
                </a:solidFill>
                <a:latin typeface="Calibri"/>
              </a:rPr>
              <a:t>Batería y temperatura</a:t>
            </a:r>
          </a:p>
          <a:p>
            <a:pPr>
              <a:spcAft>
                <a:spcPts val="800"/>
              </a:spcAft>
            </a:pPr>
            <a:r>
              <a:rPr sz="1400" b="1" i="0">
                <a:solidFill>
                  <a:srgbClr val="0D9488"/>
                </a:solidFill>
                <a:latin typeface="Calibri"/>
              </a:rPr>
              <a:t>■  </a:t>
            </a:r>
            <a:r>
              <a:rPr sz="2000" b="0" i="0">
                <a:solidFill>
                  <a:srgbClr val="1F2937"/>
                </a:solidFill>
                <a:latin typeface="Calibri"/>
              </a:rPr>
              <a:t>Interrupciones del sistema</a:t>
            </a:r>
          </a:p>
          <a:p>
            <a:pPr>
              <a:spcAft>
                <a:spcPts val="800"/>
              </a:spcAft>
            </a:pPr>
            <a:r>
              <a:rPr sz="1400" b="1" i="0">
                <a:solidFill>
                  <a:srgbClr val="0D9488"/>
                </a:solidFill>
                <a:latin typeface="Calibri"/>
              </a:rPr>
              <a:t>■  </a:t>
            </a:r>
            <a:r>
              <a:rPr sz="2000" b="0" i="0">
                <a:solidFill>
                  <a:srgbClr val="1F2937"/>
                </a:solidFill>
                <a:latin typeface="Calibri"/>
              </a:rPr>
              <a:t>Intención ≠ dispositivo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OBJETIVOS</a:t>
            </a:r>
          </a:p>
          <a:p>
            <a:r>
              <a:rPr sz="2600" b="1" i="0">
                <a:solidFill>
                  <a:srgbClr val="FFFFFF"/>
                </a:solidFill>
                <a:latin typeface="Calibri"/>
              </a:rPr>
              <a:t>Al terminar la unidad podrán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4/20</a:t>
            </a:r>
          </a:p>
        </p:txBody>
      </p:sp>
      <p:sp>
        <p:nvSpPr>
          <p:cNvPr id="8" name="TextBox 7"/>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Explicar las restricciones del móvil</a:t>
            </a:r>
          </a:p>
          <a:p>
            <a:pPr>
              <a:spcAft>
                <a:spcPts val="800"/>
              </a:spcAft>
            </a:pPr>
            <a:r>
              <a:rPr sz="1400" b="1" i="0">
                <a:solidFill>
                  <a:srgbClr val="0D9488"/>
                </a:solidFill>
                <a:latin typeface="Calibri"/>
              </a:rPr>
              <a:t>■  </a:t>
            </a:r>
            <a:r>
              <a:rPr sz="2000" b="0" i="0">
                <a:solidFill>
                  <a:srgbClr val="1F2937"/>
                </a:solidFill>
                <a:latin typeface="Calibri"/>
              </a:rPr>
              <a:t>Detectar supuestos de PC en un juego</a:t>
            </a:r>
          </a:p>
          <a:p>
            <a:pPr>
              <a:spcAft>
                <a:spcPts val="800"/>
              </a:spcAft>
            </a:pPr>
            <a:r>
              <a:rPr sz="1400" b="1" i="0">
                <a:solidFill>
                  <a:srgbClr val="0D9488"/>
                </a:solidFill>
                <a:latin typeface="Calibri"/>
              </a:rPr>
              <a:t>■  </a:t>
            </a:r>
            <a:r>
              <a:rPr sz="2000" b="0" i="0">
                <a:solidFill>
                  <a:srgbClr val="1F2937"/>
                </a:solidFill>
                <a:latin typeface="Calibri"/>
              </a:rPr>
              <a:t>Diseñar controles táctiles medibles</a:t>
            </a:r>
          </a:p>
          <a:p>
            <a:pPr>
              <a:spcAft>
                <a:spcPts val="800"/>
              </a:spcAft>
            </a:pPr>
            <a:r>
              <a:rPr sz="1400" b="1" i="0">
                <a:solidFill>
                  <a:srgbClr val="0D9488"/>
                </a:solidFill>
                <a:latin typeface="Calibri"/>
              </a:rPr>
              <a:t>■  </a:t>
            </a:r>
            <a:r>
              <a:rPr sz="2000" b="0" i="0">
                <a:solidFill>
                  <a:srgbClr val="1F2937"/>
                </a:solidFill>
                <a:latin typeface="Calibri"/>
              </a:rPr>
              <a:t>Defender un modelo de monetización</a:t>
            </a:r>
          </a:p>
          <a:p>
            <a:pPr>
              <a:spcAft>
                <a:spcPts val="800"/>
              </a:spcAft>
            </a:pPr>
            <a:r>
              <a:rPr sz="1400" b="1" i="0">
                <a:solidFill>
                  <a:srgbClr val="0D9488"/>
                </a:solidFill>
                <a:latin typeface="Calibri"/>
              </a:rPr>
              <a:t>■  </a:t>
            </a:r>
            <a:r>
              <a:rPr sz="2000" b="0" i="0">
                <a:solidFill>
                  <a:srgbClr val="1F2937"/>
                </a:solidFill>
                <a:latin typeface="Calibri"/>
              </a:rPr>
              <a:t>Decidir qué probar y dónde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CONCEPTO</a:t>
            </a:r>
          </a:p>
          <a:p>
            <a:r>
              <a:rPr sz="2600" b="1" i="0">
                <a:solidFill>
                  <a:srgbClr val="FFFFFF"/>
                </a:solidFill>
                <a:latin typeface="Calibri"/>
              </a:rPr>
              <a:t>¿Qué es una plataforma?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5/20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"What Are the Best Platforms for Games?" (blog comercial, sin fecha visible; consultado 2026-10-05)</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¿Cuál de estas capas cambia más el diseño del juego?</a:t>
            </a:r>
          </a:p>
        </p:txBody>
      </p:sp>
      <p:graphicFrame>
        <p:nvGraphicFramePr>
          <p:cNvPr id="11" name="Table 10"/>
          <p:cNvGraphicFramePr>
            <a:graphicFrameLocks noGrp="1"/>
          </p:cNvGraphicFramePr>
          <p:nvPr/>
        </p:nvGraphicFramePr>
        <p:xfrm>
          <a:off x="502920" y="1234440"/>
          <a:ext cx="11185853" cy="2834640"/>
        </p:xfrm>
        <a:graphic>
          <a:graphicData uri="http://schemas.openxmlformats.org/drawingml/2006/table">
            <a:tbl>
              <a:tblPr firstRow="1" bandRow="1">
                <a:tableStyleId>{5C22544A-7EE6-4342-B048-85BDC9FD1C3A}</a:tableStyleId>
              </a:tblPr>
              <a:tblGrid>
                <a:gridCol w="3329123"/>
                <a:gridCol w="3195958"/>
                <a:gridCol w="4660772"/>
              </a:tblGrid>
              <a:tr h="566928">
                <a:tc>
                  <a:txBody>
                    <a:bodyPr wrap="square"/>
                    <a:lstStyle/>
                    <a:p>
                      <a:r>
                        <a:rPr sz="1400" b="1" i="0">
                          <a:solidFill>
                            <a:srgbClr val="FFFFFF"/>
                          </a:solidFill>
                          <a:latin typeface="Calibri"/>
                        </a:rPr>
                        <a:t>Capa</a:t>
                      </a:r>
                    </a:p>
                  </a:txBody>
                  <a:tcPr marL="73152" marR="73152" marT="36576" marB="36576" anchor="ctr">
                    <a:solidFill>
                      <a:srgbClr val="0D9488"/>
                    </a:solidFill>
                  </a:tcPr>
                </a:tc>
                <a:tc>
                  <a:txBody>
                    <a:bodyPr wrap="square"/>
                    <a:lstStyle/>
                    <a:p>
                      <a:r>
                        <a:rPr sz="1400" b="1" i="0">
                          <a:solidFill>
                            <a:srgbClr val="FFFFFF"/>
                          </a:solidFill>
                          <a:latin typeface="Calibri"/>
                        </a:rPr>
                        <a:t>Pregunta</a:t>
                      </a:r>
                    </a:p>
                  </a:txBody>
                  <a:tcPr marL="73152" marR="73152" marT="36576" marB="36576" anchor="ctr">
                    <a:solidFill>
                      <a:srgbClr val="0D9488"/>
                    </a:solidFill>
                  </a:tcPr>
                </a:tc>
                <a:tc>
                  <a:txBody>
                    <a:bodyPr wrap="square"/>
                    <a:lstStyle/>
                    <a:p>
                      <a:r>
                        <a:rPr sz="1400" b="1" i="0">
                          <a:solidFill>
                            <a:srgbClr val="FFFFFF"/>
                          </a:solidFill>
                          <a:latin typeface="Calibri"/>
                        </a:rPr>
                        <a:t>Ejemplos</a:t>
                      </a:r>
                    </a:p>
                  </a:txBody>
                  <a:tcPr marL="73152" marR="73152" marT="36576" marB="36576" anchor="ctr">
                    <a:solidFill>
                      <a:srgbClr val="0D9488"/>
                    </a:solidFill>
                  </a:tcPr>
                </a:tc>
              </a:tr>
              <a:tr h="566928">
                <a:tc>
                  <a:txBody>
                    <a:bodyPr wrap="square"/>
                    <a:lstStyle/>
                    <a:p>
                      <a:r>
                        <a:rPr sz="1400" b="0" i="0">
                          <a:solidFill>
                            <a:srgbClr val="1F2937"/>
                          </a:solidFill>
                          <a:latin typeface="Calibri"/>
                        </a:rPr>
                        <a:t>Ejecución</a:t>
                      </a:r>
                    </a:p>
                  </a:txBody>
                  <a:tcPr marL="73152" marR="73152" marT="36576" marB="36576" anchor="ctr">
                    <a:solidFill>
                      <a:srgbClr val="FFFFFF"/>
                    </a:solidFill>
                  </a:tcPr>
                </a:tc>
                <a:tc>
                  <a:txBody>
                    <a:bodyPr wrap="square"/>
                    <a:lstStyle/>
                    <a:p>
                      <a:r>
                        <a:rPr sz="1400" b="0" i="0">
                          <a:solidFill>
                            <a:srgbClr val="1F2937"/>
                          </a:solidFill>
                          <a:latin typeface="Calibri"/>
                        </a:rPr>
                        <a:t>¿Dónde corre?</a:t>
                      </a:r>
                    </a:p>
                  </a:txBody>
                  <a:tcPr marL="73152" marR="73152" marT="36576" marB="36576" anchor="ctr">
                    <a:solidFill>
                      <a:srgbClr val="FFFFFF"/>
                    </a:solidFill>
                  </a:tcPr>
                </a:tc>
                <a:tc>
                  <a:txBody>
                    <a:bodyPr wrap="square"/>
                    <a:lstStyle/>
                    <a:p>
                      <a:r>
                        <a:rPr sz="1400" b="0" i="0">
                          <a:solidFill>
                            <a:srgbClr val="1F2937"/>
                          </a:solidFill>
                          <a:latin typeface="Calibri"/>
                        </a:rPr>
                        <a:t>Teléfono, consola, PC</a:t>
                      </a:r>
                    </a:p>
                  </a:txBody>
                  <a:tcPr marL="73152" marR="73152" marT="36576" marB="36576" anchor="ctr">
                    <a:solidFill>
                      <a:srgbClr val="FFFFFF"/>
                    </a:solidFill>
                  </a:tcPr>
                </a:tc>
              </a:tr>
              <a:tr h="566928">
                <a:tc>
                  <a:txBody>
                    <a:bodyPr wrap="square"/>
                    <a:lstStyle/>
                    <a:p>
                      <a:r>
                        <a:rPr sz="1400" b="0" i="0">
                          <a:solidFill>
                            <a:srgbClr val="1F2937"/>
                          </a:solidFill>
                          <a:latin typeface="Calibri"/>
                        </a:rPr>
                        <a:t>Distribución</a:t>
                      </a:r>
                    </a:p>
                  </a:txBody>
                  <a:tcPr marL="73152" marR="73152" marT="36576" marB="36576" anchor="ctr">
                    <a:solidFill>
                      <a:srgbClr val="E6F4F2"/>
                    </a:solidFill>
                  </a:tcPr>
                </a:tc>
                <a:tc>
                  <a:txBody>
                    <a:bodyPr wrap="square"/>
                    <a:lstStyle/>
                    <a:p>
                      <a:r>
                        <a:rPr sz="1400" b="0" i="0">
                          <a:solidFill>
                            <a:srgbClr val="1F2937"/>
                          </a:solidFill>
                          <a:latin typeface="Calibri"/>
                        </a:rPr>
                        <a:t>¿Cómo llega?</a:t>
                      </a:r>
                    </a:p>
                  </a:txBody>
                  <a:tcPr marL="73152" marR="73152" marT="36576" marB="36576" anchor="ctr">
                    <a:solidFill>
                      <a:srgbClr val="E6F4F2"/>
                    </a:solidFill>
                  </a:tcPr>
                </a:tc>
                <a:tc>
                  <a:txBody>
                    <a:bodyPr wrap="square"/>
                    <a:lstStyle/>
                    <a:p>
                      <a:r>
                        <a:rPr sz="1400" b="0" i="0">
                          <a:solidFill>
                            <a:srgbClr val="1F2937"/>
                          </a:solidFill>
                          <a:latin typeface="Calibri"/>
                        </a:rPr>
                        <a:t>Google Play, App Store, Steam</a:t>
                      </a:r>
                    </a:p>
                  </a:txBody>
                  <a:tcPr marL="73152" marR="73152" marT="36576" marB="36576" anchor="ctr">
                    <a:solidFill>
                      <a:srgbClr val="E6F4F2"/>
                    </a:solidFill>
                  </a:tcPr>
                </a:tc>
              </a:tr>
              <a:tr h="566928">
                <a:tc>
                  <a:txBody>
                    <a:bodyPr wrap="square"/>
                    <a:lstStyle/>
                    <a:p>
                      <a:r>
                        <a:rPr sz="1400" b="0" i="0">
                          <a:solidFill>
                            <a:srgbClr val="1F2937"/>
                          </a:solidFill>
                          <a:latin typeface="Calibri"/>
                        </a:rPr>
                        <a:t>Servicio en la nube</a:t>
                      </a:r>
                    </a:p>
                  </a:txBody>
                  <a:tcPr marL="73152" marR="73152" marT="36576" marB="36576" anchor="ctr">
                    <a:solidFill>
                      <a:srgbClr val="FFFFFF"/>
                    </a:solidFill>
                  </a:tcPr>
                </a:tc>
                <a:tc>
                  <a:txBody>
                    <a:bodyPr wrap="square"/>
                    <a:lstStyle/>
                    <a:p>
                      <a:r>
                        <a:rPr sz="1400" b="0" i="0">
                          <a:solidFill>
                            <a:srgbClr val="1F2937"/>
                          </a:solidFill>
                          <a:latin typeface="Calibri"/>
                        </a:rPr>
                        <a:t>¿Dónde se procesa?</a:t>
                      </a:r>
                    </a:p>
                  </a:txBody>
                  <a:tcPr marL="73152" marR="73152" marT="36576" marB="36576" anchor="ctr">
                    <a:solidFill>
                      <a:srgbClr val="FFFFFF"/>
                    </a:solidFill>
                  </a:tcPr>
                </a:tc>
                <a:tc>
                  <a:txBody>
                    <a:bodyPr wrap="square"/>
                    <a:lstStyle/>
                    <a:p>
                      <a:r>
                        <a:rPr sz="1400" b="0" i="0">
                          <a:solidFill>
                            <a:srgbClr val="1F2937"/>
                          </a:solidFill>
                          <a:latin typeface="Calibri"/>
                        </a:rPr>
                        <a:t>GeForce Now</a:t>
                      </a:r>
                    </a:p>
                  </a:txBody>
                  <a:tcPr marL="73152" marR="73152" marT="36576" marB="36576" anchor="ctr">
                    <a:solidFill>
                      <a:srgbClr val="FFFFFF"/>
                    </a:solidFill>
                  </a:tcPr>
                </a:tc>
              </a:tr>
              <a:tr h="566928">
                <a:tc>
                  <a:txBody>
                    <a:bodyPr wrap="square"/>
                    <a:lstStyle/>
                    <a:p>
                      <a:r>
                        <a:rPr sz="1400" b="0" i="0">
                          <a:solidFill>
                            <a:srgbClr val="1F2937"/>
                          </a:solidFill>
                          <a:latin typeface="Calibri"/>
                        </a:rPr>
                        <a:t>Comunidad</a:t>
                      </a:r>
                    </a:p>
                  </a:txBody>
                  <a:tcPr marL="73152" marR="73152" marT="36576" marB="36576" anchor="ctr">
                    <a:solidFill>
                      <a:srgbClr val="E6F4F2"/>
                    </a:solidFill>
                  </a:tcPr>
                </a:tc>
                <a:tc>
                  <a:txBody>
                    <a:bodyPr wrap="square"/>
                    <a:lstStyle/>
                    <a:p>
                      <a:r>
                        <a:rPr sz="1400" b="0" i="0">
                          <a:solidFill>
                            <a:srgbClr val="1F2937"/>
                          </a:solidFill>
                          <a:latin typeface="Calibri"/>
                        </a:rPr>
                        <a:t>¿Dónde se mira?</a:t>
                      </a:r>
                    </a:p>
                  </a:txBody>
                  <a:tcPr marL="73152" marR="73152" marT="36576" marB="36576" anchor="ctr">
                    <a:solidFill>
                      <a:srgbClr val="E6F4F2"/>
                    </a:solidFill>
                  </a:tcPr>
                </a:tc>
                <a:tc>
                  <a:txBody>
                    <a:bodyPr wrap="square"/>
                    <a:lstStyle/>
                    <a:p>
                      <a:r>
                        <a:rPr sz="1400" b="0" i="0">
                          <a:solidFill>
                            <a:srgbClr val="1F2937"/>
                          </a:solidFill>
                          <a:latin typeface="Calibri"/>
                        </a:rPr>
                        <a:t>Twitch, YouTube</a:t>
                      </a:r>
                    </a:p>
                  </a:txBody>
                  <a:tcPr marL="73152" marR="73152" marT="36576" marB="36576" anchor="ctr">
                    <a:solidFill>
                      <a:srgbClr val="E6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CONTEXTO HISTÓRICO</a:t>
            </a:r>
          </a:p>
          <a:p>
            <a:r>
              <a:rPr sz="2600" b="1" i="0">
                <a:solidFill>
                  <a:srgbClr val="FFFFFF"/>
                </a:solidFill>
                <a:latin typeface="Calibri"/>
              </a:rPr>
              <a:t>De los arcades al bolsillo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6/20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consultado 2026-10-05); ejemplos históricos ampliamente documentados</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Línea de tiempo: gabinete arcade → consola en la TV → PC → Game Boy → teléfono → visor XR / nube.</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Arcade: la primera plataforma (Pong, 1972)</a:t>
            </a:r>
          </a:p>
          <a:p>
            <a:pPr>
              <a:spcAft>
                <a:spcPts val="800"/>
              </a:spcAft>
            </a:pPr>
            <a:r>
              <a:rPr sz="1400" b="1" i="0">
                <a:solidFill>
                  <a:srgbClr val="0D9488"/>
                </a:solidFill>
                <a:latin typeface="Calibri"/>
              </a:rPr>
              <a:t>■  </a:t>
            </a:r>
            <a:r>
              <a:rPr sz="2000" b="0" i="0">
                <a:solidFill>
                  <a:srgbClr val="1F2937"/>
                </a:solidFill>
                <a:latin typeface="Calibri"/>
              </a:rPr>
              <a:t>Consola doméstica y PC</a:t>
            </a:r>
          </a:p>
          <a:p>
            <a:pPr>
              <a:spcAft>
                <a:spcPts val="800"/>
              </a:spcAft>
            </a:pPr>
            <a:r>
              <a:rPr sz="1400" b="1" i="0">
                <a:solidFill>
                  <a:srgbClr val="0D9488"/>
                </a:solidFill>
                <a:latin typeface="Calibri"/>
              </a:rPr>
              <a:t>■  </a:t>
            </a:r>
            <a:r>
              <a:rPr sz="2000" b="0" i="0">
                <a:solidFill>
                  <a:srgbClr val="1F2937"/>
                </a:solidFill>
                <a:latin typeface="Calibri"/>
              </a:rPr>
              <a:t>Portátiles: Game Boy</a:t>
            </a:r>
          </a:p>
          <a:p>
            <a:pPr>
              <a:spcAft>
                <a:spcPts val="800"/>
              </a:spcAft>
            </a:pPr>
            <a:r>
              <a:rPr sz="1400" b="1" i="0">
                <a:solidFill>
                  <a:srgbClr val="0D9488"/>
                </a:solidFill>
                <a:latin typeface="Calibri"/>
              </a:rPr>
              <a:t>■  </a:t>
            </a:r>
            <a:r>
              <a:rPr sz="2000" b="0" i="0">
                <a:solidFill>
                  <a:srgbClr val="1F2937"/>
                </a:solidFill>
                <a:latin typeface="Calibri"/>
              </a:rPr>
              <a:t>Teléfono: el juego va en el bolsillo</a:t>
            </a:r>
          </a:p>
          <a:p>
            <a:pPr>
              <a:spcAft>
                <a:spcPts val="800"/>
              </a:spcAft>
            </a:pPr>
            <a:r>
              <a:rPr sz="1400" b="1" i="0">
                <a:solidFill>
                  <a:srgbClr val="0D9488"/>
                </a:solidFill>
                <a:latin typeface="Calibri"/>
              </a:rPr>
              <a:t>■  </a:t>
            </a:r>
            <a:r>
              <a:rPr sz="2000" b="0" i="0">
                <a:solidFill>
                  <a:srgbClr val="1F2937"/>
                </a:solidFill>
                <a:latin typeface="Calibri"/>
              </a:rPr>
              <a:t>Hoy: XR y nube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DISTRIBUCIÓN MÓVIL</a:t>
            </a:r>
          </a:p>
          <a:p>
            <a:r>
              <a:rPr sz="2600" b="1" i="0">
                <a:solidFill>
                  <a:srgbClr val="FFFFFF"/>
                </a:solidFill>
                <a:latin typeface="Calibri"/>
              </a:rPr>
              <a:t>Las tiendas cambiaron quién publica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7/20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consultado 2026-10-05)</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Si cualquiera puede publicar, ¿qué hace que un juego se encuentre?</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Estudios chicos llegan a millones</a:t>
            </a:r>
          </a:p>
          <a:p>
            <a:pPr>
              <a:spcAft>
                <a:spcPts val="800"/>
              </a:spcAft>
            </a:pPr>
            <a:r>
              <a:rPr sz="1600" b="1" i="0">
                <a:solidFill>
                  <a:srgbClr val="0D9488"/>
                </a:solidFill>
                <a:latin typeface="Calibri"/>
              </a:rPr>
              <a:t>■  </a:t>
            </a:r>
            <a:r>
              <a:rPr sz="2200" b="0" i="0">
                <a:solidFill>
                  <a:srgbClr val="1F2937"/>
                </a:solidFill>
                <a:latin typeface="Calibri"/>
              </a:rPr>
              <a:t>Éxitos casuales: Candy Crush, Clash of Clans</a:t>
            </a:r>
          </a:p>
          <a:p>
            <a:pPr>
              <a:spcAft>
                <a:spcPts val="800"/>
              </a:spcAft>
            </a:pPr>
            <a:r>
              <a:rPr sz="1600" b="1" i="0">
                <a:solidFill>
                  <a:srgbClr val="0D9488"/>
                </a:solidFill>
                <a:latin typeface="Calibri"/>
              </a:rPr>
              <a:t>■  </a:t>
            </a:r>
            <a:r>
              <a:rPr sz="2200" b="0" i="0">
                <a:solidFill>
                  <a:srgbClr val="1F2937"/>
                </a:solidFill>
                <a:latin typeface="Calibri"/>
              </a:rPr>
              <a:t>Éxito tardío: Among Us</a:t>
            </a:r>
          </a:p>
          <a:p>
            <a:pPr>
              <a:spcAft>
                <a:spcPts val="800"/>
              </a:spcAft>
            </a:pPr>
            <a:r>
              <a:rPr sz="1600" b="1" i="0">
                <a:solidFill>
                  <a:srgbClr val="0D9488"/>
                </a:solidFill>
                <a:latin typeface="Calibri"/>
              </a:rPr>
              <a:t>■  </a:t>
            </a:r>
            <a:r>
              <a:rPr sz="2200" b="0" i="0">
                <a:solidFill>
                  <a:srgbClr val="1F2937"/>
                </a:solidFill>
                <a:latin typeface="Calibri"/>
              </a:rPr>
              <a:t>Marcas grandes también: PUBG Mobile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a:t>
            </a:r>
          </a:p>
          <a:p>
            <a:r>
              <a:rPr sz="2600" b="1" i="0">
                <a:solidFill>
                  <a:srgbClr val="FFFFFF"/>
                </a:solidFill>
                <a:latin typeface="Calibri"/>
              </a:rPr>
              <a:t>Adentro del teléfono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8/20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Android Developers — ADPF; Arm GPU Best Practices §2.3</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Diagrama de bloques: SoC del teléfono (CPU+GPU+memoria juntos) vs. PC (CPU, GPU dedicada y RAM separadas, con ventiladores).</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CPU, GPU y memoria en un chip (SoC)</a:t>
            </a:r>
          </a:p>
          <a:p>
            <a:pPr>
              <a:spcAft>
                <a:spcPts val="800"/>
              </a:spcAft>
            </a:pPr>
            <a:r>
              <a:rPr sz="1600" b="1" i="0">
                <a:solidFill>
                  <a:srgbClr val="0D9488"/>
                </a:solidFill>
                <a:latin typeface="Calibri"/>
              </a:rPr>
              <a:t>■  </a:t>
            </a:r>
            <a:r>
              <a:rPr sz="2200" b="0" i="0">
                <a:solidFill>
                  <a:srgbClr val="1F2937"/>
                </a:solidFill>
                <a:latin typeface="Calibri"/>
              </a:rPr>
              <a:t>Comparten energía y calor</a:t>
            </a:r>
          </a:p>
          <a:p>
            <a:pPr>
              <a:spcAft>
                <a:spcPts val="800"/>
              </a:spcAft>
            </a:pPr>
            <a:r>
              <a:rPr sz="1600" b="1" i="0">
                <a:solidFill>
                  <a:srgbClr val="0D9488"/>
                </a:solidFill>
                <a:latin typeface="Calibri"/>
              </a:rPr>
              <a:t>■  </a:t>
            </a:r>
            <a:r>
              <a:rPr sz="2200" b="0" i="0">
                <a:solidFill>
                  <a:srgbClr val="1F2937"/>
                </a:solidFill>
                <a:latin typeface="Calibri"/>
              </a:rPr>
              <a:t>Núcleos y relojes variables</a:t>
            </a:r>
          </a:p>
          <a:p>
            <a:pPr>
              <a:spcAft>
                <a:spcPts val="800"/>
              </a:spcAft>
            </a:pPr>
            <a:r>
              <a:rPr sz="1600" b="1" i="0">
                <a:solidFill>
                  <a:srgbClr val="0D9488"/>
                </a:solidFill>
                <a:latin typeface="Calibri"/>
              </a:rPr>
              <a:t>■  </a:t>
            </a:r>
            <a:r>
              <a:rPr sz="2200" b="0" i="0">
                <a:solidFill>
                  <a:srgbClr val="1F2937"/>
                </a:solidFill>
                <a:latin typeface="Calibri"/>
              </a:rPr>
              <a:t>Sin ventilador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a:t>
            </a:r>
          </a:p>
          <a:p>
            <a:r>
              <a:rPr sz="2600" b="1" i="0">
                <a:solidFill>
                  <a:srgbClr val="FFFFFF"/>
                </a:solidFill>
                <a:latin typeface="Calibri"/>
              </a:rPr>
              <a:t>Dibujar dos veces cuesta más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9/20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Apple — Tailor your apps for Apple GPUs and TBDR; Arm GPU Best Practices §2.3, p. 15</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Pantalla dividida en tiles; en un tile, varias capas de partículas superpuestas sobre el mismo píxel.</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GPU por tiles (TBDR)</a:t>
            </a:r>
          </a:p>
          <a:p>
            <a:pPr>
              <a:spcAft>
                <a:spcPts val="800"/>
              </a:spcAft>
            </a:pPr>
            <a:r>
              <a:rPr sz="1600" b="1" i="0">
                <a:solidFill>
                  <a:srgbClr val="0D9488"/>
                </a:solidFill>
                <a:latin typeface="Calibri"/>
              </a:rPr>
              <a:t>■  </a:t>
            </a:r>
            <a:r>
              <a:rPr sz="2200" b="0" i="0">
                <a:solidFill>
                  <a:srgbClr val="1F2937"/>
                </a:solidFill>
                <a:latin typeface="Calibri"/>
              </a:rPr>
              <a:t>Memoria = ancho de banda = batería</a:t>
            </a:r>
          </a:p>
          <a:p>
            <a:pPr>
              <a:spcAft>
                <a:spcPts val="800"/>
              </a:spcAft>
            </a:pPr>
            <a:r>
              <a:rPr sz="1600" b="1" i="0">
                <a:solidFill>
                  <a:srgbClr val="0D9488"/>
                </a:solidFill>
                <a:latin typeface="Calibri"/>
              </a:rPr>
              <a:t>■  </a:t>
            </a:r>
            <a:r>
              <a:rPr sz="2200" b="0" i="0">
                <a:solidFill>
                  <a:srgbClr val="1F2937"/>
                </a:solidFill>
                <a:latin typeface="Calibri"/>
              </a:rPr>
              <a:t>Overdraw: el mismo píxel varias veces</a:t>
            </a:r>
          </a:p>
          <a:p>
            <a:pPr>
              <a:spcAft>
                <a:spcPts val="800"/>
              </a:spcAft>
            </a:pPr>
            <a:r>
              <a:rPr sz="1600" b="1" i="0">
                <a:solidFill>
                  <a:srgbClr val="0D9488"/>
                </a:solidFill>
                <a:latin typeface="Calibri"/>
              </a:rPr>
              <a:t>■  </a:t>
            </a:r>
            <a:r>
              <a:rPr sz="2200" b="0" i="0">
                <a:solidFill>
                  <a:srgbClr val="1F2937"/>
                </a:solidFill>
                <a:latin typeface="Calibri"/>
              </a:rPr>
              <a:t>Partículas y transparencias pesan más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CONCEPTO CLAVE</a:t>
            </a:r>
          </a:p>
          <a:p>
            <a:r>
              <a:rPr sz="2600" b="1" i="0">
                <a:solidFill>
                  <a:srgbClr val="FFFFFF"/>
                </a:solidFill>
                <a:latin typeface="Calibri"/>
              </a:rPr>
              <a:t>Pico vs. sostenido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10/20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e-book Optimize… mobile, XR and web (Unity 6), p. 19; Android Thermal API</a:t>
            </a:r>
          </a:p>
        </p:txBody>
      </p:sp>
      <p:sp>
        <p:nvSpPr>
          <p:cNvPr id="9" name="Rectangle 8"/>
          <p:cNvSpPr/>
          <p:nvPr/>
        </p:nvSpPr>
        <p:spPr>
          <a:xfrm>
            <a:off x="502920" y="5577840"/>
            <a:ext cx="109728"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C2626"/>
                </a:solidFill>
                <a:latin typeface="Calibri"/>
              </a:rPr>
              <a:t>VIDEO  </a:t>
            </a:r>
            <a:r>
              <a:rPr sz="1400" b="0" i="0">
                <a:solidFill>
                  <a:srgbClr val="1F2937"/>
                </a:solidFill>
                <a:latin typeface="Calibri"/>
              </a:rPr>
              <a:t>WWDC19 sesión 422 (Apple), 19:40–31:00 — tarea</a:t>
            </a:r>
          </a:p>
        </p:txBody>
      </p:sp>
      <p:sp>
        <p:nvSpPr>
          <p:cNvPr id="11" name="Rectangle 10"/>
          <p:cNvSpPr/>
          <p:nvPr/>
        </p:nvSpPr>
        <p:spPr>
          <a:xfrm>
            <a:off x="502920" y="502920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 y="502920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¿Cómo medirían que un juego es "estable"?</a:t>
            </a:r>
          </a:p>
        </p:txBody>
      </p:sp>
      <p:sp>
        <p:nvSpPr>
          <p:cNvPr id="13" name="Rectangle 12"/>
          <p:cNvSpPr/>
          <p:nvPr/>
        </p:nvSpPr>
        <p:spPr>
          <a:xfrm>
            <a:off x="7756855" y="1234440"/>
            <a:ext cx="3931920" cy="365760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Gráfico de fps en el tiempo que cae a los 8 minutos, superpuesto a una curva de temperatura que sube.</a:t>
            </a:r>
          </a:p>
        </p:txBody>
      </p:sp>
      <p:sp>
        <p:nvSpPr>
          <p:cNvPr id="14" name="TextBox 13"/>
          <p:cNvSpPr txBox="1"/>
          <p:nvPr/>
        </p:nvSpPr>
        <p:spPr>
          <a:xfrm>
            <a:off x="502920" y="1234440"/>
            <a:ext cx="6979615" cy="365760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Calor → throttling → caen los fps</a:t>
            </a:r>
          </a:p>
          <a:p>
            <a:pPr>
              <a:spcAft>
                <a:spcPts val="800"/>
              </a:spcAft>
            </a:pPr>
            <a:r>
              <a:rPr sz="1600" b="1" i="0">
                <a:solidFill>
                  <a:srgbClr val="0D9488"/>
                </a:solidFill>
                <a:latin typeface="Calibri"/>
              </a:rPr>
              <a:t>■  </a:t>
            </a:r>
            <a:r>
              <a:rPr sz="2200" b="0" i="0">
                <a:solidFill>
                  <a:srgbClr val="1F2937"/>
                </a:solidFill>
                <a:latin typeface="Calibri"/>
              </a:rPr>
              <a:t>Importa el minuto 10, no el 1</a:t>
            </a:r>
          </a:p>
          <a:p>
            <a:pPr>
              <a:spcAft>
                <a:spcPts val="800"/>
              </a:spcAft>
            </a:pPr>
            <a:r>
              <a:rPr sz="1600" b="1" i="0">
                <a:solidFill>
                  <a:srgbClr val="0D9488"/>
                </a:solidFill>
                <a:latin typeface="Calibri"/>
              </a:rPr>
              <a:t>■  </a:t>
            </a:r>
            <a:r>
              <a:rPr sz="2200" b="0" i="0">
                <a:solidFill>
                  <a:srgbClr val="1F2937"/>
                </a:solidFill>
                <a:latin typeface="Calibri"/>
              </a:rPr>
              <a:t>Usar ~65 % del tiempo de frame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11</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BATERÍA</a:t>
            </a:r>
          </a:p>
          <a:p>
            <a:r>
              <a:rPr sz="2600" b="1" i="0">
                <a:solidFill>
                  <a:srgbClr val="FFFFFF"/>
                </a:solidFill>
                <a:latin typeface="Calibri"/>
              </a:rPr>
              <a:t>30 fps no es un error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11/20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Scripting API — Application.targetFrameRate; Android — Optimize power efficiency</a:t>
            </a:r>
          </a:p>
        </p:txBody>
      </p:sp>
      <p:sp>
        <p:nvSpPr>
          <p:cNvPr id="9" name="TextBox 8"/>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Unity móvil: 30 fps por defecto</a:t>
            </a:r>
          </a:p>
          <a:p>
            <a:pPr>
              <a:spcAft>
                <a:spcPts val="800"/>
              </a:spcAft>
            </a:pPr>
            <a:r>
              <a:rPr sz="1600" b="1" i="0">
                <a:solidFill>
                  <a:srgbClr val="0D9488"/>
                </a:solidFill>
                <a:latin typeface="Calibri"/>
              </a:rPr>
              <a:t>■  </a:t>
            </a:r>
            <a:r>
              <a:rPr sz="2200" b="0" i="0">
                <a:solidFill>
                  <a:srgbClr val="1F2937"/>
                </a:solidFill>
                <a:latin typeface="Calibri"/>
              </a:rPr>
              <a:t>60 fps = el doble de trabajo</a:t>
            </a:r>
          </a:p>
          <a:p>
            <a:pPr>
              <a:spcAft>
                <a:spcPts val="800"/>
              </a:spcAft>
            </a:pPr>
            <a:r>
              <a:rPr sz="1600" b="1" i="0">
                <a:solidFill>
                  <a:srgbClr val="0D9488"/>
                </a:solidFill>
                <a:latin typeface="Calibri"/>
              </a:rPr>
              <a:t>■  </a:t>
            </a:r>
            <a:r>
              <a:rPr sz="2200" b="0" i="0">
                <a:solidFill>
                  <a:srgbClr val="1F2937"/>
                </a:solidFill>
                <a:latin typeface="Calibri"/>
              </a:rPr>
              <a:t>El fps es una decisión de diseño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12</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CICLO DE VIDA</a:t>
            </a:r>
          </a:p>
          <a:p>
            <a:r>
              <a:rPr sz="2600" b="1" i="0">
                <a:solidFill>
                  <a:srgbClr val="FFFFFF"/>
                </a:solidFill>
                <a:latin typeface="Calibri"/>
              </a:rPr>
              <a:t>El sistema operativo manda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12/20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Android — Low memory killers (2026-09-21); Apple — applicationDidReceiveMemoryWarning</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Diagrama de estados: activa → segundo plano → terminada, con una llamada entrante como disparador.</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Salir de la app = segundo plano</a:t>
            </a:r>
          </a:p>
          <a:p>
            <a:pPr>
              <a:spcAft>
                <a:spcPts val="800"/>
              </a:spcAft>
            </a:pPr>
            <a:r>
              <a:rPr sz="1600" b="1" i="0">
                <a:solidFill>
                  <a:srgbClr val="0D9488"/>
                </a:solidFill>
                <a:latin typeface="Calibri"/>
              </a:rPr>
              <a:t>■  </a:t>
            </a:r>
            <a:r>
              <a:rPr sz="2200" b="0" i="0">
                <a:solidFill>
                  <a:srgbClr val="1F2937"/>
                </a:solidFill>
                <a:latin typeface="Calibri"/>
              </a:rPr>
              <a:t>Sin memoria, el SO cierra procesos</a:t>
            </a:r>
          </a:p>
          <a:p>
            <a:pPr>
              <a:spcAft>
                <a:spcPts val="800"/>
              </a:spcAft>
            </a:pPr>
            <a:r>
              <a:rPr sz="1600" b="1" i="0">
                <a:solidFill>
                  <a:srgbClr val="0D9488"/>
                </a:solidFill>
                <a:latin typeface="Calibri"/>
              </a:rPr>
              <a:t>■  </a:t>
            </a:r>
            <a:r>
              <a:rPr sz="2200" b="0" i="0">
                <a:solidFill>
                  <a:srgbClr val="1F2937"/>
                </a:solidFill>
                <a:latin typeface="Calibri"/>
              </a:rPr>
              <a:t>onTrimMemory no lo evita</a:t>
            </a:r>
          </a:p>
          <a:p>
            <a:pPr>
              <a:spcAft>
                <a:spcPts val="800"/>
              </a:spcAft>
            </a:pPr>
            <a:r>
              <a:rPr sz="1600" b="1" i="0">
                <a:solidFill>
                  <a:srgbClr val="0D9488"/>
                </a:solidFill>
                <a:latin typeface="Calibri"/>
              </a:rPr>
              <a:t>■  </a:t>
            </a:r>
            <a:r>
              <a:rPr sz="2200" b="0" i="0">
                <a:solidFill>
                  <a:srgbClr val="1F2937"/>
                </a:solidFill>
                <a:latin typeface="Calibri"/>
              </a:rPr>
              <a:t>Diseño: guardar estado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13</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LA MÁQUINA · UNITY</a:t>
            </a:r>
          </a:p>
          <a:p>
            <a:r>
              <a:rPr sz="2600" b="1" i="0">
                <a:solidFill>
                  <a:srgbClr val="FFFFFF"/>
                </a:solidFill>
                <a:latin typeface="Calibri"/>
              </a:rPr>
              <a:t>Qué hace Unity con eso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13/20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Scripting API — MonoBehaviour.OnApplicationPause / OnApplicationFocus</a:t>
            </a:r>
          </a:p>
        </p:txBody>
      </p:sp>
      <p:sp>
        <p:nvSpPr>
          <p:cNvPr id="9" name="TextBox 8"/>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OnApplicationPause(bool)</a:t>
            </a:r>
          </a:p>
          <a:p>
            <a:pPr>
              <a:spcAft>
                <a:spcPts val="800"/>
              </a:spcAft>
            </a:pPr>
            <a:r>
              <a:rPr sz="1600" b="1" i="0">
                <a:solidFill>
                  <a:srgbClr val="0D9488"/>
                </a:solidFill>
                <a:latin typeface="Calibri"/>
              </a:rPr>
              <a:t>■  </a:t>
            </a:r>
            <a:r>
              <a:rPr sz="2200" b="0" i="0">
                <a:solidFill>
                  <a:srgbClr val="1F2937"/>
                </a:solidFill>
                <a:latin typeface="Calibri"/>
              </a:rPr>
              <a:t>OnApplicationFocus(bool)</a:t>
            </a:r>
          </a:p>
          <a:p>
            <a:pPr>
              <a:spcAft>
                <a:spcPts val="800"/>
              </a:spcAft>
            </a:pPr>
            <a:r>
              <a:rPr sz="1600" b="1" i="0">
                <a:solidFill>
                  <a:srgbClr val="0D9488"/>
                </a:solidFill>
                <a:latin typeface="Calibri"/>
              </a:rPr>
              <a:t>■  </a:t>
            </a:r>
            <a:r>
              <a:rPr sz="2200" b="0" i="0">
                <a:solidFill>
                  <a:srgbClr val="1F2937"/>
                </a:solidFill>
                <a:latin typeface="Calibri"/>
              </a:rPr>
              <a:t>Teclado en Android → pierde el foco</a:t>
            </a:r>
          </a:p>
          <a:p>
            <a:pPr>
              <a:spcAft>
                <a:spcPts val="800"/>
              </a:spcAft>
            </a:pPr>
            <a:r>
              <a:rPr sz="1600" b="1" i="0">
                <a:solidFill>
                  <a:srgbClr val="0D9488"/>
                </a:solidFill>
                <a:latin typeface="Calibri"/>
              </a:rPr>
              <a:t>■  </a:t>
            </a:r>
            <a:r>
              <a:rPr sz="2200" b="0" i="0">
                <a:solidFill>
                  <a:srgbClr val="1F2937"/>
                </a:solidFill>
                <a:latin typeface="Calibri"/>
              </a:rPr>
              <a:t>Asteroides no los usa (S8)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14</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15 MIN · PAREJAS</a:t>
            </a:r>
          </a:p>
          <a:p>
            <a:r>
              <a:rPr sz="2600" b="1" i="0">
                <a:solidFill>
                  <a:srgbClr val="FFFFFF"/>
                </a:solidFill>
                <a:latin typeface="Calibri"/>
              </a:rPr>
              <a:t>Actividad A4.1 — Diagnóstico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14/20</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Una restricción por fila. Prohibido "el teléfono es lento".</a:t>
            </a:r>
          </a:p>
        </p:txBody>
      </p:sp>
      <p:graphicFrame>
        <p:nvGraphicFramePr>
          <p:cNvPr id="10" name="Table 9"/>
          <p:cNvGraphicFramePr>
            <a:graphicFrameLocks noGrp="1"/>
          </p:cNvGraphicFramePr>
          <p:nvPr/>
        </p:nvGraphicFramePr>
        <p:xfrm>
          <a:off x="502920" y="1234440"/>
          <a:ext cx="11185853" cy="3968496"/>
        </p:xfrm>
        <a:graphic>
          <a:graphicData uri="http://schemas.openxmlformats.org/drawingml/2006/table">
            <a:tbl>
              <a:tblPr firstRow="1" bandRow="1">
                <a:tableStyleId>{5C22544A-7EE6-4342-B048-85BDC9FD1C3A}</a:tableStyleId>
              </a:tblPr>
              <a:tblGrid>
                <a:gridCol w="5022220"/>
                <a:gridCol w="2168686"/>
                <a:gridCol w="1940403"/>
                <a:gridCol w="2054544"/>
              </a:tblGrid>
              <a:tr h="566928">
                <a:tc>
                  <a:txBody>
                    <a:bodyPr wrap="square"/>
                    <a:lstStyle/>
                    <a:p>
                      <a:r>
                        <a:rPr sz="1200" b="1" i="0">
                          <a:solidFill>
                            <a:srgbClr val="FFFFFF"/>
                          </a:solidFill>
                          <a:latin typeface="Calibri"/>
                        </a:rPr>
                        <a:t>Reporte del jugador</a:t>
                      </a:r>
                    </a:p>
                  </a:txBody>
                  <a:tcPr marL="73152" marR="73152" marT="36576" marB="36576" anchor="ctr">
                    <a:solidFill>
                      <a:srgbClr val="0D9488"/>
                    </a:solidFill>
                  </a:tcPr>
                </a:tc>
                <a:tc>
                  <a:txBody>
                    <a:bodyPr wrap="square"/>
                    <a:lstStyle/>
                    <a:p>
                      <a:r>
                        <a:rPr sz="1200" b="1" i="0">
                          <a:solidFill>
                            <a:srgbClr val="FFFFFF"/>
                          </a:solidFill>
                          <a:latin typeface="Calibri"/>
                        </a:rPr>
                        <a:t>¿Restricción?</a:t>
                      </a:r>
                    </a:p>
                  </a:txBody>
                  <a:tcPr marL="73152" marR="73152" marT="36576" marB="36576" anchor="ctr">
                    <a:solidFill>
                      <a:srgbClr val="0D9488"/>
                    </a:solidFill>
                  </a:tcPr>
                </a:tc>
                <a:tc>
                  <a:txBody>
                    <a:bodyPr wrap="square"/>
                    <a:lstStyle/>
                    <a:p>
                      <a:r>
                        <a:rPr sz="1200" b="1" i="0">
                          <a:solidFill>
                            <a:srgbClr val="FFFFFF"/>
                          </a:solidFill>
                          <a:latin typeface="Calibri"/>
                        </a:rPr>
                        <a:t>¿Evidencia?</a:t>
                      </a:r>
                    </a:p>
                  </a:txBody>
                  <a:tcPr marL="73152" marR="73152" marT="36576" marB="36576" anchor="ctr">
                    <a:solidFill>
                      <a:srgbClr val="0D9488"/>
                    </a:solidFill>
                  </a:tcPr>
                </a:tc>
                <a:tc>
                  <a:txBody>
                    <a:bodyPr wrap="square"/>
                    <a:lstStyle/>
                    <a:p>
                      <a:r>
                        <a:rPr sz="1200" b="1" i="0">
                          <a:solidFill>
                            <a:srgbClr val="FFFFFF"/>
                          </a:solidFill>
                          <a:latin typeface="Calibri"/>
                        </a:rPr>
                        <a:t>¿Qué prueba?</a:t>
                      </a:r>
                    </a:p>
                  </a:txBody>
                  <a:tcPr marL="73152" marR="73152" marT="36576" marB="36576" anchor="ctr">
                    <a:solidFill>
                      <a:srgbClr val="0D9488"/>
                    </a:solidFill>
                  </a:tcPr>
                </a:tc>
              </a:tr>
              <a:tr h="566928">
                <a:tc>
                  <a:txBody>
                    <a:bodyPr wrap="square"/>
                    <a:lstStyle/>
                    <a:p>
                      <a:r>
                        <a:rPr sz="1200" b="0" i="0">
                          <a:solidFill>
                            <a:srgbClr val="1F2937"/>
                          </a:solidFill>
                          <a:latin typeface="Calibri"/>
                        </a:rPr>
                        <a:t>Se cerró al volver de WhatsApp</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A los 10 min se traba y quema</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Pausa bajo la cámara</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Score diminuto en la tablet</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r h="566928">
                <a:tc>
                  <a:txBody>
                    <a:bodyPr wrap="square"/>
                    <a:lstStyle/>
                    <a:p>
                      <a:r>
                        <a:rPr sz="1200" b="0" i="0">
                          <a:solidFill>
                            <a:srgbClr val="1F2937"/>
                          </a:solidFill>
                          <a:latin typeface="Calibri"/>
                        </a:rPr>
                        <a:t>Sin batería en media hora</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c>
                  <a:txBody>
                    <a:bodyPr wrap="square"/>
                    <a:lstStyle/>
                    <a:p>
                      <a:r>
                        <a:rPr sz="1200" b="0" i="0">
                          <a:solidFill>
                            <a:srgbClr val="1F2937"/>
                          </a:solidFill>
                          <a:latin typeface="Calibri"/>
                        </a:rPr>
                        <a:t/>
                      </a:r>
                    </a:p>
                  </a:txBody>
                  <a:tcPr marL="73152" marR="73152" marT="36576" marB="36576" anchor="ctr">
                    <a:solidFill>
                      <a:srgbClr val="FFFFFF"/>
                    </a:solidFill>
                  </a:tcPr>
                </a:tc>
              </a:tr>
              <a:tr h="566928">
                <a:tc>
                  <a:txBody>
                    <a:bodyPr wrap="square"/>
                    <a:lstStyle/>
                    <a:p>
                      <a:r>
                        <a:rPr sz="1200" b="0" i="0">
                          <a:solidFill>
                            <a:srgbClr val="1F2937"/>
                          </a:solidFill>
                          <a:latin typeface="Calibri"/>
                        </a:rPr>
                        <a:t>En el emulador anda, en mi teléfono no</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c>
                  <a:txBody>
                    <a:bodyPr wrap="square"/>
                    <a:lstStyle/>
                    <a:p>
                      <a:r>
                        <a:rPr sz="1200" b="0" i="0">
                          <a:solidFill>
                            <a:srgbClr val="1F2937"/>
                          </a:solidFill>
                          <a:latin typeface="Calibri"/>
                        </a:rPr>
                        <a:t/>
                      </a:r>
                    </a:p>
                  </a:txBody>
                  <a:tcPr marL="73152" marR="73152" marT="36576" marB="36576" anchor="ctr">
                    <a:solidFill>
                      <a:srgbClr val="E6F4F2"/>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15</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DEMO EN VIVO</a:t>
            </a:r>
          </a:p>
          <a:p>
            <a:r>
              <a:rPr sz="2600" b="1" i="0">
                <a:solidFill>
                  <a:srgbClr val="FFFFFF"/>
                </a:solidFill>
                <a:latin typeface="Calibri"/>
              </a:rPr>
              <a:t>Demo: el simulador y sus límites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15/20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Device Simulator introduction; Android Player settings</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Device Simulator con Asteroides en vertical y los asteroides apareciendo fuera de pantalla.</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Player Settings de Android</a:t>
            </a:r>
          </a:p>
          <a:p>
            <a:pPr>
              <a:spcAft>
                <a:spcPts val="800"/>
              </a:spcAft>
            </a:pPr>
            <a:r>
              <a:rPr sz="1600" b="1" i="0">
                <a:solidFill>
                  <a:srgbClr val="0D9488"/>
                </a:solidFill>
                <a:latin typeface="Calibri"/>
              </a:rPr>
              <a:t>■  </a:t>
            </a:r>
            <a:r>
              <a:rPr sz="2200" b="0" i="0">
                <a:solidFill>
                  <a:srgbClr val="1F2937"/>
                </a:solidFill>
                <a:latin typeface="Calibri"/>
              </a:rPr>
              <a:t>Device Simulator: qué simula</a:t>
            </a:r>
          </a:p>
          <a:p>
            <a:pPr>
              <a:spcAft>
                <a:spcPts val="800"/>
              </a:spcAft>
            </a:pPr>
            <a:r>
              <a:rPr sz="1600" b="1" i="0">
                <a:solidFill>
                  <a:srgbClr val="0D9488"/>
                </a:solidFill>
                <a:latin typeface="Calibri"/>
              </a:rPr>
              <a:t>■  </a:t>
            </a:r>
            <a:r>
              <a:rPr sz="2200" b="0" i="0">
                <a:solidFill>
                  <a:srgbClr val="1F2937"/>
                </a:solidFill>
                <a:latin typeface="Calibri"/>
              </a:rPr>
              <a:t>Y qué NO simula</a:t>
            </a:r>
          </a:p>
          <a:p>
            <a:pPr>
              <a:spcAft>
                <a:spcPts val="800"/>
              </a:spcAft>
            </a:pPr>
            <a:r>
              <a:rPr sz="1600" b="1" i="0">
                <a:solidFill>
                  <a:srgbClr val="0D9488"/>
                </a:solidFill>
                <a:latin typeface="Calibri"/>
              </a:rPr>
              <a:t>■  </a:t>
            </a:r>
            <a:r>
              <a:rPr sz="2200" b="0" i="0">
                <a:solidFill>
                  <a:srgbClr val="1F2937"/>
                </a:solidFill>
                <a:latin typeface="Calibri"/>
              </a:rPr>
              <a:t>Asteroides en vertical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16</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ACTIVIDAD · 20 MIN · GRUPOS</a:t>
            </a:r>
          </a:p>
          <a:p>
            <a:r>
              <a:rPr sz="2600" b="1" i="0">
                <a:solidFill>
                  <a:srgbClr val="FFFFFF"/>
                </a:solidFill>
                <a:latin typeface="Calibri"/>
              </a:rPr>
              <a:t>Actividad A4.2 — Supuestos de PC</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16/20</a:t>
            </a:r>
          </a:p>
        </p:txBody>
      </p:sp>
      <p:sp>
        <p:nvSpPr>
          <p:cNvPr id="8" name="Rectangle 7"/>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5 supuestos: dónde (archivo:línea), qué pasaría, qué eje.</a:t>
            </a:r>
          </a:p>
        </p:txBody>
      </p:sp>
      <p:sp>
        <p:nvSpPr>
          <p:cNvPr id="10" name="Rectangle 9"/>
          <p:cNvSpPr/>
          <p:nvPr/>
        </p:nvSpPr>
        <p:spPr>
          <a:xfrm>
            <a:off x="7756855" y="1234440"/>
            <a:ext cx="3931920" cy="420624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Fragmento de Ship.cs 61–73 con las tres llamadas a Input.GetKey resaltadas.</a:t>
            </a:r>
          </a:p>
        </p:txBody>
      </p:sp>
      <p:sp>
        <p:nvSpPr>
          <p:cNvPr id="11" name="TextBox 10"/>
          <p:cNvSpPr txBox="1"/>
          <p:nvPr/>
        </p:nvSpPr>
        <p:spPr>
          <a:xfrm>
            <a:off x="502920" y="1234440"/>
            <a:ext cx="697961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Ship.cs 61–73: el control</a:t>
            </a:r>
          </a:p>
          <a:p>
            <a:pPr>
              <a:spcAft>
                <a:spcPts val="800"/>
              </a:spcAft>
            </a:pPr>
            <a:r>
              <a:rPr sz="1600" b="1" i="0">
                <a:solidFill>
                  <a:srgbClr val="0D9488"/>
                </a:solidFill>
                <a:latin typeface="Calibri"/>
              </a:rPr>
              <a:t>■  </a:t>
            </a:r>
            <a:r>
              <a:rPr sz="2200" b="0" i="0">
                <a:solidFill>
                  <a:srgbClr val="1F2937"/>
                </a:solidFill>
                <a:latin typeface="Calibri"/>
              </a:rPr>
              <a:t>Ship.cs 46–47 y 99–115: los límites</a:t>
            </a:r>
          </a:p>
          <a:p>
            <a:pPr>
              <a:spcAft>
                <a:spcPts val="800"/>
              </a:spcAft>
            </a:pPr>
            <a:r>
              <a:rPr sz="1600" b="1" i="0">
                <a:solidFill>
                  <a:srgbClr val="0D9488"/>
                </a:solidFill>
                <a:latin typeface="Calibri"/>
              </a:rPr>
              <a:t>■  </a:t>
            </a:r>
            <a:r>
              <a:rPr sz="2200" b="0" i="0">
                <a:solidFill>
                  <a:srgbClr val="1F2937"/>
                </a:solidFill>
                <a:latin typeface="Calibri"/>
              </a:rPr>
              <a:t>Spawner.cs 101–106: el spawn</a:t>
            </a:r>
          </a:p>
          <a:p>
            <a:pPr>
              <a:spcAft>
                <a:spcPts val="800"/>
              </a:spcAft>
            </a:pPr>
            <a:r>
              <a:rPr sz="1600" b="1" i="0">
                <a:solidFill>
                  <a:srgbClr val="0D9488"/>
                </a:solidFill>
                <a:latin typeface="Calibri"/>
              </a:rPr>
              <a:t>■  </a:t>
            </a:r>
            <a:r>
              <a:rPr sz="2200" b="0" i="0">
                <a:solidFill>
                  <a:srgbClr val="1F2937"/>
                </a:solidFill>
                <a:latin typeface="Calibri"/>
              </a:rPr>
              <a:t>Prefab Game: Canvas y cámara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17</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PUESTA EN COMÚN</a:t>
            </a:r>
          </a:p>
          <a:p>
            <a:r>
              <a:rPr sz="2600" b="1" i="0">
                <a:solidFill>
                  <a:srgbClr val="FFFFFF"/>
                </a:solidFill>
                <a:latin typeface="Calibri"/>
              </a:rPr>
              <a:t>Lo que encontramos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17/20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Código del proyecto (Spawner.cs:101-106; prefab Game, Camera)</a:t>
            </a:r>
          </a:p>
        </p:txBody>
      </p:sp>
      <p:sp>
        <p:nvSpPr>
          <p:cNvPr id="9" name="Rectangle 8"/>
          <p:cNvSpPr/>
          <p:nvPr/>
        </p:nvSpPr>
        <p:spPr>
          <a:xfrm>
            <a:off x="7756855" y="1234440"/>
            <a:ext cx="3931920" cy="4754880"/>
          </a:xfrm>
          <a:prstGeom prst="rect">
            <a:avLst/>
          </a:prstGeom>
          <a:solidFill>
            <a:srgbClr val="F3F4F6"/>
          </a:solidFill>
          <a:ln>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6B7280"/>
                </a:solidFill>
                <a:latin typeface="Calibri"/>
              </a:rPr>
              <a:t>[IMAGEN SUGERIDA]</a:t>
            </a:r>
          </a:p>
          <a:p>
            <a:pPr algn="ctr"/>
            <a:r>
              <a:rPr sz="1300" b="0" i="1">
                <a:solidFill>
                  <a:srgbClr val="6B7280"/>
                </a:solidFill>
                <a:latin typeface="Calibri"/>
              </a:rPr>
              <a:t>Dos capturas lado a lado, 16:9 y 9:16, con el rango de spawn [−8, 8] marcado sobre cada una.</a:t>
            </a:r>
          </a:p>
        </p:txBody>
      </p:sp>
      <p:sp>
        <p:nvSpPr>
          <p:cNvPr id="10" name="TextBox 9"/>
          <p:cNvSpPr txBox="1"/>
          <p:nvPr/>
        </p:nvSpPr>
        <p:spPr>
          <a:xfrm>
            <a:off x="502920" y="1234440"/>
            <a:ext cx="697961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Vista: 5 × aspect a cada lado</a:t>
            </a:r>
          </a:p>
          <a:p>
            <a:pPr>
              <a:spcAft>
                <a:spcPts val="800"/>
              </a:spcAft>
            </a:pPr>
            <a:r>
              <a:rPr sz="1600" b="1" i="0">
                <a:solidFill>
                  <a:srgbClr val="0D9488"/>
                </a:solidFill>
                <a:latin typeface="Calibri"/>
              </a:rPr>
              <a:t>■  </a:t>
            </a:r>
            <a:r>
              <a:rPr sz="2200" b="0" i="0">
                <a:solidFill>
                  <a:srgbClr val="1F2937"/>
                </a:solidFill>
                <a:latin typeface="Calibri"/>
              </a:rPr>
              <a:t>16:9 → ≈ 8,9 · vertical → ≈ 2,8</a:t>
            </a:r>
          </a:p>
          <a:p>
            <a:pPr>
              <a:spcAft>
                <a:spcPts val="800"/>
              </a:spcAft>
            </a:pPr>
            <a:r>
              <a:rPr sz="1600" b="1" i="0">
                <a:solidFill>
                  <a:srgbClr val="0D9488"/>
                </a:solidFill>
                <a:latin typeface="Calibri"/>
              </a:rPr>
              <a:t>■  </a:t>
            </a:r>
            <a:r>
              <a:rPr sz="2200" b="0" i="0">
                <a:solidFill>
                  <a:srgbClr val="1F2937"/>
                </a:solidFill>
                <a:latin typeface="Calibri"/>
              </a:rPr>
              <a:t>Spawn en x ∈ [−8, 8]</a:t>
            </a:r>
          </a:p>
          <a:p>
            <a:pPr>
              <a:spcAft>
                <a:spcPts val="800"/>
              </a:spcAft>
            </a:pPr>
            <a:r>
              <a:rPr sz="1600" b="1" i="0">
                <a:solidFill>
                  <a:srgbClr val="0D9488"/>
                </a:solidFill>
                <a:latin typeface="Calibri"/>
              </a:rPr>
              <a:t>■  </a:t>
            </a:r>
            <a:r>
              <a:rPr sz="2200" b="0" i="0">
                <a:solidFill>
                  <a:srgbClr val="1F2937"/>
                </a:solidFill>
                <a:latin typeface="Calibri"/>
              </a:rPr>
              <a:t>En vertical, nacen fuera de pantalla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18</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DECISIÓN</a:t>
            </a:r>
          </a:p>
          <a:p>
            <a:r>
              <a:rPr sz="2600" b="1" i="0">
                <a:solidFill>
                  <a:srgbClr val="FFFFFF"/>
                </a:solidFill>
                <a:latin typeface="Calibri"/>
              </a:rPr>
              <a:t>¿Cómo se elige una plataforma?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18/20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Kevuru Games (blog, consultado 2026-10-05) + criterio de la cátedra</a:t>
            </a:r>
          </a:p>
        </p:txBody>
      </p:sp>
      <p:sp>
        <p:nvSpPr>
          <p:cNvPr id="9" name="Rectangle 8"/>
          <p:cNvSpPr/>
          <p:nvPr/>
        </p:nvSpPr>
        <p:spPr>
          <a:xfrm>
            <a:off x="502920" y="5577840"/>
            <a:ext cx="109728"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D97706"/>
                </a:solidFill>
                <a:latin typeface="Calibri"/>
              </a:rPr>
              <a:t>PREGUNTA  </a:t>
            </a:r>
            <a:r>
              <a:rPr sz="1400" b="0" i="0">
                <a:solidFill>
                  <a:srgbClr val="1F2937"/>
                </a:solidFill>
                <a:latin typeface="Calibri"/>
              </a:rPr>
              <a:t>Con estos criterios: ¿Asteroides es un juego para móvil?</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400" b="1" i="0">
                <a:solidFill>
                  <a:srgbClr val="0D9488"/>
                </a:solidFill>
                <a:latin typeface="Calibri"/>
              </a:rPr>
              <a:t>■  </a:t>
            </a:r>
            <a:r>
              <a:rPr sz="2000" b="0" i="0">
                <a:solidFill>
                  <a:srgbClr val="1F2937"/>
                </a:solidFill>
                <a:latin typeface="Calibri"/>
              </a:rPr>
              <a:t>Audiencia</a:t>
            </a:r>
          </a:p>
          <a:p>
            <a:pPr>
              <a:spcAft>
                <a:spcPts val="800"/>
              </a:spcAft>
            </a:pPr>
            <a:r>
              <a:rPr sz="1400" b="1" i="0">
                <a:solidFill>
                  <a:srgbClr val="0D9488"/>
                </a:solidFill>
                <a:latin typeface="Calibri"/>
              </a:rPr>
              <a:t>■  </a:t>
            </a:r>
            <a:r>
              <a:rPr sz="2000" b="0" i="0">
                <a:solidFill>
                  <a:srgbClr val="1F2937"/>
                </a:solidFill>
                <a:latin typeface="Calibri"/>
              </a:rPr>
              <a:t>Modelo de monetización</a:t>
            </a:r>
          </a:p>
          <a:p>
            <a:pPr>
              <a:spcAft>
                <a:spcPts val="800"/>
              </a:spcAft>
            </a:pPr>
            <a:r>
              <a:rPr sz="1400" b="1" i="0">
                <a:solidFill>
                  <a:srgbClr val="0D9488"/>
                </a:solidFill>
                <a:latin typeface="Calibri"/>
              </a:rPr>
              <a:t>■  </a:t>
            </a:r>
            <a:r>
              <a:rPr sz="2000" b="0" i="0">
                <a:solidFill>
                  <a:srgbClr val="1F2937"/>
                </a:solidFill>
                <a:latin typeface="Calibri"/>
              </a:rPr>
              <a:t>Herramientas y soporte</a:t>
            </a:r>
          </a:p>
          <a:p>
            <a:pPr>
              <a:spcAft>
                <a:spcPts val="800"/>
              </a:spcAft>
            </a:pPr>
            <a:r>
              <a:rPr sz="1400" b="1" i="0">
                <a:solidFill>
                  <a:srgbClr val="0D9488"/>
                </a:solidFill>
                <a:latin typeface="Calibri"/>
              </a:rPr>
              <a:t>■  </a:t>
            </a:r>
            <a:r>
              <a:rPr sz="2000" b="0" i="0">
                <a:solidFill>
                  <a:srgbClr val="1F2937"/>
                </a:solidFill>
                <a:latin typeface="Calibri"/>
              </a:rPr>
              <a:t>Vigencia en el tiempo</a:t>
            </a:r>
          </a:p>
          <a:p>
            <a:pPr>
              <a:spcAft>
                <a:spcPts val="800"/>
              </a:spcAft>
            </a:pPr>
            <a:r>
              <a:rPr sz="1400" b="1" i="0">
                <a:solidFill>
                  <a:srgbClr val="0D9488"/>
                </a:solidFill>
                <a:latin typeface="Calibri"/>
              </a:rPr>
              <a:t>■  </a:t>
            </a:r>
            <a:r>
              <a:rPr sz="2000" b="0" i="0">
                <a:solidFill>
                  <a:srgbClr val="1F2937"/>
                </a:solidFill>
                <a:latin typeface="Calibri"/>
              </a:rPr>
              <a:t>+ Restricciones técnicas (hoy)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19</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LECTURA CRÍTICA · 5 MIN</a:t>
            </a:r>
          </a:p>
          <a:p>
            <a:r>
              <a:rPr sz="2600" b="1" i="0">
                <a:solidFill>
                  <a:srgbClr val="FFFFFF"/>
                </a:solidFill>
                <a:latin typeface="Calibri"/>
              </a:rPr>
              <a:t>Leer con lupa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19/20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Google — mensaje oficial sobre el cierre de Stadia (2022); EA — anuncio de la EA app (06/10/2022)</a:t>
            </a:r>
          </a:p>
        </p:txBody>
      </p:sp>
      <p:sp>
        <p:nvSpPr>
          <p:cNvPr id="9" name="Rectangle 8"/>
          <p:cNvSpPr/>
          <p:nvPr/>
        </p:nvSpPr>
        <p:spPr>
          <a:xfrm>
            <a:off x="502920" y="5577840"/>
            <a:ext cx="109728" cy="4572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5577840"/>
            <a:ext cx="11076127" cy="457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300" b="1" i="0">
                <a:solidFill>
                  <a:srgbClr val="16A34A"/>
                </a:solidFill>
                <a:latin typeface="Calibri"/>
              </a:rPr>
              <a:t>ACTIVIDAD  </a:t>
            </a:r>
            <a:r>
              <a:rPr sz="1400" b="0" i="0">
                <a:solidFill>
                  <a:srgbClr val="1F2937"/>
                </a:solidFill>
                <a:latin typeface="Calibri"/>
              </a:rPr>
              <a:t>Antes de citar un dato, busquen la fuente primaria.</a:t>
            </a:r>
          </a:p>
        </p:txBody>
      </p:sp>
      <p:sp>
        <p:nvSpPr>
          <p:cNvPr id="11" name="TextBox 10"/>
          <p:cNvSpPr txBox="1"/>
          <p:nvPr/>
        </p:nvSpPr>
        <p:spPr>
          <a:xfrm>
            <a:off x="502920" y="1234440"/>
            <a:ext cx="11185855" cy="420624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Lo escribe un estudio que vende servicios</a:t>
            </a:r>
          </a:p>
          <a:p>
            <a:pPr>
              <a:spcAft>
                <a:spcPts val="800"/>
              </a:spcAft>
            </a:pPr>
            <a:r>
              <a:rPr sz="1600" b="1" i="0">
                <a:solidFill>
                  <a:srgbClr val="0D9488"/>
                </a:solidFill>
                <a:latin typeface="Calibri"/>
              </a:rPr>
              <a:t>■  </a:t>
            </a:r>
            <a:r>
              <a:rPr sz="2200" b="0" i="0">
                <a:solidFill>
                  <a:srgbClr val="1F2937"/>
                </a:solidFill>
                <a:latin typeface="Calibri"/>
              </a:rPr>
              <a:t>Google Stadia: cerró el 18/01/2023</a:t>
            </a:r>
          </a:p>
          <a:p>
            <a:pPr>
              <a:spcAft>
                <a:spcPts val="800"/>
              </a:spcAft>
            </a:pPr>
            <a:r>
              <a:rPr sz="1600" b="1" i="0">
                <a:solidFill>
                  <a:srgbClr val="0D9488"/>
                </a:solidFill>
                <a:latin typeface="Calibri"/>
              </a:rPr>
              <a:t>■  </a:t>
            </a:r>
            <a:r>
              <a:rPr sz="2200" b="0" i="0">
                <a:solidFill>
                  <a:srgbClr val="1F2937"/>
                </a:solidFill>
                <a:latin typeface="Calibri"/>
              </a:rPr>
              <a:t>"Origin": reemplazada por la EA app (2022)</a:t>
            </a:r>
          </a:p>
          <a:p>
            <a:pPr>
              <a:spcAft>
                <a:spcPts val="800"/>
              </a:spcAft>
            </a:pPr>
            <a:r>
              <a:rPr sz="1600" b="1" i="0">
                <a:solidFill>
                  <a:srgbClr val="0D9488"/>
                </a:solidFill>
                <a:latin typeface="Calibri"/>
              </a:rPr>
              <a:t>■  </a:t>
            </a:r>
            <a:r>
              <a:rPr sz="2200" b="0" i="0">
                <a:solidFill>
                  <a:srgbClr val="1F2937"/>
                </a:solidFill>
                <a:latin typeface="Calibri"/>
              </a:rPr>
              <a:t>Cifras de mercado sin fuente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 y="219456"/>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20</a:t>
            </a:r>
          </a:p>
        </p:txBody>
      </p:sp>
      <p:sp>
        <p:nvSpPr>
          <p:cNvPr id="5" name="TextBox 4"/>
          <p:cNvSpPr txBox="1"/>
          <p:nvPr/>
        </p:nvSpPr>
        <p:spPr>
          <a:xfrm>
            <a:off x="1005840" y="109728"/>
            <a:ext cx="10728655" cy="777240"/>
          </a:xfrm>
          <a:prstGeom prst="rect">
            <a:avLst/>
          </a:prstGeom>
          <a:noFill/>
        </p:spPr>
        <p:txBody>
          <a:bodyPr wrap="square" anchor="ctr" lIns="0" rIns="0" tIns="0" bIns="0">
            <a:spAutoFit/>
          </a:bodyPr>
          <a:lstStyle/>
          <a:p>
            <a:r>
              <a:rPr sz="1100" b="1" i="0">
                <a:solidFill>
                  <a:srgbClr val="99F6E4"/>
                </a:solidFill>
                <a:latin typeface="Calibri"/>
              </a:rPr>
              <a:t>CIERRE</a:t>
            </a:r>
          </a:p>
          <a:p>
            <a:r>
              <a:rPr sz="2600" b="1" i="0">
                <a:solidFill>
                  <a:srgbClr val="FFFFFF"/>
                </a:solidFill>
                <a:latin typeface="Calibri"/>
              </a:rPr>
              <a:t>Qué no resuelve esto · TP 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1000" b="0" i="0">
                <a:solidFill>
                  <a:srgbClr val="6B7280"/>
                </a:solidFill>
                <a:latin typeface="Calibri"/>
              </a:rPr>
              <a:t>Diseño según Plataformas de Juego · Unidad IV · Clase 1 · Un teléfono no es una PC chica</a:t>
            </a:r>
          </a:p>
        </p:txBody>
      </p:sp>
      <p:sp>
        <p:nvSpPr>
          <p:cNvPr id="7" name="TextBox 6"/>
          <p:cNvSpPr txBox="1"/>
          <p:nvPr/>
        </p:nvSpPr>
        <p:spPr>
          <a:xfrm>
            <a:off x="10774375" y="6473952"/>
            <a:ext cx="914400" cy="274320"/>
          </a:xfrm>
          <a:prstGeom prst="rect">
            <a:avLst/>
          </a:prstGeom>
          <a:noFill/>
        </p:spPr>
        <p:txBody>
          <a:bodyPr wrap="square" anchor="ctr" lIns="0" rIns="0" tIns="0" bIns="0">
            <a:spAutoFit/>
          </a:bodyPr>
          <a:lstStyle/>
          <a:p>
            <a:pPr algn="r"/>
            <a:r>
              <a:rPr sz="1000" b="0" i="0">
                <a:solidFill>
                  <a:srgbClr val="6B7280"/>
                </a:solidFill>
                <a:latin typeface="Calibri"/>
              </a:rPr>
              <a:t>20/20</a:t>
            </a:r>
          </a:p>
        </p:txBody>
      </p:sp>
      <p:sp>
        <p:nvSpPr>
          <p:cNvPr id="8" name="TextBox 7"/>
          <p:cNvSpPr txBox="1"/>
          <p:nvPr/>
        </p:nvSpPr>
        <p:spPr>
          <a:xfrm>
            <a:off x="502920" y="6126480"/>
            <a:ext cx="11185855" cy="292608"/>
          </a:xfrm>
          <a:prstGeom prst="rect">
            <a:avLst/>
          </a:prstGeom>
          <a:noFill/>
        </p:spPr>
        <p:txBody>
          <a:bodyPr wrap="square" anchor="ctr" lIns="0" rIns="0" tIns="0" bIns="0">
            <a:spAutoFit/>
          </a:bodyPr>
          <a:lstStyle/>
          <a:p>
            <a:r>
              <a:rPr sz="1000" b="1" i="0">
                <a:solidFill>
                  <a:srgbClr val="6B7280"/>
                </a:solidFill>
                <a:latin typeface="Calibri"/>
              </a:rPr>
              <a:t>Fuente: </a:t>
            </a:r>
            <a:r>
              <a:rPr sz="1000" b="0" i="0">
                <a:solidFill>
                  <a:srgbClr val="6B7280"/>
                </a:solidFill>
                <a:latin typeface="Calibri"/>
              </a:rPr>
              <a:t>Unity 6.3 Manual — Android environment setup; Android — Configure on-device developer options</a:t>
            </a:r>
          </a:p>
        </p:txBody>
      </p:sp>
      <p:sp>
        <p:nvSpPr>
          <p:cNvPr id="9" name="TextBox 8"/>
          <p:cNvSpPr txBox="1"/>
          <p:nvPr/>
        </p:nvSpPr>
        <p:spPr>
          <a:xfrm>
            <a:off x="502920" y="1234440"/>
            <a:ext cx="11185855" cy="4754880"/>
          </a:xfrm>
          <a:prstGeom prst="rect">
            <a:avLst/>
          </a:prstGeom>
          <a:noFill/>
        </p:spPr>
        <p:txBody>
          <a:bodyPr wrap="square" anchor="t" lIns="0" rIns="0" tIns="0" bIns="0">
            <a:spAutoFit/>
          </a:bodyPr>
          <a:lstStyle/>
          <a:p>
            <a:pPr>
              <a:spcAft>
                <a:spcPts val="800"/>
              </a:spcAft>
            </a:pPr>
            <a:r>
              <a:rPr sz="1600" b="1" i="0">
                <a:solidFill>
                  <a:srgbClr val="0D9488"/>
                </a:solidFill>
                <a:latin typeface="Calibri"/>
              </a:rPr>
              <a:t>■  </a:t>
            </a:r>
            <a:r>
              <a:rPr sz="2200" b="0" i="0">
                <a:solidFill>
                  <a:srgbClr val="1F2937"/>
                </a:solidFill>
                <a:latin typeface="Calibri"/>
              </a:rPr>
              <a:t>El simulador no mide calor ni batería</a:t>
            </a:r>
          </a:p>
          <a:p>
            <a:pPr>
              <a:spcAft>
                <a:spcPts val="800"/>
              </a:spcAft>
            </a:pPr>
            <a:r>
              <a:rPr sz="1600" b="1" i="0">
                <a:solidFill>
                  <a:srgbClr val="0D9488"/>
                </a:solidFill>
                <a:latin typeface="Calibri"/>
              </a:rPr>
              <a:t>■  </a:t>
            </a:r>
            <a:r>
              <a:rPr sz="2200" b="0" i="0">
                <a:solidFill>
                  <a:srgbClr val="1F2937"/>
                </a:solidFill>
                <a:latin typeface="Calibri"/>
              </a:rPr>
              <a:t>Eso se mide en su teléfono (Clase 4)</a:t>
            </a:r>
          </a:p>
          <a:p>
            <a:pPr>
              <a:spcAft>
                <a:spcPts val="800"/>
              </a:spcAft>
            </a:pPr>
            <a:r>
              <a:rPr sz="1600" b="1" i="0">
                <a:solidFill>
                  <a:srgbClr val="0D9488"/>
                </a:solidFill>
                <a:latin typeface="Calibri"/>
              </a:rPr>
              <a:t>■  </a:t>
            </a:r>
            <a:r>
              <a:rPr sz="2200" b="0" i="0">
                <a:solidFill>
                  <a:srgbClr val="1F2937"/>
                </a:solidFill>
                <a:latin typeface="Calibri"/>
              </a:rPr>
              <a:t>TP 3: Dossier Asteroides móvil</a:t>
            </a:r>
          </a:p>
          <a:p>
            <a:pPr>
              <a:spcAft>
                <a:spcPts val="800"/>
              </a:spcAft>
            </a:pPr>
            <a:r>
              <a:rPr sz="1600" b="1" i="0">
                <a:solidFill>
                  <a:srgbClr val="0D9488"/>
                </a:solidFill>
                <a:latin typeface="Calibri"/>
              </a:rPr>
              <a:t>■  </a:t>
            </a:r>
            <a:r>
              <a:rPr sz="2200" b="0" i="0">
                <a:solidFill>
                  <a:srgbClr val="1F2937"/>
                </a:solidFill>
                <a:latin typeface="Calibri"/>
              </a:rPr>
              <a:t>Tarea: Build Support + depuración USB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