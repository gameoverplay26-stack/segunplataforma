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en la Clase 2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(Clase 3);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en la Clase 3,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en la Clase 3).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en la Clase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la Clase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en la Clase 3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en la Clase 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El artículo que usamos para las slides 5, 6, 7, 8 y 19 es útil para los conceptos, pero tiene problemas que conviene mostrar:</a:t>
            </a:r>
          </a:p>
          <a:p>
            <a:r>
              <a:t>1. Es el blog de un estudio de desarrollo (Kevuru Games) que termina ofreciendo sus servicios y un formulario de cotización: es una fuente comercial, no una autoridad.</a:t>
            </a:r>
          </a:p>
          <a:p>
            <a:r>
              <a:t>2. Presenta Google Stadia como un servicio activo. Google anunció el cierre el 29/09/2022 y fue efectivo el 18/01/2023, con reembolsos (verificado en la investigación de la Unidad VII, fuente oficial de Google).</a:t>
            </a:r>
          </a:p>
          <a:p>
            <a:r>
              <a:t>3. Nombra la tienda "Origin" entre las plataformas de PC. EA anunció el 06/10/2022 que la EA app la reemplaza como su plataforma principal de PC (fuente oficial de EA).</a:t>
            </a:r>
          </a:p>
          <a:p>
            <a:r>
              <a:t>4. Da cifras de ingresos y usuarios proyectadas desde 2023 (por ejemplo, ingresos del sector y cantidad de usuarios a 2027) sin citar de dónde salen. No las usamos en clase.</a:t>
            </a:r>
          </a:p>
          <a:p>
            <a:r>
              <a:t>5. Mezcla bajo "plataforma" hardware, tiendas, cloud y sitios de streaming (lo ordenamos en la slide 5).</a:t>
            </a:r>
          </a:p>
          <a:p>
            <a:r>
              <a:t>Mensaje para los alumnos: el mismo criterio que aplicamos a los tests (¿qué demuestra y qué no?) se aplica a las fuentes. Un blog sirve para ideas; los datos se verifican en la documentación oficial o en papers. Es el mismo criterio que van a usar en el TP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con el límite de la herramienta, no con la herramienta: el simulador encontró el problema de la pantalla, pero no mide calor ni batería. Eso lo vamos a medir en sus teléfonos, en la Clase 4.</a:t>
            </a:r>
          </a:p>
          <a:p>
            <a:r>
              <a:t>TP 3: Dossier de plataforma, Asteroides móvil (consigna en el aula virtual).</a:t>
            </a:r>
          </a:p>
          <a:p>
            <a:r>
              <a:t>Tarea técnica obligatoria (sin ella la Clase 4 no se puede hacer):</a:t>
            </a:r>
          </a:p>
          <a:p>
            <a:r>
              <a:t>1. Instalar el módulo Android Build Support (con OpenJDK, Android SDK y NDK) en Unity 6000.3.11f1 desde Unity Hub.</a:t>
            </a:r>
          </a:p>
          <a:p>
            <a:r>
              <a:t>2. En el teléfono: tocar 7 veces "Número de compilación" para habilitar las Opciones de desarrollador y activar "Depuración USB" (en Android 9 o superior: Ajustes &gt; Sistema &gt; Avanzado &gt; Opciones de desarrollador).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697961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Rectangle 3"/>
          <p:cNvSpPr/>
          <p:nvPr/>
        </p:nvSpPr>
        <p:spPr>
          <a:xfrm>
            <a:off x="7756855" y="1188720"/>
            <a:ext cx="3931920" cy="329184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Teléfono en vertical con Asteroides corriendo, sostenido con una mano.</a:t>
            </a:r>
          </a:p>
        </p:txBody>
      </p:sp>
      <p:sp>
        <p:nvSpPr>
          <p:cNvPr id="5" name="TextBox 4"/>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v2 ·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2/21</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Rectangle 9"/>
          <p:cNvSpPr/>
          <p:nvPr/>
        </p:nvSpPr>
        <p:spPr>
          <a:xfrm>
            <a:off x="7756855" y="1234440"/>
            <a:ext cx="3931920" cy="420624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Captura del juego con tres íconos superpuestos: termómetro, batería baja y llamada entrante.</a:t>
            </a:r>
          </a:p>
        </p:txBody>
      </p:sp>
      <p:sp>
        <p:nvSpPr>
          <p:cNvPr id="11" name="TextBox 10"/>
          <p:cNvSpPr txBox="1"/>
          <p:nvPr/>
        </p:nvSpPr>
        <p:spPr>
          <a:xfrm>
            <a:off x="502920" y="1234440"/>
            <a:ext cx="697961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4/21</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Rectangle 8"/>
          <p:cNvSpPr/>
          <p:nvPr/>
        </p:nvSpPr>
        <p:spPr>
          <a:xfrm>
            <a:off x="7756855" y="1234440"/>
            <a:ext cx="3931920" cy="475488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Diagrama de bloques: SoC del teléfono (CPU+GPU+memoria juntos) vs. PC (CPU, GPU dedicada y RAM separadas, con ventiladores).</a:t>
            </a:r>
          </a:p>
        </p:txBody>
      </p:sp>
      <p:sp>
        <p:nvSpPr>
          <p:cNvPr id="10" name="TextBox 9"/>
          <p:cNvSpPr txBox="1"/>
          <p:nvPr/>
        </p:nvSpPr>
        <p:spPr>
          <a:xfrm>
            <a:off x="502920" y="1234440"/>
            <a:ext cx="697961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ectangle 8"/>
          <p:cNvSpPr/>
          <p:nvPr/>
        </p:nvSpPr>
        <p:spPr>
          <a:xfrm>
            <a:off x="7756855" y="1234440"/>
            <a:ext cx="3931920" cy="475488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Pantalla dividida en tiles; en un tile, varias capas de partículas superpuestas sobre el mismo píxel.</a:t>
            </a:r>
          </a:p>
        </p:txBody>
      </p:sp>
      <p:sp>
        <p:nvSpPr>
          <p:cNvPr id="10" name="TextBox 9"/>
          <p:cNvSpPr txBox="1"/>
          <p:nvPr/>
        </p:nvSpPr>
        <p:spPr>
          <a:xfrm>
            <a:off x="502920" y="1234440"/>
            <a:ext cx="697961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ectangle 12"/>
          <p:cNvSpPr/>
          <p:nvPr/>
        </p:nvSpPr>
        <p:spPr>
          <a:xfrm>
            <a:off x="7756855" y="1234440"/>
            <a:ext cx="3931920" cy="365760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Gráfico de fps en el tiempo que cae a los 8 minutos, superpuesto a una curva de temperatura que sube.</a:t>
            </a:r>
          </a:p>
        </p:txBody>
      </p:sp>
      <p:sp>
        <p:nvSpPr>
          <p:cNvPr id="14" name="TextBox 13"/>
          <p:cNvSpPr txBox="1"/>
          <p:nvPr/>
        </p:nvSpPr>
        <p:spPr>
          <a:xfrm>
            <a:off x="502920" y="1234440"/>
            <a:ext cx="697961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ectangle 8"/>
          <p:cNvSpPr/>
          <p:nvPr/>
        </p:nvSpPr>
        <p:spPr>
          <a:xfrm>
            <a:off x="7756855" y="1234440"/>
            <a:ext cx="3931920" cy="475488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Diagrama de estados: activa → segundo plano → terminada, con una llamada entrante como disparador.</a:t>
            </a:r>
          </a:p>
        </p:txBody>
      </p:sp>
      <p:sp>
        <p:nvSpPr>
          <p:cNvPr id="10" name="TextBox 9"/>
          <p:cNvSpPr txBox="1"/>
          <p:nvPr/>
        </p:nvSpPr>
        <p:spPr>
          <a:xfrm>
            <a:off x="502920" y="1234440"/>
            <a:ext cx="697961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sp>
        <p:nvSpPr>
          <p:cNvPr id="9" name="Rectangle 8"/>
          <p:cNvSpPr/>
          <p:nvPr/>
        </p:nvSpPr>
        <p:spPr>
          <a:xfrm>
            <a:off x="7756855" y="1234440"/>
            <a:ext cx="3931920" cy="475488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Device Simulator con Asteroides en vertical y los asteroides apareciendo fuera de pantalla.</a:t>
            </a:r>
          </a:p>
        </p:txBody>
      </p:sp>
      <p:sp>
        <p:nvSpPr>
          <p:cNvPr id="10" name="TextBox 9"/>
          <p:cNvSpPr txBox="1"/>
          <p:nvPr/>
        </p:nvSpPr>
        <p:spPr>
          <a:xfrm>
            <a:off x="502920" y="1234440"/>
            <a:ext cx="697961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20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Rectangle 9"/>
          <p:cNvSpPr/>
          <p:nvPr/>
        </p:nvSpPr>
        <p:spPr>
          <a:xfrm>
            <a:off x="7756855" y="1234440"/>
            <a:ext cx="3931920" cy="420624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Fragmento de Ship.cs 61–73 con las tres llamadas a Input.GetKey resaltadas.</a:t>
            </a:r>
          </a:p>
        </p:txBody>
      </p:sp>
      <p:sp>
        <p:nvSpPr>
          <p:cNvPr id="11" name="TextBox 10"/>
          <p:cNvSpPr txBox="1"/>
          <p:nvPr/>
        </p:nvSpPr>
        <p:spPr>
          <a:xfrm>
            <a:off x="502920" y="1234440"/>
            <a:ext cx="697961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7756855" y="1234440"/>
            <a:ext cx="3931920" cy="4754880"/>
          </a:xfrm>
          <a:prstGeom prst="rect">
            <a:avLst/>
          </a:prstGeom>
          <a:solidFill>
            <a:srgbClr val="F3F4F6"/>
          </a:solidFill>
          <a:ln>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i="0">
                <a:solidFill>
                  <a:srgbClr val="6B7280"/>
                </a:solidFill>
                <a:latin typeface="Calibri"/>
              </a:rPr>
              <a:t>[IMAGEN SUGERIDA]</a:t>
            </a:r>
          </a:p>
          <a:p>
            <a:pPr algn="ctr"/>
            <a:r>
              <a:rPr sz="1300" b="0" i="1">
                <a:solidFill>
                  <a:srgbClr val="6B7280"/>
                </a:solidFill>
                <a:latin typeface="Calibri"/>
              </a:rPr>
              <a:t>Dos capturas lado a lado, 16:9 y 9:16, con el rango de spawn [−8, 8] marcado sobre cada una.</a:t>
            </a:r>
          </a:p>
        </p:txBody>
      </p:sp>
      <p:sp>
        <p:nvSpPr>
          <p:cNvPr id="10" name="TextBox 9"/>
          <p:cNvSpPr txBox="1"/>
          <p:nvPr/>
        </p:nvSpPr>
        <p:spPr>
          <a:xfrm>
            <a:off x="502920" y="1234440"/>
            <a:ext cx="697961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LECTURA CRÍTICA · 5 MIN</a:t>
            </a:r>
          </a:p>
          <a:p>
            <a:r>
              <a:rPr sz="2600" b="1" i="0">
                <a:solidFill>
                  <a:srgbClr val="FFFFFF"/>
                </a:solidFill>
                <a:latin typeface="Calibri"/>
              </a:rPr>
              <a:t>Leer con lupa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 mensaje oficial sobre el cierre de Stadia (2022); EA — anuncio de la EA app (06/10/2022)</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Antes de citar un dato, busquen la fuente primaria.</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Lo escribe un estudio que vende servicios</a:t>
            </a:r>
          </a:p>
          <a:p>
            <a:pPr>
              <a:spcAft>
                <a:spcPts val="800"/>
              </a:spcAft>
            </a:pPr>
            <a:r>
              <a:rPr sz="1600" b="1" i="0">
                <a:solidFill>
                  <a:srgbClr val="0D9488"/>
                </a:solidFill>
                <a:latin typeface="Calibri"/>
              </a:rPr>
              <a:t>■  </a:t>
            </a:r>
            <a:r>
              <a:rPr sz="2200" b="0" i="0">
                <a:solidFill>
                  <a:srgbClr val="1F2937"/>
                </a:solidFill>
                <a:latin typeface="Calibri"/>
              </a:rPr>
              <a:t>Google Stadia: cerró el 18/01/2023</a:t>
            </a:r>
          </a:p>
          <a:p>
            <a:pPr>
              <a:spcAft>
                <a:spcPts val="800"/>
              </a:spcAft>
            </a:pPr>
            <a:r>
              <a:rPr sz="1600" b="1" i="0">
                <a:solidFill>
                  <a:srgbClr val="0D9488"/>
                </a:solidFill>
                <a:latin typeface="Calibri"/>
              </a:rPr>
              <a:t>■  </a:t>
            </a:r>
            <a:r>
              <a:rPr sz="2200" b="0" i="0">
                <a:solidFill>
                  <a:srgbClr val="1F2937"/>
                </a:solidFill>
                <a:latin typeface="Calibri"/>
              </a:rPr>
              <a:t>"Origin": reemplazada por la EA app (2022)</a:t>
            </a:r>
          </a:p>
          <a:p>
            <a:pPr>
              <a:spcAft>
                <a:spcPts val="800"/>
              </a:spcAft>
            </a:pPr>
            <a:r>
              <a:rPr sz="1600" b="1" i="0">
                <a:solidFill>
                  <a:srgbClr val="0D9488"/>
                </a:solidFill>
                <a:latin typeface="Calibri"/>
              </a:rPr>
              <a:t>■  </a:t>
            </a:r>
            <a:r>
              <a:rPr sz="2200" b="0" i="0">
                <a:solidFill>
                  <a:srgbClr val="1F2937"/>
                </a:solidFill>
                <a:latin typeface="Calibri"/>
              </a:rPr>
              <a:t>Cifras de mercado sin fuente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 · TP 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batería</a:t>
            </a:r>
          </a:p>
          <a:p>
            <a:pPr>
              <a:spcAft>
                <a:spcPts val="800"/>
              </a:spcAft>
            </a:pPr>
            <a:r>
              <a:rPr sz="1600" b="1" i="0">
                <a:solidFill>
                  <a:srgbClr val="0D9488"/>
                </a:solidFill>
                <a:latin typeface="Calibri"/>
              </a:rPr>
              <a:t>■  </a:t>
            </a:r>
            <a:r>
              <a:rPr sz="2200" b="0" i="0">
                <a:solidFill>
                  <a:srgbClr val="1F2937"/>
                </a:solidFill>
                <a:latin typeface="Calibri"/>
              </a:rPr>
              <a:t>Eso se mide en su teléfono (Clase 4)</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depuración USB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