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a:p>
            <a:r>
              <a:t>Videos de consulta, en español (agregados el 2026-10-19; existencia, título, canal y fecha verificados con YouTube el 2026-10-19; el contenido no se revisó completo):</a:t>
            </a:r>
          </a:p>
          <a:p>
            <a:r>
              <a:t>- lucasmelor, "La historia COMPLETA de los Juegos de Celular" (21 min, 24/02/2025): https://www.youtube.com/watch?v=kEwd_CnXvaM. Canal de divulgación, no académico; incluye un segmento patrocinado.</a:t>
            </a:r>
          </a:p>
          <a:p>
            <a:r>
              <a:t>- Aranimations ES y Cerebro Sin hueso, "Antes de las App Stores: Así Era el Increíble Gaming en Celulares Java" (9 min, 12/09/2026): https://www.youtube.com/watch?v=omq5avbt8kw. Muestra la etapa previa a 2008 (Snake, J2ME, Gameloft): el teléfono ya era plataforma de juego antes del App Store, que es el hito que usa la cronología.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a:p>
            <a:r>
              <a:t>Video de consulta, en español (agregado el 2026-10-19; existencia, título, canal y fecha verificados con YouTube el 2026-10-19; el contenido no se revisó completo): Academia Play, "Historia de los Videojuegos (1972-1983) Parte I" (7 min, 10/07/2019): https://www.youtube.com/watch?v=KRRfb-pSZy8. Según su descripción, recorre Pong, Space Invaders, Pac-Man y Donkey Kong hasta la crisis de 1983: los mismos hitos del gráfico.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final de la unidad: quedan dos encuentros de 90 minutos. Este retoma la Clase 1 desde la slide 16 y suma la UI táctil y la implementación de los controles. El encuentro siguiente es la práctica en el teléfono, la prueba y el negocio.</a:t>
            </a:r>
          </a:p>
          <a:p>
            <a:r>
              <a:t>Reparto: teoría 36 min (apertura 3, simulador 4, plataforma 3, UI táctil 14, demos de Input System 7, vistazo de la build 3, cierre 2) = 40 %; práctica 54 min (A4.2 12, puesta en común 5, A4.7 30, playtest 7) = 60 %.</a:t>
            </a:r>
          </a:p>
          <a:p>
            <a:r>
              <a:t>Antes de empezar: proyecto Asteroides abierto en el Device Simulator; copia del proyecto original para los grupos; deck de la Clase 1 a mano por si hay que volver a A4.1.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Supuesto de plataforma: algo que el código da por cierto porque se pensó para una PC (teclado, pantalla horizontal, mouse).</a:t>
            </a:r>
          </a:p>
          <a:p>
            <a:r>
              <a:t>Recuperar A4.1 en un minuto: los síntomas (calor, tirones, partida perdida al atender una llamada) tenían causas en la máquina. Hoy pasamos del síntoma a la causa en el código y a las manos del jugador.</a:t>
            </a:r>
          </a:p>
          <a:p>
            <a:r>
              <a:t>Dejar la pregunta abierta: la respuesta aparece en A4.2 (Ship.cs lee teclas fijas). No dar la herramienta antes del problema.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a:p>
            <a:r>
              <a:t>Cómo activarlo (captura real, Unity 6000.3.11f1): 1. abrir Scenes/Game (con una escena Untitled no se ve el juego); 2. en la pestaña Game, el desplegable de la izquierda cambia de Game a Simulator (o Window &gt; General &gt; Device Simulator); 3. elegir el dispositivo, por ejemplo Punch Hole Left (1080×2340); 4. Play y rotar desde la barra del Simulator. Si aparece "Simulator is currently not active" (marcado en la captura), el Game View sigue en modo Game. Paso a paso para los alumnos: anexo, paso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a:p>
            <a:r>
              <a:t>Importante (versión 3): el código de la slide es la versión **original** de Ship.cs, leída de la versión original guardada en el repositorio. En el repositorio, Ship.cs ya tiene el porteo de entrada (Ship.SetIntent + ShipInputAdapter). Los grupos analizan la versión original: si trabajan con el repositorio clonado, que lo hagan sobre ese commit (git checkout e766f8c -- proyectos-unity/Asteroides/asteroide-final/Assets/Scripts/Ship.cs) o con la copia del TP. No mostrar todavía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a:p>
            <a:r>
              <a:t>Cerrar la puesta en común volviendo al supuesto S1 (teclado): en el teléfono, Asteroides deja tocar "Start" pero la nave no se mueve ni dispara, porque Ship.cs lee teclas fijas. La salida es el diagrama de la slide 3: separar el dispositivo de la intención. No mostrar la herramienta todavía; alcanza con dejar planteado el problema. Se resuelve en código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Audiencia: público al que apunta el juego.</a:t>
            </a:r>
          </a:p>
          <a:p>
            <a:r>
              <a:t>• Vigencia (future-proofing): que la plataforma siga activa y evolucionando con el tiempo.</a:t>
            </a:r>
          </a:p>
          <a:p>
            <a:r>
              <a:t>Versión final: la slide «Leer con lupa» pasa a lectura del aula virtual (ver el cierre).</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(píxel): punto físico de la pantalla; su tamaño real depende de la densidad.</a:t>
            </a:r>
          </a:p>
          <a:p>
            <a:r>
              <a:t>• pt / dp: unidades independientes de la densidad (iOS / Android); un botón de 48 dp mide lo mismo en cualquier teléfono.</a:t>
            </a:r>
          </a:p>
          <a:p>
            <a:r>
              <a:t>• Canvas Scaler: componente de Unity que decide cómo se escala la UI según la pantalla.</a:t>
            </a:r>
          </a:p>
          <a:p>
            <a:r>
              <a:t>Problema: en un teléfono con muesca, el score de Asteroides queda bajo la cámara y el botón de inicio, pensado para un mouse, es diminuto. Preguntar "¿cuántos píxeles debería medir un botón?" y mostrar que en píxeles no hay respuesta: el mismo botón de 100 px es grande en un teléfono viejo y diminuto en uno de alta densidad.</a:t>
            </a:r>
          </a:p>
          <a:p>
            <a:r>
              <a:t>Mínimos oficiales: Apple pide 44 × 44 pt por defecto, con un mínimo absoluto de 28 × 28 pt; Android pide al menos 48 × 48 dp ("Larger is even better"). Son números verificables: convierten "botón cómodo" en un criterio de prueba.</a:t>
            </a:r>
          </a:p>
          <a:p>
            <a:r>
              <a:t>Unity: Asteroides usa Constant Pixel Size (supuesto S6). Scale With Screen Size escala desde una resolución de referencia. Se aplica en A4.7.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Safe area (zona segura): rectángulo de la pantalla donde la interfaz se ve completa, sin muescas ni barras del sistema.</a:t>
            </a:r>
          </a:p>
          <a:p>
            <a:r>
              <a:t>• Cutout: recorte de la pantalla (muesca o cámara perforada).</a:t>
            </a:r>
          </a:p>
          <a:p>
            <a:r>
              <a:t>• Edge-to-edge: el contenido ocupa la pantalla de borde a borde.</a:t>
            </a:r>
          </a:p>
          <a:p>
            <a:r>
              <a:t>• Barra de gestos: franja inferior que el sistema usa para navegar.</a:t>
            </a:r>
          </a:p>
          <a:p>
            <a:r>
              <a:t>Detalle: muescas, cámaras perforadas, bordes curvos y barras de gestos ocupan partes de la pantalla. Screen.safeArea devuelve el rectángulo donde la interfaz está a salvo, en píxeles.</a:t>
            </a:r>
          </a:p>
          <a:p>
            <a:r>
              <a:t>En Android 15 con target SDK 35, el contenido va de borde a borde obligatoriamente; Unity ignora la opción "Render Outside Safe Area". Por eso hay que leer safeArea y no confiar en que el sistema deje márgenes.</a:t>
            </a:r>
          </a:p>
          <a:p>
            <a:r>
              <a:t>La UI esencial va dentro de la safe area; el fondo puede salir de ella.</a:t>
            </a:r>
          </a:p>
          <a:p>
            <a:r>
              <a:t>Android permite simular un cutout desde las opciones de desarrollador: útil para la práctica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Agarre: forma de sostener el teléfono (una mano, acunado, dos manos).</a:t>
            </a:r>
          </a:p>
          <a:p>
            <a:r>
              <a:t>• HUD: información y controles superpuestos al juego.</a:t>
            </a:r>
          </a:p>
          <a:p>
            <a:r>
              <a:t>Datos de Hoober (2013, 1.333 personas observadas): 49 % una mano, 36 % acunado, 15 % dos manos; la gente cambia de agarre todo el tiempo. Advertir: fuente profesional, no académica, con más de una década; sirve como disparador, no como norma.</a:t>
            </a:r>
          </a:p>
          <a:p>
            <a:r>
              <a:t>CoD Mobile y Fortnite permiten mover y redimensionar los controles: una respuesta de diseño a la diversidad de manos y teléfonos.</a:t>
            </a:r>
          </a:p>
          <a:p>
            <a:r>
              <a:t>Orientación: lo vieron en la puesta en común de A4.2: en vertical, la mayoría de los asteroides nace fuera de pantalla. Android 16 ignora las restricciones de orientación en pantallas grandes, salvo en juegos (Unity 6.3 marca Application Category = Game por defecto). No hay respuesta única: se evalúa que la decisión considere sus consecuencias (spawn, límites, HUD).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Gesto estándar: tocar, deslizar, arrastrar, mantener, pellizcar.</a:t>
            </a:r>
          </a:p>
          <a:p>
            <a:r>
              <a:t>• Háptica: vibraciones cortas como respuesta a una acción.</a:t>
            </a:r>
          </a:p>
          <a:p>
            <a:r>
              <a:t>• Onboarding: la primera sesión, cuando el juego enseña a jugar.</a:t>
            </a:r>
          </a:p>
          <a:p>
            <a:r>
              <a:t>Gestos: no redefinir los gestos del sistema; un gesto inventado nunca debe ser la única forma de hacer algo importante (Apple), y las apps no deberían depender de gestos (Android).</a:t>
            </a:r>
          </a:p>
          <a:p>
            <a:r>
              <a:t>Sin botón físico: el joystick virtual es familiar, pero no tiene tope y tapa la pantalla; el toque directo es preciso, pero el dedo cubre lo que toca; Alto's Adventure se juega con un solo toque.</a:t>
            </a:r>
          </a:p>
          <a:p>
            <a:r>
              <a:t>Accesibilidad (al checklist del TP 3): controles grandes y separados; alternativa a cada gesto; háptica y efectos desactivables (Android: entre una vibración molesta y ninguna, elegir ninguna); sin toques repetidos rápidos; texto de 17 pt por defecto y 11 pt como mínimo en iOS.</a:t>
            </a:r>
          </a:p>
          <a:p>
            <a:r>
              <a:t>Primera sesión, en una línea: jugar apenas se instala, descarga inicial corta, enseñar jugando y pedir permisos cuando hacen falta.</a:t>
            </a:r>
          </a:p>
          <a:p>
            <a:r>
              <a:t>Video opcional de tarea: Zach Gage, "Controls You Can Feel" (GDC 2012).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System: paquete de Unity que reemplaza al Input Manager clásico; trabaja con acciones en lugar de teclas fijas.</a:t>
            </a:r>
          </a:p>
          <a:p>
            <a:r>
              <a:t>• Acción: lo que el jugador quiere hacer (mover, disparar), separado del botón que la produce.</a:t>
            </a:r>
          </a:p>
          <a:p>
            <a:r>
              <a:t>• Binding: asociación entre una acción y un control concreto (flecha izquierda, stick del gamepad).</a:t>
            </a:r>
          </a:p>
          <a:p>
            <a:r>
              <a:t>• OnScreenStick / OnScreenButton: componentes que dibujan un control en la pantalla táctil y lo hacen pasar por un gamepad virtual.</a:t>
            </a:r>
          </a:p>
          <a:p>
            <a:r>
              <a:t>• Active Input Handling: opción del proyecto que elige el sistema de entrada (Old, New o Both).</a:t>
            </a:r>
          </a:p>
          <a:p>
            <a:r>
              <a:t>Primero el problema (regla de la cátedra): en el teléfono, Asteroides deja tocar "Start", pero la nave no se mueve ni dispara, porque Ship.cs leía teclas fijas (supuesto S1). Después la herramienta.</a:t>
            </a:r>
          </a:p>
          <a:p>
            <a:r>
              <a:t>El diagrama es el mismo de las tres capas: el dispositivo cambia; la intención y la nave no. Los controles en pantalla no son un caso especial: según la documentación de Input System 1.19, un OnScreenStick con el control path &lt;Gamepad&gt;/leftStick crea un gamepad virtual, y el juego lo lee igual que un gamepad físico.</a:t>
            </a:r>
          </a:p>
          <a:p>
            <a:r>
              <a:t>Pasos de la demo (versión del repositorio, ya portada):</a:t>
            </a:r>
          </a:p>
          <a:p>
            <a:r>
              <a:t>1. Package Manager: Input System 1.19.0 instalado (viene con Unity 6000.3.11f1).</a:t>
            </a:r>
          </a:p>
          <a:p>
            <a:r>
              <a:t>2. Project Settings &gt; Player &gt; Active Input Handling = Both. Se usa Both, y no solo New, para no romper el menú, que todavía usa el StandaloneInputModule clásico. Unity pide reiniciar el editor. Consecuencia (versión 4): según la documentación de Unity 6.3, Both "no está soportado en Android"; al compilar aparece el cartel "Unsupported Input Handling on Android". Es el precio de una dependencia oculta y se retoma más adelante en la unidad, con el teléfono.</a:t>
            </a:r>
          </a:p>
          <a:p>
            <a:r>
              <a:t>3. Abrir el Device Simulator con un teléfono: aparecen el joystick abajo a la izquierda y el botón de disparo abajo a la derecha (MobileControlsVisibility los muestra solo en plataformas móviles).</a:t>
            </a:r>
          </a:p>
          <a:p>
            <a:r>
              <a:t>4. Mover la nave con el mouse sobre el joystick. Después, en la PC, mostrar que el teclado sigue funcionando y, si hay un gamepad, que también funciona sin cambiar código.</a:t>
            </a:r>
          </a:p>
          <a:p>
            <a:r>
              <a:t>Límite a decir en voz alta: el Device Simulator simula el toque de un dedo; mover y disparar a la vez (dos dedos) solo se prueba en el teléfono.</a:t>
            </a:r>
          </a:p>
          <a:p>
            <a:r>
              <a:t>URL verificada (2026-10-10): https://docs.unity3d.com/Packages/com.unity.inputsystem@1.19/manual/OnScreen.html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Composite 1DAxis: binding que arma un eje de −1 a 1 con dos teclas (negativa y positiva).</a:t>
            </a:r>
          </a:p>
          <a:p>
            <a:r>
              <a:t>• Adaptador: clase que traduce el dispositivo a la intención; acá, ShipInputAdapter.</a:t>
            </a:r>
          </a:p>
          <a:p>
            <a:r>
              <a:t>• Zona muerta (dead zone): margen alrededor de 0 en el que el stick se considera quieto (0,2 en Ship.cs).</a:t>
            </a:r>
          </a:p>
          <a:p>
            <a:r>
              <a:t>Qué mostrar: las flechas y la barra espaciadora siguen ahí, pero ahora como bindings de una acción; el stick y el D-pad del gamepad y el botón A (buttonSouth) se agregan como bindings de las mismas acciones. Cada frame, el adaptador llama a ship.SetIntent(mover, disparar).</a:t>
            </a:r>
          </a:p>
          <a:p>
            <a:r>
              <a:t>Comparar con la slide de A4.2 (versión original): las tres lecturas de Input.GetKey desaparecieron de Ship.cs. MoveLeft, MoveRight y ShootLaser no cambiaron, y por eso los tests que ya existían siguen sirviendo.</a:t>
            </a:r>
          </a:p>
          <a:p>
            <a:r>
              <a:t>Decisión de diseño a explicitar: el esquema del repositorio (joystick + botón) es uno de los posibles; en A4.7 cada grupo elige el suyo y lo implementa.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Esquema de control: forma en que el jugador da órdenes (joystick virtual + botón, o arrastrar + autodisparo).</a:t>
            </a:r>
          </a:p>
          <a:p>
            <a:r>
              <a:t>• Autodisparo: la nave dispara sola, sin un botón.</a:t>
            </a:r>
          </a:p>
          <a:p>
            <a:r>
              <a:t>• Device Simulator: simula el toque de un dedo, pero no el rendimiento.</a:t>
            </a:r>
          </a:p>
          <a:p>
            <a:r>
              <a:t>Versión final: une A4.3 (bocetos) y A4.7 (implementación) en una sola actividad.</a:t>
            </a:r>
          </a:p>
          <a:p>
            <a:r>
              <a:t>Parte 1, boceto (8 min): dos esquemas sobre la plantilla con la safe area; medidas en pt/dp y orientación; comparar con cinco criterios (oclusión, precisión, una mano, accesibilidad, descubribilidad) y elegir uno.</a:t>
            </a:r>
          </a:p>
          <a:p>
            <a:r>
              <a:t>Parte 2, Unity (22 min, sobre su copia del proyecto original):</a:t>
            </a:r>
          </a:p>
          <a:p>
            <a:r>
              <a:t>1. Instalar Input System 1.19.0 desde el Package Manager y poner Active Input Handling = Both (reiniciar el editor).</a:t>
            </a:r>
          </a:p>
          <a:p>
            <a:r>
              <a:t>2. Implementar el esquema elegido: joystick + botón (OnScreenStick + OnScreenButton) o arrastre + autodisparo. La nave no lee el dispositivo: solo recibe la intención.</a:t>
            </a:r>
          </a:p>
          <a:p>
            <a:r>
              <a:t>3. Canvas en Scale With Screen Size y controles dentro de Screen.safeArea.</a:t>
            </a:r>
          </a:p>
          <a:p>
            <a:r>
              <a:t>4. Probar en el Device Simulator con un teléfono con muesca y uno sin muesca.</a:t>
            </a:r>
          </a:p>
          <a:p>
            <a:r>
              <a:t>5. Anotar lo que el simulador NO pudo probar (dos dedos a la vez, comodidad, rendimiento): se prueba en el teléfono, más adelante en la unidad.</a:t>
            </a:r>
          </a:p>
          <a:p>
            <a:r>
              <a:t>Buena respuesta: decide la orientación sabiendo su efecto sobre el spawn, respeta 44 pt / 48 dp, no pone controles bajo la muesca y reconoce que el autodisparo cambia el game design.</a:t>
            </a:r>
          </a:p>
          <a:p>
            <a:r>
              <a:t>Referencia para destrabar (no entregar): ShipInputAdapter.cs, MobileControlsVisibility.cs y los controles del prefab UICanvas (creados con Editor/PorteoSetup.cs).</a:t>
            </a:r>
          </a:p>
          <a:p>
            <a:r>
              <a:t>Errores frecuentes: olvidar Active Input Handling; si el código está en un asmdef, agregar la referencia a Unity.InputSystem; poner el control fuera del Canvas.</a:t>
            </a:r>
          </a:p>
          <a:p>
            <a:r>
              <a:t>Si no terminan: completan en casa y suben la captura al aula virtual. Avance del TP 3: sección 3 (control y HUD).</a:t>
            </a:r>
          </a:p>
          <a:p>
            <a:r>
              <a:t>En el simulador el toque se hace con el mouse y es de un solo dedo. El Foldable Device del simulador sirve para ver que la relación de aspecto cambia en el mismo teléfono (plegado y desplegado). Paso a paso: anexo, paso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Playtest de papel: prueba con personas usando un prototipo dibujado, antes de probar en el dispositivo.</a:t>
            </a:r>
          </a:p>
          <a:p>
            <a:r>
              <a:t>Consigna del playtest: dibujar el HUD que implementaron, a escala, sobre la silueta del propio teléfono; sostenerlo y comprobar si se llega a todo y qué tapa el pulgar. Es barato y se hace con personas reales: la comodidad no se prueba en el editor.</a:t>
            </a:r>
          </a:p>
          <a:p>
            <a:r>
              <a:t>Comparar con A4.7: el simulador dijo dónde están los controles; la mano dice si se pueden usar.</a:t>
            </a:r>
          </a:p>
          <a:p>
            <a:r>
              <a:t>Cierre: un buen layout no garantiza comodidad; eso lo dicen las personas. Verificar quién ya tiene la depuración USB funcionando.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Profiles: ventana de Unity 6 (File &gt; Build Profiles) que reemplaza a Build Settings; cada perfil guarda una plataforma y sus opciones.</a:t>
            </a:r>
          </a:p>
          <a:p>
            <a:r>
              <a:t>• Switch Platform: cambiar la plataforma activa; Unity reimporta los assets y la primera vez tarda.</a:t>
            </a:r>
          </a:p>
          <a:p>
            <a:r>
              <a:t>• APK: archivo instalable de Android. AAB (App Bundle): formato para publicar en Google Play; no se instala a mano.</a:t>
            </a:r>
          </a:p>
          <a:p>
            <a:r>
              <a:t>• IL2CPP: backend que convierte el C# a C++ y lo compila a código nativo; es el único que habilita ARM64.</a:t>
            </a:r>
          </a:p>
          <a:p>
            <a:r>
              <a:t>• ARM64: arquitectura de 64 bits de los procesadores de los teléfonos actuales.</a:t>
            </a:r>
          </a:p>
          <a:p>
            <a:r>
              <a:t>Por qué acá: acaban de implementar los controles y el paso natural es verlos en el teléfono. Es solo un vistazo del camino; el detalle y los problemas se trabajan más adelante en la unidad, con los teléfonos.</a:t>
            </a:r>
          </a:p>
          <a:p>
            <a:r>
              <a:t>Mostrar en vivo (3 min), sin compilar: File &gt; Build Profiles; elegir Android y Switch Platform. Recorrer las marcas rojas de la captura: el perfil activo, Build App Bundle (destildado = sale un .apk) y Development Build (lo necesita el Profiler).</a:t>
            </a:r>
          </a:p>
          <a:p>
            <a:r>
              <a:t>Tarea (guía en el aula virtual):</a:t>
            </a:r>
          </a:p>
          <a:p>
            <a:r>
              <a:t>1. Switch Platform a Android en su copia del proyecto.</a:t>
            </a:r>
          </a:p>
          <a:p>
            <a:r>
              <a:t>2. Edit &gt; Project Settings &gt; Player &gt; Android &gt; Other Settings: Scripting Backend = IL2CPP y tildar ARM64. Hacerlo en Project Settings y no en la sección Player Settings del Build Profile: si se edita ahí, el perfil guarda una copia propia (en nuestro proyecto pasó: Company y Product quedaron en Assets/Settings/Build Profiles y no en ProjectSettings).</a:t>
            </a:r>
          </a:p>
          <a:p>
            <a:r>
              <a:t>3. Botón Build (no Build And Run), carpeta Builds/ fuera de Assets, nombre AsteroideTest.apk. Si aparece "Unsupported Input Handling on Android", tocar Ignore y anotarlo.</a:t>
            </a:r>
          </a:p>
          <a:p>
            <a:r>
              <a:t>4. Traer el .apk y anotar cuánto tardó la build y qué carteles aparecieron.</a:t>
            </a:r>
          </a:p>
          <a:p>
            <a:r>
              <a:t>Por qué en casa: la primera build con IL2CPP tarda varios minutos (Gradle descarga y compila); hecha en casa, la práctica con el teléfono no pierde ese tiempo y los problemas de drivers llegan resueltos.</a:t>
            </a:r>
          </a:p>
          <a:p>
            <a:r>
              <a:t>Dato verificado (Unity 6.3 Manual, Build your application for Android): Build crea el archivo en la carpeta elegida; Build and Run además lo instala en el Run Device; por defecto Unity genera APK.</a:t>
            </a:r>
          </a:p>
          <a:p>
            <a:r>
              <a:t>Switch Platform aparece abajo a la derecha mientras Android no sea la plataforma activa. Paso a paso con capturas: anexo, pasos 4 a 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para una plataforma; acá, Android.</a:t>
            </a:r>
          </a:p>
          <a:p>
            <a:r>
              <a:t>• Depuración USB: opción de Android que permite a la PC instalar y analizar apps en el teléfono por cable.</a:t>
            </a:r>
          </a:p>
          <a:p>
            <a:r>
              <a:t>Cerrar con el límite de la herramienta: el simulador encontró el problema de la pantalla, pero no mide calor, batería ni comodidad. Eso se mide en sus teléfonos, más adelante en la unidad.</a:t>
            </a:r>
          </a:p>
          <a:p>
            <a:r>
              <a:t>Tarea técnica obligatoria (sin ella no se puede hacer la práctica en el teléfono):</a:t>
            </a:r>
          </a:p>
          <a:p>
            <a:r>
              <a:t>1. Instalar Android Build Support (con OpenJDK, Android SDK y NDK) en Unity 6000.3.11f1 desde Unity Hub, y verificar en Edit &gt; Preferences &gt; External Tools &gt; Android que JDK, Android SDK Tools, Android NDK y Gradle estén tildados como "Installed with Unity (recommended)" (captura de la slide; anexo, paso 1).</a:t>
            </a:r>
          </a:p>
          <a:p>
            <a:r>
              <a:t>2. En el teléfono: tocar 7 veces "Número de compilación" y activar "Depuración USB" (Android 9 o superior: Ajustes &gt; Sistema &gt; Avanzado &gt; Opciones de desarrollador).</a:t>
            </a:r>
          </a:p>
          <a:p>
            <a:r>
              <a:t>3. Comprobar que la PC ve el teléfono: cable de datos, aceptar "¿Permitir depuración USB?" y Build Profiles &gt; Android &gt; Run Device &gt; Refresh (o adb devices).</a:t>
            </a:r>
          </a:p>
          <a:p>
            <a:r>
              <a:t>4. Generar el primer APK siguiendo la slide anterior (IL2CPP + ARM64, botón Build) y traerlo instalado o en el teléfono.</a:t>
            </a:r>
          </a:p>
          <a:p>
            <a:r>
              <a:t>Lectura (aula virtual): "Leer con lupa", el artículo de Kevuru Games con las observaciones de la cátedra (Stadia cerrado, Origin reemplazada, cifras sin fuente).</a:t>
            </a:r>
          </a:p>
          <a:p>
            <a:r>
              <a:t>TP 3: Dossier de plataforma, Asteroides móvil (consigna en el aula virtual).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Último encuentro de la unidad. Antes de empezar: cables, depuración USB y Android Build Support verificados; APK de la docente (IL2CPP + ARM64) en un pendrive y en Drive para el plan B.</a:t>
            </a:r>
          </a:p>
          <a:p>
            <a:r>
              <a:t>Reparto: teoría 36 min (apertura 3, repaso de la build 6, testing 9, monetización 13, TP 3 1, cierre 4) = 40 %; práctica 54 min (build e instalación 12, medición 8, A4.6 3, QA manual 10, matriz 4, A4.8 10, A4.5 7) = 60 %.</a:t>
            </a:r>
          </a:p>
          <a:p>
            <a:r>
              <a:t>Orden pensado para el tiempo: la build va primero porque es lo que más puede fallar; mientras un grupo espera, otro ya mide.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Editor: el entorno de Unity en la PC, donde se arma y prueba el juego.</a:t>
            </a:r>
          </a:p>
          <a:p>
            <a:r>
              <a:t>Situación: todo lo que probamos hasta ahora fue en el editor; la columna "qué no demuestra" de A4.4 sigue abierta. Hoy vemos cómo se comporta el juego en un teléfono real.</a:t>
            </a:r>
          </a:p>
          <a:p>
            <a:r>
              <a:t>Que anoten su predicción: sirve para contrastarla al final de la clase.</a:t>
            </a:r>
          </a:p>
          <a:p>
            <a:r>
              <a:t>Imagen sugerida (opcional, sin recuadro en la slide): editor de Unity y teléfono, con un signo de pregunta entre ambos.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Scripting Backend: cómo compila Unity el código C#: Mono (código intermedio) o IL2CPP (código nativo).</a:t>
            </a:r>
          </a:p>
          <a:p>
            <a:r>
              <a:t>• Package Name: identificador único de la app en el teléfono y en Google Play (com.empresa.juego).</a:t>
            </a:r>
          </a:p>
          <a:p>
            <a:r>
              <a:t>• Target Architectures: tipos de procesador para los que se compila (ARMv7 de 32 bits, ARM64 de 64 bits).</a:t>
            </a:r>
          </a:p>
          <a:p>
            <a:r>
              <a:t>Es la captura real del proyecto (Unity 6000.3.11f1, 2026-10-12), con cuatro marcas rojas: Package Name, Scripting Backend = Mono, Active Input Handling = Both y ARM64 en gris.</a:t>
            </a:r>
          </a:p>
          <a:p>
            <a:r>
              <a:t>Respuesta esperada: ARM64 está en gris porque el backend es Mono; según la documentación de Unity 6.3, ARM64 "se habilita solo cuando Scripting Backend es IL2CPP". Sin ARM64, la app no corre en los teléfonos que solo aceptan 64 bits (según Android, los Pixel 7 fueron los primeros con soporte solo para apps de 64 bits; Google Play exige la versión de 64 bits).</a:t>
            </a:r>
          </a:p>
          <a:p>
            <a:r>
              <a:t>Que la lean en sus máquinas: abrir Edit &gt; Project Settings &gt; Player &gt; Android &gt; Other Settings y comparar con la captura.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 perfil de compilación de Unity 6; puede tener sus propios Player Settings, que pisan los del proyecto.</a:t>
            </a:r>
          </a:p>
          <a:p>
            <a:r>
              <a:t>• Fuente de verdad: el único lugar donde se decide un valor.</a:t>
            </a:r>
          </a:p>
          <a:p>
            <a:r>
              <a:t>Dos caminos: Build crea solo el archivo; Build and Run además lo instala en el Run Device (manual de Unity 6.3). Sin teléfono, siempre Build, en la carpeta Builds/ fuera de Assets. La plataforma se mueve: Google Play exige AAB y, desde el 31/08/2026, apuntar a API 36; Unity 6.3 soporta Android 7.1 (API 25) o superior. iOS: Unity genera un proyecto de Xcode, que solo corre en macOS; en la cátedra, iOS es conceptual.</a:t>
            </a:r>
          </a:p>
          <a:p>
            <a:r>
              <a:t>Los valores resaltados son los que hay que cambiar; el resto ya viene bien. El Package Name se arma solo con Company y Product (com.Unju.AsteroideTest) mientras "Override Default Package Name" esté destildado.</a:t>
            </a:r>
          </a:p>
          <a:p>
            <a:r>
              <a:t>Una sola fuente: cambiar todo en Edit &gt; Project Settings &gt; Player. Si se edita la sección Player Settings dentro del Build Profile, el perfil guarda una copia propia; en el proyecto pasó: Company y Product quedaron en Assets/Settings/Build Profiles/Android™.asset y no en ProjectSettings. Dos lugares para el mismo dato es una fuente de errores difícil de ver.</a:t>
            </a:r>
          </a:p>
          <a:p>
            <a:r>
              <a:t>Active Input Handling = Both: la documentación de Unity 6.3 dice que no está soportado en Android. Se mantiene porque el menú usa el StandaloneInputModule clásico; al compilar se toca Ignore y queda registrado. Evidencia (2026-10-12): la build en batchmode terminó bien y el aviso solo apareció en el log. La corrección de fondo es reemplazar el módulo del EventSystem (prefab Game) por InputSystemUIInputModule y dejar solo Input System; no se hizo en el repositorio.</a:t>
            </a:r>
          </a:p>
          <a:p>
            <a:r>
              <a:t>Orientación: la decide cada grupo según su esquema de A4.3 (Resolution and Presentation &gt; Default Orientation).</a:t>
            </a:r>
          </a:p>
          <a:p>
            <a:r>
              <a:t>Paso a paso con capturas: anexo, pasos 5 y 6 (identidad, 64 bits, orientación, safe area e ícono). Dato real: en Edit &gt; Project Settings &gt; Player el proyecto sigue en DefaultCompany / UnityUnitTestingTutorial; los valores Unju / AsteroideTest solo existen dentro del Build Profile.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Aviso (warning): Unity informa un riesgo, pero deja seguir.</a:t>
            </a:r>
          </a:p>
          <a:p>
            <a:r>
              <a:t>• Error: Unity no puede terminar la tarea.</a:t>
            </a:r>
          </a:p>
          <a:p>
            <a:r>
              <a:t>• adb (Android Debug Bridge): herramienta de línea de comandos que conecta la PC con el teléfono.</a:t>
            </a:r>
          </a:p>
          <a:p>
            <a:r>
              <a:t>Cartel 1, "Unsupported Input Handling on Android": es un aviso. Ignore sigue con la build; Cancel Build la corta. Causa: Active Input Handling = Both (ver la slide anterior).</a:t>
            </a:r>
          </a:p>
          <a:p>
            <a:r>
              <a:t>Cartel 2, "No Android devices connected": aparece con Build and Run cuando la PC no ve ningún teléfono. Qué hacer: OK y usar Build; o conectar con un cable de datos, aceptar en el teléfono "¿Permitir depuración USB?" y tocar Refresh en Run Device. Comprobar con adb devices (el teléfono tiene que figurar como "device"; "unauthorized" significa que falta aceptar el diálogo). En Windows puede hacer falta el driver USB del fabricante.</a:t>
            </a:r>
          </a:p>
          <a:p>
            <a:r>
              <a:t>Tercer caso, sin captura: el APK se copia, pero el teléfono no lo instala o no lo abre. Primera sospecha: se compiló sin ARM64. En el curso todavía no se vio; está documentado por Android para los teléfonos que solo aceptan 64 bits.</a:t>
            </a:r>
          </a:p>
          <a:p>
            <a:r>
              <a:t>Respuesta a la pregunta: el primero es un aviso (deja seguir); el segundo frena Build and Run, pero no Build.</a:t>
            </a:r>
          </a:p>
          <a:p>
            <a:r>
              <a:t>Tabla de diagnóstico completa (incluye adb unauthorized, ícono negro y adb logcat): anexo, paso 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versión compilada del juego, lista para instalar.</a:t>
            </a:r>
          </a:p>
          <a:p>
            <a:r>
              <a:t>• Development Build: build con información de depuración que permite conectar el Profiler.</a:t>
            </a:r>
          </a:p>
          <a:p>
            <a:r>
              <a:t>• Autoconnect Profiler: opción para que el Profiler se conecte solo al iniciar el juego.</a:t>
            </a:r>
          </a:p>
          <a:p>
            <a:r>
              <a:t>• Build and Run: compilar, instalar y abrir en el dispositivo conectado, en un solo paso.</a:t>
            </a:r>
          </a:p>
          <a:p>
            <a:r>
              <a:t>Plan B: si la build falla en la máquina del grupo, se instala el APK de la docente (cable y adb install -r, o Drive y aceptar «Instalar apps de fuentes desconocidas»). Se pierde el Profiler; no se pierden el QA manual ni la matriz. Lo que no se pudo medir se declara en el dossier. El APK de depuración no se publica: para Google Play hacen falta firma propia y un .aab.</a:t>
            </a:r>
          </a:p>
          <a:p>
            <a:r>
              <a:t>Pasos con cable (para medir con el Profiler): en Build Profiles, Android activo; Development Build y Autoconnect Profiler tildados; teléfono conectado con la depuración activada; Build and Run. Según el manual de Unity 6.3, con Development Build y Build and Run Unity prepara el túnel del Profiler antes de abrir la app. Primero lo hace la docente; después cada grupo, con el teléfono de un integrante.</a:t>
            </a:r>
          </a:p>
          <a:p>
            <a:r>
              <a:t>Paso a paso para los grupos: anexo, pasos 2 (teléfono), 4 (Build Profiles) y 7 (build e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GC (garbage collector): proceso que libera memoria que ya no se usa; si trabaja mucho, produce tirones.</a:t>
            </a:r>
          </a:p>
          <a:p>
            <a:r>
              <a:t>• GC Alloc: memoria reservada en cada frame que después tendrá que liberar el GC.</a:t>
            </a:r>
          </a:p>
          <a:p>
            <a:r>
              <a:t>• Hipótesis: suposición que se comprueba midiendo.</a:t>
            </a:r>
          </a:p>
          <a:p>
            <a:r>
              <a:t>Versión final: la partida de medición dura 5 minutos; en el TP 3 pueden extenderla a 10.</a:t>
            </a:r>
          </a:p>
          <a:p>
            <a:r>
              <a:t>Hipótesis completas: H1, ¿cada disparo (Instantiate del láser) genera picos de GC? Métrica: GC Alloc por frame. H2, ¿el juego sostiene el fps durante 10 minutos? Métrica: tiempo de frame a lo largo del tiempo. Registrar modelo de teléfono, versión de Android y temperatura percibida.</a:t>
            </a:r>
          </a:p>
          <a:p>
            <a:r>
              <a:t>Advertencia honesta: Asteroides es liviano y lo más probable es que ande bien en casi cualquier teléfono. Si la medición no muestra problemas, la respuesta correcta es decirlo con los datos. El objetivo es aprender a formular y medir hipótesis.</a:t>
            </a:r>
          </a:p>
          <a:p>
            <a:r>
              <a:t>Imagen sugerida (opcional, sin recuadro en la slide): Profiler conectado a un teléfono con un pico de GC marcado.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promedio: cantidad media de imágenes por segundo durante la medición.</a:t>
            </a:r>
          </a:p>
          <a:p>
            <a:r>
              <a:t>• Tiempo de frame máximo: el cuadro que más tardó; muestra los tirones que el promedio esconde.</a:t>
            </a:r>
          </a:p>
          <a:p>
            <a:r>
              <a:t>Conclusión esperada: el número del editor no predice el del teléfono. Pasar a A4.6 (slide siguiente), que muestra el mismo problema con datos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versión 3, A4.6 se hace acá, con el teléfono y el Profiler a mano.]</a:t>
            </a:r>
          </a:p>
          <a:p>
            <a:r>
              <a:t>Glosario (conceptos cortos para la docente):</a:t>
            </a:r>
          </a:p>
          <a:p>
            <a:r>
              <a:t>• Cuello de botella: la parte del sistema que limita el rendimiento.</a:t>
            </a:r>
          </a:p>
          <a:p>
            <a:r>
              <a:t>• Métrica: valor que se mide (por ejemplo, el tiempo de frame).</a:t>
            </a:r>
          </a:p>
          <a:p>
            <a:r>
              <a:t>• Throttling térmico: el teléfono baja la frecuencia del procesador para no calentarse.</a:t>
            </a:r>
          </a:p>
          <a:p>
            <a:r>
              <a:t>Situación completa: "60 fps al empezar, 35–40 fps a los 8 minutos en un teléfono de gama media; en el editor, 200 fps".</a:t>
            </a:r>
          </a:p>
          <a:p>
            <a:r>
              <a:t>Respuesta esperada: throttling térmico agravado por el overdraw de las partículas; medir el tiempo de frame a lo largo del tiempo y el estado térmico con el Profiler en el dispositivo; fijar 30 fps o un presupuesto del 65 % y reducir el overdraw. El editor y el Device Simulator no sirven para esto.</a:t>
            </a:r>
          </a:p>
          <a:p>
            <a:r>
              <a:t>Contrastar con la medición de 10 minutos que acaban de hacer: ¿su teléfono se comporta igual?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QA manual: prueba hecha por una persona, siguiendo pasos definidos.</a:t>
            </a:r>
          </a:p>
          <a:p>
            <a:r>
              <a:t>• Cierre forzado: terminar la app desde los ajustes del sistema.</a:t>
            </a:r>
          </a:p>
          <a:p>
            <a:r>
              <a:t>Casos completos: QA-01 llamada o alarma durante la partida (esperado: el juego se pausa y espera un toque); QA-02 botón de inicio y volver (pausado, sin daño a la nave); QA-03 bloquear y desbloquear la pantalla (pausado); QA-04 abrir el teclado en pantalla, si aplica (documentar qué pasa); QA-05 cierre forzado y reabrir (documentar qué se pierde).</a:t>
            </a:r>
          </a:p>
          <a:p>
            <a:r>
              <a:t>Casos nuevos de la versión 3 (controles portados): QA-06, mover con el joystick y disparar con el botón al mismo tiempo, con dos dedos (el Device Simulator simula un solo dedo, así que este caso solo se prueba acá); QA-07, medir que cada control tenga al menos 48 dp y comprobar que el pulgar no tape la zona por donde caen los asteroides.</a:t>
            </a:r>
          </a:p>
          <a:p>
            <a:r>
              <a:t>Mismo formato de caso de prueba de la Unidad 2 (esperado vs. real). Si los grupos todavía no corrigieron el defecto, probar la versión con defecto: el resultado real va a contradecir al esperado, y eso es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compatibilidad: tabla que cruza dispositivos con resultados de prueba.</a:t>
            </a:r>
          </a:p>
          <a:p>
            <a:r>
              <a:t>• Muestra de conveniencia: los casos que se tienen a mano, no elegidos para representar al mercado.</a:t>
            </a:r>
          </a:p>
          <a:p>
            <a:r>
              <a:t>Respuesta esperada: no. Es una muestra de conveniencia; faltan gamas, fabricantes, versiones de Android y tablets. Por eso existen las granjas de dispositivos y Android vitals. Igual es evidencia real y vale más que el editor.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Profiler: herramienta de Unity que mide en qué se gasta el tiempo de cada frame.</a:t>
            </a:r>
          </a:p>
          <a:p>
            <a:r>
              <a:t>• Granja de dispositivos: servicio con muchos teléfonos reales para correr pruebas a distancia (Firebase Test Lab, AWS Device Farm).</a:t>
            </a:r>
          </a:p>
          <a:p>
            <a:r>
              <a:t>• Android vitals: métricas de calidad que Google Play mide sobre las apps publicadas.</a:t>
            </a:r>
          </a:p>
          <a:p>
            <a:r>
              <a:t>• ANR (Application Not Responding): la app deja de responder.</a:t>
            </a:r>
          </a:p>
          <a:p>
            <a:r>
              <a:t>Es la escalera que conecta con la Unidad 3: cada nivel tiene un "qué no prueba". El Device Simulator no prueba rendimiento, memoria ni render; el emulador no prueba térmica ni la GPU del teléfono.</a:t>
            </a:r>
          </a:p>
          <a:p>
            <a:r>
              <a:t>Android vitals mide fallas como la tasa de cierres inesperados (umbral general 1,09 %) y de ANR (0,47 %); la memoria pasa a afectar la visibilidad en la tienda desde febrero de 2027.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automático: prueba que corre sola y compara el resultado con lo esperado.</a:t>
            </a:r>
          </a:p>
          <a:p>
            <a:r>
              <a:t>Respuesta esperada: los tests protegen la regla y el adaptador ante regresiones; el QA manual comprueba que el sistema operativo dispare los callbacks y qué pasa cuando se cierra el proceso. Es la frontera entre automatización y hardware real, la misma de la Unidad 3 aplicada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Adaptador: clase que traduce lo que pasa afuera del juego (un dispositivo, un aviso del sistema operativo) en una orden para la lógica del juego.</a:t>
            </a:r>
          </a:p>
          <a:p>
            <a:r>
              <a:t>• Regla: lógica del juego que se puede probar sin el dispositivo real.</a:t>
            </a:r>
          </a:p>
          <a:p>
            <a:r>
              <a:t>• Test inestable (flaky): test que a veces pasa y a veces falla sin que cambie el código.</a:t>
            </a:r>
          </a:p>
          <a:p>
            <a:r>
              <a:t>• SO: sistema operativo (Android, iOS); es quien avisa al juego que pasa a segundo plano.</a:t>
            </a:r>
          </a:p>
          <a:p>
            <a:r>
              <a:t>Versión final: la pausa (A4.4) se resuelve en el dossier del TP 3, con este mismo patrón.</a:t>
            </a:r>
          </a:p>
          <a:p>
            <a:r>
              <a:t>Idea: el porteo de la entrada ya usó el mismo patrón que van a aplicar a la pausa en A4.4. ShipInputAdapter lee el teclado, el gamepad o los controles en pantalla y llama a Ship.SetIntent; los tests de ShipIntentTests prueban la nave con intenciones, sin ningún dispositivo, y desactivan el adaptador para aislarla.</a:t>
            </a:r>
          </a:p>
          <a:p>
            <a:r>
              <a:t>Evidencia real del repositorio (Test Runner en batchmode, Play Mode, 2026-10-10; XML en laboratorio-adaptacion/evidencia):</a:t>
            </a:r>
          </a:p>
          <a:p>
            <a:r>
              <a:t>1. Antes del porteo: 11 tests, 7 pasan y 4 fallan.</a:t>
            </a:r>
          </a:p>
          <a:p>
            <a:r>
              <a:t>2. Después del porteo: 14 tests (11 + 3 nuevos). En tres corridas pasaron 10, 11 y 10. Los 3 tests nuevos pasaron siempre.</a:t>
            </a:r>
          </a:p>
          <a:p>
            <a:r>
              <a:t>3. Tres fallas son siempre las mismas: las "hipótesis de integración" que detectan defectos reales del pool de asteroides (un asteroide se libera dos veces; NewGame no borra los asteroides viejos; un segundo NewGame acelera el spawn).</a:t>
            </a:r>
          </a:p>
          <a:p>
            <a:r>
              <a:t>4. Una falla cambia de test entre corridas (LaserMovesUp en una, GameOverStopsSpawningAndDisablesShip en otras): el stack trace lleva al mismo defecto del pool (Laser.cs:52 → Spawner.PlayExplosion). Es un test inestable causado por el código del juego, no por el porteo.</a:t>
            </a:r>
          </a:p>
          <a:p>
            <a:r>
              <a:t>Mensaje: un test en rojo no siempre es culpa del cambio que acabamos de hacer; hay que leer el stack trace antes de concluir. Es el ciclo de la Unidad 3 aplicado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de Edit Mode: test que corre en el editor sin dar Play; sirve para lógica pura y para leer la configuración del proyecto.</a:t>
            </a:r>
          </a:p>
          <a:p>
            <a:r>
              <a:t>• PlayerSettings: API de C# que lee y escribe los Player Settings.</a:t>
            </a:r>
          </a:p>
          <a:p>
            <a:r>
              <a:t>• NamedBuildTarget: identificador de la plataforma en la API (acá, Android).</a:t>
            </a:r>
          </a:p>
          <a:p>
            <a:r>
              <a:t>• Bandera (flag): valor que junta varias opciones; con &amp; se pregunta si una está prendida.</a:t>
            </a:r>
          </a:p>
          <a:p>
            <a:r>
              <a:t>Problema primero: el APK se instala en un teléfono y en otro no. Nadie tocó el código del juego: el proyecto estaba en Mono y solo ARMv7. ¿Se puede proteger la configuración con un test?</a:t>
            </a:r>
          </a:p>
          <a:p>
            <a:r>
              <a:t>Qué mostrar: dos de los cuatro tests de AndroidBuildConfigTests.cs. Los otros dos verifican que la API mínima sea 25 o más y que la build sea .apk y no .aab.</a:t>
            </a:r>
          </a:p>
          <a:p>
            <a:r>
              <a:t>Evidencia real (2026-10-12, Unity 6000.3.11f1, batchmode): con el proyecto en Mono + ARMv7, 2 tests en verde (API mínima, APK) y 2 en rojo (IL2CPP, ARM64). Archivo: laboratorio-adaptacion/evidencia/asteroides-05-android-config-editmode-red.xml.</a:t>
            </a:r>
          </a:p>
          <a:p>
            <a:r>
              <a:t>Datos de la documentación de Unity 6.3 (Android Player settings): ARM64 "se habilita solo cuando Scripting Backend es IL2CPP"; Active Input Handling = Both "no está soportado en Android".</a:t>
            </a:r>
          </a:p>
          <a:p>
            <a:r>
              <a:t>Límites: el test lee los Player Settings del proyecto; si un Build Profile tiene Player Settings propios, no está comprobado qué valores ve el test (UNKNOWN). Y una configuración correcta no demuestra que la app abra en el teléfono ni que los controles respondan.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Runner: ventana de Unity (Window &gt; General &gt; Test Runner) que ejecuta los tests y muestra verde o rojo.</a:t>
            </a:r>
          </a:p>
          <a:p>
            <a:r>
              <a:t>• Assembly definition (asmdef): archivo que agrupa scripts; los tests de editor van en uno que solo incluye la plataforma Editor.</a:t>
            </a:r>
          </a:p>
          <a:p>
            <a:r>
              <a:t>• Rojo a propósito: romper una condición para comprobar que el test es capaz de fallar.</a:t>
            </a:r>
          </a:p>
          <a:p>
            <a:r>
              <a:t>Consigna completa (sobre su copia del proyecto):</a:t>
            </a:r>
          </a:p>
          <a:p>
            <a:r>
              <a:t>1. Crear Assets/Tests/EditMode con un asmdef de tests que solo incluya la plataforma Editor (referencia: EditModeTests.asmdef del repositorio).</a:t>
            </a:r>
          </a:p>
          <a:p>
            <a:r>
              <a:t>2. Escribir dos tests: Scripting Backend = IL2CPP y ARM64 tildado, con la estructura de la slide anterior.</a:t>
            </a:r>
          </a:p>
          <a:p>
            <a:r>
              <a:t>3. Correrlos en el Test Runner, pestaña EditMode. Si hicieron la tarea de la build, deberían dar verde.</a:t>
            </a:r>
          </a:p>
          <a:p>
            <a:r>
              <a:t>4. Romper a propósito: pasar a Mono, correr de nuevo y ver el rojo. Restaurar IL2CPP y ver el verde. Un test que nunca vieron fallar no prueba nada.</a:t>
            </a:r>
          </a:p>
          <a:p>
            <a:r>
              <a:t>5. Escribir qué NO demuestra: que el teléfono acepte la app, que los controles respondan, el rendimiento.</a:t>
            </a:r>
          </a:p>
          <a:p>
            <a:r>
              <a:t>Extensión para el grupo que termina: BuildAndroid.cs (Assets/Editor) genera el APK desde código con BuildPipeline.BuildPlayer, sin abrir la ventana. Se corre en batchmode y deja un log como evidencia; es el primer paso hacia la integración continua. Evidencia (2026-10-12): build correcta en 42 s, APK de 20 MB (laboratorio-adaptacion/evidencia/asteroides-06-build-android-apk.log).</a:t>
            </a:r>
          </a:p>
          <a:p>
            <a:r>
              <a:t>Errores frecuentes: un asmdef de tests que incluye todas las plataformas (el código de UnityEditor no compila para el player); olvidar using UnityEditor.Build (NamedBuildTarget); correr los tests en la pestaña PlayMode.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FTC (Federal Trade Commission): organismo de EE. UU. que protege a los consumidores.</a:t>
            </a:r>
          </a:p>
          <a:p>
            <a:r>
              <a:t>• COPPA: ley de EE. UU. que protege la privacidad de los menores de 13 años en línea.</a:t>
            </a:r>
          </a:p>
          <a:p>
            <a:r>
              <a:t>• Dark patterns: diseños de interfaz que empujan al usuario a hacer algo que no quería.</a:t>
            </a:r>
          </a:p>
          <a:p>
            <a:r>
              <a:t>Caso completo: en 2022 la FTC acusó a Epic Games por Fortnite. Epic pagó USD 275 millones por privacidad de menores (COPPA) y USD 245 millones en reembolsos. El motivo: dark patterns en la compra, con una configuración de botones "counterintuitive, inconsistent, and confusing".</a:t>
            </a:r>
          </a:p>
          <a:p>
            <a:r>
              <a:t>Respuesta buscada: las dos cosas. Una decisión de interfaz (dónde va un botón, qué confirma una compra) tuvo consecuencias legales. Desde hoy la monetización se analiza como diseño, con reglas y con ética.</a:t>
            </a:r>
          </a:p>
          <a:p>
            <a:r>
              <a:t>Imagen sugerida (opcional, sin recuadro en la slide): titular del comunicado oficial de la FTC del 19/12/2022.</a:t>
            </a:r>
          </a:p>
          <a:p>
            <a:r>
              <a:t>• ACM (Autoriteit Consument &amp; Markt): autoridad de consumo y competencia de los Países Bajos.</a:t>
            </a:r>
          </a:p>
          <a:p>
            <a:r>
              <a:t>• Item Shop: la tienda de objetos dentro de Fortnite.</a:t>
            </a:r>
          </a:p>
          <a:p>
            <a:r>
              <a:t>No es un caso aislado: en 2024 la ACM multó a Epic con 1.125.000 euros en total, más una orden obligatoria de cambiar la tienda, por prácticas comerciales desleales dirigidas a niños en el Item Shop de Fortnite (mensajes del tipo "consíguelo ya" y temporizadores de cuenta regresiva engañosos). Epic recurrió y el 14/01/2026 el Tribunal de Distrito de Róterdam le dio la razón a la ACM: "Epic directly exhorted children to make purchases in the Fortnite Item Shop" (ACM, "Ruling of the District Court of Rotterdam: Epic's objection declared unfounded", 14/01/2026, https://www.acm.nl/en/node/28730). Epic no discutió la infracción de los temporizadores.</a:t>
            </a:r>
          </a:p>
          <a:p>
            <a:r>
              <a:t>Para remarcar: dos países, dos organismos y la misma conclusión: la pantalla de compra es diseño, y el diseño tiene consecuencias legales. El temporizador que apura es una decisión de interfaz, igual que el botón confuso.</a:t>
            </a:r>
          </a:p>
          <a:p>
            <a:r>
              <a:t>Videos cortos de noticias, en español (pedido de la titular, 2026-10-19), para abrir el tema:</a:t>
            </a:r>
          </a:p>
          <a:p>
            <a:r>
              <a:t>- La Tercera (Chile), "Millonaria multa: no fue una 'victoria magistral' para Epic Games", caso FTC: https://www.facebook.com/watch/?v=2465461220269942</a:t>
            </a:r>
          </a:p>
          <a:p>
            <a:r>
              <a:t>- El Deber (Bolivia), "Multa millonaria a Fortnite por violar la privacidad de menores y manipulación", caso FTC: https://www.facebook.com/watch/?v=541682641335363</a:t>
            </a:r>
          </a:p>
          <a:p>
            <a:r>
              <a:t>- El Sol de México, multa de Países Bajos por prácticas desleales con menores: https://www.facebook.com/reel/657601210708360</a:t>
            </a:r>
          </a:p>
          <a:p>
            <a:r>
              <a:t>- DW Español, "Fortnite pagará USD 520 millones por violar privacidad de menores" (12 min, 19/12/2022): https://www.youtube.com/watch?v=cavSjjSDdo0</a:t>
            </a:r>
          </a:p>
          <a:p>
            <a:r>
              <a:t>Verificación (2026-10-19): título y medio de los tres videos de Facebook leídos de los metadatos públicos de cada enlace; el reel de El Sol de México no muestra título, solo la descripción. Facebook puede pedir iniciar sesión para reproducirlos: probarlos antes de la clase. El video de DW se verificó en YouTube (título, canal, fecha y duración). No se miraron completos.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IAP: compra dentro de la app.</a:t>
            </a:r>
          </a:p>
          <a:p>
            <a:r>
              <a:t>• Rewarded: anuncio que el jugador elige ver a cambio de una recompensa.</a:t>
            </a:r>
          </a:p>
          <a:p>
            <a:r>
              <a:t>• Interstitial: anuncio de pantalla completa, en las transiciones.</a:t>
            </a:r>
          </a:p>
          <a:p>
            <a:r>
              <a:t>Modelos: premium (paga una vez; ejemplo, Alto's Adventure sin anuncios ni IAP); freemium + IAP (pagan algunos; la progresión y la tienda se piensan para vender); anuncios (paga el anunciante y el jugador "paga" con tiempo); híbrido. Agregar el premium corrige el programa, que solo nombra freemium e híbridos.</a:t>
            </a:r>
          </a:p>
          <a:p>
            <a:r>
              <a:t>Formatos de anuncio: rewarded, "served after a user explicitly chooses to view" (AdMob); interstitial, solo en transiciones naturales; banner, franja fija que ocupa UI y safe area. La diferencia clave es el consentimiento: el rewarded lo pide el jugador, el interstitial se lo imponen.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Política de tienda: reglas que una app debe cumplir para publicarse.</a:t>
            </a:r>
          </a:p>
          <a:p>
            <a:r>
              <a:t>• Loot box (caja con premios al azar): compra cuyo contenido se sortea.</a:t>
            </a:r>
          </a:p>
          <a:p>
            <a:r>
              <a:t>AdMob prohíbe interstitials al abrir o al salir de la app, después de cada acción del usuario (como máximo, uno cada dos acciones), inmediatamente después de otro interstitial y de forma inesperada durante el juego.</a:t>
            </a:r>
          </a:p>
          <a:p>
            <a:r>
              <a:t>Apple 3.1.1: el contenido digital se desbloquea con IAP. Apple y Google: las cajas al azar muestran las probabilidades antes de comprar. Google Play Billing es obligatorio, con excepciones por país. Apps para niños: sin publicidad personalizada ni SDKs no certificados.</a:t>
            </a:r>
          </a:p>
          <a:p>
            <a:r>
              <a:t>Pregunta: si cada partida es corta y cada Game Over muestra un anuncio, se acerca a "después de cada acción". No hay respuesta automática: hay que leer la política y justificar.</a:t>
            </a:r>
          </a:p>
          <a:p>
            <a:r>
              <a:t>Dato de herramienta: Unity recomienda migrar de Unity Ads directo a LevelPlay (mediación) desde abril de 2026; no se integra en esta materia.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Dark pattern: diseño que juega en contra del interés del jugador.</a:t>
            </a:r>
          </a:p>
          <a:p>
            <a:r>
              <a:t>• Balance: relación entre dificultad, recursos y habilidad.</a:t>
            </a:r>
          </a:p>
          <a:p>
            <a:r>
              <a:t>Detalle: "continuar con un anuncio" cambia el significado del Game Over; subir la dificultad para vender vidas cambia el balance; las pausas para anuncios cambian el ritmo. En Vampire Survivors para móvil, la monetización está "designed to never interrupt your game, always be optional" (Kotaku, 2023, citando a poncle).</a:t>
            </a:r>
          </a:p>
          <a:p>
            <a:r>
              <a:t>Ética: dark patterns (Zagal, Björk y Lewis, 2013; citar sin enlace hasta verificar una copia legal); loot boxes asociadas con el juego problemático (Zendle y Cairns, 2018, PLOS ONE, n = 7.422): correlación, no causa; 35 técnicas percibidas como predatorias (Petrovskaya y Zendle, 2022); Bélgica prohibió mecánicas de loot box en 2018 (UK Gambling Commission). No decir que las loot boxes "causan" adicción.</a:t>
            </a:r>
          </a:p>
          <a:p>
            <a:r>
              <a:t>Respuesta posible a la pregunta: cantidad de vidas, velocidad de los asteroides, duración de la partida y cómo se calcula el puntaje si alguien continúa.</a:t>
            </a:r>
          </a:p>
          <a:p>
            <a:r>
              <a:t>Video opcional de tarea: Anisa Sanusi, "Dark Patterns: How Good UX Can Be Bad UX" (GDC 2017).</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Cofre al azar: equivalente a una loot box.</a:t>
            </a:r>
          </a:p>
          <a:p>
            <a:r>
              <a:t>Versión final: cada grupo vota y justifica en una frase; el debate largo va al foro del aula virtual.</a:t>
            </a:r>
          </a:p>
          <a:p>
            <a:r>
              <a:t>Propuestas completas: P1 premium a US$ 2,99, sin anuncios ni compras. P2 gratis, rewarded "continuar con 1 vida" (una vez por partida) + IAP "quitar anuncios". P3 gratis, interstitial al abrir y en cada Game Over + cofres pagos al azar sin probabilidades + dificultad aumentada para empujar a comprar.</a:t>
            </a:r>
          </a:p>
          <a:p>
            <a:r>
              <a:t>Respuesta esperada: P3 viola políticas (interstitial al abrir; probabilidades no informadas) y manipula la dificultad. P2 cumple, pero cambia el balance. P1 es viable, con menor alcance. Vale cualquier elección defendida con criterios y fuentes.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Coevaluación: los grupos se evalúan entre sí con criterios compartidos.</a:t>
            </a:r>
          </a:p>
          <a:p>
            <a:r>
              <a:t>• Decisión de plataforma (PDR): registro de contexto, opciones, decisión y consecuencias.</a:t>
            </a:r>
          </a:p>
          <a:p>
            <a:r>
              <a:t>Versión final (PROPUESTO, lo decide la titular): sin tiempo para la defensa en vivo, cada grupo sube un video de 3 minutos al aula virtual y coevalúa el de otro grupo con estos criterios.</a:t>
            </a:r>
          </a:p>
          <a:p>
            <a:r>
              <a:t>Contenido de la defensa: una decisión de plataforma (contexto, opciones, decisión, consecuencias); la evidencia del teléfono que la respalda o la contradice; lo que quedó sin probar, dicho explícitamente.</a:t>
            </a:r>
          </a:p>
          <a:p>
            <a:r>
              <a:t>A4.4, "La llamada que mata la nave", pasa al dossier: comportamiento esperado ante una interrupción; regla de pausa separada del adaptador (OnApplicationPause); test de Edit Mode de la regla; qué NO demuestra el test. El ejemplo para destrabar es ShipIntentTests.cs (aislar la regla del adaptador).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que hace el fabricante de la consola antes de permitir que un juego se publique.</a:t>
            </a:r>
          </a:p>
          <a:p>
            <a:r>
              <a:t>• Transferencia: aplicar lo aprendido en un caso a otro distinto.</a:t>
            </a:r>
          </a:p>
          <a:p>
            <a:r>
              <a:t>Síntesis: en móvil el límite lo ponen la energía, el calor, la memoria, la pantalla táctil, las interrupciones y las reglas de tienda. Lo que el editor no muestra, lo muestra el teléfono.</a:t>
            </a:r>
          </a:p>
          <a:p>
            <a:r>
              <a:t>Transferencia (1 min): el 2D Platformer ya tiene MobileMove, MobileJump y MobileShoot, pero su objeto MobileControls está vacío. El patrón adaptador → intención → personaje se reutiliza; el esquema no se copia: en un juego de plataformas importa el momento del salto (botón grande, bajo el pulgar; tolerancias como el coyote time).</a:t>
            </a:r>
          </a:p>
          <a:p>
            <a:r>
              <a:t>Puente técnico: las mismas acciones de Input System que usamos para el dedo ya aceptan un gamepad; para jugar en una consola no hay que reescribir la nave. Lo que cambia es todo lo demás.</a:t>
            </a:r>
          </a:p>
          <a:p>
            <a:r>
              <a:t>Pregunta puente: en consola, el fabricante certifica el juego antes de publicarlo (Microsoft publica sus requisitos; Sony y Nintendo, no). La idea transversal de las Unidades IV a VII: ¿quién pone el límite?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Porteo: llevar un juego de una plataforma a otra adaptando input, pantalla, rendimiento y distribución.</a:t>
            </a:r>
          </a:p>
          <a:p>
            <a:r>
              <a:t>[Encuentro nuevo, agregado el 2026-10-19 a pedido de la titular: continuación después de dar todo el deck.]</a:t>
            </a:r>
          </a:p>
          <a:p>
            <a:r>
              <a:t>Hilo del encuentro: la clase pasada cerró con la safe area ("no todo el rectángulo es tuyo"). Hoy seguimos la pregunta: ¿quién más ocupa la pantalla y el dedo del jugador? Primero el anunciante (UX y seguridad), después un caso real donde el input le costó a una empresa una sanción, y al final la respuesta técnica: el porteo PC → Android en código real.</a:t>
            </a:r>
          </a:p>
          <a:p>
            <a:r>
              <a:t>Reparto (40/60): teoría 36 min (apertura 3, publicidad 8, caso real 5, puente 2, código 11, orientación 5, cierre 2); práctica 54 min (A4.9 30, puesta en común 8, TP 3 en clase 16).</a:t>
            </a:r>
          </a:p>
          <a:p>
            <a:r>
              <a:t>Materiales: APK del 2D Platformer v2 (Builds/Platformer-v2.apk) y su instalador de PC (Builds/Instaladores/Platformer-v2-Setup.exe), subidos al aula virtual antes de la clase; Device Simulator como plan B. El APK es de 32 bits (ARMv7): algunos teléfonos que solo aceptan 64 bits no lo instalan. Probarlo antes con un teléfono del curso.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Safe area: parte de la pantalla libre de muesca, esquinas redondeadas y barra de gestos.</a:t>
            </a:r>
          </a:p>
          <a:p>
            <a:r>
              <a:t>• Banner: anuncio en una franja fija de la pantalla, siempre visible.</a:t>
            </a:r>
          </a:p>
          <a:p>
            <a:r>
              <a:t>• Área jugable: lo que queda para el juego después de restar sistema, controles y anuncios.</a:t>
            </a:r>
          </a:p>
          <a:p>
            <a:r>
              <a:t>Puente con la clase pasada: la safe area la pone el sistema; los controles, el diseño; el banner, el negocio. Los tres compiten por el mismo rectángulo, y en un juego horizontal el banner tiene dos lugares posibles: abajo (donde están ◀ ▶ y SALTAR) o arriba (donde están los corazones y las monedas).</a:t>
            </a:r>
          </a:p>
          <a:p>
            <a:r>
              <a:t>Disparador: pedir que alguien levante el teléfono en horizontal y señale dónde pondría el banner en el 2D Platformer. Respuesta esperada: no hay lugar "gratis"; cualquier franja tapa HUD, controles o nivel.</a:t>
            </a:r>
          </a:p>
          <a:p>
            <a:r>
              <a:t>No detenerse más de 3 minutos: es la pregunta que abre el encuentro.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Interstitial: anuncio de pantalla completa entre dos momentos del juego.</a:t>
            </a:r>
          </a:p>
          <a:p>
            <a:r>
              <a:t>• Rewarded: anuncio que el jugador elige ver a cambio de una recompensa.</a:t>
            </a:r>
          </a:p>
          <a:p>
            <a:r>
              <a:t>• Better Ads Experiences: política de Google Play contra los anuncios de pantalla completa inesperados.</a:t>
            </a:r>
          </a:p>
          <a:p>
            <a:r>
              <a:t>Idea central: en móvil, la pantalla es también el control. Un anuncio no solo ocupa espacio: compite por el mismo dedo. Si el interstitial aparece justo cuando el jugador toca SALTAR, el salto se convierte en un clic al anuncio.</a:t>
            </a:r>
          </a:p>
          <a:p>
            <a:r>
              <a:t>Lo que dice Google Play (leído el 19/10/2026): la política busca "prevent unexpected full screen interstitials, typically when the user has chosen to do something else"; da como ejemplo de ubicación inesperada "ads that appear at the beginning of a game level"; propone como lugar adecuado "the break after the score screen in a gaming app"; los banners se aceptan si "do not interfere with normal app use or game play"; y con los rewarded "there is no concern with unexpectedness", porque el jugador eligió verlos.</a:t>
            </a:r>
          </a:p>
          <a:p>
            <a:r>
              <a:t>Conexión: en la tercera clase vimos las reglas de AdMob (nunca al abrir ni después de cada acción). Hoy es la otra cara: el costo en UX.</a:t>
            </a:r>
          </a:p>
          <a:p>
            <a:r>
              <a:t>Respuesta esperada a la pregunta: del diseño. Si el anuncio aparece donde el jugador ya estaba por tocar, el "clic" no es una decisión del jugador.</a:t>
            </a:r>
          </a:p>
          <a:p>
            <a:r>
              <a:t>Qué NO resuelve esto: cumplir la política no garantiza una buena experiencia; un banner permitido igual puede quedar pegado a un botón.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SDK: paquete de código de terceros que se agrega al juego (anuncios, analíticas, login).</a:t>
            </a:r>
          </a:p>
          <a:p>
            <a:r>
              <a:t>• Adware: software que muestra o cliquea anuncios sin que el usuario lo decida.</a:t>
            </a:r>
          </a:p>
          <a:p>
            <a:r>
              <a:t>• WebView: navegador embebido dentro de una app.</a:t>
            </a:r>
          </a:p>
          <a:p>
            <a:r>
              <a:t>Caso (verificado el 19/10/2026 en BleepingComputer, 15/04/2023): "Goldoson" llegó a Google Play a través de 60 apps legítimas con 100 millones de descargas en total. Estaba en "a third-party library used by all sixty apps that the developers unknowingly added to their apps"; podía "perform ad fraud by clicking ads in the background without the user's consent", inyectando código en "a customized, hidden WebView". Google dijo que las apps "violated Google Play policies". El informe original es de McAfee Labs ("Goldoson: Privacy-invasive and Clicker Android Adware found in popular apps in South Korea"); el 19/10/2026 la página no abrió, así que los datos se citan a través de BleepingComputer.</a:t>
            </a:r>
          </a:p>
          <a:p>
            <a:r>
              <a:t>Para remarcar: los desarrolladores no escribieron ese código, pero era su app. Al publicar, responde quien publica.</a:t>
            </a:r>
          </a:p>
          <a:p>
            <a:r>
              <a:t>Qué hacer en un proyecto: usar SDKs oficiales y actualizados, revisar qué permisos agrega cada paquete, completar con honestidad la sección de seguridad de datos de la tienda e integrar lo mínimo indispensable.</a:t>
            </a:r>
          </a:p>
          <a:p>
            <a:r>
              <a:t>Qué NO decir: "los anuncios son malware". La mayoría de los SDKs de anuncios son legítimos; el riesgo es cualquier código ajeno sin revisar (anuncios, analíticas o plugins). El 2D Platformer v2 no integra ningún SDK de anuncios.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gating: bloquear la entrada mientras el juego está en un estado en el que un toque no debería hacer nada (cargando, pausado, despertando).</a:t>
            </a:r>
          </a:p>
          <a:p>
            <a:r>
              <a:t>• Confirmación: segundo paso antes de una acción irreversible (pagar, borrar).</a:t>
            </a:r>
          </a:p>
          <a:p>
            <a:r>
              <a:t>• Target: zona tocable de un botón; incluye el margen de separación con sus vecinos.</a:t>
            </a:r>
          </a:p>
          <a:p>
            <a:r>
              <a:t>Es el mismo caso de la apertura de monetización de la tercera clase, ahora visto desde el input. Según la FTC, "Fortnite's counterintuitive, inconsistent, and confusing button configuration led players to incur unwanted charges based on the press of a single button": se podía pagar "while attempting to wake the game from sleep mode", "while the game was in a loading screen" o "by pressing an adjacent button while attempting simply to preview an item". La FTC lo resume así: "These tactics led to hundreds of millions of dollars in unauthorized charges for consumers." (Son alegaciones de la FTC que terminaron en un acuerdo de pago.)</a:t>
            </a:r>
          </a:p>
          <a:p>
            <a:r>
              <a:t>Cómo leerlo con lo que ya saben: tres fallas de input con tres respuestas de diseño. Estado: el toque que despierta el juego o cae en una carga no tendría que hacer nada (input gating). Espacio: botones vecinos demasiado juntos (la slide "¿Cuánto mide un dedo?"). Confirmación: una acción que cuesta dinero no se ejecuta con un solo toque.</a:t>
            </a:r>
          </a:p>
          <a:p>
            <a:r>
              <a:t>Respuesta esperada a la pregunta: el código hizo exactamente lo que el diseño le pidió. La falla fue de diseño del input, y la sanción fue legal.</a:t>
            </a:r>
          </a:p>
          <a:p>
            <a:r>
              <a:t>Disparador: "¿Alguna vez compraron, borraron o saltaron algo sin querer en el teléfono? ¿En qué estado estaba la app?"</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Dispositivo: de dónde viene la entrada (teclado, gamepad, pantalla táctil).</a:t>
            </a:r>
          </a:p>
          <a:p>
            <a:r>
              <a:t>• Estado: en qué momento del juego llega (jugando, cargando, en pausa).</a:t>
            </a:r>
          </a:p>
          <a:p>
            <a:r>
              <a:t>• Espacio: dónde está el control y qué ocupa en pantalla (tamaño, safe area, orientación).</a:t>
            </a:r>
          </a:p>
          <a:p>
            <a:r>
              <a:t>Transición: el caso de la FTC deja tres preguntas, y el porteo PC → Android las tiene que responder. Las dos slides siguientes muestran en código real la primera (dispositivo) y la tercera (espacio). La segunda (estado) ya la trabajaron con las interrupciones y la pausa (A4.4).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Input.GetAxis / GetButtonDown: lectura directa del Input Manager clásico (teclas configuradas como ejes y botones).</a:t>
            </a:r>
          </a:p>
          <a:p>
            <a:r>
              <a:t>• InputAction: acción con nombre ("Move", "Jump") a la que se le asocian varios dispositivos (bindings).</a:t>
            </a:r>
          </a:p>
          <a:p>
            <a:r>
              <a:t>• Binding: regla que conecta una acción con un control concreto ("&lt;Keyboard&gt;/space", "&lt;Gamepad&gt;/buttonSouth").</a:t>
            </a:r>
          </a:p>
          <a:p>
            <a:r>
              <a:t>• Control en pantalla (OnScreenButton / OnScreenStick): botón o joystick virtual que se hace pasar por un gamepad.</a:t>
            </a:r>
          </a:p>
          <a:p>
            <a:r>
              <a:t>• Virtual joystick: stick dibujado en la pantalla que se arrastra con el pulgar.</a:t>
            </a:r>
          </a:p>
          <a:p>
            <a:r>
              <a:t>• Touch phase: etapa de un toque (Began, Moved, Stationary, Ended, Canceled).</a:t>
            </a:r>
          </a:p>
          <a:p>
            <a:r>
              <a:t>Antes (izquierda, código original del juego): el PlayerController lee el teclado dentro de su propio Update. En el teléfono no hay teclado: el menú se puede tocar, pero el personaje no se mueve.</a:t>
            </a:r>
          </a:p>
          <a:p>
            <a:r>
              <a:t>Después (derecha, versión 2): el adaptador declara dos acciones con sus bindings. Las líneas resaltadas son del gamepad, y los botones en pantalla ◀ ▶ SALTAR simulan justamente "&lt;Gamepad&gt;/dpad" y "&lt;Gamepad&gt;/buttonSouth". Cada frame, el adaptador llama a PlayerController.SetIntent(dirección, salto): el jugador recibe una intención, no una tecla. Es el mismo patrón que vieron en Asteroides ("La intención en código"), ahora en el segundo juego.</a:t>
            </a:r>
          </a:p>
          <a:p>
            <a:r>
              <a:t>Respuesta esperada a la pregunta: en ninguna. El dedo entra como un gamepad virtual; por eso el mismo código sirve para teclado, gamepad y pantalla.</a:t>
            </a:r>
          </a:p>
          <a:p>
            <a:r>
              <a:t>Alternativa (no usada en el proyecto), para gestos como deslizar: leer los toques directamente con EnhancedTouch. Se habilita con EnhancedTouchSupport.Enable() y se recorre Touch.activeTouches; cada toque tiene una phase (Began al apoyar, Moved al deslizar, Ended al levantar). Sirve para gestos; para botones conviene el control en pantalla, porque ya resuelve presionar y soltar.</a:t>
            </a:r>
          </a:p>
          <a:p>
            <a:r>
              <a:t>Qué NO resuelve esto: el botón virtual no tiene relieve ni recorrido; el pulgar no sabe si lo está tocando. Por eso el tamaño, la separación y la ubicación siguen siendo decisiones de diseño.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Viewport: parte de la pantalla donde la cámara dibuja.</a:t>
            </a:r>
          </a:p>
          <a:p>
            <a:r>
              <a:t>• Aspect ratio: relación entre ancho y alto de la pantalla (16:9, 19,5:9, 4:3).</a:t>
            </a:r>
          </a:p>
          <a:p>
            <a:r>
              <a:t>• Canvas Scaler: componente de la UI de Unity que escala la interfaz a partir de una resolución de referencia (acá, 1920 × 1080).</a:t>
            </a:r>
          </a:p>
          <a:p>
            <a:r>
              <a:t>• Aspect ratio pinning (o letterboxing): fijar una relación de aspecto y rellenar el resto con bandas.</a:t>
            </a:r>
          </a:p>
          <a:p>
            <a:r>
              <a:t>• Screen.safeArea: rectángulo, en píxeles, libre de muesca y barra de gestos.</a:t>
            </a:r>
          </a:p>
          <a:p>
            <a:r>
              <a:t>Antes (izquierda, configuración original): el juego aceptaba las cuatro orientaciones, retrato incluido, para un juego de desplazamiento lateral. En PC nadie lo notaba: el monitor no rota y no tiene muesca.</a:t>
            </a:r>
          </a:p>
          <a:p>
            <a:r>
              <a:t>Después (derecha, versión 2): SafeAreaFitter lee la safe area de la pantalla y ajusta el contenedor de los controles para que ningún botón quede bajo la muesca o la barra de gestos. Usa UnityEngine.Device.Screen, que también responde al Device Simulator. Además, la orientación quedó fija en horizontal (solo Landscape Left/Right) y el Canvas Scaler mantiene 1920 × 1080 con match 0,5.</a:t>
            </a:r>
          </a:p>
          <a:p>
            <a:r>
              <a:t>Respuesta esperada a la pregunta: porque en PC la pantalla era un supuesto fijo (un monitor horizontal, sin muesca, con mouse). En móvil, la pantalla cambia según el teléfono, la orientación y el sistema.</a:t>
            </a:r>
          </a:p>
          <a:p>
            <a:r>
              <a:t>Qué NO resuelve esto: la safe area protege los controles, no el nivel; si los botones tapan los pozos, hay que mover la cámara (pendiente en la v2: margen inferior de cámara).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Orthographic size: en una cámara 2D, la mitad de la altura visible en unidades del mundo; el ancho visible sale de multiplicarla por el aspect ratio.</a:t>
            </a:r>
          </a:p>
          <a:p>
            <a:r>
              <a:t>• Bloqueo de orientación: desactivar en Player Settings las orientaciones que el juego no admite.</a:t>
            </a:r>
          </a:p>
          <a:p>
            <a:r>
              <a:t>Asteroides: la cámara tiene orthographic size 5 (10 unidades de alto) y los asteroides aparecen en x ∈ [−8, 8]. En 16:9 horizontal se ven ±8,9 unidades de ancho; en 9:16 vertical, solo ±2,8: los asteroides nacen fuera de la pantalla y los sprites ocupan mucho más del ancho. Es el gráfico de la slide "Lo que encontramos" de la segunda clase. Se puede jugar en las dos orientaciones, pero hay que ajustar cámara y spawn según el aspecto. La orientación final de Asteroides sigue como decisión pendiente (DEC-LAB-005).</a:t>
            </a:r>
          </a:p>
          <a:p>
            <a:r>
              <a:t>2D Platformer: el jugador tiene que ver lo que viene a la derecha (pozos, enemigos). En vertical vería muy poco nivel; por eso se bloqueó en horizontal. Queda pendiente el margen inferior de la cámara para que los botones no tapen el borde de las plataformas.</a:t>
            </a:r>
          </a:p>
          <a:p>
            <a:r>
              <a:t>Respuesta esperada a la pregunta: el género propone (un arcade vertical admite las dos; un plataformero de avance lateral pide horizontal) y la plataforma obliga a decidirlo y a probarlo en pantallas reales.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Auditoría de porteo: revisión ordenada de qué cambió, qué mejoró y qué empeoró al pasar de plataforma.</a:t>
            </a:r>
          </a:p>
          <a:p>
            <a:r>
              <a:t>Consigna completa (grupos de 3–4, con al menos un teléfono Android):</a:t>
            </a:r>
          </a:p>
          <a:p>
            <a:r>
              <a:t>1. Jugar el nivel 1 en PC con el instalador (Platformer-v2-Setup.exe) o con la build de Windows. 5 min.</a:t>
            </a:r>
          </a:p>
          <a:p>
            <a:r>
              <a:t>2. Instalar el APK en un teléfono y jugar el mismo nivel. Plan B: Device Simulator en Unity. 10 min.</a:t>
            </a:r>
          </a:p>
          <a:p>
            <a:r>
              <a:t>3. Planilla (columnas Aspecto | PC | Android | Evidencia), 10 min: controles (¿responden?, ¿se puede mantener ◀ y saltar a la vez?); doble salto (¿sale cuando quieren?); orientación (rotar el teléfono: ¿qué pasa?); safe area (en un teléfono con muesca, ¿algún botón queda tapado?); HUD (¿se leen los corazones y las monedas?).</a:t>
            </a:r>
          </a:p>
          <a:p>
            <a:r>
              <a:t>4. Ubicar un banner (5 min): marcar en una captura dónde iría un banner y qué taparía. Y responder: si apareciera un interstitial al empezar el nivel 2, ¿qué toque del jugador se perdería?</a:t>
            </a:r>
          </a:p>
          <a:p>
            <a:r>
              <a:t>Errores frecuentes y corrección: "en PC anda, entonces en Android también": el input y la pantalla son otros; "el banner va donde haya lugar": en un juego horizontal no hay lugar libre.</a:t>
            </a:r>
          </a:p>
          <a:p>
            <a:r>
              <a:t>Qué NO demuestra esta actividad: una sola sesión de juego no mide rendimiento ni batería; eso se mide con el Profiler.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foto, medida o tiempo que alguien más puede revisar.</a:t>
            </a:r>
          </a:p>
          <a:p>
            <a:r>
              <a:t>Cada grupo dice un hallazgo en una frase, con su evidencia. La docente los agrupa en tres columnas en el pizarrón: dispositivo (input), estado (cuándo vale el toque) y espacio (pantalla). Son las tres preguntas del puente.</a:t>
            </a:r>
          </a:p>
          <a:p>
            <a:r>
              <a:t>Respuestas posibles: los botones táctiles tapan parte de la pantalla; el doble salto cuesta más en táctil que con teclado, porque no hay respuesta física del botón (por eso existen el coyote time y el buffer de salto, que siguen como decisión pendiente); en vertical la pantalla no rota, y está bien.</a:t>
            </a:r>
          </a:p>
          <a:p>
            <a:r>
              <a:t>Pregunta de cierre del bloque: ¿qué arreglarían primero? Buena respuesta: lo que más afecta al jugar y es más barato de cambiar, justificado con su evidencia.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Ítem del dossier: sección del TP 3 con consigna y criterio de evaluación propios.</a:t>
            </a:r>
          </a:p>
          <a:p>
            <a:r>
              <a:t>Consigna del ítem 9 del TP 3, "Publicidad e input" (1 a 2 páginas):</a:t>
            </a:r>
          </a:p>
          <a:p>
            <a:r>
              <a:t>a) Monetización con anuncios: elegir un formato (banner, interstitial o rewarded) para su juego y escribir dos ventajas y dos riesgos: de UX (área jugable, toques accidentales, interrupciones) y de seguridad (SDK de terceros). Citar al menos una política de tienda (Google Play Better Ads Experiences o AdMob).</a:t>
            </a:r>
          </a:p>
          <a:p>
            <a:r>
              <a:t>b) Táctil vs. teclado: con la evidencia de A4.9, comparar una acción del juego (mover o saltar) en PC y en el teléfono: qué cambia en precisión, tiempo de respuesta y ocupación de pantalla.</a:t>
            </a:r>
          </a:p>
          <a:p>
            <a:r>
              <a:t>c) Decisión: ¿lo publicarían con anuncios, sin anuncios o premium? Una decisión justificada con lo anterior y con el caso de la FTC como contraejemplo.</a:t>
            </a:r>
          </a:p>
          <a:p>
            <a:r>
              <a:t>Criterio de evaluación propuesto: entra en "Monetización" (más efecto sobre el diseño y ética) y en "Diseño de control y HUD". El peso en la rúbrica lo define la titular (PROPUESTO).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Error conceptual: idea que parece correcta y lleva a decisiones equivocadas.</a:t>
            </a:r>
          </a:p>
          <a:p>
            <a:r>
              <a:t>Errores frecuentes y su corrección:</a:t>
            </a:r>
          </a:p>
          <a:p>
            <a:r>
              <a:t>• "Si cumple la política de Google Play, el anuncio está bien": la política fija un piso; la UX se prueba jugando.</a:t>
            </a:r>
          </a:p>
          <a:p>
            <a:r>
              <a:t>• "Un botón en pantalla es igual a uno físico": no tiene relieve ni recorrido; necesita tamaño, separación y una respuesta visual.</a:t>
            </a:r>
          </a:p>
          <a:p>
            <a:r>
              <a:t>• "Lo probé en el Device Simulator": el simulador no tiene dedos reales, multitouch ni muesca física.</a:t>
            </a:r>
          </a:p>
          <a:p>
            <a:r>
              <a:t>• "Los anuncios son malware": no; el riesgo es cualquier SDK de terceros que no se revisa.</a:t>
            </a:r>
          </a:p>
          <a:p>
            <a:r>
              <a:t>Cierre: el porteo no es "compilar para Android": es volver a responder qué toca el jugador, cuándo vale y dónde está.</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de consulta: no ocupa tiempo de clase. Los alumnos lo usan para la tarea entre encuentros y durante la práctica en el teléfono. Las slides de clase remiten acá.</a:t>
            </a:r>
          </a:p>
          <a:p>
            <a:r>
              <a:t>Todas las capturas son de Unity 6000.3.11f1 (Windows), tomadas por la docente el 2026-10-12 y el 2026-10-13. Las marcas rojas se agregaron después.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JDK: kit de Java que usa la compilación de Android.</a:t>
            </a:r>
          </a:p>
          <a:p>
            <a:r>
              <a:t>• SDK / NDK: herramientas de Android para compilar y para el código nativo.</a:t>
            </a:r>
          </a:p>
          <a:p>
            <a:r>
              <a:t>• Gradle: sistema que arma el APK a partir de lo que exporta Unity.</a:t>
            </a:r>
          </a:p>
          <a:p>
            <a:r>
              <a:t>• Preferences vs. Project Settings: Preferences son ajustes del editor en esta máquina; Project Settings son del proyecto y viajan con él.</a:t>
            </a:r>
          </a:p>
          <a:p>
            <a:r>
              <a:t>Pasos: en Unity Hub, Installs, menú de la versión 6000.3.11f1 &gt; Add modules &gt; Android Build Support con OpenJDK y Android SDK &amp; NDK Tools. Después, en el editor: Edit &gt; Preferences &gt; External Tools, sección Android, al final de la página. Las cuatro casillas "… Installed with Unity (recommended)" (JDK, Android SDK Tools, Android NDK y Gradle) tienen que estar tildadas, con rutas dentro de la carpeta del editor (…/PlaybackEngines/AndroidPlayer).</a:t>
            </a:r>
          </a:p>
          <a:p>
            <a:r>
              <a:t>Si una ruta aparece en rojo o vacía, reinstalar el módulo desde Unity Hub. No apuntar a otro JDK o SDK salvo que se sepa por qué.</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adb (Android Debug Bridge): herramienta de línea de comandos que conecta la PC con el teléfono.</a:t>
            </a:r>
          </a:p>
          <a:p>
            <a:r>
              <a:t>Pasos: Ajustes &gt; Acerca del teléfono &gt; tocar 7 veces "Número de compilación"; en Android 9 o superior, las Opciones de desarrollador están en Ajustes &gt; Sistema &gt; Avanzado. Activar "Depuración USB". Conectar con un cable de datos (muchos cables solo cargan) y aceptar en el teléfono "¿Permitir depuración USB?".</a:t>
            </a:r>
          </a:p>
          <a:p>
            <a:r>
              <a:t>Comprobar: en Unity, Build Profiles &gt; Android &gt; Run Device &gt; Refresh; o en una terminal, adb devices (adb está en la carpeta del editor: Data/PlaybackEngines/AndroidPlayer/SDK/platform-tools). "device" = listo; "unauthorized" = falta aceptar el diálogo; lista vacía = cable, puerto o driver USB del fabricante (el manual de Unity avisa que en Windows puede hacer falta).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Device Simulator: vista de Unity que muestra el juego con la pantalla de un dispositivo real (muesca, safe area, rotación).</a:t>
            </a:r>
          </a:p>
          <a:p>
            <a:r>
              <a:t>Pasos: abrir Scenes/Game (si la escena es Untitled, no se ve el juego). En la pestaña Game, el desplegable de la izquierda cambia entre Game y Simulator; también se abre como ventana desde Window &gt; General &gt; Device Simulator. Elegir el dispositivo en el desplegable (por ejemplo, Punch Hole Left 1080×2340 o el Foldable Device, que permite ver el mismo teléfono plegado y desplegado). Dar Play y rotar desde la barra del Simulator.</a:t>
            </a:r>
          </a:p>
          <a:p>
            <a:r>
              <a:t>Si aparece "Simulator is currently not active", el Game View está en modo Game: elegir Simulator en el desplegable.</a:t>
            </a:r>
          </a:p>
          <a:p>
            <a:r>
              <a:t>Qué NO simula: rendimiento, memoria, capacidades de render ni giroscopio. Simula un solo dedo (con el mouse): mover y disparar a la vez solo se prueba en el teléfono.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Switch Platform: cambiar la plataforma activa; Unity reimporta los assets y la primera vez tarda.</a:t>
            </a:r>
          </a:p>
          <a:p>
            <a:r>
              <a:t>• Run Device: el teléfono en el que Build and Run instala la app.</a:t>
            </a:r>
          </a:p>
          <a:p>
            <a:r>
              <a:t>Pasos: File &gt; Build Profiles; en Platforms elegir Android; si todavía no es la plataforma activa, abajo a la derecha aparece Switch Platform. En Platform Settings: Build App Bundle (Google Play) destildado para obtener un .apk; Development Build y Autoconnect Profiler tildados si se va a medir con el Profiler; Run Device con el teléfono conectado (Refresh si no aparece).</a:t>
            </a:r>
          </a:p>
          <a:p>
            <a:r>
              <a:t>El botón Player Settings (arriba a la derecha) abre los ajustes del proyecto. Cuidado: la sección Player Settings que aparece dentro del perfil crea una copia propia del perfil; para que haya una sola fuente, editar en Edit &gt; Project Settings &gt; Player.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IL2CPP: backend que compila el C# a código nativo; es el único que habilita ARM64.</a:t>
            </a:r>
          </a:p>
          <a:p>
            <a:r>
              <a:t>• Package Name: identificador único de la app (com.empresa.juego).</a:t>
            </a:r>
          </a:p>
          <a:p>
            <a:r>
              <a:t>Pasos: arriba, Company Name y Product Name (el nombre que se ve en el teléfono); en la pestaña de Android (ícono del robot) &gt; Other Settings: Scripting Backend = IL2CPP, tildar ARM64, Minimum API Level = Android 7.1 (API 25). El Package Name se arma con Company y Product mientras "Override Default Package Name" esté destildado.</a:t>
            </a:r>
          </a:p>
          <a:p>
            <a:r>
              <a:t>Active Input Handling = Both: Unity 6.3 lo declara no soportado en Android; Asteroides lo mantiene por el menú (StandaloneInputModule) y al compilar aparece un aviso que se puede ignorar.</a:t>
            </a:r>
          </a:p>
          <a:p>
            <a:r>
              <a:t>Comprobación automática: los tests de AndroidBuildConfigTests (A4.8) verifican IL2CPP, ARM64, API mínima y que la build sea .apk.</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Default Orientation: orientación con la que arranca el juego (fija o Auto Rotation).</a:t>
            </a:r>
          </a:p>
          <a:p>
            <a:r>
              <a:t>• Render outside safe area: permite dibujar debajo de la muesca y las barras.</a:t>
            </a:r>
          </a:p>
          <a:p>
            <a:r>
              <a:t>Así viene el proyecto: Default Orientation = Auto Rotation con las cuatro orientaciones permitidas, Hide Navigation Bar y Render outside safe area tildados.</a:t>
            </a:r>
          </a:p>
          <a:p>
            <a:r>
              <a:t>Qué decidir: la orientación sale del esquema de control de A4.7. Si el juego es horizontal, dejar Landscape Left o Landscape Right (o Auto Rotation solo con esas dos). Recordar el hallazgo de A4.2: en vertical, la mayoría de los asteroides nace fuera de pantalla.</a:t>
            </a:r>
          </a:p>
          <a:p>
            <a:r>
              <a:t>Render outside safe area: con target API 35 o superior, Android 15 dibuja de borde a borde de todos modos; por eso la UI esencial tiene que leer Screen.safeArea en lugar de confiar en esta casilla.</a:t>
            </a:r>
          </a:p>
          <a:p>
            <a:r>
              <a:t>Ícono: en la sección Icon (o Default Icon, arriba) asignar una textura del juego. Cuidado con asignar sin querer otra textura desde el selector (en una prueba quedó un cuadro negro): si el ícono se ve negro en el teléfono, revisar este campo.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Firma de depuración: firma automática de Unity para probar; no sirve para publicar en Google Play.</a:t>
            </a:r>
          </a:p>
          <a:p>
            <a:r>
              <a:t>Pasos: botón Build (no Build And Run, que exige un teléfono conectado); carpeta Builds/ dentro del proyecto y fuera de Assets; nombre AsteroideTest.apk. Pasar el archivo al teléfono (cable, Drive o mensajería), abrirlo y aceptar "Instalar apps de fuentes desconocidas" para esa app. Con el teléfono conectado: adb install -r Builds/AsteroideTest.apk.</a:t>
            </a:r>
          </a:p>
          <a:p>
            <a:r>
              <a:t>Alternativa desde código: Build &gt; Android APK (Assets/Editor/BuildAndroid.cs), también en batchmode con -executeMethod BuildAndroid.Build.</a:t>
            </a:r>
          </a:p>
          <a:p>
            <a:r>
              <a:t>Tiempo de referencia: Mono + ARMv7, 42 s y 20 MB en la PC de la docente (2026-10-12). Con IL2CPP la primera build tarda bastante más (no medido todavía).</a:t>
            </a:r>
          </a:p>
          <a:p>
            <a:r>
              <a:t>Videos de ejemplo, en español (agregados el 2026-10-19; título, canal, fecha y descripción verificados con YouTube el 2026-10-19; no se miraron completos ni se compararon paso por paso con este anexo):</a:t>
            </a:r>
          </a:p>
          <a:p>
            <a:r>
              <a:t>- Jadsa Games, "De PC a Android: Guía Completa para Portear y Publicar tu Juego con Unity 6" (18 min, 26/11/2025): https://www.youtube.com/watch?v=BuaJrjBDxK8. Es el que más se parece a la unidad: toma un juego de PC, agrega botones táctiles, ajusta la relación de aspecto y genera el APK y el .aab. Llega hasta la publicación en Google Play, que en esta materia no se hace.</a:t>
            </a:r>
          </a:p>
          <a:p>
            <a:r>
              <a:t>- LuisCanary, "Generar EJECUTABLE de tu Videojuego en UNITY | Sacar .EXE y .APK (PC y Android)" (13 min, 26/02/2026): https://www.youtube.com/watch?v=nlgC6N_xfpM. Muestra la misma build para PC y para Android, útil para comparar los dos destinos. La descripción no dice la versión de Unity: si los menús no coinciden, seguir este anexo (Unity 6000.3.11f1).</a:t>
            </a:r>
          </a:p>
          <a:p>
            <a:r>
              <a:t>- Complemento, del mismo canal que el primero: Jadsa Games, "Crear un Bundle .AAB para Android en Unity 6" (8 min): https://www.youtube.com/watch?v=COrg93Kz4o0.</a:t>
            </a:r>
          </a:p>
          <a:p>
            <a:r>
              <a:t>Diferencia a remarcar: los videos que publican en Google Play generan .aab (Build App Bundle tildado). Para probar en el teléfono, esta unidad usa .apk (casilla destildada, paso 4).</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Logcat: registro de mensajes del sistema Android; con -s Unity se filtran los del juego.</a:t>
            </a:r>
          </a:p>
          <a:p>
            <a:r>
              <a:t>Detalle: el primer cartel es un aviso (deja seguir); el segundo frena Build and Run, pero no Build. "No se instala" en teléfonos que solo aceptan 64 bits: primera sospecha, falta ARM64 (documentado por Android; en el curso todavía no se vio).</a:t>
            </a:r>
          </a:p>
          <a:p>
            <a:r>
              <a:t>Logs: con el teléfono conectado, adb logcat -s Unity muestra los mensajes de Debug.Log y los errores del juego. El paquete Android Logcat de Unity es una alternativa con ventana, pero instalarlo cambia el proyecto: no se usa sin autorización.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Manager (legacy): sistema de entrada clásico de Unity; los ejes y botones se configuran en Project Settings &gt; Input Manager.</a:t>
            </a:r>
          </a:p>
          <a:p>
            <a:r>
              <a:t>• Gamepad virtual: los botones en pantalla (OnScreenButton) se hacen pasar por un gamepad; el juego no distingue el dedo de un control físico.</a:t>
            </a:r>
          </a:p>
          <a:p>
            <a:r>
              <a:t>• Safe area: parte de la pantalla libre de muesca y barra de gestos.</a:t>
            </a:r>
          </a:p>
          <a:p>
            <a:r>
              <a:t>• Suavizado: el eje "Horizontal" del Input Manager acelera y frena en unos 0,3 s en lugar de saltar de 0 a 1.</a:t>
            </a:r>
          </a:p>
          <a:p>
            <a:r>
              <a:t>Qué muestra: el mismo juego (2D Platformer, el segundo caso del laboratorio) antes y después del porteo, en las dos plataformas. La versión 2 es una copia; el original no se tocó.</a:t>
            </a:r>
          </a:p>
          <a:p>
            <a:r>
              <a:t>PC antes: teclado (flechas o A/D, salto con Espacio) y un joystick genérico configurado en el Input Manager (el salto del joystick era "joystick button 3", que en un control de Xbox es Y, no A). PC después: las mismas teclas, más gamepad (stick, cruceta y botón A para saltar).</a:t>
            </a:r>
          </a:p>
          <a:p>
            <a:r>
              <a:t>Android antes: el juego tenía un campo "controlmode" y un contenedor MobileControls, pero el contenedor estaba vacío; en el teléfono se podía tocar el menú, pero el personaje no se movía. Android después: botones ◀ ▶ y SALTAR, visibles solo en móvil; mantener ◀ mueve de forma continua y soltar detiene. Orientación: solo horizontal, porque es un juego de desplazamiento lateral.</a:t>
            </a:r>
          </a:p>
          <a:p>
            <a:r>
              <a:t>Respuesta esperada a la pregunta: casi nada, y eso es lo buscado. Dos diferencias reales: ahora responde a un gamepad moderno, y el movimiento con teclado ya no tiene suavizado (respuesta inmediata). Es un cambio de sensación: hay que contarlo, no esconderlo.</a:t>
            </a:r>
          </a:p>
          <a:p>
            <a:r>
              <a:t>Qué NO resuelve esto: el esquema táctil (botones o stick) es provisional y lo eligen los grupos; no hay coyote time ni buffer de salto; no se probó todavía en un teléfono real.</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System: paquete de entrada moderno de Unity; unifica teclado, gamepad y táctil.</a:t>
            </a:r>
          </a:p>
          <a:p>
            <a:r>
              <a:t>• SetIntent: método del jugador que recibe la intención (mover, saltar) sin saber de qué dispositivo vino.</a:t>
            </a:r>
          </a:p>
          <a:p>
            <a:r>
              <a:t>• Módulo de UI: componente del EventSystem que traduce clics y toques a eventos de botones.</a:t>
            </a:r>
          </a:p>
          <a:p>
            <a:r>
              <a:t>• URP en modo compatibilidad: modo viejo del render de Unity; Unity 6.3 no compila builds con él activado.</a:t>
            </a:r>
          </a:p>
          <a:p>
            <a:r>
              <a:t>Fila por fila: el input pasó del Input Manager al Input System, configurado solo en "New" porque Unity 6.3 no admite "Both" en Android. El PlayerController ya no lee teclas: un adaptador lee el dispositivo y le pasa la intención. Los menús cambiaron de módulo de UI para funcionar sin el sistema viejo.</a:t>
            </a:r>
          </a:p>
          <a:p>
            <a:r>
              <a:t>Errores y build: el error "isGrounded" se repetía en cada frame (2447 veces en una sesión) y ahora aparece 0 veces. La build de Android del proyecto migrado fallaba por el render en modo compatibilidad; corregido eso, generó un APK de 35,9 MB (Mono, ARMv7, 9 min 25 s la primera vez).</a:t>
            </a:r>
          </a:p>
          <a:p>
            <a:r>
              <a:t>Tests: 6 de configuración (Edit Mode) y 10 de juego (Play Mode); pasan 14.</a:t>
            </a:r>
          </a:p>
          <a:p>
            <a:r>
              <a:t>Respuesta esperada a la pregunta: los 2 tests que fallan encontraron un defecto del juego original, no del porteo. El rayo que detecta el suelo choca con el propio jugador, así que el juego siempre cree que está en el suelo y permite saltar sin límite. Un test en rojo también es evidencia útil. Corregirlo cambia la dificultad del nivel, y esa decisión es de diseño, no técnica.</a:t>
            </a:r>
          </a:p>
          <a:p>
            <a:r>
              <a:t>Estado: todo esto está VERIFICADO con logs y XML del 19/10/2026. La instalación en un teléfono real es UNKNOWN.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VGSales Wiki: wiki colaborativa de ventas de videojuegos; publica estimaciones, no cifras auditadas.</a:t>
            </a:r>
          </a:p>
          <a:p>
            <a:r>
              <a:t>Anexo de consulta, no se expone: datos de mercado del género del caso guía 2 (2D Platformer). Se armó directamente en el .pptx el 2026-10-19 y se pasó a esta fuente el mismo día.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Unidades vendidas: estimación de copias (físicas y digitales) que publica la fuente; no son cifras oficiales de las editoras.</a:t>
            </a:r>
          </a:p>
          <a:p>
            <a:r>
              <a:t>Datos e imágenes tal como estaban en el .pptx del 2026-10-19 (fuente al pie). Las imágenes son de Wikipedia, con uso educativo.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Propietario / editor: empresa dueña de la franquicia / que publicó el juego, según la fuente.</a:t>
            </a:r>
          </a:p>
          <a:p>
            <a:r>
              <a:t>Porcentajes y promedios calculados sobre los datos de las slides anteriores (tal como estaban en el .pptx del 2026-10-19).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kEwd_CnXvaM" TargetMode="External"/><Relationship Id="rId3" Type="http://schemas.openxmlformats.org/officeDocument/2006/relationships/hyperlink" Target="https://www.youtube.com/watch?v=omq5avbt8kw"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KRRfb-pSZy8"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acebook.com/watch/?v=2465461220269942" TargetMode="External"/><Relationship Id="rId3" Type="http://schemas.openxmlformats.org/officeDocument/2006/relationships/hyperlink" Target="https://www.facebook.com/watch/?v=541682641335363" TargetMode="External"/><Relationship Id="rId4" Type="http://schemas.openxmlformats.org/officeDocument/2006/relationships/hyperlink" Target="https://www.facebook.com/reel/657601210708360" TargetMode="External"/><Relationship Id="rId5" Type="http://schemas.openxmlformats.org/officeDocument/2006/relationships/hyperlink" Target="https://www.youtube.com/watch?v=cavSjjSDdo0" TargetMode="Externa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BuaJrjBDxK8" TargetMode="External"/><Relationship Id="rId3" Type="http://schemas.openxmlformats.org/officeDocument/2006/relationships/hyperlink" Target="https://www.youtube.com/watch?v=nlgC6N_xfpM" TargetMode="External"/><Relationship Id="rId4" Type="http://schemas.openxmlformats.org/officeDocument/2006/relationships/image" Target="../media/image10.png"/><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jpg"/><Relationship Id="rId10" Type="http://schemas.openxmlformats.org/officeDocument/2006/relationships/image" Target="../media/image31.jpg"/><Relationship Id="rId11" Type="http://schemas.openxmlformats.org/officeDocument/2006/relationships/image" Target="../media/image32.png"/><Relationship Id="rId12" Type="http://schemas.openxmlformats.org/officeDocument/2006/relationships/image" Target="../media/image33.png"/><Relationship Id="rId13" Type="http://schemas.openxmlformats.org/officeDocument/2006/relationships/image" Target="../media/image34.png"/><Relationship Id="rId1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jpg"/><Relationship Id="rId4" Type="http://schemas.openxmlformats.org/officeDocument/2006/relationships/image" Target="../media/image37.jp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jpg"/><Relationship Id="rId10" Type="http://schemas.openxmlformats.org/officeDocument/2006/relationships/image" Target="../media/image43.jpg"/><Relationship Id="rId11" Type="http://schemas.openxmlformats.org/officeDocument/2006/relationships/image" Target="../media/image44.png"/><Relationship Id="rId1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png"/><Relationship Id="rId4" Type="http://schemas.openxmlformats.org/officeDocument/2006/relationships/image" Target="../media/image47.jpg"/><Relationship Id="rId5" Type="http://schemas.openxmlformats.org/officeDocument/2006/relationships/image" Target="../media/image48.jpg"/><Relationship Id="rId6" Type="http://schemas.openxmlformats.org/officeDocument/2006/relationships/image" Target="../media/image49.jpg"/><Relationship Id="rId7" Type="http://schemas.openxmlformats.org/officeDocument/2006/relationships/image" Target="../media/image50.jpg"/><Relationship Id="rId8" Type="http://schemas.openxmlformats.org/officeDocument/2006/relationships/image" Target="../media/image51.png"/><Relationship Id="rId9" Type="http://schemas.openxmlformats.org/officeDocument/2006/relationships/image" Target="../media/image52.jpg"/><Relationship Id="rId10" Type="http://schemas.openxmlformats.org/officeDocument/2006/relationships/image" Target="../media/image53.png"/><Relationship Id="rId11" Type="http://schemas.openxmlformats.org/officeDocument/2006/relationships/image" Target="../media/image54.jpg"/><Relationship Id="rId1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jp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jpg"/><Relationship Id="rId8" Type="http://schemas.openxmlformats.org/officeDocument/2006/relationships/image" Target="../media/image61.jpg"/><Relationship Id="rId9" Type="http://schemas.openxmlformats.org/officeDocument/2006/relationships/image" Target="../media/image62.jpg"/><Relationship Id="rId10" Type="http://schemas.openxmlformats.org/officeDocument/2006/relationships/image" Target="../media/image63.png"/><Relationship Id="rId11" Type="http://schemas.openxmlformats.org/officeDocument/2006/relationships/image" Target="../media/image64.jpg"/><Relationship Id="rId1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jpg"/><Relationship Id="rId5" Type="http://schemas.openxmlformats.org/officeDocument/2006/relationships/image" Target="../media/image68.png"/><Relationship Id="rId6" Type="http://schemas.openxmlformats.org/officeDocument/2006/relationships/image" Target="../media/image69.jp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jpg"/><Relationship Id="rId10" Type="http://schemas.openxmlformats.org/officeDocument/2006/relationships/image" Target="../media/image73.jpg"/><Relationship Id="rId11" Type="http://schemas.openxmlformats.org/officeDocument/2006/relationships/image" Target="../media/image74.jpg"/><Relationship Id="rId1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image" Target="../media/image76.jpg"/><Relationship Id="rId4" Type="http://schemas.openxmlformats.org/officeDocument/2006/relationships/image" Target="../media/image77.jpg"/><Relationship Id="rId5" Type="http://schemas.openxmlformats.org/officeDocument/2006/relationships/image" Target="../media/image78.jpg"/><Relationship Id="rId6" Type="http://schemas.openxmlformats.org/officeDocument/2006/relationships/image" Target="../media/image79.jp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g"/><Relationship Id="rId10" Type="http://schemas.openxmlformats.org/officeDocument/2006/relationships/image" Target="../media/image83.jpg"/><Relationship Id="rId11"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final (dada hasta la slide 15) · 1/87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Consulta: </a:t>
            </a:r>
            <a:r>
              <a:rPr sz="1400" b="1" i="0" u="sng">
                <a:solidFill>
                  <a:srgbClr val="DC2626"/>
                </a:solidFill>
                <a:latin typeface="Calibri"/>
                <a:hlinkClick r:id="rId2"/>
              </a:rPr>
              <a:t>Juegos de celular, historia (21 min)</a:t>
            </a:r>
            <a:r>
              <a:rPr sz="1400" b="0" i="0">
                <a:solidFill>
                  <a:srgbClr val="1F2937"/>
                </a:solidFill>
                <a:latin typeface="Calibri"/>
              </a:rPr>
              <a:t> · </a:t>
            </a:r>
            <a:r>
              <a:rPr sz="1400" b="1" i="0" u="sng">
                <a:solidFill>
                  <a:srgbClr val="DC2626"/>
                </a:solidFill>
                <a:latin typeface="Calibri"/>
                <a:hlinkClick r:id="rId3"/>
              </a:rPr>
              <a:t>Antes de las App Stores (9 min)</a:t>
            </a:r>
          </a:p>
        </p:txBody>
      </p:sp>
      <p:sp>
        <p:nvSpPr>
          <p:cNvPr id="11" name="Rectangle 10"/>
          <p:cNvSpPr/>
          <p:nvPr/>
        </p:nvSpPr>
        <p:spPr>
          <a:xfrm>
            <a:off x="7071055"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05295"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3" name="Rectangle 12"/>
          <p:cNvSpPr/>
          <p:nvPr/>
        </p:nvSpPr>
        <p:spPr>
          <a:xfrm>
            <a:off x="7879319"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13559"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5" name="Rectangle 14"/>
          <p:cNvSpPr/>
          <p:nvPr/>
        </p:nvSpPr>
        <p:spPr>
          <a:xfrm>
            <a:off x="8687583"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823"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7" name="Rectangle 16"/>
          <p:cNvSpPr/>
          <p:nvPr/>
        </p:nvSpPr>
        <p:spPr>
          <a:xfrm>
            <a:off x="9495847"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0087"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9" name="Rectangle 18"/>
          <p:cNvSpPr/>
          <p:nvPr/>
        </p:nvSpPr>
        <p:spPr>
          <a:xfrm>
            <a:off x="10304112"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8352"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21" name="Rectangle 20"/>
          <p:cNvSpPr/>
          <p:nvPr/>
        </p:nvSpPr>
        <p:spPr>
          <a:xfrm>
            <a:off x="11112376" y="1234440"/>
            <a:ext cx="12700" cy="352044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6616" y="480060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3" name="TextBox 22"/>
          <p:cNvSpPr txBox="1"/>
          <p:nvPr/>
        </p:nvSpPr>
        <p:spPr>
          <a:xfrm>
            <a:off x="4922215" y="1272540"/>
            <a:ext cx="2011680" cy="426720"/>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4" name="Rounded Rectangle 23"/>
          <p:cNvSpPr/>
          <p:nvPr/>
        </p:nvSpPr>
        <p:spPr>
          <a:xfrm>
            <a:off x="7232707" y="1272540"/>
            <a:ext cx="4364628"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5" name="TextBox 24"/>
          <p:cNvSpPr txBox="1"/>
          <p:nvPr/>
        </p:nvSpPr>
        <p:spPr>
          <a:xfrm>
            <a:off x="4922215" y="1775460"/>
            <a:ext cx="2011680" cy="426720"/>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6" name="Rounded Rectangle 25"/>
          <p:cNvSpPr/>
          <p:nvPr/>
        </p:nvSpPr>
        <p:spPr>
          <a:xfrm>
            <a:off x="7636840" y="1775460"/>
            <a:ext cx="3960495"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7" name="TextBox 26"/>
          <p:cNvSpPr txBox="1"/>
          <p:nvPr/>
        </p:nvSpPr>
        <p:spPr>
          <a:xfrm>
            <a:off x="4922215" y="2278380"/>
            <a:ext cx="2011680" cy="426720"/>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8" name="Rounded Rectangle 27"/>
          <p:cNvSpPr/>
          <p:nvPr/>
        </p:nvSpPr>
        <p:spPr>
          <a:xfrm>
            <a:off x="7960145" y="2278380"/>
            <a:ext cx="3637190"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9" name="TextBox 28"/>
          <p:cNvSpPr txBox="1"/>
          <p:nvPr/>
        </p:nvSpPr>
        <p:spPr>
          <a:xfrm>
            <a:off x="4922215" y="2781300"/>
            <a:ext cx="2011680" cy="426720"/>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30" name="Rounded Rectangle 29"/>
          <p:cNvSpPr/>
          <p:nvPr/>
        </p:nvSpPr>
        <p:spPr>
          <a:xfrm>
            <a:off x="8606757" y="2781300"/>
            <a:ext cx="2990578"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31" name="TextBox 30"/>
          <p:cNvSpPr txBox="1"/>
          <p:nvPr/>
        </p:nvSpPr>
        <p:spPr>
          <a:xfrm>
            <a:off x="4922215" y="3284220"/>
            <a:ext cx="2011680" cy="426720"/>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2" name="Rounded Rectangle 31"/>
          <p:cNvSpPr/>
          <p:nvPr/>
        </p:nvSpPr>
        <p:spPr>
          <a:xfrm>
            <a:off x="10142459" y="3284220"/>
            <a:ext cx="1454876" cy="426720"/>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3" name="TextBox 32"/>
          <p:cNvSpPr txBox="1"/>
          <p:nvPr/>
        </p:nvSpPr>
        <p:spPr>
          <a:xfrm>
            <a:off x="4922215" y="3787140"/>
            <a:ext cx="2011680" cy="426720"/>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4" name="Rounded Rectangle 33"/>
          <p:cNvSpPr/>
          <p:nvPr/>
        </p:nvSpPr>
        <p:spPr>
          <a:xfrm>
            <a:off x="10789070" y="3787140"/>
            <a:ext cx="808265"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5" name="TextBox 34"/>
          <p:cNvSpPr txBox="1"/>
          <p:nvPr/>
        </p:nvSpPr>
        <p:spPr>
          <a:xfrm>
            <a:off x="4922215" y="4290060"/>
            <a:ext cx="2011680" cy="426720"/>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6" name="Rounded Rectangle 35"/>
          <p:cNvSpPr/>
          <p:nvPr/>
        </p:nvSpPr>
        <p:spPr>
          <a:xfrm>
            <a:off x="11112376" y="4290060"/>
            <a:ext cx="484959" cy="426720"/>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6576" y="4290060"/>
            <a:ext cx="621792" cy="426720"/>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8" name="TextBox 37"/>
          <p:cNvSpPr txBox="1"/>
          <p:nvPr/>
        </p:nvSpPr>
        <p:spPr>
          <a:xfrm>
            <a:off x="4922215" y="512064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9" name="TextBox 38"/>
          <p:cNvSpPr txBox="1"/>
          <p:nvPr/>
        </p:nvSpPr>
        <p:spPr>
          <a:xfrm>
            <a:off x="502920" y="1234440"/>
            <a:ext cx="414497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Consulta: </a:t>
            </a:r>
            <a:r>
              <a:rPr sz="1400" b="1" i="0" u="sng">
                <a:solidFill>
                  <a:srgbClr val="DC2626"/>
                </a:solidFill>
                <a:latin typeface="Calibri"/>
                <a:hlinkClick r:id="rId2"/>
              </a:rPr>
              <a:t>Academia Play, Historia de los videojuegos 1972–1983 (7 min)</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3" name="Rectangle 12"/>
          <p:cNvSpPr/>
          <p:nvPr/>
        </p:nvSpPr>
        <p:spPr>
          <a:xfrm>
            <a:off x="1325880" y="290703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99235" y="260604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182880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7" name="Rectangle 16"/>
          <p:cNvSpPr/>
          <p:nvPr/>
        </p:nvSpPr>
        <p:spPr>
          <a:xfrm>
            <a:off x="3028264" y="29260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46349"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031949" y="3246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20" name="Rectangle 19"/>
          <p:cNvSpPr/>
          <p:nvPr/>
        </p:nvSpPr>
        <p:spPr>
          <a:xfrm>
            <a:off x="4557293" y="260604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75378"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60978" y="182880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3" name="Rectangle 22"/>
          <p:cNvSpPr/>
          <p:nvPr/>
        </p:nvSpPr>
        <p:spPr>
          <a:xfrm>
            <a:off x="6086322" y="29260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004407"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90007" y="3246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6" name="Rectangle 25"/>
          <p:cNvSpPr/>
          <p:nvPr/>
        </p:nvSpPr>
        <p:spPr>
          <a:xfrm>
            <a:off x="7615351" y="260604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33436"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619036" y="182880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9" name="Rectangle 28"/>
          <p:cNvSpPr/>
          <p:nvPr/>
        </p:nvSpPr>
        <p:spPr>
          <a:xfrm>
            <a:off x="9144380" y="29260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062465"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48065" y="3246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2" name="Rectangle 31"/>
          <p:cNvSpPr/>
          <p:nvPr/>
        </p:nvSpPr>
        <p:spPr>
          <a:xfrm>
            <a:off x="10673410" y="260604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91495" y="283464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7095" y="182880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5" name="TextBox 34"/>
          <p:cNvSpPr txBox="1"/>
          <p:nvPr/>
        </p:nvSpPr>
        <p:spPr>
          <a:xfrm>
            <a:off x="502920" y="461772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2 DE 3</a:t>
            </a:r>
          </a:p>
          <a:p>
            <a:r>
              <a:rPr sz="4000" b="1" i="0">
                <a:solidFill>
                  <a:srgbClr val="FFFFFF"/>
                </a:solidFill>
                <a:latin typeface="Calibri"/>
              </a:rPr>
              <a:t>Del supuesto de PC al pulgar</a:t>
            </a:r>
          </a:p>
          <a:p>
            <a:pPr>
              <a:spcBef>
                <a:spcPts val="600"/>
              </a:spcBef>
            </a:pPr>
            <a:r>
              <a:rPr sz="2000" b="0" i="0">
                <a:solidFill>
                  <a:srgbClr val="CBD5E1"/>
                </a:solidFill>
                <a:latin typeface="Calibri"/>
              </a:rPr>
              <a:t>Supuestos de PC, UI táctil y controles en Unity</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2 · final · 16/87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Dónde quedamos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la nave no se mueve en el teléfono?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A4.1: síntomas en el teléfono</a:t>
            </a:r>
          </a:p>
          <a:p>
            <a:pPr>
              <a:spcAft>
                <a:spcPts val="800"/>
              </a:spcAft>
            </a:pPr>
            <a:r>
              <a:rPr sz="1600" b="1" i="0">
                <a:solidFill>
                  <a:srgbClr val="0D9488"/>
                </a:solidFill>
                <a:latin typeface="Calibri"/>
              </a:rPr>
              <a:t>■  </a:t>
            </a:r>
            <a:r>
              <a:rPr sz="2200" b="0" i="0">
                <a:solidFill>
                  <a:srgbClr val="1F2937"/>
                </a:solidFill>
                <a:latin typeface="Calibri"/>
              </a:rPr>
              <a:t>Hoy: qué supone el código</a:t>
            </a:r>
          </a:p>
          <a:p>
            <a:pPr>
              <a:spcAft>
                <a:spcPts val="800"/>
              </a:spcAft>
            </a:pPr>
            <a:r>
              <a:rPr sz="1600" b="1" i="0">
                <a:solidFill>
                  <a:srgbClr val="0D9488"/>
                </a:solidFill>
                <a:latin typeface="Calibri"/>
              </a:rPr>
              <a:t>■  </a:t>
            </a:r>
            <a:r>
              <a:rPr sz="2200" b="0" i="0">
                <a:solidFill>
                  <a:srgbClr val="1F2937"/>
                </a:solidFill>
                <a:latin typeface="Calibri"/>
              </a:rPr>
              <a:t>Y cómo se juega con el pulgar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pic>
        <p:nvPicPr>
          <p:cNvPr id="9" name="Picture 8" descr="u4-simulator-selector.png"/>
          <p:cNvPicPr>
            <a:picLocks noChangeAspect="1"/>
          </p:cNvPicPr>
          <p:nvPr/>
        </p:nvPicPr>
        <p:blipFill>
          <a:blip r:embed="rId2"/>
          <a:stretch>
            <a:fillRect/>
          </a:stretch>
        </p:blipFill>
        <p:spPr>
          <a:xfrm>
            <a:off x="6453419" y="1234440"/>
            <a:ext cx="3521271"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Pestaña Game: Game → Simulator, y la ventana Simulator con un teléfono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Rounded Rectangle 9"/>
          <p:cNvSpPr/>
          <p:nvPr/>
        </p:nvSpPr>
        <p:spPr>
          <a:xfrm>
            <a:off x="5653735" y="4160520"/>
            <a:ext cx="6035040" cy="1280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18327" y="4251960"/>
            <a:ext cx="5705856" cy="109728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61  </a:t>
            </a:r>
            <a:r>
              <a:rPr sz="1300" b="0" i="0">
                <a:solidFill>
                  <a:srgbClr val="1F2937"/>
                </a:solidFill>
                <a:latin typeface="Calibri"/>
              </a:rPr>
              <a:t>si se aprieta la barra espaciadora y se puede, la nave dispara</a:t>
            </a:r>
          </a:p>
          <a:p>
            <a:pPr>
              <a:spcBef>
                <a:spcPts val="300"/>
              </a:spcBef>
            </a:pPr>
            <a:r>
              <a:rPr sz="1300" b="1" i="0">
                <a:solidFill>
                  <a:srgbClr val="0D9488"/>
                </a:solidFill>
                <a:latin typeface="Calibri"/>
              </a:rPr>
              <a:t>Línea 66  </a:t>
            </a:r>
            <a:r>
              <a:rPr sz="1300" b="0" i="0">
                <a:solidFill>
                  <a:srgbClr val="1F2937"/>
                </a:solidFill>
                <a:latin typeface="Calibri"/>
              </a:rPr>
              <a:t>si se aprieta la flecha izquierda, la nave va a la izquierda</a:t>
            </a:r>
          </a:p>
          <a:p>
            <a:pPr>
              <a:spcBef>
                <a:spcPts val="300"/>
              </a:spcBef>
            </a:pPr>
            <a:r>
              <a:rPr sz="1300" b="1" i="0">
                <a:solidFill>
                  <a:srgbClr val="0D9488"/>
                </a:solidFill>
                <a:latin typeface="Calibri"/>
              </a:rPr>
              <a:t>Línea 71  </a:t>
            </a:r>
            <a:r>
              <a:rPr sz="1300" b="0" i="0">
                <a:solidFill>
                  <a:srgbClr val="1F2937"/>
                </a:solidFill>
                <a:latin typeface="Calibri"/>
              </a:rPr>
              <a:t>si se aprieta la flecha derecha, va a la derecha</a:t>
            </a:r>
          </a:p>
        </p:txBody>
      </p:sp>
      <p:sp>
        <p:nvSpPr>
          <p:cNvPr id="12" name="TextBox 11"/>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  ·  extracto  ·  versión original</a:t>
            </a:r>
          </a:p>
        </p:txBody>
      </p:sp>
      <p:sp>
        <p:nvSpPr>
          <p:cNvPr id="13" name="Rounded Rectangle 12"/>
          <p:cNvSpPr/>
          <p:nvPr/>
        </p:nvSpPr>
        <p:spPr>
          <a:xfrm>
            <a:off x="5653735" y="1600200"/>
            <a:ext cx="6035040" cy="245059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200" b="0" i="0">
                <a:solidFill>
                  <a:srgbClr val="64748B"/>
                </a:solidFill>
                <a:latin typeface="Consolas"/>
              </a:rPr>
              <a:t> 61  </a:t>
            </a:r>
            <a:r>
              <a:rPr sz="1200" b="1" i="0">
                <a:solidFill>
                  <a:srgbClr val="D97706"/>
                </a:solidFill>
                <a:latin typeface="Consolas"/>
              </a:rPr>
              <a:t>if (Input.GetKey(KeyCode.Space) &amp;&amp; canShoot)</a:t>
            </a:r>
          </a:p>
          <a:p>
            <a:pPr algn="l"/>
            <a:r>
              <a:rPr sz="1200" b="0" i="0">
                <a:solidFill>
                  <a:srgbClr val="64748B"/>
                </a:solidFill>
                <a:latin typeface="Consolas"/>
              </a:rPr>
              <a:t> 62  </a:t>
            </a:r>
            <a:r>
              <a:rPr sz="1200" b="0" i="0">
                <a:solidFill>
                  <a:srgbClr val="E2E8F0"/>
                </a:solidFill>
                <a:latin typeface="Consolas"/>
              </a:rPr>
              <a:t>{</a:t>
            </a:r>
          </a:p>
          <a:p>
            <a:pPr algn="l"/>
            <a:r>
              <a:rPr sz="1200" b="0" i="0">
                <a:solidFill>
                  <a:srgbClr val="64748B"/>
                </a:solidFill>
                <a:latin typeface="Consolas"/>
              </a:rPr>
              <a:t> 63  </a:t>
            </a:r>
            <a:r>
              <a:rPr sz="1200" b="0" i="0">
                <a:solidFill>
                  <a:srgbClr val="E2E8F0"/>
                </a:solidFill>
                <a:latin typeface="Consolas"/>
              </a:rPr>
              <a:t>    ShootLaser();</a:t>
            </a:r>
          </a:p>
          <a:p>
            <a:pPr algn="l"/>
            <a:r>
              <a:rPr sz="1200" b="0" i="0">
                <a:solidFill>
                  <a:srgbClr val="64748B"/>
                </a:solidFill>
                <a:latin typeface="Consolas"/>
              </a:rPr>
              <a:t>     </a:t>
            </a:r>
            <a:r>
              <a:rPr sz="1200" b="0" i="0">
                <a:solidFill>
                  <a:srgbClr val="64748B"/>
                </a:solidFill>
                <a:latin typeface="Consolas"/>
              </a:rPr>
              <a:t>⋯</a:t>
            </a:r>
          </a:p>
          <a:p>
            <a:pPr algn="l"/>
            <a:r>
              <a:rPr sz="1200" b="0" i="0">
                <a:solidFill>
                  <a:srgbClr val="64748B"/>
                </a:solidFill>
                <a:latin typeface="Consolas"/>
              </a:rPr>
              <a:t> 66  </a:t>
            </a:r>
            <a:r>
              <a:rPr sz="1200" b="1" i="0">
                <a:solidFill>
                  <a:srgbClr val="D97706"/>
                </a:solidFill>
                <a:latin typeface="Consolas"/>
              </a:rPr>
              <a:t>if (Input.GetKey(KeyCode.LeftArrow))</a:t>
            </a:r>
          </a:p>
          <a:p>
            <a:pPr algn="l"/>
            <a:r>
              <a:rPr sz="1200" b="0" i="0">
                <a:solidFill>
                  <a:srgbClr val="64748B"/>
                </a:solidFill>
                <a:latin typeface="Consolas"/>
              </a:rPr>
              <a:t> 67  </a:t>
            </a:r>
            <a:r>
              <a:rPr sz="1200" b="0" i="0">
                <a:solidFill>
                  <a:srgbClr val="E2E8F0"/>
                </a:solidFill>
                <a:latin typeface="Consolas"/>
              </a:rPr>
              <a:t>{</a:t>
            </a:r>
          </a:p>
          <a:p>
            <a:pPr algn="l"/>
            <a:r>
              <a:rPr sz="1200" b="0" i="0">
                <a:solidFill>
                  <a:srgbClr val="64748B"/>
                </a:solidFill>
                <a:latin typeface="Consolas"/>
              </a:rPr>
              <a:t> 68  </a:t>
            </a:r>
            <a:r>
              <a:rPr sz="1200" b="0" i="0">
                <a:solidFill>
                  <a:srgbClr val="E2E8F0"/>
                </a:solidFill>
                <a:latin typeface="Consolas"/>
              </a:rPr>
              <a:t>    MoveLeft();</a:t>
            </a:r>
          </a:p>
          <a:p>
            <a:pPr algn="l"/>
            <a:r>
              <a:rPr sz="1200" b="0" i="0">
                <a:solidFill>
                  <a:srgbClr val="64748B"/>
                </a:solidFill>
                <a:latin typeface="Consolas"/>
              </a:rPr>
              <a:t>     </a:t>
            </a:r>
            <a:r>
              <a:rPr sz="1200" b="0" i="0">
                <a:solidFill>
                  <a:srgbClr val="64748B"/>
                </a:solidFill>
                <a:latin typeface="Consolas"/>
              </a:rPr>
              <a:t>⋯</a:t>
            </a:r>
          </a:p>
          <a:p>
            <a:pPr algn="l"/>
            <a:r>
              <a:rPr sz="1200" b="0" i="0">
                <a:solidFill>
                  <a:srgbClr val="64748B"/>
                </a:solidFill>
                <a:latin typeface="Consolas"/>
              </a:rPr>
              <a:t> 71  </a:t>
            </a:r>
            <a:r>
              <a:rPr sz="1200" b="1" i="0">
                <a:solidFill>
                  <a:srgbClr val="D97706"/>
                </a:solidFill>
                <a:latin typeface="Consolas"/>
              </a:rPr>
              <a:t>if (Input.GetKey(KeyCode.RightArrow))</a:t>
            </a:r>
          </a:p>
          <a:p>
            <a:pPr algn="l"/>
            <a:r>
              <a:rPr sz="1200" b="0" i="0">
                <a:solidFill>
                  <a:srgbClr val="64748B"/>
                </a:solidFill>
                <a:latin typeface="Consolas"/>
              </a:rPr>
              <a:t> 72  </a:t>
            </a:r>
            <a:r>
              <a:rPr sz="1200" b="0" i="0">
                <a:solidFill>
                  <a:srgbClr val="E2E8F0"/>
                </a:solidFill>
                <a:latin typeface="Consolas"/>
              </a:rPr>
              <a:t>{</a:t>
            </a:r>
          </a:p>
          <a:p>
            <a:pPr algn="l"/>
            <a:r>
              <a:rPr sz="1200" b="0" i="0">
                <a:solidFill>
                  <a:srgbClr val="64748B"/>
                </a:solidFill>
                <a:latin typeface="Consolas"/>
              </a:rPr>
              <a:t> 73  </a:t>
            </a:r>
            <a:r>
              <a:rPr sz="1200" b="0" i="0">
                <a:solidFill>
                  <a:srgbClr val="E2E8F0"/>
                </a:solidFill>
                <a:latin typeface="Consolas"/>
              </a:rPr>
              <a:t>    MoveRight();</a:t>
            </a:r>
          </a:p>
        </p:txBody>
      </p:sp>
      <p:sp>
        <p:nvSpPr>
          <p:cNvPr id="14" name="TextBox 13"/>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a:t>
            </a:r>
          </a:p>
          <a:p>
            <a:r>
              <a:rPr sz="2600" b="1" i="0">
                <a:solidFill>
                  <a:srgbClr val="FFFFFF"/>
                </a:solidFill>
                <a:latin typeface="Calibri"/>
              </a:rPr>
              <a:t>¿Cuánto mide un dedo?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Buttons, Accessibility; Android — Make apps more accessible; Unity uGUI 2.0 — Canvas Scaler</a:t>
            </a:r>
          </a:p>
        </p:txBody>
      </p:sp>
      <p:sp>
        <p:nvSpPr>
          <p:cNvPr id="9" name="TextBox 8"/>
          <p:cNvSpPr txBox="1"/>
          <p:nvPr/>
        </p:nvSpPr>
        <p:spPr>
          <a:xfrm>
            <a:off x="502920" y="1234440"/>
            <a:ext cx="11185855" cy="1097280"/>
          </a:xfrm>
          <a:prstGeom prst="rect">
            <a:avLst/>
          </a:prstGeom>
          <a:noFill/>
        </p:spPr>
        <p:txBody>
          <a:bodyPr wrap="square" anchor="t" lIns="0" rIns="0" tIns="0" bIns="0">
            <a:spAutoFit/>
          </a:bodyPr>
          <a:lstStyle/>
          <a:p>
            <a:pPr>
              <a:spcAft>
                <a:spcPts val="800"/>
              </a:spcAft>
            </a:pPr>
            <a:r>
              <a:rPr sz="1000" b="1" i="0">
                <a:solidFill>
                  <a:srgbClr val="0D9488"/>
                </a:solidFill>
                <a:latin typeface="Calibri"/>
              </a:rPr>
              <a:t>■  </a:t>
            </a:r>
            <a:r>
              <a:rPr sz="1600" b="0" i="0">
                <a:solidFill>
                  <a:srgbClr val="1F2937"/>
                </a:solidFill>
                <a:latin typeface="Calibri"/>
              </a:rPr>
              <a:t>Diseñar en pt/dp, no en px</a:t>
            </a:r>
          </a:p>
          <a:p>
            <a:pPr>
              <a:spcAft>
                <a:spcPts val="800"/>
              </a:spcAft>
            </a:pPr>
            <a:r>
              <a:rPr sz="1000" b="1" i="0">
                <a:solidFill>
                  <a:srgbClr val="0D9488"/>
                </a:solidFill>
                <a:latin typeface="Calibri"/>
              </a:rPr>
              <a:t>■  </a:t>
            </a:r>
            <a:r>
              <a:rPr sz="1600" b="0" i="0">
                <a:solidFill>
                  <a:srgbClr val="1F2937"/>
                </a:solidFill>
                <a:latin typeface="Calibri"/>
              </a:rPr>
              <a:t>Canvas Scaler: Scale With Screen Size</a:t>
            </a:r>
          </a:p>
        </p:txBody>
      </p:sp>
      <p:graphicFrame>
        <p:nvGraphicFramePr>
          <p:cNvPr id="10" name="Table 9"/>
          <p:cNvGraphicFramePr>
            <a:graphicFrameLocks noGrp="1"/>
          </p:cNvGraphicFramePr>
          <p:nvPr/>
        </p:nvGraphicFramePr>
        <p:xfrm>
          <a:off x="502920" y="2331720"/>
          <a:ext cx="11185854" cy="1700784"/>
        </p:xfrm>
        <a:graphic>
          <a:graphicData uri="http://schemas.openxmlformats.org/drawingml/2006/table">
            <a:tbl>
              <a:tblPr firstRow="1" bandRow="1">
                <a:tableStyleId>{5C22544A-7EE6-4342-B048-85BDC9FD1C3A}</a:tableStyleId>
              </a:tblPr>
              <a:tblGrid>
                <a:gridCol w="2451694"/>
                <a:gridCol w="5056619"/>
                <a:gridCol w="3677541"/>
              </a:tblGrid>
              <a:tr h="566928">
                <a:tc>
                  <a:txBody>
                    <a:bodyPr wrap="square"/>
                    <a:lstStyle/>
                    <a:p>
                      <a:r>
                        <a:rPr sz="1600" b="1" i="0">
                          <a:solidFill>
                            <a:srgbClr val="FFFFFF"/>
                          </a:solidFill>
                          <a:latin typeface="Calibri"/>
                        </a:rPr>
                        <a:t>Plataforma</a:t>
                      </a:r>
                    </a:p>
                  </a:txBody>
                  <a:tcPr marL="73152" marR="73152" marT="36576" marB="36576" anchor="ctr">
                    <a:solidFill>
                      <a:srgbClr val="0D9488"/>
                    </a:solidFill>
                  </a:tcPr>
                </a:tc>
                <a:tc>
                  <a:txBody>
                    <a:bodyPr wrap="square"/>
                    <a:lstStyle/>
                    <a:p>
                      <a:r>
                        <a:rPr sz="1600" b="1" i="0">
                          <a:solidFill>
                            <a:srgbClr val="FFFFFF"/>
                          </a:solidFill>
                          <a:latin typeface="Calibri"/>
                        </a:rPr>
                        <a:t>Mínimo táctil</a:t>
                      </a:r>
                    </a:p>
                  </a:txBody>
                  <a:tcPr marL="73152" marR="73152" marT="36576" marB="36576" anchor="ctr">
                    <a:solidFill>
                      <a:srgbClr val="0D9488"/>
                    </a:solidFill>
                  </a:tcPr>
                </a:tc>
                <a:tc>
                  <a:txBody>
                    <a:bodyPr wrap="square"/>
                    <a:lstStyle/>
                    <a:p>
                      <a:r>
                        <a:rPr sz="1600" b="1" i="0">
                          <a:solidFill>
                            <a:srgbClr val="FFFFFF"/>
                          </a:solidFill>
                          <a:latin typeface="Calibri"/>
                        </a:rPr>
                        <a:t>Fuente</a:t>
                      </a:r>
                    </a:p>
                  </a:txBody>
                  <a:tcPr marL="73152" marR="73152" marT="36576" marB="36576" anchor="ctr">
                    <a:solidFill>
                      <a:srgbClr val="0D9488"/>
                    </a:solidFill>
                  </a:tcPr>
                </a:tc>
              </a:tr>
              <a:tr h="566928">
                <a:tc>
                  <a:txBody>
                    <a:bodyPr wrap="square"/>
                    <a:lstStyle/>
                    <a:p>
                      <a:r>
                        <a:rPr sz="1600" b="0" i="0">
                          <a:solidFill>
                            <a:srgbClr val="1F2937"/>
                          </a:solidFill>
                          <a:latin typeface="Calibri"/>
                        </a:rPr>
                        <a:t>iOS</a:t>
                      </a:r>
                    </a:p>
                  </a:txBody>
                  <a:tcPr marL="73152" marR="73152" marT="36576" marB="36576" anchor="ctr">
                    <a:solidFill>
                      <a:srgbClr val="FFFFFF"/>
                    </a:solidFill>
                  </a:tcPr>
                </a:tc>
                <a:tc>
                  <a:txBody>
                    <a:bodyPr wrap="square"/>
                    <a:lstStyle/>
                    <a:p>
                      <a:r>
                        <a:rPr sz="1600" b="0" i="0">
                          <a:solidFill>
                            <a:srgbClr val="1F2937"/>
                          </a:solidFill>
                          <a:latin typeface="Calibri"/>
                        </a:rPr>
                        <a:t>44 × 44 pt (mínimo 28 × 28)</a:t>
                      </a:r>
                    </a:p>
                  </a:txBody>
                  <a:tcPr marL="73152" marR="73152" marT="36576" marB="36576" anchor="ctr">
                    <a:solidFill>
                      <a:srgbClr val="FFFFFF"/>
                    </a:solidFill>
                  </a:tcPr>
                </a:tc>
                <a:tc>
                  <a:txBody>
                    <a:bodyPr wrap="square"/>
                    <a:lstStyle/>
                    <a:p>
                      <a:r>
                        <a:rPr sz="1600" b="0" i="0">
                          <a:solidFill>
                            <a:srgbClr val="1F2937"/>
                          </a:solidFill>
                          <a:latin typeface="Calibri"/>
                        </a:rPr>
                        <a:t>Apple HIG</a:t>
                      </a:r>
                    </a:p>
                  </a:txBody>
                  <a:tcPr marL="73152" marR="73152" marT="36576" marB="36576" anchor="ctr">
                    <a:solidFill>
                      <a:srgbClr val="FFFFFF"/>
                    </a:solidFill>
                  </a:tcPr>
                </a:tc>
              </a:tr>
              <a:tr h="566928">
                <a:tc>
                  <a:txBody>
                    <a:bodyPr wrap="square"/>
                    <a:lstStyle/>
                    <a:p>
                      <a:r>
                        <a:rPr sz="1600" b="0" i="0">
                          <a:solidFill>
                            <a:srgbClr val="1F2937"/>
                          </a:solidFill>
                          <a:latin typeface="Calibri"/>
                        </a:rPr>
                        <a:t>Android</a:t>
                      </a:r>
                    </a:p>
                  </a:txBody>
                  <a:tcPr marL="73152" marR="73152" marT="36576" marB="36576" anchor="ctr">
                    <a:solidFill>
                      <a:srgbClr val="E6F4F2"/>
                    </a:solidFill>
                  </a:tcPr>
                </a:tc>
                <a:tc>
                  <a:txBody>
                    <a:bodyPr wrap="square"/>
                    <a:lstStyle/>
                    <a:p>
                      <a:r>
                        <a:rPr sz="1600" b="0" i="0">
                          <a:solidFill>
                            <a:srgbClr val="1F2937"/>
                          </a:solidFill>
                          <a:latin typeface="Calibri"/>
                        </a:rPr>
                        <a:t>48 × 48 dp</a:t>
                      </a:r>
                    </a:p>
                  </a:txBody>
                  <a:tcPr marL="73152" marR="73152" marT="36576" marB="36576" anchor="ctr">
                    <a:solidFill>
                      <a:srgbClr val="E6F4F2"/>
                    </a:solidFill>
                  </a:tcPr>
                </a:tc>
                <a:tc>
                  <a:txBody>
                    <a:bodyPr wrap="square"/>
                    <a:lstStyle/>
                    <a:p>
                      <a:r>
                        <a:rPr sz="1600" b="0" i="0">
                          <a:solidFill>
                            <a:srgbClr val="1F2937"/>
                          </a:solidFill>
                          <a:latin typeface="Calibri"/>
                        </a:rPr>
                        <a:t>Android Developers</a:t>
                      </a:r>
                    </a:p>
                  </a:txBody>
                  <a:tcPr marL="73152" marR="73152" marT="36576" marB="36576" anchor="ctr">
                    <a:solidFill>
                      <a:srgbClr val="E6F4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 · SAFE AREA</a:t>
            </a:r>
          </a:p>
          <a:p>
            <a:r>
              <a:rPr sz="2600" b="1" i="0">
                <a:solidFill>
                  <a:srgbClr val="FFFFFF"/>
                </a:solidFill>
                <a:latin typeface="Calibri"/>
              </a:rPr>
              <a:t>No todo el rectángulo es tuyo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Screen.safeArea; Android — Support display cutouts</a:t>
            </a:r>
          </a:p>
        </p:txBody>
      </p:sp>
      <p:sp>
        <p:nvSpPr>
          <p:cNvPr id="9" name="Rounded Rectangle 8"/>
          <p:cNvSpPr/>
          <p:nvPr/>
        </p:nvSpPr>
        <p:spPr>
          <a:xfrm>
            <a:off x="8466429" y="1280160"/>
            <a:ext cx="2238451" cy="46634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57869" y="1371600"/>
            <a:ext cx="2055571" cy="4480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49887" y="1371600"/>
            <a:ext cx="671535"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37964" y="5669280"/>
            <a:ext cx="895380"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67597" y="1737360"/>
            <a:ext cx="1836115" cy="374904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Zona segura (safe area)</a:t>
            </a:r>
          </a:p>
        </p:txBody>
      </p:sp>
      <p:sp>
        <p:nvSpPr>
          <p:cNvPr id="14" name="TextBox 13"/>
          <p:cNvSpPr txBox="1"/>
          <p:nvPr/>
        </p:nvSpPr>
        <p:spPr>
          <a:xfrm>
            <a:off x="10814608"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5" name="TextBox 14"/>
          <p:cNvSpPr txBox="1"/>
          <p:nvPr/>
        </p:nvSpPr>
        <p:spPr>
          <a:xfrm>
            <a:off x="10814608" y="553212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6" name="TextBox 15"/>
          <p:cNvSpPr txBox="1"/>
          <p:nvPr/>
        </p:nvSpPr>
        <p:spPr>
          <a:xfrm>
            <a:off x="502920" y="1234440"/>
            <a:ext cx="67052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Muescas, bordes y barras</a:t>
            </a:r>
          </a:p>
          <a:p>
            <a:pPr>
              <a:spcAft>
                <a:spcPts val="800"/>
              </a:spcAft>
            </a:pPr>
            <a:r>
              <a:rPr sz="1600" b="1" i="0">
                <a:solidFill>
                  <a:srgbClr val="0D9488"/>
                </a:solidFill>
                <a:latin typeface="Calibri"/>
              </a:rPr>
              <a:t>■  </a:t>
            </a:r>
            <a:r>
              <a:rPr sz="2200" b="0" i="0">
                <a:solidFill>
                  <a:srgbClr val="1F2937"/>
                </a:solidFill>
                <a:latin typeface="Calibri"/>
              </a:rPr>
              <a:t>Screen.safeArea en Unity</a:t>
            </a:r>
          </a:p>
          <a:p>
            <a:pPr>
              <a:spcAft>
                <a:spcPts val="800"/>
              </a:spcAft>
            </a:pPr>
            <a:r>
              <a:rPr sz="1600" b="1" i="0">
                <a:solidFill>
                  <a:srgbClr val="0D9488"/>
                </a:solidFill>
                <a:latin typeface="Calibri"/>
              </a:rPr>
              <a:t>■  </a:t>
            </a:r>
            <a:r>
              <a:rPr sz="2200" b="0" i="0">
                <a:solidFill>
                  <a:srgbClr val="1F2937"/>
                </a:solidFill>
                <a:latin typeface="Calibri"/>
              </a:rPr>
              <a:t>UI esencial adentro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ERGONOMÍA</a:t>
            </a:r>
          </a:p>
          <a:p>
            <a:r>
              <a:rPr sz="2600" b="1" i="0">
                <a:solidFill>
                  <a:srgbClr val="FFFFFF"/>
                </a:solidFill>
                <a:latin typeface="Calibri"/>
              </a:rPr>
              <a:t>Pulgar y orientación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Hoober, UXmatters 2013 (profesional); Activision blog CoD Mobile 2019; Android 16 behavior changes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¿Asteroides es vertical u horizontal?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agarre cambia todo el tiempo</a:t>
            </a:r>
          </a:p>
          <a:p>
            <a:pPr>
              <a:spcAft>
                <a:spcPts val="800"/>
              </a:spcAft>
            </a:pPr>
            <a:r>
              <a:rPr sz="1600" b="1" i="0">
                <a:solidFill>
                  <a:srgbClr val="0D9488"/>
                </a:solidFill>
                <a:latin typeface="Calibri"/>
              </a:rPr>
              <a:t>■  </a:t>
            </a:r>
            <a:r>
              <a:rPr sz="2200" b="0" i="0">
                <a:solidFill>
                  <a:srgbClr val="1F2937"/>
                </a:solidFill>
                <a:latin typeface="Calibri"/>
              </a:rPr>
              <a:t>HUD editable: CoD Mobile, Fortnite</a:t>
            </a:r>
          </a:p>
          <a:p>
            <a:pPr>
              <a:spcAft>
                <a:spcPts val="800"/>
              </a:spcAft>
            </a:pPr>
            <a:r>
              <a:rPr sz="1600" b="1" i="0">
                <a:solidFill>
                  <a:srgbClr val="0D9488"/>
                </a:solidFill>
                <a:latin typeface="Calibri"/>
              </a:rPr>
              <a:t>■  </a:t>
            </a:r>
            <a:r>
              <a:rPr sz="2200" b="0" i="0">
                <a:solidFill>
                  <a:srgbClr val="1F2937"/>
                </a:solidFill>
                <a:latin typeface="Calibri"/>
              </a:rPr>
              <a:t>Vertical: una mano</a:t>
            </a:r>
          </a:p>
          <a:p>
            <a:pPr>
              <a:spcAft>
                <a:spcPts val="800"/>
              </a:spcAft>
            </a:pPr>
            <a:r>
              <a:rPr sz="1600" b="1" i="0">
                <a:solidFill>
                  <a:srgbClr val="0D9488"/>
                </a:solidFill>
                <a:latin typeface="Calibri"/>
              </a:rPr>
              <a:t>■  </a:t>
            </a:r>
            <a:r>
              <a:rPr sz="2200" b="0" i="0">
                <a:solidFill>
                  <a:srgbClr val="1F2937"/>
                </a:solidFill>
                <a:latin typeface="Calibri"/>
              </a:rPr>
              <a:t>Horizontal: dos pulgares, más campo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INTERACCIÓN</a:t>
            </a:r>
          </a:p>
          <a:p>
            <a:r>
              <a:rPr sz="2600" b="1" i="0">
                <a:solidFill>
                  <a:srgbClr val="FFFFFF"/>
                </a:solidFill>
                <a:latin typeface="Calibri"/>
              </a:rPr>
              <a:t>Gestos, controles y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Gestures, Accessibility; Android — Haptics design principles; Game Accessibility Guidelines</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JOYSTICK VIRTUAL</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Familiar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Sin tope físico</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Tapa la pantalla</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TOQUE DIRECTO</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Preciso</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 dedo</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dedo cubre lo que toca</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Gesto propio: nunca la única vía</a:t>
            </a:r>
          </a:p>
          <a:p>
            <a:pPr>
              <a:spcAft>
                <a:spcPts val="800"/>
              </a:spcAft>
            </a:pPr>
            <a:r>
              <a:rPr sz="1600" b="1" i="0">
                <a:solidFill>
                  <a:srgbClr val="0D9488"/>
                </a:solidFill>
                <a:latin typeface="Calibri"/>
              </a:rPr>
              <a:t>■  </a:t>
            </a:r>
            <a:r>
              <a:rPr sz="2200" b="0" i="0">
                <a:solidFill>
                  <a:srgbClr val="1F2937"/>
                </a:solidFill>
                <a:latin typeface="Calibri"/>
              </a:rPr>
              <a:t>Joystick virtual: tapa la pantalla</a:t>
            </a:r>
          </a:p>
          <a:p>
            <a:pPr>
              <a:spcAft>
                <a:spcPts val="800"/>
              </a:spcAft>
            </a:pPr>
            <a:r>
              <a:rPr sz="1600" b="1" i="0">
                <a:solidFill>
                  <a:srgbClr val="0D9488"/>
                </a:solidFill>
                <a:latin typeface="Calibri"/>
              </a:rPr>
              <a:t>■  </a:t>
            </a:r>
            <a:r>
              <a:rPr sz="2200" b="0" i="0">
                <a:solidFill>
                  <a:srgbClr val="1F2937"/>
                </a:solidFill>
                <a:latin typeface="Calibri"/>
              </a:rPr>
              <a:t>Controles grandes y separados</a:t>
            </a:r>
          </a:p>
          <a:p>
            <a:pPr>
              <a:spcAft>
                <a:spcPts val="800"/>
              </a:spcAft>
            </a:pPr>
            <a:r>
              <a:rPr sz="1600" b="1" i="0">
                <a:solidFill>
                  <a:srgbClr val="0D9488"/>
                </a:solidFill>
                <a:latin typeface="Calibri"/>
              </a:rPr>
              <a:t>■  </a:t>
            </a:r>
            <a:r>
              <a:rPr sz="2200" b="0" i="0">
                <a:solidFill>
                  <a:srgbClr val="1F2937"/>
                </a:solidFill>
                <a:latin typeface="Calibri"/>
              </a:rPr>
              <a:t>Háptica y efectos desactivables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 · INPUT SYSTEM</a:t>
            </a:r>
          </a:p>
          <a:p>
            <a:r>
              <a:rPr sz="2600" b="1" i="0">
                <a:solidFill>
                  <a:srgbClr val="FFFFFF"/>
                </a:solidFill>
                <a:latin typeface="Calibri"/>
              </a:rPr>
              <a:t>Una acción, tres dispositivos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1.19 — On-screen Controls; código del proyecto (ShipInputAdapter.cs, Ship.cs)</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Joystick en pantalla</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MoveLeft</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MoveRight</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ShootLaser</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La nave no sabe qué dispositivo se usó</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el teléfono, la nave no se mueve</a:t>
            </a:r>
          </a:p>
          <a:p>
            <a:pPr>
              <a:spcAft>
                <a:spcPts val="800"/>
              </a:spcAft>
            </a:pPr>
            <a:r>
              <a:rPr sz="1600" b="1" i="0">
                <a:solidFill>
                  <a:srgbClr val="0D9488"/>
                </a:solidFill>
                <a:latin typeface="Calibri"/>
              </a:rPr>
              <a:t>■  </a:t>
            </a:r>
            <a:r>
              <a:rPr sz="2200" b="0" i="0">
                <a:solidFill>
                  <a:srgbClr val="1F2937"/>
                </a:solidFill>
                <a:latin typeface="Calibri"/>
              </a:rPr>
              <a:t>Teclado, gamepad y dedo: la misma acción</a:t>
            </a:r>
          </a:p>
          <a:p>
            <a:pPr>
              <a:spcAft>
                <a:spcPts val="800"/>
              </a:spcAft>
            </a:pPr>
            <a:r>
              <a:rPr sz="1600" b="1" i="0">
                <a:solidFill>
                  <a:srgbClr val="0D9488"/>
                </a:solidFill>
                <a:latin typeface="Calibri"/>
              </a:rPr>
              <a:t>■  </a:t>
            </a:r>
            <a:r>
              <a:rPr sz="2200" b="0" i="0">
                <a:solidFill>
                  <a:srgbClr val="1F2937"/>
                </a:solidFill>
                <a:latin typeface="Calibri"/>
              </a:rPr>
              <a:t>Los controles en pantalla simulan un gamepad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 CÓDIGO REAL</a:t>
            </a:r>
          </a:p>
          <a:p>
            <a:r>
              <a:rPr sz="2600" b="1" i="0">
                <a:solidFill>
                  <a:srgbClr val="FFFFFF"/>
                </a:solidFill>
                <a:latin typeface="Calibri"/>
              </a:rPr>
              <a:t>La intención en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Ship.cs, método SetIntent)</a:t>
            </a:r>
          </a:p>
        </p:txBody>
      </p:sp>
      <p:sp>
        <p:nvSpPr>
          <p:cNvPr id="9" name="Rounded Rectangle 8"/>
          <p:cNvSpPr/>
          <p:nvPr/>
        </p:nvSpPr>
        <p:spPr>
          <a:xfrm>
            <a:off x="5653735" y="4434840"/>
            <a:ext cx="6035040" cy="1554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18327" y="4526280"/>
            <a:ext cx="5705856" cy="137160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18–21  </a:t>
            </a:r>
            <a:r>
              <a:rPr sz="1300" b="0" i="0">
                <a:solidFill>
                  <a:srgbClr val="1F2937"/>
                </a:solidFill>
                <a:latin typeface="Calibri"/>
              </a:rPr>
              <a:t>"Mover" se hace con las flechas del teclado</a:t>
            </a:r>
          </a:p>
          <a:p>
            <a:pPr>
              <a:spcBef>
                <a:spcPts val="300"/>
              </a:spcBef>
            </a:pPr>
            <a:r>
              <a:rPr sz="1300" b="1" i="0">
                <a:solidFill>
                  <a:srgbClr val="0D9488"/>
                </a:solidFill>
                <a:latin typeface="Calibri"/>
              </a:rPr>
              <a:t>Línea 22–23  </a:t>
            </a:r>
            <a:r>
              <a:rPr sz="1300" b="0" i="0">
                <a:solidFill>
                  <a:srgbClr val="1F2937"/>
                </a:solidFill>
                <a:latin typeface="Calibri"/>
              </a:rPr>
              <a:t>…o con el stick y la cruz del joystick</a:t>
            </a:r>
          </a:p>
          <a:p>
            <a:pPr>
              <a:spcBef>
                <a:spcPts val="300"/>
              </a:spcBef>
            </a:pPr>
            <a:r>
              <a:rPr sz="1300" b="1" i="0">
                <a:solidFill>
                  <a:srgbClr val="0D9488"/>
                </a:solidFill>
                <a:latin typeface="Calibri"/>
              </a:rPr>
              <a:t>Línea 25–27  </a:t>
            </a:r>
            <a:r>
              <a:rPr sz="1300" b="0" i="0">
                <a:solidFill>
                  <a:srgbClr val="1F2937"/>
                </a:solidFill>
                <a:latin typeface="Calibri"/>
              </a:rPr>
              <a:t>"Disparar" es la barra espaciadora o el botón A</a:t>
            </a:r>
          </a:p>
          <a:p>
            <a:pPr>
              <a:spcBef>
                <a:spcPts val="300"/>
              </a:spcBef>
            </a:pPr>
            <a:r>
              <a:rPr sz="1300" b="0" i="0">
                <a:solidFill>
                  <a:srgbClr val="1F2937"/>
                </a:solidFill>
                <a:latin typeface="Calibri"/>
              </a:rPr>
              <a:t>Los botones en pantalla se hacen pasar por ese joystick</a:t>
            </a:r>
          </a:p>
        </p:txBody>
      </p:sp>
      <p:sp>
        <p:nvSpPr>
          <p:cNvPr id="11" name="TextBox 10"/>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ShipInputAdapter.cs  ·  líneas 18–27</a:t>
            </a:r>
          </a:p>
        </p:txBody>
      </p:sp>
      <p:sp>
        <p:nvSpPr>
          <p:cNvPr id="12" name="Rounded Rectangle 11"/>
          <p:cNvSpPr/>
          <p:nvPr/>
        </p:nvSpPr>
        <p:spPr>
          <a:xfrm>
            <a:off x="5653735" y="1600200"/>
            <a:ext cx="6035040" cy="272491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300" b="0" i="0">
                <a:solidFill>
                  <a:srgbClr val="64748B"/>
                </a:solidFill>
                <a:latin typeface="Consolas"/>
              </a:rPr>
              <a:t> 18  </a:t>
            </a:r>
            <a:r>
              <a:rPr sz="1300" b="0" i="0">
                <a:solidFill>
                  <a:srgbClr val="E2E8F0"/>
                </a:solidFill>
                <a:latin typeface="Consolas"/>
              </a:rPr>
              <a:t>move = new InputAction("Move", InputActionType.Value);</a:t>
            </a:r>
          </a:p>
          <a:p>
            <a:pPr algn="l"/>
            <a:r>
              <a:rPr sz="1300" b="0" i="0">
                <a:solidFill>
                  <a:srgbClr val="64748B"/>
                </a:solidFill>
                <a:latin typeface="Consolas"/>
              </a:rPr>
              <a:t> 19  </a:t>
            </a:r>
            <a:r>
              <a:rPr sz="1300" b="0" i="0">
                <a:solidFill>
                  <a:srgbClr val="E2E8F0"/>
                </a:solidFill>
                <a:latin typeface="Consolas"/>
              </a:rPr>
              <a:t>move.AddCompositeBinding("1DAxis")</a:t>
            </a:r>
          </a:p>
          <a:p>
            <a:pPr algn="l"/>
            <a:r>
              <a:rPr sz="1300" b="0" i="0">
                <a:solidFill>
                  <a:srgbClr val="64748B"/>
                </a:solidFill>
                <a:latin typeface="Consolas"/>
              </a:rPr>
              <a:t> 20  </a:t>
            </a:r>
            <a:r>
              <a:rPr sz="1300" b="0" i="0">
                <a:solidFill>
                  <a:srgbClr val="E2E8F0"/>
                </a:solidFill>
                <a:latin typeface="Consolas"/>
              </a:rPr>
              <a:t>    .With("Negative", "&lt;Keyboard&gt;/leftArrow")</a:t>
            </a:r>
          </a:p>
          <a:p>
            <a:pPr algn="l"/>
            <a:r>
              <a:rPr sz="1300" b="0" i="0">
                <a:solidFill>
                  <a:srgbClr val="64748B"/>
                </a:solidFill>
                <a:latin typeface="Consolas"/>
              </a:rPr>
              <a:t> 21  </a:t>
            </a:r>
            <a:r>
              <a:rPr sz="1300" b="0" i="0">
                <a:solidFill>
                  <a:srgbClr val="E2E8F0"/>
                </a:solidFill>
                <a:latin typeface="Consolas"/>
              </a:rPr>
              <a:t>    .With("Positive", "&lt;Keyboard&gt;/rightArrow");</a:t>
            </a:r>
          </a:p>
          <a:p>
            <a:pPr algn="l"/>
            <a:r>
              <a:rPr sz="1300" b="0" i="0">
                <a:solidFill>
                  <a:srgbClr val="64748B"/>
                </a:solidFill>
                <a:latin typeface="Consolas"/>
              </a:rPr>
              <a:t> 22  </a:t>
            </a:r>
            <a:r>
              <a:rPr sz="1300" b="0" i="0">
                <a:solidFill>
                  <a:srgbClr val="E2E8F0"/>
                </a:solidFill>
                <a:latin typeface="Consolas"/>
              </a:rPr>
              <a:t>move.AddBinding("&lt;Gamepad&gt;/leftStick/x");</a:t>
            </a:r>
          </a:p>
          <a:p>
            <a:pPr algn="l"/>
            <a:r>
              <a:rPr sz="1300" b="0" i="0">
                <a:solidFill>
                  <a:srgbClr val="64748B"/>
                </a:solidFill>
                <a:latin typeface="Consolas"/>
              </a:rPr>
              <a:t> 23  </a:t>
            </a:r>
            <a:r>
              <a:rPr sz="1300" b="0" i="0">
                <a:solidFill>
                  <a:srgbClr val="E2E8F0"/>
                </a:solidFill>
                <a:latin typeface="Consolas"/>
              </a:rPr>
              <a:t>move.AddBinding("&lt;Gamepad&gt;/dpad/x");</a:t>
            </a:r>
          </a:p>
          <a:p>
            <a:pPr algn="l"/>
            <a:r>
              <a:rPr sz="1300" b="0" i="0">
                <a:solidFill>
                  <a:srgbClr val="64748B"/>
                </a:solidFill>
                <a:latin typeface="Consolas"/>
              </a:rPr>
              <a:t> 24  </a:t>
            </a:r>
            <a:r>
              <a:rPr sz="1300" b="0" i="0">
                <a:solidFill>
                  <a:srgbClr val="E2E8F0"/>
                </a:solidFill>
                <a:latin typeface="Consolas"/>
              </a:rPr>
              <a:t> </a:t>
            </a:r>
          </a:p>
          <a:p>
            <a:pPr algn="l"/>
            <a:r>
              <a:rPr sz="1300" b="0" i="0">
                <a:solidFill>
                  <a:srgbClr val="64748B"/>
                </a:solidFill>
                <a:latin typeface="Consolas"/>
              </a:rPr>
              <a:t> 25  </a:t>
            </a:r>
            <a:r>
              <a:rPr sz="1300" b="0" i="0">
                <a:solidFill>
                  <a:srgbClr val="E2E8F0"/>
                </a:solidFill>
                <a:latin typeface="Consolas"/>
              </a:rPr>
              <a:t>fire = new InputAction("Fire", InputActionType.Button);</a:t>
            </a:r>
          </a:p>
          <a:p>
            <a:pPr algn="l"/>
            <a:r>
              <a:rPr sz="1300" b="0" i="0">
                <a:solidFill>
                  <a:srgbClr val="64748B"/>
                </a:solidFill>
                <a:latin typeface="Consolas"/>
              </a:rPr>
              <a:t> 26  </a:t>
            </a:r>
            <a:r>
              <a:rPr sz="1300" b="0" i="0">
                <a:solidFill>
                  <a:srgbClr val="E2E8F0"/>
                </a:solidFill>
                <a:latin typeface="Consolas"/>
              </a:rPr>
              <a:t>fire.AddBinding("&lt;Keyboard&gt;/space");</a:t>
            </a:r>
          </a:p>
          <a:p>
            <a:pPr algn="l"/>
            <a:r>
              <a:rPr sz="1300" b="0" i="0">
                <a:solidFill>
                  <a:srgbClr val="64748B"/>
                </a:solidFill>
                <a:latin typeface="Consolas"/>
              </a:rPr>
              <a:t> 27  </a:t>
            </a:r>
            <a:r>
              <a:rPr sz="1300" b="0" i="0">
                <a:solidFill>
                  <a:srgbClr val="E2E8F0"/>
                </a:solidFill>
                <a:latin typeface="Consolas"/>
              </a:rPr>
              <a:t>fire.AddBinding("&lt;Gamepad&gt;/buttonSouth");</a:t>
            </a:r>
          </a:p>
        </p:txBody>
      </p:sp>
      <p:sp>
        <p:nvSpPr>
          <p:cNvPr id="13" name="TextBox 12"/>
          <p:cNvSpPr txBox="1"/>
          <p:nvPr/>
        </p:nvSpPr>
        <p:spPr>
          <a:xfrm>
            <a:off x="502920" y="1234440"/>
            <a:ext cx="48764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Las teclas pasan a ser bindings</a:t>
            </a:r>
          </a:p>
          <a:p>
            <a:pPr>
              <a:spcAft>
                <a:spcPts val="800"/>
              </a:spcAft>
            </a:pPr>
            <a:r>
              <a:rPr sz="1600" b="1" i="0">
                <a:solidFill>
                  <a:srgbClr val="0D9488"/>
                </a:solidFill>
                <a:latin typeface="Calibri"/>
              </a:rPr>
              <a:t>■  </a:t>
            </a:r>
            <a:r>
              <a:rPr sz="2200" b="0" i="0">
                <a:solidFill>
                  <a:srgbClr val="1F2937"/>
                </a:solidFill>
                <a:latin typeface="Calibri"/>
              </a:rPr>
              <a:t>El gamepad se suma sin tocar la nave</a:t>
            </a:r>
          </a:p>
          <a:p>
            <a:pPr>
              <a:spcAft>
                <a:spcPts val="800"/>
              </a:spcAft>
            </a:pPr>
            <a:r>
              <a:rPr sz="1600" b="1" i="0">
                <a:solidFill>
                  <a:srgbClr val="0D9488"/>
                </a:solidFill>
                <a:latin typeface="Calibri"/>
              </a:rPr>
              <a:t>■  </a:t>
            </a:r>
            <a:r>
              <a:rPr sz="2200" b="0" i="0">
                <a:solidFill>
                  <a:srgbClr val="1F2937"/>
                </a:solidFill>
                <a:latin typeface="Calibri"/>
              </a:rPr>
              <a:t>La nave recibe SetIntent(mover, disparar)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 BOCETO + UNITY</a:t>
            </a:r>
          </a:p>
          <a:p>
            <a:r>
              <a:rPr sz="2600" b="1" i="0">
                <a:solidFill>
                  <a:srgbClr val="FFFFFF"/>
                </a:solidFill>
                <a:latin typeface="Calibri"/>
              </a:rPr>
              <a:t>Actividad A4.7 — Del boceto al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boceto, captura del simulador y lo que no pudieron probar.</a:t>
            </a:r>
          </a:p>
        </p:txBody>
      </p:sp>
      <p:sp>
        <p:nvSpPr>
          <p:cNvPr id="10" name="Rounded Rectangle 9"/>
          <p:cNvSpPr/>
          <p:nvPr/>
        </p:nvSpPr>
        <p:spPr>
          <a:xfrm>
            <a:off x="8598103" y="1280160"/>
            <a:ext cx="1975104" cy="41148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9543" y="1371600"/>
            <a:ext cx="1792224" cy="3931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89389" y="1371600"/>
            <a:ext cx="592531"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90634" y="5120640"/>
            <a:ext cx="790041"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99271" y="1737360"/>
            <a:ext cx="1572768" cy="320040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Plantilla: boceten acá su HUD</a:t>
            </a:r>
          </a:p>
        </p:txBody>
      </p:sp>
      <p:sp>
        <p:nvSpPr>
          <p:cNvPr id="15" name="TextBox 14"/>
          <p:cNvSpPr txBox="1"/>
          <p:nvPr/>
        </p:nvSpPr>
        <p:spPr>
          <a:xfrm>
            <a:off x="10682935"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6" name="TextBox 15"/>
          <p:cNvSpPr txBox="1"/>
          <p:nvPr/>
        </p:nvSpPr>
        <p:spPr>
          <a:xfrm>
            <a:off x="10682935" y="498348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7" name="TextBox 16"/>
          <p:cNvSpPr txBox="1"/>
          <p:nvPr/>
        </p:nvSpPr>
        <p:spPr>
          <a:xfrm>
            <a:off x="502920" y="1234440"/>
            <a:ext cx="67052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Boceto: dos esquemas (8 min)</a:t>
            </a:r>
          </a:p>
          <a:p>
            <a:pPr>
              <a:spcAft>
                <a:spcPts val="800"/>
              </a:spcAft>
            </a:pPr>
            <a:r>
              <a:rPr sz="1600" b="1" i="0">
                <a:solidFill>
                  <a:srgbClr val="0D9488"/>
                </a:solidFill>
                <a:latin typeface="Calibri"/>
              </a:rPr>
              <a:t>■  </a:t>
            </a:r>
            <a:r>
              <a:rPr sz="2200" b="0" i="0">
                <a:solidFill>
                  <a:srgbClr val="1F2937"/>
                </a:solidFill>
                <a:latin typeface="Calibri"/>
              </a:rPr>
              <a:t>Elegir uno con 5 criterios</a:t>
            </a:r>
          </a:p>
          <a:p>
            <a:pPr>
              <a:spcAft>
                <a:spcPts val="800"/>
              </a:spcAft>
            </a:pPr>
            <a:r>
              <a:rPr sz="1600" b="1" i="0">
                <a:solidFill>
                  <a:srgbClr val="0D9488"/>
                </a:solidFill>
                <a:latin typeface="Calibri"/>
              </a:rPr>
              <a:t>■  </a:t>
            </a:r>
            <a:r>
              <a:rPr sz="2200" b="0" i="0">
                <a:solidFill>
                  <a:srgbClr val="1F2937"/>
                </a:solidFill>
                <a:latin typeface="Calibri"/>
              </a:rPr>
              <a:t>Implementarlo con Input System</a:t>
            </a:r>
          </a:p>
          <a:p>
            <a:pPr>
              <a:spcAft>
                <a:spcPts val="800"/>
              </a:spcAft>
            </a:pPr>
            <a:r>
              <a:rPr sz="1600" b="1" i="0">
                <a:solidFill>
                  <a:srgbClr val="0D9488"/>
                </a:solidFill>
                <a:latin typeface="Calibri"/>
              </a:rPr>
              <a:t>■  </a:t>
            </a:r>
            <a:r>
              <a:rPr sz="2200" b="0" i="0">
                <a:solidFill>
                  <a:srgbClr val="1F2937"/>
                </a:solidFill>
                <a:latin typeface="Calibri"/>
              </a:rPr>
              <a:t>¿Mide 48 dp? ¿Tapa la nave?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PLAYTEST DE PAPEL</a:t>
            </a:r>
          </a:p>
          <a:p>
            <a:r>
              <a:rPr sz="2600" b="1" i="0">
                <a:solidFill>
                  <a:srgbClr val="FFFFFF"/>
                </a:solidFill>
                <a:latin typeface="Calibri"/>
              </a:rPr>
              <a:t>Probalo con tu mano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¿Coincide con lo que mostró el simulador?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HUD a escala sobre tu teléfono</a:t>
            </a:r>
          </a:p>
          <a:p>
            <a:pPr>
              <a:spcAft>
                <a:spcPts val="800"/>
              </a:spcAft>
            </a:pPr>
            <a:r>
              <a:rPr sz="1600" b="1" i="0">
                <a:solidFill>
                  <a:srgbClr val="0D9488"/>
                </a:solidFill>
                <a:latin typeface="Calibri"/>
              </a:rPr>
              <a:t>■  </a:t>
            </a:r>
            <a:r>
              <a:rPr sz="2200" b="0" i="0">
                <a:solidFill>
                  <a:srgbClr val="1F2937"/>
                </a:solidFill>
                <a:latin typeface="Calibri"/>
              </a:rPr>
              <a:t>¿Llegás a todo?</a:t>
            </a:r>
          </a:p>
          <a:p>
            <a:pPr>
              <a:spcAft>
                <a:spcPts val="800"/>
              </a:spcAft>
            </a:pPr>
            <a:r>
              <a:rPr sz="1600" b="1" i="0">
                <a:solidFill>
                  <a:srgbClr val="0D9488"/>
                </a:solidFill>
                <a:latin typeface="Calibri"/>
              </a:rPr>
              <a:t>■  </a:t>
            </a:r>
            <a:r>
              <a:rPr sz="2200" b="0" i="0">
                <a:solidFill>
                  <a:srgbClr val="1F2937"/>
                </a:solidFill>
                <a:latin typeface="Calibri"/>
              </a:rPr>
              <a:t>¿Qué tapa el pulgar?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VISTAZO · TAREA</a:t>
            </a:r>
          </a:p>
          <a:p>
            <a:r>
              <a:rPr sz="2600" b="1" i="0">
                <a:solidFill>
                  <a:srgbClr val="FFFFFF"/>
                </a:solidFill>
                <a:latin typeface="Calibri"/>
              </a:rPr>
              <a:t>Vistazo: del editor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 Android Player settings</a:t>
            </a:r>
          </a:p>
        </p:txBody>
      </p:sp>
      <p:pic>
        <p:nvPicPr>
          <p:cNvPr id="9" name="Picture 8" descr="u4-build-profiles-android.png"/>
          <p:cNvPicPr>
            <a:picLocks noChangeAspect="1"/>
          </p:cNvPicPr>
          <p:nvPr/>
        </p:nvPicPr>
        <p:blipFill>
          <a:blip r:embed="rId2"/>
          <a:stretch>
            <a:fillRect/>
          </a:stretch>
        </p:blipFill>
        <p:spPr>
          <a:xfrm>
            <a:off x="5640500" y="1234440"/>
            <a:ext cx="5147109" cy="2125980"/>
          </a:xfrm>
          <a:prstGeom prst="rect">
            <a:avLst/>
          </a:prstGeom>
          <a:ln w="12700">
            <a:solidFill>
              <a:srgbClr val="E5E7EB"/>
            </a:solidFill>
          </a:ln>
        </p:spPr>
      </p:pic>
      <p:pic>
        <p:nvPicPr>
          <p:cNvPr id="10" name="Picture 9" descr="u4-switch-platform.png"/>
          <p:cNvPicPr>
            <a:picLocks noChangeAspect="1"/>
          </p:cNvPicPr>
          <p:nvPr/>
        </p:nvPicPr>
        <p:blipFill>
          <a:blip r:embed="rId3"/>
          <a:stretch>
            <a:fillRect/>
          </a:stretch>
        </p:blipFill>
        <p:spPr>
          <a:xfrm>
            <a:off x="5986398" y="3497580"/>
            <a:ext cx="4455314"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Build Profiles: perfil Android activo y el botón Switch Platform</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File &gt; Build Profiles</a:t>
            </a:r>
          </a:p>
          <a:p>
            <a:pPr>
              <a:spcAft>
                <a:spcPts val="800"/>
              </a:spcAft>
            </a:pPr>
            <a:r>
              <a:rPr sz="2200" b="1" i="0">
                <a:solidFill>
                  <a:srgbClr val="0D9488"/>
                </a:solidFill>
                <a:latin typeface="Calibri"/>
              </a:rPr>
              <a:t>2  </a:t>
            </a:r>
            <a:r>
              <a:rPr sz="2200" b="0" i="0">
                <a:solidFill>
                  <a:srgbClr val="1F2937"/>
                </a:solidFill>
                <a:latin typeface="Calibri"/>
              </a:rPr>
              <a:t>Android → Switch Platform</a:t>
            </a:r>
          </a:p>
          <a:p>
            <a:pPr>
              <a:spcAft>
                <a:spcPts val="800"/>
              </a:spcAft>
            </a:pPr>
            <a:r>
              <a:rPr sz="2200" b="1" i="0">
                <a:solidFill>
                  <a:srgbClr val="0D9488"/>
                </a:solidFill>
                <a:latin typeface="Calibri"/>
              </a:rPr>
              <a:t>3  </a:t>
            </a:r>
            <a:r>
              <a:rPr sz="2200" b="0" i="0">
                <a:solidFill>
                  <a:srgbClr val="1F2937"/>
                </a:solidFill>
                <a:latin typeface="Calibri"/>
              </a:rPr>
              <a:t>Botón Player Settings</a:t>
            </a:r>
          </a:p>
          <a:p>
            <a:pPr>
              <a:spcAft>
                <a:spcPts val="800"/>
              </a:spcAft>
            </a:pPr>
            <a:r>
              <a:rPr sz="2200" b="1" i="0">
                <a:solidFill>
                  <a:srgbClr val="0D9488"/>
                </a:solidFill>
                <a:latin typeface="Calibri"/>
              </a:rPr>
              <a:t>4  </a:t>
            </a:r>
            <a:r>
              <a:rPr sz="2200" b="0" i="0">
                <a:solidFill>
                  <a:srgbClr val="1F2937"/>
                </a:solidFill>
                <a:latin typeface="Calibri"/>
              </a:rPr>
              <a:t>Tarea: su primer APK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 · Tarea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pic>
        <p:nvPicPr>
          <p:cNvPr id="9" name="Picture 8" descr="u4-external-tools.png"/>
          <p:cNvPicPr>
            <a:picLocks noChangeAspect="1"/>
          </p:cNvPicPr>
          <p:nvPr/>
        </p:nvPicPr>
        <p:blipFill>
          <a:blip r:embed="rId2"/>
          <a:stretch>
            <a:fillRect/>
          </a:stretch>
        </p:blipFill>
        <p:spPr>
          <a:xfrm>
            <a:off x="4739335" y="2473452"/>
            <a:ext cx="6949439" cy="191109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Edit &gt; Preferences &gt; External Tools &gt; Android: las 4 casillas tildadas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manos</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USB + APK</a:t>
            </a:r>
          </a:p>
          <a:p>
            <a:pPr>
              <a:spcAft>
                <a:spcPts val="800"/>
              </a:spcAft>
            </a:pPr>
            <a:r>
              <a:rPr sz="1600" b="1" i="0">
                <a:solidFill>
                  <a:srgbClr val="0D9488"/>
                </a:solidFill>
                <a:latin typeface="Calibri"/>
              </a:rPr>
              <a:t>■  </a:t>
            </a:r>
            <a:r>
              <a:rPr sz="2200" b="0" i="0">
                <a:solidFill>
                  <a:srgbClr val="1F2937"/>
                </a:solidFill>
                <a:latin typeface="Calibri"/>
              </a:rPr>
              <a:t>Lectura: "Leer con lupa"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3 DE 3 · PRÁCTICA EN DISPOSITIVO</a:t>
            </a:r>
          </a:p>
          <a:p>
            <a:r>
              <a:rPr sz="4000" b="1" i="0">
                <a:solidFill>
                  <a:srgbClr val="FFFFFF"/>
                </a:solidFill>
                <a:latin typeface="Calibri"/>
              </a:rPr>
              <a:t>Asteroides en tu bolsillo</a:t>
            </a:r>
          </a:p>
          <a:p>
            <a:pPr>
              <a:spcBef>
                <a:spcPts val="600"/>
              </a:spcBef>
            </a:pPr>
            <a:r>
              <a:rPr sz="2000" b="0" i="0">
                <a:solidFill>
                  <a:srgbClr val="CBD5E1"/>
                </a:solidFill>
                <a:latin typeface="Calibri"/>
              </a:rPr>
              <a:t>Build, medición, prueba y negocio en sus teléfonos</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3 · final · 32/87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¿Qué no sabemos todavía?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esperan que cambie?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Todo fue en el editor</a:t>
            </a:r>
          </a:p>
          <a:p>
            <a:pPr>
              <a:spcAft>
                <a:spcPts val="800"/>
              </a:spcAft>
            </a:pPr>
            <a:r>
              <a:rPr sz="1600" b="1" i="0">
                <a:solidFill>
                  <a:srgbClr val="0D9488"/>
                </a:solidFill>
                <a:latin typeface="Calibri"/>
              </a:rPr>
              <a:t>■  </a:t>
            </a:r>
            <a:r>
              <a:rPr sz="2200" b="0" i="0">
                <a:solidFill>
                  <a:srgbClr val="1F2937"/>
                </a:solidFill>
                <a:latin typeface="Calibri"/>
              </a:rPr>
              <a:t>"Qué no demuestra" sigue abierto</a:t>
            </a:r>
          </a:p>
          <a:p>
            <a:pPr>
              <a:spcAft>
                <a:spcPts val="800"/>
              </a:spcAft>
            </a:pPr>
            <a:r>
              <a:rPr sz="1600" b="1" i="0">
                <a:solidFill>
                  <a:srgbClr val="0D9488"/>
                </a:solidFill>
                <a:latin typeface="Calibri"/>
              </a:rPr>
              <a:t>■  </a:t>
            </a:r>
            <a:r>
              <a:rPr sz="2200" b="0" i="0">
                <a:solidFill>
                  <a:srgbClr val="1F2937"/>
                </a:solidFill>
                <a:latin typeface="Calibri"/>
              </a:rPr>
              <a:t>Hoy: el teléfono real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REPASO DE LA BUILD</a:t>
            </a:r>
          </a:p>
          <a:p>
            <a:r>
              <a:rPr sz="2600" b="1" i="0">
                <a:solidFill>
                  <a:srgbClr val="FFFFFF"/>
                </a:solidFill>
                <a:latin typeface="Calibri"/>
              </a:rPr>
              <a:t>Antes de compilar: así viene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de esto impide instalar en un teléfono de 64 bits?</a:t>
            </a:r>
          </a:p>
        </p:txBody>
      </p:sp>
      <p:pic>
        <p:nvPicPr>
          <p:cNvPr id="10" name="Picture 9" descr="u4-player-settings-android.png"/>
          <p:cNvPicPr>
            <a:picLocks noChangeAspect="1"/>
          </p:cNvPicPr>
          <p:nvPr/>
        </p:nvPicPr>
        <p:blipFill>
          <a:blip r:embed="rId2"/>
          <a:stretch>
            <a:fillRect/>
          </a:stretch>
        </p:blipFill>
        <p:spPr>
          <a:xfrm>
            <a:off x="541869" y="1234440"/>
            <a:ext cx="11107957" cy="3840480"/>
          </a:xfrm>
          <a:prstGeom prst="rect">
            <a:avLst/>
          </a:prstGeom>
          <a:ln w="12700">
            <a:solidFill>
              <a:srgbClr val="E5E7EB"/>
            </a:solidFill>
          </a:ln>
        </p:spPr>
      </p:pic>
      <p:sp>
        <p:nvSpPr>
          <p:cNvPr id="11" name="TextBox 10"/>
          <p:cNvSpPr txBox="1"/>
          <p:nvPr/>
        </p:nvSpPr>
        <p:spPr>
          <a:xfrm>
            <a:off x="502920" y="507492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Player Settings &gt; Other Settings de Asteroides en Unity 6000.3.11f1, antes de cambiar nada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a:t>
            </a:r>
          </a:p>
          <a:p>
            <a:r>
              <a:rPr sz="2600" b="1" i="0">
                <a:solidFill>
                  <a:srgbClr val="FFFFFF"/>
                </a:solidFill>
                <a:latin typeface="Calibri"/>
              </a:rPr>
              <a:t>Así tiene que quedar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Build your application for Android</a:t>
            </a:r>
          </a:p>
        </p:txBody>
      </p:sp>
      <p:sp>
        <p:nvSpPr>
          <p:cNvPr id="9" name="Rectangle 8"/>
          <p:cNvSpPr/>
          <p:nvPr/>
        </p:nvSpPr>
        <p:spPr>
          <a:xfrm>
            <a:off x="5836615" y="1234440"/>
            <a:ext cx="5852160" cy="448056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19495" y="1234440"/>
            <a:ext cx="5486400" cy="457200"/>
          </a:xfrm>
          <a:prstGeom prst="rect">
            <a:avLst/>
          </a:prstGeom>
          <a:noFill/>
        </p:spPr>
        <p:txBody>
          <a:bodyPr wrap="square" anchor="ctr" lIns="0" rIns="0" tIns="0" bIns="0">
            <a:spAutoFit/>
          </a:bodyPr>
          <a:lstStyle/>
          <a:p>
            <a:r>
              <a:rPr sz="1500" b="1" i="0">
                <a:solidFill>
                  <a:srgbClr val="FFFFFF"/>
                </a:solidFill>
                <a:latin typeface="Calibri"/>
              </a:rPr>
              <a:t>Player Settings · Android</a:t>
            </a:r>
          </a:p>
        </p:txBody>
      </p:sp>
      <p:sp>
        <p:nvSpPr>
          <p:cNvPr id="11" name="Rectangle 10"/>
          <p:cNvSpPr/>
          <p:nvPr/>
        </p:nvSpPr>
        <p:spPr>
          <a:xfrm>
            <a:off x="5836615" y="16916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19495" y="1691640"/>
            <a:ext cx="2743200" cy="502920"/>
          </a:xfrm>
          <a:prstGeom prst="rect">
            <a:avLst/>
          </a:prstGeom>
          <a:noFill/>
        </p:spPr>
        <p:txBody>
          <a:bodyPr wrap="square" anchor="ctr" lIns="0" rIns="0" tIns="0" bIns="0">
            <a:spAutoFit/>
          </a:bodyPr>
          <a:lstStyle/>
          <a:p>
            <a:r>
              <a:rPr sz="1400" b="0" i="0">
                <a:solidFill>
                  <a:srgbClr val="D4D4D4"/>
                </a:solidFill>
                <a:latin typeface="Calibri"/>
              </a:rPr>
              <a:t>Company Name</a:t>
            </a:r>
          </a:p>
        </p:txBody>
      </p:sp>
      <p:sp>
        <p:nvSpPr>
          <p:cNvPr id="13" name="Rounded Rectangle 12"/>
          <p:cNvSpPr/>
          <p:nvPr/>
        </p:nvSpPr>
        <p:spPr>
          <a:xfrm>
            <a:off x="8762695" y="17647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Unju</a:t>
            </a:r>
          </a:p>
        </p:txBody>
      </p:sp>
      <p:sp>
        <p:nvSpPr>
          <p:cNvPr id="14" name="Rectangle 13"/>
          <p:cNvSpPr/>
          <p:nvPr/>
        </p:nvSpPr>
        <p:spPr>
          <a:xfrm>
            <a:off x="5836615" y="21945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495" y="2194560"/>
            <a:ext cx="2743200" cy="502920"/>
          </a:xfrm>
          <a:prstGeom prst="rect">
            <a:avLst/>
          </a:prstGeom>
          <a:noFill/>
        </p:spPr>
        <p:txBody>
          <a:bodyPr wrap="square" anchor="ctr" lIns="0" rIns="0" tIns="0" bIns="0">
            <a:spAutoFit/>
          </a:bodyPr>
          <a:lstStyle/>
          <a:p>
            <a:r>
              <a:rPr sz="1400" b="0" i="0">
                <a:solidFill>
                  <a:srgbClr val="D4D4D4"/>
                </a:solidFill>
                <a:latin typeface="Calibri"/>
              </a:rPr>
              <a:t>Product Name</a:t>
            </a:r>
          </a:p>
        </p:txBody>
      </p:sp>
      <p:sp>
        <p:nvSpPr>
          <p:cNvPr id="16" name="Rounded Rectangle 15"/>
          <p:cNvSpPr/>
          <p:nvPr/>
        </p:nvSpPr>
        <p:spPr>
          <a:xfrm>
            <a:off x="8762695" y="226771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AsteroideTest</a:t>
            </a:r>
          </a:p>
        </p:txBody>
      </p:sp>
      <p:sp>
        <p:nvSpPr>
          <p:cNvPr id="17" name="Rectangle 16"/>
          <p:cNvSpPr/>
          <p:nvPr/>
        </p:nvSpPr>
        <p:spPr>
          <a:xfrm>
            <a:off x="5836615" y="26974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19495" y="2697480"/>
            <a:ext cx="2743200" cy="502920"/>
          </a:xfrm>
          <a:prstGeom prst="rect">
            <a:avLst/>
          </a:prstGeom>
          <a:noFill/>
        </p:spPr>
        <p:txBody>
          <a:bodyPr wrap="square" anchor="ctr" lIns="0" rIns="0" tIns="0" bIns="0">
            <a:spAutoFit/>
          </a:bodyPr>
          <a:lstStyle/>
          <a:p>
            <a:r>
              <a:rPr sz="1400" b="0" i="0">
                <a:solidFill>
                  <a:srgbClr val="D4D4D4"/>
                </a:solidFill>
                <a:latin typeface="Calibri"/>
              </a:rPr>
              <a:t>Package Name</a:t>
            </a:r>
          </a:p>
        </p:txBody>
      </p:sp>
      <p:sp>
        <p:nvSpPr>
          <p:cNvPr id="19" name="Rounded Rectangle 18"/>
          <p:cNvSpPr/>
          <p:nvPr/>
        </p:nvSpPr>
        <p:spPr>
          <a:xfrm>
            <a:off x="8762695" y="277063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com.Unju.AsteroideTest</a:t>
            </a:r>
          </a:p>
        </p:txBody>
      </p:sp>
      <p:sp>
        <p:nvSpPr>
          <p:cNvPr id="20" name="Rectangle 19"/>
          <p:cNvSpPr/>
          <p:nvPr/>
        </p:nvSpPr>
        <p:spPr>
          <a:xfrm>
            <a:off x="5836615" y="320040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495" y="3200400"/>
            <a:ext cx="2743200" cy="502920"/>
          </a:xfrm>
          <a:prstGeom prst="rect">
            <a:avLst/>
          </a:prstGeom>
          <a:noFill/>
        </p:spPr>
        <p:txBody>
          <a:bodyPr wrap="square" anchor="ctr" lIns="0" rIns="0" tIns="0" bIns="0">
            <a:spAutoFit/>
          </a:bodyPr>
          <a:lstStyle/>
          <a:p>
            <a:r>
              <a:rPr sz="1400" b="0" i="0">
                <a:solidFill>
                  <a:srgbClr val="D4D4D4"/>
                </a:solidFill>
                <a:latin typeface="Calibri"/>
              </a:rPr>
              <a:t>Minimum API Level</a:t>
            </a:r>
          </a:p>
        </p:txBody>
      </p:sp>
      <p:sp>
        <p:nvSpPr>
          <p:cNvPr id="22" name="Rounded Rectangle 21"/>
          <p:cNvSpPr/>
          <p:nvPr/>
        </p:nvSpPr>
        <p:spPr>
          <a:xfrm>
            <a:off x="8762695" y="327355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API 25 (Android 7.1)</a:t>
            </a:r>
          </a:p>
        </p:txBody>
      </p:sp>
      <p:sp>
        <p:nvSpPr>
          <p:cNvPr id="23" name="Rectangle 22"/>
          <p:cNvSpPr/>
          <p:nvPr/>
        </p:nvSpPr>
        <p:spPr>
          <a:xfrm>
            <a:off x="5836615" y="370332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9495" y="3703320"/>
            <a:ext cx="2743200" cy="502920"/>
          </a:xfrm>
          <a:prstGeom prst="rect">
            <a:avLst/>
          </a:prstGeom>
          <a:noFill/>
        </p:spPr>
        <p:txBody>
          <a:bodyPr wrap="square" anchor="ctr" lIns="0" rIns="0" tIns="0" bIns="0">
            <a:spAutoFit/>
          </a:bodyPr>
          <a:lstStyle/>
          <a:p>
            <a:r>
              <a:rPr sz="1400" b="0" i="0">
                <a:solidFill>
                  <a:srgbClr val="D4D4D4"/>
                </a:solidFill>
                <a:latin typeface="Calibri"/>
              </a:rPr>
              <a:t>Scripting Backend</a:t>
            </a:r>
          </a:p>
        </p:txBody>
      </p:sp>
      <p:sp>
        <p:nvSpPr>
          <p:cNvPr id="25" name="Rounded Rectangle 24"/>
          <p:cNvSpPr/>
          <p:nvPr/>
        </p:nvSpPr>
        <p:spPr>
          <a:xfrm>
            <a:off x="8762695" y="377647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IL2CPP</a:t>
            </a:r>
          </a:p>
        </p:txBody>
      </p:sp>
      <p:sp>
        <p:nvSpPr>
          <p:cNvPr id="26" name="Rectangle 25"/>
          <p:cNvSpPr/>
          <p:nvPr/>
        </p:nvSpPr>
        <p:spPr>
          <a:xfrm>
            <a:off x="5836615" y="42062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19495" y="4206240"/>
            <a:ext cx="2743200" cy="502920"/>
          </a:xfrm>
          <a:prstGeom prst="rect">
            <a:avLst/>
          </a:prstGeom>
          <a:noFill/>
        </p:spPr>
        <p:txBody>
          <a:bodyPr wrap="square" anchor="ctr" lIns="0" rIns="0" tIns="0" bIns="0">
            <a:spAutoFit/>
          </a:bodyPr>
          <a:lstStyle/>
          <a:p>
            <a:r>
              <a:rPr sz="1400" b="0" i="0">
                <a:solidFill>
                  <a:srgbClr val="D4D4D4"/>
                </a:solidFill>
                <a:latin typeface="Calibri"/>
              </a:rPr>
              <a:t>Target Architectures</a:t>
            </a:r>
          </a:p>
        </p:txBody>
      </p:sp>
      <p:sp>
        <p:nvSpPr>
          <p:cNvPr id="28" name="Rounded Rectangle 27"/>
          <p:cNvSpPr/>
          <p:nvPr/>
        </p:nvSpPr>
        <p:spPr>
          <a:xfrm>
            <a:off x="8762695" y="42793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ARM64</a:t>
            </a:r>
          </a:p>
        </p:txBody>
      </p:sp>
      <p:sp>
        <p:nvSpPr>
          <p:cNvPr id="29" name="Rectangle 28"/>
          <p:cNvSpPr/>
          <p:nvPr/>
        </p:nvSpPr>
        <p:spPr>
          <a:xfrm>
            <a:off x="5836615" y="47091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19495" y="4709160"/>
            <a:ext cx="2743200" cy="502920"/>
          </a:xfrm>
          <a:prstGeom prst="rect">
            <a:avLst/>
          </a:prstGeom>
          <a:noFill/>
        </p:spPr>
        <p:txBody>
          <a:bodyPr wrap="square" anchor="ctr" lIns="0" rIns="0" tIns="0" bIns="0">
            <a:spAutoFit/>
          </a:bodyPr>
          <a:lstStyle/>
          <a:p>
            <a:r>
              <a:rPr sz="1400" b="0" i="0">
                <a:solidFill>
                  <a:srgbClr val="D4D4D4"/>
                </a:solidFill>
                <a:latin typeface="Calibri"/>
              </a:rPr>
              <a:t>Build App Bundle</a:t>
            </a:r>
          </a:p>
        </p:txBody>
      </p:sp>
      <p:sp>
        <p:nvSpPr>
          <p:cNvPr id="31" name="Rounded Rectangle 30"/>
          <p:cNvSpPr/>
          <p:nvPr/>
        </p:nvSpPr>
        <p:spPr>
          <a:xfrm>
            <a:off x="8762695" y="478231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No: sale un .apk</a:t>
            </a:r>
          </a:p>
        </p:txBody>
      </p:sp>
      <p:sp>
        <p:nvSpPr>
          <p:cNvPr id="32" name="Rectangle 31"/>
          <p:cNvSpPr/>
          <p:nvPr/>
        </p:nvSpPr>
        <p:spPr>
          <a:xfrm>
            <a:off x="5836615" y="52120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9495" y="5212080"/>
            <a:ext cx="2743200" cy="502920"/>
          </a:xfrm>
          <a:prstGeom prst="rect">
            <a:avLst/>
          </a:prstGeom>
          <a:noFill/>
        </p:spPr>
        <p:txBody>
          <a:bodyPr wrap="square" anchor="ctr" lIns="0" rIns="0" tIns="0" bIns="0">
            <a:spAutoFit/>
          </a:bodyPr>
          <a:lstStyle/>
          <a:p>
            <a:r>
              <a:rPr sz="1400" b="0" i="0">
                <a:solidFill>
                  <a:srgbClr val="D4D4D4"/>
                </a:solidFill>
                <a:latin typeface="Calibri"/>
              </a:rPr>
              <a:t>Development Build</a:t>
            </a:r>
          </a:p>
        </p:txBody>
      </p:sp>
      <p:sp>
        <p:nvSpPr>
          <p:cNvPr id="34" name="Rounded Rectangle 33"/>
          <p:cNvSpPr/>
          <p:nvPr/>
        </p:nvSpPr>
        <p:spPr>
          <a:xfrm>
            <a:off x="8762695" y="528523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Sí, para el Profiler</a:t>
            </a:r>
          </a:p>
        </p:txBody>
      </p:sp>
      <p:sp>
        <p:nvSpPr>
          <p:cNvPr id="35" name="TextBox 34"/>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sola fuente: Project Settings</a:t>
            </a:r>
          </a:p>
          <a:p>
            <a:pPr>
              <a:spcAft>
                <a:spcPts val="800"/>
              </a:spcAft>
            </a:pPr>
            <a:r>
              <a:rPr sz="1600" b="1" i="0">
                <a:solidFill>
                  <a:srgbClr val="0D9488"/>
                </a:solidFill>
                <a:latin typeface="Calibri"/>
              </a:rPr>
              <a:t>■  </a:t>
            </a:r>
            <a:r>
              <a:rPr sz="2200" b="0" i="0">
                <a:solidFill>
                  <a:srgbClr val="1F2937"/>
                </a:solidFill>
                <a:latin typeface="Calibri"/>
              </a:rPr>
              <a:t>El Build Profile puede pisarla</a:t>
            </a:r>
          </a:p>
          <a:p>
            <a:pPr>
              <a:spcAft>
                <a:spcPts val="800"/>
              </a:spcAft>
            </a:pPr>
            <a:r>
              <a:rPr sz="1600" b="1" i="0">
                <a:solidFill>
                  <a:srgbClr val="0D9488"/>
                </a:solidFill>
                <a:latin typeface="Calibri"/>
              </a:rPr>
              <a:t>■  </a:t>
            </a:r>
            <a:r>
              <a:rPr sz="2200" b="0" i="0">
                <a:solidFill>
                  <a:srgbClr val="1F2937"/>
                </a:solidFill>
                <a:latin typeface="Calibri"/>
              </a:rPr>
              <a:t>Both: aviso, no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DIAGNÓSTICO · CARTELES REALES</a:t>
            </a:r>
          </a:p>
          <a:p>
            <a:r>
              <a:rPr sz="2600" b="1" i="0">
                <a:solidFill>
                  <a:srgbClr val="FFFFFF"/>
                </a:solidFill>
                <a:latin typeface="Calibri"/>
              </a:rPr>
              <a:t>Cuando la build se frena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es un error y cuál es un aviso?</a:t>
            </a:r>
          </a:p>
        </p:txBody>
      </p:sp>
      <p:pic>
        <p:nvPicPr>
          <p:cNvPr id="10" name="Picture 9" descr="u4-dialogo-input-handling.png"/>
          <p:cNvPicPr>
            <a:picLocks noChangeAspect="1"/>
          </p:cNvPicPr>
          <p:nvPr/>
        </p:nvPicPr>
        <p:blipFill>
          <a:blip r:embed="rId2"/>
          <a:stretch>
            <a:fillRect/>
          </a:stretch>
        </p:blipFill>
        <p:spPr>
          <a:xfrm>
            <a:off x="6744300" y="1234440"/>
            <a:ext cx="2939510" cy="1851660"/>
          </a:xfrm>
          <a:prstGeom prst="rect">
            <a:avLst/>
          </a:prstGeom>
          <a:ln w="12700">
            <a:solidFill>
              <a:srgbClr val="E5E7EB"/>
            </a:solidFill>
          </a:ln>
        </p:spPr>
      </p:pic>
      <p:pic>
        <p:nvPicPr>
          <p:cNvPr id="11" name="Picture 10" descr="u4-dialogo-sin-dispositivo.png"/>
          <p:cNvPicPr>
            <a:picLocks noChangeAspect="1"/>
          </p:cNvPicPr>
          <p:nvPr/>
        </p:nvPicPr>
        <p:blipFill>
          <a:blip r:embed="rId3"/>
          <a:stretch>
            <a:fillRect/>
          </a:stretch>
        </p:blipFill>
        <p:spPr>
          <a:xfrm>
            <a:off x="6008896" y="3223260"/>
            <a:ext cx="4410317" cy="185166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Los dos carteles, tal como aparecieron en Unity 6000.3.11f1</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Input: Ignore y anotar</a:t>
            </a:r>
          </a:p>
          <a:p>
            <a:pPr>
              <a:spcAft>
                <a:spcPts val="800"/>
              </a:spcAft>
            </a:pPr>
            <a:r>
              <a:rPr sz="1600" b="1" i="0">
                <a:solidFill>
                  <a:srgbClr val="0D9488"/>
                </a:solidFill>
                <a:latin typeface="Calibri"/>
              </a:rPr>
              <a:t>■  </a:t>
            </a:r>
            <a:r>
              <a:rPr sz="2200" b="0" i="0">
                <a:solidFill>
                  <a:srgbClr val="1F2937"/>
                </a:solidFill>
                <a:latin typeface="Calibri"/>
              </a:rPr>
              <a:t>Sin teléfono: usar Build</a:t>
            </a:r>
          </a:p>
          <a:p>
            <a:pPr>
              <a:spcAft>
                <a:spcPts val="800"/>
              </a:spcAft>
            </a:pPr>
            <a:r>
              <a:rPr sz="1600" b="1" i="0">
                <a:solidFill>
                  <a:srgbClr val="0D9488"/>
                </a:solidFill>
                <a:latin typeface="Calibri"/>
              </a:rPr>
              <a:t>■  </a:t>
            </a:r>
            <a:r>
              <a:rPr sz="2200" b="0" i="0">
                <a:solidFill>
                  <a:srgbClr val="1F2937"/>
                </a:solidFill>
                <a:latin typeface="Calibri"/>
              </a:rPr>
              <a:t>No instala: ¿y ARM64?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E INSTALACIÓN · GRUPOS</a:t>
            </a:r>
          </a:p>
          <a:p>
            <a:r>
              <a:rPr sz="2600" b="1" i="0">
                <a:solidFill>
                  <a:srgbClr val="FFFFFF"/>
                </a:solidFill>
                <a:latin typeface="Calibri"/>
              </a:rPr>
              <a:t>De la PC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Build your application for Android; Collect performance data on a target platform</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Profiles: Android activo</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Player Settings: IL2CPP + ARM64</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Teléfono con 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and Run (o Build → .apk)</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abre en el teléfono</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¿Trajeron el APK? Instalar</a:t>
            </a:r>
          </a:p>
          <a:p>
            <a:pPr>
              <a:spcAft>
                <a:spcPts val="800"/>
              </a:spcAft>
            </a:pPr>
            <a:r>
              <a:rPr sz="1600" b="1" i="0">
                <a:solidFill>
                  <a:srgbClr val="0D9488"/>
                </a:solidFill>
                <a:latin typeface="Calibri"/>
              </a:rPr>
              <a:t>■  </a:t>
            </a:r>
            <a:r>
              <a:rPr sz="2200" b="0" i="0">
                <a:solidFill>
                  <a:srgbClr val="1F2937"/>
                </a:solidFill>
                <a:latin typeface="Calibri"/>
              </a:rPr>
              <a:t>¿No? Seguir los pasos</a:t>
            </a:r>
          </a:p>
          <a:p>
            <a:pPr>
              <a:spcAft>
                <a:spcPts val="800"/>
              </a:spcAft>
            </a:pPr>
            <a:r>
              <a:rPr sz="1600" b="1" i="0">
                <a:solidFill>
                  <a:srgbClr val="0D9488"/>
                </a:solidFill>
                <a:latin typeface="Calibri"/>
              </a:rPr>
              <a:t>■  </a:t>
            </a:r>
            <a:r>
              <a:rPr sz="2200" b="0" i="0">
                <a:solidFill>
                  <a:srgbClr val="1F2937"/>
                </a:solidFill>
                <a:latin typeface="Calibri"/>
              </a:rPr>
              <a:t>Con cable: Build and Run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MEDICIÓN</a:t>
            </a:r>
          </a:p>
          <a:p>
            <a:r>
              <a:rPr sz="2600" b="1" i="0">
                <a:solidFill>
                  <a:srgbClr val="FFFFFF"/>
                </a:solidFill>
                <a:latin typeface="Calibri"/>
              </a:rPr>
              <a:t>Medir, no opinar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Profiling on a target device; e-book Unity 6, p. 11</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Capturen el Profiler y anoten los valores.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H1: ¿picos de GC al disparar?</a:t>
            </a:r>
          </a:p>
          <a:p>
            <a:pPr>
              <a:spcAft>
                <a:spcPts val="800"/>
              </a:spcAft>
            </a:pPr>
            <a:r>
              <a:rPr sz="1600" b="1" i="0">
                <a:solidFill>
                  <a:srgbClr val="0D9488"/>
                </a:solidFill>
                <a:latin typeface="Calibri"/>
              </a:rPr>
              <a:t>■  </a:t>
            </a:r>
            <a:r>
              <a:rPr sz="2200" b="0" i="0">
                <a:solidFill>
                  <a:srgbClr val="1F2937"/>
                </a:solidFill>
                <a:latin typeface="Calibri"/>
              </a:rPr>
              <a:t>H2: ¿fps estable 5 minutos?</a:t>
            </a:r>
          </a:p>
          <a:p>
            <a:pPr>
              <a:spcAft>
                <a:spcPts val="800"/>
              </a:spcAft>
            </a:pPr>
            <a:r>
              <a:rPr sz="1600" b="1" i="0">
                <a:solidFill>
                  <a:srgbClr val="0D9488"/>
                </a:solidFill>
                <a:latin typeface="Calibri"/>
              </a:rPr>
              <a:t>■  </a:t>
            </a:r>
            <a:r>
              <a:rPr sz="2200" b="0" i="0">
                <a:solidFill>
                  <a:srgbClr val="1F2937"/>
                </a:solidFill>
                <a:latin typeface="Calibri"/>
              </a:rPr>
              <a:t>Anotar modelo y versión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COMPARAR</a:t>
            </a:r>
          </a:p>
          <a:p>
            <a:r>
              <a:rPr sz="2600" b="1" i="0">
                <a:solidFill>
                  <a:srgbClr val="FFFFFF"/>
                </a:solidFill>
                <a:latin typeface="Calibri"/>
              </a:rPr>
              <a:t>Editor vs.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39/87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Completen con sus mediciones.</a:t>
            </a:r>
          </a:p>
        </p:txBody>
      </p:sp>
      <p:graphicFrame>
        <p:nvGraphicFramePr>
          <p:cNvPr id="10" name="Table 9"/>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5308541"/>
                <a:gridCol w="3223042"/>
                <a:gridCol w="2654270"/>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Editor (PC)</a:t>
                      </a:r>
                    </a:p>
                  </a:txBody>
                  <a:tcPr marL="73152" marR="73152" marT="36576" marB="36576" anchor="ctr">
                    <a:solidFill>
                      <a:srgbClr val="0D9488"/>
                    </a:solidFill>
                  </a:tcPr>
                </a:tc>
                <a:tc>
                  <a:txBody>
                    <a:bodyPr wrap="square"/>
                    <a:lstStyle/>
                    <a:p>
                      <a:r>
                        <a:rPr sz="1400" b="1" i="0">
                          <a:solidFill>
                            <a:srgbClr val="FFFFFF"/>
                          </a:solidFill>
                          <a:latin typeface="Calibri"/>
                        </a:rPr>
                        <a:t>Teléfono</a:t>
                      </a:r>
                    </a:p>
                  </a:txBody>
                  <a:tcPr marL="73152" marR="73152" marT="36576" marB="36576" anchor="ctr">
                    <a:solidFill>
                      <a:srgbClr val="0D9488"/>
                    </a:solidFill>
                  </a:tcPr>
                </a:tc>
              </a:tr>
              <a:tr h="566928">
                <a:tc>
                  <a:txBody>
                    <a:bodyPr wrap="square"/>
                    <a:lstStyle/>
                    <a:p>
                      <a:r>
                        <a:rPr sz="1400" b="0" i="0">
                          <a:solidFill>
                            <a:srgbClr val="1F2937"/>
                          </a:solidFill>
                          <a:latin typeface="Calibri"/>
                        </a:rPr>
                        <a:t>fps promedio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Tiempo de frame máximo</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GC Alloc por disparo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fps a los 5 minutos</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INDIVIDUAL · ORAL</a:t>
            </a:r>
          </a:p>
          <a:p>
            <a:r>
              <a:rPr sz="2600" b="1" i="0">
                <a:solidFill>
                  <a:srgbClr val="FFFFFF"/>
                </a:solidFill>
                <a:latin typeface="Calibri"/>
              </a:rPr>
              <a:t>A4.6 — Anda bien los primeros 5 minutos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¿Cuello de botella, métrica, herramienta? ¿Qué NO sirve?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60 fps al empezar</a:t>
            </a:r>
          </a:p>
          <a:p>
            <a:pPr>
              <a:spcAft>
                <a:spcPts val="800"/>
              </a:spcAft>
            </a:pPr>
            <a:r>
              <a:rPr sz="1600" b="1" i="0">
                <a:solidFill>
                  <a:srgbClr val="0D9488"/>
                </a:solidFill>
                <a:latin typeface="Calibri"/>
              </a:rPr>
              <a:t>■  </a:t>
            </a:r>
            <a:r>
              <a:rPr sz="2200" b="0" i="0">
                <a:solidFill>
                  <a:srgbClr val="1F2937"/>
                </a:solidFill>
                <a:latin typeface="Calibri"/>
              </a:rPr>
              <a:t>35–40 fps a los 8 minutos</a:t>
            </a:r>
          </a:p>
          <a:p>
            <a:pPr>
              <a:spcAft>
                <a:spcPts val="800"/>
              </a:spcAft>
            </a:pPr>
            <a:r>
              <a:rPr sz="1600" b="1" i="0">
                <a:solidFill>
                  <a:srgbClr val="0D9488"/>
                </a:solidFill>
                <a:latin typeface="Calibri"/>
              </a:rPr>
              <a:t>■  </a:t>
            </a:r>
            <a:r>
              <a:rPr sz="2200" b="0" i="0">
                <a:solidFill>
                  <a:srgbClr val="1F2937"/>
                </a:solidFill>
                <a:latin typeface="Calibri"/>
              </a:rPr>
              <a:t>En el editor: 200 fps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QA MANUAL</a:t>
            </a:r>
          </a:p>
          <a:p>
            <a:r>
              <a:rPr sz="2600" b="1" i="0">
                <a:solidFill>
                  <a:srgbClr val="FFFFFF"/>
                </a:solidFill>
                <a:latin typeface="Calibri"/>
              </a:rPr>
              <a:t>Interrumpir a propósito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OnApplicationPause / OnApplicationFocus; Android — activity lifecycle</a:t>
            </a:r>
          </a:p>
        </p:txBody>
      </p:sp>
      <p:graphicFrame>
        <p:nvGraphicFramePr>
          <p:cNvPr id="9" name="Table 8"/>
          <p:cNvGraphicFramePr>
            <a:graphicFrameLocks noGrp="1"/>
          </p:cNvGraphicFramePr>
          <p:nvPr/>
        </p:nvGraphicFramePr>
        <p:xfrm>
          <a:off x="502920" y="1234440"/>
          <a:ext cx="11185853" cy="4535424"/>
        </p:xfrm>
        <a:graphic>
          <a:graphicData uri="http://schemas.openxmlformats.org/drawingml/2006/table">
            <a:tbl>
              <a:tblPr firstRow="1" bandRow="1">
                <a:tableStyleId>{5C22544A-7EE6-4342-B048-85BDC9FD1C3A}</a:tableStyleId>
              </a:tblPr>
              <a:tblGrid>
                <a:gridCol w="1519066"/>
                <a:gridCol w="4281006"/>
                <a:gridCol w="4004812"/>
                <a:gridCol w="1380969"/>
              </a:tblGrid>
              <a:tr h="566928">
                <a:tc>
                  <a:txBody>
                    <a:bodyPr wrap="square"/>
                    <a:lstStyle/>
                    <a:p>
                      <a:r>
                        <a:rPr sz="1200" b="1" i="0">
                          <a:solidFill>
                            <a:srgbClr val="FFFFFF"/>
                          </a:solidFill>
                          <a:latin typeface="Calibri"/>
                        </a:rPr>
                        <a:t>Caso</a:t>
                      </a:r>
                    </a:p>
                  </a:txBody>
                  <a:tcPr marL="73152" marR="73152" marT="36576" marB="36576" anchor="ctr">
                    <a:solidFill>
                      <a:srgbClr val="0D9488"/>
                    </a:solidFill>
                  </a:tcPr>
                </a:tc>
                <a:tc>
                  <a:txBody>
                    <a:bodyPr wrap="square"/>
                    <a:lstStyle/>
                    <a:p>
                      <a:r>
                        <a:rPr sz="1200" b="1" i="0">
                          <a:solidFill>
                            <a:srgbClr val="FFFFFF"/>
                          </a:solidFill>
                          <a:latin typeface="Calibri"/>
                        </a:rPr>
                        <a:t>Acción</a:t>
                      </a:r>
                    </a:p>
                  </a:txBody>
                  <a:tcPr marL="73152" marR="73152" marT="36576" marB="36576" anchor="ctr">
                    <a:solidFill>
                      <a:srgbClr val="0D9488"/>
                    </a:solidFill>
                  </a:tcPr>
                </a:tc>
                <a:tc>
                  <a:txBody>
                    <a:bodyPr wrap="square"/>
                    <a:lstStyle/>
                    <a:p>
                      <a:r>
                        <a:rPr sz="1200" b="1" i="0">
                          <a:solidFill>
                            <a:srgbClr val="FFFFFF"/>
                          </a:solidFill>
                          <a:latin typeface="Calibri"/>
                        </a:rPr>
                        <a:t>Esperado</a:t>
                      </a:r>
                    </a:p>
                  </a:txBody>
                  <a:tcPr marL="73152" marR="73152" marT="36576" marB="36576" anchor="ctr">
                    <a:solidFill>
                      <a:srgbClr val="0D9488"/>
                    </a:solidFill>
                  </a:tcPr>
                </a:tc>
                <a:tc>
                  <a:txBody>
                    <a:bodyPr wrap="square"/>
                    <a:lstStyle/>
                    <a:p>
                      <a:r>
                        <a:rPr sz="1200" b="1" i="0">
                          <a:solidFill>
                            <a:srgbClr val="FFFFFF"/>
                          </a:solidFill>
                          <a:latin typeface="Calibri"/>
                        </a:rPr>
                        <a:t>Real</a:t>
                      </a:r>
                    </a:p>
                  </a:txBody>
                  <a:tcPr marL="73152" marR="73152" marT="36576" marB="36576" anchor="ctr">
                    <a:solidFill>
                      <a:srgbClr val="0D9488"/>
                    </a:solidFill>
                  </a:tcPr>
                </a:tc>
              </a:tr>
              <a:tr h="566928">
                <a:tc>
                  <a:txBody>
                    <a:bodyPr wrap="square"/>
                    <a:lstStyle/>
                    <a:p>
                      <a:r>
                        <a:rPr sz="1200" b="0" i="0">
                          <a:solidFill>
                            <a:srgbClr val="1F2937"/>
                          </a:solidFill>
                          <a:latin typeface="Calibri"/>
                        </a:rPr>
                        <a:t>QA-01</a:t>
                      </a:r>
                    </a:p>
                  </a:txBody>
                  <a:tcPr marL="73152" marR="73152" marT="36576" marB="36576" anchor="ctr">
                    <a:solidFill>
                      <a:srgbClr val="FFFFFF"/>
                    </a:solidFill>
                  </a:tcPr>
                </a:tc>
                <a:tc>
                  <a:txBody>
                    <a:bodyPr wrap="square"/>
                    <a:lstStyle/>
                    <a:p>
                      <a:r>
                        <a:rPr sz="1200" b="0" i="0">
                          <a:solidFill>
                            <a:srgbClr val="1F2937"/>
                          </a:solidFill>
                          <a:latin typeface="Calibri"/>
                        </a:rPr>
                        <a:t>Llamada o alarma</a:t>
                      </a:r>
                    </a:p>
                  </a:txBody>
                  <a:tcPr marL="73152" marR="73152" marT="36576" marB="36576" anchor="ctr">
                    <a:solidFill>
                      <a:srgbClr val="FFFFFF"/>
                    </a:solidFill>
                  </a:tcPr>
                </a:tc>
                <a:tc>
                  <a:txBody>
                    <a:bodyPr wrap="square"/>
                    <a:lstStyle/>
                    <a:p>
                      <a:r>
                        <a:rPr sz="1200" b="0" i="0">
                          <a:solidFill>
                            <a:srgbClr val="1F2937"/>
                          </a:solidFill>
                          <a:latin typeface="Calibri"/>
                        </a:rPr>
                        <a:t>Pausa y espera un toque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QA-02</a:t>
                      </a:r>
                    </a:p>
                  </a:txBody>
                  <a:tcPr marL="73152" marR="73152" marT="36576" marB="36576" anchor="ctr">
                    <a:solidFill>
                      <a:srgbClr val="E6F4F2"/>
                    </a:solidFill>
                  </a:tcPr>
                </a:tc>
                <a:tc>
                  <a:txBody>
                    <a:bodyPr wrap="square"/>
                    <a:lstStyle/>
                    <a:p>
                      <a:r>
                        <a:rPr sz="1200" b="0" i="0">
                          <a:solidFill>
                            <a:srgbClr val="1F2937"/>
                          </a:solidFill>
                          <a:latin typeface="Calibri"/>
                        </a:rPr>
                        <a:t>Inicio y volver</a:t>
                      </a:r>
                    </a:p>
                  </a:txBody>
                  <a:tcPr marL="73152" marR="73152" marT="36576" marB="36576" anchor="ctr">
                    <a:solidFill>
                      <a:srgbClr val="E6F4F2"/>
                    </a:solidFill>
                  </a:tcPr>
                </a:tc>
                <a:tc>
                  <a:txBody>
                    <a:bodyPr wrap="square"/>
                    <a:lstStyle/>
                    <a:p>
                      <a:r>
                        <a:rPr sz="1200" b="0" i="0">
                          <a:solidFill>
                            <a:srgbClr val="1F2937"/>
                          </a:solidFill>
                          <a:latin typeface="Calibri"/>
                        </a:rPr>
                        <a:t>Pausado, sin daño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QA-03</a:t>
                      </a:r>
                    </a:p>
                  </a:txBody>
                  <a:tcPr marL="73152" marR="73152" marT="36576" marB="36576" anchor="ctr">
                    <a:solidFill>
                      <a:srgbClr val="FFFFFF"/>
                    </a:solidFill>
                  </a:tcPr>
                </a:tc>
                <a:tc>
                  <a:txBody>
                    <a:bodyPr wrap="square"/>
                    <a:lstStyle/>
                    <a:p>
                      <a:r>
                        <a:rPr sz="1200" b="0" i="0">
                          <a:solidFill>
                            <a:srgbClr val="1F2937"/>
                          </a:solidFill>
                          <a:latin typeface="Calibri"/>
                        </a:rPr>
                        <a:t>Bloquear la pantalla</a:t>
                      </a:r>
                    </a:p>
                  </a:txBody>
                  <a:tcPr marL="73152" marR="73152" marT="36576" marB="36576" anchor="ctr">
                    <a:solidFill>
                      <a:srgbClr val="FFFFFF"/>
                    </a:solidFill>
                  </a:tcPr>
                </a:tc>
                <a:tc>
                  <a:txBody>
                    <a:bodyPr wrap="square"/>
                    <a:lstStyle/>
                    <a:p>
                      <a:r>
                        <a:rPr sz="1200" b="0" i="0">
                          <a:solidFill>
                            <a:srgbClr val="1F2937"/>
                          </a:solidFill>
                          <a:latin typeface="Calibri"/>
                        </a:rPr>
                        <a:t>Pausado</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QA-04</a:t>
                      </a:r>
                    </a:p>
                  </a:txBody>
                  <a:tcPr marL="73152" marR="73152" marT="36576" marB="36576" anchor="ctr">
                    <a:solidFill>
                      <a:srgbClr val="E6F4F2"/>
                    </a:solidFill>
                  </a:tcPr>
                </a:tc>
                <a:tc>
                  <a:txBody>
                    <a:bodyPr wrap="square"/>
                    <a:lstStyle/>
                    <a:p>
                      <a:r>
                        <a:rPr sz="1200" b="0" i="0">
                          <a:solidFill>
                            <a:srgbClr val="1F2937"/>
                          </a:solidFill>
                          <a:latin typeface="Calibri"/>
                        </a:rPr>
                        <a:t>Teclado en pantalla</a:t>
                      </a:r>
                    </a:p>
                  </a:txBody>
                  <a:tcPr marL="73152" marR="73152" marT="36576" marB="36576" anchor="ctr">
                    <a:solidFill>
                      <a:srgbClr val="E6F4F2"/>
                    </a:solidFill>
                  </a:tcPr>
                </a:tc>
                <a:tc>
                  <a:txBody>
                    <a:bodyPr wrap="square"/>
                    <a:lstStyle/>
                    <a:p>
                      <a:r>
                        <a:rPr sz="1200" b="0" i="0">
                          <a:solidFill>
                            <a:srgbClr val="1F2937"/>
                          </a:solidFill>
                          <a:latin typeface="Calibri"/>
                        </a:rPr>
                        <a:t>Documentar</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QA-05</a:t>
                      </a:r>
                    </a:p>
                  </a:txBody>
                  <a:tcPr marL="73152" marR="73152" marT="36576" marB="36576" anchor="ctr">
                    <a:solidFill>
                      <a:srgbClr val="FFFFFF"/>
                    </a:solidFill>
                  </a:tcPr>
                </a:tc>
                <a:tc>
                  <a:txBody>
                    <a:bodyPr wrap="square"/>
                    <a:lstStyle/>
                    <a:p>
                      <a:r>
                        <a:rPr sz="1200" b="0" i="0">
                          <a:solidFill>
                            <a:srgbClr val="1F2937"/>
                          </a:solidFill>
                          <a:latin typeface="Calibri"/>
                        </a:rPr>
                        <a:t>Cierre forzado</a:t>
                      </a:r>
                    </a:p>
                  </a:txBody>
                  <a:tcPr marL="73152" marR="73152" marT="36576" marB="36576" anchor="ctr">
                    <a:solidFill>
                      <a:srgbClr val="FFFFFF"/>
                    </a:solidFill>
                  </a:tcPr>
                </a:tc>
                <a:tc>
                  <a:txBody>
                    <a:bodyPr wrap="square"/>
                    <a:lstStyle/>
                    <a:p>
                      <a:r>
                        <a:rPr sz="1200" b="0" i="0">
                          <a:solidFill>
                            <a:srgbClr val="1F2937"/>
                          </a:solidFill>
                          <a:latin typeface="Calibri"/>
                        </a:rPr>
                        <a:t>Qué se pierde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QA-06</a:t>
                      </a:r>
                    </a:p>
                  </a:txBody>
                  <a:tcPr marL="73152" marR="73152" marT="36576" marB="36576" anchor="ctr">
                    <a:solidFill>
                      <a:srgbClr val="E6F4F2"/>
                    </a:solidFill>
                  </a:tcPr>
                </a:tc>
                <a:tc>
                  <a:txBody>
                    <a:bodyPr wrap="square"/>
                    <a:lstStyle/>
                    <a:p>
                      <a:r>
                        <a:rPr sz="1200" b="0" i="0">
                          <a:solidFill>
                            <a:srgbClr val="1F2937"/>
                          </a:solidFill>
                          <a:latin typeface="Calibri"/>
                        </a:rPr>
                        <a:t>Mover y disparar a la vez</a:t>
                      </a:r>
                    </a:p>
                  </a:txBody>
                  <a:tcPr marL="73152" marR="73152" marT="36576" marB="36576" anchor="ctr">
                    <a:solidFill>
                      <a:srgbClr val="E6F4F2"/>
                    </a:solidFill>
                  </a:tcPr>
                </a:tc>
                <a:tc>
                  <a:txBody>
                    <a:bodyPr wrap="square"/>
                    <a:lstStyle/>
                    <a:p>
                      <a:r>
                        <a:rPr sz="1200" b="0" i="0">
                          <a:solidFill>
                            <a:srgbClr val="1F2937"/>
                          </a:solidFill>
                          <a:latin typeface="Calibri"/>
                        </a:rPr>
                        <a:t>Responden los dos</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QA-07</a:t>
                      </a:r>
                    </a:p>
                  </a:txBody>
                  <a:tcPr marL="73152" marR="73152" marT="36576" marB="36576" anchor="ctr">
                    <a:solidFill>
                      <a:srgbClr val="FFFFFF"/>
                    </a:solidFill>
                  </a:tcPr>
                </a:tc>
                <a:tc>
                  <a:txBody>
                    <a:bodyPr wrap="square"/>
                    <a:lstStyle/>
                    <a:p>
                      <a:r>
                        <a:rPr sz="1200" b="0" i="0">
                          <a:solidFill>
                            <a:srgbClr val="1F2937"/>
                          </a:solidFill>
                          <a:latin typeface="Calibri"/>
                        </a:rPr>
                        <a:t>Controles bajo el pulgar</a:t>
                      </a:r>
                    </a:p>
                  </a:txBody>
                  <a:tcPr marL="73152" marR="73152" marT="36576" marB="36576" anchor="ctr">
                    <a:solidFill>
                      <a:srgbClr val="FFFFFF"/>
                    </a:solidFill>
                  </a:tcPr>
                </a:tc>
                <a:tc>
                  <a:txBody>
                    <a:bodyPr wrap="square"/>
                    <a:lstStyle/>
                    <a:p>
                      <a:r>
                        <a:rPr sz="1200" b="0" i="0">
                          <a:solidFill>
                            <a:srgbClr val="1F2937"/>
                          </a:solidFill>
                          <a:latin typeface="Calibri"/>
                        </a:rPr>
                        <a:t>≥ 48 dp, no tapan</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COMPATIBILIDAD</a:t>
            </a:r>
          </a:p>
          <a:p>
            <a:r>
              <a:rPr sz="2600" b="1" i="0">
                <a:solidFill>
                  <a:srgbClr val="FFFFFF"/>
                </a:solidFill>
                <a:latin typeface="Calibri"/>
              </a:rPr>
              <a:t>La matriz del curso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(probar en gama mínima y máxima, p. 20); Android vitals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para decir "anda en Android"?</a:t>
            </a:r>
          </a:p>
        </p:txBody>
      </p:sp>
      <p:graphicFrame>
        <p:nvGraphicFramePr>
          <p:cNvPr id="11" name="Table 10"/>
          <p:cNvGraphicFramePr>
            <a:graphicFrameLocks noGrp="1"/>
          </p:cNvGraphicFramePr>
          <p:nvPr/>
        </p:nvGraphicFramePr>
        <p:xfrm>
          <a:off x="502920" y="1234440"/>
          <a:ext cx="11185850" cy="2267712"/>
        </p:xfrm>
        <a:graphic>
          <a:graphicData uri="http://schemas.openxmlformats.org/drawingml/2006/table">
            <a:tbl>
              <a:tblPr firstRow="1" bandRow="1">
                <a:tableStyleId>{5C22544A-7EE6-4342-B048-85BDC9FD1C3A}</a:tableStyleId>
              </a:tblPr>
              <a:tblGrid>
                <a:gridCol w="1194605"/>
                <a:gridCol w="1303206"/>
                <a:gridCol w="1411806"/>
                <a:gridCol w="977404"/>
                <a:gridCol w="1737608"/>
                <a:gridCol w="977404"/>
                <a:gridCol w="3583817"/>
              </a:tblGrid>
              <a:tr h="566928">
                <a:tc>
                  <a:txBody>
                    <a:bodyPr wrap="square"/>
                    <a:lstStyle/>
                    <a:p>
                      <a:r>
                        <a:rPr sz="1600" b="1" i="0">
                          <a:solidFill>
                            <a:srgbClr val="FFFFFF"/>
                          </a:solidFill>
                          <a:latin typeface="Calibri"/>
                        </a:rPr>
                        <a:t>Grupo</a:t>
                      </a:r>
                    </a:p>
                  </a:txBody>
                  <a:tcPr marL="73152" marR="73152" marT="36576" marB="36576" anchor="ctr">
                    <a:solidFill>
                      <a:srgbClr val="0D9488"/>
                    </a:solidFill>
                  </a:tcPr>
                </a:tc>
                <a:tc>
                  <a:txBody>
                    <a:bodyPr wrap="square"/>
                    <a:lstStyle/>
                    <a:p>
                      <a:r>
                        <a:rPr sz="1600" b="1" i="0">
                          <a:solidFill>
                            <a:srgbClr val="FFFFFF"/>
                          </a:solidFill>
                          <a:latin typeface="Calibri"/>
                        </a:rPr>
                        <a:t>Modelo</a:t>
                      </a:r>
                    </a:p>
                  </a:txBody>
                  <a:tcPr marL="73152" marR="73152" marT="36576" marB="36576" anchor="ctr">
                    <a:solidFill>
                      <a:srgbClr val="0D9488"/>
                    </a:solidFill>
                  </a:tcPr>
                </a:tc>
                <a:tc>
                  <a:txBody>
                    <a:bodyPr wrap="square"/>
                    <a:lstStyle/>
                    <a:p>
                      <a:r>
                        <a:rPr sz="1600" b="1" i="0">
                          <a:solidFill>
                            <a:srgbClr val="FFFFFF"/>
                          </a:solidFill>
                          <a:latin typeface="Calibri"/>
                        </a:rPr>
                        <a:t>Android</a:t>
                      </a:r>
                    </a:p>
                  </a:txBody>
                  <a:tcPr marL="73152" marR="73152" marT="36576" marB="36576" anchor="ctr">
                    <a:solidFill>
                      <a:srgbClr val="0D9488"/>
                    </a:solidFill>
                  </a:tcPr>
                </a:tc>
                <a:tc>
                  <a:txBody>
                    <a:bodyPr wrap="square"/>
                    <a:lstStyle/>
                    <a:p>
                      <a:r>
                        <a:rPr sz="1600" b="1" i="0">
                          <a:solidFill>
                            <a:srgbClr val="FFFFFF"/>
                          </a:solidFill>
                          <a:latin typeface="Calibri"/>
                        </a:rPr>
                        <a:t>RAM</a:t>
                      </a:r>
                    </a:p>
                  </a:txBody>
                  <a:tcPr marL="73152" marR="73152" marT="36576" marB="36576" anchor="ctr">
                    <a:solidFill>
                      <a:srgbClr val="0D9488"/>
                    </a:solidFill>
                  </a:tcPr>
                </a:tc>
                <a:tc>
                  <a:txBody>
                    <a:bodyPr wrap="square"/>
                    <a:lstStyle/>
                    <a:p>
                      <a:r>
                        <a:rPr sz="1600" b="1" i="0">
                          <a:solidFill>
                            <a:srgbClr val="FFFFFF"/>
                          </a:solidFill>
                          <a:latin typeface="Calibri"/>
                        </a:rPr>
                        <a:t>Resolución</a:t>
                      </a:r>
                    </a:p>
                  </a:txBody>
                  <a:tcPr marL="73152" marR="73152" marT="36576" marB="36576" anchor="ctr">
                    <a:solidFill>
                      <a:srgbClr val="0D9488"/>
                    </a:solidFill>
                  </a:tcPr>
                </a:tc>
                <a:tc>
                  <a:txBody>
                    <a:bodyPr wrap="square"/>
                    <a:lstStyle/>
                    <a:p>
                      <a:r>
                        <a:rPr sz="1600" b="1" i="0">
                          <a:solidFill>
                            <a:srgbClr val="FFFFFF"/>
                          </a:solidFill>
                          <a:latin typeface="Calibri"/>
                        </a:rPr>
                        <a:t>fps</a:t>
                      </a:r>
                    </a:p>
                  </a:txBody>
                  <a:tcPr marL="73152" marR="73152" marT="36576" marB="36576" anchor="ctr">
                    <a:solidFill>
                      <a:srgbClr val="0D9488"/>
                    </a:solidFill>
                  </a:tcPr>
                </a:tc>
                <a:tc>
                  <a:txBody>
                    <a:bodyPr wrap="square"/>
                    <a:lstStyle/>
                    <a:p>
                      <a:r>
                        <a:rPr sz="1600" b="1" i="0">
                          <a:solidFill>
                            <a:srgbClr val="FFFFFF"/>
                          </a:solidFill>
                          <a:latin typeface="Calibri"/>
                        </a:rPr>
                        <a:t>¿Spawn visible en vertical?</a:t>
                      </a:r>
                    </a:p>
                  </a:txBody>
                  <a:tcPr marL="73152" marR="73152" marT="36576" marB="36576" anchor="ctr">
                    <a:solidFill>
                      <a:srgbClr val="0D9488"/>
                    </a:solidFill>
                  </a:tcPr>
                </a:tc>
              </a:tr>
              <a:tr h="566928">
                <a:tc>
                  <a:txBody>
                    <a:bodyPr wrap="square"/>
                    <a:lstStyle/>
                    <a:p>
                      <a:r>
                        <a:rPr sz="1600" b="0" i="0">
                          <a:solidFill>
                            <a:srgbClr val="1F2937"/>
                          </a:solidFill>
                          <a:latin typeface="Calibri"/>
                        </a:rPr>
                        <a:t>1</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2</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3</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EN MÓVIL</a:t>
            </a:r>
          </a:p>
          <a:p>
            <a:r>
              <a:rPr sz="2600" b="1" i="0">
                <a:solidFill>
                  <a:srgbClr val="FFFFFF"/>
                </a:solidFill>
                <a:latin typeface="Calibri"/>
              </a:rPr>
              <a:t>¿Qué prueba cada herramienta?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Device Simulator, Run tests in a Player, Profiling on target; Firebase Game Loop; AWS Device Farm; Android vitals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3519145"/>
                <a:gridCol w="3770512"/>
                <a:gridCol w="3896196"/>
              </a:tblGrid>
              <a:tr h="566928">
                <a:tc>
                  <a:txBody>
                    <a:bodyPr wrap="square"/>
                    <a:lstStyle/>
                    <a:p>
                      <a:r>
                        <a:rPr sz="1200" b="1" i="0">
                          <a:solidFill>
                            <a:srgbClr val="FFFFFF"/>
                          </a:solidFill>
                          <a:latin typeface="Calibri"/>
                        </a:rPr>
                        <a:t>Nivel</a:t>
                      </a:r>
                    </a:p>
                  </a:txBody>
                  <a:tcPr marL="73152" marR="73152" marT="36576" marB="36576" anchor="ctr">
                    <a:solidFill>
                      <a:srgbClr val="0D9488"/>
                    </a:solidFill>
                  </a:tcPr>
                </a:tc>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No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1. Device Simulator</a:t>
                      </a:r>
                    </a:p>
                  </a:txBody>
                  <a:tcPr marL="73152" marR="73152" marT="36576" marB="36576" anchor="ctr">
                    <a:solidFill>
                      <a:srgbClr val="FFFFFF"/>
                    </a:solidFill>
                  </a:tcPr>
                </a:tc>
                <a:tc>
                  <a:txBody>
                    <a:bodyPr wrap="square"/>
                    <a:lstStyle/>
                    <a:p>
                      <a:r>
                        <a:rPr sz="1200" b="0" i="0">
                          <a:solidFill>
                            <a:srgbClr val="1F2937"/>
                          </a:solidFill>
                          <a:latin typeface="Calibri"/>
                        </a:rPr>
                        <a:t>Layout, safe area</a:t>
                      </a:r>
                    </a:p>
                  </a:txBody>
                  <a:tcPr marL="73152" marR="73152" marT="36576" marB="36576" anchor="ctr">
                    <a:solidFill>
                      <a:srgbClr val="FFFFFF"/>
                    </a:solidFill>
                  </a:tcPr>
                </a:tc>
                <a:tc>
                  <a:txBody>
                    <a:bodyPr wrap="square"/>
                    <a:lstStyle/>
                    <a:p>
                      <a:r>
                        <a:rPr sz="1200" b="0" i="0">
                          <a:solidFill>
                            <a:srgbClr val="1F2937"/>
                          </a:solidFill>
                          <a:latin typeface="Calibri"/>
                        </a:rPr>
                        <a:t>Rendimiento, memoria</a:t>
                      </a:r>
                    </a:p>
                  </a:txBody>
                  <a:tcPr marL="73152" marR="73152" marT="36576" marB="36576" anchor="ctr">
                    <a:solidFill>
                      <a:srgbClr val="FFFFFF"/>
                    </a:solidFill>
                  </a:tcPr>
                </a:tc>
              </a:tr>
              <a:tr h="566928">
                <a:tc>
                  <a:txBody>
                    <a:bodyPr wrap="square"/>
                    <a:lstStyle/>
                    <a:p>
                      <a:r>
                        <a:rPr sz="1200" b="0" i="0">
                          <a:solidFill>
                            <a:srgbClr val="1F2937"/>
                          </a:solidFill>
                          <a:latin typeface="Calibri"/>
                        </a:rPr>
                        <a:t>2. Emulador</a:t>
                      </a:r>
                    </a:p>
                  </a:txBody>
                  <a:tcPr marL="73152" marR="73152" marT="36576" marB="36576" anchor="ctr">
                    <a:solidFill>
                      <a:srgbClr val="E6F4F2"/>
                    </a:solidFill>
                  </a:tcPr>
                </a:tc>
                <a:tc>
                  <a:txBody>
                    <a:bodyPr wrap="square"/>
                    <a:lstStyle/>
                    <a:p>
                      <a:r>
                        <a:rPr sz="1200" b="0" i="0">
                          <a:solidFill>
                            <a:srgbClr val="1F2937"/>
                          </a:solidFill>
                          <a:latin typeface="Calibri"/>
                        </a:rPr>
                        <a:t>Lógica y flujos</a:t>
                      </a:r>
                    </a:p>
                  </a:txBody>
                  <a:tcPr marL="73152" marR="73152" marT="36576" marB="36576" anchor="ctr">
                    <a:solidFill>
                      <a:srgbClr val="E6F4F2"/>
                    </a:solidFill>
                  </a:tcPr>
                </a:tc>
                <a:tc>
                  <a:txBody>
                    <a:bodyPr wrap="square"/>
                    <a:lstStyle/>
                    <a:p>
                      <a:r>
                        <a:rPr sz="1200" b="0" i="0">
                          <a:solidFill>
                            <a:srgbClr val="1F2937"/>
                          </a:solidFill>
                          <a:latin typeface="Calibri"/>
                        </a:rPr>
                        <a:t>Rendimiento real, térmica</a:t>
                      </a:r>
                    </a:p>
                  </a:txBody>
                  <a:tcPr marL="73152" marR="73152" marT="36576" marB="36576" anchor="ctr">
                    <a:solidFill>
                      <a:srgbClr val="E6F4F2"/>
                    </a:solidFill>
                  </a:tcPr>
                </a:tc>
              </a:tr>
              <a:tr h="566928">
                <a:tc>
                  <a:txBody>
                    <a:bodyPr wrap="square"/>
                    <a:lstStyle/>
                    <a:p>
                      <a:r>
                        <a:rPr sz="1200" b="0" i="0">
                          <a:solidFill>
                            <a:srgbClr val="1F2937"/>
                          </a:solidFill>
                          <a:latin typeface="Calibri"/>
                        </a:rPr>
                        <a:t>3. Teléfono + Profiler</a:t>
                      </a:r>
                    </a:p>
                  </a:txBody>
                  <a:tcPr marL="73152" marR="73152" marT="36576" marB="36576" anchor="ctr">
                    <a:solidFill>
                      <a:srgbClr val="FFFFFF"/>
                    </a:solidFill>
                  </a:tcPr>
                </a:tc>
                <a:tc>
                  <a:txBody>
                    <a:bodyPr wrap="square"/>
                    <a:lstStyle/>
                    <a:p>
                      <a:r>
                        <a:rPr sz="1200" b="0" i="0">
                          <a:solidFill>
                            <a:srgbClr val="1F2937"/>
                          </a:solidFill>
                          <a:latin typeface="Calibri"/>
                        </a:rPr>
                        <a:t>Rendimiento real</a:t>
                      </a:r>
                    </a:p>
                  </a:txBody>
                  <a:tcPr marL="73152" marR="73152" marT="36576" marB="36576" anchor="ctr">
                    <a:solidFill>
                      <a:srgbClr val="FFFFFF"/>
                    </a:solidFill>
                  </a:tcPr>
                </a:tc>
                <a:tc>
                  <a:txBody>
                    <a:bodyPr wrap="square"/>
                    <a:lstStyle/>
                    <a:p>
                      <a:r>
                        <a:rPr sz="1200" b="0" i="0">
                          <a:solidFill>
                            <a:srgbClr val="1F2937"/>
                          </a:solidFill>
                          <a:latin typeface="Calibri"/>
                        </a:rPr>
                        <a:t>Otros modelos</a:t>
                      </a:r>
                    </a:p>
                  </a:txBody>
                  <a:tcPr marL="73152" marR="73152" marT="36576" marB="36576" anchor="ctr">
                    <a:solidFill>
                      <a:srgbClr val="FFFFFF"/>
                    </a:solidFill>
                  </a:tcPr>
                </a:tc>
              </a:tr>
              <a:tr h="566928">
                <a:tc>
                  <a:txBody>
                    <a:bodyPr wrap="square"/>
                    <a:lstStyle/>
                    <a:p>
                      <a:r>
                        <a:rPr sz="1200" b="0" i="0">
                          <a:solidFill>
                            <a:srgbClr val="1F2937"/>
                          </a:solidFill>
                          <a:latin typeface="Calibri"/>
                        </a:rPr>
                        <a:t>4. Tests en el Player</a:t>
                      </a:r>
                    </a:p>
                  </a:txBody>
                  <a:tcPr marL="73152" marR="73152" marT="36576" marB="36576" anchor="ctr">
                    <a:solidFill>
                      <a:srgbClr val="E6F4F2"/>
                    </a:solidFill>
                  </a:tcPr>
                </a:tc>
                <a:tc>
                  <a:txBody>
                    <a:bodyPr wrap="square"/>
                    <a:lstStyle/>
                    <a:p>
                      <a:r>
                        <a:rPr sz="1200" b="0" i="0">
                          <a:solidFill>
                            <a:srgbClr val="1F2937"/>
                          </a:solidFill>
                          <a:latin typeface="Calibri"/>
                        </a:rPr>
                        <a:t>Tests en el dispositivo</a:t>
                      </a:r>
                    </a:p>
                  </a:txBody>
                  <a:tcPr marL="73152" marR="73152" marT="36576" marB="36576" anchor="ctr">
                    <a:solidFill>
                      <a:srgbClr val="E6F4F2"/>
                    </a:solidFill>
                  </a:tcPr>
                </a:tc>
                <a:tc>
                  <a:txBody>
                    <a:bodyPr wrap="square"/>
                    <a:lstStyle/>
                    <a:p>
                      <a:r>
                        <a:rPr sz="1200" b="0" i="0">
                          <a:solidFill>
                            <a:srgbClr val="1F2937"/>
                          </a:solidFill>
                          <a:latin typeface="Calibri"/>
                        </a:rPr>
                        <a:t>Lo no escrito como test</a:t>
                      </a:r>
                    </a:p>
                  </a:txBody>
                  <a:tcPr marL="73152" marR="73152" marT="36576" marB="36576" anchor="ctr">
                    <a:solidFill>
                      <a:srgbClr val="E6F4F2"/>
                    </a:solidFill>
                  </a:tcPr>
                </a:tc>
              </a:tr>
              <a:tr h="566928">
                <a:tc>
                  <a:txBody>
                    <a:bodyPr wrap="square"/>
                    <a:lstStyle/>
                    <a:p>
                      <a:r>
                        <a:rPr sz="1200" b="0" i="0">
                          <a:solidFill>
                            <a:srgbClr val="1F2937"/>
                          </a:solidFill>
                          <a:latin typeface="Calibri"/>
                        </a:rPr>
                        <a:t>5. Granjas en la nube</a:t>
                      </a:r>
                    </a:p>
                  </a:txBody>
                  <a:tcPr marL="73152" marR="73152" marT="36576" marB="36576" anchor="ctr">
                    <a:solidFill>
                      <a:srgbClr val="FFFFFF"/>
                    </a:solidFill>
                  </a:tcPr>
                </a:tc>
                <a:tc>
                  <a:txBody>
                    <a:bodyPr wrap="square"/>
                    <a:lstStyle/>
                    <a:p>
                      <a:r>
                        <a:rPr sz="1200" b="0" i="0">
                          <a:solidFill>
                            <a:srgbClr val="1F2937"/>
                          </a:solidFill>
                          <a:latin typeface="Calibri"/>
                        </a:rPr>
                        <a:t>Muchos modelos</a:t>
                      </a:r>
                    </a:p>
                  </a:txBody>
                  <a:tcPr marL="73152" marR="73152" marT="36576" marB="36576" anchor="ctr">
                    <a:solidFill>
                      <a:srgbClr val="FFFFFF"/>
                    </a:solidFill>
                  </a:tcPr>
                </a:tc>
                <a:tc>
                  <a:txBody>
                    <a:bodyPr wrap="square"/>
                    <a:lstStyle/>
                    <a:p>
                      <a:r>
                        <a:rPr sz="1200" b="0" i="0">
                          <a:solidFill>
                            <a:srgbClr val="1F2937"/>
                          </a:solidFill>
                          <a:latin typeface="Calibri"/>
                        </a:rPr>
                        <a:t>Ergonomía</a:t>
                      </a:r>
                    </a:p>
                  </a:txBody>
                  <a:tcPr marL="73152" marR="73152" marT="36576" marB="36576" anchor="ctr">
                    <a:solidFill>
                      <a:srgbClr val="FFFFFF"/>
                    </a:solidFill>
                  </a:tcPr>
                </a:tc>
              </a:tr>
              <a:tr h="566928">
                <a:tc>
                  <a:txBody>
                    <a:bodyPr wrap="square"/>
                    <a:lstStyle/>
                    <a:p>
                      <a:r>
                        <a:rPr sz="1200" b="0" i="0">
                          <a:solidFill>
                            <a:srgbClr val="1F2937"/>
                          </a:solidFill>
                          <a:latin typeface="Calibri"/>
                        </a:rPr>
                        <a:t>6. Android vitals</a:t>
                      </a:r>
                    </a:p>
                  </a:txBody>
                  <a:tcPr marL="73152" marR="73152" marT="36576" marB="36576" anchor="ctr">
                    <a:solidFill>
                      <a:srgbClr val="E6F4F2"/>
                    </a:solidFill>
                  </a:tcPr>
                </a:tc>
                <a:tc>
                  <a:txBody>
                    <a:bodyPr wrap="square"/>
                    <a:lstStyle/>
                    <a:p>
                      <a:r>
                        <a:rPr sz="1200" b="0" i="0">
                          <a:solidFill>
                            <a:srgbClr val="1F2937"/>
                          </a:solidFill>
                          <a:latin typeface="Calibri"/>
                        </a:rPr>
                        <a:t>Fallas reales publicadas</a:t>
                      </a:r>
                    </a:p>
                  </a:txBody>
                  <a:tcPr marL="73152" marR="73152" marT="36576" marB="36576" anchor="ctr">
                    <a:solidFill>
                      <a:srgbClr val="E6F4F2"/>
                    </a:solidFill>
                  </a:tcPr>
                </a:tc>
                <a:tc>
                  <a:txBody>
                    <a:bodyPr wrap="square"/>
                    <a:lstStyle/>
                    <a:p>
                      <a:r>
                        <a:rPr sz="1200" b="0" i="0">
                          <a:solidFill>
                            <a:srgbClr val="1F2937"/>
                          </a:solidFill>
                          <a:latin typeface="Calibri"/>
                        </a:rPr>
                        <a:t>Nada antes de publicar</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LÍMITES</a:t>
            </a:r>
          </a:p>
          <a:p>
            <a:r>
              <a:rPr sz="2600" b="1" i="0">
                <a:solidFill>
                  <a:srgbClr val="FFFFFF"/>
                </a:solidFill>
                <a:latin typeface="Calibri"/>
              </a:rPr>
              <a:t>Lo que el test automático no vio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protege el test y qué solo el QA manual?</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¿Coinciden tests y QA manual?</a:t>
            </a:r>
          </a:p>
          <a:p>
            <a:pPr>
              <a:spcAft>
                <a:spcPts val="800"/>
              </a:spcAft>
            </a:pPr>
            <a:r>
              <a:rPr sz="1600" b="1" i="0">
                <a:solidFill>
                  <a:srgbClr val="0D9488"/>
                </a:solidFill>
                <a:latin typeface="Calibri"/>
              </a:rPr>
              <a:t>■  </a:t>
            </a:r>
            <a:r>
              <a:rPr sz="2200" b="0" i="0">
                <a:solidFill>
                  <a:srgbClr val="1F2937"/>
                </a:solidFill>
                <a:latin typeface="Calibri"/>
              </a:rPr>
              <a:t>¿Qué apareció solo en el teléfono?</a:t>
            </a:r>
          </a:p>
          <a:p>
            <a:pPr>
              <a:spcAft>
                <a:spcPts val="800"/>
              </a:spcAft>
            </a:pPr>
            <a:r>
              <a:rPr sz="1600" b="1" i="0">
                <a:solidFill>
                  <a:srgbClr val="0D9488"/>
                </a:solidFill>
                <a:latin typeface="Calibri"/>
              </a:rPr>
              <a:t>■  </a:t>
            </a:r>
            <a:r>
              <a:rPr sz="2200" b="0" i="0">
                <a:solidFill>
                  <a:srgbClr val="1F2937"/>
                </a:solidFill>
                <a:latin typeface="Calibri"/>
              </a:rPr>
              <a:t>¿Qué no se puede automatizar?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 ARQUITECTURA</a:t>
            </a:r>
          </a:p>
          <a:p>
            <a:r>
              <a:rPr sz="2600" b="1" i="0">
                <a:solidFill>
                  <a:srgbClr val="FFFFFF"/>
                </a:solidFill>
                <a:latin typeface="Calibri"/>
              </a:rPr>
              <a:t>Mismo patrón, dos adaptadores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ShipIntentTests.cs); resultados del Test Runner en batchmode (2026-10-10)</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ENTRADA (YA PORTADA)</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ShipInputAdapter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Ship.SetIntent</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3 tests de intención en verde</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PAUSA (A4.4)</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Adaptador OnApplicationPause</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Regla de pausa</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Su test de Edit Mode</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Entrada: dispositivo → intención → nave</a:t>
            </a:r>
          </a:p>
          <a:p>
            <a:pPr>
              <a:spcAft>
                <a:spcPts val="800"/>
              </a:spcAft>
            </a:pPr>
            <a:r>
              <a:rPr sz="1600" b="1" i="0">
                <a:solidFill>
                  <a:srgbClr val="0D9488"/>
                </a:solidFill>
                <a:latin typeface="Calibri"/>
              </a:rPr>
              <a:t>■  </a:t>
            </a:r>
            <a:r>
              <a:rPr sz="2200" b="0" i="0">
                <a:solidFill>
                  <a:srgbClr val="1F2937"/>
                </a:solidFill>
                <a:latin typeface="Calibri"/>
              </a:rPr>
              <a:t>Pausa: SO → adaptador → regla</a:t>
            </a:r>
          </a:p>
          <a:p>
            <a:pPr>
              <a:spcAft>
                <a:spcPts val="800"/>
              </a:spcAft>
            </a:pPr>
            <a:r>
              <a:rPr sz="1600" b="1" i="0">
                <a:solidFill>
                  <a:srgbClr val="0D9488"/>
                </a:solidFill>
                <a:latin typeface="Calibri"/>
              </a:rPr>
              <a:t>■  </a:t>
            </a:r>
            <a:r>
              <a:rPr sz="2200" b="0" i="0">
                <a:solidFill>
                  <a:srgbClr val="1F2937"/>
                </a:solidFill>
                <a:latin typeface="Calibri"/>
              </a:rPr>
              <a:t>Se prueba la regla, no el dispositivo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TEST DE EDIT MODE</a:t>
            </a:r>
          </a:p>
          <a:p>
            <a:r>
              <a:rPr sz="2600" b="1" i="0">
                <a:solidFill>
                  <a:srgbClr val="FFFFFF"/>
                </a:solidFill>
                <a:latin typeface="Calibri"/>
              </a:rPr>
              <a:t>La configuración también se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PlayerSettings.GetScriptingBackend; PlayerSettings.Android.targetArchitectures; Android Player settings</a:t>
            </a:r>
          </a:p>
        </p:txBody>
      </p:sp>
      <p:sp>
        <p:nvSpPr>
          <p:cNvPr id="9" name="Rounded Rectangle 8"/>
          <p:cNvSpPr/>
          <p:nvPr/>
        </p:nvSpPr>
        <p:spPr>
          <a:xfrm>
            <a:off x="502920" y="4709160"/>
            <a:ext cx="11185855" cy="1280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4800600"/>
            <a:ext cx="10856671" cy="109728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13–17  </a:t>
            </a:r>
            <a:r>
              <a:rPr sz="1300" b="0" i="0">
                <a:solidFill>
                  <a:srgbClr val="1F2937"/>
                </a:solidFill>
                <a:latin typeface="Calibri"/>
              </a:rPr>
              <a:t>revisa que el juego se compile con IL2CPP</a:t>
            </a:r>
          </a:p>
          <a:p>
            <a:pPr>
              <a:spcBef>
                <a:spcPts val="300"/>
              </a:spcBef>
            </a:pPr>
            <a:r>
              <a:rPr sz="1300" b="1" i="0">
                <a:solidFill>
                  <a:srgbClr val="0D9488"/>
                </a:solidFill>
                <a:latin typeface="Calibri"/>
              </a:rPr>
              <a:t>Línea 21–25  </a:t>
            </a:r>
            <a:r>
              <a:rPr sz="1300" b="0" i="0">
                <a:solidFill>
                  <a:srgbClr val="1F2937"/>
                </a:solidFill>
                <a:latin typeface="Calibri"/>
              </a:rPr>
              <a:t>revisa que la build incluya teléfonos de 64 bits</a:t>
            </a:r>
          </a:p>
          <a:p>
            <a:pPr>
              <a:spcBef>
                <a:spcPts val="300"/>
              </a:spcBef>
            </a:pPr>
            <a:r>
              <a:rPr sz="1300" b="0" i="0">
                <a:solidFill>
                  <a:srgbClr val="1F2937"/>
                </a:solidFill>
                <a:latin typeface="Calibri"/>
              </a:rPr>
              <a:t>Si alguien cambia esa configuración, el test se pone en rojo y avisa</a:t>
            </a:r>
          </a:p>
        </p:txBody>
      </p:sp>
      <p:sp>
        <p:nvSpPr>
          <p:cNvPr id="11" name="TextBox 10"/>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AndroidBuildConfigTests.cs  ·  líneas 13–25  ·  extracto</a:t>
            </a:r>
          </a:p>
        </p:txBody>
      </p:sp>
      <p:sp>
        <p:nvSpPr>
          <p:cNvPr id="12" name="Rounded Rectangle 11"/>
          <p:cNvSpPr/>
          <p:nvPr/>
        </p:nvSpPr>
        <p:spPr>
          <a:xfrm>
            <a:off x="502920" y="1600200"/>
            <a:ext cx="11185855" cy="29992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13  </a:t>
            </a:r>
            <a:r>
              <a:rPr sz="1500" b="0" i="0">
                <a:solidFill>
                  <a:srgbClr val="E2E8F0"/>
                </a:solidFill>
                <a:latin typeface="Consolas"/>
              </a:rPr>
              <a:t>public void ScriptingBackend_EsIL2CPP()</a:t>
            </a:r>
          </a:p>
          <a:p>
            <a:pPr algn="l"/>
            <a:r>
              <a:rPr sz="1500" b="0" i="0">
                <a:solidFill>
                  <a:srgbClr val="64748B"/>
                </a:solidFill>
                <a:latin typeface="Consolas"/>
              </a:rPr>
              <a:t> 14  </a:t>
            </a:r>
            <a:r>
              <a:rPr sz="1500" b="0" i="0">
                <a:solidFill>
                  <a:srgbClr val="E2E8F0"/>
                </a:solidFill>
                <a:latin typeface="Consolas"/>
              </a:rPr>
              <a:t>{</a:t>
            </a:r>
          </a:p>
          <a:p>
            <a:pPr algn="l"/>
            <a:r>
              <a:rPr sz="1500" b="0" i="0">
                <a:solidFill>
                  <a:srgbClr val="64748B"/>
                </a:solidFill>
                <a:latin typeface="Consolas"/>
              </a:rPr>
              <a:t> 15  </a:t>
            </a:r>
            <a:r>
              <a:rPr sz="1500" b="0" i="0">
                <a:solidFill>
                  <a:srgbClr val="E2E8F0"/>
                </a:solidFill>
                <a:latin typeface="Consolas"/>
              </a:rPr>
              <a:t>    // ARM64 solo se habilita con IL2CPP</a:t>
            </a:r>
          </a:p>
          <a:p>
            <a:pPr algn="l"/>
            <a:r>
              <a:rPr sz="1500" b="0" i="0">
                <a:solidFill>
                  <a:srgbClr val="64748B"/>
                </a:solidFill>
                <a:latin typeface="Consolas"/>
              </a:rPr>
              <a:t> 16  </a:t>
            </a:r>
            <a:r>
              <a:rPr sz="1500" b="0" i="0">
                <a:solidFill>
                  <a:srgbClr val="E2E8F0"/>
                </a:solidFill>
                <a:latin typeface="Consolas"/>
              </a:rPr>
              <a:t>    var backend = PlayerSettings.GetScriptingBackend(Android);</a:t>
            </a:r>
          </a:p>
          <a:p>
            <a:pPr algn="l"/>
            <a:r>
              <a:rPr sz="1500" b="0" i="0">
                <a:solidFill>
                  <a:srgbClr val="64748B"/>
                </a:solidFill>
                <a:latin typeface="Consolas"/>
              </a:rPr>
              <a:t> 17  </a:t>
            </a:r>
            <a:r>
              <a:rPr sz="1500" b="0" i="0">
                <a:solidFill>
                  <a:srgbClr val="E2E8F0"/>
                </a:solidFill>
                <a:latin typeface="Consolas"/>
              </a:rPr>
              <a:t>    Assert.AreEqual(ScriptingImplementation.IL2CPP, backend);</a:t>
            </a:r>
          </a:p>
          <a:p>
            <a:pPr algn="l"/>
            <a:r>
              <a:rPr sz="1500" b="0" i="0">
                <a:solidFill>
                  <a:srgbClr val="64748B"/>
                </a:solidFill>
                <a:latin typeface="Consolas"/>
              </a:rPr>
              <a:t>     </a:t>
            </a:r>
            <a:r>
              <a:rPr sz="1500" b="0" i="0">
                <a:solidFill>
                  <a:srgbClr val="64748B"/>
                </a:solidFill>
                <a:latin typeface="Consolas"/>
              </a:rPr>
              <a:t>⋯</a:t>
            </a:r>
          </a:p>
          <a:p>
            <a:pPr algn="l"/>
            <a:r>
              <a:rPr sz="1500" b="0" i="0">
                <a:solidFill>
                  <a:srgbClr val="64748B"/>
                </a:solidFill>
                <a:latin typeface="Consolas"/>
              </a:rPr>
              <a:t> 21  </a:t>
            </a:r>
            <a:r>
              <a:rPr sz="1500" b="0" i="0">
                <a:solidFill>
                  <a:srgbClr val="E2E8F0"/>
                </a:solidFill>
                <a:latin typeface="Consolas"/>
              </a:rPr>
              <a:t>public void Arquitecturas_IncluyenARM64()</a:t>
            </a:r>
          </a:p>
          <a:p>
            <a:pPr algn="l"/>
            <a:r>
              <a:rPr sz="1500" b="0" i="0">
                <a:solidFill>
                  <a:srgbClr val="64748B"/>
                </a:solidFill>
                <a:latin typeface="Consolas"/>
              </a:rPr>
              <a:t> 22  </a:t>
            </a:r>
            <a:r>
              <a:rPr sz="1500" b="0" i="0">
                <a:solidFill>
                  <a:srgbClr val="E2E8F0"/>
                </a:solidFill>
                <a:latin typeface="Consolas"/>
              </a:rPr>
              <a:t>{</a:t>
            </a:r>
          </a:p>
          <a:p>
            <a:pPr algn="l"/>
            <a:r>
              <a:rPr sz="1500" b="0" i="0">
                <a:solidFill>
                  <a:srgbClr val="64748B"/>
                </a:solidFill>
                <a:latin typeface="Consolas"/>
              </a:rPr>
              <a:t> 23  </a:t>
            </a:r>
            <a:r>
              <a:rPr sz="1500" b="0" i="0">
                <a:solidFill>
                  <a:srgbClr val="E2E8F0"/>
                </a:solidFill>
                <a:latin typeface="Consolas"/>
              </a:rPr>
              <a:t>    // Hay teléfonos que solo aceptan apps de 64 bits</a:t>
            </a:r>
          </a:p>
          <a:p>
            <a:pPr algn="l"/>
            <a:r>
              <a:rPr sz="1500" b="0" i="0">
                <a:solidFill>
                  <a:srgbClr val="64748B"/>
                </a:solidFill>
                <a:latin typeface="Consolas"/>
              </a:rPr>
              <a:t> 24  </a:t>
            </a:r>
            <a:r>
              <a:rPr sz="1500" b="0" i="0">
                <a:solidFill>
                  <a:srgbClr val="E2E8F0"/>
                </a:solidFill>
                <a:latin typeface="Consolas"/>
              </a:rPr>
              <a:t>    var arqs = PlayerSettings.Android.targetArchitectures;</a:t>
            </a:r>
          </a:p>
          <a:p>
            <a:pPr algn="l"/>
            <a:r>
              <a:rPr sz="1500" b="0" i="0">
                <a:solidFill>
                  <a:srgbClr val="64748B"/>
                </a:solidFill>
                <a:latin typeface="Consolas"/>
              </a:rPr>
              <a:t> 25  </a:t>
            </a:r>
            <a:r>
              <a:rPr sz="1500" b="0" i="0">
                <a:solidFill>
                  <a:srgbClr val="E2E8F0"/>
                </a:solidFill>
                <a:latin typeface="Consolas"/>
              </a:rPr>
              <a:t>    Assert.IsTrue((arqs &amp; AndroidArchitecture.ARM64) != 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 EN UNITY</a:t>
            </a:r>
          </a:p>
          <a:p>
            <a:r>
              <a:rPr sz="2600" b="1" i="0">
                <a:solidFill>
                  <a:srgbClr val="FFFFFF"/>
                </a:solidFill>
                <a:latin typeface="Calibri"/>
              </a:rPr>
              <a:t>Actividad A4.8: el test que cuida la build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la captura del Test Runner en rojo y en verde.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Crear el test de Edit Mode</a:t>
            </a:r>
          </a:p>
          <a:p>
            <a:pPr>
              <a:spcAft>
                <a:spcPts val="800"/>
              </a:spcAft>
            </a:pPr>
            <a:r>
              <a:rPr sz="1600" b="1" i="0">
                <a:solidFill>
                  <a:srgbClr val="0D9488"/>
                </a:solidFill>
                <a:latin typeface="Calibri"/>
              </a:rPr>
              <a:t>■  </a:t>
            </a:r>
            <a:r>
              <a:rPr sz="2200" b="0" i="0">
                <a:solidFill>
                  <a:srgbClr val="1F2937"/>
                </a:solidFill>
                <a:latin typeface="Calibri"/>
              </a:rPr>
              <a:t>Verlo en rojo a propósito</a:t>
            </a:r>
          </a:p>
          <a:p>
            <a:pPr>
              <a:spcAft>
                <a:spcPts val="800"/>
              </a:spcAft>
            </a:pPr>
            <a:r>
              <a:rPr sz="1600" b="1" i="0">
                <a:solidFill>
                  <a:srgbClr val="0D9488"/>
                </a:solidFill>
                <a:latin typeface="Calibri"/>
              </a:rPr>
              <a:t>■  </a:t>
            </a:r>
            <a:r>
              <a:rPr sz="2200" b="0" i="0">
                <a:solidFill>
                  <a:srgbClr val="1F2937"/>
                </a:solidFill>
                <a:latin typeface="Calibri"/>
              </a:rPr>
              <a:t>Arreglar la configuración</a:t>
            </a:r>
          </a:p>
          <a:p>
            <a:pPr>
              <a:spcAft>
                <a:spcPts val="800"/>
              </a:spcAft>
            </a:pPr>
            <a:r>
              <a:rPr sz="1600" b="1" i="0">
                <a:solidFill>
                  <a:srgbClr val="0D9488"/>
                </a:solidFill>
                <a:latin typeface="Calibri"/>
              </a:rPr>
              <a:t>■  </a:t>
            </a:r>
            <a:r>
              <a:rPr sz="2200" b="0" i="0">
                <a:solidFill>
                  <a:srgbClr val="1F2937"/>
                </a:solidFill>
                <a:latin typeface="Calibri"/>
              </a:rPr>
              <a:t>¿Qué NO demuestra?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APERTURA</a:t>
            </a:r>
          </a:p>
          <a:p>
            <a:r>
              <a:rPr sz="2600" b="1" i="0">
                <a:solidFill>
                  <a:srgbClr val="FFFFFF"/>
                </a:solidFill>
                <a:latin typeface="Calibri"/>
              </a:rPr>
              <a:t>USD 520 millones por una pantalla de compra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FTC, comunicado de prensa del 19/12/2022; ACM (Países Bajos), 14/01/2026</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1" i="0" u="sng">
                <a:solidFill>
                  <a:srgbClr val="DC2626"/>
                </a:solidFill>
                <a:latin typeface="Calibri"/>
                <a:hlinkClick r:id="rId2"/>
              </a:rPr>
              <a:t>La Tercera</a:t>
            </a:r>
            <a:r>
              <a:rPr sz="1400" b="0" i="0">
                <a:solidFill>
                  <a:srgbClr val="1F2937"/>
                </a:solidFill>
                <a:latin typeface="Calibri"/>
              </a:rPr>
              <a:t> · </a:t>
            </a:r>
            <a:r>
              <a:rPr sz="1400" b="1" i="0" u="sng">
                <a:solidFill>
                  <a:srgbClr val="DC2626"/>
                </a:solidFill>
                <a:latin typeface="Calibri"/>
                <a:hlinkClick r:id="rId3"/>
              </a:rPr>
              <a:t>El Deber</a:t>
            </a:r>
            <a:r>
              <a:rPr sz="1400" b="0" i="0">
                <a:solidFill>
                  <a:srgbClr val="1F2937"/>
                </a:solidFill>
                <a:latin typeface="Calibri"/>
              </a:rPr>
              <a:t> · </a:t>
            </a:r>
            <a:r>
              <a:rPr sz="1400" b="1" i="0" u="sng">
                <a:solidFill>
                  <a:srgbClr val="DC2626"/>
                </a:solidFill>
                <a:latin typeface="Calibri"/>
                <a:hlinkClick r:id="rId4"/>
              </a:rPr>
              <a:t>El Sol de México</a:t>
            </a:r>
            <a:r>
              <a:rPr sz="1400" b="0" i="0">
                <a:solidFill>
                  <a:srgbClr val="1F2937"/>
                </a:solidFill>
                <a:latin typeface="Calibri"/>
              </a:rPr>
              <a:t> · </a:t>
            </a:r>
            <a:r>
              <a:rPr sz="1400" b="1" i="0" u="sng">
                <a:solidFill>
                  <a:srgbClr val="DC2626"/>
                </a:solidFill>
                <a:latin typeface="Calibri"/>
                <a:hlinkClick r:id="rId5"/>
              </a:rPr>
              <a:t>DW Español (12 min)</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¿Monetizar es negocio o diseño?</a:t>
            </a:r>
          </a:p>
        </p:txBody>
      </p:sp>
      <p:sp>
        <p:nvSpPr>
          <p:cNvPr id="13" name="TextBox 12"/>
          <p:cNvSpPr txBox="1"/>
          <p:nvPr/>
        </p:nvSpPr>
        <p:spPr>
          <a:xfrm>
            <a:off x="502920" y="1234440"/>
            <a:ext cx="1118585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FTC vs. Epic Games (2022)</a:t>
            </a:r>
          </a:p>
          <a:p>
            <a:pPr>
              <a:spcAft>
                <a:spcPts val="800"/>
              </a:spcAft>
            </a:pPr>
            <a:r>
              <a:rPr sz="1600" b="1" i="0">
                <a:solidFill>
                  <a:srgbClr val="0D9488"/>
                </a:solidFill>
                <a:latin typeface="Calibri"/>
              </a:rPr>
              <a:t>■  </a:t>
            </a:r>
            <a:r>
              <a:rPr sz="2200" b="0" i="0">
                <a:solidFill>
                  <a:srgbClr val="1F2937"/>
                </a:solidFill>
                <a:latin typeface="Calibri"/>
              </a:rPr>
              <a:t>USD 275 M + USD 245 M</a:t>
            </a:r>
          </a:p>
          <a:p>
            <a:pPr>
              <a:spcAft>
                <a:spcPts val="800"/>
              </a:spcAft>
            </a:pPr>
            <a:r>
              <a:rPr sz="1600" b="1" i="0">
                <a:solidFill>
                  <a:srgbClr val="0D9488"/>
                </a:solidFill>
                <a:latin typeface="Calibri"/>
              </a:rPr>
              <a:t>■  </a:t>
            </a:r>
            <a:r>
              <a:rPr sz="2200" b="0" i="0">
                <a:solidFill>
                  <a:srgbClr val="1F2937"/>
                </a:solidFill>
                <a:latin typeface="Calibri"/>
              </a:rPr>
              <a:t>Botones confusos al comprar</a:t>
            </a:r>
          </a:p>
          <a:p>
            <a:pPr>
              <a:spcAft>
                <a:spcPts val="800"/>
              </a:spcAft>
            </a:pPr>
            <a:r>
              <a:rPr sz="1600" b="1" i="0">
                <a:solidFill>
                  <a:srgbClr val="0D9488"/>
                </a:solidFill>
                <a:latin typeface="Calibri"/>
              </a:rPr>
              <a:t>■  </a:t>
            </a:r>
            <a:r>
              <a:rPr sz="2200" b="0" i="0">
                <a:solidFill>
                  <a:srgbClr val="1F2937"/>
                </a:solidFill>
                <a:latin typeface="Calibri"/>
              </a:rPr>
              <a:t>Países Bajos: € 1,125 M (2024)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a:t>
            </a:r>
          </a:p>
          <a:p>
            <a:r>
              <a:rPr sz="2600" b="1" i="0">
                <a:solidFill>
                  <a:srgbClr val="FFFFFF"/>
                </a:solidFill>
                <a:latin typeface="Calibri"/>
              </a:rPr>
              <a:t>Modelos y formatos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 Store — Alto's Adventure (ficha consultada 2026-10-04); Google AdMob — Rewarded ads; Interstitial ad guidance</a:t>
            </a:r>
          </a:p>
        </p:txBody>
      </p:sp>
      <p:graphicFrame>
        <p:nvGraphicFramePr>
          <p:cNvPr id="9" name="Table 8"/>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107181"/>
                <a:gridCol w="3573259"/>
                <a:gridCol w="4505413"/>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Quién paga</a:t>
                      </a:r>
                    </a:p>
                  </a:txBody>
                  <a:tcPr marL="73152" marR="73152" marT="36576" marB="36576" anchor="ctr">
                    <a:solidFill>
                      <a:srgbClr val="0D9488"/>
                    </a:solidFill>
                  </a:tcPr>
                </a:tc>
                <a:tc>
                  <a:txBody>
                    <a:bodyPr wrap="square"/>
                    <a:lstStyle/>
                    <a:p>
                      <a:r>
                        <a:rPr sz="1400" b="1" i="0">
                          <a:solidFill>
                            <a:srgbClr val="FFFFFF"/>
                          </a:solidFill>
                          <a:latin typeface="Calibri"/>
                        </a:rPr>
                        <a:t>Qué cambia en el diseño</a:t>
                      </a:r>
                    </a:p>
                  </a:txBody>
                  <a:tcPr marL="73152" marR="73152" marT="36576" marB="36576" anchor="ctr">
                    <a:solidFill>
                      <a:srgbClr val="0D9488"/>
                    </a:solidFill>
                  </a:tcPr>
                </a:tc>
              </a:tr>
              <a:tr h="566928">
                <a:tc>
                  <a:txBody>
                    <a:bodyPr wrap="square"/>
                    <a:lstStyle/>
                    <a:p>
                      <a:r>
                        <a:rPr sz="1400" b="0" i="0">
                          <a:solidFill>
                            <a:srgbClr val="1F2937"/>
                          </a:solidFill>
                          <a:latin typeface="Calibri"/>
                        </a:rPr>
                        <a:t>Premium</a:t>
                      </a:r>
                    </a:p>
                  </a:txBody>
                  <a:tcPr marL="73152" marR="73152" marT="36576" marB="36576" anchor="ctr">
                    <a:solidFill>
                      <a:srgbClr val="FFFFFF"/>
                    </a:solidFill>
                  </a:tcPr>
                </a:tc>
                <a:tc>
                  <a:txBody>
                    <a:bodyPr wrap="square"/>
                    <a:lstStyle/>
                    <a:p>
                      <a:r>
                        <a:rPr sz="1400" b="0" i="0">
                          <a:solidFill>
                            <a:srgbClr val="1F2937"/>
                          </a:solidFill>
                          <a:latin typeface="Calibri"/>
                        </a:rPr>
                        <a:t>Al comprar</a:t>
                      </a:r>
                    </a:p>
                  </a:txBody>
                  <a:tcPr marL="73152" marR="73152" marT="36576" marB="36576" anchor="ctr">
                    <a:solidFill>
                      <a:srgbClr val="FFFFFF"/>
                    </a:solidFill>
                  </a:tcPr>
                </a:tc>
                <a:tc>
                  <a:txBody>
                    <a:bodyPr wrap="square"/>
                    <a:lstStyle/>
                    <a:p>
                      <a:r>
                        <a:rPr sz="1400" b="0" i="0">
                          <a:solidFill>
                            <a:srgbClr val="1F2937"/>
                          </a:solidFill>
                          <a:latin typeface="Calibri"/>
                        </a:rPr>
                        <a:t>Sin interrupciones</a:t>
                      </a:r>
                    </a:p>
                  </a:txBody>
                  <a:tcPr marL="73152" marR="73152" marT="36576" marB="36576" anchor="ctr">
                    <a:solidFill>
                      <a:srgbClr val="FFFFFF"/>
                    </a:solidFill>
                  </a:tcPr>
                </a:tc>
              </a:tr>
              <a:tr h="566928">
                <a:tc>
                  <a:txBody>
                    <a:bodyPr wrap="square"/>
                    <a:lstStyle/>
                    <a:p>
                      <a:r>
                        <a:rPr sz="1400" b="0" i="0">
                          <a:solidFill>
                            <a:srgbClr val="1F2937"/>
                          </a:solidFill>
                          <a:latin typeface="Calibri"/>
                        </a:rPr>
                        <a:t>Freemium + IAP</a:t>
                      </a:r>
                    </a:p>
                  </a:txBody>
                  <a:tcPr marL="73152" marR="73152" marT="36576" marB="36576" anchor="ctr">
                    <a:solidFill>
                      <a:srgbClr val="E6F4F2"/>
                    </a:solidFill>
                  </a:tcPr>
                </a:tc>
                <a:tc>
                  <a:txBody>
                    <a:bodyPr wrap="square"/>
                    <a:lstStyle/>
                    <a:p>
                      <a:r>
                        <a:rPr sz="1400" b="0" i="0">
                          <a:solidFill>
                            <a:srgbClr val="1F2937"/>
                          </a:solidFill>
                          <a:latin typeface="Calibri"/>
                        </a:rPr>
                        <a:t>Algunos jugadores</a:t>
                      </a:r>
                    </a:p>
                  </a:txBody>
                  <a:tcPr marL="73152" marR="73152" marT="36576" marB="36576" anchor="ctr">
                    <a:solidFill>
                      <a:srgbClr val="E6F4F2"/>
                    </a:solidFill>
                  </a:tcPr>
                </a:tc>
                <a:tc>
                  <a:txBody>
                    <a:bodyPr wrap="square"/>
                    <a:lstStyle/>
                    <a:p>
                      <a:r>
                        <a:rPr sz="1400" b="0" i="0">
                          <a:solidFill>
                            <a:srgbClr val="1F2937"/>
                          </a:solidFill>
                          <a:latin typeface="Calibri"/>
                        </a:rPr>
                        <a:t>Tienda y progresión</a:t>
                      </a:r>
                    </a:p>
                  </a:txBody>
                  <a:tcPr marL="73152" marR="73152" marT="36576" marB="36576" anchor="ctr">
                    <a:solidFill>
                      <a:srgbClr val="E6F4F2"/>
                    </a:solidFill>
                  </a:tcPr>
                </a:tc>
              </a:tr>
              <a:tr h="566928">
                <a:tc>
                  <a:txBody>
                    <a:bodyPr wrap="square"/>
                    <a:lstStyle/>
                    <a:p>
                      <a:r>
                        <a:rPr sz="1400" b="0" i="0">
                          <a:solidFill>
                            <a:srgbClr val="1F2937"/>
                          </a:solidFill>
                          <a:latin typeface="Calibri"/>
                        </a:rPr>
                        <a:t>Anuncios</a:t>
                      </a:r>
                    </a:p>
                  </a:txBody>
                  <a:tcPr marL="73152" marR="73152" marT="36576" marB="36576" anchor="ctr">
                    <a:solidFill>
                      <a:srgbClr val="FFFFFF"/>
                    </a:solidFill>
                  </a:tcPr>
                </a:tc>
                <a:tc>
                  <a:txBody>
                    <a:bodyPr wrap="square"/>
                    <a:lstStyle/>
                    <a:p>
                      <a:r>
                        <a:rPr sz="1400" b="0" i="0">
                          <a:solidFill>
                            <a:srgbClr val="1F2937"/>
                          </a:solidFill>
                          <a:latin typeface="Calibri"/>
                        </a:rPr>
                        <a:t>El anunciante</a:t>
                      </a:r>
                    </a:p>
                  </a:txBody>
                  <a:tcPr marL="73152" marR="73152" marT="36576" marB="36576" anchor="ctr">
                    <a:solidFill>
                      <a:srgbClr val="FFFFFF"/>
                    </a:solidFill>
                  </a:tcPr>
                </a:tc>
                <a:tc>
                  <a:txBody>
                    <a:bodyPr wrap="square"/>
                    <a:lstStyle/>
                    <a:p>
                      <a:r>
                        <a:rPr sz="1400" b="0" i="0">
                          <a:solidFill>
                            <a:srgbClr val="1F2937"/>
                          </a:solidFill>
                          <a:latin typeface="Calibri"/>
                        </a:rPr>
                        <a:t>Cuándo interrumpir</a:t>
                      </a:r>
                    </a:p>
                  </a:txBody>
                  <a:tcPr marL="73152" marR="73152" marT="36576" marB="36576" anchor="ctr">
                    <a:solidFill>
                      <a:srgbClr val="FFFFFF"/>
                    </a:solidFill>
                  </a:tcPr>
                </a:tc>
              </a:tr>
              <a:tr h="566928">
                <a:tc>
                  <a:txBody>
                    <a:bodyPr wrap="square"/>
                    <a:lstStyle/>
                    <a:p>
                      <a:r>
                        <a:rPr sz="1400" b="0" i="0">
                          <a:solidFill>
                            <a:srgbClr val="1F2937"/>
                          </a:solidFill>
                          <a:latin typeface="Calibri"/>
                        </a:rPr>
                        <a:t>Híbrido</a:t>
                      </a:r>
                    </a:p>
                  </a:txBody>
                  <a:tcPr marL="73152" marR="73152" marT="36576" marB="36576" anchor="ctr">
                    <a:solidFill>
                      <a:srgbClr val="E6F4F2"/>
                    </a:solidFill>
                  </a:tcPr>
                </a:tc>
                <a:tc>
                  <a:txBody>
                    <a:bodyPr wrap="square"/>
                    <a:lstStyle/>
                    <a:p>
                      <a:r>
                        <a:rPr sz="1400" b="0" i="0">
                          <a:solidFill>
                            <a:srgbClr val="1F2937"/>
                          </a:solidFill>
                          <a:latin typeface="Calibri"/>
                        </a:rPr>
                        <a:t>Combinación</a:t>
                      </a:r>
                    </a:p>
                  </a:txBody>
                  <a:tcPr marL="73152" marR="73152" marT="36576" marB="36576" anchor="ctr">
                    <a:solidFill>
                      <a:srgbClr val="E6F4F2"/>
                    </a:solidFill>
                  </a:tcPr>
                </a:tc>
                <a:tc>
                  <a:txBody>
                    <a:bodyPr wrap="square"/>
                    <a:lstStyle/>
                    <a:p>
                      <a:r>
                        <a:rPr sz="1400" b="0" i="0">
                          <a:solidFill>
                            <a:srgbClr val="1F2937"/>
                          </a:solidFill>
                          <a:latin typeface="Calibri"/>
                        </a:rPr>
                        <a:t>Todo lo anterior</a:t>
                      </a:r>
                    </a:p>
                  </a:txBody>
                  <a:tcPr marL="73152" marR="73152" marT="36576" marB="36576" anchor="ctr">
                    <a:solidFill>
                      <a:srgbClr val="E6F4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REGLAS EXTERNAS</a:t>
            </a:r>
          </a:p>
          <a:p>
            <a:r>
              <a:rPr sz="2600" b="1" i="0">
                <a:solidFill>
                  <a:srgbClr val="FFFFFF"/>
                </a:solidFill>
                <a:latin typeface="Calibri"/>
              </a:rPr>
              <a:t>Las reglas las pone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AdMob — Disallowed interstitial implementations; Apple App Review Guidelines 3.1.1 y 1.3; Google Play — Payments y Families policy</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¿Un anuncio en cada Game Over cumple?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AdMob: nunca al abrir ni en cada acción</a:t>
            </a:r>
          </a:p>
          <a:p>
            <a:pPr>
              <a:spcAft>
                <a:spcPts val="800"/>
              </a:spcAft>
            </a:pPr>
            <a:r>
              <a:rPr sz="1600" b="1" i="0">
                <a:solidFill>
                  <a:srgbClr val="0D9488"/>
                </a:solidFill>
                <a:latin typeface="Calibri"/>
              </a:rPr>
              <a:t>■  </a:t>
            </a:r>
            <a:r>
              <a:rPr sz="2200" b="0" i="0">
                <a:solidFill>
                  <a:srgbClr val="1F2937"/>
                </a:solidFill>
                <a:latin typeface="Calibri"/>
              </a:rPr>
              <a:t>Apple 3.1.1: IAP obligatorio</a:t>
            </a:r>
          </a:p>
          <a:p>
            <a:pPr>
              <a:spcAft>
                <a:spcPts val="800"/>
              </a:spcAft>
            </a:pPr>
            <a:r>
              <a:rPr sz="1600" b="1" i="0">
                <a:solidFill>
                  <a:srgbClr val="0D9488"/>
                </a:solidFill>
                <a:latin typeface="Calibri"/>
              </a:rPr>
              <a:t>■  </a:t>
            </a:r>
            <a:r>
              <a:rPr sz="2200" b="0" i="0">
                <a:solidFill>
                  <a:srgbClr val="1F2937"/>
                </a:solidFill>
                <a:latin typeface="Calibri"/>
              </a:rPr>
              <a:t>Probabilidades visibles al comprar</a:t>
            </a:r>
          </a:p>
          <a:p>
            <a:pPr>
              <a:spcAft>
                <a:spcPts val="800"/>
              </a:spcAft>
            </a:pPr>
            <a:r>
              <a:rPr sz="1600" b="1" i="0">
                <a:solidFill>
                  <a:srgbClr val="0D9488"/>
                </a:solidFill>
                <a:latin typeface="Calibri"/>
              </a:rPr>
              <a:t>■  </a:t>
            </a:r>
            <a:r>
              <a:rPr sz="2200" b="0" i="0">
                <a:solidFill>
                  <a:srgbClr val="1F2937"/>
                </a:solidFill>
                <a:latin typeface="Calibri"/>
              </a:rPr>
              <a:t>Niños: sin publicidad personalizada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GAME DESIGN · ÉTICA</a:t>
            </a:r>
          </a:p>
          <a:p>
            <a:r>
              <a:rPr sz="2600" b="1" i="0">
                <a:solidFill>
                  <a:srgbClr val="FFFFFF"/>
                </a:solidFill>
                <a:latin typeface="Calibri"/>
              </a:rPr>
              <a:t>Monetizar cambia el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(2023), citando a poncle; PLOS ONE 2018; Journal of Business Ethics 2022; UK Gambling Commission</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"continuar", ¿qué rebalancearían?</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"Continuar" cambia el Game Over</a:t>
            </a:r>
          </a:p>
          <a:p>
            <a:pPr>
              <a:spcAft>
                <a:spcPts val="800"/>
              </a:spcAft>
            </a:pPr>
            <a:r>
              <a:rPr sz="1600" b="1" i="0">
                <a:solidFill>
                  <a:srgbClr val="0D9488"/>
                </a:solidFill>
                <a:latin typeface="Calibri"/>
              </a:rPr>
              <a:t>■  </a:t>
            </a:r>
            <a:r>
              <a:rPr sz="2200" b="0" i="0">
                <a:solidFill>
                  <a:srgbClr val="1F2937"/>
                </a:solidFill>
                <a:latin typeface="Calibri"/>
              </a:rPr>
              <a:t>Dificultad para vender: cambia el balance</a:t>
            </a:r>
          </a:p>
          <a:p>
            <a:pPr>
              <a:spcAft>
                <a:spcPts val="800"/>
              </a:spcAft>
            </a:pPr>
            <a:r>
              <a:rPr sz="1600" b="1" i="0">
                <a:solidFill>
                  <a:srgbClr val="0D9488"/>
                </a:solidFill>
                <a:latin typeface="Calibri"/>
              </a:rPr>
              <a:t>■  </a:t>
            </a:r>
            <a:r>
              <a:rPr sz="2200" b="0" i="0">
                <a:solidFill>
                  <a:srgbClr val="1F2937"/>
                </a:solidFill>
                <a:latin typeface="Calibri"/>
              </a:rPr>
              <a:t>Vampire Survivors: nunca interrumpir</a:t>
            </a:r>
          </a:p>
          <a:p>
            <a:pPr>
              <a:spcAft>
                <a:spcPts val="800"/>
              </a:spcAft>
            </a:pPr>
            <a:r>
              <a:rPr sz="1600" b="1" i="0">
                <a:solidFill>
                  <a:srgbClr val="0D9488"/>
                </a:solidFill>
                <a:latin typeface="Calibri"/>
              </a:rPr>
              <a:t>■  </a:t>
            </a:r>
            <a:r>
              <a:rPr sz="2200" b="0" i="0">
                <a:solidFill>
                  <a:srgbClr val="1F2937"/>
                </a:solidFill>
                <a:latin typeface="Calibri"/>
              </a:rPr>
              <a:t>Dark patterns y loot boxes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 VOTO</a:t>
            </a:r>
          </a:p>
          <a:p>
            <a:r>
              <a:rPr sz="2600" b="1" i="0">
                <a:solidFill>
                  <a:srgbClr val="FFFFFF"/>
                </a:solidFill>
                <a:latin typeface="Calibri"/>
              </a:rPr>
              <a:t>Actividad A4.5: ¿cuál publicarían?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¿Cumple políticas? ¿Qué cambia? ¿Riesgos éticos? Elijan una.</a:t>
            </a:r>
          </a:p>
        </p:txBody>
      </p:sp>
      <p:graphicFrame>
        <p:nvGraphicFramePr>
          <p:cNvPr id="10" name="Table 9"/>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1712120"/>
                <a:gridCol w="9473734"/>
              </a:tblGrid>
              <a:tr h="566928">
                <a:tc>
                  <a:txBody>
                    <a:bodyPr wrap="square"/>
                    <a:lstStyle/>
                    <a:p>
                      <a:r>
                        <a:rPr sz="1400" b="1" i="0">
                          <a:solidFill>
                            <a:srgbClr val="FFFFFF"/>
                          </a:solidFill>
                          <a:latin typeface="Calibri"/>
                        </a:rPr>
                        <a:t>Propuesta</a:t>
                      </a:r>
                    </a:p>
                  </a:txBody>
                  <a:tcPr marL="73152" marR="73152" marT="36576" marB="36576" anchor="ctr">
                    <a:solidFill>
                      <a:srgbClr val="0D9488"/>
                    </a:solidFill>
                  </a:tcPr>
                </a:tc>
                <a:tc>
                  <a:txBody>
                    <a:bodyPr wrap="square"/>
                    <a:lstStyle/>
                    <a:p>
                      <a:r>
                        <a:rPr sz="1400" b="1" i="0">
                          <a:solidFill>
                            <a:srgbClr val="FFFFFF"/>
                          </a:solidFill>
                          <a:latin typeface="Calibri"/>
                        </a:rPr>
                        <a:t>Modelo</a:t>
                      </a:r>
                    </a:p>
                  </a:txBody>
                  <a:tcPr marL="73152" marR="73152" marT="36576" marB="36576" anchor="ctr">
                    <a:solidFill>
                      <a:srgbClr val="0D9488"/>
                    </a:solidFill>
                  </a:tcPr>
                </a:tc>
              </a:tr>
              <a:tr h="566928">
                <a:tc>
                  <a:txBody>
                    <a:bodyPr wrap="square"/>
                    <a:lstStyle/>
                    <a:p>
                      <a:r>
                        <a:rPr sz="1400" b="0" i="0">
                          <a:solidFill>
                            <a:srgbClr val="1F2937"/>
                          </a:solidFill>
                          <a:latin typeface="Calibri"/>
                        </a:rPr>
                        <a:t>P1</a:t>
                      </a:r>
                    </a:p>
                  </a:txBody>
                  <a:tcPr marL="73152" marR="73152" marT="36576" marB="36576" anchor="ctr">
                    <a:solidFill>
                      <a:srgbClr val="FFFFFF"/>
                    </a:solidFill>
                  </a:tcPr>
                </a:tc>
                <a:tc>
                  <a:txBody>
                    <a:bodyPr wrap="square"/>
                    <a:lstStyle/>
                    <a:p>
                      <a:r>
                        <a:rPr sz="1400" b="0" i="0">
                          <a:solidFill>
                            <a:srgbClr val="1F2937"/>
                          </a:solidFill>
                          <a:latin typeface="Calibri"/>
                        </a:rPr>
                        <a:t>Premium, US$ 2,99, sin anuncios ni compras</a:t>
                      </a:r>
                    </a:p>
                  </a:txBody>
                  <a:tcPr marL="73152" marR="73152" marT="36576" marB="36576" anchor="ctr">
                    <a:solidFill>
                      <a:srgbClr val="FFFFFF"/>
                    </a:solidFill>
                  </a:tcPr>
                </a:tc>
              </a:tr>
              <a:tr h="566928">
                <a:tc>
                  <a:txBody>
                    <a:bodyPr wrap="square"/>
                    <a:lstStyle/>
                    <a:p>
                      <a:r>
                        <a:rPr sz="1400" b="0" i="0">
                          <a:solidFill>
                            <a:srgbClr val="1F2937"/>
                          </a:solidFill>
                          <a:latin typeface="Calibri"/>
                        </a:rPr>
                        <a:t>P2</a:t>
                      </a:r>
                    </a:p>
                  </a:txBody>
                  <a:tcPr marL="73152" marR="73152" marT="36576" marB="36576" anchor="ctr">
                    <a:solidFill>
                      <a:srgbClr val="E6F4F2"/>
                    </a:solidFill>
                  </a:tcPr>
                </a:tc>
                <a:tc>
                  <a:txBody>
                    <a:bodyPr wrap="square"/>
                    <a:lstStyle/>
                    <a:p>
                      <a:r>
                        <a:rPr sz="1400" b="0" i="0">
                          <a:solidFill>
                            <a:srgbClr val="1F2937"/>
                          </a:solidFill>
                          <a:latin typeface="Calibri"/>
                        </a:rPr>
                        <a:t>Gratis + rewarded "continuar" + IAP "quitar anuncios"</a:t>
                      </a:r>
                    </a:p>
                  </a:txBody>
                  <a:tcPr marL="73152" marR="73152" marT="36576" marB="36576" anchor="ctr">
                    <a:solidFill>
                      <a:srgbClr val="E6F4F2"/>
                    </a:solidFill>
                  </a:tcPr>
                </a:tc>
              </a:tr>
              <a:tr h="566928">
                <a:tc>
                  <a:txBody>
                    <a:bodyPr wrap="square"/>
                    <a:lstStyle/>
                    <a:p>
                      <a:r>
                        <a:rPr sz="1400" b="0" i="0">
                          <a:solidFill>
                            <a:srgbClr val="1F2937"/>
                          </a:solidFill>
                          <a:latin typeface="Calibri"/>
                        </a:rPr>
                        <a:t>P3</a:t>
                      </a:r>
                    </a:p>
                  </a:txBody>
                  <a:tcPr marL="73152" marR="73152" marT="36576" marB="36576" anchor="ctr">
                    <a:solidFill>
                      <a:srgbClr val="FFFFFF"/>
                    </a:solidFill>
                  </a:tcPr>
                </a:tc>
                <a:tc>
                  <a:txBody>
                    <a:bodyPr wrap="square"/>
                    <a:lstStyle/>
                    <a:p>
                      <a:r>
                        <a:rPr sz="1400" b="0" i="0">
                          <a:solidFill>
                            <a:srgbClr val="1F2937"/>
                          </a:solidFill>
                          <a:latin typeface="Calibri"/>
                        </a:rPr>
                        <a:t>Interstitial al abrir y en cada Game Over + cofres al azar sin probabilidades</a:t>
                      </a:r>
                    </a:p>
                  </a:txBody>
                  <a:tcPr marL="73152" marR="73152" marT="36576" marB="36576"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3 · CONSIGNA</a:t>
            </a:r>
          </a:p>
          <a:p>
            <a:r>
              <a:rPr sz="2600" b="1" i="0">
                <a:solidFill>
                  <a:srgbClr val="FFFFFF"/>
                </a:solidFill>
                <a:latin typeface="Calibri"/>
              </a:rPr>
              <a:t>TP 3: entrega y defensa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53/87</a:t>
            </a:r>
          </a:p>
        </p:txBody>
      </p:sp>
      <p:sp>
        <p:nvSpPr>
          <p:cNvPr id="8" name="TextBox 7"/>
          <p:cNvSpPr txBox="1"/>
          <p:nvPr/>
        </p:nvSpPr>
        <p:spPr>
          <a:xfrm>
            <a:off x="502920" y="1234440"/>
            <a:ext cx="11185855" cy="210312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decisión de plataforma</a:t>
            </a:r>
          </a:p>
          <a:p>
            <a:pPr>
              <a:spcAft>
                <a:spcPts val="800"/>
              </a:spcAft>
            </a:pPr>
            <a:r>
              <a:rPr sz="1600" b="1" i="0">
                <a:solidFill>
                  <a:srgbClr val="0D9488"/>
                </a:solidFill>
                <a:latin typeface="Calibri"/>
              </a:rPr>
              <a:t>■  </a:t>
            </a:r>
            <a:r>
              <a:rPr sz="2200" b="0" i="0">
                <a:solidFill>
                  <a:srgbClr val="1F2937"/>
                </a:solidFill>
                <a:latin typeface="Calibri"/>
              </a:rPr>
              <a:t>La evidencia del teléfono</a:t>
            </a:r>
          </a:p>
          <a:p>
            <a:pPr>
              <a:spcAft>
                <a:spcPts val="800"/>
              </a:spcAft>
            </a:pPr>
            <a:r>
              <a:rPr sz="1600" b="1" i="0">
                <a:solidFill>
                  <a:srgbClr val="0D9488"/>
                </a:solidFill>
                <a:latin typeface="Calibri"/>
              </a:rPr>
              <a:t>■  </a:t>
            </a:r>
            <a:r>
              <a:rPr sz="2200" b="0" i="0">
                <a:solidFill>
                  <a:srgbClr val="1F2937"/>
                </a:solidFill>
                <a:latin typeface="Calibri"/>
              </a:rPr>
              <a:t>Lo que quedó sin probar</a:t>
            </a:r>
          </a:p>
          <a:p>
            <a:pPr>
              <a:spcAft>
                <a:spcPts val="800"/>
              </a:spcAft>
            </a:pPr>
            <a:r>
              <a:rPr sz="1600" b="1" i="0">
                <a:solidFill>
                  <a:srgbClr val="0D9488"/>
                </a:solidFill>
                <a:latin typeface="Calibri"/>
              </a:rPr>
              <a:t>■  </a:t>
            </a:r>
            <a:r>
              <a:rPr sz="2200" b="0" i="0">
                <a:solidFill>
                  <a:srgbClr val="1F2937"/>
                </a:solidFill>
                <a:latin typeface="Calibri"/>
              </a:rPr>
              <a:t>A4.4 (la pausa) va en el dossier</a:t>
            </a:r>
          </a:p>
        </p:txBody>
      </p:sp>
      <p:graphicFrame>
        <p:nvGraphicFramePr>
          <p:cNvPr id="9" name="Table 8"/>
          <p:cNvGraphicFramePr>
            <a:graphicFrameLocks noGrp="1"/>
          </p:cNvGraphicFramePr>
          <p:nvPr/>
        </p:nvGraphicFramePr>
        <p:xfrm>
          <a:off x="502920" y="3337560"/>
          <a:ext cx="11185854" cy="2267712"/>
        </p:xfrm>
        <a:graphic>
          <a:graphicData uri="http://schemas.openxmlformats.org/drawingml/2006/table">
            <a:tbl>
              <a:tblPr firstRow="1" bandRow="1">
                <a:tableStyleId>{5C22544A-7EE6-4342-B048-85BDC9FD1C3A}</a:tableStyleId>
              </a:tblPr>
              <a:tblGrid>
                <a:gridCol w="6635676"/>
                <a:gridCol w="4550178"/>
              </a:tblGrid>
              <a:tr h="566928">
                <a:tc>
                  <a:txBody>
                    <a:bodyPr wrap="square"/>
                    <a:lstStyle/>
                    <a:p>
                      <a:r>
                        <a:rPr sz="1600" b="1" i="0">
                          <a:solidFill>
                            <a:srgbClr val="FFFFFF"/>
                          </a:solidFill>
                          <a:latin typeface="Calibri"/>
                        </a:rPr>
                        <a:t>Criterio de coevaluación</a:t>
                      </a:r>
                    </a:p>
                  </a:txBody>
                  <a:tcPr marL="73152" marR="73152" marT="36576" marB="36576" anchor="ctr">
                    <a:solidFill>
                      <a:srgbClr val="0D9488"/>
                    </a:solidFill>
                  </a:tcPr>
                </a:tc>
                <a:tc>
                  <a:txBody>
                    <a:bodyPr wrap="square"/>
                    <a:lstStyle/>
                    <a:p>
                      <a:r>
                        <a:rPr sz="1600" b="1" i="0">
                          <a:solidFill>
                            <a:srgbClr val="FFFFFF"/>
                          </a:solidFill>
                          <a:latin typeface="Calibri"/>
                        </a:rPr>
                        <a:t>Sí / En parte / No</a:t>
                      </a:r>
                    </a:p>
                  </a:txBody>
                  <a:tcPr marL="73152" marR="73152" marT="36576" marB="36576" anchor="ctr">
                    <a:solidFill>
                      <a:srgbClr val="0D9488"/>
                    </a:solidFill>
                  </a:tcPr>
                </a:tc>
              </a:tr>
              <a:tr h="566928">
                <a:tc>
                  <a:txBody>
                    <a:bodyPr wrap="square"/>
                    <a:lstStyle/>
                    <a:p>
                      <a:r>
                        <a:rPr sz="1600" b="0" i="0">
                          <a:solidFill>
                            <a:srgbClr val="1F2937"/>
                          </a:solidFill>
                          <a:latin typeface="Calibri"/>
                        </a:rPr>
                        <a:t>La decisión está justificada</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Hay evidencia del dispositivo</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Se declaran los límites</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DE UNIDAD · PUENTE A UNIDAD V</a:t>
            </a:r>
          </a:p>
          <a:p>
            <a:r>
              <a:rPr sz="2600" b="1" i="0">
                <a:solidFill>
                  <a:srgbClr val="FFFFFF"/>
                </a:solidFill>
                <a:latin typeface="Calibri"/>
              </a:rPr>
              <a:t>En móvil, el límite lo pone el dispositivo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consola, ¿quién decide si se publica?</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teléfono muestra lo que el editor no</a:t>
            </a:r>
          </a:p>
          <a:p>
            <a:pPr>
              <a:spcAft>
                <a:spcPts val="800"/>
              </a:spcAft>
            </a:pPr>
            <a:r>
              <a:rPr sz="1600" b="1" i="0">
                <a:solidFill>
                  <a:srgbClr val="0D9488"/>
                </a:solidFill>
                <a:latin typeface="Calibri"/>
              </a:rPr>
              <a:t>■  </a:t>
            </a:r>
            <a:r>
              <a:rPr sz="2200" b="0" i="0">
                <a:solidFill>
                  <a:srgbClr val="1F2937"/>
                </a:solidFill>
                <a:latin typeface="Calibri"/>
              </a:rPr>
              <a:t>Mismo patrón, otro juego: el Platformer</a:t>
            </a:r>
          </a:p>
          <a:p>
            <a:pPr>
              <a:spcAft>
                <a:spcPts val="800"/>
              </a:spcAft>
            </a:pPr>
            <a:r>
              <a:rPr sz="1600" b="1" i="0">
                <a:solidFill>
                  <a:srgbClr val="0D9488"/>
                </a:solidFill>
                <a:latin typeface="Calibri"/>
              </a:rPr>
              <a:t>■  </a:t>
            </a:r>
            <a:r>
              <a:rPr sz="2200" b="0" i="0">
                <a:solidFill>
                  <a:srgbClr val="1F2937"/>
                </a:solidFill>
                <a:latin typeface="Calibri"/>
              </a:rPr>
              <a:t>Mismo input, otro control: el gamepad</a:t>
            </a:r>
          </a:p>
          <a:p>
            <a:pPr>
              <a:spcAft>
                <a:spcPts val="800"/>
              </a:spcAft>
            </a:pPr>
            <a:r>
              <a:rPr sz="1600" b="1" i="0">
                <a:solidFill>
                  <a:srgbClr val="0D9488"/>
                </a:solidFill>
                <a:latin typeface="Calibri"/>
              </a:rPr>
              <a:t>■  </a:t>
            </a:r>
            <a:r>
              <a:rPr sz="2200" b="0" i="0">
                <a:solidFill>
                  <a:srgbClr val="1F2937"/>
                </a:solidFill>
                <a:latin typeface="Calibri"/>
              </a:rPr>
              <a:t>Consolas: el límite lo pone el fabricante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4 · CONTINUACIÓN</a:t>
            </a:r>
          </a:p>
          <a:p>
            <a:r>
              <a:rPr sz="4000" b="1" i="0">
                <a:solidFill>
                  <a:srgbClr val="FFFFFF"/>
                </a:solidFill>
                <a:latin typeface="Calibri"/>
              </a:rPr>
              <a:t>Del caso real al código</a:t>
            </a:r>
          </a:p>
          <a:p>
            <a:pPr>
              <a:spcBef>
                <a:spcPts val="600"/>
              </a:spcBef>
            </a:pPr>
            <a:r>
              <a:rPr sz="2000" b="0" i="0">
                <a:solidFill>
                  <a:srgbClr val="CBD5E1"/>
                </a:solidFill>
                <a:latin typeface="Calibri"/>
              </a:rPr>
              <a:t>Publicidad, seguridad e input</a:t>
            </a:r>
          </a:p>
          <a:p>
            <a:pPr>
              <a:spcBef>
                <a:spcPts val="600"/>
              </a:spcBef>
            </a:pPr>
            <a:r>
              <a:rPr sz="2000" b="0" i="0">
                <a:solidFill>
                  <a:srgbClr val="CBD5E1"/>
                </a:solidFill>
                <a:latin typeface="Calibri"/>
              </a:rPr>
              <a:t>Porteo PC → Android: antes y después</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4 · continuación · 55/87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DESDE LA SAFE AREA</a:t>
            </a:r>
          </a:p>
          <a:p>
            <a:r>
              <a:rPr sz="2600" b="1" i="0">
                <a:solidFill>
                  <a:srgbClr val="FFFFFF"/>
                </a:solidFill>
                <a:latin typeface="Calibri"/>
              </a:rPr>
              <a:t>La pantalla tiene dueños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56/87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suman un banner, ¿qué tapan primero?</a:t>
            </a:r>
          </a:p>
        </p:txBody>
      </p:sp>
      <p:sp>
        <p:nvSpPr>
          <p:cNvPr id="10" name="Rounded Rectangle 9"/>
          <p:cNvSpPr/>
          <p:nvPr/>
        </p:nvSpPr>
        <p:spPr>
          <a:xfrm>
            <a:off x="8598103" y="1280160"/>
            <a:ext cx="1975104" cy="41148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9543" y="1371600"/>
            <a:ext cx="1792224" cy="3931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89389" y="1371600"/>
            <a:ext cx="592531"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90634" y="5120640"/>
            <a:ext cx="790041"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99271" y="1737360"/>
            <a:ext cx="1572768" cy="320040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¿Y si además hay un banner?</a:t>
            </a:r>
          </a:p>
        </p:txBody>
      </p:sp>
      <p:sp>
        <p:nvSpPr>
          <p:cNvPr id="15" name="TextBox 14"/>
          <p:cNvSpPr txBox="1"/>
          <p:nvPr/>
        </p:nvSpPr>
        <p:spPr>
          <a:xfrm>
            <a:off x="10682935"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6" name="TextBox 15"/>
          <p:cNvSpPr txBox="1"/>
          <p:nvPr/>
        </p:nvSpPr>
        <p:spPr>
          <a:xfrm>
            <a:off x="10682935" y="498348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7" name="TextBox 16"/>
          <p:cNvSpPr txBox="1"/>
          <p:nvPr/>
        </p:nvSpPr>
        <p:spPr>
          <a:xfrm>
            <a:off x="502920" y="1234440"/>
            <a:ext cx="67052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Muesca y gestos: el sistema</a:t>
            </a:r>
          </a:p>
          <a:p>
            <a:pPr>
              <a:spcAft>
                <a:spcPts val="800"/>
              </a:spcAft>
            </a:pPr>
            <a:r>
              <a:rPr sz="1600" b="1" i="0">
                <a:solidFill>
                  <a:srgbClr val="0D9488"/>
                </a:solidFill>
                <a:latin typeface="Calibri"/>
              </a:rPr>
              <a:t>■  </a:t>
            </a:r>
            <a:r>
              <a:rPr sz="2200" b="0" i="0">
                <a:solidFill>
                  <a:srgbClr val="1F2937"/>
                </a:solidFill>
                <a:latin typeface="Calibri"/>
              </a:rPr>
              <a:t>Controles: el pulgar</a:t>
            </a:r>
          </a:p>
          <a:p>
            <a:pPr>
              <a:spcAft>
                <a:spcPts val="800"/>
              </a:spcAft>
            </a:pPr>
            <a:r>
              <a:rPr sz="1600" b="1" i="0">
                <a:solidFill>
                  <a:srgbClr val="0D9488"/>
                </a:solidFill>
                <a:latin typeface="Calibri"/>
              </a:rPr>
              <a:t>■  </a:t>
            </a:r>
            <a:r>
              <a:rPr sz="2200" b="0" i="0">
                <a:solidFill>
                  <a:srgbClr val="1F2937"/>
                </a:solidFill>
                <a:latin typeface="Calibri"/>
              </a:rPr>
              <a:t>Banner: el anunciante</a:t>
            </a:r>
          </a:p>
          <a:p>
            <a:pPr>
              <a:spcAft>
                <a:spcPts val="800"/>
              </a:spcAft>
            </a:pPr>
            <a:r>
              <a:rPr sz="1600" b="1" i="0">
                <a:solidFill>
                  <a:srgbClr val="0D9488"/>
                </a:solidFill>
                <a:latin typeface="Calibri"/>
              </a:rPr>
              <a:t>■  </a:t>
            </a:r>
            <a:r>
              <a:rPr sz="2200" b="0" i="0">
                <a:solidFill>
                  <a:srgbClr val="1F2937"/>
                </a:solidFill>
                <a:latin typeface="Calibri"/>
              </a:rPr>
              <a:t>¿Qué queda para jugar?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PUBLICIDAD · UX</a:t>
            </a:r>
          </a:p>
          <a:p>
            <a:r>
              <a:rPr sz="2600" b="1" i="0">
                <a:solidFill>
                  <a:srgbClr val="FFFFFF"/>
                </a:solidFill>
                <a:latin typeface="Calibri"/>
              </a:rPr>
              <a:t>Un anuncio también es input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Play — "Understanding Google Play's Better Ads Experiences policy" (consultada el 19/10/2026)</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el toque cae en el anuncio, ¿de quién es el error?</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5232093"/>
                <a:gridCol w="5953761"/>
              </a:tblGrid>
              <a:tr h="566928">
                <a:tc>
                  <a:txBody>
                    <a:bodyPr wrap="square"/>
                    <a:lstStyle/>
                    <a:p>
                      <a:r>
                        <a:rPr sz="1400" b="1" i="0">
                          <a:solidFill>
                            <a:srgbClr val="FFFFFF"/>
                          </a:solidFill>
                          <a:latin typeface="Calibri"/>
                        </a:rPr>
                        <a:t>Formato</a:t>
                      </a:r>
                    </a:p>
                  </a:txBody>
                  <a:tcPr marL="73152" marR="73152" marT="36576" marB="36576" anchor="ctr">
                    <a:solidFill>
                      <a:srgbClr val="0D9488"/>
                    </a:solidFill>
                  </a:tcPr>
                </a:tc>
                <a:tc>
                  <a:txBody>
                    <a:bodyPr wrap="square"/>
                    <a:lstStyle/>
                    <a:p>
                      <a:r>
                        <a:rPr sz="1400" b="1" i="0">
                          <a:solidFill>
                            <a:srgbClr val="FFFFFF"/>
                          </a:solidFill>
                          <a:latin typeface="Calibri"/>
                        </a:rPr>
                        <a:t>Qué le quita al jugador</a:t>
                      </a:r>
                    </a:p>
                  </a:txBody>
                  <a:tcPr marL="73152" marR="73152" marT="36576" marB="36576" anchor="ctr">
                    <a:solidFill>
                      <a:srgbClr val="0D9488"/>
                    </a:solidFill>
                  </a:tcPr>
                </a:tc>
              </a:tr>
              <a:tr h="566928">
                <a:tc>
                  <a:txBody>
                    <a:bodyPr wrap="square"/>
                    <a:lstStyle/>
                    <a:p>
                      <a:r>
                        <a:rPr sz="1400" b="0" i="0">
                          <a:solidFill>
                            <a:srgbClr val="1F2937"/>
                          </a:solidFill>
                          <a:latin typeface="Calibri"/>
                        </a:rPr>
                        <a:t>Banner</a:t>
                      </a:r>
                    </a:p>
                  </a:txBody>
                  <a:tcPr marL="73152" marR="73152" marT="36576" marB="36576" anchor="ctr">
                    <a:solidFill>
                      <a:srgbClr val="FFFFFF"/>
                    </a:solidFill>
                  </a:tcPr>
                </a:tc>
                <a:tc>
                  <a:txBody>
                    <a:bodyPr wrap="square"/>
                    <a:lstStyle/>
                    <a:p>
                      <a:r>
                        <a:rPr sz="1400" b="0" i="0">
                          <a:solidFill>
                            <a:srgbClr val="1F2937"/>
                          </a:solidFill>
                          <a:latin typeface="Calibri"/>
                        </a:rPr>
                        <a:t>Pantalla, cerca del pulgar</a:t>
                      </a:r>
                    </a:p>
                  </a:txBody>
                  <a:tcPr marL="73152" marR="73152" marT="36576" marB="36576" anchor="ctr">
                    <a:solidFill>
                      <a:srgbClr val="FFFFFF"/>
                    </a:solidFill>
                  </a:tcPr>
                </a:tc>
              </a:tr>
              <a:tr h="566928">
                <a:tc>
                  <a:txBody>
                    <a:bodyPr wrap="square"/>
                    <a:lstStyle/>
                    <a:p>
                      <a:r>
                        <a:rPr sz="1400" b="0" i="0">
                          <a:solidFill>
                            <a:srgbClr val="1F2937"/>
                          </a:solidFill>
                          <a:latin typeface="Calibri"/>
                        </a:rPr>
                        <a:t>Interstitial inesperado</a:t>
                      </a:r>
                    </a:p>
                  </a:txBody>
                  <a:tcPr marL="73152" marR="73152" marT="36576" marB="36576" anchor="ctr">
                    <a:solidFill>
                      <a:srgbClr val="E6F4F2"/>
                    </a:solidFill>
                  </a:tcPr>
                </a:tc>
                <a:tc>
                  <a:txBody>
                    <a:bodyPr wrap="square"/>
                    <a:lstStyle/>
                    <a:p>
                      <a:r>
                        <a:rPr sz="1400" b="0" i="0">
                          <a:solidFill>
                            <a:srgbClr val="1F2937"/>
                          </a:solidFill>
                          <a:latin typeface="Calibri"/>
                        </a:rPr>
                        <a:t>El toque: cae en el anuncio</a:t>
                      </a:r>
                    </a:p>
                  </a:txBody>
                  <a:tcPr marL="73152" marR="73152" marT="36576" marB="36576" anchor="ctr">
                    <a:solidFill>
                      <a:srgbClr val="E6F4F2"/>
                    </a:solidFill>
                  </a:tcPr>
                </a:tc>
              </a:tr>
              <a:tr h="566928">
                <a:tc>
                  <a:txBody>
                    <a:bodyPr wrap="square"/>
                    <a:lstStyle/>
                    <a:p>
                      <a:r>
                        <a:rPr sz="1400" b="0" i="0">
                          <a:solidFill>
                            <a:srgbClr val="1F2937"/>
                          </a:solidFill>
                          <a:latin typeface="Calibri"/>
                        </a:rPr>
                        <a:t>Rewarded</a:t>
                      </a:r>
                    </a:p>
                  </a:txBody>
                  <a:tcPr marL="73152" marR="73152" marT="36576" marB="36576" anchor="ctr">
                    <a:solidFill>
                      <a:srgbClr val="FFFFFF"/>
                    </a:solidFill>
                  </a:tcPr>
                </a:tc>
                <a:tc>
                  <a:txBody>
                    <a:bodyPr wrap="square"/>
                    <a:lstStyle/>
                    <a:p>
                      <a:r>
                        <a:rPr sz="1400" b="0" i="0">
                          <a:solidFill>
                            <a:srgbClr val="1F2937"/>
                          </a:solidFill>
                          <a:latin typeface="Calibri"/>
                        </a:rPr>
                        <a:t>Tiempo, pero lo elige</a:t>
                      </a:r>
                    </a:p>
                  </a:txBody>
                  <a:tcPr marL="73152" marR="73152" marT="36576" marB="36576" anchor="ctr">
                    <a:solidFill>
                      <a:srgbClr val="FFFFFF"/>
                    </a:solidFill>
                  </a:tcPr>
                </a:tc>
              </a:tr>
              <a:tr h="566928">
                <a:tc>
                  <a:txBody>
                    <a:bodyPr wrap="square"/>
                    <a:lstStyle/>
                    <a:p>
                      <a:r>
                        <a:rPr sz="1400" b="0" i="0">
                          <a:solidFill>
                            <a:srgbClr val="1F2937"/>
                          </a:solidFill>
                          <a:latin typeface="Calibri"/>
                        </a:rPr>
                        <a:t>Sin anuncios</a:t>
                      </a:r>
                    </a:p>
                  </a:txBody>
                  <a:tcPr marL="73152" marR="73152" marT="36576" marB="36576" anchor="ctr">
                    <a:solidFill>
                      <a:srgbClr val="E6F4F2"/>
                    </a:solidFill>
                  </a:tcPr>
                </a:tc>
                <a:tc>
                  <a:txBody>
                    <a:bodyPr wrap="square"/>
                    <a:lstStyle/>
                    <a:p>
                      <a:r>
                        <a:rPr sz="1400" b="0" i="0">
                          <a:solidFill>
                            <a:srgbClr val="1F2937"/>
                          </a:solidFill>
                          <a:latin typeface="Calibri"/>
                        </a:rPr>
                        <a:t>Nada: se cobra antes</a:t>
                      </a:r>
                    </a:p>
                  </a:txBody>
                  <a:tcPr marL="73152" marR="73152" marT="36576" marB="36576" anchor="ctr">
                    <a:solidFill>
                      <a:srgbClr val="E6F4F2"/>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PUBLICIDAD · SEGURIDAD</a:t>
            </a:r>
          </a:p>
          <a:p>
            <a:r>
              <a:rPr sz="2600" b="1" i="0">
                <a:solidFill>
                  <a:srgbClr val="FFFFFF"/>
                </a:solidFill>
                <a:latin typeface="Calibri"/>
              </a:rPr>
              <a:t>El SDK que no escribiste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BleepingComputer, "Android malware infiltrates 60 Google Play apps with 100M installs" (15/04/2023), sobre el informe de McAfee Labs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¿Quién responde por el código que importaron?</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Goldoson (2023): 60 apps</a:t>
            </a:r>
          </a:p>
          <a:p>
            <a:pPr>
              <a:spcAft>
                <a:spcPts val="800"/>
              </a:spcAft>
            </a:pPr>
            <a:r>
              <a:rPr sz="1600" b="1" i="0">
                <a:solidFill>
                  <a:srgbClr val="0D9488"/>
                </a:solidFill>
                <a:latin typeface="Calibri"/>
              </a:rPr>
              <a:t>■  </a:t>
            </a:r>
            <a:r>
              <a:rPr sz="2200" b="0" i="0">
                <a:solidFill>
                  <a:srgbClr val="1F2937"/>
                </a:solidFill>
                <a:latin typeface="Calibri"/>
              </a:rPr>
              <a:t>100 millones de descargas</a:t>
            </a:r>
          </a:p>
          <a:p>
            <a:pPr>
              <a:spcAft>
                <a:spcPts val="800"/>
              </a:spcAft>
            </a:pPr>
            <a:r>
              <a:rPr sz="1600" b="1" i="0">
                <a:solidFill>
                  <a:srgbClr val="0D9488"/>
                </a:solidFill>
                <a:latin typeface="Calibri"/>
              </a:rPr>
              <a:t>■  </a:t>
            </a:r>
            <a:r>
              <a:rPr sz="2200" b="0" i="0">
                <a:solidFill>
                  <a:srgbClr val="1F2937"/>
                </a:solidFill>
                <a:latin typeface="Calibri"/>
              </a:rPr>
              <a:t>Clics ocultos a anuncios</a:t>
            </a:r>
          </a:p>
          <a:p>
            <a:pPr>
              <a:spcAft>
                <a:spcPts val="800"/>
              </a:spcAft>
            </a:pPr>
            <a:r>
              <a:rPr sz="1600" b="1" i="0">
                <a:solidFill>
                  <a:srgbClr val="0D9488"/>
                </a:solidFill>
                <a:latin typeface="Calibri"/>
              </a:rPr>
              <a:t>■  </a:t>
            </a:r>
            <a:r>
              <a:rPr sz="2200" b="0" i="0">
                <a:solidFill>
                  <a:srgbClr val="1F2937"/>
                </a:solidFill>
                <a:latin typeface="Calibri"/>
              </a:rPr>
              <a:t>Una librería de terceros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CASO REAL · INPUT</a:t>
            </a:r>
          </a:p>
          <a:p>
            <a:r>
              <a:rPr sz="2600" b="1" i="0">
                <a:solidFill>
                  <a:srgbClr val="FFFFFF"/>
                </a:solidFill>
                <a:latin typeface="Calibri"/>
              </a:rPr>
              <a:t>Caso real: el botón que cobraba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FTC, "Fortnite Video Game Maker Epic Games to Pay More Than Half a Billion Dollars over FTC Allegations of Privacy Violations and Unwanted Charges" (19/12/2022)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¿Falló el código o el diseño del input?</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Despertar el juego: cobro</a:t>
            </a:r>
          </a:p>
          <a:p>
            <a:pPr>
              <a:spcAft>
                <a:spcPts val="800"/>
              </a:spcAft>
            </a:pPr>
            <a:r>
              <a:rPr sz="1600" b="1" i="0">
                <a:solidFill>
                  <a:srgbClr val="0D9488"/>
                </a:solidFill>
                <a:latin typeface="Calibri"/>
              </a:rPr>
              <a:t>■  </a:t>
            </a:r>
            <a:r>
              <a:rPr sz="2200" b="0" i="0">
                <a:solidFill>
                  <a:srgbClr val="1F2937"/>
                </a:solidFill>
                <a:latin typeface="Calibri"/>
              </a:rPr>
              <a:t>Pantalla de carga: cobro</a:t>
            </a:r>
          </a:p>
          <a:p>
            <a:pPr>
              <a:spcAft>
                <a:spcPts val="800"/>
              </a:spcAft>
            </a:pPr>
            <a:r>
              <a:rPr sz="1600" b="1" i="0">
                <a:solidFill>
                  <a:srgbClr val="0D9488"/>
                </a:solidFill>
                <a:latin typeface="Calibri"/>
              </a:rPr>
              <a:t>■  </a:t>
            </a:r>
            <a:r>
              <a:rPr sz="2200" b="0" i="0">
                <a:solidFill>
                  <a:srgbClr val="1F2937"/>
                </a:solidFill>
                <a:latin typeface="Calibri"/>
              </a:rPr>
              <a:t>Botón vecino: cobro</a:t>
            </a:r>
          </a:p>
          <a:p>
            <a:pPr>
              <a:spcAft>
                <a:spcPts val="800"/>
              </a:spcAft>
            </a:pPr>
            <a:r>
              <a:rPr sz="1600" b="1" i="0">
                <a:solidFill>
                  <a:srgbClr val="0D9488"/>
                </a:solidFill>
                <a:latin typeface="Calibri"/>
              </a:rPr>
              <a:t>■  </a:t>
            </a:r>
            <a:r>
              <a:rPr sz="2200" b="0" i="0">
                <a:solidFill>
                  <a:srgbClr val="1F2937"/>
                </a:solidFill>
                <a:latin typeface="Calibri"/>
              </a:rPr>
              <a:t>Un toque, sin confirmar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PUENTE</a:t>
            </a:r>
          </a:p>
          <a:p>
            <a:r>
              <a:rPr sz="2600" b="1" i="0">
                <a:solidFill>
                  <a:srgbClr val="FFFFFF"/>
                </a:solidFill>
                <a:latin typeface="Calibri"/>
              </a:rPr>
              <a:t>Del caso al porteo: tres preguntas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60/87</a:t>
            </a:r>
          </a:p>
        </p:txBody>
      </p:sp>
      <p:sp>
        <p:nvSpPr>
          <p:cNvPr id="8" name="Rounded Rectangle 7"/>
          <p:cNvSpPr/>
          <p:nvPr/>
        </p:nvSpPr>
        <p:spPr>
          <a:xfrm>
            <a:off x="7116775" y="2029968"/>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¿Qué toca el jugador? · dispositivo</a:t>
            </a:r>
          </a:p>
        </p:txBody>
      </p:sp>
      <p:sp>
        <p:nvSpPr>
          <p:cNvPr id="9" name="Down Arrow 8"/>
          <p:cNvSpPr/>
          <p:nvPr/>
        </p:nvSpPr>
        <p:spPr>
          <a:xfrm>
            <a:off x="9201607" y="2752344"/>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16775" y="3063240"/>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¿Cuándo vale el toque? · estado</a:t>
            </a:r>
          </a:p>
        </p:txBody>
      </p:sp>
      <p:sp>
        <p:nvSpPr>
          <p:cNvPr id="11" name="Down Arrow 10"/>
          <p:cNvSpPr/>
          <p:nvPr/>
        </p:nvSpPr>
        <p:spPr>
          <a:xfrm>
            <a:off x="9201607" y="378561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16775" y="4096512"/>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¿Dónde está en pantalla? · espacio</a:t>
            </a:r>
          </a:p>
        </p:txBody>
      </p:sp>
      <p:sp>
        <p:nvSpPr>
          <p:cNvPr id="13" name="TextBox 12"/>
          <p:cNvSpPr txBox="1"/>
          <p:nvPr/>
        </p:nvSpPr>
        <p:spPr>
          <a:xfrm>
            <a:off x="7116775" y="4873752"/>
            <a:ext cx="4572000" cy="320040"/>
          </a:xfrm>
          <a:prstGeom prst="rect">
            <a:avLst/>
          </a:prstGeom>
          <a:noFill/>
        </p:spPr>
        <p:txBody>
          <a:bodyPr wrap="square" anchor="ctr" lIns="0" rIns="0" tIns="0" bIns="0">
            <a:spAutoFit/>
          </a:bodyPr>
          <a:lstStyle/>
          <a:p>
            <a:pPr algn="ctr"/>
            <a:r>
              <a:rPr sz="1300" b="0" i="1">
                <a:solidFill>
                  <a:srgbClr val="6B7280"/>
                </a:solidFill>
                <a:latin typeface="Calibri"/>
              </a:rPr>
              <a:t>Las slides siguientes, en código real</a:t>
            </a:r>
          </a:p>
        </p:txBody>
      </p:sp>
      <p:sp>
        <p:nvSpPr>
          <p:cNvPr id="14" name="TextBox 13"/>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Cada toque se diseña</a:t>
            </a:r>
          </a:p>
          <a:p>
            <a:pPr>
              <a:spcAft>
                <a:spcPts val="800"/>
              </a:spcAft>
            </a:pPr>
            <a:r>
              <a:rPr sz="1600" b="1" i="0">
                <a:solidFill>
                  <a:srgbClr val="0D9488"/>
                </a:solidFill>
                <a:latin typeface="Calibri"/>
              </a:rPr>
              <a:t>■  </a:t>
            </a:r>
            <a:r>
              <a:rPr sz="2200" b="0" i="0">
                <a:solidFill>
                  <a:srgbClr val="1F2937"/>
                </a:solidFill>
                <a:latin typeface="Calibri"/>
              </a:rPr>
              <a:t>El porteo responde las tres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PC → ANDROID · 2D PLATFORMER</a:t>
            </a:r>
          </a:p>
          <a:p>
            <a:r>
              <a:rPr sz="2600" b="1" i="0">
                <a:solidFill>
                  <a:srgbClr val="FFFFFF"/>
                </a:solidFill>
                <a:latin typeface="Calibri"/>
              </a:rPr>
              <a:t>Antes y después: el input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qué línea de la derecha está el dedo?</a:t>
            </a:r>
          </a:p>
        </p:txBody>
      </p:sp>
      <p:sp>
        <p:nvSpPr>
          <p:cNvPr id="10" name="Rounded Rectangle 9"/>
          <p:cNvSpPr/>
          <p:nvPr/>
        </p:nvSpPr>
        <p:spPr>
          <a:xfrm>
            <a:off x="502920" y="1234440"/>
            <a:ext cx="4894511" cy="384048"/>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500" b="1" i="0">
                <a:solidFill>
                  <a:srgbClr val="FFFFFF"/>
                </a:solidFill>
                <a:latin typeface="Calibri"/>
              </a:rPr>
              <a:t>ANTES · PC: lee el teclado</a:t>
            </a:r>
          </a:p>
        </p:txBody>
      </p:sp>
      <p:sp>
        <p:nvSpPr>
          <p:cNvPr id="11" name="Rounded Rectangle 10"/>
          <p:cNvSpPr/>
          <p:nvPr/>
        </p:nvSpPr>
        <p:spPr>
          <a:xfrm>
            <a:off x="502920" y="4160520"/>
            <a:ext cx="4894511" cy="1280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4251960"/>
            <a:ext cx="4565327" cy="109728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67  </a:t>
            </a:r>
            <a:r>
              <a:rPr sz="1300" b="0" i="0">
                <a:solidFill>
                  <a:srgbClr val="1F2937"/>
                </a:solidFill>
                <a:latin typeface="Calibri"/>
              </a:rPr>
              <a:t>si el personaje está parado en el suelo…</a:t>
            </a:r>
          </a:p>
          <a:p>
            <a:pPr>
              <a:spcBef>
                <a:spcPts val="300"/>
              </a:spcBef>
            </a:pPr>
            <a:r>
              <a:rPr sz="1300" b="1" i="0">
                <a:solidFill>
                  <a:srgbClr val="0D9488"/>
                </a:solidFill>
                <a:latin typeface="Calibri"/>
              </a:rPr>
              <a:t>Línea 73  </a:t>
            </a:r>
            <a:r>
              <a:rPr sz="1300" b="0" i="0">
                <a:solidFill>
                  <a:srgbClr val="1F2937"/>
                </a:solidFill>
                <a:latin typeface="Calibri"/>
              </a:rPr>
              <a:t>…lee las flechas o A/D del teclado para moverse</a:t>
            </a:r>
          </a:p>
          <a:p>
            <a:pPr>
              <a:spcBef>
                <a:spcPts val="300"/>
              </a:spcBef>
            </a:pPr>
            <a:r>
              <a:rPr sz="1300" b="1" i="0">
                <a:solidFill>
                  <a:srgbClr val="0D9488"/>
                </a:solidFill>
                <a:latin typeface="Calibri"/>
              </a:rPr>
              <a:t>Línea 77  </a:t>
            </a:r>
            <a:r>
              <a:rPr sz="1300" b="0" i="0">
                <a:solidFill>
                  <a:srgbClr val="1F2937"/>
                </a:solidFill>
                <a:latin typeface="Calibri"/>
              </a:rPr>
              <a:t>si se aprieta Espacio, salta</a:t>
            </a:r>
          </a:p>
        </p:txBody>
      </p:sp>
      <p:sp>
        <p:nvSpPr>
          <p:cNvPr id="13" name="TextBox 12"/>
          <p:cNvSpPr txBox="1"/>
          <p:nvPr/>
        </p:nvSpPr>
        <p:spPr>
          <a:xfrm>
            <a:off x="502920" y="1691640"/>
            <a:ext cx="4894511" cy="320040"/>
          </a:xfrm>
          <a:prstGeom prst="rect">
            <a:avLst/>
          </a:prstGeom>
          <a:noFill/>
        </p:spPr>
        <p:txBody>
          <a:bodyPr wrap="square" anchor="ctr" lIns="0" rIns="0" tIns="0" bIns="0">
            <a:spAutoFit/>
          </a:bodyPr>
          <a:lstStyle/>
          <a:p>
            <a:r>
              <a:rPr sz="1200" b="1" i="0">
                <a:solidFill>
                  <a:srgbClr val="6B7280"/>
                </a:solidFill>
                <a:latin typeface="Calibri"/>
              </a:rPr>
              <a:t>PlayerController.cs  ·  líneas 67–79  ·  extracto  ·  versión original</a:t>
            </a:r>
          </a:p>
        </p:txBody>
      </p:sp>
      <p:sp>
        <p:nvSpPr>
          <p:cNvPr id="14" name="Rounded Rectangle 13"/>
          <p:cNvSpPr/>
          <p:nvPr/>
        </p:nvSpPr>
        <p:spPr>
          <a:xfrm>
            <a:off x="502920" y="2057400"/>
            <a:ext cx="4894511" cy="199339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200" b="0" i="0">
                <a:solidFill>
                  <a:srgbClr val="64748B"/>
                </a:solidFill>
                <a:latin typeface="Consolas"/>
              </a:rPr>
              <a:t> 67  </a:t>
            </a:r>
            <a:r>
              <a:rPr sz="1200" b="0" i="0">
                <a:solidFill>
                  <a:srgbClr val="E2E8F0"/>
                </a:solidFill>
                <a:latin typeface="Consolas"/>
              </a:rPr>
              <a:t>if (isGroundedBool)</a:t>
            </a:r>
          </a:p>
          <a:p>
            <a:pPr algn="l"/>
            <a:r>
              <a:rPr sz="1200" b="0" i="0">
                <a:solidFill>
                  <a:srgbClr val="64748B"/>
                </a:solidFill>
                <a:latin typeface="Consolas"/>
              </a:rPr>
              <a:t> 68  </a:t>
            </a:r>
            <a:r>
              <a:rPr sz="1200" b="0" i="0">
                <a:solidFill>
                  <a:srgbClr val="E2E8F0"/>
                </a:solidFill>
                <a:latin typeface="Consolas"/>
              </a:rPr>
              <a:t>{</a:t>
            </a:r>
          </a:p>
          <a:p>
            <a:pPr algn="l"/>
            <a:r>
              <a:rPr sz="1200" b="0" i="0">
                <a:solidFill>
                  <a:srgbClr val="64748B"/>
                </a:solidFill>
                <a:latin typeface="Consolas"/>
              </a:rPr>
              <a:t>     </a:t>
            </a:r>
            <a:r>
              <a:rPr sz="1200" b="0" i="0">
                <a:solidFill>
                  <a:srgbClr val="64748B"/>
                </a:solidFill>
                <a:latin typeface="Consolas"/>
              </a:rPr>
              <a:t>⋯</a:t>
            </a:r>
          </a:p>
          <a:p>
            <a:pPr algn="l"/>
            <a:r>
              <a:rPr sz="1200" b="0" i="0">
                <a:solidFill>
                  <a:srgbClr val="64748B"/>
                </a:solidFill>
                <a:latin typeface="Consolas"/>
              </a:rPr>
              <a:t> 73  </a:t>
            </a:r>
            <a:r>
              <a:rPr sz="1200" b="1" i="0">
                <a:solidFill>
                  <a:srgbClr val="D97706"/>
                </a:solidFill>
                <a:latin typeface="Consolas"/>
              </a:rPr>
              <a:t>        moveX = Input.GetAxis("Horizontal");</a:t>
            </a:r>
          </a:p>
          <a:p>
            <a:pPr algn="l"/>
            <a:r>
              <a:rPr sz="1200" b="0" i="0">
                <a:solidFill>
                  <a:srgbClr val="64748B"/>
                </a:solidFill>
                <a:latin typeface="Consolas"/>
              </a:rPr>
              <a:t>     </a:t>
            </a:r>
            <a:r>
              <a:rPr sz="1200" b="0" i="0">
                <a:solidFill>
                  <a:srgbClr val="64748B"/>
                </a:solidFill>
                <a:latin typeface="Consolas"/>
              </a:rPr>
              <a:t>⋯</a:t>
            </a:r>
          </a:p>
          <a:p>
            <a:pPr algn="l"/>
            <a:r>
              <a:rPr sz="1200" b="0" i="0">
                <a:solidFill>
                  <a:srgbClr val="64748B"/>
                </a:solidFill>
                <a:latin typeface="Consolas"/>
              </a:rPr>
              <a:t> 77  </a:t>
            </a:r>
            <a:r>
              <a:rPr sz="1200" b="1" i="0">
                <a:solidFill>
                  <a:srgbClr val="D97706"/>
                </a:solidFill>
                <a:latin typeface="Consolas"/>
              </a:rPr>
              <a:t>    if (Input.GetButtonDown("Jump"))</a:t>
            </a:r>
          </a:p>
          <a:p>
            <a:pPr algn="l"/>
            <a:r>
              <a:rPr sz="1200" b="0" i="0">
                <a:solidFill>
                  <a:srgbClr val="64748B"/>
                </a:solidFill>
                <a:latin typeface="Consolas"/>
              </a:rPr>
              <a:t> 78  </a:t>
            </a:r>
            <a:r>
              <a:rPr sz="1200" b="0" i="0">
                <a:solidFill>
                  <a:srgbClr val="E2E8F0"/>
                </a:solidFill>
                <a:latin typeface="Consolas"/>
              </a:rPr>
              <a:t>    {</a:t>
            </a:r>
          </a:p>
          <a:p>
            <a:pPr algn="l"/>
            <a:r>
              <a:rPr sz="1200" b="0" i="0">
                <a:solidFill>
                  <a:srgbClr val="64748B"/>
                </a:solidFill>
                <a:latin typeface="Consolas"/>
              </a:rPr>
              <a:t> 79  </a:t>
            </a:r>
            <a:r>
              <a:rPr sz="1200" b="0" i="0">
                <a:solidFill>
                  <a:srgbClr val="E2E8F0"/>
                </a:solidFill>
                <a:latin typeface="Consolas"/>
              </a:rPr>
              <a:t>        Jump(jumpForce);</a:t>
            </a:r>
          </a:p>
        </p:txBody>
      </p:sp>
      <p:sp>
        <p:nvSpPr>
          <p:cNvPr id="15" name="Rounded Rectangle 14"/>
          <p:cNvSpPr/>
          <p:nvPr/>
        </p:nvSpPr>
        <p:spPr>
          <a:xfrm>
            <a:off x="5717471" y="1234440"/>
            <a:ext cx="5971303"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500" b="1" i="0">
                <a:solidFill>
                  <a:srgbClr val="FFFFFF"/>
                </a:solidFill>
                <a:latin typeface="Calibri"/>
              </a:rPr>
              <a:t>DESPUÉS · PC Y ANDROID: acciones</a:t>
            </a:r>
          </a:p>
        </p:txBody>
      </p:sp>
      <p:sp>
        <p:nvSpPr>
          <p:cNvPr id="16" name="Rounded Rectangle 15"/>
          <p:cNvSpPr/>
          <p:nvPr/>
        </p:nvSpPr>
        <p:spPr>
          <a:xfrm>
            <a:off x="5717471" y="4160520"/>
            <a:ext cx="5971303" cy="1280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82063" y="4251960"/>
            <a:ext cx="5642119" cy="109728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18–21  </a:t>
            </a:r>
            <a:r>
              <a:rPr sz="1300" b="0" i="0">
                <a:solidFill>
                  <a:srgbClr val="1F2937"/>
                </a:solidFill>
                <a:latin typeface="Calibri"/>
              </a:rPr>
              <a:t>"Mover" se hace con las flechas del teclado (y con A/D)</a:t>
            </a:r>
          </a:p>
          <a:p>
            <a:pPr>
              <a:spcBef>
                <a:spcPts val="300"/>
              </a:spcBef>
            </a:pPr>
            <a:r>
              <a:rPr sz="1300" b="1" i="0">
                <a:solidFill>
                  <a:srgbClr val="0D9488"/>
                </a:solidFill>
                <a:latin typeface="Calibri"/>
              </a:rPr>
              <a:t>Línea 25–26  </a:t>
            </a:r>
            <a:r>
              <a:rPr sz="1300" b="0" i="0">
                <a:solidFill>
                  <a:srgbClr val="1F2937"/>
                </a:solidFill>
                <a:latin typeface="Calibri"/>
              </a:rPr>
              <a:t>…o con el stick y la cruz del joystick</a:t>
            </a:r>
          </a:p>
          <a:p>
            <a:pPr>
              <a:spcBef>
                <a:spcPts val="300"/>
              </a:spcBef>
            </a:pPr>
            <a:r>
              <a:rPr sz="1300" b="1" i="0">
                <a:solidFill>
                  <a:srgbClr val="0D9488"/>
                </a:solidFill>
                <a:latin typeface="Calibri"/>
              </a:rPr>
              <a:t>Línea 28–30  </a:t>
            </a:r>
            <a:r>
              <a:rPr sz="1300" b="0" i="0">
                <a:solidFill>
                  <a:srgbClr val="1F2937"/>
                </a:solidFill>
                <a:latin typeface="Calibri"/>
              </a:rPr>
              <a:t>"Saltar" es Espacio o el botón A, y ◀ ▶ SALTAR en pantalla imitan ese joystick</a:t>
            </a:r>
          </a:p>
        </p:txBody>
      </p:sp>
      <p:sp>
        <p:nvSpPr>
          <p:cNvPr id="18" name="TextBox 17"/>
          <p:cNvSpPr txBox="1"/>
          <p:nvPr/>
        </p:nvSpPr>
        <p:spPr>
          <a:xfrm>
            <a:off x="5717471" y="1691640"/>
            <a:ext cx="5971303" cy="320040"/>
          </a:xfrm>
          <a:prstGeom prst="rect">
            <a:avLst/>
          </a:prstGeom>
          <a:noFill/>
        </p:spPr>
        <p:txBody>
          <a:bodyPr wrap="square" anchor="ctr" lIns="0" rIns="0" tIns="0" bIns="0">
            <a:spAutoFit/>
          </a:bodyPr>
          <a:lstStyle/>
          <a:p>
            <a:r>
              <a:rPr sz="1200" b="1" i="0">
                <a:solidFill>
                  <a:srgbClr val="6B7280"/>
                </a:solidFill>
                <a:latin typeface="Calibri"/>
              </a:rPr>
              <a:t>PlayerInputAdapter.cs  ·  líneas 18–30  ·  extracto</a:t>
            </a:r>
          </a:p>
        </p:txBody>
      </p:sp>
      <p:sp>
        <p:nvSpPr>
          <p:cNvPr id="19" name="Rounded Rectangle 18"/>
          <p:cNvSpPr/>
          <p:nvPr/>
        </p:nvSpPr>
        <p:spPr>
          <a:xfrm>
            <a:off x="5717471" y="2057400"/>
            <a:ext cx="5971303" cy="199339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000" b="0" i="0">
                <a:solidFill>
                  <a:srgbClr val="64748B"/>
                </a:solidFill>
                <a:latin typeface="Consolas"/>
              </a:rPr>
              <a:t> 18  </a:t>
            </a:r>
            <a:r>
              <a:rPr sz="1000" b="0" i="0">
                <a:solidFill>
                  <a:srgbClr val="E2E8F0"/>
                </a:solidFill>
                <a:latin typeface="Consolas"/>
              </a:rPr>
              <a:t>move = new InputAction("Move", InputActionType.Value);</a:t>
            </a:r>
          </a:p>
          <a:p>
            <a:pPr algn="l"/>
            <a:r>
              <a:rPr sz="1000" b="0" i="0">
                <a:solidFill>
                  <a:srgbClr val="64748B"/>
                </a:solidFill>
                <a:latin typeface="Consolas"/>
              </a:rPr>
              <a:t> 19  </a:t>
            </a:r>
            <a:r>
              <a:rPr sz="1000" b="0" i="0">
                <a:solidFill>
                  <a:srgbClr val="E2E8F0"/>
                </a:solidFill>
                <a:latin typeface="Consolas"/>
              </a:rPr>
              <a:t>move.AddCompositeBinding("1DAxis")</a:t>
            </a:r>
          </a:p>
          <a:p>
            <a:pPr algn="l"/>
            <a:r>
              <a:rPr sz="1000" b="0" i="0">
                <a:solidFill>
                  <a:srgbClr val="64748B"/>
                </a:solidFill>
                <a:latin typeface="Consolas"/>
              </a:rPr>
              <a:t> 20  </a:t>
            </a:r>
            <a:r>
              <a:rPr sz="1000" b="0" i="0">
                <a:solidFill>
                  <a:srgbClr val="E2E8F0"/>
                </a:solidFill>
                <a:latin typeface="Consolas"/>
              </a:rPr>
              <a:t>    .With("Negative", "&lt;Keyboard&gt;/leftArrow")</a:t>
            </a:r>
          </a:p>
          <a:p>
            <a:pPr algn="l"/>
            <a:r>
              <a:rPr sz="1000" b="0" i="0">
                <a:solidFill>
                  <a:srgbClr val="64748B"/>
                </a:solidFill>
                <a:latin typeface="Consolas"/>
              </a:rPr>
              <a:t> 21  </a:t>
            </a:r>
            <a:r>
              <a:rPr sz="1000" b="0" i="0">
                <a:solidFill>
                  <a:srgbClr val="E2E8F0"/>
                </a:solidFill>
                <a:latin typeface="Consolas"/>
              </a:rPr>
              <a:t>    .With("Positive", "&lt;Keyboard&gt;/rightArrow");</a:t>
            </a:r>
          </a:p>
          <a:p>
            <a:pPr algn="l"/>
            <a:r>
              <a:rPr sz="1000" b="0" i="0">
                <a:solidFill>
                  <a:srgbClr val="64748B"/>
                </a:solidFill>
                <a:latin typeface="Consolas"/>
              </a:rPr>
              <a:t>     </a:t>
            </a:r>
            <a:r>
              <a:rPr sz="1000" b="0" i="0">
                <a:solidFill>
                  <a:srgbClr val="64748B"/>
                </a:solidFill>
                <a:latin typeface="Consolas"/>
              </a:rPr>
              <a:t>⋯</a:t>
            </a:r>
          </a:p>
          <a:p>
            <a:pPr algn="l"/>
            <a:r>
              <a:rPr sz="1000" b="0" i="0">
                <a:solidFill>
                  <a:srgbClr val="64748B"/>
                </a:solidFill>
                <a:latin typeface="Consolas"/>
              </a:rPr>
              <a:t> 25  </a:t>
            </a:r>
            <a:r>
              <a:rPr sz="1000" b="1" i="0">
                <a:solidFill>
                  <a:srgbClr val="D97706"/>
                </a:solidFill>
                <a:latin typeface="Consolas"/>
              </a:rPr>
              <a:t>move.AddBinding("&lt;Gamepad&gt;/leftStick/x");</a:t>
            </a:r>
          </a:p>
          <a:p>
            <a:pPr algn="l"/>
            <a:r>
              <a:rPr sz="1000" b="0" i="0">
                <a:solidFill>
                  <a:srgbClr val="64748B"/>
                </a:solidFill>
                <a:latin typeface="Consolas"/>
              </a:rPr>
              <a:t> 26  </a:t>
            </a:r>
            <a:r>
              <a:rPr sz="1000" b="1" i="0">
                <a:solidFill>
                  <a:srgbClr val="D97706"/>
                </a:solidFill>
                <a:latin typeface="Consolas"/>
              </a:rPr>
              <a:t>move.AddBinding("&lt;Gamepad&gt;/dpad/x");</a:t>
            </a:r>
          </a:p>
          <a:p>
            <a:pPr algn="l"/>
            <a:r>
              <a:rPr sz="1000" b="0" i="0">
                <a:solidFill>
                  <a:srgbClr val="64748B"/>
                </a:solidFill>
                <a:latin typeface="Consolas"/>
              </a:rPr>
              <a:t>     </a:t>
            </a:r>
            <a:r>
              <a:rPr sz="1000" b="0" i="0">
                <a:solidFill>
                  <a:srgbClr val="64748B"/>
                </a:solidFill>
                <a:latin typeface="Consolas"/>
              </a:rPr>
              <a:t>⋯</a:t>
            </a:r>
          </a:p>
          <a:p>
            <a:pPr algn="l"/>
            <a:r>
              <a:rPr sz="1000" b="0" i="0">
                <a:solidFill>
                  <a:srgbClr val="64748B"/>
                </a:solidFill>
                <a:latin typeface="Consolas"/>
              </a:rPr>
              <a:t> 28  </a:t>
            </a:r>
            <a:r>
              <a:rPr sz="1000" b="0" i="0">
                <a:solidFill>
                  <a:srgbClr val="E2E8F0"/>
                </a:solidFill>
                <a:latin typeface="Consolas"/>
              </a:rPr>
              <a:t>jump = new InputAction("Jump", InputActionType.Button);</a:t>
            </a:r>
          </a:p>
          <a:p>
            <a:pPr algn="l"/>
            <a:r>
              <a:rPr sz="1000" b="0" i="0">
                <a:solidFill>
                  <a:srgbClr val="64748B"/>
                </a:solidFill>
                <a:latin typeface="Consolas"/>
              </a:rPr>
              <a:t> 29  </a:t>
            </a:r>
            <a:r>
              <a:rPr sz="1000" b="0" i="0">
                <a:solidFill>
                  <a:srgbClr val="E2E8F0"/>
                </a:solidFill>
                <a:latin typeface="Consolas"/>
              </a:rPr>
              <a:t>jump.AddBinding("&lt;Keyboard&gt;/space");</a:t>
            </a:r>
          </a:p>
          <a:p>
            <a:pPr algn="l"/>
            <a:r>
              <a:rPr sz="1000" b="0" i="0">
                <a:solidFill>
                  <a:srgbClr val="64748B"/>
                </a:solidFill>
                <a:latin typeface="Consolas"/>
              </a:rPr>
              <a:t> 30  </a:t>
            </a:r>
            <a:r>
              <a:rPr sz="1000" b="1" i="0">
                <a:solidFill>
                  <a:srgbClr val="D97706"/>
                </a:solidFill>
                <a:latin typeface="Consolas"/>
              </a:rPr>
              <a:t>jump.AddBinding("&lt;Gamepad&gt;/buttonSouth");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RESOLUCIÓN Y ORIENTACIÓN</a:t>
            </a:r>
          </a:p>
          <a:p>
            <a:r>
              <a:rPr sz="2600" b="1" i="0">
                <a:solidFill>
                  <a:srgbClr val="FFFFFF"/>
                </a:solidFill>
                <a:latin typeface="Calibri"/>
              </a:rPr>
              <a:t>Antes y después: la pantalla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el juego de PC nunca necesitó estas líneas?</a:t>
            </a:r>
          </a:p>
        </p:txBody>
      </p:sp>
      <p:sp>
        <p:nvSpPr>
          <p:cNvPr id="10" name="Rounded Rectangle 9"/>
          <p:cNvSpPr/>
          <p:nvPr/>
        </p:nvSpPr>
        <p:spPr>
          <a:xfrm>
            <a:off x="502920" y="1234440"/>
            <a:ext cx="4165229" cy="384048"/>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500" b="1" i="0">
                <a:solidFill>
                  <a:srgbClr val="FFFFFF"/>
                </a:solidFill>
                <a:latin typeface="Calibri"/>
              </a:rPr>
              <a:t>ANTES · PC: cualquier orientación</a:t>
            </a:r>
          </a:p>
        </p:txBody>
      </p:sp>
      <p:sp>
        <p:nvSpPr>
          <p:cNvPr id="11" name="Rounded Rectangle 10"/>
          <p:cNvSpPr/>
          <p:nvPr/>
        </p:nvSpPr>
        <p:spPr>
          <a:xfrm>
            <a:off x="502920" y="3886200"/>
            <a:ext cx="4165229" cy="15544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977640"/>
            <a:ext cx="3836045" cy="137160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62  </a:t>
            </a:r>
            <a:r>
              <a:rPr sz="1300" b="0" i="0">
                <a:solidFill>
                  <a:srgbClr val="1F2937"/>
                </a:solidFill>
                <a:latin typeface="Calibri"/>
              </a:rPr>
              <a:t>el juego puede girar a vertical (1 = sí, 0 = no)</a:t>
            </a:r>
          </a:p>
          <a:p>
            <a:pPr>
              <a:spcBef>
                <a:spcPts val="300"/>
              </a:spcBef>
            </a:pPr>
            <a:r>
              <a:rPr sz="1300" b="1" i="0">
                <a:solidFill>
                  <a:srgbClr val="0D9488"/>
                </a:solidFill>
                <a:latin typeface="Calibri"/>
              </a:rPr>
              <a:t>Línea 63  </a:t>
            </a:r>
            <a:r>
              <a:rPr sz="1300" b="0" i="0">
                <a:solidFill>
                  <a:srgbClr val="1F2937"/>
                </a:solidFill>
                <a:latin typeface="Calibri"/>
              </a:rPr>
              <a:t>también a vertical dado vuelta</a:t>
            </a:r>
          </a:p>
          <a:p>
            <a:pPr>
              <a:spcBef>
                <a:spcPts val="300"/>
              </a:spcBef>
            </a:pPr>
            <a:r>
              <a:rPr sz="1300" b="1" i="0">
                <a:solidFill>
                  <a:srgbClr val="0D9488"/>
                </a:solidFill>
                <a:latin typeface="Calibri"/>
              </a:rPr>
              <a:t>Línea 64–65  </a:t>
            </a:r>
            <a:r>
              <a:rPr sz="1300" b="0" i="0">
                <a:solidFill>
                  <a:srgbClr val="1F2937"/>
                </a:solidFill>
                <a:latin typeface="Calibri"/>
              </a:rPr>
              <a:t>y a horizontal, hacia los dos lados</a:t>
            </a:r>
          </a:p>
          <a:p>
            <a:pPr>
              <a:spcBef>
                <a:spcPts val="300"/>
              </a:spcBef>
            </a:pPr>
            <a:r>
              <a:rPr sz="1300" b="0" i="0">
                <a:solidFill>
                  <a:srgbClr val="1F2937"/>
                </a:solidFill>
                <a:latin typeface="Calibri"/>
              </a:rPr>
              <a:t>En la versión 2, las líneas 62 y 63 pasan a 0</a:t>
            </a:r>
          </a:p>
        </p:txBody>
      </p:sp>
      <p:sp>
        <p:nvSpPr>
          <p:cNvPr id="13" name="TextBox 12"/>
          <p:cNvSpPr txBox="1"/>
          <p:nvPr/>
        </p:nvSpPr>
        <p:spPr>
          <a:xfrm>
            <a:off x="502920" y="1691640"/>
            <a:ext cx="4165229" cy="320040"/>
          </a:xfrm>
          <a:prstGeom prst="rect">
            <a:avLst/>
          </a:prstGeom>
          <a:noFill/>
        </p:spPr>
        <p:txBody>
          <a:bodyPr wrap="square" anchor="ctr" lIns="0" rIns="0" tIns="0" bIns="0">
            <a:spAutoFit/>
          </a:bodyPr>
          <a:lstStyle/>
          <a:p>
            <a:r>
              <a:rPr sz="1200" b="1" i="0">
                <a:solidFill>
                  <a:srgbClr val="6B7280"/>
                </a:solidFill>
                <a:latin typeface="Calibri"/>
              </a:rPr>
              <a:t>ProjectSettings.asset  ·  líneas 62–65  ·  versión original</a:t>
            </a:r>
          </a:p>
        </p:txBody>
      </p:sp>
      <p:sp>
        <p:nvSpPr>
          <p:cNvPr id="14" name="Rounded Rectangle 13"/>
          <p:cNvSpPr/>
          <p:nvPr/>
        </p:nvSpPr>
        <p:spPr>
          <a:xfrm>
            <a:off x="502920" y="2057400"/>
            <a:ext cx="4165229" cy="171907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100" b="0" i="0">
                <a:solidFill>
                  <a:srgbClr val="64748B"/>
                </a:solidFill>
                <a:latin typeface="Consolas"/>
              </a:rPr>
              <a:t> 62  </a:t>
            </a:r>
            <a:r>
              <a:rPr sz="1100" b="1" i="0">
                <a:solidFill>
                  <a:srgbClr val="D97706"/>
                </a:solidFill>
                <a:latin typeface="Consolas"/>
              </a:rPr>
              <a:t>allowedAutorotateToPortrait: 1</a:t>
            </a:r>
          </a:p>
          <a:p>
            <a:pPr algn="l"/>
            <a:r>
              <a:rPr sz="1100" b="0" i="0">
                <a:solidFill>
                  <a:srgbClr val="64748B"/>
                </a:solidFill>
                <a:latin typeface="Consolas"/>
              </a:rPr>
              <a:t> 63  </a:t>
            </a:r>
            <a:r>
              <a:rPr sz="1100" b="1" i="0">
                <a:solidFill>
                  <a:srgbClr val="D97706"/>
                </a:solidFill>
                <a:latin typeface="Consolas"/>
              </a:rPr>
              <a:t>allowedAutorotateToPortraitUpsideDown: 1</a:t>
            </a:r>
          </a:p>
          <a:p>
            <a:pPr algn="l"/>
            <a:r>
              <a:rPr sz="1100" b="0" i="0">
                <a:solidFill>
                  <a:srgbClr val="64748B"/>
                </a:solidFill>
                <a:latin typeface="Consolas"/>
              </a:rPr>
              <a:t> 64  </a:t>
            </a:r>
            <a:r>
              <a:rPr sz="1100" b="0" i="0">
                <a:solidFill>
                  <a:srgbClr val="E2E8F0"/>
                </a:solidFill>
                <a:latin typeface="Consolas"/>
              </a:rPr>
              <a:t>allowedAutorotateToLandscapeRight: 1</a:t>
            </a:r>
          </a:p>
          <a:p>
            <a:pPr algn="l"/>
            <a:r>
              <a:rPr sz="1100" b="0" i="0">
                <a:solidFill>
                  <a:srgbClr val="64748B"/>
                </a:solidFill>
                <a:latin typeface="Consolas"/>
              </a:rPr>
              <a:t> 65  </a:t>
            </a:r>
            <a:r>
              <a:rPr sz="1100" b="0" i="0">
                <a:solidFill>
                  <a:srgbClr val="E2E8F0"/>
                </a:solidFill>
                <a:latin typeface="Consolas"/>
              </a:rPr>
              <a:t>allowedAutorotateToLandscapeLeft: 1</a:t>
            </a:r>
          </a:p>
        </p:txBody>
      </p:sp>
      <p:sp>
        <p:nvSpPr>
          <p:cNvPr id="15" name="Rounded Rectangle 14"/>
          <p:cNvSpPr/>
          <p:nvPr/>
        </p:nvSpPr>
        <p:spPr>
          <a:xfrm>
            <a:off x="4988189" y="1234440"/>
            <a:ext cx="6700585" cy="384048"/>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l"/>
            <a:r>
              <a:rPr sz="1500" b="1" i="0">
                <a:solidFill>
                  <a:srgbClr val="FFFFFF"/>
                </a:solidFill>
                <a:latin typeface="Calibri"/>
              </a:rPr>
              <a:t>DESPUÉS · ANDROID: se adapta a la safe area</a:t>
            </a:r>
          </a:p>
        </p:txBody>
      </p:sp>
      <p:sp>
        <p:nvSpPr>
          <p:cNvPr id="16" name="Rounded Rectangle 15"/>
          <p:cNvSpPr/>
          <p:nvPr/>
        </p:nvSpPr>
        <p:spPr>
          <a:xfrm>
            <a:off x="4988189" y="4160520"/>
            <a:ext cx="6700585" cy="12801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52781" y="4251960"/>
            <a:ext cx="6371401" cy="109728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33  </a:t>
            </a:r>
            <a:r>
              <a:rPr sz="1300" b="0" i="0">
                <a:solidFill>
                  <a:srgbClr val="1F2937"/>
                </a:solidFill>
                <a:latin typeface="Calibri"/>
              </a:rPr>
              <a:t>le pregunta al teléfono qué zona no tapa la muesca ni la barra</a:t>
            </a:r>
          </a:p>
          <a:p>
            <a:pPr>
              <a:spcBef>
                <a:spcPts val="300"/>
              </a:spcBef>
            </a:pPr>
            <a:r>
              <a:rPr sz="1300" b="1" i="0">
                <a:solidFill>
                  <a:srgbClr val="0D9488"/>
                </a:solidFill>
                <a:latin typeface="Calibri"/>
              </a:rPr>
              <a:t>Línea 34–35  </a:t>
            </a:r>
            <a:r>
              <a:rPr sz="1300" b="0" i="0">
                <a:solidFill>
                  <a:srgbClr val="1F2937"/>
                </a:solidFill>
                <a:latin typeface="Calibri"/>
              </a:rPr>
              <a:t>mide el ancho y el alto de la pantalla</a:t>
            </a:r>
          </a:p>
          <a:p>
            <a:pPr>
              <a:spcBef>
                <a:spcPts val="300"/>
              </a:spcBef>
            </a:pPr>
            <a:r>
              <a:rPr sz="1300" b="1" i="0">
                <a:solidFill>
                  <a:srgbClr val="0D9488"/>
                </a:solidFill>
                <a:latin typeface="Calibri"/>
              </a:rPr>
              <a:t>Línea 43–44  </a:t>
            </a:r>
            <a:r>
              <a:rPr sz="1300" b="0" i="0">
                <a:solidFill>
                  <a:srgbClr val="1F2937"/>
                </a:solidFill>
                <a:latin typeface="Calibri"/>
              </a:rPr>
              <a:t>achica el área de los botones a esa zona libre</a:t>
            </a:r>
          </a:p>
        </p:txBody>
      </p:sp>
      <p:sp>
        <p:nvSpPr>
          <p:cNvPr id="18" name="TextBox 17"/>
          <p:cNvSpPr txBox="1"/>
          <p:nvPr/>
        </p:nvSpPr>
        <p:spPr>
          <a:xfrm>
            <a:off x="4988189" y="1691640"/>
            <a:ext cx="6700585" cy="320040"/>
          </a:xfrm>
          <a:prstGeom prst="rect">
            <a:avLst/>
          </a:prstGeom>
          <a:noFill/>
        </p:spPr>
        <p:txBody>
          <a:bodyPr wrap="square" anchor="ctr" lIns="0" rIns="0" tIns="0" bIns="0">
            <a:spAutoFit/>
          </a:bodyPr>
          <a:lstStyle/>
          <a:p>
            <a:r>
              <a:rPr sz="1200" b="1" i="0">
                <a:solidFill>
                  <a:srgbClr val="6B7280"/>
                </a:solidFill>
                <a:latin typeface="Calibri"/>
              </a:rPr>
              <a:t>SafeAreaFitter.cs  ·  líneas 33–44  ·  extracto</a:t>
            </a:r>
          </a:p>
        </p:txBody>
      </p:sp>
      <p:sp>
        <p:nvSpPr>
          <p:cNvPr id="19" name="Rounded Rectangle 18"/>
          <p:cNvSpPr/>
          <p:nvPr/>
        </p:nvSpPr>
        <p:spPr>
          <a:xfrm>
            <a:off x="4988189" y="2057400"/>
            <a:ext cx="6700585" cy="199339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200" b="0" i="0">
                <a:solidFill>
                  <a:srgbClr val="64748B"/>
                </a:solidFill>
                <a:latin typeface="Consolas"/>
              </a:rPr>
              <a:t> 33  </a:t>
            </a:r>
            <a:r>
              <a:rPr sz="1200" b="1" i="0">
                <a:solidFill>
                  <a:srgbClr val="D97706"/>
                </a:solidFill>
                <a:latin typeface="Consolas"/>
              </a:rPr>
              <a:t>Rect safe = UnityEngine.Device.Screen.safeArea;</a:t>
            </a:r>
          </a:p>
          <a:p>
            <a:pPr algn="l"/>
            <a:r>
              <a:rPr sz="1200" b="0" i="0">
                <a:solidFill>
                  <a:srgbClr val="64748B"/>
                </a:solidFill>
                <a:latin typeface="Consolas"/>
              </a:rPr>
              <a:t> 34  </a:t>
            </a:r>
            <a:r>
              <a:rPr sz="1200" b="0" i="0">
                <a:solidFill>
                  <a:srgbClr val="E2E8F0"/>
                </a:solidFill>
                <a:latin typeface="Consolas"/>
              </a:rPr>
              <a:t>int width = UnityEngine.Device.Screen.width;</a:t>
            </a:r>
          </a:p>
          <a:p>
            <a:pPr algn="l"/>
            <a:r>
              <a:rPr sz="1200" b="0" i="0">
                <a:solidFill>
                  <a:srgbClr val="64748B"/>
                </a:solidFill>
                <a:latin typeface="Consolas"/>
              </a:rPr>
              <a:t> 35  </a:t>
            </a:r>
            <a:r>
              <a:rPr sz="1200" b="0" i="0">
                <a:solidFill>
                  <a:srgbClr val="E2E8F0"/>
                </a:solidFill>
                <a:latin typeface="Consolas"/>
              </a:rPr>
              <a:t>int height = UnityEngine.Device.Screen.height;</a:t>
            </a:r>
          </a:p>
          <a:p>
            <a:pPr algn="l"/>
            <a:r>
              <a:rPr sz="1200" b="0" i="0">
                <a:solidFill>
                  <a:srgbClr val="64748B"/>
                </a:solidFill>
                <a:latin typeface="Consolas"/>
              </a:rPr>
              <a:t>     </a:t>
            </a:r>
            <a:r>
              <a:rPr sz="1200" b="0" i="0">
                <a:solidFill>
                  <a:srgbClr val="64748B"/>
                </a:solidFill>
                <a:latin typeface="Consolas"/>
              </a:rPr>
              <a:t>⋯</a:t>
            </a:r>
          </a:p>
          <a:p>
            <a:pPr algn="l"/>
            <a:r>
              <a:rPr sz="1200" b="0" i="0">
                <a:solidFill>
                  <a:srgbClr val="64748B"/>
                </a:solidFill>
                <a:latin typeface="Consolas"/>
              </a:rPr>
              <a:t> 43  </a:t>
            </a:r>
            <a:r>
              <a:rPr sz="1200" b="1" i="0">
                <a:solidFill>
                  <a:srgbClr val="D97706"/>
                </a:solidFill>
                <a:latin typeface="Consolas"/>
              </a:rPr>
              <a:t>rect.anchorMin = new Vector2(safe.xMin / width, safe.yMin / height);</a:t>
            </a:r>
          </a:p>
          <a:p>
            <a:pPr algn="l"/>
            <a:r>
              <a:rPr sz="1200" b="0" i="0">
                <a:solidFill>
                  <a:srgbClr val="64748B"/>
                </a:solidFill>
                <a:latin typeface="Consolas"/>
              </a:rPr>
              <a:t> 44  </a:t>
            </a:r>
            <a:r>
              <a:rPr sz="1200" b="1" i="0">
                <a:solidFill>
                  <a:srgbClr val="D97706"/>
                </a:solidFill>
                <a:latin typeface="Consolas"/>
              </a:rPr>
              <a:t>rect.anchorMax = new Vector2(safe.xMax / width, safe.yMax / height);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ORIENTACIÓN · ASTEROIDES VS. PLATFORMER</a:t>
            </a:r>
          </a:p>
          <a:p>
            <a:r>
              <a:rPr sz="2600" b="1" i="0">
                <a:solidFill>
                  <a:srgbClr val="FFFFFF"/>
                </a:solidFill>
                <a:latin typeface="Calibri"/>
              </a:rPr>
              <a:t>Un juego, dos orientaciones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63/87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¿La orientación la decide el género o la plataforma?</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2455431"/>
                <a:gridCol w="4365211"/>
                <a:gridCol w="4365211"/>
              </a:tblGrid>
              <a:tr h="566928">
                <a:tc>
                  <a:txBody>
                    <a:bodyPr wrap="square"/>
                    <a:lstStyle/>
                    <a:p>
                      <a:r>
                        <a:rPr sz="1400" b="1" i="0">
                          <a:solidFill>
                            <a:srgbClr val="FFFFFF"/>
                          </a:solidFill>
                          <a:latin typeface="Calibri"/>
                        </a:rPr>
                        <a:t/>
                      </a:r>
                    </a:p>
                  </a:txBody>
                  <a:tcPr marL="73152" marR="73152" marT="36576" marB="36576" anchor="ctr">
                    <a:solidFill>
                      <a:srgbClr val="0D9488"/>
                    </a:solidFill>
                  </a:tcPr>
                </a:tc>
                <a:tc>
                  <a:txBody>
                    <a:bodyPr wrap="square"/>
                    <a:lstStyle/>
                    <a:p>
                      <a:r>
                        <a:rPr sz="1400" b="1" i="0">
                          <a:solidFill>
                            <a:srgbClr val="FFFFFF"/>
                          </a:solidFill>
                          <a:latin typeface="Calibri"/>
                        </a:rPr>
                        <a:t>Asteroides (arcade)</a:t>
                      </a:r>
                    </a:p>
                  </a:txBody>
                  <a:tcPr marL="73152" marR="73152" marT="36576" marB="36576" anchor="ctr">
                    <a:solidFill>
                      <a:srgbClr val="0D9488"/>
                    </a:solidFill>
                  </a:tcPr>
                </a:tc>
                <a:tc>
                  <a:txBody>
                    <a:bodyPr wrap="square"/>
                    <a:lstStyle/>
                    <a:p>
                      <a:r>
                        <a:rPr sz="1400" b="1" i="0">
                          <a:solidFill>
                            <a:srgbClr val="FFFFFF"/>
                          </a:solidFill>
                          <a:latin typeface="Calibri"/>
                        </a:rPr>
                        <a:t>2D Platformer (niveles)</a:t>
                      </a:r>
                    </a:p>
                  </a:txBody>
                  <a:tcPr marL="73152" marR="73152" marT="36576" marB="36576" anchor="ctr">
                    <a:solidFill>
                      <a:srgbClr val="0D9488"/>
                    </a:solidFill>
                  </a:tcPr>
                </a:tc>
              </a:tr>
              <a:tr h="566928">
                <a:tc>
                  <a:txBody>
                    <a:bodyPr wrap="square"/>
                    <a:lstStyle/>
                    <a:p>
                      <a:r>
                        <a:rPr sz="1400" b="0" i="0">
                          <a:solidFill>
                            <a:srgbClr val="1F2937"/>
                          </a:solidFill>
                          <a:latin typeface="Calibri"/>
                        </a:rPr>
                        <a:t>Orientación</a:t>
                      </a:r>
                    </a:p>
                  </a:txBody>
                  <a:tcPr marL="73152" marR="73152" marT="36576" marB="36576" anchor="ctr">
                    <a:solidFill>
                      <a:srgbClr val="FFFFFF"/>
                    </a:solidFill>
                  </a:tcPr>
                </a:tc>
                <a:tc>
                  <a:txBody>
                    <a:bodyPr wrap="square"/>
                    <a:lstStyle/>
                    <a:p>
                      <a:r>
                        <a:rPr sz="1400" b="0" i="0">
                          <a:solidFill>
                            <a:srgbClr val="1F2937"/>
                          </a:solidFill>
                          <a:latin typeface="Calibri"/>
                        </a:rPr>
                        <a:t>Horizontal o vertical</a:t>
                      </a:r>
                    </a:p>
                  </a:txBody>
                  <a:tcPr marL="73152" marR="73152" marT="36576" marB="36576" anchor="ctr">
                    <a:solidFill>
                      <a:srgbClr val="FFFFFF"/>
                    </a:solidFill>
                  </a:tcPr>
                </a:tc>
                <a:tc>
                  <a:txBody>
                    <a:bodyPr wrap="square"/>
                    <a:lstStyle/>
                    <a:p>
                      <a:r>
                        <a:rPr sz="1400" b="0" i="0">
                          <a:solidFill>
                            <a:srgbClr val="1F2937"/>
                          </a:solidFill>
                          <a:latin typeface="Calibri"/>
                        </a:rPr>
                        <a:t>Solo horizontal</a:t>
                      </a:r>
                    </a:p>
                  </a:txBody>
                  <a:tcPr marL="73152" marR="73152" marT="36576" marB="36576" anchor="ctr">
                    <a:solidFill>
                      <a:srgbClr val="FFFFFF"/>
                    </a:solidFill>
                  </a:tcPr>
                </a:tc>
              </a:tr>
              <a:tr h="566928">
                <a:tc>
                  <a:txBody>
                    <a:bodyPr wrap="square"/>
                    <a:lstStyle/>
                    <a:p>
                      <a:r>
                        <a:rPr sz="1400" b="0" i="0">
                          <a:solidFill>
                            <a:srgbClr val="1F2937"/>
                          </a:solidFill>
                          <a:latin typeface="Calibri"/>
                        </a:rPr>
                        <a:t>Qué se rompe</a:t>
                      </a:r>
                    </a:p>
                  </a:txBody>
                  <a:tcPr marL="73152" marR="73152" marT="36576" marB="36576" anchor="ctr">
                    <a:solidFill>
                      <a:srgbClr val="E6F4F2"/>
                    </a:solidFill>
                  </a:tcPr>
                </a:tc>
                <a:tc>
                  <a:txBody>
                    <a:bodyPr wrap="square"/>
                    <a:lstStyle/>
                    <a:p>
                      <a:r>
                        <a:rPr sz="1400" b="0" i="0">
                          <a:solidFill>
                            <a:srgbClr val="1F2937"/>
                          </a:solidFill>
                          <a:latin typeface="Calibri"/>
                        </a:rPr>
                        <a:t>Escala: muy chico o enorme</a:t>
                      </a:r>
                    </a:p>
                  </a:txBody>
                  <a:tcPr marL="73152" marR="73152" marT="36576" marB="36576" anchor="ctr">
                    <a:solidFill>
                      <a:srgbClr val="E6F4F2"/>
                    </a:solidFill>
                  </a:tcPr>
                </a:tc>
                <a:tc>
                  <a:txBody>
                    <a:bodyPr wrap="square"/>
                    <a:lstStyle/>
                    <a:p>
                      <a:r>
                        <a:rPr sz="1400" b="0" i="0">
                          <a:solidFill>
                            <a:srgbClr val="1F2937"/>
                          </a:solidFill>
                          <a:latin typeface="Calibri"/>
                        </a:rPr>
                        <a:t>Se ve poco nivel</a:t>
                      </a:r>
                    </a:p>
                  </a:txBody>
                  <a:tcPr marL="73152" marR="73152" marT="36576" marB="36576" anchor="ctr">
                    <a:solidFill>
                      <a:srgbClr val="E6F4F2"/>
                    </a:solidFill>
                  </a:tcPr>
                </a:tc>
              </a:tr>
              <a:tr h="566928">
                <a:tc>
                  <a:txBody>
                    <a:bodyPr wrap="square"/>
                    <a:lstStyle/>
                    <a:p>
                      <a:r>
                        <a:rPr sz="1400" b="0" i="0">
                          <a:solidFill>
                            <a:srgbClr val="1F2937"/>
                          </a:solidFill>
                          <a:latin typeface="Calibri"/>
                        </a:rPr>
                        <a:t>Por qué</a:t>
                      </a:r>
                    </a:p>
                  </a:txBody>
                  <a:tcPr marL="73152" marR="73152" marT="36576" marB="36576" anchor="ctr">
                    <a:solidFill>
                      <a:srgbClr val="FFFFFF"/>
                    </a:solidFill>
                  </a:tcPr>
                </a:tc>
                <a:tc>
                  <a:txBody>
                    <a:bodyPr wrap="square"/>
                    <a:lstStyle/>
                    <a:p>
                      <a:r>
                        <a:rPr sz="1400" b="0" i="0">
                          <a:solidFill>
                            <a:srgbClr val="1F2937"/>
                          </a:solidFill>
                          <a:latin typeface="Calibri"/>
                        </a:rPr>
                        <a:t>Cámara fija en altura</a:t>
                      </a:r>
                    </a:p>
                  </a:txBody>
                  <a:tcPr marL="73152" marR="73152" marT="36576" marB="36576" anchor="ctr">
                    <a:solidFill>
                      <a:srgbClr val="FFFFFF"/>
                    </a:solidFill>
                  </a:tcPr>
                </a:tc>
                <a:tc>
                  <a:txBody>
                    <a:bodyPr wrap="square"/>
                    <a:lstStyle/>
                    <a:p>
                      <a:r>
                        <a:rPr sz="1400" b="0" i="0">
                          <a:solidFill>
                            <a:srgbClr val="1F2937"/>
                          </a:solidFill>
                          <a:latin typeface="Calibri"/>
                        </a:rPr>
                        <a:t>Hay que anticipar pozos</a:t>
                      </a:r>
                    </a:p>
                  </a:txBody>
                  <a:tcPr marL="73152" marR="73152" marT="36576" marB="36576" anchor="ctr">
                    <a:solidFill>
                      <a:srgbClr val="FFFFFF"/>
                    </a:solidFill>
                  </a:tcPr>
                </a:tc>
              </a:tr>
              <a:tr h="566928">
                <a:tc>
                  <a:txBody>
                    <a:bodyPr wrap="square"/>
                    <a:lstStyle/>
                    <a:p>
                      <a:r>
                        <a:rPr sz="1400" b="0" i="0">
                          <a:solidFill>
                            <a:srgbClr val="1F2937"/>
                          </a:solidFill>
                          <a:latin typeface="Calibri"/>
                        </a:rPr>
                        <a:t>Ajuste</a:t>
                      </a:r>
                    </a:p>
                  </a:txBody>
                  <a:tcPr marL="73152" marR="73152" marT="36576" marB="36576" anchor="ctr">
                    <a:solidFill>
                      <a:srgbClr val="E6F4F2"/>
                    </a:solidFill>
                  </a:tcPr>
                </a:tc>
                <a:tc>
                  <a:txBody>
                    <a:bodyPr wrap="square"/>
                    <a:lstStyle/>
                    <a:p>
                      <a:r>
                        <a:rPr sz="1400" b="0" i="0">
                          <a:solidFill>
                            <a:srgbClr val="1F2937"/>
                          </a:solidFill>
                          <a:latin typeface="Calibri"/>
                        </a:rPr>
                        <a:t>Cámara y spawn por aspecto</a:t>
                      </a:r>
                    </a:p>
                  </a:txBody>
                  <a:tcPr marL="73152" marR="73152" marT="36576" marB="36576" anchor="ctr">
                    <a:solidFill>
                      <a:srgbClr val="E6F4F2"/>
                    </a:solidFill>
                  </a:tcPr>
                </a:tc>
                <a:tc>
                  <a:txBody>
                    <a:bodyPr wrap="square"/>
                    <a:lstStyle/>
                    <a:p>
                      <a:r>
                        <a:rPr sz="1400" b="0" i="0">
                          <a:solidFill>
                            <a:srgbClr val="1F2937"/>
                          </a:solidFill>
                          <a:latin typeface="Calibri"/>
                        </a:rPr>
                        <a:t>Bloqueo y margen de cámara</a:t>
                      </a:r>
                    </a:p>
                  </a:txBody>
                  <a:tcPr marL="73152" marR="73152" marT="36576" marB="36576" anchor="ctr">
                    <a:solidFill>
                      <a:srgbClr val="E6F4F2"/>
                    </a:solidFill>
                  </a:tcPr>
                </a:tc>
              </a:tr>
              <a:tr h="566928">
                <a:tc>
                  <a:txBody>
                    <a:bodyPr wrap="square"/>
                    <a:lstStyle/>
                    <a:p>
                      <a:r>
                        <a:rPr sz="1400" b="0" i="0">
                          <a:solidFill>
                            <a:srgbClr val="1F2937"/>
                          </a:solidFill>
                          <a:latin typeface="Calibri"/>
                        </a:rPr>
                        <a:t>Estado</a:t>
                      </a:r>
                    </a:p>
                  </a:txBody>
                  <a:tcPr marL="73152" marR="73152" marT="36576" marB="36576" anchor="ctr">
                    <a:solidFill>
                      <a:srgbClr val="FFFFFF"/>
                    </a:solidFill>
                  </a:tcPr>
                </a:tc>
                <a:tc>
                  <a:txBody>
                    <a:bodyPr wrap="square"/>
                    <a:lstStyle/>
                    <a:p>
                      <a:r>
                        <a:rPr sz="1400" b="0" i="0">
                          <a:solidFill>
                            <a:srgbClr val="1F2937"/>
                          </a:solidFill>
                          <a:latin typeface="Calibri"/>
                        </a:rPr>
                        <a:t>Decisión pendiente</a:t>
                      </a:r>
                    </a:p>
                  </a:txBody>
                  <a:tcPr marL="73152" marR="73152" marT="36576" marB="36576" anchor="ctr">
                    <a:solidFill>
                      <a:srgbClr val="FFFFFF"/>
                    </a:solidFill>
                  </a:tcPr>
                </a:tc>
                <a:tc>
                  <a:txBody>
                    <a:bodyPr wrap="square"/>
                    <a:lstStyle/>
                    <a:p>
                      <a:r>
                        <a:rPr sz="1400" b="0" i="0">
                          <a:solidFill>
                            <a:srgbClr val="1F2937"/>
                          </a:solidFill>
                          <a:latin typeface="Calibri"/>
                        </a:rPr>
                        <a:t>Bloqueo implementado</a:t>
                      </a:r>
                    </a:p>
                  </a:txBody>
                  <a:tcPr marL="73152" marR="73152" marT="36576" marB="36576" anchor="ctr">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 PC Y TELÉFONO</a:t>
            </a:r>
          </a:p>
          <a:p>
            <a:r>
              <a:rPr sz="2600" b="1" i="0">
                <a:solidFill>
                  <a:srgbClr val="FFFFFF"/>
                </a:solidFill>
                <a:latin typeface="Calibri"/>
              </a:rPr>
              <a:t>Actividad A4.9: auditar un porteo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64/87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Midan, no opinen: cada fila con una foto, una medida o un tiempo.</a:t>
            </a:r>
          </a:p>
        </p:txBody>
      </p:sp>
      <p:sp>
        <p:nvSpPr>
          <p:cNvPr id="10" name="TextBox 9"/>
          <p:cNvSpPr txBox="1"/>
          <p:nvPr/>
        </p:nvSpPr>
        <p:spPr>
          <a:xfrm>
            <a:off x="502920" y="1234440"/>
            <a:ext cx="11185855" cy="210312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Jugar el nivel 1 en PC</a:t>
            </a:r>
          </a:p>
          <a:p>
            <a:pPr>
              <a:spcAft>
                <a:spcPts val="800"/>
              </a:spcAft>
            </a:pPr>
            <a:r>
              <a:rPr sz="2200" b="1" i="0">
                <a:solidFill>
                  <a:srgbClr val="0D9488"/>
                </a:solidFill>
                <a:latin typeface="Calibri"/>
              </a:rPr>
              <a:t>2  </a:t>
            </a:r>
            <a:r>
              <a:rPr sz="2200" b="0" i="0">
                <a:solidFill>
                  <a:srgbClr val="1F2937"/>
                </a:solidFill>
                <a:latin typeface="Calibri"/>
              </a:rPr>
              <a:t>Instalar el APK y jugarlo</a:t>
            </a:r>
          </a:p>
          <a:p>
            <a:pPr>
              <a:spcAft>
                <a:spcPts val="800"/>
              </a:spcAft>
            </a:pPr>
            <a:r>
              <a:rPr sz="2200" b="1" i="0">
                <a:solidFill>
                  <a:srgbClr val="0D9488"/>
                </a:solidFill>
                <a:latin typeface="Calibri"/>
              </a:rPr>
              <a:t>3  </a:t>
            </a:r>
            <a:r>
              <a:rPr sz="2200" b="0" i="0">
                <a:solidFill>
                  <a:srgbClr val="1F2937"/>
                </a:solidFill>
                <a:latin typeface="Calibri"/>
              </a:rPr>
              <a:t>Completar la planilla</a:t>
            </a:r>
          </a:p>
          <a:p>
            <a:pPr>
              <a:spcAft>
                <a:spcPts val="800"/>
              </a:spcAft>
            </a:pPr>
            <a:r>
              <a:rPr sz="2200" b="1" i="0">
                <a:solidFill>
                  <a:srgbClr val="0D9488"/>
                </a:solidFill>
                <a:latin typeface="Calibri"/>
              </a:rPr>
              <a:t>4  </a:t>
            </a:r>
            <a:r>
              <a:rPr sz="2200" b="0" i="0">
                <a:solidFill>
                  <a:srgbClr val="1F2937"/>
                </a:solidFill>
                <a:latin typeface="Calibri"/>
              </a:rPr>
              <a:t>Ubicar un banner</a:t>
            </a:r>
          </a:p>
        </p:txBody>
      </p:sp>
      <p:graphicFrame>
        <p:nvGraphicFramePr>
          <p:cNvPr id="11" name="Table 10"/>
          <p:cNvGraphicFramePr>
            <a:graphicFrameLocks noGrp="1"/>
          </p:cNvGraphicFramePr>
          <p:nvPr/>
        </p:nvGraphicFramePr>
        <p:xfrm>
          <a:off x="502920" y="3337560"/>
          <a:ext cx="11185854" cy="2103120"/>
        </p:xfrm>
        <a:graphic>
          <a:graphicData uri="http://schemas.openxmlformats.org/drawingml/2006/table">
            <a:tbl>
              <a:tblPr firstRow="1" bandRow="1">
                <a:tableStyleId>{5C22544A-7EE6-4342-B048-85BDC9FD1C3A}</a:tableStyleId>
              </a:tblPr>
              <a:tblGrid>
                <a:gridCol w="3169325"/>
                <a:gridCol w="8016529"/>
              </a:tblGrid>
              <a:tr h="350520">
                <a:tc>
                  <a:txBody>
                    <a:bodyPr wrap="square"/>
                    <a:lstStyle/>
                    <a:p>
                      <a:r>
                        <a:rPr sz="1400" b="1" i="0">
                          <a:solidFill>
                            <a:srgbClr val="FFFFFF"/>
                          </a:solidFill>
                          <a:latin typeface="Calibri"/>
                        </a:rPr>
                        <a:t>Aspecto</a:t>
                      </a:r>
                    </a:p>
                  </a:txBody>
                  <a:tcPr marL="73152" marR="73152" marT="36576" marB="36576" anchor="ctr">
                    <a:solidFill>
                      <a:srgbClr val="0D9488"/>
                    </a:solidFill>
                  </a:tcPr>
                </a:tc>
                <a:tc>
                  <a:txBody>
                    <a:bodyPr wrap="square"/>
                    <a:lstStyle/>
                    <a:p>
                      <a:r>
                        <a:rPr sz="1400" b="1" i="0">
                          <a:solidFill>
                            <a:srgbClr val="FFFFFF"/>
                          </a:solidFill>
                          <a:latin typeface="Calibri"/>
                        </a:rPr>
                        <a:t>Qué medir</a:t>
                      </a:r>
                    </a:p>
                  </a:txBody>
                  <a:tcPr marL="73152" marR="73152" marT="36576" marB="36576" anchor="ctr">
                    <a:solidFill>
                      <a:srgbClr val="0D9488"/>
                    </a:solidFill>
                  </a:tcPr>
                </a:tc>
              </a:tr>
              <a:tr h="350520">
                <a:tc>
                  <a:txBody>
                    <a:bodyPr wrap="square"/>
                    <a:lstStyle/>
                    <a:p>
                      <a:r>
                        <a:rPr sz="1400" b="0" i="0">
                          <a:solidFill>
                            <a:srgbClr val="1F2937"/>
                          </a:solidFill>
                          <a:latin typeface="Calibri"/>
                        </a:rPr>
                        <a:t>Controles</a:t>
                      </a:r>
                    </a:p>
                  </a:txBody>
                  <a:tcPr marL="73152" marR="73152" marT="36576" marB="36576" anchor="ctr">
                    <a:solidFill>
                      <a:srgbClr val="FFFFFF"/>
                    </a:solidFill>
                  </a:tcPr>
                </a:tc>
                <a:tc>
                  <a:txBody>
                    <a:bodyPr wrap="square"/>
                    <a:lstStyle/>
                    <a:p>
                      <a:r>
                        <a:rPr sz="1400" b="0" i="0">
                          <a:solidFill>
                            <a:srgbClr val="1F2937"/>
                          </a:solidFill>
                          <a:latin typeface="Calibri"/>
                        </a:rPr>
                        <a:t>¿Responden? ¿Mover y saltar a la vez?</a:t>
                      </a:r>
                    </a:p>
                  </a:txBody>
                  <a:tcPr marL="73152" marR="73152" marT="36576" marB="36576" anchor="ctr">
                    <a:solidFill>
                      <a:srgbClr val="FFFFFF"/>
                    </a:solidFill>
                  </a:tcPr>
                </a:tc>
              </a:tr>
              <a:tr h="350520">
                <a:tc>
                  <a:txBody>
                    <a:bodyPr wrap="square"/>
                    <a:lstStyle/>
                    <a:p>
                      <a:r>
                        <a:rPr sz="1400" b="0" i="0">
                          <a:solidFill>
                            <a:srgbClr val="1F2937"/>
                          </a:solidFill>
                          <a:latin typeface="Calibri"/>
                        </a:rPr>
                        <a:t>Doble salto</a:t>
                      </a:r>
                    </a:p>
                  </a:txBody>
                  <a:tcPr marL="73152" marR="73152" marT="36576" marB="36576" anchor="ctr">
                    <a:solidFill>
                      <a:srgbClr val="E6F4F2"/>
                    </a:solidFill>
                  </a:tcPr>
                </a:tc>
                <a:tc>
                  <a:txBody>
                    <a:bodyPr wrap="square"/>
                    <a:lstStyle/>
                    <a:p>
                      <a:r>
                        <a:rPr sz="1400" b="0" i="0">
                          <a:solidFill>
                            <a:srgbClr val="1F2937"/>
                          </a:solidFill>
                          <a:latin typeface="Calibri"/>
                        </a:rPr>
                        <a:t>Aciertos en 5 intentos</a:t>
                      </a:r>
                    </a:p>
                  </a:txBody>
                  <a:tcPr marL="73152" marR="73152" marT="36576" marB="36576" anchor="ctr">
                    <a:solidFill>
                      <a:srgbClr val="E6F4F2"/>
                    </a:solidFill>
                  </a:tcPr>
                </a:tc>
              </a:tr>
              <a:tr h="350520">
                <a:tc>
                  <a:txBody>
                    <a:bodyPr wrap="square"/>
                    <a:lstStyle/>
                    <a:p>
                      <a:r>
                        <a:rPr sz="1400" b="0" i="0">
                          <a:solidFill>
                            <a:srgbClr val="1F2937"/>
                          </a:solidFill>
                          <a:latin typeface="Calibri"/>
                        </a:rPr>
                        <a:t>Orientación</a:t>
                      </a:r>
                    </a:p>
                  </a:txBody>
                  <a:tcPr marL="73152" marR="73152" marT="36576" marB="36576" anchor="ctr">
                    <a:solidFill>
                      <a:srgbClr val="FFFFFF"/>
                    </a:solidFill>
                  </a:tcPr>
                </a:tc>
                <a:tc>
                  <a:txBody>
                    <a:bodyPr wrap="square"/>
                    <a:lstStyle/>
                    <a:p>
                      <a:r>
                        <a:rPr sz="1400" b="0" i="0">
                          <a:solidFill>
                            <a:srgbClr val="1F2937"/>
                          </a:solidFill>
                          <a:latin typeface="Calibri"/>
                        </a:rPr>
                        <a:t>Rotar el teléfono: ¿qué pasa?</a:t>
                      </a:r>
                    </a:p>
                  </a:txBody>
                  <a:tcPr marL="73152" marR="73152" marT="36576" marB="36576" anchor="ctr">
                    <a:solidFill>
                      <a:srgbClr val="FFFFFF"/>
                    </a:solidFill>
                  </a:tcPr>
                </a:tc>
              </a:tr>
              <a:tr h="350520">
                <a:tc>
                  <a:txBody>
                    <a:bodyPr wrap="square"/>
                    <a:lstStyle/>
                    <a:p>
                      <a:r>
                        <a:rPr sz="1400" b="0" i="0">
                          <a:solidFill>
                            <a:srgbClr val="1F2937"/>
                          </a:solidFill>
                          <a:latin typeface="Calibri"/>
                        </a:rPr>
                        <a:t>Safe area</a:t>
                      </a:r>
                    </a:p>
                  </a:txBody>
                  <a:tcPr marL="73152" marR="73152" marT="36576" marB="36576" anchor="ctr">
                    <a:solidFill>
                      <a:srgbClr val="E6F4F2"/>
                    </a:solidFill>
                  </a:tcPr>
                </a:tc>
                <a:tc>
                  <a:txBody>
                    <a:bodyPr wrap="square"/>
                    <a:lstStyle/>
                    <a:p>
                      <a:r>
                        <a:rPr sz="1400" b="0" i="0">
                          <a:solidFill>
                            <a:srgbClr val="1F2937"/>
                          </a:solidFill>
                          <a:latin typeface="Calibri"/>
                        </a:rPr>
                        <a:t>¿Algún botón queda tapado?</a:t>
                      </a:r>
                    </a:p>
                  </a:txBody>
                  <a:tcPr marL="73152" marR="73152" marT="36576" marB="36576" anchor="ctr">
                    <a:solidFill>
                      <a:srgbClr val="E6F4F2"/>
                    </a:solidFill>
                  </a:tcPr>
                </a:tc>
              </a:tr>
              <a:tr h="350520">
                <a:tc>
                  <a:txBody>
                    <a:bodyPr wrap="square"/>
                    <a:lstStyle/>
                    <a:p>
                      <a:r>
                        <a:rPr sz="1400" b="0" i="0">
                          <a:solidFill>
                            <a:srgbClr val="1F2937"/>
                          </a:solidFill>
                          <a:latin typeface="Calibri"/>
                        </a:rPr>
                        <a:t>Banner</a:t>
                      </a:r>
                    </a:p>
                  </a:txBody>
                  <a:tcPr marL="73152" marR="73152" marT="36576" marB="36576" anchor="ctr">
                    <a:solidFill>
                      <a:srgbClr val="FFFFFF"/>
                    </a:solidFill>
                  </a:tcPr>
                </a:tc>
                <a:tc>
                  <a:txBody>
                    <a:bodyPr wrap="square"/>
                    <a:lstStyle/>
                    <a:p>
                      <a:r>
                        <a:rPr sz="1400" b="0" i="0">
                          <a:solidFill>
                            <a:srgbClr val="1F2937"/>
                          </a:solidFill>
                          <a:latin typeface="Calibri"/>
                        </a:rPr>
                        <a:t>¿Qué taparía y dónde?</a:t>
                      </a:r>
                    </a:p>
                  </a:txBody>
                  <a:tcPr marL="73152" marR="73152" marT="36576" marB="36576" anchor="ctr">
                    <a:solidFill>
                      <a:srgbClr val="FFFF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65/87</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arreglarían primero y por qué?</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 hallazgo por grupo</a:t>
            </a:r>
          </a:p>
          <a:p>
            <a:pPr>
              <a:spcAft>
                <a:spcPts val="800"/>
              </a:spcAft>
            </a:pPr>
            <a:r>
              <a:rPr sz="1600" b="1" i="0">
                <a:solidFill>
                  <a:srgbClr val="0D9488"/>
                </a:solidFill>
                <a:latin typeface="Calibri"/>
              </a:rPr>
              <a:t>■  </a:t>
            </a:r>
            <a:r>
              <a:rPr sz="2200" b="0" i="0">
                <a:solidFill>
                  <a:srgbClr val="1F2937"/>
                </a:solidFill>
                <a:latin typeface="Calibri"/>
              </a:rPr>
              <a:t>Con evidencia, no opinión</a:t>
            </a:r>
          </a:p>
          <a:p>
            <a:pPr>
              <a:spcAft>
                <a:spcPts val="800"/>
              </a:spcAft>
            </a:pPr>
            <a:r>
              <a:rPr sz="1600" b="1" i="0">
                <a:solidFill>
                  <a:srgbClr val="0D9488"/>
                </a:solidFill>
                <a:latin typeface="Calibri"/>
              </a:rPr>
              <a:t>■  </a:t>
            </a:r>
            <a:r>
              <a:rPr sz="2200" b="0" i="0">
                <a:solidFill>
                  <a:srgbClr val="1F2937"/>
                </a:solidFill>
                <a:latin typeface="Calibri"/>
              </a:rPr>
              <a:t>¿Dónde empeoró más?</a:t>
            </a:r>
          </a:p>
          <a:p>
            <a:pPr>
              <a:spcAft>
                <a:spcPts val="800"/>
              </a:spcAft>
            </a:pPr>
            <a:r>
              <a:rPr sz="1600" b="1" i="0">
                <a:solidFill>
                  <a:srgbClr val="0D9488"/>
                </a:solidFill>
                <a:latin typeface="Calibri"/>
              </a:rPr>
              <a:t>■  </a:t>
            </a:r>
            <a:r>
              <a:rPr sz="2200" b="0" i="0">
                <a:solidFill>
                  <a:srgbClr val="1F2937"/>
                </a:solidFill>
                <a:latin typeface="Calibri"/>
              </a:rPr>
              <a:t>¿Dónde iría el banner?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3 · NUEVO ÍTEM</a:t>
            </a:r>
          </a:p>
          <a:p>
            <a:r>
              <a:rPr sz="2600" b="1" i="0">
                <a:solidFill>
                  <a:srgbClr val="FFFFFF"/>
                </a:solidFill>
                <a:latin typeface="Calibri"/>
              </a:rPr>
              <a:t>TP 3: publicidad e input</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66/87</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Arranquen ahora en grupo; se entrega con el dossier del TP 3.</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Anuncios: pros y contras</a:t>
            </a:r>
          </a:p>
          <a:p>
            <a:pPr>
              <a:spcAft>
                <a:spcPts val="800"/>
              </a:spcAft>
            </a:pPr>
            <a:r>
              <a:rPr sz="1600" b="1" i="0">
                <a:solidFill>
                  <a:srgbClr val="0D9488"/>
                </a:solidFill>
                <a:latin typeface="Calibri"/>
              </a:rPr>
              <a:t>■  </a:t>
            </a:r>
            <a:r>
              <a:rPr sz="2200" b="0" i="0">
                <a:solidFill>
                  <a:srgbClr val="1F2937"/>
                </a:solidFill>
                <a:latin typeface="Calibri"/>
              </a:rPr>
              <a:t>Táctil vs. teclado</a:t>
            </a:r>
          </a:p>
          <a:p>
            <a:pPr>
              <a:spcAft>
                <a:spcPts val="800"/>
              </a:spcAft>
            </a:pPr>
            <a:r>
              <a:rPr sz="1600" b="1" i="0">
                <a:solidFill>
                  <a:srgbClr val="0D9488"/>
                </a:solidFill>
                <a:latin typeface="Calibri"/>
              </a:rPr>
              <a:t>■  </a:t>
            </a:r>
            <a:r>
              <a:rPr sz="2200" b="0" i="0">
                <a:solidFill>
                  <a:srgbClr val="1F2937"/>
                </a:solidFill>
                <a:latin typeface="Calibri"/>
              </a:rPr>
              <a:t>Evidencia de A4.9</a:t>
            </a:r>
          </a:p>
          <a:p>
            <a:pPr>
              <a:spcAft>
                <a:spcPts val="800"/>
              </a:spcAft>
            </a:pPr>
            <a:r>
              <a:rPr sz="1600" b="1" i="0">
                <a:solidFill>
                  <a:srgbClr val="0D9488"/>
                </a:solidFill>
                <a:latin typeface="Calibri"/>
              </a:rPr>
              <a:t>■  </a:t>
            </a:r>
            <a:r>
              <a:rPr sz="2200" b="0" i="0">
                <a:solidFill>
                  <a:srgbClr val="1F2937"/>
                </a:solidFill>
                <a:latin typeface="Calibri"/>
              </a:rPr>
              <a:t>Una decisión justificada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4 · Del caso real al código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67/87</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Política cumplida ≠ buena UX</a:t>
            </a:r>
          </a:p>
          <a:p>
            <a:pPr>
              <a:spcAft>
                <a:spcPts val="800"/>
              </a:spcAft>
            </a:pPr>
            <a:r>
              <a:rPr sz="1600" b="1" i="0">
                <a:solidFill>
                  <a:srgbClr val="0D9488"/>
                </a:solidFill>
                <a:latin typeface="Calibri"/>
              </a:rPr>
              <a:t>■  </a:t>
            </a:r>
            <a:r>
              <a:rPr sz="2200" b="0" i="0">
                <a:solidFill>
                  <a:srgbClr val="1F2937"/>
                </a:solidFill>
                <a:latin typeface="Calibri"/>
              </a:rPr>
              <a:t>Botón virtual ≠ botón físico</a:t>
            </a:r>
          </a:p>
          <a:p>
            <a:pPr>
              <a:spcAft>
                <a:spcPts val="800"/>
              </a:spcAft>
            </a:pPr>
            <a:r>
              <a:rPr sz="1600" b="1" i="0">
                <a:solidFill>
                  <a:srgbClr val="0D9488"/>
                </a:solidFill>
                <a:latin typeface="Calibri"/>
              </a:rPr>
              <a:t>■  </a:t>
            </a:r>
            <a:r>
              <a:rPr sz="2200" b="0" i="0">
                <a:solidFill>
                  <a:srgbClr val="1F2937"/>
                </a:solidFill>
                <a:latin typeface="Calibri"/>
              </a:rPr>
              <a:t>Sin teléfono no hay certeza</a:t>
            </a:r>
          </a:p>
          <a:p>
            <a:pPr>
              <a:spcAft>
                <a:spcPts val="800"/>
              </a:spcAft>
            </a:pPr>
            <a:r>
              <a:rPr sz="1600" b="1" i="0">
                <a:solidFill>
                  <a:srgbClr val="0D9488"/>
                </a:solidFill>
                <a:latin typeface="Calibri"/>
              </a:rPr>
              <a:t>■  </a:t>
            </a:r>
            <a:r>
              <a:rPr sz="2200" b="0" i="0">
                <a:solidFill>
                  <a:srgbClr val="1F2937"/>
                </a:solidFill>
                <a:latin typeface="Calibri"/>
              </a:rPr>
              <a:t>Todo SDK es código ajeno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ANEXO DE CONSULTA · NO SE EXPONE</a:t>
            </a:r>
          </a:p>
          <a:p>
            <a:r>
              <a:rPr sz="4000" b="1" i="0">
                <a:solidFill>
                  <a:srgbClr val="FFFFFF"/>
                </a:solidFill>
                <a:latin typeface="Calibri"/>
              </a:rPr>
              <a:t>Anexo: Android en Unity 6</a:t>
            </a:r>
          </a:p>
          <a:p>
            <a:pPr>
              <a:spcBef>
                <a:spcPts val="600"/>
              </a:spcBef>
            </a:pPr>
            <a:r>
              <a:rPr sz="2000" b="0" i="0">
                <a:solidFill>
                  <a:srgbClr val="CBD5E1"/>
                </a:solidFill>
                <a:latin typeface="Calibri"/>
              </a:rPr>
              <a:t>Paso a paso con capturas de Unity 6000.3.11f1</a:t>
            </a:r>
          </a:p>
          <a:p>
            <a:pPr>
              <a:spcBef>
                <a:spcPts val="600"/>
              </a:spcBef>
            </a:pPr>
            <a:r>
              <a:rPr sz="2000" b="0" i="0">
                <a:solidFill>
                  <a:srgbClr val="CBD5E1"/>
                </a:solidFill>
                <a:latin typeface="Calibri"/>
              </a:rPr>
              <a:t>Para la tarea y la práctica en el teléfono</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Anexo de consulta · 68/87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1 · INSTALAR</a:t>
            </a:r>
          </a:p>
          <a:p>
            <a:r>
              <a:rPr sz="2600" b="1" i="0">
                <a:solidFill>
                  <a:srgbClr val="FFFFFF"/>
                </a:solidFill>
                <a:latin typeface="Calibri"/>
              </a:rPr>
              <a:t>Build Support y External Tools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69/87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a:t>
            </a:r>
          </a:p>
        </p:txBody>
      </p:sp>
      <p:pic>
        <p:nvPicPr>
          <p:cNvPr id="9" name="Picture 8" descr="u4-external-tools.png"/>
          <p:cNvPicPr>
            <a:picLocks noChangeAspect="1"/>
          </p:cNvPicPr>
          <p:nvPr/>
        </p:nvPicPr>
        <p:blipFill>
          <a:blip r:embed="rId2"/>
          <a:stretch>
            <a:fillRect/>
          </a:stretch>
        </p:blipFill>
        <p:spPr>
          <a:xfrm>
            <a:off x="4739335" y="2473452"/>
            <a:ext cx="6949439" cy="191109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Edit &gt; Preferences &gt; External Tools &gt; Android (Unity 6000.3.11f1)</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Unity Hub &gt; Installs &gt; Add modules</a:t>
            </a:r>
          </a:p>
          <a:p>
            <a:pPr>
              <a:spcAft>
                <a:spcPts val="800"/>
              </a:spcAft>
            </a:pPr>
            <a:r>
              <a:rPr sz="2200" b="1" i="0">
                <a:solidFill>
                  <a:srgbClr val="0D9488"/>
                </a:solidFill>
                <a:latin typeface="Calibri"/>
              </a:rPr>
              <a:t>2  </a:t>
            </a:r>
            <a:r>
              <a:rPr sz="2200" b="0" i="0">
                <a:solidFill>
                  <a:srgbClr val="1F2937"/>
                </a:solidFill>
                <a:latin typeface="Calibri"/>
              </a:rPr>
              <a:t>Android Build Support (+ OpenJDK, SDK, NDK)</a:t>
            </a:r>
          </a:p>
          <a:p>
            <a:pPr>
              <a:spcAft>
                <a:spcPts val="800"/>
              </a:spcAft>
            </a:pPr>
            <a:r>
              <a:rPr sz="2200" b="1" i="0">
                <a:solidFill>
                  <a:srgbClr val="0D9488"/>
                </a:solidFill>
                <a:latin typeface="Calibri"/>
              </a:rPr>
              <a:t>3  </a:t>
            </a:r>
            <a:r>
              <a:rPr sz="2200" b="0" i="0">
                <a:solidFill>
                  <a:srgbClr val="1F2937"/>
                </a:solidFill>
                <a:latin typeface="Calibri"/>
              </a:rPr>
              <a:t>Edit &gt; Preferences &gt; External Tools</a:t>
            </a:r>
          </a:p>
          <a:p>
            <a:pPr>
              <a:spcAft>
                <a:spcPts val="800"/>
              </a:spcAft>
            </a:pPr>
            <a:r>
              <a:rPr sz="2200" b="1" i="0">
                <a:solidFill>
                  <a:srgbClr val="0D9488"/>
                </a:solidFill>
                <a:latin typeface="Calibri"/>
              </a:rPr>
              <a:t>4  </a:t>
            </a:r>
            <a:r>
              <a:rPr sz="2200" b="0" i="0">
                <a:solidFill>
                  <a:srgbClr val="1F2937"/>
                </a:solidFill>
                <a:latin typeface="Calibri"/>
              </a:rPr>
              <a:t>Android: las 4 casillas tildadas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2 · TELÉFONO</a:t>
            </a:r>
          </a:p>
          <a:p>
            <a:r>
              <a:rPr sz="2600" b="1" i="0">
                <a:solidFill>
                  <a:srgbClr val="FFFFFF"/>
                </a:solidFill>
                <a:latin typeface="Calibri"/>
              </a:rPr>
              <a:t>El teléfono listo para probar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Configure on-device developer options; Unity 6.3 Manual — Debug on Android devices</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Número de compilación × 7</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Opciones de desarrollador</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Cable de datos + "¿Permitir depuración USB?"</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adb devices → device</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7 toques en "Número de compilación"</a:t>
            </a:r>
          </a:p>
          <a:p>
            <a:pPr>
              <a:spcAft>
                <a:spcPts val="800"/>
              </a:spcAft>
            </a:pPr>
            <a:r>
              <a:rPr sz="2200" b="1" i="0">
                <a:solidFill>
                  <a:srgbClr val="0D9488"/>
                </a:solidFill>
                <a:latin typeface="Calibri"/>
              </a:rPr>
              <a:t>2  </a:t>
            </a:r>
            <a:r>
              <a:rPr sz="2200" b="0" i="0">
                <a:solidFill>
                  <a:srgbClr val="1F2937"/>
                </a:solidFill>
                <a:latin typeface="Calibri"/>
              </a:rPr>
              <a:t>Opciones de desarrollador &gt; Depuración USB</a:t>
            </a:r>
          </a:p>
          <a:p>
            <a:pPr>
              <a:spcAft>
                <a:spcPts val="800"/>
              </a:spcAft>
            </a:pPr>
            <a:r>
              <a:rPr sz="2200" b="1" i="0">
                <a:solidFill>
                  <a:srgbClr val="0D9488"/>
                </a:solidFill>
                <a:latin typeface="Calibri"/>
              </a:rPr>
              <a:t>3  </a:t>
            </a:r>
            <a:r>
              <a:rPr sz="2200" b="0" i="0">
                <a:solidFill>
                  <a:srgbClr val="1F2937"/>
                </a:solidFill>
                <a:latin typeface="Calibri"/>
              </a:rPr>
              <a:t>Cable de datos y aceptar el diálogo</a:t>
            </a:r>
          </a:p>
          <a:p>
            <a:pPr>
              <a:spcAft>
                <a:spcPts val="800"/>
              </a:spcAft>
            </a:pPr>
            <a:r>
              <a:rPr sz="2200" b="1" i="0">
                <a:solidFill>
                  <a:srgbClr val="0D9488"/>
                </a:solidFill>
                <a:latin typeface="Calibri"/>
              </a:rPr>
              <a:t>4  </a:t>
            </a:r>
            <a:r>
              <a:rPr sz="2200" b="0" i="0">
                <a:solidFill>
                  <a:srgbClr val="1F2937"/>
                </a:solidFill>
                <a:latin typeface="Calibri"/>
              </a:rPr>
              <a:t>adb devices: tiene que decir "device"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3 · SIMULAR</a:t>
            </a:r>
          </a:p>
          <a:p>
            <a:r>
              <a:rPr sz="2600" b="1" i="0">
                <a:solidFill>
                  <a:srgbClr val="FFFFFF"/>
                </a:solidFill>
                <a:latin typeface="Calibri"/>
              </a:rPr>
              <a:t>Device Simulator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a:t>
            </a:r>
          </a:p>
        </p:txBody>
      </p:sp>
      <p:pic>
        <p:nvPicPr>
          <p:cNvPr id="9" name="Picture 8" descr="u4-simulator-plegable.png"/>
          <p:cNvPicPr>
            <a:picLocks noChangeAspect="1"/>
          </p:cNvPicPr>
          <p:nvPr/>
        </p:nvPicPr>
        <p:blipFill>
          <a:blip r:embed="rId2"/>
          <a:stretch>
            <a:fillRect/>
          </a:stretch>
        </p:blipFill>
        <p:spPr>
          <a:xfrm>
            <a:off x="6935060" y="1234440"/>
            <a:ext cx="2557990"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Simulator con el Foldable Device (960×2658)</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Abrir la escena Scenes/Game</a:t>
            </a:r>
          </a:p>
          <a:p>
            <a:pPr>
              <a:spcAft>
                <a:spcPts val="800"/>
              </a:spcAft>
            </a:pPr>
            <a:r>
              <a:rPr sz="2200" b="1" i="0">
                <a:solidFill>
                  <a:srgbClr val="0D9488"/>
                </a:solidFill>
                <a:latin typeface="Calibri"/>
              </a:rPr>
              <a:t>2  </a:t>
            </a:r>
            <a:r>
              <a:rPr sz="2200" b="0" i="0">
                <a:solidFill>
                  <a:srgbClr val="1F2937"/>
                </a:solidFill>
                <a:latin typeface="Calibri"/>
              </a:rPr>
              <a:t>Game → Simulator</a:t>
            </a:r>
          </a:p>
          <a:p>
            <a:pPr>
              <a:spcAft>
                <a:spcPts val="800"/>
              </a:spcAft>
            </a:pPr>
            <a:r>
              <a:rPr sz="2200" b="1" i="0">
                <a:solidFill>
                  <a:srgbClr val="0D9488"/>
                </a:solidFill>
                <a:latin typeface="Calibri"/>
              </a:rPr>
              <a:t>3  </a:t>
            </a:r>
            <a:r>
              <a:rPr sz="2200" b="0" i="0">
                <a:solidFill>
                  <a:srgbClr val="1F2937"/>
                </a:solidFill>
                <a:latin typeface="Calibri"/>
              </a:rPr>
              <a:t>Elegir el dispositivo</a:t>
            </a:r>
          </a:p>
          <a:p>
            <a:pPr>
              <a:spcAft>
                <a:spcPts val="800"/>
              </a:spcAft>
            </a:pPr>
            <a:r>
              <a:rPr sz="2200" b="1" i="0">
                <a:solidFill>
                  <a:srgbClr val="0D9488"/>
                </a:solidFill>
                <a:latin typeface="Calibri"/>
              </a:rPr>
              <a:t>4  </a:t>
            </a:r>
            <a:r>
              <a:rPr sz="2200" b="0" i="0">
                <a:solidFill>
                  <a:srgbClr val="1F2937"/>
                </a:solidFill>
                <a:latin typeface="Calibri"/>
              </a:rPr>
              <a:t>Play y rotar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4 · PLATAFORMA</a:t>
            </a:r>
          </a:p>
          <a:p>
            <a:r>
              <a:rPr sz="2600" b="1" i="0">
                <a:solidFill>
                  <a:srgbClr val="FFFFFF"/>
                </a:solidFill>
                <a:latin typeface="Calibri"/>
              </a:rPr>
              <a:t>Build Profiles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a:t>
            </a:r>
          </a:p>
        </p:txBody>
      </p:sp>
      <p:pic>
        <p:nvPicPr>
          <p:cNvPr id="9" name="Picture 8" descr="u4-build-profiles-android.png"/>
          <p:cNvPicPr>
            <a:picLocks noChangeAspect="1"/>
          </p:cNvPicPr>
          <p:nvPr/>
        </p:nvPicPr>
        <p:blipFill>
          <a:blip r:embed="rId2"/>
          <a:stretch>
            <a:fillRect/>
          </a:stretch>
        </p:blipFill>
        <p:spPr>
          <a:xfrm>
            <a:off x="5640500" y="1234440"/>
            <a:ext cx="5147109" cy="2125980"/>
          </a:xfrm>
          <a:prstGeom prst="rect">
            <a:avLst/>
          </a:prstGeom>
          <a:ln w="12700">
            <a:solidFill>
              <a:srgbClr val="E5E7EB"/>
            </a:solidFill>
          </a:ln>
        </p:spPr>
      </p:pic>
      <p:pic>
        <p:nvPicPr>
          <p:cNvPr id="10" name="Picture 9" descr="u4-switch-platform.png"/>
          <p:cNvPicPr>
            <a:picLocks noChangeAspect="1"/>
          </p:cNvPicPr>
          <p:nvPr/>
        </p:nvPicPr>
        <p:blipFill>
          <a:blip r:embed="rId3"/>
          <a:stretch>
            <a:fillRect/>
          </a:stretch>
        </p:blipFill>
        <p:spPr>
          <a:xfrm>
            <a:off x="5986398" y="3497580"/>
            <a:ext cx="4455314"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Build Profiles con el perfil Android activo y el botón Switch Platform</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File &gt; Build Profiles</a:t>
            </a:r>
          </a:p>
          <a:p>
            <a:pPr>
              <a:spcAft>
                <a:spcPts val="800"/>
              </a:spcAft>
            </a:pPr>
            <a:r>
              <a:rPr sz="2200" b="1" i="0">
                <a:solidFill>
                  <a:srgbClr val="0D9488"/>
                </a:solidFill>
                <a:latin typeface="Calibri"/>
              </a:rPr>
              <a:t>2  </a:t>
            </a:r>
            <a:r>
              <a:rPr sz="2200" b="0" i="0">
                <a:solidFill>
                  <a:srgbClr val="1F2937"/>
                </a:solidFill>
                <a:latin typeface="Calibri"/>
              </a:rPr>
              <a:t>Android → Switch Platform</a:t>
            </a:r>
          </a:p>
          <a:p>
            <a:pPr>
              <a:spcAft>
                <a:spcPts val="800"/>
              </a:spcAft>
            </a:pPr>
            <a:r>
              <a:rPr sz="2200" b="1" i="0">
                <a:solidFill>
                  <a:srgbClr val="0D9488"/>
                </a:solidFill>
                <a:latin typeface="Calibri"/>
              </a:rPr>
              <a:t>3  </a:t>
            </a:r>
            <a:r>
              <a:rPr sz="2200" b="0" i="0">
                <a:solidFill>
                  <a:srgbClr val="1F2937"/>
                </a:solidFill>
                <a:latin typeface="Calibri"/>
              </a:rPr>
              <a:t>Build App Bundle: destildado</a:t>
            </a:r>
          </a:p>
          <a:p>
            <a:pPr>
              <a:spcAft>
                <a:spcPts val="800"/>
              </a:spcAft>
            </a:pPr>
            <a:r>
              <a:rPr sz="2200" b="1" i="0">
                <a:solidFill>
                  <a:srgbClr val="0D9488"/>
                </a:solidFill>
                <a:latin typeface="Calibri"/>
              </a:rPr>
              <a:t>4  </a:t>
            </a:r>
            <a:r>
              <a:rPr sz="2200" b="0" i="0">
                <a:solidFill>
                  <a:srgbClr val="1F2937"/>
                </a:solidFill>
                <a:latin typeface="Calibri"/>
              </a:rPr>
              <a:t>Development Build: para el Profiler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5 · CONFIGURAR</a:t>
            </a:r>
          </a:p>
          <a:p>
            <a:r>
              <a:rPr sz="2600" b="1" i="0">
                <a:solidFill>
                  <a:srgbClr val="FFFFFF"/>
                </a:solidFill>
                <a:latin typeface="Calibri"/>
              </a:rPr>
              <a:t>Player Settings: identidad y 64 bits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a:t>
            </a:r>
          </a:p>
        </p:txBody>
      </p:sp>
      <p:pic>
        <p:nvPicPr>
          <p:cNvPr id="9" name="Picture 8" descr="u4-player-settings-android.png"/>
          <p:cNvPicPr>
            <a:picLocks noChangeAspect="1"/>
          </p:cNvPicPr>
          <p:nvPr/>
        </p:nvPicPr>
        <p:blipFill>
          <a:blip r:embed="rId2"/>
          <a:stretch>
            <a:fillRect/>
          </a:stretch>
        </p:blipFill>
        <p:spPr>
          <a:xfrm>
            <a:off x="4739335" y="2227646"/>
            <a:ext cx="6949440" cy="2402708"/>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Other Settings antes de cambiar: Mono y ARM64 en gris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Edit &gt; Project Settings &gt; Player</a:t>
            </a:r>
          </a:p>
          <a:p>
            <a:pPr>
              <a:spcAft>
                <a:spcPts val="800"/>
              </a:spcAft>
            </a:pPr>
            <a:r>
              <a:rPr sz="2200" b="1" i="0">
                <a:solidFill>
                  <a:srgbClr val="0D9488"/>
                </a:solidFill>
                <a:latin typeface="Calibri"/>
              </a:rPr>
              <a:t>2  </a:t>
            </a:r>
            <a:r>
              <a:rPr sz="2200" b="0" i="0">
                <a:solidFill>
                  <a:srgbClr val="1F2937"/>
                </a:solidFill>
                <a:latin typeface="Calibri"/>
              </a:rPr>
              <a:t>Pestaña Android &gt; Other Settings</a:t>
            </a:r>
          </a:p>
          <a:p>
            <a:pPr>
              <a:spcAft>
                <a:spcPts val="800"/>
              </a:spcAft>
            </a:pPr>
            <a:r>
              <a:rPr sz="2200" b="1" i="0">
                <a:solidFill>
                  <a:srgbClr val="0D9488"/>
                </a:solidFill>
                <a:latin typeface="Calibri"/>
              </a:rPr>
              <a:t>3  </a:t>
            </a:r>
            <a:r>
              <a:rPr sz="2200" b="0" i="0">
                <a:solidFill>
                  <a:srgbClr val="1F2937"/>
                </a:solidFill>
                <a:latin typeface="Calibri"/>
              </a:rPr>
              <a:t>Scripting Backend: IL2CPP</a:t>
            </a:r>
          </a:p>
          <a:p>
            <a:pPr>
              <a:spcAft>
                <a:spcPts val="800"/>
              </a:spcAft>
            </a:pPr>
            <a:r>
              <a:rPr sz="2200" b="1" i="0">
                <a:solidFill>
                  <a:srgbClr val="0D9488"/>
                </a:solidFill>
                <a:latin typeface="Calibri"/>
              </a:rPr>
              <a:t>4  </a:t>
            </a:r>
            <a:r>
              <a:rPr sz="2200" b="0" i="0">
                <a:solidFill>
                  <a:srgbClr val="1F2937"/>
                </a:solidFill>
                <a:latin typeface="Calibri"/>
              </a:rPr>
              <a:t>Target Architectures: ARM64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6 · PANTALLA</a:t>
            </a:r>
          </a:p>
          <a:p>
            <a:r>
              <a:rPr sz="2600" b="1" i="0">
                <a:solidFill>
                  <a:srgbClr val="FFFFFF"/>
                </a:solidFill>
                <a:latin typeface="Calibri"/>
              </a:rPr>
              <a:t>Player Settings: pantalla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Unity 6.3 — Screen.safeArea</a:t>
            </a:r>
          </a:p>
        </p:txBody>
      </p:sp>
      <p:pic>
        <p:nvPicPr>
          <p:cNvPr id="9" name="Picture 8" descr="u4-resolution-presentation.png"/>
          <p:cNvPicPr>
            <a:picLocks noChangeAspect="1"/>
          </p:cNvPicPr>
          <p:nvPr/>
        </p:nvPicPr>
        <p:blipFill>
          <a:blip r:embed="rId2"/>
          <a:stretch>
            <a:fillRect/>
          </a:stretch>
        </p:blipFill>
        <p:spPr>
          <a:xfrm>
            <a:off x="5170105" y="1234440"/>
            <a:ext cx="6087899"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Resolution and Presentation de Asteroides: Auto Rotation con las 4 orientaciones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Resolution and Presentation</a:t>
            </a:r>
          </a:p>
          <a:p>
            <a:pPr>
              <a:spcAft>
                <a:spcPts val="800"/>
              </a:spcAft>
            </a:pPr>
            <a:r>
              <a:rPr sz="2200" b="1" i="0">
                <a:solidFill>
                  <a:srgbClr val="0D9488"/>
                </a:solidFill>
                <a:latin typeface="Calibri"/>
              </a:rPr>
              <a:t>2  </a:t>
            </a:r>
            <a:r>
              <a:rPr sz="2200" b="0" i="0">
                <a:solidFill>
                  <a:srgbClr val="1F2937"/>
                </a:solidFill>
                <a:latin typeface="Calibri"/>
              </a:rPr>
              <a:t>Default Orientation: la del esquema</a:t>
            </a:r>
          </a:p>
          <a:p>
            <a:pPr>
              <a:spcAft>
                <a:spcPts val="800"/>
              </a:spcAft>
            </a:pPr>
            <a:r>
              <a:rPr sz="2200" b="1" i="0">
                <a:solidFill>
                  <a:srgbClr val="0D9488"/>
                </a:solidFill>
                <a:latin typeface="Calibri"/>
              </a:rPr>
              <a:t>3  </a:t>
            </a:r>
            <a:r>
              <a:rPr sz="2200" b="0" i="0">
                <a:solidFill>
                  <a:srgbClr val="1F2937"/>
                </a:solidFill>
                <a:latin typeface="Calibri"/>
              </a:rPr>
              <a:t>Rotación: solo las permitidas</a:t>
            </a:r>
          </a:p>
          <a:p>
            <a:pPr>
              <a:spcAft>
                <a:spcPts val="800"/>
              </a:spcAft>
            </a:pPr>
            <a:r>
              <a:rPr sz="2200" b="1" i="0">
                <a:solidFill>
                  <a:srgbClr val="0D9488"/>
                </a:solidFill>
                <a:latin typeface="Calibri"/>
              </a:rPr>
              <a:t>4  </a:t>
            </a:r>
            <a:r>
              <a:rPr sz="2200" b="0" i="0">
                <a:solidFill>
                  <a:srgbClr val="1F2937"/>
                </a:solidFill>
                <a:latin typeface="Calibri"/>
              </a:rPr>
              <a:t>Icon: el ícono del juego</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7 · INSTALAR</a:t>
            </a:r>
          </a:p>
          <a:p>
            <a:r>
              <a:rPr sz="2600" b="1" i="0">
                <a:solidFill>
                  <a:srgbClr val="FFFFFF"/>
                </a:solidFill>
                <a:latin typeface="Calibri"/>
              </a:rPr>
              <a:t>Build e instalación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Ejemplos de PC a Android: </a:t>
            </a:r>
            <a:r>
              <a:rPr sz="1400" b="1" i="0" u="sng">
                <a:solidFill>
                  <a:srgbClr val="DC2626"/>
                </a:solidFill>
                <a:latin typeface="Calibri"/>
                <a:hlinkClick r:id="rId2"/>
              </a:rPr>
              <a:t>Jadsa Games, Unity 6 (18 min)</a:t>
            </a:r>
            <a:r>
              <a:rPr sz="1400" b="0" i="0">
                <a:solidFill>
                  <a:srgbClr val="1F2937"/>
                </a:solidFill>
                <a:latin typeface="Calibri"/>
              </a:rPr>
              <a:t> · </a:t>
            </a:r>
            <a:r>
              <a:rPr sz="1400" b="1" i="0" u="sng">
                <a:solidFill>
                  <a:srgbClr val="DC2626"/>
                </a:solidFill>
                <a:latin typeface="Calibri"/>
                <a:hlinkClick r:id="rId3"/>
              </a:rPr>
              <a:t>LuisCanary, .exe y .apk (13 min)</a:t>
            </a:r>
          </a:p>
        </p:txBody>
      </p:sp>
      <p:pic>
        <p:nvPicPr>
          <p:cNvPr id="11" name="Picture 10" descr="u4-build-botones.png"/>
          <p:cNvPicPr>
            <a:picLocks noChangeAspect="1"/>
          </p:cNvPicPr>
          <p:nvPr/>
        </p:nvPicPr>
        <p:blipFill>
          <a:blip r:embed="rId4"/>
          <a:stretch>
            <a:fillRect/>
          </a:stretch>
        </p:blipFill>
        <p:spPr>
          <a:xfrm>
            <a:off x="4739335" y="2888714"/>
            <a:ext cx="6949440" cy="531932"/>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Abajo a la derecha de Build Profiles: Build (marcado) y Build And Run</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Build → Builds/AsteroideTest.apk</a:t>
            </a:r>
          </a:p>
          <a:p>
            <a:pPr>
              <a:spcAft>
                <a:spcPts val="800"/>
              </a:spcAft>
            </a:pPr>
            <a:r>
              <a:rPr sz="2200" b="1" i="0">
                <a:solidFill>
                  <a:srgbClr val="0D9488"/>
                </a:solidFill>
                <a:latin typeface="Calibri"/>
              </a:rPr>
              <a:t>2  </a:t>
            </a:r>
            <a:r>
              <a:rPr sz="2200" b="0" i="0">
                <a:solidFill>
                  <a:srgbClr val="1F2937"/>
                </a:solidFill>
                <a:latin typeface="Calibri"/>
              </a:rPr>
              <a:t>Copiar el .apk al teléfono y abrirlo</a:t>
            </a:r>
          </a:p>
          <a:p>
            <a:pPr>
              <a:spcAft>
                <a:spcPts val="800"/>
              </a:spcAft>
            </a:pPr>
            <a:r>
              <a:rPr sz="2200" b="1" i="0">
                <a:solidFill>
                  <a:srgbClr val="0D9488"/>
                </a:solidFill>
                <a:latin typeface="Calibri"/>
              </a:rPr>
              <a:t>3  </a:t>
            </a:r>
            <a:r>
              <a:rPr sz="2200" b="0" i="0">
                <a:solidFill>
                  <a:srgbClr val="1F2937"/>
                </a:solidFill>
                <a:latin typeface="Calibri"/>
              </a:rPr>
              <a:t>Aceptar "fuentes desconocidas"</a:t>
            </a:r>
          </a:p>
          <a:p>
            <a:pPr>
              <a:spcAft>
                <a:spcPts val="800"/>
              </a:spcAft>
            </a:pPr>
            <a:r>
              <a:rPr sz="2200" b="1" i="0">
                <a:solidFill>
                  <a:srgbClr val="0D9488"/>
                </a:solidFill>
                <a:latin typeface="Calibri"/>
              </a:rPr>
              <a:t>4  </a:t>
            </a:r>
            <a:r>
              <a:rPr sz="2200" b="0" i="0">
                <a:solidFill>
                  <a:srgbClr val="1F2937"/>
                </a:solidFill>
                <a:latin typeface="Calibri"/>
              </a:rPr>
              <a:t>Con cable: adb install -r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8 · CUANDO ALGO FALLA</a:t>
            </a:r>
          </a:p>
          <a:p>
            <a:r>
              <a:rPr sz="2600" b="1" i="0">
                <a:solidFill>
                  <a:srgbClr val="FFFFFF"/>
                </a:solidFill>
                <a:latin typeface="Calibri"/>
              </a:rPr>
              <a:t>Diagnóstico rápido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Debug on Android devices</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655769"/>
                <a:gridCol w="5530085"/>
              </a:tblGrid>
              <a:tr h="566928">
                <a:tc>
                  <a:txBody>
                    <a:bodyPr wrap="square"/>
                    <a:lstStyle/>
                    <a:p>
                      <a:r>
                        <a:rPr sz="1200" b="1" i="0">
                          <a:solidFill>
                            <a:srgbClr val="FFFFFF"/>
                          </a:solidFill>
                          <a:latin typeface="Calibri"/>
                        </a:rPr>
                        <a:t>Síntoma</a:t>
                      </a:r>
                    </a:p>
                  </a:txBody>
                  <a:tcPr marL="73152" marR="73152" marT="36576" marB="36576" anchor="ctr">
                    <a:solidFill>
                      <a:srgbClr val="0D9488"/>
                    </a:solidFill>
                  </a:tcPr>
                </a:tc>
                <a:tc>
                  <a:txBody>
                    <a:bodyPr wrap="square"/>
                    <a:lstStyle/>
                    <a:p>
                      <a:r>
                        <a:rPr sz="1200" b="1" i="0">
                          <a:solidFill>
                            <a:srgbClr val="FFFFFF"/>
                          </a:solidFill>
                          <a:latin typeface="Calibri"/>
                        </a:rPr>
                        <a:t>Qué hacer</a:t>
                      </a:r>
                    </a:p>
                  </a:txBody>
                  <a:tcPr marL="73152" marR="73152" marT="36576" marB="36576" anchor="ctr">
                    <a:solidFill>
                      <a:srgbClr val="0D9488"/>
                    </a:solidFill>
                  </a:tcPr>
                </a:tc>
              </a:tr>
              <a:tr h="566928">
                <a:tc>
                  <a:txBody>
                    <a:bodyPr wrap="square"/>
                    <a:lstStyle/>
                    <a:p>
                      <a:r>
                        <a:rPr sz="1200" b="0" i="0">
                          <a:solidFill>
                            <a:srgbClr val="1F2937"/>
                          </a:solidFill>
                          <a:latin typeface="Calibri"/>
                        </a:rPr>
                        <a:t>"Unsupported Input Handling on Android"</a:t>
                      </a:r>
                    </a:p>
                  </a:txBody>
                  <a:tcPr marL="73152" marR="73152" marT="36576" marB="36576" anchor="ctr">
                    <a:solidFill>
                      <a:srgbClr val="FFFFFF"/>
                    </a:solidFill>
                  </a:tcPr>
                </a:tc>
                <a:tc>
                  <a:txBody>
                    <a:bodyPr wrap="square"/>
                    <a:lstStyle/>
                    <a:p>
                      <a:r>
                        <a:rPr sz="1200" b="0" i="0">
                          <a:solidFill>
                            <a:srgbClr val="1F2937"/>
                          </a:solidFill>
                          <a:latin typeface="Calibri"/>
                        </a:rPr>
                        <a:t>Ignore y registrarlo</a:t>
                      </a:r>
                    </a:p>
                  </a:txBody>
                  <a:tcPr marL="73152" marR="73152" marT="36576" marB="36576" anchor="ctr">
                    <a:solidFill>
                      <a:srgbClr val="FFFFFF"/>
                    </a:solidFill>
                  </a:tcPr>
                </a:tc>
              </a:tr>
              <a:tr h="566928">
                <a:tc>
                  <a:txBody>
                    <a:bodyPr wrap="square"/>
                    <a:lstStyle/>
                    <a:p>
                      <a:r>
                        <a:rPr sz="1200" b="0" i="0">
                          <a:solidFill>
                            <a:srgbClr val="1F2937"/>
                          </a:solidFill>
                          <a:latin typeface="Calibri"/>
                        </a:rPr>
                        <a:t>"No Android devices connected"</a:t>
                      </a:r>
                    </a:p>
                  </a:txBody>
                  <a:tcPr marL="73152" marR="73152" marT="36576" marB="36576" anchor="ctr">
                    <a:solidFill>
                      <a:srgbClr val="E6F4F2"/>
                    </a:solidFill>
                  </a:tcPr>
                </a:tc>
                <a:tc>
                  <a:txBody>
                    <a:bodyPr wrap="square"/>
                    <a:lstStyle/>
                    <a:p>
                      <a:r>
                        <a:rPr sz="1200" b="0" i="0">
                          <a:solidFill>
                            <a:srgbClr val="1F2937"/>
                          </a:solidFill>
                          <a:latin typeface="Calibri"/>
                        </a:rPr>
                        <a:t>Usar Build, o cable, diálogo y Refresh</a:t>
                      </a:r>
                    </a:p>
                  </a:txBody>
                  <a:tcPr marL="73152" marR="73152" marT="36576" marB="36576" anchor="ctr">
                    <a:solidFill>
                      <a:srgbClr val="E6F4F2"/>
                    </a:solidFill>
                  </a:tcPr>
                </a:tc>
              </a:tr>
              <a:tr h="566928">
                <a:tc>
                  <a:txBody>
                    <a:bodyPr wrap="square"/>
                    <a:lstStyle/>
                    <a:p>
                      <a:r>
                        <a:rPr sz="1200" b="0" i="0">
                          <a:solidFill>
                            <a:srgbClr val="1F2937"/>
                          </a:solidFill>
                          <a:latin typeface="Calibri"/>
                        </a:rPr>
                        <a:t>adb dice "unauthorized"</a:t>
                      </a:r>
                    </a:p>
                  </a:txBody>
                  <a:tcPr marL="73152" marR="73152" marT="36576" marB="36576" anchor="ctr">
                    <a:solidFill>
                      <a:srgbClr val="FFFFFF"/>
                    </a:solidFill>
                  </a:tcPr>
                </a:tc>
                <a:tc>
                  <a:txBody>
                    <a:bodyPr wrap="square"/>
                    <a:lstStyle/>
                    <a:p>
                      <a:r>
                        <a:rPr sz="1200" b="0" i="0">
                          <a:solidFill>
                            <a:srgbClr val="1F2937"/>
                          </a:solidFill>
                          <a:latin typeface="Calibri"/>
                        </a:rPr>
                        <a:t>Aceptar el diálogo en el teléfono</a:t>
                      </a:r>
                    </a:p>
                  </a:txBody>
                  <a:tcPr marL="73152" marR="73152" marT="36576" marB="36576" anchor="ctr">
                    <a:solidFill>
                      <a:srgbClr val="FFFFFF"/>
                    </a:solidFill>
                  </a:tcPr>
                </a:tc>
              </a:tr>
              <a:tr h="566928">
                <a:tc>
                  <a:txBody>
                    <a:bodyPr wrap="square"/>
                    <a:lstStyle/>
                    <a:p>
                      <a:r>
                        <a:rPr sz="1200" b="0" i="0">
                          <a:solidFill>
                            <a:srgbClr val="1F2937"/>
                          </a:solidFill>
                          <a:latin typeface="Calibri"/>
                        </a:rPr>
                        <a:t>No se instala o no abre</a:t>
                      </a:r>
                    </a:p>
                  </a:txBody>
                  <a:tcPr marL="73152" marR="73152" marT="36576" marB="36576" anchor="ctr">
                    <a:solidFill>
                      <a:srgbClr val="E6F4F2"/>
                    </a:solidFill>
                  </a:tcPr>
                </a:tc>
                <a:tc>
                  <a:txBody>
                    <a:bodyPr wrap="square"/>
                    <a:lstStyle/>
                    <a:p>
                      <a:r>
                        <a:rPr sz="1200" b="0" i="0">
                          <a:solidFill>
                            <a:srgbClr val="1F2937"/>
                          </a:solidFill>
                          <a:latin typeface="Calibri"/>
                        </a:rPr>
                        <a:t>IL2CPP + ARM64</a:t>
                      </a:r>
                    </a:p>
                  </a:txBody>
                  <a:tcPr marL="73152" marR="73152" marT="36576" marB="36576" anchor="ctr">
                    <a:solidFill>
                      <a:srgbClr val="E6F4F2"/>
                    </a:solidFill>
                  </a:tcPr>
                </a:tc>
              </a:tr>
              <a:tr h="566928">
                <a:tc>
                  <a:txBody>
                    <a:bodyPr wrap="square"/>
                    <a:lstStyle/>
                    <a:p>
                      <a:r>
                        <a:rPr sz="1200" b="0" i="0">
                          <a:solidFill>
                            <a:srgbClr val="1F2937"/>
                          </a:solidFill>
                          <a:latin typeface="Calibri"/>
                        </a:rPr>
                        <a:t>Ícono negro</a:t>
                      </a:r>
                    </a:p>
                  </a:txBody>
                  <a:tcPr marL="73152" marR="73152" marT="36576" marB="36576" anchor="ctr">
                    <a:solidFill>
                      <a:srgbClr val="FFFFFF"/>
                    </a:solidFill>
                  </a:tcPr>
                </a:tc>
                <a:tc>
                  <a:txBody>
                    <a:bodyPr wrap="square"/>
                    <a:lstStyle/>
                    <a:p>
                      <a:r>
                        <a:rPr sz="1200" b="0" i="0">
                          <a:solidFill>
                            <a:srgbClr val="1F2937"/>
                          </a:solidFill>
                          <a:latin typeface="Calibri"/>
                        </a:rPr>
                        <a:t>Revisar Default Icon</a:t>
                      </a:r>
                    </a:p>
                  </a:txBody>
                  <a:tcPr marL="73152" marR="73152" marT="36576" marB="36576" anchor="ctr">
                    <a:solidFill>
                      <a:srgbClr val="FFFFFF"/>
                    </a:solidFill>
                  </a:tcPr>
                </a:tc>
              </a:tr>
              <a:tr h="566928">
                <a:tc>
                  <a:txBody>
                    <a:bodyPr wrap="square"/>
                    <a:lstStyle/>
                    <a:p>
                      <a:r>
                        <a:rPr sz="1200" b="0" i="0">
                          <a:solidFill>
                            <a:srgbClr val="1F2937"/>
                          </a:solidFill>
                          <a:latin typeface="Calibri"/>
                        </a:rPr>
                        <a:t>Ver errores del juego</a:t>
                      </a:r>
                    </a:p>
                  </a:txBody>
                  <a:tcPr marL="73152" marR="73152" marT="36576" marB="36576" anchor="ctr">
                    <a:solidFill>
                      <a:srgbClr val="E6F4F2"/>
                    </a:solidFill>
                  </a:tcPr>
                </a:tc>
                <a:tc>
                  <a:txBody>
                    <a:bodyPr wrap="square"/>
                    <a:lstStyle/>
                    <a:p>
                      <a:r>
                        <a:rPr sz="1200" b="0" i="0">
                          <a:solidFill>
                            <a:srgbClr val="1F2937"/>
                          </a:solidFill>
                          <a:latin typeface="Calibri"/>
                        </a:rPr>
                        <a:t>adb logcat -s Unity</a:t>
                      </a:r>
                    </a:p>
                  </a:txBody>
                  <a:tcPr marL="73152" marR="73152" marT="36576" marB="36576" anchor="ctr">
                    <a:solidFill>
                      <a:srgbClr val="E6F4F2"/>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CASO 2D PLATFORMER · PC Y ANDROID</a:t>
            </a:r>
          </a:p>
          <a:p>
            <a:r>
              <a:rPr sz="2600" b="1" i="0">
                <a:solidFill>
                  <a:srgbClr val="FFFFFF"/>
                </a:solidFill>
                <a:latin typeface="Calibri"/>
              </a:rPr>
              <a:t>Antes y después: controles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proyectos-unity/2D-Platformer-Unity-v2; laboratorio-adaptacion/PORTEO-PLATFORMER.md (evidencia del 19/10/2026)</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cambió para quien juega en PC?</a:t>
            </a:r>
          </a:p>
        </p:txBody>
      </p:sp>
      <p:graphicFrame>
        <p:nvGraphicFramePr>
          <p:cNvPr id="11" name="Table 10"/>
          <p:cNvGraphicFramePr>
            <a:graphicFrameLocks noGrp="1"/>
          </p:cNvGraphicFramePr>
          <p:nvPr/>
        </p:nvGraphicFramePr>
        <p:xfrm>
          <a:off x="502920" y="1234440"/>
          <a:ext cx="11185852" cy="2834640"/>
        </p:xfrm>
        <a:graphic>
          <a:graphicData uri="http://schemas.openxmlformats.org/drawingml/2006/table">
            <a:tbl>
              <a:tblPr firstRow="1" bandRow="1">
                <a:tableStyleId>{5C22544A-7EE6-4342-B048-85BDC9FD1C3A}</a:tableStyleId>
              </a:tblPr>
              <a:tblGrid>
                <a:gridCol w="1618079"/>
                <a:gridCol w="2321592"/>
                <a:gridCol w="2180889"/>
                <a:gridCol w="1618079"/>
                <a:gridCol w="1969836"/>
                <a:gridCol w="1477377"/>
              </a:tblGrid>
              <a:tr h="566928">
                <a:tc>
                  <a:txBody>
                    <a:bodyPr wrap="square"/>
                    <a:lstStyle/>
                    <a:p>
                      <a:r>
                        <a:rPr sz="1400" b="1" i="0">
                          <a:solidFill>
                            <a:srgbClr val="FFFFFF"/>
                          </a:solidFill>
                          <a:latin typeface="Calibri"/>
                        </a:rPr>
                        <a:t>Versión</a:t>
                      </a:r>
                    </a:p>
                  </a:txBody>
                  <a:tcPr marL="73152" marR="73152" marT="36576" marB="36576" anchor="ctr">
                    <a:solidFill>
                      <a:srgbClr val="0D9488"/>
                    </a:solidFill>
                  </a:tcPr>
                </a:tc>
                <a:tc>
                  <a:txBody>
                    <a:bodyPr wrap="square"/>
                    <a:lstStyle/>
                    <a:p>
                      <a:r>
                        <a:rPr sz="1400" b="1" i="0">
                          <a:solidFill>
                            <a:srgbClr val="FFFFFF"/>
                          </a:solidFill>
                          <a:latin typeface="Calibri"/>
                        </a:rPr>
                        <a:t>Controles</a:t>
                      </a:r>
                    </a:p>
                  </a:txBody>
                  <a:tcPr marL="73152" marR="73152" marT="36576" marB="36576" anchor="ctr">
                    <a:solidFill>
                      <a:srgbClr val="0D9488"/>
                    </a:solidFill>
                  </a:tcPr>
                </a:tc>
                <a:tc>
                  <a:txBody>
                    <a:bodyPr wrap="square"/>
                    <a:lstStyle/>
                    <a:p>
                      <a:r>
                        <a:rPr sz="1400" b="1" i="0">
                          <a:solidFill>
                            <a:srgbClr val="FFFFFF"/>
                          </a:solidFill>
                          <a:latin typeface="Calibri"/>
                        </a:rPr>
                        <a:t>Mover</a:t>
                      </a:r>
                    </a:p>
                  </a:txBody>
                  <a:tcPr marL="73152" marR="73152" marT="36576" marB="36576" anchor="ctr">
                    <a:solidFill>
                      <a:srgbClr val="0D9488"/>
                    </a:solidFill>
                  </a:tcPr>
                </a:tc>
                <a:tc>
                  <a:txBody>
                    <a:bodyPr wrap="square"/>
                    <a:lstStyle/>
                    <a:p>
                      <a:r>
                        <a:rPr sz="1400" b="1" i="0">
                          <a:solidFill>
                            <a:srgbClr val="FFFFFF"/>
                          </a:solidFill>
                          <a:latin typeface="Calibri"/>
                        </a:rPr>
                        <a:t>Saltar</a:t>
                      </a:r>
                    </a:p>
                  </a:txBody>
                  <a:tcPr marL="73152" marR="73152" marT="36576" marB="36576" anchor="ctr">
                    <a:solidFill>
                      <a:srgbClr val="0D9488"/>
                    </a:solidFill>
                  </a:tcPr>
                </a:tc>
                <a:tc>
                  <a:txBody>
                    <a:bodyPr wrap="square"/>
                    <a:lstStyle/>
                    <a:p>
                      <a:r>
                        <a:rPr sz="1400" b="1" i="0">
                          <a:solidFill>
                            <a:srgbClr val="FFFFFF"/>
                          </a:solidFill>
                          <a:latin typeface="Calibri"/>
                        </a:rPr>
                        <a:t>En pantalla</a:t>
                      </a:r>
                    </a:p>
                  </a:txBody>
                  <a:tcPr marL="73152" marR="73152" marT="36576" marB="36576" anchor="ctr">
                    <a:solidFill>
                      <a:srgbClr val="0D9488"/>
                    </a:solidFill>
                  </a:tcPr>
                </a:tc>
                <a:tc>
                  <a:txBody>
                    <a:bodyPr wrap="square"/>
                    <a:lstStyle/>
                    <a:p>
                      <a:r>
                        <a:rPr sz="1400" b="1" i="0">
                          <a:solidFill>
                            <a:srgbClr val="FFFFFF"/>
                          </a:solidFill>
                          <a:latin typeface="Calibri"/>
                        </a:rPr>
                        <a:t>Orientación</a:t>
                      </a:r>
                    </a:p>
                  </a:txBody>
                  <a:tcPr marL="73152" marR="73152" marT="36576" marB="36576" anchor="ctr">
                    <a:solidFill>
                      <a:srgbClr val="0D9488"/>
                    </a:solidFill>
                  </a:tcPr>
                </a:tc>
              </a:tr>
              <a:tr h="566928">
                <a:tc>
                  <a:txBody>
                    <a:bodyPr wrap="square"/>
                    <a:lstStyle/>
                    <a:p>
                      <a:r>
                        <a:rPr sz="1400" b="0" i="0">
                          <a:solidFill>
                            <a:srgbClr val="1F2937"/>
                          </a:solidFill>
                          <a:latin typeface="Calibri"/>
                        </a:rPr>
                        <a:t>PC · antes</a:t>
                      </a:r>
                    </a:p>
                  </a:txBody>
                  <a:tcPr marL="73152" marR="73152" marT="36576" marB="36576" anchor="ctr">
                    <a:solidFill>
                      <a:srgbClr val="FFFFFF"/>
                    </a:solidFill>
                  </a:tcPr>
                </a:tc>
                <a:tc>
                  <a:txBody>
                    <a:bodyPr wrap="square"/>
                    <a:lstStyle/>
                    <a:p>
                      <a:r>
                        <a:rPr sz="1400" b="0" i="0">
                          <a:solidFill>
                            <a:srgbClr val="1F2937"/>
                          </a:solidFill>
                          <a:latin typeface="Calibri"/>
                        </a:rPr>
                        <a:t>Teclado y joystick (legacy)</a:t>
                      </a:r>
                    </a:p>
                  </a:txBody>
                  <a:tcPr marL="73152" marR="73152" marT="36576" marB="36576" anchor="ctr">
                    <a:solidFill>
                      <a:srgbClr val="FFFFFF"/>
                    </a:solidFill>
                  </a:tcPr>
                </a:tc>
                <a:tc>
                  <a:txBody>
                    <a:bodyPr wrap="square"/>
                    <a:lstStyle/>
                    <a:p>
                      <a:r>
                        <a:rPr sz="1400" b="0" i="0">
                          <a:solidFill>
                            <a:srgbClr val="1F2937"/>
                          </a:solidFill>
                          <a:latin typeface="Calibri"/>
                        </a:rPr>
                        <a:t>← → / A D, con suavizado</a:t>
                      </a:r>
                    </a:p>
                  </a:txBody>
                  <a:tcPr marL="73152" marR="73152" marT="36576" marB="36576" anchor="ctr">
                    <a:solidFill>
                      <a:srgbClr val="FFFFFF"/>
                    </a:solidFill>
                  </a:tcPr>
                </a:tc>
                <a:tc>
                  <a:txBody>
                    <a:bodyPr wrap="square"/>
                    <a:lstStyle/>
                    <a:p>
                      <a:r>
                        <a:rPr sz="1400" b="0" i="0">
                          <a:solidFill>
                            <a:srgbClr val="1F2937"/>
                          </a:solidFill>
                          <a:latin typeface="Calibri"/>
                        </a:rPr>
                        <a:t>Espacio</a:t>
                      </a:r>
                    </a:p>
                  </a:txBody>
                  <a:tcPr marL="73152" marR="73152" marT="36576" marB="36576" anchor="ctr">
                    <a:solidFill>
                      <a:srgbClr val="FFFFFF"/>
                    </a:solidFill>
                  </a:tcPr>
                </a:tc>
                <a:tc>
                  <a:txBody>
                    <a:bodyPr wrap="square"/>
                    <a:lstStyle/>
                    <a:p>
                      <a:r>
                        <a:rPr sz="1400" b="0" i="0">
                          <a:solidFill>
                            <a:srgbClr val="1F2937"/>
                          </a:solidFill>
                          <a:latin typeface="Calibri"/>
                        </a:rPr>
                        <a:t>Nada</a:t>
                      </a:r>
                    </a:p>
                  </a:txBody>
                  <a:tcPr marL="73152" marR="73152" marT="36576" marB="36576" anchor="ctr">
                    <a:solidFill>
                      <a:srgbClr val="FFFFFF"/>
                    </a:solidFill>
                  </a:tcPr>
                </a:tc>
                <a:tc>
                  <a:txBody>
                    <a:bodyPr wrap="square"/>
                    <a:lstStyle/>
                    <a:p>
                      <a:r>
                        <a:rPr sz="1400" b="0" i="0">
                          <a:solidFill>
                            <a:srgbClr val="1F2937"/>
                          </a:solidFill>
                          <a:latin typeface="Calibri"/>
                        </a:rPr>
                        <a:t>Ventana</a:t>
                      </a:r>
                    </a:p>
                  </a:txBody>
                  <a:tcPr marL="73152" marR="73152" marT="36576" marB="36576" anchor="ctr">
                    <a:solidFill>
                      <a:srgbClr val="FFFFFF"/>
                    </a:solidFill>
                  </a:tcPr>
                </a:tc>
              </a:tr>
              <a:tr h="566928">
                <a:tc>
                  <a:txBody>
                    <a:bodyPr wrap="square"/>
                    <a:lstStyle/>
                    <a:p>
                      <a:r>
                        <a:rPr sz="1400" b="0" i="0">
                          <a:solidFill>
                            <a:srgbClr val="1F2937"/>
                          </a:solidFill>
                          <a:latin typeface="Calibri"/>
                        </a:rPr>
                        <a:t>PC · después</a:t>
                      </a:r>
                    </a:p>
                  </a:txBody>
                  <a:tcPr marL="73152" marR="73152" marT="36576" marB="36576" anchor="ctr">
                    <a:solidFill>
                      <a:srgbClr val="E6F4F2"/>
                    </a:solidFill>
                  </a:tcPr>
                </a:tc>
                <a:tc>
                  <a:txBody>
                    <a:bodyPr wrap="square"/>
                    <a:lstStyle/>
                    <a:p>
                      <a:r>
                        <a:rPr sz="1400" b="0" i="0">
                          <a:solidFill>
                            <a:srgbClr val="1F2937"/>
                          </a:solidFill>
                          <a:latin typeface="Calibri"/>
                        </a:rPr>
                        <a:t>Teclado y gamepad</a:t>
                      </a:r>
                    </a:p>
                  </a:txBody>
                  <a:tcPr marL="73152" marR="73152" marT="36576" marB="36576" anchor="ctr">
                    <a:solidFill>
                      <a:srgbClr val="E6F4F2"/>
                    </a:solidFill>
                  </a:tcPr>
                </a:tc>
                <a:tc>
                  <a:txBody>
                    <a:bodyPr wrap="square"/>
                    <a:lstStyle/>
                    <a:p>
                      <a:r>
                        <a:rPr sz="1400" b="0" i="0">
                          <a:solidFill>
                            <a:srgbClr val="1F2937"/>
                          </a:solidFill>
                          <a:latin typeface="Calibri"/>
                        </a:rPr>
                        <a:t>← → / A D, stick, cruceta</a:t>
                      </a:r>
                    </a:p>
                  </a:txBody>
                  <a:tcPr marL="73152" marR="73152" marT="36576" marB="36576" anchor="ctr">
                    <a:solidFill>
                      <a:srgbClr val="E6F4F2"/>
                    </a:solidFill>
                  </a:tcPr>
                </a:tc>
                <a:tc>
                  <a:txBody>
                    <a:bodyPr wrap="square"/>
                    <a:lstStyle/>
                    <a:p>
                      <a:r>
                        <a:rPr sz="1400" b="0" i="0">
                          <a:solidFill>
                            <a:srgbClr val="1F2937"/>
                          </a:solidFill>
                          <a:latin typeface="Calibri"/>
                        </a:rPr>
                        <a:t>Espacio o botón A</a:t>
                      </a:r>
                    </a:p>
                  </a:txBody>
                  <a:tcPr marL="73152" marR="73152" marT="36576" marB="36576" anchor="ctr">
                    <a:solidFill>
                      <a:srgbClr val="E6F4F2"/>
                    </a:solidFill>
                  </a:tcPr>
                </a:tc>
                <a:tc>
                  <a:txBody>
                    <a:bodyPr wrap="square"/>
                    <a:lstStyle/>
                    <a:p>
                      <a:r>
                        <a:rPr sz="1400" b="0" i="0">
                          <a:solidFill>
                            <a:srgbClr val="1F2937"/>
                          </a:solidFill>
                          <a:latin typeface="Calibri"/>
                        </a:rPr>
                        <a:t>Nada (oculto)</a:t>
                      </a:r>
                    </a:p>
                  </a:txBody>
                  <a:tcPr marL="73152" marR="73152" marT="36576" marB="36576" anchor="ctr">
                    <a:solidFill>
                      <a:srgbClr val="E6F4F2"/>
                    </a:solidFill>
                  </a:tcPr>
                </a:tc>
                <a:tc>
                  <a:txBody>
                    <a:bodyPr wrap="square"/>
                    <a:lstStyle/>
                    <a:p>
                      <a:r>
                        <a:rPr sz="1400" b="0" i="0">
                          <a:solidFill>
                            <a:srgbClr val="1F2937"/>
                          </a:solidFill>
                          <a:latin typeface="Calibri"/>
                        </a:rPr>
                        <a:t>Ventana</a:t>
                      </a:r>
                    </a:p>
                  </a:txBody>
                  <a:tcPr marL="73152" marR="73152" marT="36576" marB="36576" anchor="ctr">
                    <a:solidFill>
                      <a:srgbClr val="E6F4F2"/>
                    </a:solidFill>
                  </a:tcPr>
                </a:tc>
              </a:tr>
              <a:tr h="566928">
                <a:tc>
                  <a:txBody>
                    <a:bodyPr wrap="square"/>
                    <a:lstStyle/>
                    <a:p>
                      <a:r>
                        <a:rPr sz="1400" b="0" i="0">
                          <a:solidFill>
                            <a:srgbClr val="1F2937"/>
                          </a:solidFill>
                          <a:latin typeface="Calibri"/>
                        </a:rPr>
                        <a:t>Android · antes</a:t>
                      </a:r>
                    </a:p>
                  </a:txBody>
                  <a:tcPr marL="73152" marR="73152" marT="36576" marB="36576" anchor="ctr">
                    <a:solidFill>
                      <a:srgbClr val="FFFFFF"/>
                    </a:solidFill>
                  </a:tcPr>
                </a:tc>
                <a:tc>
                  <a:txBody>
                    <a:bodyPr wrap="square"/>
                    <a:lstStyle/>
                    <a:p>
                      <a:r>
                        <a:rPr sz="1400" b="0" i="0">
                          <a:solidFill>
                            <a:srgbClr val="1F2937"/>
                          </a:solidFill>
                          <a:latin typeface="Calibri"/>
                        </a:rPr>
                        <a:t>Ninguno</a:t>
                      </a:r>
                    </a:p>
                  </a:txBody>
                  <a:tcPr marL="73152" marR="73152" marT="36576" marB="36576" anchor="ctr">
                    <a:solidFill>
                      <a:srgbClr val="FFFFFF"/>
                    </a:solidFill>
                  </a:tcPr>
                </a:tc>
                <a:tc>
                  <a:txBody>
                    <a:bodyPr wrap="square"/>
                    <a:lstStyle/>
                    <a:p>
                      <a:r>
                        <a:rPr sz="1400" b="0" i="0">
                          <a:solidFill>
                            <a:srgbClr val="1F2937"/>
                          </a:solidFill>
                          <a:latin typeface="Calibri"/>
                        </a:rPr>
                        <a:t>No se puede</a:t>
                      </a:r>
                    </a:p>
                  </a:txBody>
                  <a:tcPr marL="73152" marR="73152" marT="36576" marB="36576" anchor="ctr">
                    <a:solidFill>
                      <a:srgbClr val="FFFFFF"/>
                    </a:solidFill>
                  </a:tcPr>
                </a:tc>
                <a:tc>
                  <a:txBody>
                    <a:bodyPr wrap="square"/>
                    <a:lstStyle/>
                    <a:p>
                      <a:r>
                        <a:rPr sz="1400" b="0" i="0">
                          <a:solidFill>
                            <a:srgbClr val="1F2937"/>
                          </a:solidFill>
                          <a:latin typeface="Calibri"/>
                        </a:rPr>
                        <a:t>No se puede</a:t>
                      </a:r>
                    </a:p>
                  </a:txBody>
                  <a:tcPr marL="73152" marR="73152" marT="36576" marB="36576" anchor="ctr">
                    <a:solidFill>
                      <a:srgbClr val="FFFFFF"/>
                    </a:solidFill>
                  </a:tcPr>
                </a:tc>
                <a:tc>
                  <a:txBody>
                    <a:bodyPr wrap="square"/>
                    <a:lstStyle/>
                    <a:p>
                      <a:r>
                        <a:rPr sz="1400" b="0" i="0">
                          <a:solidFill>
                            <a:srgbClr val="1F2937"/>
                          </a:solidFill>
                          <a:latin typeface="Calibri"/>
                        </a:rPr>
                        <a:t>Contenedor vacío</a:t>
                      </a:r>
                    </a:p>
                  </a:txBody>
                  <a:tcPr marL="73152" marR="73152" marT="36576" marB="36576" anchor="ctr">
                    <a:solidFill>
                      <a:srgbClr val="FFFFFF"/>
                    </a:solidFill>
                  </a:tcPr>
                </a:tc>
                <a:tc>
                  <a:txBody>
                    <a:bodyPr wrap="square"/>
                    <a:lstStyle/>
                    <a:p>
                      <a:r>
                        <a:rPr sz="1400" b="0" i="0">
                          <a:solidFill>
                            <a:srgbClr val="1F2937"/>
                          </a:solidFill>
                          <a:latin typeface="Calibri"/>
                        </a:rPr>
                        <a:t>Las 4</a:t>
                      </a:r>
                    </a:p>
                  </a:txBody>
                  <a:tcPr marL="73152" marR="73152" marT="36576" marB="36576" anchor="ctr">
                    <a:solidFill>
                      <a:srgbClr val="FFFFFF"/>
                    </a:solidFill>
                  </a:tcPr>
                </a:tc>
              </a:tr>
              <a:tr h="566928">
                <a:tc>
                  <a:txBody>
                    <a:bodyPr wrap="square"/>
                    <a:lstStyle/>
                    <a:p>
                      <a:r>
                        <a:rPr sz="1400" b="0" i="0">
                          <a:solidFill>
                            <a:srgbClr val="1F2937"/>
                          </a:solidFill>
                          <a:latin typeface="Calibri"/>
                        </a:rPr>
                        <a:t>Android · después</a:t>
                      </a:r>
                    </a:p>
                  </a:txBody>
                  <a:tcPr marL="73152" marR="73152" marT="36576" marB="36576" anchor="ctr">
                    <a:solidFill>
                      <a:srgbClr val="E6F4F2"/>
                    </a:solidFill>
                  </a:tcPr>
                </a:tc>
                <a:tc>
                  <a:txBody>
                    <a:bodyPr wrap="square"/>
                    <a:lstStyle/>
                    <a:p>
                      <a:r>
                        <a:rPr sz="1400" b="0" i="0">
                          <a:solidFill>
                            <a:srgbClr val="1F2937"/>
                          </a:solidFill>
                          <a:latin typeface="Calibri"/>
                        </a:rPr>
                        <a:t>Táctil = gamepad virtual</a:t>
                      </a:r>
                    </a:p>
                  </a:txBody>
                  <a:tcPr marL="73152" marR="73152" marT="36576" marB="36576" anchor="ctr">
                    <a:solidFill>
                      <a:srgbClr val="E6F4F2"/>
                    </a:solidFill>
                  </a:tcPr>
                </a:tc>
                <a:tc>
                  <a:txBody>
                    <a:bodyPr wrap="square"/>
                    <a:lstStyle/>
                    <a:p>
                      <a:r>
                        <a:rPr sz="1400" b="0" i="0">
                          <a:solidFill>
                            <a:srgbClr val="1F2937"/>
                          </a:solidFill>
                          <a:latin typeface="Calibri"/>
                        </a:rPr>
                        <a:t>Botones ◀ ▶</a:t>
                      </a:r>
                    </a:p>
                  </a:txBody>
                  <a:tcPr marL="73152" marR="73152" marT="36576" marB="36576" anchor="ctr">
                    <a:solidFill>
                      <a:srgbClr val="E6F4F2"/>
                    </a:solidFill>
                  </a:tcPr>
                </a:tc>
                <a:tc>
                  <a:txBody>
                    <a:bodyPr wrap="square"/>
                    <a:lstStyle/>
                    <a:p>
                      <a:r>
                        <a:rPr sz="1400" b="0" i="0">
                          <a:solidFill>
                            <a:srgbClr val="1F2937"/>
                          </a:solidFill>
                          <a:latin typeface="Calibri"/>
                        </a:rPr>
                        <a:t>Botón SALTAR</a:t>
                      </a:r>
                    </a:p>
                  </a:txBody>
                  <a:tcPr marL="73152" marR="73152" marT="36576" marB="36576" anchor="ctr">
                    <a:solidFill>
                      <a:srgbClr val="E6F4F2"/>
                    </a:solidFill>
                  </a:tcPr>
                </a:tc>
                <a:tc>
                  <a:txBody>
                    <a:bodyPr wrap="square"/>
                    <a:lstStyle/>
                    <a:p>
                      <a:r>
                        <a:rPr sz="1400" b="0" i="0">
                          <a:solidFill>
                            <a:srgbClr val="1F2937"/>
                          </a:solidFill>
                          <a:latin typeface="Calibri"/>
                        </a:rPr>
                        <a:t>◀ ▶ SALTAR + safe area</a:t>
                      </a:r>
                    </a:p>
                  </a:txBody>
                  <a:tcPr marL="73152" marR="73152" marT="36576" marB="36576" anchor="ctr">
                    <a:solidFill>
                      <a:srgbClr val="E6F4F2"/>
                    </a:solidFill>
                  </a:tcPr>
                </a:tc>
                <a:tc>
                  <a:txBody>
                    <a:bodyPr wrap="square"/>
                    <a:lstStyle/>
                    <a:p>
                      <a:r>
                        <a:rPr sz="1400" b="0" i="0">
                          <a:solidFill>
                            <a:srgbClr val="1F2937"/>
                          </a:solidFill>
                          <a:latin typeface="Calibri"/>
                        </a:rPr>
                        <a:t>Solo horizontal</a:t>
                      </a:r>
                    </a:p>
                  </a:txBody>
                  <a:tcPr marL="73152" marR="73152" marT="36576" marB="36576" anchor="ctr">
                    <a:solidFill>
                      <a:srgbClr val="E6F4F2"/>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CASO 2D PLATFORMER · LO QUE NO SE VE</a:t>
            </a:r>
          </a:p>
          <a:p>
            <a:r>
              <a:rPr sz="2600" b="1" i="0">
                <a:solidFill>
                  <a:srgbClr val="FFFFFF"/>
                </a:solidFill>
                <a:latin typeface="Calibri"/>
              </a:rPr>
              <a:t>Antes y después: proyecto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78/87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laboratorio-adaptacion/PORTEO-PLATFORMER.md; logs y XML en laboratorio-adaptacion/evidencia/platformer-v2-*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fallan 2 tests si el porteo está bien?</a:t>
            </a:r>
          </a:p>
        </p:txBody>
      </p:sp>
      <p:graphicFrame>
        <p:nvGraphicFramePr>
          <p:cNvPr id="11" name="Table 10"/>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2684605"/>
                <a:gridCol w="4474342"/>
                <a:gridCol w="4026907"/>
              </a:tblGrid>
              <a:tr h="566928">
                <a:tc>
                  <a:txBody>
                    <a:bodyPr wrap="square"/>
                    <a:lstStyle/>
                    <a:p>
                      <a:r>
                        <a:rPr sz="1200" b="1" i="0">
                          <a:solidFill>
                            <a:srgbClr val="FFFFFF"/>
                          </a:solidFill>
                          <a:latin typeface="Calibri"/>
                        </a:rPr>
                        <a:t>Aspecto</a:t>
                      </a:r>
                    </a:p>
                  </a:txBody>
                  <a:tcPr marL="73152" marR="73152" marT="36576" marB="36576" anchor="ctr">
                    <a:solidFill>
                      <a:srgbClr val="0D9488"/>
                    </a:solidFill>
                  </a:tcPr>
                </a:tc>
                <a:tc>
                  <a:txBody>
                    <a:bodyPr wrap="square"/>
                    <a:lstStyle/>
                    <a:p>
                      <a:r>
                        <a:rPr sz="1200" b="1" i="0">
                          <a:solidFill>
                            <a:srgbClr val="FFFFFF"/>
                          </a:solidFill>
                          <a:latin typeface="Calibri"/>
                        </a:rPr>
                        <a:t>Antes (original)</a:t>
                      </a:r>
                    </a:p>
                  </a:txBody>
                  <a:tcPr marL="73152" marR="73152" marT="36576" marB="36576" anchor="ctr">
                    <a:solidFill>
                      <a:srgbClr val="0D9488"/>
                    </a:solidFill>
                  </a:tcPr>
                </a:tc>
                <a:tc>
                  <a:txBody>
                    <a:bodyPr wrap="square"/>
                    <a:lstStyle/>
                    <a:p>
                      <a:r>
                        <a:rPr sz="1200" b="1" i="0">
                          <a:solidFill>
                            <a:srgbClr val="FFFFFF"/>
                          </a:solidFill>
                          <a:latin typeface="Calibri"/>
                        </a:rPr>
                        <a:t>Después (versión 2)</a:t>
                      </a:r>
                    </a:p>
                  </a:txBody>
                  <a:tcPr marL="73152" marR="73152" marT="36576" marB="36576" anchor="ctr">
                    <a:solidFill>
                      <a:srgbClr val="0D9488"/>
                    </a:solidFill>
                  </a:tcPr>
                </a:tc>
              </a:tr>
              <a:tr h="566928">
                <a:tc>
                  <a:txBody>
                    <a:bodyPr wrap="square"/>
                    <a:lstStyle/>
                    <a:p>
                      <a:r>
                        <a:rPr sz="1200" b="0" i="0">
                          <a:solidFill>
                            <a:srgbClr val="1F2937"/>
                          </a:solidFill>
                          <a:latin typeface="Calibri"/>
                        </a:rPr>
                        <a:t>Sistema de entrada</a:t>
                      </a:r>
                    </a:p>
                  </a:txBody>
                  <a:tcPr marL="73152" marR="73152" marT="36576" marB="36576" anchor="ctr">
                    <a:solidFill>
                      <a:srgbClr val="FFFFFF"/>
                    </a:solidFill>
                  </a:tcPr>
                </a:tc>
                <a:tc>
                  <a:txBody>
                    <a:bodyPr wrap="square"/>
                    <a:lstStyle/>
                    <a:p>
                      <a:r>
                        <a:rPr sz="1200" b="0" i="0">
                          <a:solidFill>
                            <a:srgbClr val="1F2937"/>
                          </a:solidFill>
                          <a:latin typeface="Calibri"/>
                        </a:rPr>
                        <a:t>Input Manager</a:t>
                      </a:r>
                    </a:p>
                  </a:txBody>
                  <a:tcPr marL="73152" marR="73152" marT="36576" marB="36576" anchor="ctr">
                    <a:solidFill>
                      <a:srgbClr val="FFFFFF"/>
                    </a:solidFill>
                  </a:tcPr>
                </a:tc>
                <a:tc>
                  <a:txBody>
                    <a:bodyPr wrap="square"/>
                    <a:lstStyle/>
                    <a:p>
                      <a:r>
                        <a:rPr sz="1200" b="0" i="0">
                          <a:solidFill>
                            <a:srgbClr val="1F2937"/>
                          </a:solidFill>
                          <a:latin typeface="Calibri"/>
                        </a:rPr>
                        <a:t>Input System 1.19 (solo "New")</a:t>
                      </a:r>
                    </a:p>
                  </a:txBody>
                  <a:tcPr marL="73152" marR="73152" marT="36576" marB="36576" anchor="ctr">
                    <a:solidFill>
                      <a:srgbClr val="FFFFFF"/>
                    </a:solidFill>
                  </a:tcPr>
                </a:tc>
              </a:tr>
              <a:tr h="566928">
                <a:tc>
                  <a:txBody>
                    <a:bodyPr wrap="square"/>
                    <a:lstStyle/>
                    <a:p>
                      <a:r>
                        <a:rPr sz="1200" b="0" i="0">
                          <a:solidFill>
                            <a:srgbClr val="1F2937"/>
                          </a:solidFill>
                          <a:latin typeface="Calibri"/>
                        </a:rPr>
                        <a:t>Quién lee el input</a:t>
                      </a:r>
                    </a:p>
                  </a:txBody>
                  <a:tcPr marL="73152" marR="73152" marT="36576" marB="36576" anchor="ctr">
                    <a:solidFill>
                      <a:srgbClr val="E6F4F2"/>
                    </a:solidFill>
                  </a:tcPr>
                </a:tc>
                <a:tc>
                  <a:txBody>
                    <a:bodyPr wrap="square"/>
                    <a:lstStyle/>
                    <a:p>
                      <a:r>
                        <a:rPr sz="1200" b="0" i="0">
                          <a:solidFill>
                            <a:srgbClr val="1F2937"/>
                          </a:solidFill>
                          <a:latin typeface="Calibri"/>
                        </a:rPr>
                        <a:t>PlayerController</a:t>
                      </a:r>
                    </a:p>
                  </a:txBody>
                  <a:tcPr marL="73152" marR="73152" marT="36576" marB="36576" anchor="ctr">
                    <a:solidFill>
                      <a:srgbClr val="E6F4F2"/>
                    </a:solidFill>
                  </a:tcPr>
                </a:tc>
                <a:tc>
                  <a:txBody>
                    <a:bodyPr wrap="square"/>
                    <a:lstStyle/>
                    <a:p>
                      <a:r>
                        <a:rPr sz="1200" b="0" i="0">
                          <a:solidFill>
                            <a:srgbClr val="1F2937"/>
                          </a:solidFill>
                          <a:latin typeface="Calibri"/>
                        </a:rPr>
                        <a:t>Adaptador → SetIntent</a:t>
                      </a:r>
                    </a:p>
                  </a:txBody>
                  <a:tcPr marL="73152" marR="73152" marT="36576" marB="36576" anchor="ctr">
                    <a:solidFill>
                      <a:srgbClr val="E6F4F2"/>
                    </a:solidFill>
                  </a:tcPr>
                </a:tc>
              </a:tr>
              <a:tr h="566928">
                <a:tc>
                  <a:txBody>
                    <a:bodyPr wrap="square"/>
                    <a:lstStyle/>
                    <a:p>
                      <a:r>
                        <a:rPr sz="1200" b="0" i="0">
                          <a:solidFill>
                            <a:srgbClr val="1F2937"/>
                          </a:solidFill>
                          <a:latin typeface="Calibri"/>
                        </a:rPr>
                        <a:t>Módulo de UI</a:t>
                      </a:r>
                    </a:p>
                  </a:txBody>
                  <a:tcPr marL="73152" marR="73152" marT="36576" marB="36576" anchor="ctr">
                    <a:solidFill>
                      <a:srgbClr val="FFFFFF"/>
                    </a:solidFill>
                  </a:tcPr>
                </a:tc>
                <a:tc>
                  <a:txBody>
                    <a:bodyPr wrap="square"/>
                    <a:lstStyle/>
                    <a:p>
                      <a:r>
                        <a:rPr sz="1200" b="0" i="0">
                          <a:solidFill>
                            <a:srgbClr val="1F2937"/>
                          </a:solidFill>
                          <a:latin typeface="Calibri"/>
                        </a:rPr>
                        <a:t>StandaloneInputModule</a:t>
                      </a:r>
                    </a:p>
                  </a:txBody>
                  <a:tcPr marL="73152" marR="73152" marT="36576" marB="36576" anchor="ctr">
                    <a:solidFill>
                      <a:srgbClr val="FFFFFF"/>
                    </a:solidFill>
                  </a:tcPr>
                </a:tc>
                <a:tc>
                  <a:txBody>
                    <a:bodyPr wrap="square"/>
                    <a:lstStyle/>
                    <a:p>
                      <a:r>
                        <a:rPr sz="1200" b="0" i="0">
                          <a:solidFill>
                            <a:srgbClr val="1F2937"/>
                          </a:solidFill>
                          <a:latin typeface="Calibri"/>
                        </a:rPr>
                        <a:t>InputSystemUIInputModule</a:t>
                      </a:r>
                    </a:p>
                  </a:txBody>
                  <a:tcPr marL="73152" marR="73152" marT="36576" marB="36576" anchor="ctr">
                    <a:solidFill>
                      <a:srgbClr val="FFFFFF"/>
                    </a:solidFill>
                  </a:tcPr>
                </a:tc>
              </a:tr>
              <a:tr h="566928">
                <a:tc>
                  <a:txBody>
                    <a:bodyPr wrap="square"/>
                    <a:lstStyle/>
                    <a:p>
                      <a:r>
                        <a:rPr sz="1200" b="0" i="0">
                          <a:solidFill>
                            <a:srgbClr val="1F2937"/>
                          </a:solidFill>
                          <a:latin typeface="Calibri"/>
                        </a:rPr>
                        <a:t>Error "isGrounded"</a:t>
                      </a:r>
                    </a:p>
                  </a:txBody>
                  <a:tcPr marL="73152" marR="73152" marT="36576" marB="36576" anchor="ctr">
                    <a:solidFill>
                      <a:srgbClr val="E6F4F2"/>
                    </a:solidFill>
                  </a:tcPr>
                </a:tc>
                <a:tc>
                  <a:txBody>
                    <a:bodyPr wrap="square"/>
                    <a:lstStyle/>
                    <a:p>
                      <a:r>
                        <a:rPr sz="1200" b="0" i="0">
                          <a:solidFill>
                            <a:srgbClr val="1F2937"/>
                          </a:solidFill>
                          <a:latin typeface="Calibri"/>
                        </a:rPr>
                        <a:t>2447 por sesión</a:t>
                      </a:r>
                    </a:p>
                  </a:txBody>
                  <a:tcPr marL="73152" marR="73152" marT="36576" marB="36576" anchor="ctr">
                    <a:solidFill>
                      <a:srgbClr val="E6F4F2"/>
                    </a:solidFill>
                  </a:tcPr>
                </a:tc>
                <a:tc>
                  <a:txBody>
                    <a:bodyPr wrap="square"/>
                    <a:lstStyle/>
                    <a:p>
                      <a:r>
                        <a:rPr sz="1200" b="0" i="0">
                          <a:solidFill>
                            <a:srgbClr val="1F2937"/>
                          </a:solidFill>
                          <a:latin typeface="Calibri"/>
                        </a:rPr>
                        <a:t>0</a:t>
                      </a:r>
                    </a:p>
                  </a:txBody>
                  <a:tcPr marL="73152" marR="73152" marT="36576" marB="36576" anchor="ctr">
                    <a:solidFill>
                      <a:srgbClr val="E6F4F2"/>
                    </a:solidFill>
                  </a:tcPr>
                </a:tc>
              </a:tr>
              <a:tr h="566928">
                <a:tc>
                  <a:txBody>
                    <a:bodyPr wrap="square"/>
                    <a:lstStyle/>
                    <a:p>
                      <a:r>
                        <a:rPr sz="1200" b="0" i="0">
                          <a:solidFill>
                            <a:srgbClr val="1F2937"/>
                          </a:solidFill>
                          <a:latin typeface="Calibri"/>
                        </a:rPr>
                        <a:t>Build Android</a:t>
                      </a:r>
                    </a:p>
                  </a:txBody>
                  <a:tcPr marL="73152" marR="73152" marT="36576" marB="36576" anchor="ctr">
                    <a:solidFill>
                      <a:srgbClr val="FFFFFF"/>
                    </a:solidFill>
                  </a:tcPr>
                </a:tc>
                <a:tc>
                  <a:txBody>
                    <a:bodyPr wrap="square"/>
                    <a:lstStyle/>
                    <a:p>
                      <a:r>
                        <a:rPr sz="1200" b="0" i="0">
                          <a:solidFill>
                            <a:srgbClr val="1F2937"/>
                          </a:solidFill>
                          <a:latin typeface="Calibri"/>
                        </a:rPr>
                        <a:t>Falla (URP en modo compatibilidad)</a:t>
                      </a:r>
                    </a:p>
                  </a:txBody>
                  <a:tcPr marL="73152" marR="73152" marT="36576" marB="36576" anchor="ctr">
                    <a:solidFill>
                      <a:srgbClr val="FFFFFF"/>
                    </a:solidFill>
                  </a:tcPr>
                </a:tc>
                <a:tc>
                  <a:txBody>
                    <a:bodyPr wrap="square"/>
                    <a:lstStyle/>
                    <a:p>
                      <a:r>
                        <a:rPr sz="1200" b="0" i="0">
                          <a:solidFill>
                            <a:srgbClr val="1F2937"/>
                          </a:solidFill>
                          <a:latin typeface="Calibri"/>
                        </a:rPr>
                        <a:t>APK de 35,9 MB</a:t>
                      </a:r>
                    </a:p>
                  </a:txBody>
                  <a:tcPr marL="73152" marR="73152" marT="36576" marB="36576" anchor="ctr">
                    <a:solidFill>
                      <a:srgbClr val="FFFFFF"/>
                    </a:solidFill>
                  </a:tcPr>
                </a:tc>
              </a:tr>
              <a:tr h="566928">
                <a:tc>
                  <a:txBody>
                    <a:bodyPr wrap="square"/>
                    <a:lstStyle/>
                    <a:p>
                      <a:r>
                        <a:rPr sz="1200" b="0" i="0">
                          <a:solidFill>
                            <a:srgbClr val="1F2937"/>
                          </a:solidFill>
                          <a:latin typeface="Calibri"/>
                        </a:rPr>
                        <a:t>Tests automáticos</a:t>
                      </a:r>
                    </a:p>
                  </a:txBody>
                  <a:tcPr marL="73152" marR="73152" marT="36576" marB="36576" anchor="ctr">
                    <a:solidFill>
                      <a:srgbClr val="E6F4F2"/>
                    </a:solidFill>
                  </a:tcPr>
                </a:tc>
                <a:tc>
                  <a:txBody>
                    <a:bodyPr wrap="square"/>
                    <a:lstStyle/>
                    <a:p>
                      <a:r>
                        <a:rPr sz="1200" b="0" i="0">
                          <a:solidFill>
                            <a:srgbClr val="1F2937"/>
                          </a:solidFill>
                          <a:latin typeface="Calibri"/>
                        </a:rPr>
                        <a:t>Ninguno</a:t>
                      </a:r>
                    </a:p>
                  </a:txBody>
                  <a:tcPr marL="73152" marR="73152" marT="36576" marB="36576" anchor="ctr">
                    <a:solidFill>
                      <a:srgbClr val="E6F4F2"/>
                    </a:solidFill>
                  </a:tcPr>
                </a:tc>
                <a:tc>
                  <a:txBody>
                    <a:bodyPr wrap="square"/>
                    <a:lstStyle/>
                    <a:p>
                      <a:r>
                        <a:rPr sz="1200" b="0" i="0">
                          <a:solidFill>
                            <a:srgbClr val="1F2937"/>
                          </a:solidFill>
                          <a:latin typeface="Calibri"/>
                        </a:rPr>
                        <a:t>16: pasan 14, fallan 2</a:t>
                      </a:r>
                    </a:p>
                  </a:txBody>
                  <a:tcPr marL="73152" marR="73152" marT="36576" marB="36576" anchor="ctr">
                    <a:solidFill>
                      <a:srgbClr val="E6F4F2"/>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ANEXO DE CONSULTA · DATOS DE MERCADO</a:t>
            </a:r>
          </a:p>
          <a:p>
            <a:r>
              <a:rPr sz="4000" b="1" i="0">
                <a:solidFill>
                  <a:srgbClr val="FFFFFF"/>
                </a:solidFill>
                <a:latin typeface="Calibri"/>
              </a:rPr>
              <a:t>Anexo: Los plataformeros más vendidos</a:t>
            </a:r>
          </a:p>
          <a:p>
            <a:pPr>
              <a:spcBef>
                <a:spcPts val="600"/>
              </a:spcBef>
            </a:pPr>
            <a:r>
              <a:rPr sz="2000" b="0" i="0">
                <a:solidFill>
                  <a:srgbClr val="CBD5E1"/>
                </a:solidFill>
                <a:latin typeface="Calibri"/>
              </a:rPr>
              <a:t>Franquicias y juegos según VGSales Wiki, con imagen de cada título</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Anexo de consulta · 79/87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FRANQUICIAS 1–12</a:t>
            </a:r>
          </a:p>
          <a:p>
            <a:r>
              <a:rPr sz="2600" b="1" i="0">
                <a:solidFill>
                  <a:srgbClr val="FFFFFF"/>
                </a:solidFill>
                <a:latin typeface="Calibri"/>
              </a:rPr>
              <a:t>Franquicias de plataformas más vendidas (1 de 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80/87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f01.png"/>
          <p:cNvPicPr>
            <a:picLocks noChangeAspect="1"/>
          </p:cNvPicPr>
          <p:nvPr/>
        </p:nvPicPr>
        <p:blipFill>
          <a:blip r:embed="rId2"/>
          <a:stretch>
            <a:fillRect/>
          </a:stretch>
        </p:blipFill>
        <p:spPr>
          <a:xfrm>
            <a:off x="576072" y="1818240"/>
            <a:ext cx="1718005" cy="268008"/>
          </a:xfrm>
          <a:prstGeom prst="rect">
            <a:avLst/>
          </a:prstGeom>
        </p:spPr>
      </p:pic>
      <p:sp>
        <p:nvSpPr>
          <p:cNvPr id="10" name="Oval 9"/>
          <p:cNvSpPr/>
          <p:nvPr/>
        </p:nvSpPr>
        <p:spPr>
          <a:xfrm>
            <a:off x="1964893"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a:t>
            </a:r>
          </a:p>
        </p:txBody>
      </p:sp>
      <p:sp>
        <p:nvSpPr>
          <p:cNvPr id="11" name="TextBox 10"/>
          <p:cNvSpPr txBox="1"/>
          <p:nvPr/>
        </p:nvSpPr>
        <p:spPr>
          <a:xfrm>
            <a:off x="576072" y="2706624"/>
            <a:ext cx="1718005" cy="868680"/>
          </a:xfrm>
          <a:prstGeom prst="rect">
            <a:avLst/>
          </a:prstGeom>
          <a:noFill/>
        </p:spPr>
        <p:txBody>
          <a:bodyPr wrap="square" anchor="t" lIns="0" rIns="0" tIns="0" bIns="0">
            <a:spAutoFit/>
          </a:bodyPr>
          <a:lstStyle/>
          <a:p>
            <a:r>
              <a:rPr sz="1200" b="1" i="0">
                <a:solidFill>
                  <a:srgbClr val="1F2937"/>
                </a:solidFill>
                <a:latin typeface="Calibri"/>
              </a:rPr>
              <a:t>Mario (plataformas)</a:t>
            </a:r>
          </a:p>
          <a:p>
            <a:r>
              <a:rPr sz="1200" b="1" i="0">
                <a:solidFill>
                  <a:srgbClr val="0D9488"/>
                </a:solidFill>
                <a:latin typeface="Calibri"/>
              </a:rPr>
              <a:t>491,1 M de unidades</a:t>
            </a:r>
          </a:p>
          <a:p>
            <a:r>
              <a:rPr sz="1000" b="0" i="0">
                <a:solidFill>
                  <a:srgbClr val="6B7280"/>
                </a:solidFill>
                <a:latin typeface="Calibri"/>
              </a:rPr>
              <a:t>1981 · Arcade · Nintendo</a:t>
            </a:r>
          </a:p>
        </p:txBody>
      </p:sp>
      <p:pic>
        <p:nvPicPr>
          <p:cNvPr id="12" name="Picture 11" descr="f02.png"/>
          <p:cNvPicPr>
            <a:picLocks noChangeAspect="1"/>
          </p:cNvPicPr>
          <p:nvPr/>
        </p:nvPicPr>
        <p:blipFill>
          <a:blip r:embed="rId3"/>
          <a:stretch>
            <a:fillRect/>
          </a:stretch>
        </p:blipFill>
        <p:spPr>
          <a:xfrm>
            <a:off x="2440381" y="1618951"/>
            <a:ext cx="1718005" cy="666585"/>
          </a:xfrm>
          <a:prstGeom prst="rect">
            <a:avLst/>
          </a:prstGeom>
        </p:spPr>
      </p:pic>
      <p:sp>
        <p:nvSpPr>
          <p:cNvPr id="13" name="Oval 12"/>
          <p:cNvSpPr/>
          <p:nvPr/>
        </p:nvSpPr>
        <p:spPr>
          <a:xfrm>
            <a:off x="3829202"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a:t>
            </a:r>
          </a:p>
        </p:txBody>
      </p:sp>
      <p:sp>
        <p:nvSpPr>
          <p:cNvPr id="14" name="TextBox 13"/>
          <p:cNvSpPr txBox="1"/>
          <p:nvPr/>
        </p:nvSpPr>
        <p:spPr>
          <a:xfrm>
            <a:off x="2440381" y="2706624"/>
            <a:ext cx="1718005" cy="868680"/>
          </a:xfrm>
          <a:prstGeom prst="rect">
            <a:avLst/>
          </a:prstGeom>
          <a:noFill/>
        </p:spPr>
        <p:txBody>
          <a:bodyPr wrap="square" anchor="t" lIns="0" rIns="0" tIns="0" bIns="0">
            <a:spAutoFit/>
          </a:bodyPr>
          <a:lstStyle/>
          <a:p>
            <a:r>
              <a:rPr sz="1200" b="1" i="0">
                <a:solidFill>
                  <a:srgbClr val="1F2937"/>
                </a:solidFill>
                <a:latin typeface="Calibri"/>
              </a:rPr>
              <a:t>Sonic (plataformas)</a:t>
            </a:r>
          </a:p>
          <a:p>
            <a:r>
              <a:rPr sz="1200" b="1" i="0">
                <a:solidFill>
                  <a:srgbClr val="0D9488"/>
                </a:solidFill>
                <a:latin typeface="Calibri"/>
              </a:rPr>
              <a:t>195,8 M de unidades</a:t>
            </a:r>
          </a:p>
          <a:p>
            <a:r>
              <a:rPr sz="1000" b="0" i="0">
                <a:solidFill>
                  <a:srgbClr val="6B7280"/>
                </a:solidFill>
                <a:latin typeface="Calibri"/>
              </a:rPr>
              <a:t>1991 · Mega Drive · Sega</a:t>
            </a:r>
          </a:p>
        </p:txBody>
      </p:sp>
      <p:pic>
        <p:nvPicPr>
          <p:cNvPr id="15" name="Picture 14" descr="f03.png"/>
          <p:cNvPicPr>
            <a:picLocks noChangeAspect="1"/>
          </p:cNvPicPr>
          <p:nvPr/>
        </p:nvPicPr>
        <p:blipFill>
          <a:blip r:embed="rId4"/>
          <a:stretch>
            <a:fillRect/>
          </a:stretch>
        </p:blipFill>
        <p:spPr>
          <a:xfrm>
            <a:off x="4304690" y="1732339"/>
            <a:ext cx="1718005" cy="439809"/>
          </a:xfrm>
          <a:prstGeom prst="rect">
            <a:avLst/>
          </a:prstGeom>
        </p:spPr>
      </p:pic>
      <p:sp>
        <p:nvSpPr>
          <p:cNvPr id="16" name="Oval 15"/>
          <p:cNvSpPr/>
          <p:nvPr/>
        </p:nvSpPr>
        <p:spPr>
          <a:xfrm>
            <a:off x="5693511"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a:t>
            </a:r>
          </a:p>
        </p:txBody>
      </p:sp>
      <p:sp>
        <p:nvSpPr>
          <p:cNvPr id="17" name="TextBox 16"/>
          <p:cNvSpPr txBox="1"/>
          <p:nvPr/>
        </p:nvSpPr>
        <p:spPr>
          <a:xfrm>
            <a:off x="4304690" y="2706624"/>
            <a:ext cx="1718005" cy="868680"/>
          </a:xfrm>
          <a:prstGeom prst="rect">
            <a:avLst/>
          </a:prstGeom>
          <a:noFill/>
        </p:spPr>
        <p:txBody>
          <a:bodyPr wrap="square" anchor="t" lIns="0" rIns="0" tIns="0" bIns="0">
            <a:spAutoFit/>
          </a:bodyPr>
          <a:lstStyle/>
          <a:p>
            <a:r>
              <a:rPr sz="1200" b="1" i="0">
                <a:solidFill>
                  <a:srgbClr val="1F2937"/>
                </a:solidFill>
                <a:latin typeface="Calibri"/>
              </a:rPr>
              <a:t>Donkey Kong (plataformas)</a:t>
            </a:r>
          </a:p>
          <a:p>
            <a:r>
              <a:rPr sz="1200" b="1" i="0">
                <a:solidFill>
                  <a:srgbClr val="0D9488"/>
                </a:solidFill>
                <a:latin typeface="Calibri"/>
              </a:rPr>
              <a:t>104,4 M de unidades</a:t>
            </a:r>
          </a:p>
          <a:p>
            <a:r>
              <a:rPr sz="1000" b="0" i="0">
                <a:solidFill>
                  <a:srgbClr val="6B7280"/>
                </a:solidFill>
                <a:latin typeface="Calibri"/>
              </a:rPr>
              <a:t>1981 · Arcade · Nintendo</a:t>
            </a:r>
          </a:p>
        </p:txBody>
      </p:sp>
      <p:pic>
        <p:nvPicPr>
          <p:cNvPr id="18" name="Picture 17" descr="f04.png"/>
          <p:cNvPicPr>
            <a:picLocks noChangeAspect="1"/>
          </p:cNvPicPr>
          <p:nvPr/>
        </p:nvPicPr>
        <p:blipFill>
          <a:blip r:embed="rId5"/>
          <a:stretch>
            <a:fillRect/>
          </a:stretch>
        </p:blipFill>
        <p:spPr>
          <a:xfrm>
            <a:off x="6168999" y="1608643"/>
            <a:ext cx="1718005" cy="687202"/>
          </a:xfrm>
          <a:prstGeom prst="rect">
            <a:avLst/>
          </a:prstGeom>
        </p:spPr>
      </p:pic>
      <p:sp>
        <p:nvSpPr>
          <p:cNvPr id="19" name="Oval 18"/>
          <p:cNvSpPr/>
          <p:nvPr/>
        </p:nvSpPr>
        <p:spPr>
          <a:xfrm>
            <a:off x="7557820"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a:t>
            </a:r>
          </a:p>
        </p:txBody>
      </p:sp>
      <p:sp>
        <p:nvSpPr>
          <p:cNvPr id="20" name="TextBox 19"/>
          <p:cNvSpPr txBox="1"/>
          <p:nvPr/>
        </p:nvSpPr>
        <p:spPr>
          <a:xfrm>
            <a:off x="6168999" y="2706624"/>
            <a:ext cx="1718005" cy="868680"/>
          </a:xfrm>
          <a:prstGeom prst="rect">
            <a:avLst/>
          </a:prstGeom>
          <a:noFill/>
        </p:spPr>
        <p:txBody>
          <a:bodyPr wrap="square" anchor="t" lIns="0" rIns="0" tIns="0" bIns="0">
            <a:spAutoFit/>
          </a:bodyPr>
          <a:lstStyle/>
          <a:p>
            <a:r>
              <a:rPr sz="1200" b="1" i="0">
                <a:solidFill>
                  <a:srgbClr val="1F2937"/>
                </a:solidFill>
                <a:latin typeface="Calibri"/>
              </a:rPr>
              <a:t>Crash Bandicoot</a:t>
            </a:r>
          </a:p>
          <a:p>
            <a:r>
              <a:rPr sz="1200" b="1" i="0">
                <a:solidFill>
                  <a:srgbClr val="0D9488"/>
                </a:solidFill>
                <a:latin typeface="Calibri"/>
              </a:rPr>
              <a:t>65,0 M de unidades</a:t>
            </a:r>
          </a:p>
          <a:p>
            <a:r>
              <a:rPr sz="1000" b="0" i="0">
                <a:solidFill>
                  <a:srgbClr val="6B7280"/>
                </a:solidFill>
                <a:latin typeface="Calibri"/>
              </a:rPr>
              <a:t>1996 · PS1 · Activision</a:t>
            </a:r>
          </a:p>
        </p:txBody>
      </p:sp>
      <p:pic>
        <p:nvPicPr>
          <p:cNvPr id="21" name="Picture 20" descr="f05.png"/>
          <p:cNvPicPr>
            <a:picLocks noChangeAspect="1"/>
          </p:cNvPicPr>
          <p:nvPr/>
        </p:nvPicPr>
        <p:blipFill>
          <a:blip r:embed="rId6"/>
          <a:stretch>
            <a:fillRect/>
          </a:stretch>
        </p:blipFill>
        <p:spPr>
          <a:xfrm>
            <a:off x="8033308" y="1469485"/>
            <a:ext cx="1718005" cy="965518"/>
          </a:xfrm>
          <a:prstGeom prst="rect">
            <a:avLst/>
          </a:prstGeom>
        </p:spPr>
      </p:pic>
      <p:sp>
        <p:nvSpPr>
          <p:cNvPr id="22" name="Oval 21"/>
          <p:cNvSpPr/>
          <p:nvPr/>
        </p:nvSpPr>
        <p:spPr>
          <a:xfrm>
            <a:off x="942212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5</a:t>
            </a:r>
          </a:p>
        </p:txBody>
      </p:sp>
      <p:sp>
        <p:nvSpPr>
          <p:cNvPr id="23" name="TextBox 22"/>
          <p:cNvSpPr txBox="1"/>
          <p:nvPr/>
        </p:nvSpPr>
        <p:spPr>
          <a:xfrm>
            <a:off x="8033308" y="2706624"/>
            <a:ext cx="1718005" cy="868680"/>
          </a:xfrm>
          <a:prstGeom prst="rect">
            <a:avLst/>
          </a:prstGeom>
          <a:noFill/>
        </p:spPr>
        <p:txBody>
          <a:bodyPr wrap="square" anchor="t" lIns="0" rIns="0" tIns="0" bIns="0">
            <a:spAutoFit/>
          </a:bodyPr>
          <a:lstStyle/>
          <a:p>
            <a:r>
              <a:rPr sz="1200" b="1" i="0">
                <a:solidFill>
                  <a:srgbClr val="1F2937"/>
                </a:solidFill>
                <a:latin typeface="Calibri"/>
              </a:rPr>
              <a:t>Kirby</a:t>
            </a:r>
          </a:p>
          <a:p>
            <a:r>
              <a:rPr sz="1200" b="1" i="0">
                <a:solidFill>
                  <a:srgbClr val="0D9488"/>
                </a:solidFill>
                <a:latin typeface="Calibri"/>
              </a:rPr>
              <a:t>62,0 M de unidades</a:t>
            </a:r>
          </a:p>
          <a:p>
            <a:r>
              <a:rPr sz="1000" b="0" i="0">
                <a:solidFill>
                  <a:srgbClr val="6B7280"/>
                </a:solidFill>
                <a:latin typeface="Calibri"/>
              </a:rPr>
              <a:t>1992 · Game Boy · Nintendo</a:t>
            </a:r>
          </a:p>
        </p:txBody>
      </p:sp>
      <p:pic>
        <p:nvPicPr>
          <p:cNvPr id="24" name="Picture 23" descr="f06.png"/>
          <p:cNvPicPr>
            <a:picLocks noChangeAspect="1"/>
          </p:cNvPicPr>
          <p:nvPr/>
        </p:nvPicPr>
        <p:blipFill>
          <a:blip r:embed="rId7"/>
          <a:stretch>
            <a:fillRect/>
          </a:stretch>
        </p:blipFill>
        <p:spPr>
          <a:xfrm>
            <a:off x="9897617" y="1783880"/>
            <a:ext cx="1718005" cy="336728"/>
          </a:xfrm>
          <a:prstGeom prst="rect">
            <a:avLst/>
          </a:prstGeom>
        </p:spPr>
      </p:pic>
      <p:sp>
        <p:nvSpPr>
          <p:cNvPr id="25" name="Oval 24"/>
          <p:cNvSpPr/>
          <p:nvPr/>
        </p:nvSpPr>
        <p:spPr>
          <a:xfrm>
            <a:off x="1128643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6</a:t>
            </a:r>
          </a:p>
        </p:txBody>
      </p:sp>
      <p:sp>
        <p:nvSpPr>
          <p:cNvPr id="26" name="TextBox 25"/>
          <p:cNvSpPr txBox="1"/>
          <p:nvPr/>
        </p:nvSpPr>
        <p:spPr>
          <a:xfrm>
            <a:off x="9897617" y="2706624"/>
            <a:ext cx="1718005" cy="868680"/>
          </a:xfrm>
          <a:prstGeom prst="rect">
            <a:avLst/>
          </a:prstGeom>
          <a:noFill/>
        </p:spPr>
        <p:txBody>
          <a:bodyPr wrap="square" anchor="t" lIns="0" rIns="0" tIns="0" bIns="0">
            <a:spAutoFit/>
          </a:bodyPr>
          <a:lstStyle/>
          <a:p>
            <a:r>
              <a:rPr sz="1200" b="1" i="0">
                <a:solidFill>
                  <a:srgbClr val="1F2937"/>
                </a:solidFill>
                <a:latin typeface="Calibri"/>
              </a:rPr>
              <a:t>Mega Man</a:t>
            </a:r>
          </a:p>
          <a:p>
            <a:r>
              <a:rPr sz="1200" b="1" i="0">
                <a:solidFill>
                  <a:srgbClr val="0D9488"/>
                </a:solidFill>
                <a:latin typeface="Calibri"/>
              </a:rPr>
              <a:t>43,0 M de unidades</a:t>
            </a:r>
          </a:p>
          <a:p>
            <a:r>
              <a:rPr sz="1000" b="0" i="0">
                <a:solidFill>
                  <a:srgbClr val="6B7280"/>
                </a:solidFill>
                <a:latin typeface="Calibri"/>
              </a:rPr>
              <a:t>1987 · NES · Capcom</a:t>
            </a:r>
          </a:p>
        </p:txBody>
      </p:sp>
      <p:pic>
        <p:nvPicPr>
          <p:cNvPr id="27" name="Picture 26" descr="f07.png"/>
          <p:cNvPicPr>
            <a:picLocks noChangeAspect="1"/>
          </p:cNvPicPr>
          <p:nvPr/>
        </p:nvPicPr>
        <p:blipFill>
          <a:blip r:embed="rId8"/>
          <a:stretch>
            <a:fillRect/>
          </a:stretch>
        </p:blipFill>
        <p:spPr>
          <a:xfrm>
            <a:off x="576072" y="3942219"/>
            <a:ext cx="1718005" cy="774929"/>
          </a:xfrm>
          <a:prstGeom prst="rect">
            <a:avLst/>
          </a:prstGeom>
        </p:spPr>
      </p:pic>
      <p:sp>
        <p:nvSpPr>
          <p:cNvPr id="28" name="Oval 27"/>
          <p:cNvSpPr/>
          <p:nvPr/>
        </p:nvSpPr>
        <p:spPr>
          <a:xfrm>
            <a:off x="1964893"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7</a:t>
            </a:r>
          </a:p>
        </p:txBody>
      </p:sp>
      <p:sp>
        <p:nvSpPr>
          <p:cNvPr id="29" name="TextBox 28"/>
          <p:cNvSpPr txBox="1"/>
          <p:nvPr/>
        </p:nvSpPr>
        <p:spPr>
          <a:xfrm>
            <a:off x="576072" y="5084064"/>
            <a:ext cx="1718005" cy="868680"/>
          </a:xfrm>
          <a:prstGeom prst="rect">
            <a:avLst/>
          </a:prstGeom>
          <a:noFill/>
        </p:spPr>
        <p:txBody>
          <a:bodyPr wrap="square" anchor="t" lIns="0" rIns="0" tIns="0" bIns="0">
            <a:spAutoFit/>
          </a:bodyPr>
          <a:lstStyle/>
          <a:p>
            <a:r>
              <a:rPr sz="1200" b="1" i="0">
                <a:solidFill>
                  <a:srgbClr val="1F2937"/>
                </a:solidFill>
                <a:latin typeface="Calibri"/>
              </a:rPr>
              <a:t>Ratchet &amp; Clank</a:t>
            </a:r>
          </a:p>
          <a:p>
            <a:r>
              <a:rPr sz="1200" b="1" i="0">
                <a:solidFill>
                  <a:srgbClr val="0D9488"/>
                </a:solidFill>
                <a:latin typeface="Calibri"/>
              </a:rPr>
              <a:t>40,7 M de unidades</a:t>
            </a:r>
          </a:p>
          <a:p>
            <a:r>
              <a:rPr sz="1000" b="0" i="0">
                <a:solidFill>
                  <a:srgbClr val="6B7280"/>
                </a:solidFill>
                <a:latin typeface="Calibri"/>
              </a:rPr>
              <a:t>2002 · PS2 · Sony</a:t>
            </a:r>
          </a:p>
        </p:txBody>
      </p:sp>
      <p:pic>
        <p:nvPicPr>
          <p:cNvPr id="30" name="Picture 29" descr="f08.png"/>
          <p:cNvPicPr>
            <a:picLocks noChangeAspect="1"/>
          </p:cNvPicPr>
          <p:nvPr/>
        </p:nvPicPr>
        <p:blipFill>
          <a:blip r:embed="rId9"/>
          <a:stretch>
            <a:fillRect/>
          </a:stretch>
        </p:blipFill>
        <p:spPr>
          <a:xfrm>
            <a:off x="2440381" y="3846113"/>
            <a:ext cx="1718005" cy="967142"/>
          </a:xfrm>
          <a:prstGeom prst="rect">
            <a:avLst/>
          </a:prstGeom>
        </p:spPr>
      </p:pic>
      <p:sp>
        <p:nvSpPr>
          <p:cNvPr id="31" name="Oval 30"/>
          <p:cNvSpPr/>
          <p:nvPr/>
        </p:nvSpPr>
        <p:spPr>
          <a:xfrm>
            <a:off x="3829202"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8</a:t>
            </a:r>
          </a:p>
        </p:txBody>
      </p:sp>
      <p:sp>
        <p:nvSpPr>
          <p:cNvPr id="32" name="TextBox 31"/>
          <p:cNvSpPr txBox="1"/>
          <p:nvPr/>
        </p:nvSpPr>
        <p:spPr>
          <a:xfrm>
            <a:off x="2440381" y="5084064"/>
            <a:ext cx="1718005" cy="868680"/>
          </a:xfrm>
          <a:prstGeom prst="rect">
            <a:avLst/>
          </a:prstGeom>
          <a:noFill/>
        </p:spPr>
        <p:txBody>
          <a:bodyPr wrap="square" anchor="t" lIns="0" rIns="0" tIns="0" bIns="0">
            <a:spAutoFit/>
          </a:bodyPr>
          <a:lstStyle/>
          <a:p>
            <a:r>
              <a:rPr sz="1200" b="1" i="0">
                <a:solidFill>
                  <a:srgbClr val="1F2937"/>
                </a:solidFill>
                <a:latin typeface="Calibri"/>
              </a:rPr>
              <a:t>Tomb Raider (plataformas)</a:t>
            </a:r>
          </a:p>
          <a:p>
            <a:r>
              <a:rPr sz="1200" b="1" i="0">
                <a:solidFill>
                  <a:srgbClr val="0D9488"/>
                </a:solidFill>
                <a:latin typeface="Calibri"/>
              </a:rPr>
              <a:t>40,5 M de unidades</a:t>
            </a:r>
          </a:p>
          <a:p>
            <a:r>
              <a:rPr sz="1000" b="0" i="0">
                <a:solidFill>
                  <a:srgbClr val="6B7280"/>
                </a:solidFill>
                <a:latin typeface="Calibri"/>
              </a:rPr>
              <a:t>1996 · Saturn · Embracer</a:t>
            </a:r>
          </a:p>
        </p:txBody>
      </p:sp>
      <p:pic>
        <p:nvPicPr>
          <p:cNvPr id="33" name="Picture 32" descr="f09.png"/>
          <p:cNvPicPr>
            <a:picLocks noChangeAspect="1"/>
          </p:cNvPicPr>
          <p:nvPr/>
        </p:nvPicPr>
        <p:blipFill>
          <a:blip r:embed="rId10"/>
          <a:stretch>
            <a:fillRect/>
          </a:stretch>
        </p:blipFill>
        <p:spPr>
          <a:xfrm>
            <a:off x="4304690" y="4056521"/>
            <a:ext cx="1718005" cy="546325"/>
          </a:xfrm>
          <a:prstGeom prst="rect">
            <a:avLst/>
          </a:prstGeom>
        </p:spPr>
      </p:pic>
      <p:sp>
        <p:nvSpPr>
          <p:cNvPr id="34" name="Oval 33"/>
          <p:cNvSpPr/>
          <p:nvPr/>
        </p:nvSpPr>
        <p:spPr>
          <a:xfrm>
            <a:off x="5693511"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9</a:t>
            </a:r>
          </a:p>
        </p:txBody>
      </p:sp>
      <p:sp>
        <p:nvSpPr>
          <p:cNvPr id="35" name="TextBox 34"/>
          <p:cNvSpPr txBox="1"/>
          <p:nvPr/>
        </p:nvSpPr>
        <p:spPr>
          <a:xfrm>
            <a:off x="4304690" y="5084064"/>
            <a:ext cx="1718005" cy="868680"/>
          </a:xfrm>
          <a:prstGeom prst="rect">
            <a:avLst/>
          </a:prstGeom>
          <a:noFill/>
        </p:spPr>
        <p:txBody>
          <a:bodyPr wrap="square" anchor="t" lIns="0" rIns="0" tIns="0" bIns="0">
            <a:spAutoFit/>
          </a:bodyPr>
          <a:lstStyle/>
          <a:p>
            <a:r>
              <a:rPr sz="1200" b="1" i="0">
                <a:solidFill>
                  <a:srgbClr val="1F2937"/>
                </a:solidFill>
                <a:latin typeface="Calibri"/>
              </a:rPr>
              <a:t>Rayman</a:t>
            </a:r>
          </a:p>
          <a:p>
            <a:r>
              <a:rPr sz="1200" b="1" i="0">
                <a:solidFill>
                  <a:srgbClr val="0D9488"/>
                </a:solidFill>
                <a:latin typeface="Calibri"/>
              </a:rPr>
              <a:t>30,0 M de unidades</a:t>
            </a:r>
          </a:p>
          <a:p>
            <a:r>
              <a:rPr sz="1000" b="0" i="0">
                <a:solidFill>
                  <a:srgbClr val="6B7280"/>
                </a:solidFill>
                <a:latin typeface="Calibri"/>
              </a:rPr>
              <a:t>1995 · PS1 · Ubisoft</a:t>
            </a:r>
          </a:p>
        </p:txBody>
      </p:sp>
      <p:pic>
        <p:nvPicPr>
          <p:cNvPr id="36" name="Picture 35" descr="f10.png"/>
          <p:cNvPicPr>
            <a:picLocks noChangeAspect="1"/>
          </p:cNvPicPr>
          <p:nvPr/>
        </p:nvPicPr>
        <p:blipFill>
          <a:blip r:embed="rId11"/>
          <a:stretch>
            <a:fillRect/>
          </a:stretch>
        </p:blipFill>
        <p:spPr>
          <a:xfrm>
            <a:off x="6168999" y="4037623"/>
            <a:ext cx="1718005" cy="584121"/>
          </a:xfrm>
          <a:prstGeom prst="rect">
            <a:avLst/>
          </a:prstGeom>
        </p:spPr>
      </p:pic>
      <p:sp>
        <p:nvSpPr>
          <p:cNvPr id="37" name="Oval 36"/>
          <p:cNvSpPr/>
          <p:nvPr/>
        </p:nvSpPr>
        <p:spPr>
          <a:xfrm>
            <a:off x="7557820"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10</a:t>
            </a:r>
          </a:p>
        </p:txBody>
      </p:sp>
      <p:sp>
        <p:nvSpPr>
          <p:cNvPr id="38" name="TextBox 37"/>
          <p:cNvSpPr txBox="1"/>
          <p:nvPr/>
        </p:nvSpPr>
        <p:spPr>
          <a:xfrm>
            <a:off x="6168999" y="5084064"/>
            <a:ext cx="1718005" cy="868680"/>
          </a:xfrm>
          <a:prstGeom prst="rect">
            <a:avLst/>
          </a:prstGeom>
          <a:noFill/>
        </p:spPr>
        <p:txBody>
          <a:bodyPr wrap="square" anchor="t" lIns="0" rIns="0" tIns="0" bIns="0">
            <a:spAutoFit/>
          </a:bodyPr>
          <a:lstStyle/>
          <a:p>
            <a:r>
              <a:rPr sz="1200" b="1" i="0">
                <a:solidFill>
                  <a:srgbClr val="1F2937"/>
                </a:solidFill>
                <a:latin typeface="Calibri"/>
              </a:rPr>
              <a:t>Spyro</a:t>
            </a:r>
          </a:p>
          <a:p>
            <a:r>
              <a:rPr sz="1200" b="1" i="0">
                <a:solidFill>
                  <a:srgbClr val="0D9488"/>
                </a:solidFill>
                <a:latin typeface="Calibri"/>
              </a:rPr>
              <a:t>30,0 M de unidades</a:t>
            </a:r>
          </a:p>
          <a:p>
            <a:r>
              <a:rPr sz="1000" b="0" i="0">
                <a:solidFill>
                  <a:srgbClr val="6B7280"/>
                </a:solidFill>
                <a:latin typeface="Calibri"/>
              </a:rPr>
              <a:t>1998 · PS1 · Activision</a:t>
            </a:r>
          </a:p>
        </p:txBody>
      </p:sp>
      <p:pic>
        <p:nvPicPr>
          <p:cNvPr id="39" name="Picture 38" descr="f11.png"/>
          <p:cNvPicPr>
            <a:picLocks noChangeAspect="1"/>
          </p:cNvPicPr>
          <p:nvPr/>
        </p:nvPicPr>
        <p:blipFill>
          <a:blip r:embed="rId12"/>
          <a:stretch>
            <a:fillRect/>
          </a:stretch>
        </p:blipFill>
        <p:spPr>
          <a:xfrm>
            <a:off x="8033308" y="3868686"/>
            <a:ext cx="1718005" cy="921996"/>
          </a:xfrm>
          <a:prstGeom prst="rect">
            <a:avLst/>
          </a:prstGeom>
        </p:spPr>
      </p:pic>
      <p:sp>
        <p:nvSpPr>
          <p:cNvPr id="40" name="Oval 39"/>
          <p:cNvSpPr/>
          <p:nvPr/>
        </p:nvSpPr>
        <p:spPr>
          <a:xfrm>
            <a:off x="942212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11</a:t>
            </a:r>
          </a:p>
        </p:txBody>
      </p:sp>
      <p:sp>
        <p:nvSpPr>
          <p:cNvPr id="41" name="TextBox 40"/>
          <p:cNvSpPr txBox="1"/>
          <p:nvPr/>
        </p:nvSpPr>
        <p:spPr>
          <a:xfrm>
            <a:off x="8033308" y="5084064"/>
            <a:ext cx="1718005" cy="868680"/>
          </a:xfrm>
          <a:prstGeom prst="rect">
            <a:avLst/>
          </a:prstGeom>
          <a:noFill/>
        </p:spPr>
        <p:txBody>
          <a:bodyPr wrap="square" anchor="t" lIns="0" rIns="0" tIns="0" bIns="0">
            <a:spAutoFit/>
          </a:bodyPr>
          <a:lstStyle/>
          <a:p>
            <a:r>
              <a:rPr sz="1200" b="1" i="0">
                <a:solidFill>
                  <a:srgbClr val="1F2937"/>
                </a:solidFill>
                <a:latin typeface="Calibri"/>
              </a:rPr>
              <a:t>Yoshi</a:t>
            </a:r>
          </a:p>
          <a:p>
            <a:r>
              <a:rPr sz="1200" b="1" i="0">
                <a:solidFill>
                  <a:srgbClr val="0D9488"/>
                </a:solidFill>
                <a:latin typeface="Calibri"/>
              </a:rPr>
              <a:t>29,5 M de unidades</a:t>
            </a:r>
          </a:p>
          <a:p>
            <a:r>
              <a:rPr sz="1000" b="0" i="0">
                <a:solidFill>
                  <a:srgbClr val="6B7280"/>
                </a:solidFill>
                <a:latin typeface="Calibri"/>
              </a:rPr>
              <a:t>1995 · SNES · Nintendo</a:t>
            </a:r>
          </a:p>
        </p:txBody>
      </p:sp>
      <p:pic>
        <p:nvPicPr>
          <p:cNvPr id="42" name="Picture 41" descr="f12.png"/>
          <p:cNvPicPr>
            <a:picLocks noChangeAspect="1"/>
          </p:cNvPicPr>
          <p:nvPr/>
        </p:nvPicPr>
        <p:blipFill>
          <a:blip r:embed="rId13"/>
          <a:stretch>
            <a:fillRect/>
          </a:stretch>
        </p:blipFill>
        <p:spPr>
          <a:xfrm>
            <a:off x="9897617" y="4027315"/>
            <a:ext cx="1718005" cy="604737"/>
          </a:xfrm>
          <a:prstGeom prst="rect">
            <a:avLst/>
          </a:prstGeom>
        </p:spPr>
      </p:pic>
      <p:sp>
        <p:nvSpPr>
          <p:cNvPr id="43" name="Oval 42"/>
          <p:cNvSpPr/>
          <p:nvPr/>
        </p:nvSpPr>
        <p:spPr>
          <a:xfrm>
            <a:off x="1128643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12</a:t>
            </a:r>
          </a:p>
        </p:txBody>
      </p:sp>
      <p:sp>
        <p:nvSpPr>
          <p:cNvPr id="44" name="TextBox 43"/>
          <p:cNvSpPr txBox="1"/>
          <p:nvPr/>
        </p:nvSpPr>
        <p:spPr>
          <a:xfrm>
            <a:off x="9897617" y="5084064"/>
            <a:ext cx="1718005" cy="868680"/>
          </a:xfrm>
          <a:prstGeom prst="rect">
            <a:avLst/>
          </a:prstGeom>
          <a:noFill/>
        </p:spPr>
        <p:txBody>
          <a:bodyPr wrap="square" anchor="t" lIns="0" rIns="0" tIns="0" bIns="0">
            <a:spAutoFit/>
          </a:bodyPr>
          <a:lstStyle/>
          <a:p>
            <a:r>
              <a:rPr sz="1200" b="1" i="0">
                <a:solidFill>
                  <a:srgbClr val="1F2937"/>
                </a:solidFill>
                <a:latin typeface="Calibri"/>
              </a:rPr>
              <a:t>Castlevania</a:t>
            </a:r>
          </a:p>
          <a:p>
            <a:r>
              <a:rPr sz="1200" b="1" i="0">
                <a:solidFill>
                  <a:srgbClr val="0D9488"/>
                </a:solidFill>
                <a:latin typeface="Calibri"/>
              </a:rPr>
              <a:t>24,0 M de unidades</a:t>
            </a:r>
          </a:p>
          <a:p>
            <a:r>
              <a:rPr sz="1000" b="0" i="0">
                <a:solidFill>
                  <a:srgbClr val="6B7280"/>
                </a:solidFill>
                <a:latin typeface="Calibri"/>
              </a:rPr>
              <a:t>1986 · Famicom Disk · Konami</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FRANQUICIAS 13–24</a:t>
            </a:r>
          </a:p>
          <a:p>
            <a:r>
              <a:rPr sz="2600" b="1" i="0">
                <a:solidFill>
                  <a:srgbClr val="FFFFFF"/>
                </a:solidFill>
                <a:latin typeface="Calibri"/>
              </a:rPr>
              <a:t>Franquicias de plataformas más vendidas (2 de 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81/87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f13.png"/>
          <p:cNvPicPr>
            <a:picLocks noChangeAspect="1"/>
          </p:cNvPicPr>
          <p:nvPr/>
        </p:nvPicPr>
        <p:blipFill>
          <a:blip r:embed="rId2"/>
          <a:stretch>
            <a:fillRect/>
          </a:stretch>
        </p:blipFill>
        <p:spPr>
          <a:xfrm>
            <a:off x="576072" y="1756391"/>
            <a:ext cx="1718005" cy="391705"/>
          </a:xfrm>
          <a:prstGeom prst="rect">
            <a:avLst/>
          </a:prstGeom>
        </p:spPr>
      </p:pic>
      <p:sp>
        <p:nvSpPr>
          <p:cNvPr id="10" name="Oval 9"/>
          <p:cNvSpPr/>
          <p:nvPr/>
        </p:nvSpPr>
        <p:spPr>
          <a:xfrm>
            <a:off x="1964893"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13</a:t>
            </a:r>
          </a:p>
        </p:txBody>
      </p:sp>
      <p:sp>
        <p:nvSpPr>
          <p:cNvPr id="11" name="TextBox 10"/>
          <p:cNvSpPr txBox="1"/>
          <p:nvPr/>
        </p:nvSpPr>
        <p:spPr>
          <a:xfrm>
            <a:off x="576072" y="2706624"/>
            <a:ext cx="1718005" cy="868680"/>
          </a:xfrm>
          <a:prstGeom prst="rect">
            <a:avLst/>
          </a:prstGeom>
          <a:noFill/>
        </p:spPr>
        <p:txBody>
          <a:bodyPr wrap="square" anchor="t" lIns="0" rIns="0" tIns="0" bIns="0">
            <a:spAutoFit/>
          </a:bodyPr>
          <a:lstStyle/>
          <a:p>
            <a:r>
              <a:rPr sz="1200" b="1" i="0">
                <a:solidFill>
                  <a:srgbClr val="1F2937"/>
                </a:solidFill>
                <a:latin typeface="Calibri"/>
              </a:rPr>
              <a:t>Metroid</a:t>
            </a:r>
          </a:p>
          <a:p>
            <a:r>
              <a:rPr sz="1200" b="1" i="0">
                <a:solidFill>
                  <a:srgbClr val="0D9488"/>
                </a:solidFill>
                <a:latin typeface="Calibri"/>
              </a:rPr>
              <a:t>22,8 M de unidades</a:t>
            </a:r>
          </a:p>
          <a:p>
            <a:r>
              <a:rPr sz="1000" b="0" i="0">
                <a:solidFill>
                  <a:srgbClr val="6B7280"/>
                </a:solidFill>
                <a:latin typeface="Calibri"/>
              </a:rPr>
              <a:t>1986 · Famicom Disk · Nintendo</a:t>
            </a:r>
          </a:p>
        </p:txBody>
      </p:sp>
      <p:pic>
        <p:nvPicPr>
          <p:cNvPr id="12" name="Picture 11" descr="f14.png"/>
          <p:cNvPicPr>
            <a:picLocks noChangeAspect="1"/>
          </p:cNvPicPr>
          <p:nvPr/>
        </p:nvPicPr>
        <p:blipFill>
          <a:blip r:embed="rId3"/>
          <a:stretch>
            <a:fillRect/>
          </a:stretch>
        </p:blipFill>
        <p:spPr>
          <a:xfrm>
            <a:off x="2440381" y="1737493"/>
            <a:ext cx="1718005" cy="429501"/>
          </a:xfrm>
          <a:prstGeom prst="rect">
            <a:avLst/>
          </a:prstGeom>
        </p:spPr>
      </p:pic>
      <p:sp>
        <p:nvSpPr>
          <p:cNvPr id="13" name="Oval 12"/>
          <p:cNvSpPr/>
          <p:nvPr/>
        </p:nvSpPr>
        <p:spPr>
          <a:xfrm>
            <a:off x="3829202"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14</a:t>
            </a:r>
          </a:p>
        </p:txBody>
      </p:sp>
      <p:sp>
        <p:nvSpPr>
          <p:cNvPr id="14" name="TextBox 13"/>
          <p:cNvSpPr txBox="1"/>
          <p:nvPr/>
        </p:nvSpPr>
        <p:spPr>
          <a:xfrm>
            <a:off x="2440381" y="2706624"/>
            <a:ext cx="1718005" cy="868680"/>
          </a:xfrm>
          <a:prstGeom prst="rect">
            <a:avLst/>
          </a:prstGeom>
          <a:noFill/>
        </p:spPr>
        <p:txBody>
          <a:bodyPr wrap="square" anchor="t" lIns="0" rIns="0" tIns="0" bIns="0">
            <a:spAutoFit/>
          </a:bodyPr>
          <a:lstStyle/>
          <a:p>
            <a:r>
              <a:rPr sz="1200" b="1" i="0">
                <a:solidFill>
                  <a:srgbClr val="1F2937"/>
                </a:solidFill>
                <a:latin typeface="Calibri"/>
              </a:rPr>
              <a:t>Prince of Persia</a:t>
            </a:r>
          </a:p>
          <a:p>
            <a:r>
              <a:rPr sz="1200" b="1" i="0">
                <a:solidFill>
                  <a:srgbClr val="0D9488"/>
                </a:solidFill>
                <a:latin typeface="Calibri"/>
              </a:rPr>
              <a:t>21,0 M de unidades</a:t>
            </a:r>
          </a:p>
          <a:p>
            <a:r>
              <a:rPr sz="1000" b="0" i="0">
                <a:solidFill>
                  <a:srgbClr val="6B7280"/>
                </a:solidFill>
                <a:latin typeface="Calibri"/>
              </a:rPr>
              <a:t>1989 · Apple II · Ubisoft</a:t>
            </a:r>
          </a:p>
        </p:txBody>
      </p:sp>
      <p:pic>
        <p:nvPicPr>
          <p:cNvPr id="15" name="Picture 14" descr="f15.jpg"/>
          <p:cNvPicPr>
            <a:picLocks noChangeAspect="1"/>
          </p:cNvPicPr>
          <p:nvPr/>
        </p:nvPicPr>
        <p:blipFill>
          <a:blip r:embed="rId4"/>
          <a:stretch>
            <a:fillRect/>
          </a:stretch>
        </p:blipFill>
        <p:spPr>
          <a:xfrm>
            <a:off x="4655088" y="1234440"/>
            <a:ext cx="1017208" cy="1435608"/>
          </a:xfrm>
          <a:prstGeom prst="rect">
            <a:avLst/>
          </a:prstGeom>
        </p:spPr>
      </p:pic>
      <p:sp>
        <p:nvSpPr>
          <p:cNvPr id="16" name="Oval 15"/>
          <p:cNvSpPr/>
          <p:nvPr/>
        </p:nvSpPr>
        <p:spPr>
          <a:xfrm>
            <a:off x="5693511"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15</a:t>
            </a:r>
          </a:p>
        </p:txBody>
      </p:sp>
      <p:sp>
        <p:nvSpPr>
          <p:cNvPr id="17" name="TextBox 16"/>
          <p:cNvSpPr txBox="1"/>
          <p:nvPr/>
        </p:nvSpPr>
        <p:spPr>
          <a:xfrm>
            <a:off x="4304690" y="2706624"/>
            <a:ext cx="1718005" cy="868680"/>
          </a:xfrm>
          <a:prstGeom prst="rect">
            <a:avLst/>
          </a:prstGeom>
          <a:noFill/>
        </p:spPr>
        <p:txBody>
          <a:bodyPr wrap="square" anchor="t" lIns="0" rIns="0" tIns="0" bIns="0">
            <a:spAutoFit/>
          </a:bodyPr>
          <a:lstStyle/>
          <a:p>
            <a:r>
              <a:rPr sz="1200" b="1" i="0">
                <a:solidFill>
                  <a:srgbClr val="1F2937"/>
                </a:solidFill>
                <a:latin typeface="Calibri"/>
              </a:rPr>
              <a:t>SpongeBob (plataformas)</a:t>
            </a:r>
          </a:p>
          <a:p>
            <a:r>
              <a:rPr sz="1200" b="1" i="0">
                <a:solidFill>
                  <a:srgbClr val="0D9488"/>
                </a:solidFill>
                <a:latin typeface="Calibri"/>
              </a:rPr>
              <a:t>17,0 M de unidades</a:t>
            </a:r>
          </a:p>
          <a:p>
            <a:r>
              <a:rPr sz="1000" b="0" i="0">
                <a:solidFill>
                  <a:srgbClr val="6B7280"/>
                </a:solidFill>
                <a:latin typeface="Calibri"/>
              </a:rPr>
              <a:t>2001 · GBC · Nickelodeon</a:t>
            </a:r>
          </a:p>
        </p:txBody>
      </p:sp>
      <p:pic>
        <p:nvPicPr>
          <p:cNvPr id="18" name="Picture 17" descr="f16.jpg"/>
          <p:cNvPicPr>
            <a:picLocks noChangeAspect="1"/>
          </p:cNvPicPr>
          <p:nvPr/>
        </p:nvPicPr>
        <p:blipFill>
          <a:blip r:embed="rId5"/>
          <a:stretch>
            <a:fillRect/>
          </a:stretch>
        </p:blipFill>
        <p:spPr>
          <a:xfrm>
            <a:off x="6653495" y="1234440"/>
            <a:ext cx="749012" cy="1435608"/>
          </a:xfrm>
          <a:prstGeom prst="rect">
            <a:avLst/>
          </a:prstGeom>
        </p:spPr>
      </p:pic>
      <p:sp>
        <p:nvSpPr>
          <p:cNvPr id="19" name="Oval 18"/>
          <p:cNvSpPr/>
          <p:nvPr/>
        </p:nvSpPr>
        <p:spPr>
          <a:xfrm>
            <a:off x="7557820"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16</a:t>
            </a:r>
          </a:p>
        </p:txBody>
      </p:sp>
      <p:sp>
        <p:nvSpPr>
          <p:cNvPr id="20" name="TextBox 19"/>
          <p:cNvSpPr txBox="1"/>
          <p:nvPr/>
        </p:nvSpPr>
        <p:spPr>
          <a:xfrm>
            <a:off x="6168999" y="2706624"/>
            <a:ext cx="1718005" cy="868680"/>
          </a:xfrm>
          <a:prstGeom prst="rect">
            <a:avLst/>
          </a:prstGeom>
          <a:noFill/>
        </p:spPr>
        <p:txBody>
          <a:bodyPr wrap="square" anchor="t" lIns="0" rIns="0" tIns="0" bIns="0">
            <a:spAutoFit/>
          </a:bodyPr>
          <a:lstStyle/>
          <a:p>
            <a:r>
              <a:rPr sz="1200" b="1" i="0">
                <a:solidFill>
                  <a:srgbClr val="1F2937"/>
                </a:solidFill>
                <a:latin typeface="Calibri"/>
              </a:rPr>
              <a:t>Gex</a:t>
            </a:r>
          </a:p>
          <a:p>
            <a:r>
              <a:rPr sz="1200" b="1" i="0">
                <a:solidFill>
                  <a:srgbClr val="0D9488"/>
                </a:solidFill>
                <a:latin typeface="Calibri"/>
              </a:rPr>
              <a:t>15,0 M de unidades</a:t>
            </a:r>
          </a:p>
          <a:p>
            <a:r>
              <a:rPr sz="1000" b="0" i="0">
                <a:solidFill>
                  <a:srgbClr val="6B7280"/>
                </a:solidFill>
                <a:latin typeface="Calibri"/>
              </a:rPr>
              <a:t>1995 · 3DO · Square Enix</a:t>
            </a:r>
          </a:p>
        </p:txBody>
      </p:sp>
      <p:pic>
        <p:nvPicPr>
          <p:cNvPr id="21" name="Picture 20" descr="f17.png"/>
          <p:cNvPicPr>
            <a:picLocks noChangeAspect="1"/>
          </p:cNvPicPr>
          <p:nvPr/>
        </p:nvPicPr>
        <p:blipFill>
          <a:blip r:embed="rId6"/>
          <a:stretch>
            <a:fillRect/>
          </a:stretch>
        </p:blipFill>
        <p:spPr>
          <a:xfrm>
            <a:off x="8033308" y="1443715"/>
            <a:ext cx="1718005" cy="1017058"/>
          </a:xfrm>
          <a:prstGeom prst="rect">
            <a:avLst/>
          </a:prstGeom>
        </p:spPr>
      </p:pic>
      <p:sp>
        <p:nvSpPr>
          <p:cNvPr id="22" name="Oval 21"/>
          <p:cNvSpPr/>
          <p:nvPr/>
        </p:nvSpPr>
        <p:spPr>
          <a:xfrm>
            <a:off x="942212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17</a:t>
            </a:r>
          </a:p>
        </p:txBody>
      </p:sp>
      <p:sp>
        <p:nvSpPr>
          <p:cNvPr id="23" name="TextBox 22"/>
          <p:cNvSpPr txBox="1"/>
          <p:nvPr/>
        </p:nvSpPr>
        <p:spPr>
          <a:xfrm>
            <a:off x="8033308" y="2706624"/>
            <a:ext cx="1718005" cy="868680"/>
          </a:xfrm>
          <a:prstGeom prst="rect">
            <a:avLst/>
          </a:prstGeom>
          <a:noFill/>
        </p:spPr>
        <p:txBody>
          <a:bodyPr wrap="square" anchor="t" lIns="0" rIns="0" tIns="0" bIns="0">
            <a:spAutoFit/>
          </a:bodyPr>
          <a:lstStyle/>
          <a:p>
            <a:r>
              <a:rPr sz="1200" b="1" i="0">
                <a:solidFill>
                  <a:srgbClr val="1F2937"/>
                </a:solidFill>
                <a:latin typeface="Calibri"/>
              </a:rPr>
              <a:t>Jak &amp; Daxter</a:t>
            </a:r>
          </a:p>
          <a:p>
            <a:r>
              <a:rPr sz="1200" b="1" i="0">
                <a:solidFill>
                  <a:srgbClr val="0D9488"/>
                </a:solidFill>
                <a:latin typeface="Calibri"/>
              </a:rPr>
              <a:t>15,0 M de unidades</a:t>
            </a:r>
          </a:p>
          <a:p>
            <a:r>
              <a:rPr sz="1000" b="0" i="0">
                <a:solidFill>
                  <a:srgbClr val="6B7280"/>
                </a:solidFill>
                <a:latin typeface="Calibri"/>
              </a:rPr>
              <a:t>2001 · PS2 · Sony</a:t>
            </a:r>
          </a:p>
        </p:txBody>
      </p:sp>
      <p:pic>
        <p:nvPicPr>
          <p:cNvPr id="24" name="Picture 23" descr="f18.png"/>
          <p:cNvPicPr>
            <a:picLocks noChangeAspect="1"/>
          </p:cNvPicPr>
          <p:nvPr/>
        </p:nvPicPr>
        <p:blipFill>
          <a:blip r:embed="rId7"/>
          <a:stretch>
            <a:fillRect/>
          </a:stretch>
        </p:blipFill>
        <p:spPr>
          <a:xfrm>
            <a:off x="9897617" y="1687671"/>
            <a:ext cx="1718005" cy="529145"/>
          </a:xfrm>
          <a:prstGeom prst="rect">
            <a:avLst/>
          </a:prstGeom>
        </p:spPr>
      </p:pic>
      <p:sp>
        <p:nvSpPr>
          <p:cNvPr id="25" name="Oval 24"/>
          <p:cNvSpPr/>
          <p:nvPr/>
        </p:nvSpPr>
        <p:spPr>
          <a:xfrm>
            <a:off x="1128643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18</a:t>
            </a:r>
          </a:p>
        </p:txBody>
      </p:sp>
      <p:sp>
        <p:nvSpPr>
          <p:cNvPr id="26" name="TextBox 25"/>
          <p:cNvSpPr txBox="1"/>
          <p:nvPr/>
        </p:nvSpPr>
        <p:spPr>
          <a:xfrm>
            <a:off x="9897617" y="2706624"/>
            <a:ext cx="1718005" cy="868680"/>
          </a:xfrm>
          <a:prstGeom prst="rect">
            <a:avLst/>
          </a:prstGeom>
          <a:noFill/>
        </p:spPr>
        <p:txBody>
          <a:bodyPr wrap="square" anchor="t" lIns="0" rIns="0" tIns="0" bIns="0">
            <a:spAutoFit/>
          </a:bodyPr>
          <a:lstStyle/>
          <a:p>
            <a:r>
              <a:rPr sz="1200" b="1" i="0">
                <a:solidFill>
                  <a:srgbClr val="1F2937"/>
                </a:solidFill>
                <a:latin typeface="Calibri"/>
              </a:rPr>
              <a:t>Wario Land</a:t>
            </a:r>
          </a:p>
          <a:p>
            <a:r>
              <a:rPr sz="1200" b="1" i="0">
                <a:solidFill>
                  <a:srgbClr val="0D9488"/>
                </a:solidFill>
                <a:latin typeface="Calibri"/>
              </a:rPr>
              <a:t>13,4 M de unidades</a:t>
            </a:r>
          </a:p>
          <a:p>
            <a:r>
              <a:rPr sz="1000" b="0" i="0">
                <a:solidFill>
                  <a:srgbClr val="6B7280"/>
                </a:solidFill>
                <a:latin typeface="Calibri"/>
              </a:rPr>
              <a:t>1994 · Game Boy · Nintendo</a:t>
            </a:r>
          </a:p>
        </p:txBody>
      </p:sp>
      <p:pic>
        <p:nvPicPr>
          <p:cNvPr id="27" name="Picture 26" descr="f19.png"/>
          <p:cNvPicPr>
            <a:picLocks noChangeAspect="1"/>
          </p:cNvPicPr>
          <p:nvPr/>
        </p:nvPicPr>
        <p:blipFill>
          <a:blip r:embed="rId8"/>
          <a:stretch>
            <a:fillRect/>
          </a:stretch>
        </p:blipFill>
        <p:spPr>
          <a:xfrm>
            <a:off x="576072" y="3688953"/>
            <a:ext cx="1718005" cy="1281462"/>
          </a:xfrm>
          <a:prstGeom prst="rect">
            <a:avLst/>
          </a:prstGeom>
        </p:spPr>
      </p:pic>
      <p:sp>
        <p:nvSpPr>
          <p:cNvPr id="28" name="Oval 27"/>
          <p:cNvSpPr/>
          <p:nvPr/>
        </p:nvSpPr>
        <p:spPr>
          <a:xfrm>
            <a:off x="1964893"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19</a:t>
            </a:r>
          </a:p>
        </p:txBody>
      </p:sp>
      <p:sp>
        <p:nvSpPr>
          <p:cNvPr id="29" name="TextBox 28"/>
          <p:cNvSpPr txBox="1"/>
          <p:nvPr/>
        </p:nvSpPr>
        <p:spPr>
          <a:xfrm>
            <a:off x="576072" y="5084064"/>
            <a:ext cx="1718005" cy="868680"/>
          </a:xfrm>
          <a:prstGeom prst="rect">
            <a:avLst/>
          </a:prstGeom>
          <a:noFill/>
        </p:spPr>
        <p:txBody>
          <a:bodyPr wrap="square" anchor="t" lIns="0" rIns="0" tIns="0" bIns="0">
            <a:spAutoFit/>
          </a:bodyPr>
          <a:lstStyle/>
          <a:p>
            <a:r>
              <a:rPr sz="1200" b="1" i="0">
                <a:solidFill>
                  <a:srgbClr val="1F2937"/>
                </a:solidFill>
                <a:latin typeface="Calibri"/>
              </a:rPr>
              <a:t>LittleBigPlanet</a:t>
            </a:r>
          </a:p>
          <a:p>
            <a:r>
              <a:rPr sz="1200" b="1" i="0">
                <a:solidFill>
                  <a:srgbClr val="0D9488"/>
                </a:solidFill>
                <a:latin typeface="Calibri"/>
              </a:rPr>
              <a:t>11,5 M de unidades</a:t>
            </a:r>
          </a:p>
          <a:p>
            <a:r>
              <a:rPr sz="1000" b="0" i="0">
                <a:solidFill>
                  <a:srgbClr val="6B7280"/>
                </a:solidFill>
                <a:latin typeface="Calibri"/>
              </a:rPr>
              <a:t>2008 · PS3 · Sony</a:t>
            </a:r>
          </a:p>
        </p:txBody>
      </p:sp>
      <p:pic>
        <p:nvPicPr>
          <p:cNvPr id="30" name="Picture 29" descr="f20.jpg"/>
          <p:cNvPicPr>
            <a:picLocks noChangeAspect="1"/>
          </p:cNvPicPr>
          <p:nvPr/>
        </p:nvPicPr>
        <p:blipFill>
          <a:blip r:embed="rId9"/>
          <a:stretch>
            <a:fillRect/>
          </a:stretch>
        </p:blipFill>
        <p:spPr>
          <a:xfrm>
            <a:off x="2773134" y="3611880"/>
            <a:ext cx="1052498" cy="1435608"/>
          </a:xfrm>
          <a:prstGeom prst="rect">
            <a:avLst/>
          </a:prstGeom>
        </p:spPr>
      </p:pic>
      <p:sp>
        <p:nvSpPr>
          <p:cNvPr id="31" name="Oval 30"/>
          <p:cNvSpPr/>
          <p:nvPr/>
        </p:nvSpPr>
        <p:spPr>
          <a:xfrm>
            <a:off x="3829202"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20</a:t>
            </a:r>
          </a:p>
        </p:txBody>
      </p:sp>
      <p:sp>
        <p:nvSpPr>
          <p:cNvPr id="32" name="TextBox 31"/>
          <p:cNvSpPr txBox="1"/>
          <p:nvPr/>
        </p:nvSpPr>
        <p:spPr>
          <a:xfrm>
            <a:off x="2440381" y="5084064"/>
            <a:ext cx="1718005" cy="868680"/>
          </a:xfrm>
          <a:prstGeom prst="rect">
            <a:avLst/>
          </a:prstGeom>
          <a:noFill/>
        </p:spPr>
        <p:txBody>
          <a:bodyPr wrap="square" anchor="t" lIns="0" rIns="0" tIns="0" bIns="0">
            <a:spAutoFit/>
          </a:bodyPr>
          <a:lstStyle/>
          <a:p>
            <a:r>
              <a:rPr sz="1200" b="1" i="0">
                <a:solidFill>
                  <a:srgbClr val="1F2937"/>
                </a:solidFill>
                <a:latin typeface="Calibri"/>
              </a:rPr>
              <a:t>Pitfall</a:t>
            </a:r>
          </a:p>
          <a:p>
            <a:r>
              <a:rPr sz="1200" b="1" i="0">
                <a:solidFill>
                  <a:srgbClr val="0D9488"/>
                </a:solidFill>
                <a:latin typeface="Calibri"/>
              </a:rPr>
              <a:t>10,0 M de unidades</a:t>
            </a:r>
          </a:p>
          <a:p>
            <a:r>
              <a:rPr sz="1000" b="0" i="0">
                <a:solidFill>
                  <a:srgbClr val="6B7280"/>
                </a:solidFill>
                <a:latin typeface="Calibri"/>
              </a:rPr>
              <a:t>1982 · Atari 2600 · Activision</a:t>
            </a:r>
          </a:p>
        </p:txBody>
      </p:sp>
      <p:pic>
        <p:nvPicPr>
          <p:cNvPr id="33" name="Picture 32" descr="f21.jpg"/>
          <p:cNvPicPr>
            <a:picLocks noChangeAspect="1"/>
          </p:cNvPicPr>
          <p:nvPr/>
        </p:nvPicPr>
        <p:blipFill>
          <a:blip r:embed="rId10"/>
          <a:stretch>
            <a:fillRect/>
          </a:stretch>
        </p:blipFill>
        <p:spPr>
          <a:xfrm>
            <a:off x="4641653" y="3611880"/>
            <a:ext cx="1044078" cy="1435608"/>
          </a:xfrm>
          <a:prstGeom prst="rect">
            <a:avLst/>
          </a:prstGeom>
        </p:spPr>
      </p:pic>
      <p:sp>
        <p:nvSpPr>
          <p:cNvPr id="34" name="Oval 33"/>
          <p:cNvSpPr/>
          <p:nvPr/>
        </p:nvSpPr>
        <p:spPr>
          <a:xfrm>
            <a:off x="5693511"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21</a:t>
            </a:r>
          </a:p>
        </p:txBody>
      </p:sp>
      <p:sp>
        <p:nvSpPr>
          <p:cNvPr id="35" name="TextBox 34"/>
          <p:cNvSpPr txBox="1"/>
          <p:nvPr/>
        </p:nvSpPr>
        <p:spPr>
          <a:xfrm>
            <a:off x="4304690" y="5084064"/>
            <a:ext cx="1718005" cy="868680"/>
          </a:xfrm>
          <a:prstGeom prst="rect">
            <a:avLst/>
          </a:prstGeom>
          <a:noFill/>
        </p:spPr>
        <p:txBody>
          <a:bodyPr wrap="square" anchor="t" lIns="0" rIns="0" tIns="0" bIns="0">
            <a:spAutoFit/>
          </a:bodyPr>
          <a:lstStyle/>
          <a:p>
            <a:r>
              <a:rPr sz="1200" b="1" i="0">
                <a:solidFill>
                  <a:srgbClr val="1F2937"/>
                </a:solidFill>
                <a:latin typeface="Calibri"/>
              </a:rPr>
              <a:t>Adventure Island</a:t>
            </a:r>
          </a:p>
          <a:p>
            <a:r>
              <a:rPr sz="1200" b="1" i="0">
                <a:solidFill>
                  <a:srgbClr val="0D9488"/>
                </a:solidFill>
                <a:latin typeface="Calibri"/>
              </a:rPr>
              <a:t>10,0 M de unidades</a:t>
            </a:r>
          </a:p>
          <a:p>
            <a:r>
              <a:rPr sz="1000" b="0" i="0">
                <a:solidFill>
                  <a:srgbClr val="6B7280"/>
                </a:solidFill>
                <a:latin typeface="Calibri"/>
              </a:rPr>
              <a:t>1986 · NES, MSX · Hudson Soft</a:t>
            </a:r>
          </a:p>
        </p:txBody>
      </p:sp>
      <p:pic>
        <p:nvPicPr>
          <p:cNvPr id="36" name="Picture 35" descr="f22.png"/>
          <p:cNvPicPr>
            <a:picLocks noChangeAspect="1"/>
          </p:cNvPicPr>
          <p:nvPr/>
        </p:nvPicPr>
        <p:blipFill>
          <a:blip r:embed="rId11"/>
          <a:stretch>
            <a:fillRect/>
          </a:stretch>
        </p:blipFill>
        <p:spPr>
          <a:xfrm>
            <a:off x="6168999" y="4207706"/>
            <a:ext cx="1718005" cy="243956"/>
          </a:xfrm>
          <a:prstGeom prst="rect">
            <a:avLst/>
          </a:prstGeom>
        </p:spPr>
      </p:pic>
      <p:sp>
        <p:nvSpPr>
          <p:cNvPr id="37" name="Oval 36"/>
          <p:cNvSpPr/>
          <p:nvPr/>
        </p:nvSpPr>
        <p:spPr>
          <a:xfrm>
            <a:off x="7557820"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22</a:t>
            </a:r>
          </a:p>
        </p:txBody>
      </p:sp>
      <p:sp>
        <p:nvSpPr>
          <p:cNvPr id="38" name="TextBox 37"/>
          <p:cNvSpPr txBox="1"/>
          <p:nvPr/>
        </p:nvSpPr>
        <p:spPr>
          <a:xfrm>
            <a:off x="6168999" y="5084064"/>
            <a:ext cx="1718005" cy="868680"/>
          </a:xfrm>
          <a:prstGeom prst="rect">
            <a:avLst/>
          </a:prstGeom>
          <a:noFill/>
        </p:spPr>
        <p:txBody>
          <a:bodyPr wrap="square" anchor="t" lIns="0" rIns="0" tIns="0" bIns="0">
            <a:spAutoFit/>
          </a:bodyPr>
          <a:lstStyle/>
          <a:p>
            <a:r>
              <a:rPr sz="1200" b="1" i="0">
                <a:solidFill>
                  <a:srgbClr val="1F2937"/>
                </a:solidFill>
                <a:latin typeface="Calibri"/>
              </a:rPr>
              <a:t>Oddworld</a:t>
            </a:r>
          </a:p>
          <a:p>
            <a:r>
              <a:rPr sz="1200" b="1" i="0">
                <a:solidFill>
                  <a:srgbClr val="0D9488"/>
                </a:solidFill>
                <a:latin typeface="Calibri"/>
              </a:rPr>
              <a:t>7,0 M de unidades</a:t>
            </a:r>
          </a:p>
          <a:p>
            <a:r>
              <a:rPr sz="1000" b="0" i="0">
                <a:solidFill>
                  <a:srgbClr val="6B7280"/>
                </a:solidFill>
                <a:latin typeface="Calibri"/>
              </a:rPr>
              <a:t>1997 · PS1 · Oddworld Inhabitants</a:t>
            </a:r>
          </a:p>
        </p:txBody>
      </p:sp>
      <p:pic>
        <p:nvPicPr>
          <p:cNvPr id="39" name="Picture 38" descr="f23.png"/>
          <p:cNvPicPr>
            <a:picLocks noChangeAspect="1"/>
          </p:cNvPicPr>
          <p:nvPr/>
        </p:nvPicPr>
        <p:blipFill>
          <a:blip r:embed="rId12"/>
          <a:stretch>
            <a:fillRect/>
          </a:stretch>
        </p:blipFill>
        <p:spPr>
          <a:xfrm>
            <a:off x="8033308" y="3843734"/>
            <a:ext cx="1718004" cy="971899"/>
          </a:xfrm>
          <a:prstGeom prst="rect">
            <a:avLst/>
          </a:prstGeom>
        </p:spPr>
      </p:pic>
      <p:sp>
        <p:nvSpPr>
          <p:cNvPr id="40" name="Oval 39"/>
          <p:cNvSpPr/>
          <p:nvPr/>
        </p:nvSpPr>
        <p:spPr>
          <a:xfrm>
            <a:off x="942212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23</a:t>
            </a:r>
          </a:p>
        </p:txBody>
      </p:sp>
      <p:sp>
        <p:nvSpPr>
          <p:cNvPr id="41" name="TextBox 40"/>
          <p:cNvSpPr txBox="1"/>
          <p:nvPr/>
        </p:nvSpPr>
        <p:spPr>
          <a:xfrm>
            <a:off x="8033308" y="5084064"/>
            <a:ext cx="1718005" cy="868680"/>
          </a:xfrm>
          <a:prstGeom prst="rect">
            <a:avLst/>
          </a:prstGeom>
          <a:noFill/>
        </p:spPr>
        <p:txBody>
          <a:bodyPr wrap="square" anchor="t" lIns="0" rIns="0" tIns="0" bIns="0">
            <a:spAutoFit/>
          </a:bodyPr>
          <a:lstStyle/>
          <a:p>
            <a:r>
              <a:rPr sz="1200" b="1" i="0">
                <a:solidFill>
                  <a:srgbClr val="1F2937"/>
                </a:solidFill>
                <a:latin typeface="Calibri"/>
              </a:rPr>
              <a:t>Sly Cooper</a:t>
            </a:r>
          </a:p>
          <a:p>
            <a:r>
              <a:rPr sz="1200" b="1" i="0">
                <a:solidFill>
                  <a:srgbClr val="0D9488"/>
                </a:solidFill>
                <a:latin typeface="Calibri"/>
              </a:rPr>
              <a:t>5,4 M de unidades</a:t>
            </a:r>
          </a:p>
          <a:p>
            <a:r>
              <a:rPr sz="1000" b="0" i="0">
                <a:solidFill>
                  <a:srgbClr val="6B7280"/>
                </a:solidFill>
                <a:latin typeface="Calibri"/>
              </a:rPr>
              <a:t>2002 · PS2 · Sony</a:t>
            </a:r>
          </a:p>
        </p:txBody>
      </p:sp>
      <p:pic>
        <p:nvPicPr>
          <p:cNvPr id="42" name="Picture 41" descr="f24.png"/>
          <p:cNvPicPr>
            <a:picLocks noChangeAspect="1"/>
          </p:cNvPicPr>
          <p:nvPr/>
        </p:nvPicPr>
        <p:blipFill>
          <a:blip r:embed="rId13"/>
          <a:stretch>
            <a:fillRect/>
          </a:stretch>
        </p:blipFill>
        <p:spPr>
          <a:xfrm>
            <a:off x="9897617" y="3989519"/>
            <a:ext cx="1718005" cy="680329"/>
          </a:xfrm>
          <a:prstGeom prst="rect">
            <a:avLst/>
          </a:prstGeom>
        </p:spPr>
      </p:pic>
      <p:sp>
        <p:nvSpPr>
          <p:cNvPr id="43" name="Oval 42"/>
          <p:cNvSpPr/>
          <p:nvPr/>
        </p:nvSpPr>
        <p:spPr>
          <a:xfrm>
            <a:off x="1128643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24</a:t>
            </a:r>
          </a:p>
        </p:txBody>
      </p:sp>
      <p:sp>
        <p:nvSpPr>
          <p:cNvPr id="44" name="TextBox 43"/>
          <p:cNvSpPr txBox="1"/>
          <p:nvPr/>
        </p:nvSpPr>
        <p:spPr>
          <a:xfrm>
            <a:off x="9897617" y="5084064"/>
            <a:ext cx="1718005" cy="868680"/>
          </a:xfrm>
          <a:prstGeom prst="rect">
            <a:avLst/>
          </a:prstGeom>
          <a:noFill/>
        </p:spPr>
        <p:txBody>
          <a:bodyPr wrap="square" anchor="t" lIns="0" rIns="0" tIns="0" bIns="0">
            <a:spAutoFit/>
          </a:bodyPr>
          <a:lstStyle/>
          <a:p>
            <a:r>
              <a:rPr sz="1200" b="1" i="0">
                <a:solidFill>
                  <a:srgbClr val="1F2937"/>
                </a:solidFill>
                <a:latin typeface="Calibri"/>
              </a:rPr>
              <a:t>Banjo-Kazooie</a:t>
            </a:r>
          </a:p>
          <a:p>
            <a:r>
              <a:rPr sz="1200" b="1" i="0">
                <a:solidFill>
                  <a:srgbClr val="0D9488"/>
                </a:solidFill>
                <a:latin typeface="Calibri"/>
              </a:rPr>
              <a:t>5,1 M de unidades</a:t>
            </a:r>
          </a:p>
          <a:p>
            <a:r>
              <a:rPr sz="1000" b="0" i="0">
                <a:solidFill>
                  <a:srgbClr val="6B7280"/>
                </a:solidFill>
                <a:latin typeface="Calibri"/>
              </a:rPr>
              <a:t>1998 · N64 · Microsoft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1–10</a:t>
            </a:r>
          </a:p>
          <a:p>
            <a:r>
              <a:rPr sz="2600" b="1" i="0">
                <a:solidFill>
                  <a:srgbClr val="FFFFFF"/>
                </a:solidFill>
                <a:latin typeface="Calibri"/>
              </a:rPr>
              <a:t>Juegos de plataformas más vendidos (1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j01.png"/>
          <p:cNvPicPr>
            <a:picLocks noChangeAspect="1"/>
          </p:cNvPicPr>
          <p:nvPr/>
        </p:nvPicPr>
        <p:blipFill>
          <a:blip r:embed="rId2"/>
          <a:stretch>
            <a:fillRect/>
          </a:stretch>
        </p:blipFill>
        <p:spPr>
          <a:xfrm>
            <a:off x="1124411" y="1234440"/>
            <a:ext cx="994188" cy="1435608"/>
          </a:xfrm>
          <a:prstGeom prst="rect">
            <a:avLst/>
          </a:prstGeom>
        </p:spPr>
      </p:pic>
      <p:sp>
        <p:nvSpPr>
          <p:cNvPr id="10" name="Oval 9"/>
          <p:cNvSpPr/>
          <p:nvPr/>
        </p:nvSpPr>
        <p:spPr>
          <a:xfrm>
            <a:off x="2337755"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a:t>
            </a:r>
          </a:p>
        </p:txBody>
      </p:sp>
      <p:sp>
        <p:nvSpPr>
          <p:cNvPr id="11" name="TextBox 10"/>
          <p:cNvSpPr txBox="1"/>
          <p:nvPr/>
        </p:nvSpPr>
        <p:spPr>
          <a:xfrm>
            <a:off x="576072"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Bros.</a:t>
            </a:r>
          </a:p>
          <a:p>
            <a:r>
              <a:rPr sz="1200" b="1" i="0">
                <a:solidFill>
                  <a:srgbClr val="0D9488"/>
                </a:solidFill>
                <a:latin typeface="Calibri"/>
              </a:rPr>
              <a:t>65,9 M de unidades</a:t>
            </a:r>
          </a:p>
          <a:p>
            <a:r>
              <a:rPr sz="1000" b="0" i="0">
                <a:solidFill>
                  <a:srgbClr val="6B7280"/>
                </a:solidFill>
                <a:latin typeface="Calibri"/>
              </a:rPr>
              <a:t>1985 · Multiplataforma · Nintendo</a:t>
            </a:r>
          </a:p>
        </p:txBody>
      </p:sp>
      <p:pic>
        <p:nvPicPr>
          <p:cNvPr id="12" name="Picture 11" descr="j02.jpg"/>
          <p:cNvPicPr>
            <a:picLocks noChangeAspect="1"/>
          </p:cNvPicPr>
          <p:nvPr/>
        </p:nvPicPr>
        <p:blipFill>
          <a:blip r:embed="rId3"/>
          <a:stretch>
            <a:fillRect/>
          </a:stretch>
        </p:blipFill>
        <p:spPr>
          <a:xfrm>
            <a:off x="3140872" y="1234440"/>
            <a:ext cx="1435608" cy="1435608"/>
          </a:xfrm>
          <a:prstGeom prst="rect">
            <a:avLst/>
          </a:prstGeom>
        </p:spPr>
      </p:pic>
      <p:sp>
        <p:nvSpPr>
          <p:cNvPr id="13" name="Oval 12"/>
          <p:cNvSpPr/>
          <p:nvPr/>
        </p:nvSpPr>
        <p:spPr>
          <a:xfrm>
            <a:off x="4574926"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a:t>
            </a:r>
          </a:p>
        </p:txBody>
      </p:sp>
      <p:sp>
        <p:nvSpPr>
          <p:cNvPr id="14" name="TextBox 13"/>
          <p:cNvSpPr txBox="1"/>
          <p:nvPr/>
        </p:nvSpPr>
        <p:spPr>
          <a:xfrm>
            <a:off x="2813243" y="2706624"/>
            <a:ext cx="2090867" cy="868680"/>
          </a:xfrm>
          <a:prstGeom prst="rect">
            <a:avLst/>
          </a:prstGeom>
          <a:noFill/>
        </p:spPr>
        <p:txBody>
          <a:bodyPr wrap="square" anchor="t" lIns="0" rIns="0" tIns="0" bIns="0">
            <a:spAutoFit/>
          </a:bodyPr>
          <a:lstStyle/>
          <a:p>
            <a:r>
              <a:rPr sz="1200" b="1" i="0">
                <a:solidFill>
                  <a:srgbClr val="1F2937"/>
                </a:solidFill>
                <a:latin typeface="Calibri"/>
              </a:rPr>
              <a:t>Human: Fall Flat</a:t>
            </a:r>
          </a:p>
          <a:p>
            <a:r>
              <a:rPr sz="1200" b="1" i="0">
                <a:solidFill>
                  <a:srgbClr val="0D9488"/>
                </a:solidFill>
                <a:latin typeface="Calibri"/>
              </a:rPr>
              <a:t>55,0 M de unidades</a:t>
            </a:r>
          </a:p>
          <a:p>
            <a:r>
              <a:rPr sz="1000" b="0" i="0">
                <a:solidFill>
                  <a:srgbClr val="6B7280"/>
                </a:solidFill>
                <a:latin typeface="Calibri"/>
              </a:rPr>
              <a:t>2016 · Multiplataforma · No Brakes</a:t>
            </a:r>
          </a:p>
        </p:txBody>
      </p:sp>
      <p:pic>
        <p:nvPicPr>
          <p:cNvPr id="15" name="Picture 14" descr="j03.jpg"/>
          <p:cNvPicPr>
            <a:picLocks noChangeAspect="1"/>
          </p:cNvPicPr>
          <p:nvPr/>
        </p:nvPicPr>
        <p:blipFill>
          <a:blip r:embed="rId4"/>
          <a:stretch>
            <a:fillRect/>
          </a:stretch>
        </p:blipFill>
        <p:spPr>
          <a:xfrm>
            <a:off x="5597983" y="1234440"/>
            <a:ext cx="995728" cy="1435608"/>
          </a:xfrm>
          <a:prstGeom prst="rect">
            <a:avLst/>
          </a:prstGeom>
        </p:spPr>
      </p:pic>
      <p:sp>
        <p:nvSpPr>
          <p:cNvPr id="16" name="Oval 15"/>
          <p:cNvSpPr/>
          <p:nvPr/>
        </p:nvSpPr>
        <p:spPr>
          <a:xfrm>
            <a:off x="6812097"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a:t>
            </a:r>
          </a:p>
        </p:txBody>
      </p:sp>
      <p:sp>
        <p:nvSpPr>
          <p:cNvPr id="17" name="TextBox 16"/>
          <p:cNvSpPr txBox="1"/>
          <p:nvPr/>
        </p:nvSpPr>
        <p:spPr>
          <a:xfrm>
            <a:off x="5050414" y="2706624"/>
            <a:ext cx="2090867" cy="868680"/>
          </a:xfrm>
          <a:prstGeom prst="rect">
            <a:avLst/>
          </a:prstGeom>
          <a:noFill/>
        </p:spPr>
        <p:txBody>
          <a:bodyPr wrap="square" anchor="t" lIns="0" rIns="0" tIns="0" bIns="0">
            <a:spAutoFit/>
          </a:bodyPr>
          <a:lstStyle/>
          <a:p>
            <a:r>
              <a:rPr sz="1200" b="1" i="0">
                <a:solidFill>
                  <a:srgbClr val="1F2937"/>
                </a:solidFill>
                <a:latin typeface="Calibri"/>
              </a:rPr>
              <a:t>Sonic the Hedgehog</a:t>
            </a:r>
          </a:p>
          <a:p>
            <a:r>
              <a:rPr sz="1200" b="1" i="0">
                <a:solidFill>
                  <a:srgbClr val="0D9488"/>
                </a:solidFill>
                <a:latin typeface="Calibri"/>
              </a:rPr>
              <a:t>51,8 M de unidades</a:t>
            </a:r>
          </a:p>
          <a:p>
            <a:r>
              <a:rPr sz="1000" b="0" i="0">
                <a:solidFill>
                  <a:srgbClr val="6B7280"/>
                </a:solidFill>
                <a:latin typeface="Calibri"/>
              </a:rPr>
              <a:t>1991 · Multiplataforma · Sega</a:t>
            </a:r>
          </a:p>
        </p:txBody>
      </p:sp>
      <p:pic>
        <p:nvPicPr>
          <p:cNvPr id="18" name="Picture 17" descr="j04.png"/>
          <p:cNvPicPr>
            <a:picLocks noChangeAspect="1"/>
          </p:cNvPicPr>
          <p:nvPr/>
        </p:nvPicPr>
        <p:blipFill>
          <a:blip r:embed="rId5"/>
          <a:stretch>
            <a:fillRect/>
          </a:stretch>
        </p:blipFill>
        <p:spPr>
          <a:xfrm>
            <a:off x="7836077" y="1234440"/>
            <a:ext cx="993882" cy="1435608"/>
          </a:xfrm>
          <a:prstGeom prst="rect">
            <a:avLst/>
          </a:prstGeom>
        </p:spPr>
      </p:pic>
      <p:sp>
        <p:nvSpPr>
          <p:cNvPr id="19" name="Oval 18"/>
          <p:cNvSpPr/>
          <p:nvPr/>
        </p:nvSpPr>
        <p:spPr>
          <a:xfrm>
            <a:off x="904926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a:t>
            </a:r>
          </a:p>
        </p:txBody>
      </p:sp>
      <p:sp>
        <p:nvSpPr>
          <p:cNvPr id="20" name="TextBox 19"/>
          <p:cNvSpPr txBox="1"/>
          <p:nvPr/>
        </p:nvSpPr>
        <p:spPr>
          <a:xfrm>
            <a:off x="7287585"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Bros. 3</a:t>
            </a:r>
          </a:p>
          <a:p>
            <a:r>
              <a:rPr sz="1200" b="1" i="0">
                <a:solidFill>
                  <a:srgbClr val="0D9488"/>
                </a:solidFill>
                <a:latin typeface="Calibri"/>
              </a:rPr>
              <a:t>40,8 M de unidades</a:t>
            </a:r>
          </a:p>
          <a:p>
            <a:r>
              <a:rPr sz="1000" b="0" i="0">
                <a:solidFill>
                  <a:srgbClr val="6B7280"/>
                </a:solidFill>
                <a:latin typeface="Calibri"/>
              </a:rPr>
              <a:t>1988 · Multiplataforma · Nintendo</a:t>
            </a:r>
          </a:p>
        </p:txBody>
      </p:sp>
      <p:pic>
        <p:nvPicPr>
          <p:cNvPr id="21" name="Picture 20" descr="j05.png"/>
          <p:cNvPicPr>
            <a:picLocks noChangeAspect="1"/>
          </p:cNvPicPr>
          <p:nvPr/>
        </p:nvPicPr>
        <p:blipFill>
          <a:blip r:embed="rId6"/>
          <a:stretch>
            <a:fillRect/>
          </a:stretch>
        </p:blipFill>
        <p:spPr>
          <a:xfrm>
            <a:off x="10072643" y="1234440"/>
            <a:ext cx="995092" cy="1435608"/>
          </a:xfrm>
          <a:prstGeom prst="rect">
            <a:avLst/>
          </a:prstGeom>
        </p:spPr>
      </p:pic>
      <p:sp>
        <p:nvSpPr>
          <p:cNvPr id="22" name="Oval 21"/>
          <p:cNvSpPr/>
          <p:nvPr/>
        </p:nvSpPr>
        <p:spPr>
          <a:xfrm>
            <a:off x="1128643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5</a:t>
            </a:r>
          </a:p>
        </p:txBody>
      </p:sp>
      <p:sp>
        <p:nvSpPr>
          <p:cNvPr id="23" name="TextBox 22"/>
          <p:cNvSpPr txBox="1"/>
          <p:nvPr/>
        </p:nvSpPr>
        <p:spPr>
          <a:xfrm>
            <a:off x="9524756"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Bros. 2</a:t>
            </a:r>
          </a:p>
          <a:p>
            <a:r>
              <a:rPr sz="1200" b="1" i="0">
                <a:solidFill>
                  <a:srgbClr val="0D9488"/>
                </a:solidFill>
                <a:latin typeface="Calibri"/>
              </a:rPr>
              <a:t>37,5 M de unidades</a:t>
            </a:r>
          </a:p>
          <a:p>
            <a:r>
              <a:rPr sz="1000" b="0" i="0">
                <a:solidFill>
                  <a:srgbClr val="6B7280"/>
                </a:solidFill>
                <a:latin typeface="Calibri"/>
              </a:rPr>
              <a:t>1986 · Multiplataforma · Nintendo</a:t>
            </a:r>
          </a:p>
        </p:txBody>
      </p:sp>
      <p:pic>
        <p:nvPicPr>
          <p:cNvPr id="24" name="Picture 23" descr="j06.png"/>
          <p:cNvPicPr>
            <a:picLocks noChangeAspect="1"/>
          </p:cNvPicPr>
          <p:nvPr/>
        </p:nvPicPr>
        <p:blipFill>
          <a:blip r:embed="rId7"/>
          <a:stretch>
            <a:fillRect/>
          </a:stretch>
        </p:blipFill>
        <p:spPr>
          <a:xfrm>
            <a:off x="589833" y="3611880"/>
            <a:ext cx="2063345" cy="1435608"/>
          </a:xfrm>
          <a:prstGeom prst="rect">
            <a:avLst/>
          </a:prstGeom>
        </p:spPr>
      </p:pic>
      <p:sp>
        <p:nvSpPr>
          <p:cNvPr id="25" name="Oval 24"/>
          <p:cNvSpPr/>
          <p:nvPr/>
        </p:nvSpPr>
        <p:spPr>
          <a:xfrm>
            <a:off x="2337755"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6</a:t>
            </a:r>
          </a:p>
        </p:txBody>
      </p:sp>
      <p:sp>
        <p:nvSpPr>
          <p:cNvPr id="26" name="TextBox 25"/>
          <p:cNvSpPr txBox="1"/>
          <p:nvPr/>
        </p:nvSpPr>
        <p:spPr>
          <a:xfrm>
            <a:off x="576072"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World</a:t>
            </a:r>
          </a:p>
          <a:p>
            <a:r>
              <a:rPr sz="1200" b="1" i="0">
                <a:solidFill>
                  <a:srgbClr val="0D9488"/>
                </a:solidFill>
                <a:latin typeface="Calibri"/>
              </a:rPr>
              <a:t>34,2 M de unidades</a:t>
            </a:r>
          </a:p>
          <a:p>
            <a:r>
              <a:rPr sz="1000" b="0" i="0">
                <a:solidFill>
                  <a:srgbClr val="6B7280"/>
                </a:solidFill>
                <a:latin typeface="Calibri"/>
              </a:rPr>
              <a:t>1990 · Multiplataforma · Nintendo</a:t>
            </a:r>
          </a:p>
        </p:txBody>
      </p:sp>
      <p:pic>
        <p:nvPicPr>
          <p:cNvPr id="27" name="Picture 26" descr="j07.png"/>
          <p:cNvPicPr>
            <a:picLocks noChangeAspect="1"/>
          </p:cNvPicPr>
          <p:nvPr/>
        </p:nvPicPr>
        <p:blipFill>
          <a:blip r:embed="rId8"/>
          <a:stretch>
            <a:fillRect/>
          </a:stretch>
        </p:blipFill>
        <p:spPr>
          <a:xfrm>
            <a:off x="2829824" y="3611880"/>
            <a:ext cx="2057704" cy="1435608"/>
          </a:xfrm>
          <a:prstGeom prst="rect">
            <a:avLst/>
          </a:prstGeom>
        </p:spPr>
      </p:pic>
      <p:sp>
        <p:nvSpPr>
          <p:cNvPr id="28" name="Oval 27"/>
          <p:cNvSpPr/>
          <p:nvPr/>
        </p:nvSpPr>
        <p:spPr>
          <a:xfrm>
            <a:off x="4574926"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7</a:t>
            </a:r>
          </a:p>
        </p:txBody>
      </p:sp>
      <p:sp>
        <p:nvSpPr>
          <p:cNvPr id="29" name="TextBox 28"/>
          <p:cNvSpPr txBox="1"/>
          <p:nvPr/>
        </p:nvSpPr>
        <p:spPr>
          <a:xfrm>
            <a:off x="2813243"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64</a:t>
            </a:r>
          </a:p>
          <a:p>
            <a:r>
              <a:rPr sz="1200" b="1" i="0">
                <a:solidFill>
                  <a:srgbClr val="0D9488"/>
                </a:solidFill>
                <a:latin typeface="Calibri"/>
              </a:rPr>
              <a:t>32,3 M de unidades</a:t>
            </a:r>
          </a:p>
          <a:p>
            <a:r>
              <a:rPr sz="1000" b="0" i="0">
                <a:solidFill>
                  <a:srgbClr val="6B7280"/>
                </a:solidFill>
                <a:latin typeface="Calibri"/>
              </a:rPr>
              <a:t>1996 · Multiplataforma · Nintendo</a:t>
            </a:r>
          </a:p>
        </p:txBody>
      </p:sp>
      <p:pic>
        <p:nvPicPr>
          <p:cNvPr id="30" name="Picture 29" descr="j08.jpg"/>
          <p:cNvPicPr>
            <a:picLocks noChangeAspect="1"/>
          </p:cNvPicPr>
          <p:nvPr/>
        </p:nvPicPr>
        <p:blipFill>
          <a:blip r:embed="rId9"/>
          <a:stretch>
            <a:fillRect/>
          </a:stretch>
        </p:blipFill>
        <p:spPr>
          <a:xfrm>
            <a:off x="5296900" y="3611880"/>
            <a:ext cx="1597894" cy="1435608"/>
          </a:xfrm>
          <a:prstGeom prst="rect">
            <a:avLst/>
          </a:prstGeom>
        </p:spPr>
      </p:pic>
      <p:sp>
        <p:nvSpPr>
          <p:cNvPr id="31" name="Oval 30"/>
          <p:cNvSpPr/>
          <p:nvPr/>
        </p:nvSpPr>
        <p:spPr>
          <a:xfrm>
            <a:off x="6812097"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8</a:t>
            </a:r>
          </a:p>
        </p:txBody>
      </p:sp>
      <p:sp>
        <p:nvSpPr>
          <p:cNvPr id="32" name="TextBox 31"/>
          <p:cNvSpPr txBox="1"/>
          <p:nvPr/>
        </p:nvSpPr>
        <p:spPr>
          <a:xfrm>
            <a:off x="5050414" y="5084064"/>
            <a:ext cx="2090867" cy="868680"/>
          </a:xfrm>
          <a:prstGeom prst="rect">
            <a:avLst/>
          </a:prstGeom>
          <a:noFill/>
        </p:spPr>
        <p:txBody>
          <a:bodyPr wrap="square" anchor="t" lIns="0" rIns="0" tIns="0" bIns="0">
            <a:spAutoFit/>
          </a:bodyPr>
          <a:lstStyle/>
          <a:p>
            <a:r>
              <a:rPr sz="1200" b="1" i="0">
                <a:solidFill>
                  <a:srgbClr val="1F2937"/>
                </a:solidFill>
                <a:latin typeface="Calibri"/>
              </a:rPr>
              <a:t>New Super Mario Bros.</a:t>
            </a:r>
          </a:p>
          <a:p>
            <a:r>
              <a:rPr sz="1200" b="1" i="0">
                <a:solidFill>
                  <a:srgbClr val="0D9488"/>
                </a:solidFill>
                <a:latin typeface="Calibri"/>
              </a:rPr>
              <a:t>30,8 M de unidades</a:t>
            </a:r>
          </a:p>
          <a:p>
            <a:r>
              <a:rPr sz="1000" b="0" i="0">
                <a:solidFill>
                  <a:srgbClr val="6B7280"/>
                </a:solidFill>
                <a:latin typeface="Calibri"/>
              </a:rPr>
              <a:t>2006 · DS · Nintendo</a:t>
            </a:r>
          </a:p>
        </p:txBody>
      </p:sp>
      <p:pic>
        <p:nvPicPr>
          <p:cNvPr id="33" name="Picture 32" descr="j09.jpg"/>
          <p:cNvPicPr>
            <a:picLocks noChangeAspect="1"/>
          </p:cNvPicPr>
          <p:nvPr/>
        </p:nvPicPr>
        <p:blipFill>
          <a:blip r:embed="rId10"/>
          <a:stretch>
            <a:fillRect/>
          </a:stretch>
        </p:blipFill>
        <p:spPr>
          <a:xfrm>
            <a:off x="7615214" y="3611880"/>
            <a:ext cx="1435608" cy="1435608"/>
          </a:xfrm>
          <a:prstGeom prst="rect">
            <a:avLst/>
          </a:prstGeom>
        </p:spPr>
      </p:pic>
      <p:sp>
        <p:nvSpPr>
          <p:cNvPr id="34" name="Oval 33"/>
          <p:cNvSpPr/>
          <p:nvPr/>
        </p:nvSpPr>
        <p:spPr>
          <a:xfrm>
            <a:off x="904926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9</a:t>
            </a:r>
          </a:p>
        </p:txBody>
      </p:sp>
      <p:sp>
        <p:nvSpPr>
          <p:cNvPr id="35" name="TextBox 34"/>
          <p:cNvSpPr txBox="1"/>
          <p:nvPr/>
        </p:nvSpPr>
        <p:spPr>
          <a:xfrm>
            <a:off x="7287585"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Odyssey</a:t>
            </a:r>
          </a:p>
          <a:p>
            <a:r>
              <a:rPr sz="1200" b="1" i="0">
                <a:solidFill>
                  <a:srgbClr val="0D9488"/>
                </a:solidFill>
                <a:latin typeface="Calibri"/>
              </a:rPr>
              <a:t>30,5 M de unidades</a:t>
            </a:r>
          </a:p>
          <a:p>
            <a:r>
              <a:rPr sz="1000" b="0" i="0">
                <a:solidFill>
                  <a:srgbClr val="6B7280"/>
                </a:solidFill>
                <a:latin typeface="Calibri"/>
              </a:rPr>
              <a:t>2017 · Switch · Nintendo</a:t>
            </a:r>
          </a:p>
        </p:txBody>
      </p:sp>
      <p:pic>
        <p:nvPicPr>
          <p:cNvPr id="36" name="Picture 35" descr="j10.png"/>
          <p:cNvPicPr>
            <a:picLocks noChangeAspect="1"/>
          </p:cNvPicPr>
          <p:nvPr/>
        </p:nvPicPr>
        <p:blipFill>
          <a:blip r:embed="rId11"/>
          <a:stretch>
            <a:fillRect/>
          </a:stretch>
        </p:blipFill>
        <p:spPr>
          <a:xfrm>
            <a:off x="10042105" y="3611880"/>
            <a:ext cx="1056169" cy="1435608"/>
          </a:xfrm>
          <a:prstGeom prst="rect">
            <a:avLst/>
          </a:prstGeom>
        </p:spPr>
      </p:pic>
      <p:sp>
        <p:nvSpPr>
          <p:cNvPr id="37" name="Oval 36"/>
          <p:cNvSpPr/>
          <p:nvPr/>
        </p:nvSpPr>
        <p:spPr>
          <a:xfrm>
            <a:off x="1128643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10</a:t>
            </a:r>
          </a:p>
        </p:txBody>
      </p:sp>
      <p:sp>
        <p:nvSpPr>
          <p:cNvPr id="38" name="TextBox 37"/>
          <p:cNvSpPr txBox="1"/>
          <p:nvPr/>
        </p:nvSpPr>
        <p:spPr>
          <a:xfrm>
            <a:off x="9524756" y="5084064"/>
            <a:ext cx="2090867" cy="868680"/>
          </a:xfrm>
          <a:prstGeom prst="rect">
            <a:avLst/>
          </a:prstGeom>
          <a:noFill/>
        </p:spPr>
        <p:txBody>
          <a:bodyPr wrap="square" anchor="t" lIns="0" rIns="0" tIns="0" bIns="0">
            <a:spAutoFit/>
          </a:bodyPr>
          <a:lstStyle/>
          <a:p>
            <a:r>
              <a:rPr sz="1200" b="1" i="0">
                <a:solidFill>
                  <a:srgbClr val="1F2937"/>
                </a:solidFill>
                <a:latin typeface="Calibri"/>
              </a:rPr>
              <a:t>New Super Mario Bros. Wii</a:t>
            </a:r>
          </a:p>
          <a:p>
            <a:r>
              <a:rPr sz="1200" b="1" i="0">
                <a:solidFill>
                  <a:srgbClr val="0D9488"/>
                </a:solidFill>
                <a:latin typeface="Calibri"/>
              </a:rPr>
              <a:t>30,3 M de unidades</a:t>
            </a:r>
          </a:p>
          <a:p>
            <a:r>
              <a:rPr sz="1000" b="0" i="0">
                <a:solidFill>
                  <a:srgbClr val="6B7280"/>
                </a:solidFill>
                <a:latin typeface="Calibri"/>
              </a:rPr>
              <a:t>2009 · Wii · Nintendo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11–20</a:t>
            </a:r>
          </a:p>
          <a:p>
            <a:r>
              <a:rPr sz="2600" b="1" i="0">
                <a:solidFill>
                  <a:srgbClr val="FFFFFF"/>
                </a:solidFill>
                <a:latin typeface="Calibri"/>
              </a:rPr>
              <a:t>Juegos de plataformas más vendidos (2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83/87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j11.jpg"/>
          <p:cNvPicPr>
            <a:picLocks noChangeAspect="1"/>
          </p:cNvPicPr>
          <p:nvPr/>
        </p:nvPicPr>
        <p:blipFill>
          <a:blip r:embed="rId2"/>
          <a:stretch>
            <a:fillRect/>
          </a:stretch>
        </p:blipFill>
        <p:spPr>
          <a:xfrm>
            <a:off x="1109063" y="1234440"/>
            <a:ext cx="1024885" cy="1435608"/>
          </a:xfrm>
          <a:prstGeom prst="rect">
            <a:avLst/>
          </a:prstGeom>
        </p:spPr>
      </p:pic>
      <p:sp>
        <p:nvSpPr>
          <p:cNvPr id="10" name="Oval 9"/>
          <p:cNvSpPr/>
          <p:nvPr/>
        </p:nvSpPr>
        <p:spPr>
          <a:xfrm>
            <a:off x="2337755"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11</a:t>
            </a:r>
          </a:p>
        </p:txBody>
      </p:sp>
      <p:sp>
        <p:nvSpPr>
          <p:cNvPr id="11" name="TextBox 10"/>
          <p:cNvSpPr txBox="1"/>
          <p:nvPr/>
        </p:nvSpPr>
        <p:spPr>
          <a:xfrm>
            <a:off x="576072" y="2706624"/>
            <a:ext cx="2090867" cy="868680"/>
          </a:xfrm>
          <a:prstGeom prst="rect">
            <a:avLst/>
          </a:prstGeom>
          <a:noFill/>
        </p:spPr>
        <p:txBody>
          <a:bodyPr wrap="square" anchor="t" lIns="0" rIns="0" tIns="0" bIns="0">
            <a:spAutoFit/>
          </a:bodyPr>
          <a:lstStyle/>
          <a:p>
            <a:r>
              <a:rPr sz="1200" b="1" i="0">
                <a:solidFill>
                  <a:srgbClr val="1F2937"/>
                </a:solidFill>
                <a:latin typeface="Calibri"/>
              </a:rPr>
              <a:t>Sonic the Hedgehog 2</a:t>
            </a:r>
          </a:p>
          <a:p>
            <a:r>
              <a:rPr sz="1200" b="1" i="0">
                <a:solidFill>
                  <a:srgbClr val="0D9488"/>
                </a:solidFill>
                <a:latin typeface="Calibri"/>
              </a:rPr>
              <a:t>25,4 M de unidades</a:t>
            </a:r>
          </a:p>
          <a:p>
            <a:r>
              <a:rPr sz="1000" b="0" i="0">
                <a:solidFill>
                  <a:srgbClr val="6B7280"/>
                </a:solidFill>
                <a:latin typeface="Calibri"/>
              </a:rPr>
              <a:t>1992 · Multiplataforma · Sega</a:t>
            </a:r>
          </a:p>
        </p:txBody>
      </p:sp>
      <p:pic>
        <p:nvPicPr>
          <p:cNvPr id="12" name="Picture 11" descr="j12.png"/>
          <p:cNvPicPr>
            <a:picLocks noChangeAspect="1"/>
          </p:cNvPicPr>
          <p:nvPr/>
        </p:nvPicPr>
        <p:blipFill>
          <a:blip r:embed="rId3"/>
          <a:stretch>
            <a:fillRect/>
          </a:stretch>
        </p:blipFill>
        <p:spPr>
          <a:xfrm>
            <a:off x="3351058" y="1234440"/>
            <a:ext cx="1015236" cy="1435608"/>
          </a:xfrm>
          <a:prstGeom prst="rect">
            <a:avLst/>
          </a:prstGeom>
        </p:spPr>
      </p:pic>
      <p:sp>
        <p:nvSpPr>
          <p:cNvPr id="13" name="Oval 12"/>
          <p:cNvSpPr/>
          <p:nvPr/>
        </p:nvSpPr>
        <p:spPr>
          <a:xfrm>
            <a:off x="4574926"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12</a:t>
            </a:r>
          </a:p>
        </p:txBody>
      </p:sp>
      <p:sp>
        <p:nvSpPr>
          <p:cNvPr id="14" name="TextBox 13"/>
          <p:cNvSpPr txBox="1"/>
          <p:nvPr/>
        </p:nvSpPr>
        <p:spPr>
          <a:xfrm>
            <a:off x="2813243" y="2706624"/>
            <a:ext cx="2090867" cy="868680"/>
          </a:xfrm>
          <a:prstGeom prst="rect">
            <a:avLst/>
          </a:prstGeom>
          <a:noFill/>
        </p:spPr>
        <p:txBody>
          <a:bodyPr wrap="square" anchor="t" lIns="0" rIns="0" tIns="0" bIns="0">
            <a:spAutoFit/>
          </a:bodyPr>
          <a:lstStyle/>
          <a:p>
            <a:r>
              <a:rPr sz="1200" b="1" i="0">
                <a:solidFill>
                  <a:srgbClr val="1F2937"/>
                </a:solidFill>
                <a:latin typeface="Calibri"/>
              </a:rPr>
              <a:t>New Super Mario Bros. U</a:t>
            </a:r>
          </a:p>
          <a:p>
            <a:r>
              <a:rPr sz="1200" b="1" i="0">
                <a:solidFill>
                  <a:srgbClr val="0D9488"/>
                </a:solidFill>
                <a:latin typeface="Calibri"/>
              </a:rPr>
              <a:t>24,2 M de unidades</a:t>
            </a:r>
          </a:p>
          <a:p>
            <a:r>
              <a:rPr sz="1000" b="0" i="0">
                <a:solidFill>
                  <a:srgbClr val="6B7280"/>
                </a:solidFill>
                <a:latin typeface="Calibri"/>
              </a:rPr>
              <a:t>2012 · Wii U, Switch · Nintendo</a:t>
            </a:r>
          </a:p>
        </p:txBody>
      </p:sp>
      <p:pic>
        <p:nvPicPr>
          <p:cNvPr id="15" name="Picture 14" descr="j13.jpg"/>
          <p:cNvPicPr>
            <a:picLocks noChangeAspect="1"/>
          </p:cNvPicPr>
          <p:nvPr/>
        </p:nvPicPr>
        <p:blipFill>
          <a:blip r:embed="rId4"/>
          <a:stretch>
            <a:fillRect/>
          </a:stretch>
        </p:blipFill>
        <p:spPr>
          <a:xfrm>
            <a:off x="5618221" y="1234440"/>
            <a:ext cx="955252" cy="1435608"/>
          </a:xfrm>
          <a:prstGeom prst="rect">
            <a:avLst/>
          </a:prstGeom>
        </p:spPr>
      </p:pic>
      <p:sp>
        <p:nvSpPr>
          <p:cNvPr id="16" name="Oval 15"/>
          <p:cNvSpPr/>
          <p:nvPr/>
        </p:nvSpPr>
        <p:spPr>
          <a:xfrm>
            <a:off x="6812097"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13</a:t>
            </a:r>
          </a:p>
        </p:txBody>
      </p:sp>
      <p:sp>
        <p:nvSpPr>
          <p:cNvPr id="17" name="TextBox 16"/>
          <p:cNvSpPr txBox="1"/>
          <p:nvPr/>
        </p:nvSpPr>
        <p:spPr>
          <a:xfrm>
            <a:off x="5050414" y="2706624"/>
            <a:ext cx="2090867" cy="868680"/>
          </a:xfrm>
          <a:prstGeom prst="rect">
            <a:avLst/>
          </a:prstGeom>
          <a:noFill/>
        </p:spPr>
        <p:txBody>
          <a:bodyPr wrap="square" anchor="t" lIns="0" rIns="0" tIns="0" bIns="0">
            <a:spAutoFit/>
          </a:bodyPr>
          <a:lstStyle/>
          <a:p>
            <a:r>
              <a:rPr sz="1200" b="1" i="0">
                <a:solidFill>
                  <a:srgbClr val="1F2937"/>
                </a:solidFill>
                <a:latin typeface="Calibri"/>
              </a:rPr>
              <a:t>Sonic Dash</a:t>
            </a:r>
          </a:p>
          <a:p>
            <a:r>
              <a:rPr sz="1200" b="1" i="0">
                <a:solidFill>
                  <a:srgbClr val="0D9488"/>
                </a:solidFill>
                <a:latin typeface="Calibri"/>
              </a:rPr>
              <a:t>22,6 M de unidades</a:t>
            </a:r>
          </a:p>
          <a:p>
            <a:r>
              <a:rPr sz="1000" b="0" i="0">
                <a:solidFill>
                  <a:srgbClr val="6B7280"/>
                </a:solidFill>
                <a:latin typeface="Calibri"/>
              </a:rPr>
              <a:t>2013 · iOS · Sega</a:t>
            </a:r>
          </a:p>
        </p:txBody>
      </p:sp>
      <p:pic>
        <p:nvPicPr>
          <p:cNvPr id="18" name="Picture 17" descr="j14.jpg"/>
          <p:cNvPicPr>
            <a:picLocks noChangeAspect="1"/>
          </p:cNvPicPr>
          <p:nvPr/>
        </p:nvPicPr>
        <p:blipFill>
          <a:blip r:embed="rId5"/>
          <a:stretch>
            <a:fillRect/>
          </a:stretch>
        </p:blipFill>
        <p:spPr>
          <a:xfrm>
            <a:off x="7777443" y="1234440"/>
            <a:ext cx="1111151" cy="1435608"/>
          </a:xfrm>
          <a:prstGeom prst="rect">
            <a:avLst/>
          </a:prstGeom>
        </p:spPr>
      </p:pic>
      <p:sp>
        <p:nvSpPr>
          <p:cNvPr id="19" name="Oval 18"/>
          <p:cNvSpPr/>
          <p:nvPr/>
        </p:nvSpPr>
        <p:spPr>
          <a:xfrm>
            <a:off x="904926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14</a:t>
            </a:r>
          </a:p>
        </p:txBody>
      </p:sp>
      <p:sp>
        <p:nvSpPr>
          <p:cNvPr id="20" name="TextBox 19"/>
          <p:cNvSpPr txBox="1"/>
          <p:nvPr/>
        </p:nvSpPr>
        <p:spPr>
          <a:xfrm>
            <a:off x="7287585" y="2706624"/>
            <a:ext cx="2090867" cy="868680"/>
          </a:xfrm>
          <a:prstGeom prst="rect">
            <a:avLst/>
          </a:prstGeom>
          <a:noFill/>
        </p:spPr>
        <p:txBody>
          <a:bodyPr wrap="square" anchor="t" lIns="0" rIns="0" tIns="0" bIns="0">
            <a:spAutoFit/>
          </a:bodyPr>
          <a:lstStyle/>
          <a:p>
            <a:r>
              <a:rPr sz="1200" b="1" i="0">
                <a:solidFill>
                  <a:srgbClr val="1F2937"/>
                </a:solidFill>
                <a:latin typeface="Calibri"/>
              </a:rPr>
              <a:t>Donkey Kong</a:t>
            </a:r>
          </a:p>
          <a:p>
            <a:r>
              <a:rPr sz="1200" b="1" i="0">
                <a:solidFill>
                  <a:srgbClr val="0D9488"/>
                </a:solidFill>
                <a:latin typeface="Calibri"/>
              </a:rPr>
              <a:t>22,6 M de unidades</a:t>
            </a:r>
          </a:p>
          <a:p>
            <a:r>
              <a:rPr sz="1000" b="0" i="0">
                <a:solidFill>
                  <a:srgbClr val="6B7280"/>
                </a:solidFill>
                <a:latin typeface="Calibri"/>
              </a:rPr>
              <a:t>1981 · Multiplataforma · Nintendo</a:t>
            </a:r>
          </a:p>
        </p:txBody>
      </p:sp>
      <p:pic>
        <p:nvPicPr>
          <p:cNvPr id="21" name="Picture 20" descr="j15.jpg"/>
          <p:cNvPicPr>
            <a:picLocks noChangeAspect="1"/>
          </p:cNvPicPr>
          <p:nvPr/>
        </p:nvPicPr>
        <p:blipFill>
          <a:blip r:embed="rId6"/>
          <a:stretch>
            <a:fillRect/>
          </a:stretch>
        </p:blipFill>
        <p:spPr>
          <a:xfrm>
            <a:off x="10062571" y="1234440"/>
            <a:ext cx="1015236" cy="1435608"/>
          </a:xfrm>
          <a:prstGeom prst="rect">
            <a:avLst/>
          </a:prstGeom>
        </p:spPr>
      </p:pic>
      <p:sp>
        <p:nvSpPr>
          <p:cNvPr id="22" name="Oval 21"/>
          <p:cNvSpPr/>
          <p:nvPr/>
        </p:nvSpPr>
        <p:spPr>
          <a:xfrm>
            <a:off x="1128643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15</a:t>
            </a:r>
          </a:p>
        </p:txBody>
      </p:sp>
      <p:sp>
        <p:nvSpPr>
          <p:cNvPr id="23" name="TextBox 22"/>
          <p:cNvSpPr txBox="1"/>
          <p:nvPr/>
        </p:nvSpPr>
        <p:spPr>
          <a:xfrm>
            <a:off x="9524756"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Galaxy</a:t>
            </a:r>
          </a:p>
          <a:p>
            <a:r>
              <a:rPr sz="1200" b="1" i="0">
                <a:solidFill>
                  <a:srgbClr val="0D9488"/>
                </a:solidFill>
                <a:latin typeface="Calibri"/>
              </a:rPr>
              <a:t>21,9 M de unidades</a:t>
            </a:r>
          </a:p>
          <a:p>
            <a:r>
              <a:rPr sz="1000" b="0" i="0">
                <a:solidFill>
                  <a:srgbClr val="6B7280"/>
                </a:solidFill>
                <a:latin typeface="Calibri"/>
              </a:rPr>
              <a:t>2007 · Wii, Switch · Nintendo</a:t>
            </a:r>
          </a:p>
        </p:txBody>
      </p:sp>
      <p:pic>
        <p:nvPicPr>
          <p:cNvPr id="24" name="Picture 23" descr="j16.jpg"/>
          <p:cNvPicPr>
            <a:picLocks noChangeAspect="1"/>
          </p:cNvPicPr>
          <p:nvPr/>
        </p:nvPicPr>
        <p:blipFill>
          <a:blip r:embed="rId7"/>
          <a:stretch>
            <a:fillRect/>
          </a:stretch>
        </p:blipFill>
        <p:spPr>
          <a:xfrm>
            <a:off x="1051723" y="3611880"/>
            <a:ext cx="1139564" cy="1435608"/>
          </a:xfrm>
          <a:prstGeom prst="rect">
            <a:avLst/>
          </a:prstGeom>
        </p:spPr>
      </p:pic>
      <p:sp>
        <p:nvSpPr>
          <p:cNvPr id="25" name="Oval 24"/>
          <p:cNvSpPr/>
          <p:nvPr/>
        </p:nvSpPr>
        <p:spPr>
          <a:xfrm>
            <a:off x="2337755"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16</a:t>
            </a:r>
          </a:p>
        </p:txBody>
      </p:sp>
      <p:sp>
        <p:nvSpPr>
          <p:cNvPr id="26" name="TextBox 25"/>
          <p:cNvSpPr txBox="1"/>
          <p:nvPr/>
        </p:nvSpPr>
        <p:spPr>
          <a:xfrm>
            <a:off x="576072" y="5084064"/>
            <a:ext cx="2090867" cy="868680"/>
          </a:xfrm>
          <a:prstGeom prst="rect">
            <a:avLst/>
          </a:prstGeom>
          <a:noFill/>
        </p:spPr>
        <p:txBody>
          <a:bodyPr wrap="square" anchor="t" lIns="0" rIns="0" tIns="0" bIns="0">
            <a:spAutoFit/>
          </a:bodyPr>
          <a:lstStyle/>
          <a:p>
            <a:r>
              <a:rPr sz="1200" b="1" i="0">
                <a:solidFill>
                  <a:srgbClr val="1F2937"/>
                </a:solidFill>
                <a:latin typeface="Calibri"/>
              </a:rPr>
              <a:t>Crash Bandicoot N. Sane Trilogy</a:t>
            </a:r>
          </a:p>
          <a:p>
            <a:r>
              <a:rPr sz="1200" b="1" i="0">
                <a:solidFill>
                  <a:srgbClr val="0D9488"/>
                </a:solidFill>
                <a:latin typeface="Calibri"/>
              </a:rPr>
              <a:t>20,0 M de unidades</a:t>
            </a:r>
          </a:p>
          <a:p>
            <a:r>
              <a:rPr sz="1000" b="0" i="0">
                <a:solidFill>
                  <a:srgbClr val="6B7280"/>
                </a:solidFill>
                <a:latin typeface="Calibri"/>
              </a:rPr>
              <a:t>2017 · Multiplataforma · Activision</a:t>
            </a:r>
          </a:p>
        </p:txBody>
      </p:sp>
      <p:pic>
        <p:nvPicPr>
          <p:cNvPr id="27" name="Picture 26" descr="j17.png"/>
          <p:cNvPicPr>
            <a:picLocks noChangeAspect="1"/>
          </p:cNvPicPr>
          <p:nvPr/>
        </p:nvPicPr>
        <p:blipFill>
          <a:blip r:embed="rId8"/>
          <a:stretch>
            <a:fillRect/>
          </a:stretch>
        </p:blipFill>
        <p:spPr>
          <a:xfrm>
            <a:off x="3294112" y="3611880"/>
            <a:ext cx="1129129" cy="1435608"/>
          </a:xfrm>
          <a:prstGeom prst="rect">
            <a:avLst/>
          </a:prstGeom>
        </p:spPr>
      </p:pic>
      <p:sp>
        <p:nvSpPr>
          <p:cNvPr id="28" name="Oval 27"/>
          <p:cNvSpPr/>
          <p:nvPr/>
        </p:nvSpPr>
        <p:spPr>
          <a:xfrm>
            <a:off x="4574926"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17</a:t>
            </a:r>
          </a:p>
        </p:txBody>
      </p:sp>
      <p:sp>
        <p:nvSpPr>
          <p:cNvPr id="29" name="TextBox 28"/>
          <p:cNvSpPr txBox="1"/>
          <p:nvPr/>
        </p:nvSpPr>
        <p:spPr>
          <a:xfrm>
            <a:off x="2813243" y="5084064"/>
            <a:ext cx="2090867" cy="868680"/>
          </a:xfrm>
          <a:prstGeom prst="rect">
            <a:avLst/>
          </a:prstGeom>
          <a:noFill/>
        </p:spPr>
        <p:txBody>
          <a:bodyPr wrap="square" anchor="t" lIns="0" rIns="0" tIns="0" bIns="0">
            <a:spAutoFit/>
          </a:bodyPr>
          <a:lstStyle/>
          <a:p>
            <a:r>
              <a:rPr sz="1200" b="1" i="0">
                <a:solidFill>
                  <a:srgbClr val="1F2937"/>
                </a:solidFill>
                <a:latin typeface="Calibri"/>
              </a:rPr>
              <a:t>It Takes Two</a:t>
            </a:r>
          </a:p>
          <a:p>
            <a:r>
              <a:rPr sz="1200" b="1" i="0">
                <a:solidFill>
                  <a:srgbClr val="0D9488"/>
                </a:solidFill>
                <a:latin typeface="Calibri"/>
              </a:rPr>
              <a:t>20,0 M de unidades</a:t>
            </a:r>
          </a:p>
          <a:p>
            <a:r>
              <a:rPr sz="1000" b="0" i="0">
                <a:solidFill>
                  <a:srgbClr val="6B7280"/>
                </a:solidFill>
                <a:latin typeface="Calibri"/>
              </a:rPr>
              <a:t>2021 · Multiplataforma · EA</a:t>
            </a:r>
          </a:p>
        </p:txBody>
      </p:sp>
      <p:pic>
        <p:nvPicPr>
          <p:cNvPr id="30" name="Picture 29" descr="j18.jpg"/>
          <p:cNvPicPr>
            <a:picLocks noChangeAspect="1"/>
          </p:cNvPicPr>
          <p:nvPr/>
        </p:nvPicPr>
        <p:blipFill>
          <a:blip r:embed="rId9"/>
          <a:stretch>
            <a:fillRect/>
          </a:stretch>
        </p:blipFill>
        <p:spPr>
          <a:xfrm>
            <a:off x="5587488" y="3611880"/>
            <a:ext cx="1016719" cy="1435608"/>
          </a:xfrm>
          <a:prstGeom prst="rect">
            <a:avLst/>
          </a:prstGeom>
        </p:spPr>
      </p:pic>
      <p:sp>
        <p:nvSpPr>
          <p:cNvPr id="31" name="Oval 30"/>
          <p:cNvSpPr/>
          <p:nvPr/>
        </p:nvSpPr>
        <p:spPr>
          <a:xfrm>
            <a:off x="6812097"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18</a:t>
            </a:r>
          </a:p>
        </p:txBody>
      </p:sp>
      <p:sp>
        <p:nvSpPr>
          <p:cNvPr id="32" name="TextBox 31"/>
          <p:cNvSpPr txBox="1"/>
          <p:nvPr/>
        </p:nvSpPr>
        <p:spPr>
          <a:xfrm>
            <a:off x="5050414"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3D World</a:t>
            </a:r>
          </a:p>
          <a:p>
            <a:r>
              <a:rPr sz="1200" b="1" i="0">
                <a:solidFill>
                  <a:srgbClr val="0D9488"/>
                </a:solidFill>
                <a:latin typeface="Calibri"/>
              </a:rPr>
              <a:t>19,1 M de unidades</a:t>
            </a:r>
          </a:p>
          <a:p>
            <a:r>
              <a:rPr sz="1000" b="0" i="0">
                <a:solidFill>
                  <a:srgbClr val="6B7280"/>
                </a:solidFill>
                <a:latin typeface="Calibri"/>
              </a:rPr>
              <a:t>2013 · Wii U, Switch · Nintendo</a:t>
            </a:r>
          </a:p>
        </p:txBody>
      </p:sp>
      <p:pic>
        <p:nvPicPr>
          <p:cNvPr id="33" name="Picture 32" descr="j19.png"/>
          <p:cNvPicPr>
            <a:picLocks noChangeAspect="1"/>
          </p:cNvPicPr>
          <p:nvPr/>
        </p:nvPicPr>
        <p:blipFill>
          <a:blip r:embed="rId10"/>
          <a:stretch>
            <a:fillRect/>
          </a:stretch>
        </p:blipFill>
        <p:spPr>
          <a:xfrm>
            <a:off x="7580257" y="3611880"/>
            <a:ext cx="1505523" cy="1435607"/>
          </a:xfrm>
          <a:prstGeom prst="rect">
            <a:avLst/>
          </a:prstGeom>
        </p:spPr>
      </p:pic>
      <p:sp>
        <p:nvSpPr>
          <p:cNvPr id="34" name="Oval 33"/>
          <p:cNvSpPr/>
          <p:nvPr/>
        </p:nvSpPr>
        <p:spPr>
          <a:xfrm>
            <a:off x="904926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19</a:t>
            </a:r>
          </a:p>
        </p:txBody>
      </p:sp>
      <p:sp>
        <p:nvSpPr>
          <p:cNvPr id="35" name="TextBox 34"/>
          <p:cNvSpPr txBox="1"/>
          <p:nvPr/>
        </p:nvSpPr>
        <p:spPr>
          <a:xfrm>
            <a:off x="7287585"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Land</a:t>
            </a:r>
          </a:p>
          <a:p>
            <a:r>
              <a:rPr sz="1200" b="1" i="0">
                <a:solidFill>
                  <a:srgbClr val="0D9488"/>
                </a:solidFill>
                <a:latin typeface="Calibri"/>
              </a:rPr>
              <a:t>18,4 M de unidades</a:t>
            </a:r>
          </a:p>
          <a:p>
            <a:r>
              <a:rPr sz="1000" b="0" i="0">
                <a:solidFill>
                  <a:srgbClr val="6B7280"/>
                </a:solidFill>
                <a:latin typeface="Calibri"/>
              </a:rPr>
              <a:t>1989 · GB, 3DS · Nintendo</a:t>
            </a:r>
          </a:p>
        </p:txBody>
      </p:sp>
      <p:pic>
        <p:nvPicPr>
          <p:cNvPr id="36" name="Picture 35" descr="j20.jpg"/>
          <p:cNvPicPr>
            <a:picLocks noChangeAspect="1"/>
          </p:cNvPicPr>
          <p:nvPr/>
        </p:nvPicPr>
        <p:blipFill>
          <a:blip r:embed="rId11"/>
          <a:stretch>
            <a:fillRect/>
          </a:stretch>
        </p:blipFill>
        <p:spPr>
          <a:xfrm>
            <a:off x="10057747" y="3611880"/>
            <a:ext cx="1024885" cy="1435608"/>
          </a:xfrm>
          <a:prstGeom prst="rect">
            <a:avLst/>
          </a:prstGeom>
        </p:spPr>
      </p:pic>
      <p:sp>
        <p:nvSpPr>
          <p:cNvPr id="37" name="Oval 36"/>
          <p:cNvSpPr/>
          <p:nvPr/>
        </p:nvSpPr>
        <p:spPr>
          <a:xfrm>
            <a:off x="1128643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20</a:t>
            </a:r>
          </a:p>
        </p:txBody>
      </p:sp>
      <p:sp>
        <p:nvSpPr>
          <p:cNvPr id="38" name="TextBox 37"/>
          <p:cNvSpPr txBox="1"/>
          <p:nvPr/>
        </p:nvSpPr>
        <p:spPr>
          <a:xfrm>
            <a:off x="9524756" y="5084064"/>
            <a:ext cx="2090867" cy="868680"/>
          </a:xfrm>
          <a:prstGeom prst="rect">
            <a:avLst/>
          </a:prstGeom>
          <a:noFill/>
        </p:spPr>
        <p:txBody>
          <a:bodyPr wrap="square" anchor="t" lIns="0" rIns="0" tIns="0" bIns="0">
            <a:spAutoFit/>
          </a:bodyPr>
          <a:lstStyle/>
          <a:p>
            <a:r>
              <a:rPr sz="1200" b="1" i="0">
                <a:solidFill>
                  <a:srgbClr val="1F2937"/>
                </a:solidFill>
                <a:latin typeface="Calibri"/>
              </a:rPr>
              <a:t>Sonic 3 &amp; Knuckles</a:t>
            </a:r>
          </a:p>
          <a:p>
            <a:r>
              <a:rPr sz="1200" b="1" i="0">
                <a:solidFill>
                  <a:srgbClr val="0D9488"/>
                </a:solidFill>
                <a:latin typeface="Calibri"/>
              </a:rPr>
              <a:t>17,0 M de unidades</a:t>
            </a:r>
          </a:p>
          <a:p>
            <a:r>
              <a:rPr sz="1000" b="0" i="0">
                <a:solidFill>
                  <a:srgbClr val="6B7280"/>
                </a:solidFill>
                <a:latin typeface="Calibri"/>
              </a:rPr>
              <a:t>1994 · Multiplataforma · Sega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21–30</a:t>
            </a:r>
          </a:p>
          <a:p>
            <a:r>
              <a:rPr sz="2600" b="1" i="0">
                <a:solidFill>
                  <a:srgbClr val="FFFFFF"/>
                </a:solidFill>
                <a:latin typeface="Calibri"/>
              </a:rPr>
              <a:t>Juegos de plataformas más vendidos (3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84/87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j21.png"/>
          <p:cNvPicPr>
            <a:picLocks noChangeAspect="1"/>
          </p:cNvPicPr>
          <p:nvPr/>
        </p:nvPicPr>
        <p:blipFill>
          <a:blip r:embed="rId2"/>
          <a:stretch>
            <a:fillRect/>
          </a:stretch>
        </p:blipFill>
        <p:spPr>
          <a:xfrm>
            <a:off x="898851" y="1234440"/>
            <a:ext cx="1445308" cy="1435608"/>
          </a:xfrm>
          <a:prstGeom prst="rect">
            <a:avLst/>
          </a:prstGeom>
        </p:spPr>
      </p:pic>
      <p:sp>
        <p:nvSpPr>
          <p:cNvPr id="10" name="Oval 9"/>
          <p:cNvSpPr/>
          <p:nvPr/>
        </p:nvSpPr>
        <p:spPr>
          <a:xfrm>
            <a:off x="2337755"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21</a:t>
            </a:r>
          </a:p>
        </p:txBody>
      </p:sp>
      <p:sp>
        <p:nvSpPr>
          <p:cNvPr id="11" name="TextBox 10"/>
          <p:cNvSpPr txBox="1"/>
          <p:nvPr/>
        </p:nvSpPr>
        <p:spPr>
          <a:xfrm>
            <a:off x="576072"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Bros. Wonder</a:t>
            </a:r>
          </a:p>
          <a:p>
            <a:r>
              <a:rPr sz="1200" b="1" i="0">
                <a:solidFill>
                  <a:srgbClr val="0D9488"/>
                </a:solidFill>
                <a:latin typeface="Calibri"/>
              </a:rPr>
              <a:t>16,0 M de unidades</a:t>
            </a:r>
          </a:p>
          <a:p>
            <a:r>
              <a:rPr sz="1000" b="0" i="0">
                <a:solidFill>
                  <a:srgbClr val="6B7280"/>
                </a:solidFill>
                <a:latin typeface="Calibri"/>
              </a:rPr>
              <a:t>2023 · Switch · Nintendo</a:t>
            </a:r>
          </a:p>
        </p:txBody>
      </p:sp>
      <p:pic>
        <p:nvPicPr>
          <p:cNvPr id="12" name="Picture 11" descr="j22.png"/>
          <p:cNvPicPr>
            <a:picLocks noChangeAspect="1"/>
          </p:cNvPicPr>
          <p:nvPr/>
        </p:nvPicPr>
        <p:blipFill>
          <a:blip r:embed="rId3"/>
          <a:stretch>
            <a:fillRect/>
          </a:stretch>
        </p:blipFill>
        <p:spPr>
          <a:xfrm>
            <a:off x="3342569" y="1234440"/>
            <a:ext cx="1032214" cy="1435608"/>
          </a:xfrm>
          <a:prstGeom prst="rect">
            <a:avLst/>
          </a:prstGeom>
        </p:spPr>
      </p:pic>
      <p:sp>
        <p:nvSpPr>
          <p:cNvPr id="13" name="Oval 12"/>
          <p:cNvSpPr/>
          <p:nvPr/>
        </p:nvSpPr>
        <p:spPr>
          <a:xfrm>
            <a:off x="4574926"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22</a:t>
            </a:r>
          </a:p>
        </p:txBody>
      </p:sp>
      <p:sp>
        <p:nvSpPr>
          <p:cNvPr id="14" name="TextBox 13"/>
          <p:cNvSpPr txBox="1"/>
          <p:nvPr/>
        </p:nvSpPr>
        <p:spPr>
          <a:xfrm>
            <a:off x="2813243"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Sunshine</a:t>
            </a:r>
          </a:p>
          <a:p>
            <a:r>
              <a:rPr sz="1200" b="1" i="0">
                <a:solidFill>
                  <a:srgbClr val="0D9488"/>
                </a:solidFill>
                <a:latin typeface="Calibri"/>
              </a:rPr>
              <a:t>15,4 M de unidades</a:t>
            </a:r>
          </a:p>
          <a:p>
            <a:r>
              <a:rPr sz="1000" b="0" i="0">
                <a:solidFill>
                  <a:srgbClr val="6B7280"/>
                </a:solidFill>
                <a:latin typeface="Calibri"/>
              </a:rPr>
              <a:t>2002 · GC, Switch · Nintendo</a:t>
            </a:r>
          </a:p>
        </p:txBody>
      </p:sp>
      <p:pic>
        <p:nvPicPr>
          <p:cNvPr id="15" name="Picture 14" descr="j23.jpg"/>
          <p:cNvPicPr>
            <a:picLocks noChangeAspect="1"/>
          </p:cNvPicPr>
          <p:nvPr/>
        </p:nvPicPr>
        <p:blipFill>
          <a:blip r:embed="rId4"/>
          <a:stretch>
            <a:fillRect/>
          </a:stretch>
        </p:blipFill>
        <p:spPr>
          <a:xfrm>
            <a:off x="5536442" y="1234440"/>
            <a:ext cx="1118811" cy="1435608"/>
          </a:xfrm>
          <a:prstGeom prst="rect">
            <a:avLst/>
          </a:prstGeom>
        </p:spPr>
      </p:pic>
      <p:sp>
        <p:nvSpPr>
          <p:cNvPr id="16" name="Oval 15"/>
          <p:cNvSpPr/>
          <p:nvPr/>
        </p:nvSpPr>
        <p:spPr>
          <a:xfrm>
            <a:off x="6812097"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23</a:t>
            </a:r>
          </a:p>
        </p:txBody>
      </p:sp>
      <p:sp>
        <p:nvSpPr>
          <p:cNvPr id="17" name="TextBox 16"/>
          <p:cNvSpPr txBox="1"/>
          <p:nvPr/>
        </p:nvSpPr>
        <p:spPr>
          <a:xfrm>
            <a:off x="5050414" y="2706624"/>
            <a:ext cx="2090867" cy="868680"/>
          </a:xfrm>
          <a:prstGeom prst="rect">
            <a:avLst/>
          </a:prstGeom>
          <a:noFill/>
        </p:spPr>
        <p:txBody>
          <a:bodyPr wrap="square" anchor="t" lIns="0" rIns="0" tIns="0" bIns="0">
            <a:spAutoFit/>
          </a:bodyPr>
          <a:lstStyle/>
          <a:p>
            <a:r>
              <a:rPr sz="1200" b="1" i="0">
                <a:solidFill>
                  <a:srgbClr val="1F2937"/>
                </a:solidFill>
                <a:latin typeface="Calibri"/>
              </a:rPr>
              <a:t>Prince of Persia: The Sands of Time</a:t>
            </a:r>
          </a:p>
          <a:p>
            <a:r>
              <a:rPr sz="1200" b="1" i="0">
                <a:solidFill>
                  <a:srgbClr val="0D9488"/>
                </a:solidFill>
                <a:latin typeface="Calibri"/>
              </a:rPr>
              <a:t>14,0 M de unidades</a:t>
            </a:r>
          </a:p>
          <a:p>
            <a:r>
              <a:rPr sz="1000" b="0" i="0">
                <a:solidFill>
                  <a:srgbClr val="6B7280"/>
                </a:solidFill>
                <a:latin typeface="Calibri"/>
              </a:rPr>
              <a:t>2003 · Multiplataforma · Ubisoft</a:t>
            </a:r>
          </a:p>
        </p:txBody>
      </p:sp>
      <p:pic>
        <p:nvPicPr>
          <p:cNvPr id="18" name="Picture 17" descr="j24.png"/>
          <p:cNvPicPr>
            <a:picLocks noChangeAspect="1"/>
          </p:cNvPicPr>
          <p:nvPr/>
        </p:nvPicPr>
        <p:blipFill>
          <a:blip r:embed="rId5"/>
          <a:stretch>
            <a:fillRect/>
          </a:stretch>
        </p:blipFill>
        <p:spPr>
          <a:xfrm>
            <a:off x="7615214" y="1234440"/>
            <a:ext cx="1435608" cy="1435608"/>
          </a:xfrm>
          <a:prstGeom prst="rect">
            <a:avLst/>
          </a:prstGeom>
        </p:spPr>
      </p:pic>
      <p:sp>
        <p:nvSpPr>
          <p:cNvPr id="19" name="Oval 18"/>
          <p:cNvSpPr/>
          <p:nvPr/>
        </p:nvSpPr>
        <p:spPr>
          <a:xfrm>
            <a:off x="904926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24</a:t>
            </a:r>
          </a:p>
        </p:txBody>
      </p:sp>
      <p:sp>
        <p:nvSpPr>
          <p:cNvPr id="20" name="TextBox 19"/>
          <p:cNvSpPr txBox="1"/>
          <p:nvPr/>
        </p:nvSpPr>
        <p:spPr>
          <a:xfrm>
            <a:off x="7287585" y="2706624"/>
            <a:ext cx="2090867" cy="868680"/>
          </a:xfrm>
          <a:prstGeom prst="rect">
            <a:avLst/>
          </a:prstGeom>
          <a:noFill/>
        </p:spPr>
        <p:txBody>
          <a:bodyPr wrap="square" anchor="t" lIns="0" rIns="0" tIns="0" bIns="0">
            <a:spAutoFit/>
          </a:bodyPr>
          <a:lstStyle/>
          <a:p>
            <a:r>
              <a:rPr sz="1200" b="1" i="0">
                <a:solidFill>
                  <a:srgbClr val="1F2937"/>
                </a:solidFill>
                <a:latin typeface="Calibri"/>
              </a:rPr>
              <a:t>New Super Mario Bros. 2</a:t>
            </a:r>
          </a:p>
          <a:p>
            <a:r>
              <a:rPr sz="1200" b="1" i="0">
                <a:solidFill>
                  <a:srgbClr val="0D9488"/>
                </a:solidFill>
                <a:latin typeface="Calibri"/>
              </a:rPr>
              <a:t>13,4 M de unidades</a:t>
            </a:r>
          </a:p>
          <a:p>
            <a:r>
              <a:rPr sz="1000" b="0" i="0">
                <a:solidFill>
                  <a:srgbClr val="6B7280"/>
                </a:solidFill>
                <a:latin typeface="Calibri"/>
              </a:rPr>
              <a:t>2012 · 3DS · Nintendo</a:t>
            </a:r>
          </a:p>
        </p:txBody>
      </p:sp>
      <p:pic>
        <p:nvPicPr>
          <p:cNvPr id="21" name="Picture 20" descr="j25.png"/>
          <p:cNvPicPr>
            <a:picLocks noChangeAspect="1"/>
          </p:cNvPicPr>
          <p:nvPr/>
        </p:nvPicPr>
        <p:blipFill>
          <a:blip r:embed="rId6"/>
          <a:stretch>
            <a:fillRect/>
          </a:stretch>
        </p:blipFill>
        <p:spPr>
          <a:xfrm>
            <a:off x="9540297" y="1234440"/>
            <a:ext cx="2059785" cy="1435608"/>
          </a:xfrm>
          <a:prstGeom prst="rect">
            <a:avLst/>
          </a:prstGeom>
        </p:spPr>
      </p:pic>
      <p:sp>
        <p:nvSpPr>
          <p:cNvPr id="22" name="Oval 21"/>
          <p:cNvSpPr/>
          <p:nvPr/>
        </p:nvSpPr>
        <p:spPr>
          <a:xfrm>
            <a:off x="1128643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25</a:t>
            </a:r>
          </a:p>
        </p:txBody>
      </p:sp>
      <p:sp>
        <p:nvSpPr>
          <p:cNvPr id="23" name="TextBox 22"/>
          <p:cNvSpPr txBox="1"/>
          <p:nvPr/>
        </p:nvSpPr>
        <p:spPr>
          <a:xfrm>
            <a:off x="9524756" y="2706624"/>
            <a:ext cx="2090867" cy="868680"/>
          </a:xfrm>
          <a:prstGeom prst="rect">
            <a:avLst/>
          </a:prstGeom>
          <a:noFill/>
        </p:spPr>
        <p:txBody>
          <a:bodyPr wrap="square" anchor="t" lIns="0" rIns="0" tIns="0" bIns="0">
            <a:spAutoFit/>
          </a:bodyPr>
          <a:lstStyle/>
          <a:p>
            <a:r>
              <a:rPr sz="1200" b="1" i="0">
                <a:solidFill>
                  <a:srgbClr val="1F2937"/>
                </a:solidFill>
                <a:latin typeface="Calibri"/>
              </a:rPr>
              <a:t>Donkey Kong Country</a:t>
            </a:r>
          </a:p>
          <a:p>
            <a:r>
              <a:rPr sz="1200" b="1" i="0">
                <a:solidFill>
                  <a:srgbClr val="0D9488"/>
                </a:solidFill>
                <a:latin typeface="Calibri"/>
              </a:rPr>
              <a:t>13,3 M de unidades</a:t>
            </a:r>
          </a:p>
          <a:p>
            <a:r>
              <a:rPr sz="1000" b="0" i="0">
                <a:solidFill>
                  <a:srgbClr val="6B7280"/>
                </a:solidFill>
                <a:latin typeface="Calibri"/>
              </a:rPr>
              <a:t>1994 · Multiplataforma · Nintendo</a:t>
            </a:r>
          </a:p>
        </p:txBody>
      </p:sp>
      <p:pic>
        <p:nvPicPr>
          <p:cNvPr id="24" name="Picture 23" descr="j26.jpg"/>
          <p:cNvPicPr>
            <a:picLocks noChangeAspect="1"/>
          </p:cNvPicPr>
          <p:nvPr/>
        </p:nvPicPr>
        <p:blipFill>
          <a:blip r:embed="rId7"/>
          <a:stretch>
            <a:fillRect/>
          </a:stretch>
        </p:blipFill>
        <p:spPr>
          <a:xfrm>
            <a:off x="903701" y="3611880"/>
            <a:ext cx="1435608" cy="1435608"/>
          </a:xfrm>
          <a:prstGeom prst="rect">
            <a:avLst/>
          </a:prstGeom>
        </p:spPr>
      </p:pic>
      <p:sp>
        <p:nvSpPr>
          <p:cNvPr id="25" name="Oval 24"/>
          <p:cNvSpPr/>
          <p:nvPr/>
        </p:nvSpPr>
        <p:spPr>
          <a:xfrm>
            <a:off x="2337755"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26</a:t>
            </a:r>
          </a:p>
        </p:txBody>
      </p:sp>
      <p:sp>
        <p:nvSpPr>
          <p:cNvPr id="26" name="TextBox 25"/>
          <p:cNvSpPr txBox="1"/>
          <p:nvPr/>
        </p:nvSpPr>
        <p:spPr>
          <a:xfrm>
            <a:off x="576072"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3D Land</a:t>
            </a:r>
          </a:p>
          <a:p>
            <a:r>
              <a:rPr sz="1200" b="1" i="0">
                <a:solidFill>
                  <a:srgbClr val="0D9488"/>
                </a:solidFill>
                <a:latin typeface="Calibri"/>
              </a:rPr>
              <a:t>12,9 M de unidades</a:t>
            </a:r>
          </a:p>
          <a:p>
            <a:r>
              <a:rPr sz="1000" b="0" i="0">
                <a:solidFill>
                  <a:srgbClr val="6B7280"/>
                </a:solidFill>
                <a:latin typeface="Calibri"/>
              </a:rPr>
              <a:t>2011 · 3DS · Nintendo</a:t>
            </a:r>
          </a:p>
        </p:txBody>
      </p:sp>
      <p:pic>
        <p:nvPicPr>
          <p:cNvPr id="27" name="Picture 26" descr="j27.jpg"/>
          <p:cNvPicPr>
            <a:picLocks noChangeAspect="1"/>
          </p:cNvPicPr>
          <p:nvPr/>
        </p:nvPicPr>
        <p:blipFill>
          <a:blip r:embed="rId8"/>
          <a:stretch>
            <a:fillRect/>
          </a:stretch>
        </p:blipFill>
        <p:spPr>
          <a:xfrm>
            <a:off x="2830912" y="3611880"/>
            <a:ext cx="2055529" cy="1435608"/>
          </a:xfrm>
          <a:prstGeom prst="rect">
            <a:avLst/>
          </a:prstGeom>
        </p:spPr>
      </p:pic>
      <p:sp>
        <p:nvSpPr>
          <p:cNvPr id="28" name="Oval 27"/>
          <p:cNvSpPr/>
          <p:nvPr/>
        </p:nvSpPr>
        <p:spPr>
          <a:xfrm>
            <a:off x="4574926"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27</a:t>
            </a:r>
          </a:p>
        </p:txBody>
      </p:sp>
      <p:sp>
        <p:nvSpPr>
          <p:cNvPr id="29" name="TextBox 28"/>
          <p:cNvSpPr txBox="1"/>
          <p:nvPr/>
        </p:nvSpPr>
        <p:spPr>
          <a:xfrm>
            <a:off x="2813243"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All-Stars</a:t>
            </a:r>
          </a:p>
          <a:p>
            <a:r>
              <a:rPr sz="1200" b="1" i="0">
                <a:solidFill>
                  <a:srgbClr val="0D9488"/>
                </a:solidFill>
                <a:latin typeface="Calibri"/>
              </a:rPr>
              <a:t>12,8 M de unidades</a:t>
            </a:r>
          </a:p>
          <a:p>
            <a:r>
              <a:rPr sz="1000" b="0" i="0">
                <a:solidFill>
                  <a:srgbClr val="6B7280"/>
                </a:solidFill>
                <a:latin typeface="Calibri"/>
              </a:rPr>
              <a:t>1993 · SNES, Wii · Nintendo</a:t>
            </a:r>
          </a:p>
        </p:txBody>
      </p:sp>
      <p:pic>
        <p:nvPicPr>
          <p:cNvPr id="30" name="Picture 29" descr="j28.jpg"/>
          <p:cNvPicPr>
            <a:picLocks noChangeAspect="1"/>
          </p:cNvPicPr>
          <p:nvPr/>
        </p:nvPicPr>
        <p:blipFill>
          <a:blip r:embed="rId9"/>
          <a:stretch>
            <a:fillRect/>
          </a:stretch>
        </p:blipFill>
        <p:spPr>
          <a:xfrm>
            <a:off x="5292336" y="3611880"/>
            <a:ext cx="1607023" cy="1435608"/>
          </a:xfrm>
          <a:prstGeom prst="rect">
            <a:avLst/>
          </a:prstGeom>
        </p:spPr>
      </p:pic>
      <p:sp>
        <p:nvSpPr>
          <p:cNvPr id="31" name="Oval 30"/>
          <p:cNvSpPr/>
          <p:nvPr/>
        </p:nvSpPr>
        <p:spPr>
          <a:xfrm>
            <a:off x="6812097"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28</a:t>
            </a:r>
          </a:p>
        </p:txBody>
      </p:sp>
      <p:sp>
        <p:nvSpPr>
          <p:cNvPr id="32" name="TextBox 31"/>
          <p:cNvSpPr txBox="1"/>
          <p:nvPr/>
        </p:nvSpPr>
        <p:spPr>
          <a:xfrm>
            <a:off x="5050414"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Land 2</a:t>
            </a:r>
          </a:p>
          <a:p>
            <a:r>
              <a:rPr sz="1200" b="1" i="0">
                <a:solidFill>
                  <a:srgbClr val="0D9488"/>
                </a:solidFill>
                <a:latin typeface="Calibri"/>
              </a:rPr>
              <a:t>11,2 M de unidades</a:t>
            </a:r>
          </a:p>
          <a:p>
            <a:r>
              <a:rPr sz="1000" b="0" i="0">
                <a:solidFill>
                  <a:srgbClr val="6B7280"/>
                </a:solidFill>
                <a:latin typeface="Calibri"/>
              </a:rPr>
              <a:t>1992 · Game Boy · Nintendo</a:t>
            </a:r>
          </a:p>
        </p:txBody>
      </p:sp>
      <p:pic>
        <p:nvPicPr>
          <p:cNvPr id="33" name="Picture 32" descr="j29.png"/>
          <p:cNvPicPr>
            <a:picLocks noChangeAspect="1"/>
          </p:cNvPicPr>
          <p:nvPr/>
        </p:nvPicPr>
        <p:blipFill>
          <a:blip r:embed="rId10"/>
          <a:stretch>
            <a:fillRect/>
          </a:stretch>
        </p:blipFill>
        <p:spPr>
          <a:xfrm>
            <a:off x="7287585" y="4131052"/>
            <a:ext cx="2090867" cy="397264"/>
          </a:xfrm>
          <a:prstGeom prst="rect">
            <a:avLst/>
          </a:prstGeom>
        </p:spPr>
      </p:pic>
      <p:sp>
        <p:nvSpPr>
          <p:cNvPr id="34" name="Oval 33"/>
          <p:cNvSpPr/>
          <p:nvPr/>
        </p:nvSpPr>
        <p:spPr>
          <a:xfrm>
            <a:off x="904926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29</a:t>
            </a:r>
          </a:p>
        </p:txBody>
      </p:sp>
      <p:sp>
        <p:nvSpPr>
          <p:cNvPr id="35" name="TextBox 34"/>
          <p:cNvSpPr txBox="1"/>
          <p:nvPr/>
        </p:nvSpPr>
        <p:spPr>
          <a:xfrm>
            <a:off x="7287585" y="5084064"/>
            <a:ext cx="2090867" cy="868680"/>
          </a:xfrm>
          <a:prstGeom prst="rect">
            <a:avLst/>
          </a:prstGeom>
          <a:noFill/>
        </p:spPr>
        <p:txBody>
          <a:bodyPr wrap="square" anchor="t" lIns="0" rIns="0" tIns="0" bIns="0">
            <a:spAutoFit/>
          </a:bodyPr>
          <a:lstStyle/>
          <a:p>
            <a:r>
              <a:rPr sz="1200" b="1" i="0">
                <a:solidFill>
                  <a:srgbClr val="1F2937"/>
                </a:solidFill>
                <a:latin typeface="Calibri"/>
              </a:rPr>
              <a:t>Fall Guys: Ultimate Knockout</a:t>
            </a:r>
          </a:p>
          <a:p>
            <a:r>
              <a:rPr sz="1200" b="1" i="0">
                <a:solidFill>
                  <a:srgbClr val="0D9488"/>
                </a:solidFill>
                <a:latin typeface="Calibri"/>
              </a:rPr>
              <a:t>11,0 M de unidades</a:t>
            </a:r>
          </a:p>
          <a:p>
            <a:r>
              <a:rPr sz="1000" b="0" i="0">
                <a:solidFill>
                  <a:srgbClr val="6B7280"/>
                </a:solidFill>
                <a:latin typeface="Calibri"/>
              </a:rPr>
              <a:t>2020 · Multiplataforma · Epic Games</a:t>
            </a:r>
          </a:p>
        </p:txBody>
      </p:sp>
      <p:pic>
        <p:nvPicPr>
          <p:cNvPr id="36" name="Picture 35" descr="j30.jpg"/>
          <p:cNvPicPr>
            <a:picLocks noChangeAspect="1"/>
          </p:cNvPicPr>
          <p:nvPr/>
        </p:nvPicPr>
        <p:blipFill>
          <a:blip r:embed="rId11"/>
          <a:stretch>
            <a:fillRect/>
          </a:stretch>
        </p:blipFill>
        <p:spPr>
          <a:xfrm>
            <a:off x="10064694" y="3611880"/>
            <a:ext cx="1010991" cy="1435608"/>
          </a:xfrm>
          <a:prstGeom prst="rect">
            <a:avLst/>
          </a:prstGeom>
        </p:spPr>
      </p:pic>
      <p:sp>
        <p:nvSpPr>
          <p:cNvPr id="37" name="Oval 36"/>
          <p:cNvSpPr/>
          <p:nvPr/>
        </p:nvSpPr>
        <p:spPr>
          <a:xfrm>
            <a:off x="1128643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30</a:t>
            </a:r>
          </a:p>
        </p:txBody>
      </p:sp>
      <p:sp>
        <p:nvSpPr>
          <p:cNvPr id="38" name="TextBox 37"/>
          <p:cNvSpPr txBox="1"/>
          <p:nvPr/>
        </p:nvSpPr>
        <p:spPr>
          <a:xfrm>
            <a:off x="9524756" y="5084064"/>
            <a:ext cx="2090867" cy="868680"/>
          </a:xfrm>
          <a:prstGeom prst="rect">
            <a:avLst/>
          </a:prstGeom>
          <a:noFill/>
        </p:spPr>
        <p:txBody>
          <a:bodyPr wrap="square" anchor="t" lIns="0" rIns="0" tIns="0" bIns="0">
            <a:spAutoFit/>
          </a:bodyPr>
          <a:lstStyle/>
          <a:p>
            <a:r>
              <a:rPr sz="1200" b="1" i="0">
                <a:solidFill>
                  <a:srgbClr val="1F2937"/>
                </a:solidFill>
                <a:latin typeface="Calibri"/>
              </a:rPr>
              <a:t>Donkey Kong Country Returns</a:t>
            </a:r>
          </a:p>
          <a:p>
            <a:r>
              <a:rPr sz="1200" b="1" i="0">
                <a:solidFill>
                  <a:srgbClr val="0D9488"/>
                </a:solidFill>
                <a:latin typeface="Calibri"/>
              </a:rPr>
              <a:t>10,7 M de unidades</a:t>
            </a:r>
          </a:p>
          <a:p>
            <a:r>
              <a:rPr sz="1000" b="0" i="0">
                <a:solidFill>
                  <a:srgbClr val="6B7280"/>
                </a:solidFill>
                <a:latin typeface="Calibri"/>
              </a:rPr>
              <a:t>2010 · Multiplataforma · Nintendo</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31–41</a:t>
            </a:r>
          </a:p>
          <a:p>
            <a:r>
              <a:rPr sz="2600" b="1" i="0">
                <a:solidFill>
                  <a:srgbClr val="FFFFFF"/>
                </a:solidFill>
                <a:latin typeface="Calibri"/>
              </a:rPr>
              <a:t>Juegos de plataformas más vendidos (4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85/87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 El puesto 37 no figura en la fuente</a:t>
            </a:r>
          </a:p>
        </p:txBody>
      </p:sp>
      <p:pic>
        <p:nvPicPr>
          <p:cNvPr id="9" name="Picture 8" descr="j31.png"/>
          <p:cNvPicPr>
            <a:picLocks noChangeAspect="1"/>
          </p:cNvPicPr>
          <p:nvPr/>
        </p:nvPicPr>
        <p:blipFill>
          <a:blip r:embed="rId2"/>
          <a:stretch>
            <a:fillRect/>
          </a:stretch>
        </p:blipFill>
        <p:spPr>
          <a:xfrm>
            <a:off x="987018" y="1234440"/>
            <a:ext cx="1268974" cy="1435608"/>
          </a:xfrm>
          <a:prstGeom prst="rect">
            <a:avLst/>
          </a:prstGeom>
        </p:spPr>
      </p:pic>
      <p:sp>
        <p:nvSpPr>
          <p:cNvPr id="10" name="Oval 9"/>
          <p:cNvSpPr/>
          <p:nvPr/>
        </p:nvSpPr>
        <p:spPr>
          <a:xfrm>
            <a:off x="2337755"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31</a:t>
            </a:r>
          </a:p>
        </p:txBody>
      </p:sp>
      <p:sp>
        <p:nvSpPr>
          <p:cNvPr id="11" name="TextBox 10"/>
          <p:cNvSpPr txBox="1"/>
          <p:nvPr/>
        </p:nvSpPr>
        <p:spPr>
          <a:xfrm>
            <a:off x="576072" y="2706624"/>
            <a:ext cx="2090867" cy="868680"/>
          </a:xfrm>
          <a:prstGeom prst="rect">
            <a:avLst/>
          </a:prstGeom>
          <a:noFill/>
        </p:spPr>
        <p:txBody>
          <a:bodyPr wrap="square" anchor="t" lIns="0" rIns="0" tIns="0" bIns="0">
            <a:spAutoFit/>
          </a:bodyPr>
          <a:lstStyle/>
          <a:p>
            <a:r>
              <a:rPr sz="1200" b="1" i="0">
                <a:solidFill>
                  <a:srgbClr val="1F2937"/>
                </a:solidFill>
                <a:latin typeface="Calibri"/>
              </a:rPr>
              <a:t>Spyro Reignited Trilogy</a:t>
            </a:r>
          </a:p>
          <a:p>
            <a:r>
              <a:rPr sz="1200" b="1" i="0">
                <a:solidFill>
                  <a:srgbClr val="0D9488"/>
                </a:solidFill>
                <a:latin typeface="Calibri"/>
              </a:rPr>
              <a:t>10,0 M de unidades</a:t>
            </a:r>
          </a:p>
          <a:p>
            <a:r>
              <a:rPr sz="1000" b="0" i="0">
                <a:solidFill>
                  <a:srgbClr val="6B7280"/>
                </a:solidFill>
                <a:latin typeface="Calibri"/>
              </a:rPr>
              <a:t>2018 · Multiplataforma · Activision</a:t>
            </a:r>
          </a:p>
        </p:txBody>
      </p:sp>
      <p:pic>
        <p:nvPicPr>
          <p:cNvPr id="12" name="Picture 11" descr="j32.png"/>
          <p:cNvPicPr>
            <a:picLocks noChangeAspect="1"/>
          </p:cNvPicPr>
          <p:nvPr/>
        </p:nvPicPr>
        <p:blipFill>
          <a:blip r:embed="rId3"/>
          <a:stretch>
            <a:fillRect/>
          </a:stretch>
        </p:blipFill>
        <p:spPr>
          <a:xfrm>
            <a:off x="3133622" y="1234440"/>
            <a:ext cx="1450109" cy="1435608"/>
          </a:xfrm>
          <a:prstGeom prst="rect">
            <a:avLst/>
          </a:prstGeom>
        </p:spPr>
      </p:pic>
      <p:sp>
        <p:nvSpPr>
          <p:cNvPr id="13" name="Oval 12"/>
          <p:cNvSpPr/>
          <p:nvPr/>
        </p:nvSpPr>
        <p:spPr>
          <a:xfrm>
            <a:off x="4574926"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32</a:t>
            </a:r>
          </a:p>
        </p:txBody>
      </p:sp>
      <p:sp>
        <p:nvSpPr>
          <p:cNvPr id="14" name="TextBox 13"/>
          <p:cNvSpPr txBox="1"/>
          <p:nvPr/>
        </p:nvSpPr>
        <p:spPr>
          <a:xfrm>
            <a:off x="2813243" y="2706624"/>
            <a:ext cx="2090867" cy="868680"/>
          </a:xfrm>
          <a:prstGeom prst="rect">
            <a:avLst/>
          </a:prstGeom>
          <a:noFill/>
        </p:spPr>
        <p:txBody>
          <a:bodyPr wrap="square" anchor="t" lIns="0" rIns="0" tIns="0" bIns="0">
            <a:spAutoFit/>
          </a:bodyPr>
          <a:lstStyle/>
          <a:p>
            <a:r>
              <a:rPr sz="1200" b="1" i="0">
                <a:solidFill>
                  <a:srgbClr val="1F2937"/>
                </a:solidFill>
                <a:latin typeface="Calibri"/>
              </a:rPr>
              <a:t>Sonic Adventure</a:t>
            </a:r>
          </a:p>
          <a:p>
            <a:r>
              <a:rPr sz="1200" b="1" i="0">
                <a:solidFill>
                  <a:srgbClr val="0D9488"/>
                </a:solidFill>
                <a:latin typeface="Calibri"/>
              </a:rPr>
              <a:t>9,5 M de unidades</a:t>
            </a:r>
          </a:p>
          <a:p>
            <a:r>
              <a:rPr sz="1000" b="0" i="0">
                <a:solidFill>
                  <a:srgbClr val="6B7280"/>
                </a:solidFill>
                <a:latin typeface="Calibri"/>
              </a:rPr>
              <a:t>1998 · Multiplataforma · Sega</a:t>
            </a:r>
          </a:p>
        </p:txBody>
      </p:sp>
      <p:pic>
        <p:nvPicPr>
          <p:cNvPr id="15" name="Picture 14" descr="j33.jpg"/>
          <p:cNvPicPr>
            <a:picLocks noChangeAspect="1"/>
          </p:cNvPicPr>
          <p:nvPr/>
        </p:nvPicPr>
        <p:blipFill>
          <a:blip r:embed="rId4"/>
          <a:stretch>
            <a:fillRect/>
          </a:stretch>
        </p:blipFill>
        <p:spPr>
          <a:xfrm>
            <a:off x="5583405" y="1234440"/>
            <a:ext cx="1024885" cy="1435608"/>
          </a:xfrm>
          <a:prstGeom prst="rect">
            <a:avLst/>
          </a:prstGeom>
        </p:spPr>
      </p:pic>
      <p:sp>
        <p:nvSpPr>
          <p:cNvPr id="16" name="Oval 15"/>
          <p:cNvSpPr/>
          <p:nvPr/>
        </p:nvSpPr>
        <p:spPr>
          <a:xfrm>
            <a:off x="6812097"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33</a:t>
            </a:r>
          </a:p>
        </p:txBody>
      </p:sp>
      <p:sp>
        <p:nvSpPr>
          <p:cNvPr id="17" name="TextBox 16"/>
          <p:cNvSpPr txBox="1"/>
          <p:nvPr/>
        </p:nvSpPr>
        <p:spPr>
          <a:xfrm>
            <a:off x="5050414"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3D All-Stars</a:t>
            </a:r>
          </a:p>
          <a:p>
            <a:r>
              <a:rPr sz="1200" b="1" i="0">
                <a:solidFill>
                  <a:srgbClr val="0D9488"/>
                </a:solidFill>
                <a:latin typeface="Calibri"/>
              </a:rPr>
              <a:t>9,1 M de unidades</a:t>
            </a:r>
          </a:p>
          <a:p>
            <a:r>
              <a:rPr sz="1000" b="0" i="0">
                <a:solidFill>
                  <a:srgbClr val="6B7280"/>
                </a:solidFill>
                <a:latin typeface="Calibri"/>
              </a:rPr>
              <a:t>2020 · Switch · Nintendo</a:t>
            </a:r>
          </a:p>
        </p:txBody>
      </p:sp>
      <p:pic>
        <p:nvPicPr>
          <p:cNvPr id="18" name="Picture 17" descr="j34.png"/>
          <p:cNvPicPr>
            <a:picLocks noChangeAspect="1"/>
          </p:cNvPicPr>
          <p:nvPr/>
        </p:nvPicPr>
        <p:blipFill>
          <a:blip r:embed="rId5"/>
          <a:stretch>
            <a:fillRect/>
          </a:stretch>
        </p:blipFill>
        <p:spPr>
          <a:xfrm>
            <a:off x="7615214" y="1234440"/>
            <a:ext cx="1435608" cy="1435608"/>
          </a:xfrm>
          <a:prstGeom prst="rect">
            <a:avLst/>
          </a:prstGeom>
        </p:spPr>
      </p:pic>
      <p:sp>
        <p:nvSpPr>
          <p:cNvPr id="19" name="Oval 18"/>
          <p:cNvSpPr/>
          <p:nvPr/>
        </p:nvSpPr>
        <p:spPr>
          <a:xfrm>
            <a:off x="904926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34</a:t>
            </a:r>
          </a:p>
        </p:txBody>
      </p:sp>
      <p:sp>
        <p:nvSpPr>
          <p:cNvPr id="20" name="TextBox 19"/>
          <p:cNvSpPr txBox="1"/>
          <p:nvPr/>
        </p:nvSpPr>
        <p:spPr>
          <a:xfrm>
            <a:off x="7287585" y="2706624"/>
            <a:ext cx="2090867" cy="868680"/>
          </a:xfrm>
          <a:prstGeom prst="rect">
            <a:avLst/>
          </a:prstGeom>
          <a:noFill/>
        </p:spPr>
        <p:txBody>
          <a:bodyPr wrap="square" anchor="t" lIns="0" rIns="0" tIns="0" bIns="0">
            <a:spAutoFit/>
          </a:bodyPr>
          <a:lstStyle/>
          <a:p>
            <a:r>
              <a:rPr sz="1200" b="1" i="0">
                <a:solidFill>
                  <a:srgbClr val="1F2937"/>
                </a:solidFill>
                <a:latin typeface="Calibri"/>
              </a:rPr>
              <a:t>Sonic Jump</a:t>
            </a:r>
          </a:p>
          <a:p>
            <a:r>
              <a:rPr sz="1200" b="1" i="0">
                <a:solidFill>
                  <a:srgbClr val="0D9488"/>
                </a:solidFill>
                <a:latin typeface="Calibri"/>
              </a:rPr>
              <a:t>8,8 M de unidades</a:t>
            </a:r>
          </a:p>
          <a:p>
            <a:r>
              <a:rPr sz="1000" b="0" i="0">
                <a:solidFill>
                  <a:srgbClr val="6B7280"/>
                </a:solidFill>
                <a:latin typeface="Calibri"/>
              </a:rPr>
              <a:t>2005 · Móvil · Sega</a:t>
            </a:r>
          </a:p>
        </p:txBody>
      </p:sp>
      <p:pic>
        <p:nvPicPr>
          <p:cNvPr id="21" name="Picture 20" descr="j35.jpg"/>
          <p:cNvPicPr>
            <a:picLocks noChangeAspect="1"/>
          </p:cNvPicPr>
          <p:nvPr/>
        </p:nvPicPr>
        <p:blipFill>
          <a:blip r:embed="rId6"/>
          <a:stretch>
            <a:fillRect/>
          </a:stretch>
        </p:blipFill>
        <p:spPr>
          <a:xfrm>
            <a:off x="9852385" y="1234440"/>
            <a:ext cx="1435608" cy="1435608"/>
          </a:xfrm>
          <a:prstGeom prst="rect">
            <a:avLst/>
          </a:prstGeom>
        </p:spPr>
      </p:pic>
      <p:sp>
        <p:nvSpPr>
          <p:cNvPr id="22" name="Oval 21"/>
          <p:cNvSpPr/>
          <p:nvPr/>
        </p:nvSpPr>
        <p:spPr>
          <a:xfrm>
            <a:off x="1128643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35</a:t>
            </a:r>
          </a:p>
        </p:txBody>
      </p:sp>
      <p:sp>
        <p:nvSpPr>
          <p:cNvPr id="23" name="TextBox 22"/>
          <p:cNvSpPr txBox="1"/>
          <p:nvPr/>
        </p:nvSpPr>
        <p:spPr>
          <a:xfrm>
            <a:off x="9524756"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Maker 2</a:t>
            </a:r>
          </a:p>
          <a:p>
            <a:r>
              <a:rPr sz="1200" b="1" i="0">
                <a:solidFill>
                  <a:srgbClr val="0D9488"/>
                </a:solidFill>
                <a:latin typeface="Calibri"/>
              </a:rPr>
              <a:t>8,4 M de unidades</a:t>
            </a:r>
          </a:p>
          <a:p>
            <a:r>
              <a:rPr sz="1000" b="0" i="0">
                <a:solidFill>
                  <a:srgbClr val="6B7280"/>
                </a:solidFill>
                <a:latin typeface="Calibri"/>
              </a:rPr>
              <a:t>2019 · Switch · Nintendo</a:t>
            </a:r>
          </a:p>
        </p:txBody>
      </p:sp>
      <p:pic>
        <p:nvPicPr>
          <p:cNvPr id="24" name="Picture 23" descr="j36.png"/>
          <p:cNvPicPr>
            <a:picLocks noChangeAspect="1"/>
          </p:cNvPicPr>
          <p:nvPr/>
        </p:nvPicPr>
        <p:blipFill>
          <a:blip r:embed="rId7"/>
          <a:stretch>
            <a:fillRect/>
          </a:stretch>
        </p:blipFill>
        <p:spPr>
          <a:xfrm>
            <a:off x="903701" y="3611880"/>
            <a:ext cx="1435608" cy="1435608"/>
          </a:xfrm>
          <a:prstGeom prst="rect">
            <a:avLst/>
          </a:prstGeom>
        </p:spPr>
      </p:pic>
      <p:sp>
        <p:nvSpPr>
          <p:cNvPr id="25" name="Oval 24"/>
          <p:cNvSpPr/>
          <p:nvPr/>
        </p:nvSpPr>
        <p:spPr>
          <a:xfrm>
            <a:off x="2337755"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36</a:t>
            </a:r>
          </a:p>
        </p:txBody>
      </p:sp>
      <p:sp>
        <p:nvSpPr>
          <p:cNvPr id="26" name="TextBox 25"/>
          <p:cNvSpPr txBox="1"/>
          <p:nvPr/>
        </p:nvSpPr>
        <p:spPr>
          <a:xfrm>
            <a:off x="576072" y="5084064"/>
            <a:ext cx="2090867" cy="868680"/>
          </a:xfrm>
          <a:prstGeom prst="rect">
            <a:avLst/>
          </a:prstGeom>
          <a:noFill/>
        </p:spPr>
        <p:txBody>
          <a:bodyPr wrap="square" anchor="t" lIns="0" rIns="0" tIns="0" bIns="0">
            <a:spAutoFit/>
          </a:bodyPr>
          <a:lstStyle/>
          <a:p>
            <a:r>
              <a:rPr sz="1200" b="1" i="0">
                <a:solidFill>
                  <a:srgbClr val="1F2937"/>
                </a:solidFill>
                <a:latin typeface="Calibri"/>
              </a:rPr>
              <a:t>Sonic Adventure 2</a:t>
            </a:r>
          </a:p>
          <a:p>
            <a:r>
              <a:rPr sz="1200" b="1" i="0">
                <a:solidFill>
                  <a:srgbClr val="0D9488"/>
                </a:solidFill>
                <a:latin typeface="Calibri"/>
              </a:rPr>
              <a:t>8,3 M de unidades</a:t>
            </a:r>
          </a:p>
          <a:p>
            <a:r>
              <a:rPr sz="1000" b="0" i="0">
                <a:solidFill>
                  <a:srgbClr val="6B7280"/>
                </a:solidFill>
                <a:latin typeface="Calibri"/>
              </a:rPr>
              <a:t>2001 · Multiplataforma · Sega</a:t>
            </a:r>
          </a:p>
        </p:txBody>
      </p:sp>
      <p:pic>
        <p:nvPicPr>
          <p:cNvPr id="27" name="Picture 26" descr="j37.png"/>
          <p:cNvPicPr>
            <a:picLocks noChangeAspect="1"/>
          </p:cNvPicPr>
          <p:nvPr/>
        </p:nvPicPr>
        <p:blipFill>
          <a:blip r:embed="rId8"/>
          <a:stretch>
            <a:fillRect/>
          </a:stretch>
        </p:blipFill>
        <p:spPr>
          <a:xfrm>
            <a:off x="2827004" y="3611880"/>
            <a:ext cx="2063345" cy="1435608"/>
          </a:xfrm>
          <a:prstGeom prst="rect">
            <a:avLst/>
          </a:prstGeom>
        </p:spPr>
      </p:pic>
      <p:sp>
        <p:nvSpPr>
          <p:cNvPr id="28" name="Oval 27"/>
          <p:cNvSpPr/>
          <p:nvPr/>
        </p:nvSpPr>
        <p:spPr>
          <a:xfrm>
            <a:off x="4574926"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38</a:t>
            </a:r>
          </a:p>
        </p:txBody>
      </p:sp>
      <p:sp>
        <p:nvSpPr>
          <p:cNvPr id="29" name="TextBox 28"/>
          <p:cNvSpPr txBox="1"/>
          <p:nvPr/>
        </p:nvSpPr>
        <p:spPr>
          <a:xfrm>
            <a:off x="2813243" y="5084064"/>
            <a:ext cx="2090867" cy="868680"/>
          </a:xfrm>
          <a:prstGeom prst="rect">
            <a:avLst/>
          </a:prstGeom>
          <a:noFill/>
        </p:spPr>
        <p:txBody>
          <a:bodyPr wrap="square" anchor="t" lIns="0" rIns="0" tIns="0" bIns="0">
            <a:spAutoFit/>
          </a:bodyPr>
          <a:lstStyle/>
          <a:p>
            <a:r>
              <a:rPr sz="1200" b="1" i="0">
                <a:solidFill>
                  <a:srgbClr val="1F2937"/>
                </a:solidFill>
                <a:latin typeface="Calibri"/>
              </a:rPr>
              <a:t>Mega Man X</a:t>
            </a:r>
          </a:p>
          <a:p>
            <a:r>
              <a:rPr sz="1200" b="1" i="0">
                <a:solidFill>
                  <a:srgbClr val="0D9488"/>
                </a:solidFill>
                <a:latin typeface="Calibri"/>
              </a:rPr>
              <a:t>7,9 M de unidades</a:t>
            </a:r>
          </a:p>
          <a:p>
            <a:r>
              <a:rPr sz="1000" b="0" i="0">
                <a:solidFill>
                  <a:srgbClr val="6B7280"/>
                </a:solidFill>
                <a:latin typeface="Calibri"/>
              </a:rPr>
              <a:t>1993 · Multiplataforma · Capcom</a:t>
            </a:r>
          </a:p>
        </p:txBody>
      </p:sp>
      <p:pic>
        <p:nvPicPr>
          <p:cNvPr id="30" name="Picture 29" descr="j38.jpg"/>
          <p:cNvPicPr>
            <a:picLocks noChangeAspect="1"/>
          </p:cNvPicPr>
          <p:nvPr/>
        </p:nvPicPr>
        <p:blipFill>
          <a:blip r:embed="rId9"/>
          <a:stretch>
            <a:fillRect/>
          </a:stretch>
        </p:blipFill>
        <p:spPr>
          <a:xfrm>
            <a:off x="5671132" y="3611880"/>
            <a:ext cx="849430" cy="1435608"/>
          </a:xfrm>
          <a:prstGeom prst="rect">
            <a:avLst/>
          </a:prstGeom>
        </p:spPr>
      </p:pic>
      <p:sp>
        <p:nvSpPr>
          <p:cNvPr id="31" name="Oval 30"/>
          <p:cNvSpPr/>
          <p:nvPr/>
        </p:nvSpPr>
        <p:spPr>
          <a:xfrm>
            <a:off x="6812097"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39</a:t>
            </a:r>
          </a:p>
        </p:txBody>
      </p:sp>
      <p:sp>
        <p:nvSpPr>
          <p:cNvPr id="32" name="TextBox 31"/>
          <p:cNvSpPr txBox="1"/>
          <p:nvPr/>
        </p:nvSpPr>
        <p:spPr>
          <a:xfrm>
            <a:off x="5050414" y="5084064"/>
            <a:ext cx="2090867" cy="868680"/>
          </a:xfrm>
          <a:prstGeom prst="rect">
            <a:avLst/>
          </a:prstGeom>
          <a:noFill/>
        </p:spPr>
        <p:txBody>
          <a:bodyPr wrap="square" anchor="t" lIns="0" rIns="0" tIns="0" bIns="0">
            <a:spAutoFit/>
          </a:bodyPr>
          <a:lstStyle/>
          <a:p>
            <a:r>
              <a:rPr sz="1200" b="1" i="0">
                <a:solidFill>
                  <a:srgbClr val="1F2937"/>
                </a:solidFill>
                <a:latin typeface="Calibri"/>
              </a:rPr>
              <a:t>Sonic CD</a:t>
            </a:r>
          </a:p>
          <a:p>
            <a:r>
              <a:rPr sz="1200" b="1" i="0">
                <a:solidFill>
                  <a:srgbClr val="0D9488"/>
                </a:solidFill>
                <a:latin typeface="Calibri"/>
              </a:rPr>
              <a:t>7,9 M de unidades</a:t>
            </a:r>
          </a:p>
          <a:p>
            <a:r>
              <a:rPr sz="1000" b="0" i="0">
                <a:solidFill>
                  <a:srgbClr val="6B7280"/>
                </a:solidFill>
                <a:latin typeface="Calibri"/>
              </a:rPr>
              <a:t>1993 · Multiplataforma · Sega</a:t>
            </a:r>
          </a:p>
        </p:txBody>
      </p:sp>
      <p:pic>
        <p:nvPicPr>
          <p:cNvPr id="33" name="Picture 32" descr="j39.jpg"/>
          <p:cNvPicPr>
            <a:picLocks noChangeAspect="1"/>
          </p:cNvPicPr>
          <p:nvPr/>
        </p:nvPicPr>
        <p:blipFill>
          <a:blip r:embed="rId10"/>
          <a:stretch>
            <a:fillRect/>
          </a:stretch>
        </p:blipFill>
        <p:spPr>
          <a:xfrm>
            <a:off x="7826095" y="3611880"/>
            <a:ext cx="1013847" cy="1435608"/>
          </a:xfrm>
          <a:prstGeom prst="rect">
            <a:avLst/>
          </a:prstGeom>
        </p:spPr>
      </p:pic>
      <p:sp>
        <p:nvSpPr>
          <p:cNvPr id="34" name="Oval 33"/>
          <p:cNvSpPr/>
          <p:nvPr/>
        </p:nvSpPr>
        <p:spPr>
          <a:xfrm>
            <a:off x="904926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40</a:t>
            </a:r>
          </a:p>
        </p:txBody>
      </p:sp>
      <p:sp>
        <p:nvSpPr>
          <p:cNvPr id="35" name="TextBox 34"/>
          <p:cNvSpPr txBox="1"/>
          <p:nvPr/>
        </p:nvSpPr>
        <p:spPr>
          <a:xfrm>
            <a:off x="7287585" y="5084064"/>
            <a:ext cx="2090867" cy="868680"/>
          </a:xfrm>
          <a:prstGeom prst="rect">
            <a:avLst/>
          </a:prstGeom>
          <a:noFill/>
        </p:spPr>
        <p:txBody>
          <a:bodyPr wrap="square" anchor="t" lIns="0" rIns="0" tIns="0" bIns="0">
            <a:spAutoFit/>
          </a:bodyPr>
          <a:lstStyle/>
          <a:p>
            <a:r>
              <a:rPr sz="1200" b="1" i="0">
                <a:solidFill>
                  <a:srgbClr val="1F2937"/>
                </a:solidFill>
                <a:latin typeface="Calibri"/>
              </a:rPr>
              <a:t>Super Mario Maker</a:t>
            </a:r>
          </a:p>
          <a:p>
            <a:r>
              <a:rPr sz="1200" b="1" i="0">
                <a:solidFill>
                  <a:srgbClr val="0D9488"/>
                </a:solidFill>
                <a:latin typeface="Calibri"/>
              </a:rPr>
              <a:t>7,8 M de unidades</a:t>
            </a:r>
          </a:p>
          <a:p>
            <a:r>
              <a:rPr sz="1000" b="0" i="0">
                <a:solidFill>
                  <a:srgbClr val="6B7280"/>
                </a:solidFill>
                <a:latin typeface="Calibri"/>
              </a:rPr>
              <a:t>2015 · Wii U, 3DS · Nintendo</a:t>
            </a:r>
          </a:p>
        </p:txBody>
      </p:sp>
      <p:pic>
        <p:nvPicPr>
          <p:cNvPr id="36" name="Picture 35" descr="j40.jpg"/>
          <p:cNvPicPr>
            <a:picLocks noChangeAspect="1"/>
          </p:cNvPicPr>
          <p:nvPr/>
        </p:nvPicPr>
        <p:blipFill>
          <a:blip r:embed="rId11"/>
          <a:stretch>
            <a:fillRect/>
          </a:stretch>
        </p:blipFill>
        <p:spPr>
          <a:xfrm>
            <a:off x="9859492" y="3611880"/>
            <a:ext cx="1421394" cy="1435608"/>
          </a:xfrm>
          <a:prstGeom prst="rect">
            <a:avLst/>
          </a:prstGeom>
        </p:spPr>
      </p:pic>
      <p:sp>
        <p:nvSpPr>
          <p:cNvPr id="37" name="Oval 36"/>
          <p:cNvSpPr/>
          <p:nvPr/>
        </p:nvSpPr>
        <p:spPr>
          <a:xfrm>
            <a:off x="11286439"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41</a:t>
            </a:r>
          </a:p>
        </p:txBody>
      </p:sp>
      <p:sp>
        <p:nvSpPr>
          <p:cNvPr id="38" name="TextBox 37"/>
          <p:cNvSpPr txBox="1"/>
          <p:nvPr/>
        </p:nvSpPr>
        <p:spPr>
          <a:xfrm>
            <a:off x="9524756" y="5084064"/>
            <a:ext cx="2090867" cy="868680"/>
          </a:xfrm>
          <a:prstGeom prst="rect">
            <a:avLst/>
          </a:prstGeom>
          <a:noFill/>
        </p:spPr>
        <p:txBody>
          <a:bodyPr wrap="square" anchor="t" lIns="0" rIns="0" tIns="0" bIns="0">
            <a:spAutoFit/>
          </a:bodyPr>
          <a:lstStyle/>
          <a:p>
            <a:r>
              <a:rPr sz="1200" b="1" i="0">
                <a:solidFill>
                  <a:srgbClr val="1F2937"/>
                </a:solidFill>
                <a:latin typeface="Calibri"/>
              </a:rPr>
              <a:t>Crash Bandicoot 2: Cortex Strikes Back</a:t>
            </a:r>
          </a:p>
          <a:p>
            <a:r>
              <a:rPr sz="1200" b="1" i="0">
                <a:solidFill>
                  <a:srgbClr val="0D9488"/>
                </a:solidFill>
                <a:latin typeface="Calibri"/>
              </a:rPr>
              <a:t>7,6 M de unidades</a:t>
            </a:r>
          </a:p>
          <a:p>
            <a:r>
              <a:rPr sz="1000" b="0" i="0">
                <a:solidFill>
                  <a:srgbClr val="6B7280"/>
                </a:solidFill>
                <a:latin typeface="Calibri"/>
              </a:rPr>
              <a:t>1997 · PS1 · Sony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42–50</a:t>
            </a:r>
          </a:p>
          <a:p>
            <a:r>
              <a:rPr sz="2600" b="1" i="0">
                <a:solidFill>
                  <a:srgbClr val="FFFFFF"/>
                </a:solidFill>
                <a:latin typeface="Calibri"/>
              </a:rPr>
              <a:t>Juegos de plataformas más vendidos (5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86/87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pic>
        <p:nvPicPr>
          <p:cNvPr id="9" name="Picture 8" descr="j41.jpg"/>
          <p:cNvPicPr>
            <a:picLocks noChangeAspect="1"/>
          </p:cNvPicPr>
          <p:nvPr/>
        </p:nvPicPr>
        <p:blipFill>
          <a:blip r:embed="rId2"/>
          <a:stretch>
            <a:fillRect/>
          </a:stretch>
        </p:blipFill>
        <p:spPr>
          <a:xfrm>
            <a:off x="903701" y="1234440"/>
            <a:ext cx="1435608" cy="1435608"/>
          </a:xfrm>
          <a:prstGeom prst="rect">
            <a:avLst/>
          </a:prstGeom>
        </p:spPr>
      </p:pic>
      <p:sp>
        <p:nvSpPr>
          <p:cNvPr id="10" name="Oval 9"/>
          <p:cNvSpPr/>
          <p:nvPr/>
        </p:nvSpPr>
        <p:spPr>
          <a:xfrm>
            <a:off x="2337755"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42</a:t>
            </a:r>
          </a:p>
        </p:txBody>
      </p:sp>
      <p:sp>
        <p:nvSpPr>
          <p:cNvPr id="11" name="TextBox 10"/>
          <p:cNvSpPr txBox="1"/>
          <p:nvPr/>
        </p:nvSpPr>
        <p:spPr>
          <a:xfrm>
            <a:off x="576072" y="2706624"/>
            <a:ext cx="2090867" cy="868680"/>
          </a:xfrm>
          <a:prstGeom prst="rect">
            <a:avLst/>
          </a:prstGeom>
          <a:noFill/>
        </p:spPr>
        <p:txBody>
          <a:bodyPr wrap="square" anchor="t" lIns="0" rIns="0" tIns="0" bIns="0">
            <a:spAutoFit/>
          </a:bodyPr>
          <a:lstStyle/>
          <a:p>
            <a:r>
              <a:rPr sz="1200" b="1" i="0">
                <a:solidFill>
                  <a:srgbClr val="1F2937"/>
                </a:solidFill>
                <a:latin typeface="Calibri"/>
              </a:rPr>
              <a:t>Kirby and the Forgotten Land</a:t>
            </a:r>
          </a:p>
          <a:p>
            <a:r>
              <a:rPr sz="1200" b="1" i="0">
                <a:solidFill>
                  <a:srgbClr val="0D9488"/>
                </a:solidFill>
                <a:latin typeface="Calibri"/>
              </a:rPr>
              <a:t>7,5 M de unidades</a:t>
            </a:r>
          </a:p>
          <a:p>
            <a:r>
              <a:rPr sz="1000" b="0" i="0">
                <a:solidFill>
                  <a:srgbClr val="6B7280"/>
                </a:solidFill>
                <a:latin typeface="Calibri"/>
              </a:rPr>
              <a:t>2022 · Switch, Switch 2 · Nintendo</a:t>
            </a:r>
          </a:p>
        </p:txBody>
      </p:sp>
      <p:pic>
        <p:nvPicPr>
          <p:cNvPr id="12" name="Picture 11" descr="j42.jpg"/>
          <p:cNvPicPr>
            <a:picLocks noChangeAspect="1"/>
          </p:cNvPicPr>
          <p:nvPr/>
        </p:nvPicPr>
        <p:blipFill>
          <a:blip r:embed="rId3"/>
          <a:stretch>
            <a:fillRect/>
          </a:stretch>
        </p:blipFill>
        <p:spPr>
          <a:xfrm>
            <a:off x="3230332" y="1234440"/>
            <a:ext cx="1256689" cy="1435608"/>
          </a:xfrm>
          <a:prstGeom prst="rect">
            <a:avLst/>
          </a:prstGeom>
        </p:spPr>
      </p:pic>
      <p:sp>
        <p:nvSpPr>
          <p:cNvPr id="13" name="Oval 12"/>
          <p:cNvSpPr/>
          <p:nvPr/>
        </p:nvSpPr>
        <p:spPr>
          <a:xfrm>
            <a:off x="4574926"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43</a:t>
            </a:r>
          </a:p>
        </p:txBody>
      </p:sp>
      <p:sp>
        <p:nvSpPr>
          <p:cNvPr id="14" name="TextBox 13"/>
          <p:cNvSpPr txBox="1"/>
          <p:nvPr/>
        </p:nvSpPr>
        <p:spPr>
          <a:xfrm>
            <a:off x="2813243" y="2706624"/>
            <a:ext cx="2090867" cy="868680"/>
          </a:xfrm>
          <a:prstGeom prst="rect">
            <a:avLst/>
          </a:prstGeom>
          <a:noFill/>
        </p:spPr>
        <p:txBody>
          <a:bodyPr wrap="square" anchor="t" lIns="0" rIns="0" tIns="0" bIns="0">
            <a:spAutoFit/>
          </a:bodyPr>
          <a:lstStyle/>
          <a:p>
            <a:r>
              <a:rPr sz="1200" b="1" i="0">
                <a:solidFill>
                  <a:srgbClr val="1F2937"/>
                </a:solidFill>
                <a:latin typeface="Calibri"/>
              </a:rPr>
              <a:t>Sonic Generations</a:t>
            </a:r>
          </a:p>
          <a:p>
            <a:r>
              <a:rPr sz="1200" b="1" i="0">
                <a:solidFill>
                  <a:srgbClr val="0D9488"/>
                </a:solidFill>
                <a:latin typeface="Calibri"/>
              </a:rPr>
              <a:t>7,5 M de unidades</a:t>
            </a:r>
          </a:p>
          <a:p>
            <a:r>
              <a:rPr sz="1000" b="0" i="0">
                <a:solidFill>
                  <a:srgbClr val="6B7280"/>
                </a:solidFill>
                <a:latin typeface="Calibri"/>
              </a:rPr>
              <a:t>2011 · Multiplataforma · Sega</a:t>
            </a:r>
          </a:p>
        </p:txBody>
      </p:sp>
      <p:pic>
        <p:nvPicPr>
          <p:cNvPr id="15" name="Picture 14" descr="j43.jpg"/>
          <p:cNvPicPr>
            <a:picLocks noChangeAspect="1"/>
          </p:cNvPicPr>
          <p:nvPr/>
        </p:nvPicPr>
        <p:blipFill>
          <a:blip r:embed="rId4"/>
          <a:stretch>
            <a:fillRect/>
          </a:stretch>
        </p:blipFill>
        <p:spPr>
          <a:xfrm>
            <a:off x="5588924" y="1234440"/>
            <a:ext cx="1013847" cy="1435608"/>
          </a:xfrm>
          <a:prstGeom prst="rect">
            <a:avLst/>
          </a:prstGeom>
        </p:spPr>
      </p:pic>
      <p:sp>
        <p:nvSpPr>
          <p:cNvPr id="16" name="Oval 15"/>
          <p:cNvSpPr/>
          <p:nvPr/>
        </p:nvSpPr>
        <p:spPr>
          <a:xfrm>
            <a:off x="6812097"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44</a:t>
            </a:r>
          </a:p>
        </p:txBody>
      </p:sp>
      <p:sp>
        <p:nvSpPr>
          <p:cNvPr id="17" name="TextBox 16"/>
          <p:cNvSpPr txBox="1"/>
          <p:nvPr/>
        </p:nvSpPr>
        <p:spPr>
          <a:xfrm>
            <a:off x="5050414" y="2706624"/>
            <a:ext cx="2090867" cy="868680"/>
          </a:xfrm>
          <a:prstGeom prst="rect">
            <a:avLst/>
          </a:prstGeom>
          <a:noFill/>
        </p:spPr>
        <p:txBody>
          <a:bodyPr wrap="square" anchor="t" lIns="0" rIns="0" tIns="0" bIns="0">
            <a:spAutoFit/>
          </a:bodyPr>
          <a:lstStyle/>
          <a:p>
            <a:r>
              <a:rPr sz="1200" b="1" i="0">
                <a:solidFill>
                  <a:srgbClr val="1F2937"/>
                </a:solidFill>
                <a:latin typeface="Calibri"/>
              </a:rPr>
              <a:t>Super Mario Galaxy 2</a:t>
            </a:r>
          </a:p>
          <a:p>
            <a:r>
              <a:rPr sz="1200" b="1" i="0">
                <a:solidFill>
                  <a:srgbClr val="0D9488"/>
                </a:solidFill>
                <a:latin typeface="Calibri"/>
              </a:rPr>
              <a:t>7,5 M de unidades</a:t>
            </a:r>
          </a:p>
          <a:p>
            <a:r>
              <a:rPr sz="1000" b="0" i="0">
                <a:solidFill>
                  <a:srgbClr val="6B7280"/>
                </a:solidFill>
                <a:latin typeface="Calibri"/>
              </a:rPr>
              <a:t>2010 · Wii, Switch · Nintendo</a:t>
            </a:r>
          </a:p>
        </p:txBody>
      </p:sp>
      <p:pic>
        <p:nvPicPr>
          <p:cNvPr id="18" name="Picture 17" descr="j44.jpg"/>
          <p:cNvPicPr>
            <a:picLocks noChangeAspect="1"/>
          </p:cNvPicPr>
          <p:nvPr/>
        </p:nvPicPr>
        <p:blipFill>
          <a:blip r:embed="rId5"/>
          <a:stretch>
            <a:fillRect/>
          </a:stretch>
        </p:blipFill>
        <p:spPr>
          <a:xfrm>
            <a:off x="7593090" y="1234440"/>
            <a:ext cx="1479856" cy="1435607"/>
          </a:xfrm>
          <a:prstGeom prst="rect">
            <a:avLst/>
          </a:prstGeom>
        </p:spPr>
      </p:pic>
      <p:sp>
        <p:nvSpPr>
          <p:cNvPr id="19" name="Oval 18"/>
          <p:cNvSpPr/>
          <p:nvPr/>
        </p:nvSpPr>
        <p:spPr>
          <a:xfrm>
            <a:off x="9049268"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45</a:t>
            </a:r>
          </a:p>
        </p:txBody>
      </p:sp>
      <p:sp>
        <p:nvSpPr>
          <p:cNvPr id="20" name="TextBox 19"/>
          <p:cNvSpPr txBox="1"/>
          <p:nvPr/>
        </p:nvSpPr>
        <p:spPr>
          <a:xfrm>
            <a:off x="7287585" y="2706624"/>
            <a:ext cx="2090867" cy="868680"/>
          </a:xfrm>
          <a:prstGeom prst="rect">
            <a:avLst/>
          </a:prstGeom>
          <a:noFill/>
        </p:spPr>
        <p:txBody>
          <a:bodyPr wrap="square" anchor="t" lIns="0" rIns="0" tIns="0" bIns="0">
            <a:spAutoFit/>
          </a:bodyPr>
          <a:lstStyle/>
          <a:p>
            <a:r>
              <a:rPr sz="1200" b="1" i="0">
                <a:solidFill>
                  <a:srgbClr val="1F2937"/>
                </a:solidFill>
                <a:latin typeface="Calibri"/>
              </a:rPr>
              <a:t>Crash Bandicoot: Warped</a:t>
            </a:r>
          </a:p>
          <a:p>
            <a:r>
              <a:rPr sz="1200" b="1" i="0">
                <a:solidFill>
                  <a:srgbClr val="0D9488"/>
                </a:solidFill>
                <a:latin typeface="Calibri"/>
              </a:rPr>
              <a:t>7,1 M de unidades</a:t>
            </a:r>
          </a:p>
          <a:p>
            <a:r>
              <a:rPr sz="1000" b="0" i="0">
                <a:solidFill>
                  <a:srgbClr val="6B7280"/>
                </a:solidFill>
                <a:latin typeface="Calibri"/>
              </a:rPr>
              <a:t>1998 · PS1 · Sony</a:t>
            </a:r>
          </a:p>
        </p:txBody>
      </p:sp>
      <p:pic>
        <p:nvPicPr>
          <p:cNvPr id="21" name="Picture 20" descr="j45.jpg"/>
          <p:cNvPicPr>
            <a:picLocks noChangeAspect="1"/>
          </p:cNvPicPr>
          <p:nvPr/>
        </p:nvPicPr>
        <p:blipFill>
          <a:blip r:embed="rId6"/>
          <a:stretch>
            <a:fillRect/>
          </a:stretch>
        </p:blipFill>
        <p:spPr>
          <a:xfrm>
            <a:off x="10031836" y="1234440"/>
            <a:ext cx="1076706" cy="1435608"/>
          </a:xfrm>
          <a:prstGeom prst="rect">
            <a:avLst/>
          </a:prstGeom>
        </p:spPr>
      </p:pic>
      <p:sp>
        <p:nvSpPr>
          <p:cNvPr id="22" name="Oval 21"/>
          <p:cNvSpPr/>
          <p:nvPr/>
        </p:nvSpPr>
        <p:spPr>
          <a:xfrm>
            <a:off x="11286439" y="234086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46</a:t>
            </a:r>
          </a:p>
        </p:txBody>
      </p:sp>
      <p:sp>
        <p:nvSpPr>
          <p:cNvPr id="23" name="TextBox 22"/>
          <p:cNvSpPr txBox="1"/>
          <p:nvPr/>
        </p:nvSpPr>
        <p:spPr>
          <a:xfrm>
            <a:off x="9524756" y="2706624"/>
            <a:ext cx="2090867" cy="868680"/>
          </a:xfrm>
          <a:prstGeom prst="rect">
            <a:avLst/>
          </a:prstGeom>
          <a:noFill/>
        </p:spPr>
        <p:txBody>
          <a:bodyPr wrap="square" anchor="t" lIns="0" rIns="0" tIns="0" bIns="0">
            <a:spAutoFit/>
          </a:bodyPr>
          <a:lstStyle/>
          <a:p>
            <a:r>
              <a:rPr sz="1200" b="1" i="0">
                <a:solidFill>
                  <a:srgbClr val="1F2937"/>
                </a:solidFill>
                <a:latin typeface="Calibri"/>
              </a:rPr>
              <a:t>Ratchet &amp; Clank</a:t>
            </a:r>
          </a:p>
          <a:p>
            <a:r>
              <a:rPr sz="1200" b="1" i="0">
                <a:solidFill>
                  <a:srgbClr val="0D9488"/>
                </a:solidFill>
                <a:latin typeface="Calibri"/>
              </a:rPr>
              <a:t>7,1 M de unidades</a:t>
            </a:r>
          </a:p>
          <a:p>
            <a:r>
              <a:rPr sz="1000" b="0" i="0">
                <a:solidFill>
                  <a:srgbClr val="6B7280"/>
                </a:solidFill>
                <a:latin typeface="Calibri"/>
              </a:rPr>
              <a:t>2016 · PS4 · Sony</a:t>
            </a:r>
          </a:p>
        </p:txBody>
      </p:sp>
      <p:pic>
        <p:nvPicPr>
          <p:cNvPr id="24" name="Picture 23" descr="j46.png"/>
          <p:cNvPicPr>
            <a:picLocks noChangeAspect="1"/>
          </p:cNvPicPr>
          <p:nvPr/>
        </p:nvPicPr>
        <p:blipFill>
          <a:blip r:embed="rId7"/>
          <a:stretch>
            <a:fillRect/>
          </a:stretch>
        </p:blipFill>
        <p:spPr>
          <a:xfrm>
            <a:off x="1056941" y="3611880"/>
            <a:ext cx="1129129" cy="1435608"/>
          </a:xfrm>
          <a:prstGeom prst="rect">
            <a:avLst/>
          </a:prstGeom>
        </p:spPr>
      </p:pic>
      <p:sp>
        <p:nvSpPr>
          <p:cNvPr id="25" name="Oval 24"/>
          <p:cNvSpPr/>
          <p:nvPr/>
        </p:nvSpPr>
        <p:spPr>
          <a:xfrm>
            <a:off x="2337755"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47</a:t>
            </a:r>
          </a:p>
        </p:txBody>
      </p:sp>
      <p:sp>
        <p:nvSpPr>
          <p:cNvPr id="26" name="TextBox 25"/>
          <p:cNvSpPr txBox="1"/>
          <p:nvPr/>
        </p:nvSpPr>
        <p:spPr>
          <a:xfrm>
            <a:off x="576072" y="5084064"/>
            <a:ext cx="2090867" cy="868680"/>
          </a:xfrm>
          <a:prstGeom prst="rect">
            <a:avLst/>
          </a:prstGeom>
          <a:noFill/>
        </p:spPr>
        <p:txBody>
          <a:bodyPr wrap="square" anchor="t" lIns="0" rIns="0" tIns="0" bIns="0">
            <a:spAutoFit/>
          </a:bodyPr>
          <a:lstStyle/>
          <a:p>
            <a:r>
              <a:rPr sz="1200" b="1" i="0">
                <a:solidFill>
                  <a:srgbClr val="1F2937"/>
                </a:solidFill>
                <a:latin typeface="Calibri"/>
              </a:rPr>
              <a:t>Tomb Raider</a:t>
            </a:r>
          </a:p>
          <a:p>
            <a:r>
              <a:rPr sz="1200" b="1" i="0">
                <a:solidFill>
                  <a:srgbClr val="0D9488"/>
                </a:solidFill>
                <a:latin typeface="Calibri"/>
              </a:rPr>
              <a:t>7,0 M de unidades</a:t>
            </a:r>
          </a:p>
          <a:p>
            <a:r>
              <a:rPr sz="1000" b="0" i="0">
                <a:solidFill>
                  <a:srgbClr val="6B7280"/>
                </a:solidFill>
                <a:latin typeface="Calibri"/>
              </a:rPr>
              <a:t>1996 · Multiplataforma · Eidos</a:t>
            </a:r>
          </a:p>
        </p:txBody>
      </p:sp>
      <p:pic>
        <p:nvPicPr>
          <p:cNvPr id="27" name="Picture 26" descr="j47.png"/>
          <p:cNvPicPr>
            <a:picLocks noChangeAspect="1"/>
          </p:cNvPicPr>
          <p:nvPr/>
        </p:nvPicPr>
        <p:blipFill>
          <a:blip r:embed="rId8"/>
          <a:stretch>
            <a:fillRect/>
          </a:stretch>
        </p:blipFill>
        <p:spPr>
          <a:xfrm>
            <a:off x="3279934" y="3611880"/>
            <a:ext cx="1157484" cy="1435608"/>
          </a:xfrm>
          <a:prstGeom prst="rect">
            <a:avLst/>
          </a:prstGeom>
        </p:spPr>
      </p:pic>
      <p:sp>
        <p:nvSpPr>
          <p:cNvPr id="28" name="Oval 27"/>
          <p:cNvSpPr/>
          <p:nvPr/>
        </p:nvSpPr>
        <p:spPr>
          <a:xfrm>
            <a:off x="4574926"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48</a:t>
            </a:r>
          </a:p>
        </p:txBody>
      </p:sp>
      <p:sp>
        <p:nvSpPr>
          <p:cNvPr id="29" name="TextBox 28"/>
          <p:cNvSpPr txBox="1"/>
          <p:nvPr/>
        </p:nvSpPr>
        <p:spPr>
          <a:xfrm>
            <a:off x="2813243" y="5084064"/>
            <a:ext cx="2090867" cy="868680"/>
          </a:xfrm>
          <a:prstGeom prst="rect">
            <a:avLst/>
          </a:prstGeom>
          <a:noFill/>
        </p:spPr>
        <p:txBody>
          <a:bodyPr wrap="square" anchor="t" lIns="0" rIns="0" tIns="0" bIns="0">
            <a:spAutoFit/>
          </a:bodyPr>
          <a:lstStyle/>
          <a:p>
            <a:r>
              <a:rPr sz="1200" b="1" i="0">
                <a:solidFill>
                  <a:srgbClr val="1F2937"/>
                </a:solidFill>
                <a:latin typeface="Calibri"/>
              </a:rPr>
              <a:t>Tomb Raider II</a:t>
            </a:r>
          </a:p>
          <a:p>
            <a:r>
              <a:rPr sz="1200" b="1" i="0">
                <a:solidFill>
                  <a:srgbClr val="0D9488"/>
                </a:solidFill>
                <a:latin typeface="Calibri"/>
              </a:rPr>
              <a:t>7,0 M de unidades</a:t>
            </a:r>
          </a:p>
          <a:p>
            <a:r>
              <a:rPr sz="1000" b="0" i="0">
                <a:solidFill>
                  <a:srgbClr val="6B7280"/>
                </a:solidFill>
                <a:latin typeface="Calibri"/>
              </a:rPr>
              <a:t>1997 · Multiplataforma · Eidos</a:t>
            </a:r>
          </a:p>
        </p:txBody>
      </p:sp>
      <p:pic>
        <p:nvPicPr>
          <p:cNvPr id="30" name="Picture 29" descr="j48.jpg"/>
          <p:cNvPicPr>
            <a:picLocks noChangeAspect="1"/>
          </p:cNvPicPr>
          <p:nvPr/>
        </p:nvPicPr>
        <p:blipFill>
          <a:blip r:embed="rId9"/>
          <a:stretch>
            <a:fillRect/>
          </a:stretch>
        </p:blipFill>
        <p:spPr>
          <a:xfrm>
            <a:off x="5064175" y="3611880"/>
            <a:ext cx="2063345" cy="1435608"/>
          </a:xfrm>
          <a:prstGeom prst="rect">
            <a:avLst/>
          </a:prstGeom>
        </p:spPr>
      </p:pic>
      <p:sp>
        <p:nvSpPr>
          <p:cNvPr id="31" name="Oval 30"/>
          <p:cNvSpPr/>
          <p:nvPr/>
        </p:nvSpPr>
        <p:spPr>
          <a:xfrm>
            <a:off x="6812097"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49</a:t>
            </a:r>
          </a:p>
        </p:txBody>
      </p:sp>
      <p:sp>
        <p:nvSpPr>
          <p:cNvPr id="32" name="TextBox 31"/>
          <p:cNvSpPr txBox="1"/>
          <p:nvPr/>
        </p:nvSpPr>
        <p:spPr>
          <a:xfrm>
            <a:off x="5050414" y="5084064"/>
            <a:ext cx="2090867" cy="868680"/>
          </a:xfrm>
          <a:prstGeom prst="rect">
            <a:avLst/>
          </a:prstGeom>
          <a:noFill/>
        </p:spPr>
        <p:txBody>
          <a:bodyPr wrap="square" anchor="t" lIns="0" rIns="0" tIns="0" bIns="0">
            <a:spAutoFit/>
          </a:bodyPr>
          <a:lstStyle/>
          <a:p>
            <a:r>
              <a:rPr sz="1200" b="1" i="0">
                <a:solidFill>
                  <a:srgbClr val="1F2937"/>
                </a:solidFill>
                <a:latin typeface="Calibri"/>
              </a:rPr>
              <a:t>Yoshi's Island</a:t>
            </a:r>
          </a:p>
          <a:p>
            <a:r>
              <a:rPr sz="1200" b="1" i="0">
                <a:solidFill>
                  <a:srgbClr val="0D9488"/>
                </a:solidFill>
                <a:latin typeface="Calibri"/>
              </a:rPr>
              <a:t>7,0 M de unidades</a:t>
            </a:r>
          </a:p>
          <a:p>
            <a:r>
              <a:rPr sz="1000" b="0" i="0">
                <a:solidFill>
                  <a:srgbClr val="6B7280"/>
                </a:solidFill>
                <a:latin typeface="Calibri"/>
              </a:rPr>
              <a:t>1995 · SNES, GBA · Nintendo</a:t>
            </a:r>
          </a:p>
        </p:txBody>
      </p:sp>
      <p:pic>
        <p:nvPicPr>
          <p:cNvPr id="33" name="Picture 32" descr="j49.jpg"/>
          <p:cNvPicPr>
            <a:picLocks noChangeAspect="1"/>
          </p:cNvPicPr>
          <p:nvPr/>
        </p:nvPicPr>
        <p:blipFill>
          <a:blip r:embed="rId10"/>
          <a:stretch>
            <a:fillRect/>
          </a:stretch>
        </p:blipFill>
        <p:spPr>
          <a:xfrm>
            <a:off x="7824659" y="3611880"/>
            <a:ext cx="1016719" cy="1435608"/>
          </a:xfrm>
          <a:prstGeom prst="rect">
            <a:avLst/>
          </a:prstGeom>
        </p:spPr>
      </p:pic>
      <p:sp>
        <p:nvSpPr>
          <p:cNvPr id="34" name="Oval 33"/>
          <p:cNvSpPr/>
          <p:nvPr/>
        </p:nvSpPr>
        <p:spPr>
          <a:xfrm>
            <a:off x="9049268" y="4718304"/>
            <a:ext cx="329184" cy="32918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50</a:t>
            </a:r>
          </a:p>
        </p:txBody>
      </p:sp>
      <p:sp>
        <p:nvSpPr>
          <p:cNvPr id="35" name="TextBox 34"/>
          <p:cNvSpPr txBox="1"/>
          <p:nvPr/>
        </p:nvSpPr>
        <p:spPr>
          <a:xfrm>
            <a:off x="7287585" y="5084064"/>
            <a:ext cx="2090867" cy="868680"/>
          </a:xfrm>
          <a:prstGeom prst="rect">
            <a:avLst/>
          </a:prstGeom>
          <a:noFill/>
        </p:spPr>
        <p:txBody>
          <a:bodyPr wrap="square" anchor="t" lIns="0" rIns="0" tIns="0" bIns="0">
            <a:spAutoFit/>
          </a:bodyPr>
          <a:lstStyle/>
          <a:p>
            <a:r>
              <a:rPr sz="1200" b="1" i="0">
                <a:solidFill>
                  <a:srgbClr val="1F2937"/>
                </a:solidFill>
                <a:latin typeface="Calibri"/>
              </a:rPr>
              <a:t>Donkey Kong Country: Tropical Freeze</a:t>
            </a:r>
          </a:p>
          <a:p>
            <a:r>
              <a:rPr sz="1200" b="1" i="0">
                <a:solidFill>
                  <a:srgbClr val="0D9488"/>
                </a:solidFill>
                <a:latin typeface="Calibri"/>
              </a:rPr>
              <a:t>6,6 M de unidades</a:t>
            </a:r>
          </a:p>
          <a:p>
            <a:r>
              <a:rPr sz="1000" b="0" i="0">
                <a:solidFill>
                  <a:srgbClr val="6B7280"/>
                </a:solidFill>
                <a:latin typeface="Calibri"/>
              </a:rPr>
              <a:t>2014 · Wii U, Switch · Nintendo</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ESTADÍSTICA</a:t>
            </a:r>
          </a:p>
          <a:p>
            <a:r>
              <a:rPr sz="2600" b="1" i="0">
                <a:solidFill>
                  <a:srgbClr val="FFFFFF"/>
                </a:solidFill>
                <a:latin typeface="Calibri"/>
              </a:rPr>
              <a:t>Comparativa: franquicias y juegos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87/87</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MÓVIL  </a:t>
            </a:r>
            <a:r>
              <a:rPr sz="1400" b="0" i="0">
                <a:solidFill>
                  <a:srgbClr val="1F2937"/>
                </a:solidFill>
                <a:latin typeface="Calibri"/>
              </a:rPr>
              <a:t>Solo 2 de los 49 juegos nacieron en móvil (Sonic Dash y Sonic Jump). ¿Qué los hace jugables con el pulgar?</a:t>
            </a:r>
          </a:p>
        </p:txBody>
      </p:sp>
      <p:sp>
        <p:nvSpPr>
          <p:cNvPr id="11" name="TextBox 10"/>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1 · Franquicias (top 24) por propietario</a:t>
            </a:r>
          </a:p>
        </p:txBody>
      </p:sp>
      <p:graphicFrame>
        <p:nvGraphicFramePr>
          <p:cNvPr id="12" name="Table 11"/>
          <p:cNvGraphicFramePr>
            <a:graphicFrameLocks noGrp="1"/>
          </p:cNvGraphicFramePr>
          <p:nvPr/>
        </p:nvGraphicFramePr>
        <p:xfrm>
          <a:off x="502920" y="1600200"/>
          <a:ext cx="5432904" cy="3840480"/>
        </p:xfrm>
        <a:graphic>
          <a:graphicData uri="http://schemas.openxmlformats.org/drawingml/2006/table">
            <a:tbl>
              <a:tblPr firstRow="1" bandRow="1">
                <a:tableStyleId>{5C22544A-7EE6-4342-B048-85BDC9FD1C3A}</a:tableStyleId>
              </a:tblPr>
              <a:tblGrid>
                <a:gridCol w="1215255"/>
                <a:gridCol w="786341"/>
                <a:gridCol w="1143769"/>
                <a:gridCol w="1215255"/>
                <a:gridCol w="1072284"/>
              </a:tblGrid>
              <a:tr h="426720">
                <a:tc>
                  <a:txBody>
                    <a:bodyPr wrap="square"/>
                    <a:lstStyle/>
                    <a:p>
                      <a:r>
                        <a:rPr sz="1200" b="1" i="0">
                          <a:solidFill>
                            <a:srgbClr val="FFFFFF"/>
                          </a:solidFill>
                          <a:latin typeface="Calibri"/>
                        </a:rPr>
                        <a:t>Propietario</a:t>
                      </a:r>
                    </a:p>
                  </a:txBody>
                  <a:tcPr marL="73152" marR="73152" marT="36576" marB="36576" anchor="ctr">
                    <a:solidFill>
                      <a:srgbClr val="0D9488"/>
                    </a:solidFill>
                  </a:tcPr>
                </a:tc>
                <a:tc>
                  <a:txBody>
                    <a:bodyPr wrap="square"/>
                    <a:lstStyle/>
                    <a:p>
                      <a:r>
                        <a:rPr sz="1200" b="1" i="0">
                          <a:solidFill>
                            <a:srgbClr val="FFFFFF"/>
                          </a:solidFill>
                          <a:latin typeface="Calibri"/>
                        </a:rPr>
                        <a:t>Cant.</a:t>
                      </a:r>
                    </a:p>
                  </a:txBody>
                  <a:tcPr marL="73152" marR="73152" marT="36576" marB="36576" anchor="ctr">
                    <a:solidFill>
                      <a:srgbClr val="0D9488"/>
                    </a:solidFill>
                  </a:tcPr>
                </a:tc>
                <a:tc>
                  <a:txBody>
                    <a:bodyPr wrap="square"/>
                    <a:lstStyle/>
                    <a:p>
                      <a:r>
                        <a:rPr sz="1200" b="1" i="0">
                          <a:solidFill>
                            <a:srgbClr val="FFFFFF"/>
                          </a:solidFill>
                          <a:latin typeface="Calibri"/>
                        </a:rPr>
                        <a:t>Ventas (M)</a:t>
                      </a:r>
                    </a:p>
                  </a:txBody>
                  <a:tcPr marL="73152" marR="73152" marT="36576" marB="36576" anchor="ctr">
                    <a:solidFill>
                      <a:srgbClr val="0D9488"/>
                    </a:solidFill>
                  </a:tcPr>
                </a:tc>
                <a:tc>
                  <a:txBody>
                    <a:bodyPr wrap="square"/>
                    <a:lstStyle/>
                    <a:p>
                      <a:r>
                        <a:rPr sz="1200" b="1" i="0">
                          <a:solidFill>
                            <a:srgbClr val="FFFFFF"/>
                          </a:solidFill>
                          <a:latin typeface="Calibri"/>
                        </a:rPr>
                        <a:t>% del total</a:t>
                      </a:r>
                    </a:p>
                  </a:txBody>
                  <a:tcPr marL="73152" marR="73152" marT="36576" marB="36576" anchor="ctr">
                    <a:solidFill>
                      <a:srgbClr val="0D9488"/>
                    </a:solidFill>
                  </a:tcPr>
                </a:tc>
                <a:tc>
                  <a:txBody>
                    <a:bodyPr wrap="square"/>
                    <a:lstStyle/>
                    <a:p>
                      <a:r>
                        <a:rPr sz="1200" b="1" i="0">
                          <a:solidFill>
                            <a:srgbClr val="FFFFFF"/>
                          </a:solidFill>
                          <a:latin typeface="Calibri"/>
                        </a:rPr>
                        <a:t>Prom. (M)</a:t>
                      </a:r>
                    </a:p>
                  </a:txBody>
                  <a:tcPr marL="73152" marR="73152" marT="36576" marB="36576" anchor="ctr">
                    <a:solidFill>
                      <a:srgbClr val="0D9488"/>
                    </a:solidFill>
                  </a:tcPr>
                </a:tc>
              </a:tr>
              <a:tr h="426720">
                <a:tc>
                  <a:txBody>
                    <a:bodyPr wrap="square"/>
                    <a:lstStyle/>
                    <a:p>
                      <a:r>
                        <a:rPr sz="1200" b="0" i="0">
                          <a:solidFill>
                            <a:srgbClr val="1F2937"/>
                          </a:solidFill>
                          <a:latin typeface="Calibri"/>
                        </a:rPr>
                        <a:t>Nintendo</a:t>
                      </a:r>
                    </a:p>
                  </a:txBody>
                  <a:tcPr marL="73152" marR="73152" marT="36576" marB="36576" anchor="ctr">
                    <a:solidFill>
                      <a:srgbClr val="FFFFFF"/>
                    </a:solidFill>
                  </a:tcPr>
                </a:tc>
                <a:tc>
                  <a:txBody>
                    <a:bodyPr wrap="square"/>
                    <a:lstStyle/>
                    <a:p>
                      <a:r>
                        <a:rPr sz="1200" b="0" i="0">
                          <a:solidFill>
                            <a:srgbClr val="1F2937"/>
                          </a:solidFill>
                          <a:latin typeface="Calibri"/>
                        </a:rPr>
                        <a:t>6</a:t>
                      </a:r>
                    </a:p>
                  </a:txBody>
                  <a:tcPr marL="73152" marR="73152" marT="36576" marB="36576" anchor="ctr">
                    <a:solidFill>
                      <a:srgbClr val="FFFFFF"/>
                    </a:solidFill>
                  </a:tcPr>
                </a:tc>
                <a:tc>
                  <a:txBody>
                    <a:bodyPr wrap="square"/>
                    <a:lstStyle/>
                    <a:p>
                      <a:r>
                        <a:rPr sz="1200" b="0" i="0">
                          <a:solidFill>
                            <a:srgbClr val="1F2937"/>
                          </a:solidFill>
                          <a:latin typeface="Calibri"/>
                        </a:rPr>
                        <a:t>723,0</a:t>
                      </a:r>
                    </a:p>
                  </a:txBody>
                  <a:tcPr marL="73152" marR="73152" marT="36576" marB="36576" anchor="ctr">
                    <a:solidFill>
                      <a:srgbClr val="FFFFFF"/>
                    </a:solidFill>
                  </a:tcPr>
                </a:tc>
                <a:tc>
                  <a:txBody>
                    <a:bodyPr wrap="square"/>
                    <a:lstStyle/>
                    <a:p>
                      <a:r>
                        <a:rPr sz="1200" b="0" i="0">
                          <a:solidFill>
                            <a:srgbClr val="1F2937"/>
                          </a:solidFill>
                          <a:latin typeface="Calibri"/>
                        </a:rPr>
                        <a:t>55,2 %</a:t>
                      </a:r>
                    </a:p>
                  </a:txBody>
                  <a:tcPr marL="73152" marR="73152" marT="36576" marB="36576" anchor="ctr">
                    <a:solidFill>
                      <a:srgbClr val="FFFFFF"/>
                    </a:solidFill>
                  </a:tcPr>
                </a:tc>
                <a:tc>
                  <a:txBody>
                    <a:bodyPr wrap="square"/>
                    <a:lstStyle/>
                    <a:p>
                      <a:r>
                        <a:rPr sz="1200" b="0" i="0">
                          <a:solidFill>
                            <a:srgbClr val="1F2937"/>
                          </a:solidFill>
                          <a:latin typeface="Calibri"/>
                        </a:rPr>
                        <a:t>120,5</a:t>
                      </a:r>
                    </a:p>
                  </a:txBody>
                  <a:tcPr marL="73152" marR="73152" marT="36576" marB="36576" anchor="ctr">
                    <a:solidFill>
                      <a:srgbClr val="FFFFFF"/>
                    </a:solidFill>
                  </a:tcPr>
                </a:tc>
              </a:tr>
              <a:tr h="426720">
                <a:tc>
                  <a:txBody>
                    <a:bodyPr wrap="square"/>
                    <a:lstStyle/>
                    <a:p>
                      <a:r>
                        <a:rPr sz="1200" b="0" i="0">
                          <a:solidFill>
                            <a:srgbClr val="1F2937"/>
                          </a:solidFill>
                          <a:latin typeface="Calibri"/>
                        </a:rPr>
                        <a:t>Sega</a:t>
                      </a:r>
                    </a:p>
                  </a:txBody>
                  <a:tcPr marL="73152" marR="73152" marT="36576" marB="36576" anchor="ctr">
                    <a:solidFill>
                      <a:srgbClr val="E6F4F2"/>
                    </a:solidFill>
                  </a:tcPr>
                </a:tc>
                <a:tc>
                  <a:txBody>
                    <a:bodyPr wrap="square"/>
                    <a:lstStyle/>
                    <a:p>
                      <a:r>
                        <a:rPr sz="1200" b="0" i="0">
                          <a:solidFill>
                            <a:srgbClr val="1F2937"/>
                          </a:solidFill>
                          <a:latin typeface="Calibri"/>
                        </a:rPr>
                        <a:t>1</a:t>
                      </a:r>
                    </a:p>
                  </a:txBody>
                  <a:tcPr marL="73152" marR="73152" marT="36576" marB="36576" anchor="ctr">
                    <a:solidFill>
                      <a:srgbClr val="E6F4F2"/>
                    </a:solidFill>
                  </a:tcPr>
                </a:tc>
                <a:tc>
                  <a:txBody>
                    <a:bodyPr wrap="square"/>
                    <a:lstStyle/>
                    <a:p>
                      <a:r>
                        <a:rPr sz="1200" b="0" i="0">
                          <a:solidFill>
                            <a:srgbClr val="1F2937"/>
                          </a:solidFill>
                          <a:latin typeface="Calibri"/>
                        </a:rPr>
                        <a:t>195,8</a:t>
                      </a:r>
                    </a:p>
                  </a:txBody>
                  <a:tcPr marL="73152" marR="73152" marT="36576" marB="36576" anchor="ctr">
                    <a:solidFill>
                      <a:srgbClr val="E6F4F2"/>
                    </a:solidFill>
                  </a:tcPr>
                </a:tc>
                <a:tc>
                  <a:txBody>
                    <a:bodyPr wrap="square"/>
                    <a:lstStyle/>
                    <a:p>
                      <a:r>
                        <a:rPr sz="1200" b="0" i="0">
                          <a:solidFill>
                            <a:srgbClr val="1F2937"/>
                          </a:solidFill>
                          <a:latin typeface="Calibri"/>
                        </a:rPr>
                        <a:t>15,0 %</a:t>
                      </a:r>
                    </a:p>
                  </a:txBody>
                  <a:tcPr marL="73152" marR="73152" marT="36576" marB="36576" anchor="ctr">
                    <a:solidFill>
                      <a:srgbClr val="E6F4F2"/>
                    </a:solidFill>
                  </a:tcPr>
                </a:tc>
                <a:tc>
                  <a:txBody>
                    <a:bodyPr wrap="square"/>
                    <a:lstStyle/>
                    <a:p>
                      <a:r>
                        <a:rPr sz="1200" b="0" i="0">
                          <a:solidFill>
                            <a:srgbClr val="1F2937"/>
                          </a:solidFill>
                          <a:latin typeface="Calibri"/>
                        </a:rPr>
                        <a:t>195,8</a:t>
                      </a:r>
                    </a:p>
                  </a:txBody>
                  <a:tcPr marL="73152" marR="73152" marT="36576" marB="36576" anchor="ctr">
                    <a:solidFill>
                      <a:srgbClr val="E6F4F2"/>
                    </a:solidFill>
                  </a:tcPr>
                </a:tc>
              </a:tr>
              <a:tr h="426720">
                <a:tc>
                  <a:txBody>
                    <a:bodyPr wrap="square"/>
                    <a:lstStyle/>
                    <a:p>
                      <a:r>
                        <a:rPr sz="1200" b="0" i="0">
                          <a:solidFill>
                            <a:srgbClr val="1F2937"/>
                          </a:solidFill>
                          <a:latin typeface="Calibri"/>
                        </a:rPr>
                        <a:t>Activision</a:t>
                      </a:r>
                    </a:p>
                  </a:txBody>
                  <a:tcPr marL="73152" marR="73152" marT="36576" marB="36576" anchor="ctr">
                    <a:solidFill>
                      <a:srgbClr val="FFFFFF"/>
                    </a:solidFill>
                  </a:tcPr>
                </a:tc>
                <a:tc>
                  <a:txBody>
                    <a:bodyPr wrap="square"/>
                    <a:lstStyle/>
                    <a:p>
                      <a:r>
                        <a:rPr sz="1200" b="0" i="0">
                          <a:solidFill>
                            <a:srgbClr val="1F2937"/>
                          </a:solidFill>
                          <a:latin typeface="Calibri"/>
                        </a:rPr>
                        <a:t>3</a:t>
                      </a:r>
                    </a:p>
                  </a:txBody>
                  <a:tcPr marL="73152" marR="73152" marT="36576" marB="36576" anchor="ctr">
                    <a:solidFill>
                      <a:srgbClr val="FFFFFF"/>
                    </a:solidFill>
                  </a:tcPr>
                </a:tc>
                <a:tc>
                  <a:txBody>
                    <a:bodyPr wrap="square"/>
                    <a:lstStyle/>
                    <a:p>
                      <a:r>
                        <a:rPr sz="1200" b="0" i="0">
                          <a:solidFill>
                            <a:srgbClr val="1F2937"/>
                          </a:solidFill>
                          <a:latin typeface="Calibri"/>
                        </a:rPr>
                        <a:t>105,0</a:t>
                      </a:r>
                    </a:p>
                  </a:txBody>
                  <a:tcPr marL="73152" marR="73152" marT="36576" marB="36576" anchor="ctr">
                    <a:solidFill>
                      <a:srgbClr val="FFFFFF"/>
                    </a:solidFill>
                  </a:tcPr>
                </a:tc>
                <a:tc>
                  <a:txBody>
                    <a:bodyPr wrap="square"/>
                    <a:lstStyle/>
                    <a:p>
                      <a:r>
                        <a:rPr sz="1200" b="0" i="0">
                          <a:solidFill>
                            <a:srgbClr val="1F2937"/>
                          </a:solidFill>
                          <a:latin typeface="Calibri"/>
                        </a:rPr>
                        <a:t>8,0 %</a:t>
                      </a:r>
                    </a:p>
                  </a:txBody>
                  <a:tcPr marL="73152" marR="73152" marT="36576" marB="36576" anchor="ctr">
                    <a:solidFill>
                      <a:srgbClr val="FFFFFF"/>
                    </a:solidFill>
                  </a:tcPr>
                </a:tc>
                <a:tc>
                  <a:txBody>
                    <a:bodyPr wrap="square"/>
                    <a:lstStyle/>
                    <a:p>
                      <a:r>
                        <a:rPr sz="1200" b="0" i="0">
                          <a:solidFill>
                            <a:srgbClr val="1F2937"/>
                          </a:solidFill>
                          <a:latin typeface="Calibri"/>
                        </a:rPr>
                        <a:t>35,0</a:t>
                      </a:r>
                    </a:p>
                  </a:txBody>
                  <a:tcPr marL="73152" marR="73152" marT="36576" marB="36576" anchor="ctr">
                    <a:solidFill>
                      <a:srgbClr val="FFFFFF"/>
                    </a:solidFill>
                  </a:tcPr>
                </a:tc>
              </a:tr>
              <a:tr h="426720">
                <a:tc>
                  <a:txBody>
                    <a:bodyPr wrap="square"/>
                    <a:lstStyle/>
                    <a:p>
                      <a:r>
                        <a:rPr sz="1200" b="0" i="0">
                          <a:solidFill>
                            <a:srgbClr val="1F2937"/>
                          </a:solidFill>
                          <a:latin typeface="Calibri"/>
                        </a:rPr>
                        <a:t>Sony</a:t>
                      </a:r>
                    </a:p>
                  </a:txBody>
                  <a:tcPr marL="73152" marR="73152" marT="36576" marB="36576" anchor="ctr">
                    <a:solidFill>
                      <a:srgbClr val="E6F4F2"/>
                    </a:solidFill>
                  </a:tcPr>
                </a:tc>
                <a:tc>
                  <a:txBody>
                    <a:bodyPr wrap="square"/>
                    <a:lstStyle/>
                    <a:p>
                      <a:r>
                        <a:rPr sz="1200" b="0" i="0">
                          <a:solidFill>
                            <a:srgbClr val="1F2937"/>
                          </a:solidFill>
                          <a:latin typeface="Calibri"/>
                        </a:rPr>
                        <a:t>4</a:t>
                      </a:r>
                    </a:p>
                  </a:txBody>
                  <a:tcPr marL="73152" marR="73152" marT="36576" marB="36576" anchor="ctr">
                    <a:solidFill>
                      <a:srgbClr val="E6F4F2"/>
                    </a:solidFill>
                  </a:tcPr>
                </a:tc>
                <a:tc>
                  <a:txBody>
                    <a:bodyPr wrap="square"/>
                    <a:lstStyle/>
                    <a:p>
                      <a:r>
                        <a:rPr sz="1200" b="0" i="0">
                          <a:solidFill>
                            <a:srgbClr val="1F2937"/>
                          </a:solidFill>
                          <a:latin typeface="Calibri"/>
                        </a:rPr>
                        <a:t>72,6</a:t>
                      </a:r>
                    </a:p>
                  </a:txBody>
                  <a:tcPr marL="73152" marR="73152" marT="36576" marB="36576" anchor="ctr">
                    <a:solidFill>
                      <a:srgbClr val="E6F4F2"/>
                    </a:solidFill>
                  </a:tcPr>
                </a:tc>
                <a:tc>
                  <a:txBody>
                    <a:bodyPr wrap="square"/>
                    <a:lstStyle/>
                    <a:p>
                      <a:r>
                        <a:rPr sz="1200" b="0" i="0">
                          <a:solidFill>
                            <a:srgbClr val="1F2937"/>
                          </a:solidFill>
                          <a:latin typeface="Calibri"/>
                        </a:rPr>
                        <a:t>5,5 %</a:t>
                      </a:r>
                    </a:p>
                  </a:txBody>
                  <a:tcPr marL="73152" marR="73152" marT="36576" marB="36576" anchor="ctr">
                    <a:solidFill>
                      <a:srgbClr val="E6F4F2"/>
                    </a:solidFill>
                  </a:tcPr>
                </a:tc>
                <a:tc>
                  <a:txBody>
                    <a:bodyPr wrap="square"/>
                    <a:lstStyle/>
                    <a:p>
                      <a:r>
                        <a:rPr sz="1200" b="0" i="0">
                          <a:solidFill>
                            <a:srgbClr val="1F2937"/>
                          </a:solidFill>
                          <a:latin typeface="Calibri"/>
                        </a:rPr>
                        <a:t>18,1</a:t>
                      </a:r>
                    </a:p>
                  </a:txBody>
                  <a:tcPr marL="73152" marR="73152" marT="36576" marB="36576" anchor="ctr">
                    <a:solidFill>
                      <a:srgbClr val="E6F4F2"/>
                    </a:solidFill>
                  </a:tcPr>
                </a:tc>
              </a:tr>
              <a:tr h="426720">
                <a:tc>
                  <a:txBody>
                    <a:bodyPr wrap="square"/>
                    <a:lstStyle/>
                    <a:p>
                      <a:r>
                        <a:rPr sz="1200" b="0" i="0">
                          <a:solidFill>
                            <a:srgbClr val="1F2937"/>
                          </a:solidFill>
                          <a:latin typeface="Calibri"/>
                        </a:rPr>
                        <a:t>Ubisoft</a:t>
                      </a:r>
                    </a:p>
                  </a:txBody>
                  <a:tcPr marL="73152" marR="73152" marT="36576" marB="36576" anchor="ctr">
                    <a:solidFill>
                      <a:srgbClr val="FFFFFF"/>
                    </a:solidFill>
                  </a:tcPr>
                </a:tc>
                <a:tc>
                  <a:txBody>
                    <a:bodyPr wrap="square"/>
                    <a:lstStyle/>
                    <a:p>
                      <a:r>
                        <a:rPr sz="1200" b="0" i="0">
                          <a:solidFill>
                            <a:srgbClr val="1F2937"/>
                          </a:solidFill>
                          <a:latin typeface="Calibri"/>
                        </a:rPr>
                        <a:t>2</a:t>
                      </a:r>
                    </a:p>
                  </a:txBody>
                  <a:tcPr marL="73152" marR="73152" marT="36576" marB="36576" anchor="ctr">
                    <a:solidFill>
                      <a:srgbClr val="FFFFFF"/>
                    </a:solidFill>
                  </a:tcPr>
                </a:tc>
                <a:tc>
                  <a:txBody>
                    <a:bodyPr wrap="square"/>
                    <a:lstStyle/>
                    <a:p>
                      <a:r>
                        <a:rPr sz="1200" b="0" i="0">
                          <a:solidFill>
                            <a:srgbClr val="1F2937"/>
                          </a:solidFill>
                          <a:latin typeface="Calibri"/>
                        </a:rPr>
                        <a:t>51,0</a:t>
                      </a:r>
                    </a:p>
                  </a:txBody>
                  <a:tcPr marL="73152" marR="73152" marT="36576" marB="36576" anchor="ctr">
                    <a:solidFill>
                      <a:srgbClr val="FFFFFF"/>
                    </a:solidFill>
                  </a:tcPr>
                </a:tc>
                <a:tc>
                  <a:txBody>
                    <a:bodyPr wrap="square"/>
                    <a:lstStyle/>
                    <a:p>
                      <a:r>
                        <a:rPr sz="1200" b="0" i="0">
                          <a:solidFill>
                            <a:srgbClr val="1F2937"/>
                          </a:solidFill>
                          <a:latin typeface="Calibri"/>
                        </a:rPr>
                        <a:t>3,9 %</a:t>
                      </a:r>
                    </a:p>
                  </a:txBody>
                  <a:tcPr marL="73152" marR="73152" marT="36576" marB="36576" anchor="ctr">
                    <a:solidFill>
                      <a:srgbClr val="FFFFFF"/>
                    </a:solidFill>
                  </a:tcPr>
                </a:tc>
                <a:tc>
                  <a:txBody>
                    <a:bodyPr wrap="square"/>
                    <a:lstStyle/>
                    <a:p>
                      <a:r>
                        <a:rPr sz="1200" b="0" i="0">
                          <a:solidFill>
                            <a:srgbClr val="1F2937"/>
                          </a:solidFill>
                          <a:latin typeface="Calibri"/>
                        </a:rPr>
                        <a:t>25,5</a:t>
                      </a:r>
                    </a:p>
                  </a:txBody>
                  <a:tcPr marL="73152" marR="73152" marT="36576" marB="36576" anchor="ctr">
                    <a:solidFill>
                      <a:srgbClr val="FFFFFF"/>
                    </a:solidFill>
                  </a:tcPr>
                </a:tc>
              </a:tr>
              <a:tr h="426720">
                <a:tc>
                  <a:txBody>
                    <a:bodyPr wrap="square"/>
                    <a:lstStyle/>
                    <a:p>
                      <a:r>
                        <a:rPr sz="1200" b="0" i="0">
                          <a:solidFill>
                            <a:srgbClr val="1F2937"/>
                          </a:solidFill>
                          <a:latin typeface="Calibri"/>
                        </a:rPr>
                        <a:t>Capcom</a:t>
                      </a:r>
                    </a:p>
                  </a:txBody>
                  <a:tcPr marL="73152" marR="73152" marT="36576" marB="36576" anchor="ctr">
                    <a:solidFill>
                      <a:srgbClr val="E6F4F2"/>
                    </a:solidFill>
                  </a:tcPr>
                </a:tc>
                <a:tc>
                  <a:txBody>
                    <a:bodyPr wrap="square"/>
                    <a:lstStyle/>
                    <a:p>
                      <a:r>
                        <a:rPr sz="1200" b="0" i="0">
                          <a:solidFill>
                            <a:srgbClr val="1F2937"/>
                          </a:solidFill>
                          <a:latin typeface="Calibri"/>
                        </a:rPr>
                        <a:t>1</a:t>
                      </a:r>
                    </a:p>
                  </a:txBody>
                  <a:tcPr marL="73152" marR="73152" marT="36576" marB="36576" anchor="ctr">
                    <a:solidFill>
                      <a:srgbClr val="E6F4F2"/>
                    </a:solidFill>
                  </a:tcPr>
                </a:tc>
                <a:tc>
                  <a:txBody>
                    <a:bodyPr wrap="square"/>
                    <a:lstStyle/>
                    <a:p>
                      <a:r>
                        <a:rPr sz="1200" b="0" i="0">
                          <a:solidFill>
                            <a:srgbClr val="1F2937"/>
                          </a:solidFill>
                          <a:latin typeface="Calibri"/>
                        </a:rPr>
                        <a:t>43,0</a:t>
                      </a:r>
                    </a:p>
                  </a:txBody>
                  <a:tcPr marL="73152" marR="73152" marT="36576" marB="36576" anchor="ctr">
                    <a:solidFill>
                      <a:srgbClr val="E6F4F2"/>
                    </a:solidFill>
                  </a:tcPr>
                </a:tc>
                <a:tc>
                  <a:txBody>
                    <a:bodyPr wrap="square"/>
                    <a:lstStyle/>
                    <a:p>
                      <a:r>
                        <a:rPr sz="1200" b="0" i="0">
                          <a:solidFill>
                            <a:srgbClr val="1F2937"/>
                          </a:solidFill>
                          <a:latin typeface="Calibri"/>
                        </a:rPr>
                        <a:t>3,3 %</a:t>
                      </a:r>
                    </a:p>
                  </a:txBody>
                  <a:tcPr marL="73152" marR="73152" marT="36576" marB="36576" anchor="ctr">
                    <a:solidFill>
                      <a:srgbClr val="E6F4F2"/>
                    </a:solidFill>
                  </a:tcPr>
                </a:tc>
                <a:tc>
                  <a:txBody>
                    <a:bodyPr wrap="square"/>
                    <a:lstStyle/>
                    <a:p>
                      <a:r>
                        <a:rPr sz="1200" b="0" i="0">
                          <a:solidFill>
                            <a:srgbClr val="1F2937"/>
                          </a:solidFill>
                          <a:latin typeface="Calibri"/>
                        </a:rPr>
                        <a:t>43,0</a:t>
                      </a:r>
                    </a:p>
                  </a:txBody>
                  <a:tcPr marL="73152" marR="73152" marT="36576" marB="36576" anchor="ctr">
                    <a:solidFill>
                      <a:srgbClr val="E6F4F2"/>
                    </a:solidFill>
                  </a:tcPr>
                </a:tc>
              </a:tr>
              <a:tr h="426720">
                <a:tc>
                  <a:txBody>
                    <a:bodyPr wrap="square"/>
                    <a:lstStyle/>
                    <a:p>
                      <a:r>
                        <a:rPr sz="1200" b="0" i="0">
                          <a:solidFill>
                            <a:srgbClr val="1F2937"/>
                          </a:solidFill>
                          <a:latin typeface="Calibri"/>
                        </a:rPr>
                        <a:t>Otros (7)</a:t>
                      </a:r>
                    </a:p>
                  </a:txBody>
                  <a:tcPr marL="73152" marR="73152" marT="36576" marB="36576" anchor="ctr">
                    <a:solidFill>
                      <a:srgbClr val="FFFFFF"/>
                    </a:solidFill>
                  </a:tcPr>
                </a:tc>
                <a:tc>
                  <a:txBody>
                    <a:bodyPr wrap="square"/>
                    <a:lstStyle/>
                    <a:p>
                      <a:r>
                        <a:rPr sz="1200" b="0" i="0">
                          <a:solidFill>
                            <a:srgbClr val="1F2937"/>
                          </a:solidFill>
                          <a:latin typeface="Calibri"/>
                        </a:rPr>
                        <a:t>7</a:t>
                      </a:r>
                    </a:p>
                  </a:txBody>
                  <a:tcPr marL="73152" marR="73152" marT="36576" marB="36576" anchor="ctr">
                    <a:solidFill>
                      <a:srgbClr val="FFFFFF"/>
                    </a:solidFill>
                  </a:tcPr>
                </a:tc>
                <a:tc>
                  <a:txBody>
                    <a:bodyPr wrap="square"/>
                    <a:lstStyle/>
                    <a:p>
                      <a:r>
                        <a:rPr sz="1200" b="0" i="0">
                          <a:solidFill>
                            <a:srgbClr val="1F2937"/>
                          </a:solidFill>
                          <a:latin typeface="Calibri"/>
                        </a:rPr>
                        <a:t>118,6</a:t>
                      </a:r>
                    </a:p>
                  </a:txBody>
                  <a:tcPr marL="73152" marR="73152" marT="36576" marB="36576" anchor="ctr">
                    <a:solidFill>
                      <a:srgbClr val="FFFFFF"/>
                    </a:solidFill>
                  </a:tcPr>
                </a:tc>
                <a:tc>
                  <a:txBody>
                    <a:bodyPr wrap="square"/>
                    <a:lstStyle/>
                    <a:p>
                      <a:r>
                        <a:rPr sz="1200" b="0" i="0">
                          <a:solidFill>
                            <a:srgbClr val="1F2937"/>
                          </a:solidFill>
                          <a:latin typeface="Calibri"/>
                        </a:rPr>
                        <a:t>9,1 %</a:t>
                      </a:r>
                    </a:p>
                  </a:txBody>
                  <a:tcPr marL="73152" marR="73152" marT="36576" marB="36576" anchor="ctr">
                    <a:solidFill>
                      <a:srgbClr val="FFFFFF"/>
                    </a:solidFill>
                  </a:tcPr>
                </a:tc>
                <a:tc>
                  <a:txBody>
                    <a:bodyPr wrap="square"/>
                    <a:lstStyle/>
                    <a:p>
                      <a:r>
                        <a:rPr sz="1200" b="0" i="0">
                          <a:solidFill>
                            <a:srgbClr val="1F2937"/>
                          </a:solidFill>
                          <a:latin typeface="Calibri"/>
                        </a:rPr>
                        <a:t>16,9</a:t>
                      </a:r>
                    </a:p>
                  </a:txBody>
                  <a:tcPr marL="73152" marR="73152" marT="36576" marB="36576" anchor="ctr">
                    <a:solidFill>
                      <a:srgbClr val="FFFFFF"/>
                    </a:solidFill>
                  </a:tcPr>
                </a:tc>
              </a:tr>
              <a:tr h="426720">
                <a:tc>
                  <a:txBody>
                    <a:bodyPr wrap="square"/>
                    <a:lstStyle/>
                    <a:p>
                      <a:r>
                        <a:rPr sz="1200" b="0" i="0">
                          <a:solidFill>
                            <a:srgbClr val="1F2937"/>
                          </a:solidFill>
                          <a:latin typeface="Calibri"/>
                        </a:rPr>
                        <a:t>Total</a:t>
                      </a:r>
                    </a:p>
                  </a:txBody>
                  <a:tcPr marL="73152" marR="73152" marT="36576" marB="36576" anchor="ctr">
                    <a:solidFill>
                      <a:srgbClr val="E6F4F2"/>
                    </a:solidFill>
                  </a:tcPr>
                </a:tc>
                <a:tc>
                  <a:txBody>
                    <a:bodyPr wrap="square"/>
                    <a:lstStyle/>
                    <a:p>
                      <a:r>
                        <a:rPr sz="1200" b="0" i="0">
                          <a:solidFill>
                            <a:srgbClr val="1F2937"/>
                          </a:solidFill>
                          <a:latin typeface="Calibri"/>
                        </a:rPr>
                        <a:t>24</a:t>
                      </a:r>
                    </a:p>
                  </a:txBody>
                  <a:tcPr marL="73152" marR="73152" marT="36576" marB="36576" anchor="ctr">
                    <a:solidFill>
                      <a:srgbClr val="E6F4F2"/>
                    </a:solidFill>
                  </a:tcPr>
                </a:tc>
                <a:tc>
                  <a:txBody>
                    <a:bodyPr wrap="square"/>
                    <a:lstStyle/>
                    <a:p>
                      <a:r>
                        <a:rPr sz="1200" b="0" i="0">
                          <a:solidFill>
                            <a:srgbClr val="1F2937"/>
                          </a:solidFill>
                          <a:latin typeface="Calibri"/>
                        </a:rPr>
                        <a:t>1.309,0</a:t>
                      </a:r>
                    </a:p>
                  </a:txBody>
                  <a:tcPr marL="73152" marR="73152" marT="36576" marB="36576" anchor="ctr">
                    <a:solidFill>
                      <a:srgbClr val="E6F4F2"/>
                    </a:solidFill>
                  </a:tcPr>
                </a:tc>
                <a:tc>
                  <a:txBody>
                    <a:bodyPr wrap="square"/>
                    <a:lstStyle/>
                    <a:p>
                      <a:r>
                        <a:rPr sz="1200" b="0" i="0">
                          <a:solidFill>
                            <a:srgbClr val="1F2937"/>
                          </a:solidFill>
                          <a:latin typeface="Calibri"/>
                        </a:rPr>
                        <a:t>100 %</a:t>
                      </a:r>
                    </a:p>
                  </a:txBody>
                  <a:tcPr marL="73152" marR="73152" marT="36576" marB="36576" anchor="ctr">
                    <a:solidFill>
                      <a:srgbClr val="E6F4F2"/>
                    </a:solidFill>
                  </a:tcPr>
                </a:tc>
                <a:tc>
                  <a:txBody>
                    <a:bodyPr wrap="square"/>
                    <a:lstStyle/>
                    <a:p>
                      <a:r>
                        <a:rPr sz="1200" b="0" i="0">
                          <a:solidFill>
                            <a:srgbClr val="1F2937"/>
                          </a:solidFill>
                          <a:latin typeface="Calibri"/>
                        </a:rPr>
                        <a:t>54,5</a:t>
                      </a:r>
                    </a:p>
                  </a:txBody>
                  <a:tcPr marL="73152" marR="73152" marT="36576" marB="36576" anchor="ctr">
                    <a:solidFill>
                      <a:srgbClr val="E6F4F2"/>
                    </a:solidFill>
                  </a:tcPr>
                </a:tc>
              </a:tr>
            </a:tbl>
          </a:graphicData>
        </a:graphic>
      </p:graphicFrame>
      <p:sp>
        <p:nvSpPr>
          <p:cNvPr id="13" name="TextBox 12"/>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2 · Juegos (top 49) por editor</a:t>
            </a:r>
          </a:p>
        </p:txBody>
      </p:sp>
      <p:graphicFrame>
        <p:nvGraphicFramePr>
          <p:cNvPr id="14" name="Table 13"/>
          <p:cNvGraphicFramePr>
            <a:graphicFrameLocks noGrp="1"/>
          </p:cNvGraphicFramePr>
          <p:nvPr/>
        </p:nvGraphicFramePr>
        <p:xfrm>
          <a:off x="6255867" y="1600200"/>
          <a:ext cx="5432905" cy="3840480"/>
        </p:xfrm>
        <a:graphic>
          <a:graphicData uri="http://schemas.openxmlformats.org/drawingml/2006/table">
            <a:tbl>
              <a:tblPr firstRow="1" bandRow="1">
                <a:tableStyleId>{5C22544A-7EE6-4342-B048-85BDC9FD1C3A}</a:tableStyleId>
              </a:tblPr>
              <a:tblGrid>
                <a:gridCol w="1159020"/>
                <a:gridCol w="796826"/>
                <a:gridCol w="1159020"/>
                <a:gridCol w="1231458"/>
                <a:gridCol w="1086581"/>
              </a:tblGrid>
              <a:tr h="426720">
                <a:tc>
                  <a:txBody>
                    <a:bodyPr wrap="square"/>
                    <a:lstStyle/>
                    <a:p>
                      <a:r>
                        <a:rPr sz="1200" b="1" i="0">
                          <a:solidFill>
                            <a:srgbClr val="FFFFFF"/>
                          </a:solidFill>
                          <a:latin typeface="Calibri"/>
                        </a:rPr>
                        <a:t>Editor</a:t>
                      </a:r>
                    </a:p>
                  </a:txBody>
                  <a:tcPr marL="73152" marR="73152" marT="36576" marB="36576" anchor="ctr">
                    <a:solidFill>
                      <a:srgbClr val="0D9488"/>
                    </a:solidFill>
                  </a:tcPr>
                </a:tc>
                <a:tc>
                  <a:txBody>
                    <a:bodyPr wrap="square"/>
                    <a:lstStyle/>
                    <a:p>
                      <a:r>
                        <a:rPr sz="1200" b="1" i="0">
                          <a:solidFill>
                            <a:srgbClr val="FFFFFF"/>
                          </a:solidFill>
                          <a:latin typeface="Calibri"/>
                        </a:rPr>
                        <a:t>Cant.</a:t>
                      </a:r>
                    </a:p>
                  </a:txBody>
                  <a:tcPr marL="73152" marR="73152" marT="36576" marB="36576" anchor="ctr">
                    <a:solidFill>
                      <a:srgbClr val="0D9488"/>
                    </a:solidFill>
                  </a:tcPr>
                </a:tc>
                <a:tc>
                  <a:txBody>
                    <a:bodyPr wrap="square"/>
                    <a:lstStyle/>
                    <a:p>
                      <a:r>
                        <a:rPr sz="1200" b="1" i="0">
                          <a:solidFill>
                            <a:srgbClr val="FFFFFF"/>
                          </a:solidFill>
                          <a:latin typeface="Calibri"/>
                        </a:rPr>
                        <a:t>Ventas (M)</a:t>
                      </a:r>
                    </a:p>
                  </a:txBody>
                  <a:tcPr marL="73152" marR="73152" marT="36576" marB="36576" anchor="ctr">
                    <a:solidFill>
                      <a:srgbClr val="0D9488"/>
                    </a:solidFill>
                  </a:tcPr>
                </a:tc>
                <a:tc>
                  <a:txBody>
                    <a:bodyPr wrap="square"/>
                    <a:lstStyle/>
                    <a:p>
                      <a:r>
                        <a:rPr sz="1200" b="1" i="0">
                          <a:solidFill>
                            <a:srgbClr val="FFFFFF"/>
                          </a:solidFill>
                          <a:latin typeface="Calibri"/>
                        </a:rPr>
                        <a:t>% del total</a:t>
                      </a:r>
                    </a:p>
                  </a:txBody>
                  <a:tcPr marL="73152" marR="73152" marT="36576" marB="36576" anchor="ctr">
                    <a:solidFill>
                      <a:srgbClr val="0D9488"/>
                    </a:solidFill>
                  </a:tcPr>
                </a:tc>
                <a:tc>
                  <a:txBody>
                    <a:bodyPr wrap="square"/>
                    <a:lstStyle/>
                    <a:p>
                      <a:r>
                        <a:rPr sz="1200" b="1" i="0">
                          <a:solidFill>
                            <a:srgbClr val="FFFFFF"/>
                          </a:solidFill>
                          <a:latin typeface="Calibri"/>
                        </a:rPr>
                        <a:t>Prom. (M)</a:t>
                      </a:r>
                    </a:p>
                  </a:txBody>
                  <a:tcPr marL="73152" marR="73152" marT="36576" marB="36576" anchor="ctr">
                    <a:solidFill>
                      <a:srgbClr val="0D9488"/>
                    </a:solidFill>
                  </a:tcPr>
                </a:tc>
              </a:tr>
              <a:tr h="426720">
                <a:tc>
                  <a:txBody>
                    <a:bodyPr wrap="square"/>
                    <a:lstStyle/>
                    <a:p>
                      <a:r>
                        <a:rPr sz="1200" b="0" i="0">
                          <a:solidFill>
                            <a:srgbClr val="1F2937"/>
                          </a:solidFill>
                          <a:latin typeface="Calibri"/>
                        </a:rPr>
                        <a:t>Nintendo</a:t>
                      </a:r>
                    </a:p>
                  </a:txBody>
                  <a:tcPr marL="73152" marR="73152" marT="36576" marB="36576" anchor="ctr">
                    <a:solidFill>
                      <a:srgbClr val="FFFFFF"/>
                    </a:solidFill>
                  </a:tcPr>
                </a:tc>
                <a:tc>
                  <a:txBody>
                    <a:bodyPr wrap="square"/>
                    <a:lstStyle/>
                    <a:p>
                      <a:r>
                        <a:rPr sz="1200" b="0" i="0">
                          <a:solidFill>
                            <a:srgbClr val="1F2937"/>
                          </a:solidFill>
                          <a:latin typeface="Calibri"/>
                        </a:rPr>
                        <a:t>28</a:t>
                      </a:r>
                    </a:p>
                  </a:txBody>
                  <a:tcPr marL="73152" marR="73152" marT="36576" marB="36576" anchor="ctr">
                    <a:solidFill>
                      <a:srgbClr val="FFFFFF"/>
                    </a:solidFill>
                  </a:tcPr>
                </a:tc>
                <a:tc>
                  <a:txBody>
                    <a:bodyPr wrap="square"/>
                    <a:lstStyle/>
                    <a:p>
                      <a:r>
                        <a:rPr sz="1200" b="0" i="0">
                          <a:solidFill>
                            <a:srgbClr val="1F2937"/>
                          </a:solidFill>
                          <a:latin typeface="Calibri"/>
                        </a:rPr>
                        <a:t>568,1</a:t>
                      </a:r>
                    </a:p>
                  </a:txBody>
                  <a:tcPr marL="73152" marR="73152" marT="36576" marB="36576" anchor="ctr">
                    <a:solidFill>
                      <a:srgbClr val="FFFFFF"/>
                    </a:solidFill>
                  </a:tcPr>
                </a:tc>
                <a:tc>
                  <a:txBody>
                    <a:bodyPr wrap="square"/>
                    <a:lstStyle/>
                    <a:p>
                      <a:r>
                        <a:rPr sz="1200" b="0" i="0">
                          <a:solidFill>
                            <a:srgbClr val="1F2937"/>
                          </a:solidFill>
                          <a:latin typeface="Calibri"/>
                        </a:rPr>
                        <a:t>63,1 %</a:t>
                      </a:r>
                    </a:p>
                  </a:txBody>
                  <a:tcPr marL="73152" marR="73152" marT="36576" marB="36576" anchor="ctr">
                    <a:solidFill>
                      <a:srgbClr val="FFFFFF"/>
                    </a:solidFill>
                  </a:tcPr>
                </a:tc>
                <a:tc>
                  <a:txBody>
                    <a:bodyPr wrap="square"/>
                    <a:lstStyle/>
                    <a:p>
                      <a:r>
                        <a:rPr sz="1200" b="0" i="0">
                          <a:solidFill>
                            <a:srgbClr val="1F2937"/>
                          </a:solidFill>
                          <a:latin typeface="Calibri"/>
                        </a:rPr>
                        <a:t>20,3</a:t>
                      </a:r>
                    </a:p>
                  </a:txBody>
                  <a:tcPr marL="73152" marR="73152" marT="36576" marB="36576" anchor="ctr">
                    <a:solidFill>
                      <a:srgbClr val="FFFFFF"/>
                    </a:solidFill>
                  </a:tcPr>
                </a:tc>
              </a:tr>
              <a:tr h="426720">
                <a:tc>
                  <a:txBody>
                    <a:bodyPr wrap="square"/>
                    <a:lstStyle/>
                    <a:p>
                      <a:r>
                        <a:rPr sz="1200" b="0" i="0">
                          <a:solidFill>
                            <a:srgbClr val="1F2937"/>
                          </a:solidFill>
                          <a:latin typeface="Calibri"/>
                        </a:rPr>
                        <a:t>Sega</a:t>
                      </a:r>
                    </a:p>
                  </a:txBody>
                  <a:tcPr marL="73152" marR="73152" marT="36576" marB="36576" anchor="ctr">
                    <a:solidFill>
                      <a:srgbClr val="E6F4F2"/>
                    </a:solidFill>
                  </a:tcPr>
                </a:tc>
                <a:tc>
                  <a:txBody>
                    <a:bodyPr wrap="square"/>
                    <a:lstStyle/>
                    <a:p>
                      <a:r>
                        <a:rPr sz="1200" b="0" i="0">
                          <a:solidFill>
                            <a:srgbClr val="1F2937"/>
                          </a:solidFill>
                          <a:latin typeface="Calibri"/>
                        </a:rPr>
                        <a:t>9</a:t>
                      </a:r>
                    </a:p>
                  </a:txBody>
                  <a:tcPr marL="73152" marR="73152" marT="36576" marB="36576" anchor="ctr">
                    <a:solidFill>
                      <a:srgbClr val="E6F4F2"/>
                    </a:solidFill>
                  </a:tcPr>
                </a:tc>
                <a:tc>
                  <a:txBody>
                    <a:bodyPr wrap="square"/>
                    <a:lstStyle/>
                    <a:p>
                      <a:r>
                        <a:rPr sz="1200" b="0" i="0">
                          <a:solidFill>
                            <a:srgbClr val="1F2937"/>
                          </a:solidFill>
                          <a:latin typeface="Calibri"/>
                        </a:rPr>
                        <a:t>158,8</a:t>
                      </a:r>
                    </a:p>
                  </a:txBody>
                  <a:tcPr marL="73152" marR="73152" marT="36576" marB="36576" anchor="ctr">
                    <a:solidFill>
                      <a:srgbClr val="E6F4F2"/>
                    </a:solidFill>
                  </a:tcPr>
                </a:tc>
                <a:tc>
                  <a:txBody>
                    <a:bodyPr wrap="square"/>
                    <a:lstStyle/>
                    <a:p>
                      <a:r>
                        <a:rPr sz="1200" b="0" i="0">
                          <a:solidFill>
                            <a:srgbClr val="1F2937"/>
                          </a:solidFill>
                          <a:latin typeface="Calibri"/>
                        </a:rPr>
                        <a:t>17,6 %</a:t>
                      </a:r>
                    </a:p>
                  </a:txBody>
                  <a:tcPr marL="73152" marR="73152" marT="36576" marB="36576" anchor="ctr">
                    <a:solidFill>
                      <a:srgbClr val="E6F4F2"/>
                    </a:solidFill>
                  </a:tcPr>
                </a:tc>
                <a:tc>
                  <a:txBody>
                    <a:bodyPr wrap="square"/>
                    <a:lstStyle/>
                    <a:p>
                      <a:r>
                        <a:rPr sz="1200" b="0" i="0">
                          <a:solidFill>
                            <a:srgbClr val="1F2937"/>
                          </a:solidFill>
                          <a:latin typeface="Calibri"/>
                        </a:rPr>
                        <a:t>17,6</a:t>
                      </a:r>
                    </a:p>
                  </a:txBody>
                  <a:tcPr marL="73152" marR="73152" marT="36576" marB="36576" anchor="ctr">
                    <a:solidFill>
                      <a:srgbClr val="E6F4F2"/>
                    </a:solidFill>
                  </a:tcPr>
                </a:tc>
              </a:tr>
              <a:tr h="426720">
                <a:tc>
                  <a:txBody>
                    <a:bodyPr wrap="square"/>
                    <a:lstStyle/>
                    <a:p>
                      <a:r>
                        <a:rPr sz="1200" b="0" i="0">
                          <a:solidFill>
                            <a:srgbClr val="1F2937"/>
                          </a:solidFill>
                          <a:latin typeface="Calibri"/>
                        </a:rPr>
                        <a:t>No Brakes</a:t>
                      </a:r>
                    </a:p>
                  </a:txBody>
                  <a:tcPr marL="73152" marR="73152" marT="36576" marB="36576" anchor="ctr">
                    <a:solidFill>
                      <a:srgbClr val="FFFFFF"/>
                    </a:solidFill>
                  </a:tcPr>
                </a:tc>
                <a:tc>
                  <a:txBody>
                    <a:bodyPr wrap="square"/>
                    <a:lstStyle/>
                    <a:p>
                      <a:r>
                        <a:rPr sz="1200" b="0" i="0">
                          <a:solidFill>
                            <a:srgbClr val="1F2937"/>
                          </a:solidFill>
                          <a:latin typeface="Calibri"/>
                        </a:rPr>
                        <a:t>1</a:t>
                      </a:r>
                    </a:p>
                  </a:txBody>
                  <a:tcPr marL="73152" marR="73152" marT="36576" marB="36576" anchor="ctr">
                    <a:solidFill>
                      <a:srgbClr val="FFFFFF"/>
                    </a:solidFill>
                  </a:tcPr>
                </a:tc>
                <a:tc>
                  <a:txBody>
                    <a:bodyPr wrap="square"/>
                    <a:lstStyle/>
                    <a:p>
                      <a:r>
                        <a:rPr sz="1200" b="0" i="0">
                          <a:solidFill>
                            <a:srgbClr val="1F2937"/>
                          </a:solidFill>
                          <a:latin typeface="Calibri"/>
                        </a:rPr>
                        <a:t>55,0</a:t>
                      </a:r>
                    </a:p>
                  </a:txBody>
                  <a:tcPr marL="73152" marR="73152" marT="36576" marB="36576" anchor="ctr">
                    <a:solidFill>
                      <a:srgbClr val="FFFFFF"/>
                    </a:solidFill>
                  </a:tcPr>
                </a:tc>
                <a:tc>
                  <a:txBody>
                    <a:bodyPr wrap="square"/>
                    <a:lstStyle/>
                    <a:p>
                      <a:r>
                        <a:rPr sz="1200" b="0" i="0">
                          <a:solidFill>
                            <a:srgbClr val="1F2937"/>
                          </a:solidFill>
                          <a:latin typeface="Calibri"/>
                        </a:rPr>
                        <a:t>6,1 %</a:t>
                      </a:r>
                    </a:p>
                  </a:txBody>
                  <a:tcPr marL="73152" marR="73152" marT="36576" marB="36576" anchor="ctr">
                    <a:solidFill>
                      <a:srgbClr val="FFFFFF"/>
                    </a:solidFill>
                  </a:tcPr>
                </a:tc>
                <a:tc>
                  <a:txBody>
                    <a:bodyPr wrap="square"/>
                    <a:lstStyle/>
                    <a:p>
                      <a:r>
                        <a:rPr sz="1200" b="0" i="0">
                          <a:solidFill>
                            <a:srgbClr val="1F2937"/>
                          </a:solidFill>
                          <a:latin typeface="Calibri"/>
                        </a:rPr>
                        <a:t>55,0</a:t>
                      </a:r>
                    </a:p>
                  </a:txBody>
                  <a:tcPr marL="73152" marR="73152" marT="36576" marB="36576" anchor="ctr">
                    <a:solidFill>
                      <a:srgbClr val="FFFFFF"/>
                    </a:solidFill>
                  </a:tcPr>
                </a:tc>
              </a:tr>
              <a:tr h="426720">
                <a:tc>
                  <a:txBody>
                    <a:bodyPr wrap="square"/>
                    <a:lstStyle/>
                    <a:p>
                      <a:r>
                        <a:rPr sz="1200" b="0" i="0">
                          <a:solidFill>
                            <a:srgbClr val="1F2937"/>
                          </a:solidFill>
                          <a:latin typeface="Calibri"/>
                        </a:rPr>
                        <a:t>Activision</a:t>
                      </a:r>
                    </a:p>
                  </a:txBody>
                  <a:tcPr marL="73152" marR="73152" marT="36576" marB="36576" anchor="ctr">
                    <a:solidFill>
                      <a:srgbClr val="E6F4F2"/>
                    </a:solidFill>
                  </a:tcPr>
                </a:tc>
                <a:tc>
                  <a:txBody>
                    <a:bodyPr wrap="square"/>
                    <a:lstStyle/>
                    <a:p>
                      <a:r>
                        <a:rPr sz="1200" b="0" i="0">
                          <a:solidFill>
                            <a:srgbClr val="1F2937"/>
                          </a:solidFill>
                          <a:latin typeface="Calibri"/>
                        </a:rPr>
                        <a:t>2</a:t>
                      </a:r>
                    </a:p>
                  </a:txBody>
                  <a:tcPr marL="73152" marR="73152" marT="36576" marB="36576" anchor="ctr">
                    <a:solidFill>
                      <a:srgbClr val="E6F4F2"/>
                    </a:solidFill>
                  </a:tcPr>
                </a:tc>
                <a:tc>
                  <a:txBody>
                    <a:bodyPr wrap="square"/>
                    <a:lstStyle/>
                    <a:p>
                      <a:r>
                        <a:rPr sz="1200" b="0" i="0">
                          <a:solidFill>
                            <a:srgbClr val="1F2937"/>
                          </a:solidFill>
                          <a:latin typeface="Calibri"/>
                        </a:rPr>
                        <a:t>30,0</a:t>
                      </a:r>
                    </a:p>
                  </a:txBody>
                  <a:tcPr marL="73152" marR="73152" marT="36576" marB="36576" anchor="ctr">
                    <a:solidFill>
                      <a:srgbClr val="E6F4F2"/>
                    </a:solidFill>
                  </a:tcPr>
                </a:tc>
                <a:tc>
                  <a:txBody>
                    <a:bodyPr wrap="square"/>
                    <a:lstStyle/>
                    <a:p>
                      <a:r>
                        <a:rPr sz="1200" b="0" i="0">
                          <a:solidFill>
                            <a:srgbClr val="1F2937"/>
                          </a:solidFill>
                          <a:latin typeface="Calibri"/>
                        </a:rPr>
                        <a:t>3,3 %</a:t>
                      </a:r>
                    </a:p>
                  </a:txBody>
                  <a:tcPr marL="73152" marR="73152" marT="36576" marB="36576" anchor="ctr">
                    <a:solidFill>
                      <a:srgbClr val="E6F4F2"/>
                    </a:solidFill>
                  </a:tcPr>
                </a:tc>
                <a:tc>
                  <a:txBody>
                    <a:bodyPr wrap="square"/>
                    <a:lstStyle/>
                    <a:p>
                      <a:r>
                        <a:rPr sz="1200" b="0" i="0">
                          <a:solidFill>
                            <a:srgbClr val="1F2937"/>
                          </a:solidFill>
                          <a:latin typeface="Calibri"/>
                        </a:rPr>
                        <a:t>15,0</a:t>
                      </a:r>
                    </a:p>
                  </a:txBody>
                  <a:tcPr marL="73152" marR="73152" marT="36576" marB="36576" anchor="ctr">
                    <a:solidFill>
                      <a:srgbClr val="E6F4F2"/>
                    </a:solidFill>
                  </a:tcPr>
                </a:tc>
              </a:tr>
              <a:tr h="426720">
                <a:tc>
                  <a:txBody>
                    <a:bodyPr wrap="square"/>
                    <a:lstStyle/>
                    <a:p>
                      <a:r>
                        <a:rPr sz="1200" b="0" i="0">
                          <a:solidFill>
                            <a:srgbClr val="1F2937"/>
                          </a:solidFill>
                          <a:latin typeface="Calibri"/>
                        </a:rPr>
                        <a:t>Sony</a:t>
                      </a:r>
                    </a:p>
                  </a:txBody>
                  <a:tcPr marL="73152" marR="73152" marT="36576" marB="36576" anchor="ctr">
                    <a:solidFill>
                      <a:srgbClr val="FFFFFF"/>
                    </a:solidFill>
                  </a:tcPr>
                </a:tc>
                <a:tc>
                  <a:txBody>
                    <a:bodyPr wrap="square"/>
                    <a:lstStyle/>
                    <a:p>
                      <a:r>
                        <a:rPr sz="1200" b="0" i="0">
                          <a:solidFill>
                            <a:srgbClr val="1F2937"/>
                          </a:solidFill>
                          <a:latin typeface="Calibri"/>
                        </a:rPr>
                        <a:t>3</a:t>
                      </a:r>
                    </a:p>
                  </a:txBody>
                  <a:tcPr marL="73152" marR="73152" marT="36576" marB="36576" anchor="ctr">
                    <a:solidFill>
                      <a:srgbClr val="FFFFFF"/>
                    </a:solidFill>
                  </a:tcPr>
                </a:tc>
                <a:tc>
                  <a:txBody>
                    <a:bodyPr wrap="square"/>
                    <a:lstStyle/>
                    <a:p>
                      <a:r>
                        <a:rPr sz="1200" b="0" i="0">
                          <a:solidFill>
                            <a:srgbClr val="1F2937"/>
                          </a:solidFill>
                          <a:latin typeface="Calibri"/>
                        </a:rPr>
                        <a:t>21,8</a:t>
                      </a:r>
                    </a:p>
                  </a:txBody>
                  <a:tcPr marL="73152" marR="73152" marT="36576" marB="36576" anchor="ctr">
                    <a:solidFill>
                      <a:srgbClr val="FFFFFF"/>
                    </a:solidFill>
                  </a:tcPr>
                </a:tc>
                <a:tc>
                  <a:txBody>
                    <a:bodyPr wrap="square"/>
                    <a:lstStyle/>
                    <a:p>
                      <a:r>
                        <a:rPr sz="1200" b="0" i="0">
                          <a:solidFill>
                            <a:srgbClr val="1F2937"/>
                          </a:solidFill>
                          <a:latin typeface="Calibri"/>
                        </a:rPr>
                        <a:t>2,4 %</a:t>
                      </a:r>
                    </a:p>
                  </a:txBody>
                  <a:tcPr marL="73152" marR="73152" marT="36576" marB="36576" anchor="ctr">
                    <a:solidFill>
                      <a:srgbClr val="FFFFFF"/>
                    </a:solidFill>
                  </a:tcPr>
                </a:tc>
                <a:tc>
                  <a:txBody>
                    <a:bodyPr wrap="square"/>
                    <a:lstStyle/>
                    <a:p>
                      <a:r>
                        <a:rPr sz="1200" b="0" i="0">
                          <a:solidFill>
                            <a:srgbClr val="1F2937"/>
                          </a:solidFill>
                          <a:latin typeface="Calibri"/>
                        </a:rPr>
                        <a:t>7,3</a:t>
                      </a:r>
                    </a:p>
                  </a:txBody>
                  <a:tcPr marL="73152" marR="73152" marT="36576" marB="36576" anchor="ctr">
                    <a:solidFill>
                      <a:srgbClr val="FFFFFF"/>
                    </a:solidFill>
                  </a:tcPr>
                </a:tc>
              </a:tr>
              <a:tr h="426720">
                <a:tc>
                  <a:txBody>
                    <a:bodyPr wrap="square"/>
                    <a:lstStyle/>
                    <a:p>
                      <a:r>
                        <a:rPr sz="1200" b="0" i="0">
                          <a:solidFill>
                            <a:srgbClr val="1F2937"/>
                          </a:solidFill>
                          <a:latin typeface="Calibri"/>
                        </a:rPr>
                        <a:t>Eidos</a:t>
                      </a:r>
                    </a:p>
                  </a:txBody>
                  <a:tcPr marL="73152" marR="73152" marT="36576" marB="36576" anchor="ctr">
                    <a:solidFill>
                      <a:srgbClr val="E6F4F2"/>
                    </a:solidFill>
                  </a:tcPr>
                </a:tc>
                <a:tc>
                  <a:txBody>
                    <a:bodyPr wrap="square"/>
                    <a:lstStyle/>
                    <a:p>
                      <a:r>
                        <a:rPr sz="1200" b="0" i="0">
                          <a:solidFill>
                            <a:srgbClr val="1F2937"/>
                          </a:solidFill>
                          <a:latin typeface="Calibri"/>
                        </a:rPr>
                        <a:t>2</a:t>
                      </a:r>
                    </a:p>
                  </a:txBody>
                  <a:tcPr marL="73152" marR="73152" marT="36576" marB="36576" anchor="ctr">
                    <a:solidFill>
                      <a:srgbClr val="E6F4F2"/>
                    </a:solidFill>
                  </a:tcPr>
                </a:tc>
                <a:tc>
                  <a:txBody>
                    <a:bodyPr wrap="square"/>
                    <a:lstStyle/>
                    <a:p>
                      <a:r>
                        <a:rPr sz="1200" b="0" i="0">
                          <a:solidFill>
                            <a:srgbClr val="1F2937"/>
                          </a:solidFill>
                          <a:latin typeface="Calibri"/>
                        </a:rPr>
                        <a:t>14,0</a:t>
                      </a:r>
                    </a:p>
                  </a:txBody>
                  <a:tcPr marL="73152" marR="73152" marT="36576" marB="36576" anchor="ctr">
                    <a:solidFill>
                      <a:srgbClr val="E6F4F2"/>
                    </a:solidFill>
                  </a:tcPr>
                </a:tc>
                <a:tc>
                  <a:txBody>
                    <a:bodyPr wrap="square"/>
                    <a:lstStyle/>
                    <a:p>
                      <a:r>
                        <a:rPr sz="1200" b="0" i="0">
                          <a:solidFill>
                            <a:srgbClr val="1F2937"/>
                          </a:solidFill>
                          <a:latin typeface="Calibri"/>
                        </a:rPr>
                        <a:t>1,6 %</a:t>
                      </a:r>
                    </a:p>
                  </a:txBody>
                  <a:tcPr marL="73152" marR="73152" marT="36576" marB="36576" anchor="ctr">
                    <a:solidFill>
                      <a:srgbClr val="E6F4F2"/>
                    </a:solidFill>
                  </a:tcPr>
                </a:tc>
                <a:tc>
                  <a:txBody>
                    <a:bodyPr wrap="square"/>
                    <a:lstStyle/>
                    <a:p>
                      <a:r>
                        <a:rPr sz="1200" b="0" i="0">
                          <a:solidFill>
                            <a:srgbClr val="1F2937"/>
                          </a:solidFill>
                          <a:latin typeface="Calibri"/>
                        </a:rPr>
                        <a:t>7,0</a:t>
                      </a:r>
                    </a:p>
                  </a:txBody>
                  <a:tcPr marL="73152" marR="73152" marT="36576" marB="36576" anchor="ctr">
                    <a:solidFill>
                      <a:srgbClr val="E6F4F2"/>
                    </a:solidFill>
                  </a:tcPr>
                </a:tc>
              </a:tr>
              <a:tr h="426720">
                <a:tc>
                  <a:txBody>
                    <a:bodyPr wrap="square"/>
                    <a:lstStyle/>
                    <a:p>
                      <a:r>
                        <a:rPr sz="1200" b="0" i="0">
                          <a:solidFill>
                            <a:srgbClr val="1F2937"/>
                          </a:solidFill>
                          <a:latin typeface="Calibri"/>
                        </a:rPr>
                        <a:t>Otros (4)</a:t>
                      </a:r>
                    </a:p>
                  </a:txBody>
                  <a:tcPr marL="73152" marR="73152" marT="36576" marB="36576" anchor="ctr">
                    <a:solidFill>
                      <a:srgbClr val="FFFFFF"/>
                    </a:solidFill>
                  </a:tcPr>
                </a:tc>
                <a:tc>
                  <a:txBody>
                    <a:bodyPr wrap="square"/>
                    <a:lstStyle/>
                    <a:p>
                      <a:r>
                        <a:rPr sz="1200" b="0" i="0">
                          <a:solidFill>
                            <a:srgbClr val="1F2937"/>
                          </a:solidFill>
                          <a:latin typeface="Calibri"/>
                        </a:rPr>
                        <a:t>4</a:t>
                      </a:r>
                    </a:p>
                  </a:txBody>
                  <a:tcPr marL="73152" marR="73152" marT="36576" marB="36576" anchor="ctr">
                    <a:solidFill>
                      <a:srgbClr val="FFFFFF"/>
                    </a:solidFill>
                  </a:tcPr>
                </a:tc>
                <a:tc>
                  <a:txBody>
                    <a:bodyPr wrap="square"/>
                    <a:lstStyle/>
                    <a:p>
                      <a:r>
                        <a:rPr sz="1200" b="0" i="0">
                          <a:solidFill>
                            <a:srgbClr val="1F2937"/>
                          </a:solidFill>
                          <a:latin typeface="Calibri"/>
                        </a:rPr>
                        <a:t>52,9</a:t>
                      </a:r>
                    </a:p>
                  </a:txBody>
                  <a:tcPr marL="73152" marR="73152" marT="36576" marB="36576" anchor="ctr">
                    <a:solidFill>
                      <a:srgbClr val="FFFFFF"/>
                    </a:solidFill>
                  </a:tcPr>
                </a:tc>
                <a:tc>
                  <a:txBody>
                    <a:bodyPr wrap="square"/>
                    <a:lstStyle/>
                    <a:p>
                      <a:r>
                        <a:rPr sz="1200" b="0" i="0">
                          <a:solidFill>
                            <a:srgbClr val="1F2937"/>
                          </a:solidFill>
                          <a:latin typeface="Calibri"/>
                        </a:rPr>
                        <a:t>5,9 %</a:t>
                      </a:r>
                    </a:p>
                  </a:txBody>
                  <a:tcPr marL="73152" marR="73152" marT="36576" marB="36576" anchor="ctr">
                    <a:solidFill>
                      <a:srgbClr val="FFFFFF"/>
                    </a:solidFill>
                  </a:tcPr>
                </a:tc>
                <a:tc>
                  <a:txBody>
                    <a:bodyPr wrap="square"/>
                    <a:lstStyle/>
                    <a:p>
                      <a:r>
                        <a:rPr sz="1200" b="0" i="0">
                          <a:solidFill>
                            <a:srgbClr val="1F2937"/>
                          </a:solidFill>
                          <a:latin typeface="Calibri"/>
                        </a:rPr>
                        <a:t>13,2</a:t>
                      </a:r>
                    </a:p>
                  </a:txBody>
                  <a:tcPr marL="73152" marR="73152" marT="36576" marB="36576" anchor="ctr">
                    <a:solidFill>
                      <a:srgbClr val="FFFFFF"/>
                    </a:solidFill>
                  </a:tcPr>
                </a:tc>
              </a:tr>
              <a:tr h="426720">
                <a:tc>
                  <a:txBody>
                    <a:bodyPr wrap="square"/>
                    <a:lstStyle/>
                    <a:p>
                      <a:r>
                        <a:rPr sz="1200" b="0" i="0">
                          <a:solidFill>
                            <a:srgbClr val="1F2937"/>
                          </a:solidFill>
                          <a:latin typeface="Calibri"/>
                        </a:rPr>
                        <a:t>Total</a:t>
                      </a:r>
                    </a:p>
                  </a:txBody>
                  <a:tcPr marL="73152" marR="73152" marT="36576" marB="36576" anchor="ctr">
                    <a:solidFill>
                      <a:srgbClr val="E6F4F2"/>
                    </a:solidFill>
                  </a:tcPr>
                </a:tc>
                <a:tc>
                  <a:txBody>
                    <a:bodyPr wrap="square"/>
                    <a:lstStyle/>
                    <a:p>
                      <a:r>
                        <a:rPr sz="1200" b="0" i="0">
                          <a:solidFill>
                            <a:srgbClr val="1F2937"/>
                          </a:solidFill>
                          <a:latin typeface="Calibri"/>
                        </a:rPr>
                        <a:t>49</a:t>
                      </a:r>
                    </a:p>
                  </a:txBody>
                  <a:tcPr marL="73152" marR="73152" marT="36576" marB="36576" anchor="ctr">
                    <a:solidFill>
                      <a:srgbClr val="E6F4F2"/>
                    </a:solidFill>
                  </a:tcPr>
                </a:tc>
                <a:tc>
                  <a:txBody>
                    <a:bodyPr wrap="square"/>
                    <a:lstStyle/>
                    <a:p>
                      <a:r>
                        <a:rPr sz="1200" b="0" i="0">
                          <a:solidFill>
                            <a:srgbClr val="1F2937"/>
                          </a:solidFill>
                          <a:latin typeface="Calibri"/>
                        </a:rPr>
                        <a:t>900,6</a:t>
                      </a:r>
                    </a:p>
                  </a:txBody>
                  <a:tcPr marL="73152" marR="73152" marT="36576" marB="36576" anchor="ctr">
                    <a:solidFill>
                      <a:srgbClr val="E6F4F2"/>
                    </a:solidFill>
                  </a:tcPr>
                </a:tc>
                <a:tc>
                  <a:txBody>
                    <a:bodyPr wrap="square"/>
                    <a:lstStyle/>
                    <a:p>
                      <a:r>
                        <a:rPr sz="1200" b="0" i="0">
                          <a:solidFill>
                            <a:srgbClr val="1F2937"/>
                          </a:solidFill>
                          <a:latin typeface="Calibri"/>
                        </a:rPr>
                        <a:t>100 %</a:t>
                      </a:r>
                    </a:p>
                  </a:txBody>
                  <a:tcPr marL="73152" marR="73152" marT="36576" marB="36576" anchor="ctr">
                    <a:solidFill>
                      <a:srgbClr val="E6F4F2"/>
                    </a:solidFill>
                  </a:tcPr>
                </a:tc>
                <a:tc>
                  <a:txBody>
                    <a:bodyPr wrap="square"/>
                    <a:lstStyle/>
                    <a:p>
                      <a:r>
                        <a:rPr sz="1200" b="0" i="0">
                          <a:solidFill>
                            <a:srgbClr val="1F2937"/>
                          </a:solidFill>
                          <a:latin typeface="Calibri"/>
                        </a:rPr>
                        <a:t>18,4</a:t>
                      </a:r>
                    </a:p>
                  </a:txBody>
                  <a:tcPr marL="73152" marR="73152" marT="36576" marB="36576" anchor="ctr">
                    <a:solidFill>
                      <a:srgbClr val="E6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