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4837" autoAdjust="0"/>
  </p:normalViewPr>
  <p:slideViewPr>
    <p:cSldViewPr snapToGrid="0" snapToObjects="1">
      <p:cViewPr varScale="1">
        <p:scale>
          <a:sx n="53" d="100"/>
          <a:sy n="53" d="100"/>
        </p:scale>
        <p:origin x="181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7800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Glosario (conceptos cortos para la docente):</a:t>
            </a:r>
          </a:p>
          <a:p>
            <a:r>
              <a:t>• Plataforma: el conjunto de hardware, sistema y tienda donde corre y se vende un juego.</a:t>
            </a:r>
          </a:p>
          <a:p>
            <a:r>
              <a:t>• Consola: equipo dedicado a jugar, fabricado y controlado por una empresa (Sony, Microsoft, Nintendo).</a:t>
            </a:r>
          </a:p>
          <a:p>
            <a:r>
              <a:t>Presentar la unidad como continuación de la anterior: veníamos de llevar Asteroides de PC a móvil. Ahora el destino es una consola.</a:t>
            </a:r>
          </a:p>
          <a:p>
            <a:r>
              <a:t>Idea fuerza de la clase: en PC y en móvil el desarrollador decide casi todo; en consola hay un dueño de la plataforma que fija reglas, precios, modelos de hardware y certificación.</a:t>
            </a:r>
          </a:p>
          <a:p>
            <a:r>
              <a:t>No empezar por specs ni por la herramienta: la clase abre con un problema de decisión.</a:t>
            </a:r>
          </a:p>
          <a:p>
            <a:r>
              <a:t>Imagen sugerida (opcional, sin recuadro en la slide): un mando de consola junto a un teléfono con Asteroides.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Glosario</a:t>
            </a:r>
            <a:r>
              <a:rPr dirty="0"/>
              <a:t> (</a:t>
            </a:r>
            <a:r>
              <a:rPr dirty="0" err="1"/>
              <a:t>conceptos</a:t>
            </a:r>
            <a:r>
              <a:rPr dirty="0"/>
              <a:t> </a:t>
            </a:r>
            <a:r>
              <a:rPr dirty="0" err="1"/>
              <a:t>cortos</a:t>
            </a:r>
            <a:r>
              <a:rPr dirty="0"/>
              <a:t> para la </a:t>
            </a:r>
            <a:r>
              <a:rPr dirty="0" err="1"/>
              <a:t>docente</a:t>
            </a:r>
            <a:r>
              <a:rPr dirty="0"/>
              <a:t>):</a:t>
            </a:r>
          </a:p>
          <a:p>
            <a:r>
              <a:rPr dirty="0"/>
              <a:t>• Publisher: </a:t>
            </a:r>
            <a:r>
              <a:rPr dirty="0" err="1"/>
              <a:t>empresa</a:t>
            </a:r>
            <a:r>
              <a:rPr dirty="0"/>
              <a:t> </a:t>
            </a:r>
            <a:r>
              <a:rPr dirty="0" err="1"/>
              <a:t>que</a:t>
            </a:r>
            <a:r>
              <a:rPr dirty="0"/>
              <a:t> </a:t>
            </a:r>
            <a:r>
              <a:rPr dirty="0" err="1"/>
              <a:t>financia</a:t>
            </a:r>
            <a:r>
              <a:rPr dirty="0"/>
              <a:t>, </a:t>
            </a:r>
            <a:r>
              <a:rPr dirty="0" err="1"/>
              <a:t>distribuye</a:t>
            </a:r>
            <a:r>
              <a:rPr dirty="0"/>
              <a:t> y </a:t>
            </a:r>
            <a:r>
              <a:rPr dirty="0" err="1"/>
              <a:t>comercializa</a:t>
            </a:r>
            <a:r>
              <a:rPr dirty="0"/>
              <a:t> un juego </a:t>
            </a:r>
            <a:r>
              <a:rPr dirty="0" err="1"/>
              <a:t>hecho</a:t>
            </a:r>
            <a:r>
              <a:rPr dirty="0"/>
              <a:t> </a:t>
            </a:r>
            <a:r>
              <a:rPr dirty="0" err="1"/>
              <a:t>por</a:t>
            </a:r>
            <a:r>
              <a:rPr dirty="0"/>
              <a:t> </a:t>
            </a:r>
            <a:r>
              <a:rPr dirty="0" err="1"/>
              <a:t>otro</a:t>
            </a:r>
            <a:r>
              <a:rPr dirty="0"/>
              <a:t> </a:t>
            </a:r>
            <a:r>
              <a:rPr dirty="0" err="1"/>
              <a:t>equipo</a:t>
            </a:r>
            <a:r>
              <a:rPr dirty="0"/>
              <a:t>.</a:t>
            </a:r>
          </a:p>
          <a:p>
            <a:r>
              <a:rPr dirty="0"/>
              <a:t>• Port: </a:t>
            </a:r>
            <a:r>
              <a:rPr lang="es-ES" dirty="0"/>
              <a:t>versión </a:t>
            </a:r>
            <a:r>
              <a:rPr dirty="0"/>
              <a:t>de un juego </a:t>
            </a:r>
            <a:r>
              <a:rPr dirty="0" err="1"/>
              <a:t>adaptada</a:t>
            </a:r>
            <a:r>
              <a:rPr dirty="0"/>
              <a:t> a </a:t>
            </a:r>
            <a:r>
              <a:rPr dirty="0" err="1"/>
              <a:t>otra</a:t>
            </a:r>
            <a:r>
              <a:rPr dirty="0"/>
              <a:t> </a:t>
            </a:r>
            <a:r>
              <a:rPr dirty="0" err="1"/>
              <a:t>plataforma</a:t>
            </a:r>
            <a:r>
              <a:rPr dirty="0"/>
              <a:t>.</a:t>
            </a:r>
          </a:p>
          <a:p>
            <a:r>
              <a:rPr dirty="0" err="1"/>
              <a:t>Relato</a:t>
            </a:r>
            <a:r>
              <a:rPr dirty="0"/>
              <a:t>: "</a:t>
            </a:r>
            <a:r>
              <a:rPr dirty="0" err="1"/>
              <a:t>Terminamos</a:t>
            </a:r>
            <a:r>
              <a:rPr dirty="0"/>
              <a:t> </a:t>
            </a:r>
            <a:r>
              <a:rPr dirty="0" err="1"/>
              <a:t>Asteroides</a:t>
            </a:r>
            <a:r>
              <a:rPr dirty="0"/>
              <a:t> para PC y Android. Un publisher </a:t>
            </a:r>
            <a:r>
              <a:rPr dirty="0" err="1"/>
              <a:t>ofrece</a:t>
            </a:r>
            <a:r>
              <a:rPr dirty="0"/>
              <a:t> </a:t>
            </a:r>
            <a:r>
              <a:rPr dirty="0" err="1"/>
              <a:t>financiar</a:t>
            </a:r>
            <a:r>
              <a:rPr dirty="0"/>
              <a:t> el port a </a:t>
            </a:r>
            <a:r>
              <a:rPr dirty="0" err="1"/>
              <a:t>consola</a:t>
            </a:r>
            <a:r>
              <a:rPr dirty="0"/>
              <a:t>, </a:t>
            </a:r>
            <a:r>
              <a:rPr dirty="0" err="1"/>
              <a:t>pero</a:t>
            </a:r>
            <a:r>
              <a:rPr dirty="0"/>
              <a:t> solo a </a:t>
            </a:r>
            <a:r>
              <a:rPr dirty="0" err="1"/>
              <a:t>una</a:t>
            </a:r>
            <a:r>
              <a:rPr dirty="0"/>
              <a:t> </a:t>
            </a:r>
            <a:r>
              <a:rPr dirty="0" err="1"/>
              <a:t>este</a:t>
            </a:r>
            <a:r>
              <a:rPr dirty="0"/>
              <a:t> </a:t>
            </a:r>
            <a:r>
              <a:rPr dirty="0" err="1"/>
              <a:t>año</a:t>
            </a:r>
            <a:r>
              <a:rPr dirty="0"/>
              <a:t>: PS5, Xbox Series X|S o Nintendo Switch 2".</a:t>
            </a:r>
          </a:p>
          <a:p>
            <a:r>
              <a:rPr dirty="0" err="1"/>
              <a:t>Dejar</a:t>
            </a:r>
            <a:r>
              <a:rPr dirty="0"/>
              <a:t> </a:t>
            </a:r>
            <a:r>
              <a:rPr dirty="0" err="1"/>
              <a:t>que</a:t>
            </a:r>
            <a:r>
              <a:rPr dirty="0"/>
              <a:t> </a:t>
            </a:r>
            <a:r>
              <a:rPr dirty="0" err="1"/>
              <a:t>voten</a:t>
            </a:r>
            <a:r>
              <a:rPr dirty="0"/>
              <a:t> a mano </a:t>
            </a:r>
            <a:r>
              <a:rPr dirty="0" err="1"/>
              <a:t>alzada</a:t>
            </a:r>
            <a:r>
              <a:rPr dirty="0"/>
              <a:t> y </a:t>
            </a:r>
            <a:r>
              <a:rPr dirty="0" err="1"/>
              <a:t>anotar</a:t>
            </a:r>
            <a:r>
              <a:rPr dirty="0"/>
              <a:t> </a:t>
            </a:r>
            <a:r>
              <a:rPr dirty="0" err="1"/>
              <a:t>en</a:t>
            </a:r>
            <a:r>
              <a:rPr dirty="0"/>
              <a:t> el </a:t>
            </a:r>
            <a:r>
              <a:rPr dirty="0" err="1"/>
              <a:t>pizarrón</a:t>
            </a:r>
            <a:r>
              <a:rPr dirty="0"/>
              <a:t> </a:t>
            </a:r>
            <a:r>
              <a:rPr dirty="0" err="1"/>
              <a:t>los</a:t>
            </a:r>
            <a:r>
              <a:rPr dirty="0"/>
              <a:t> </a:t>
            </a:r>
            <a:r>
              <a:rPr dirty="0" err="1"/>
              <a:t>argumentos</a:t>
            </a:r>
            <a:r>
              <a:rPr dirty="0"/>
              <a:t>. Respuesta </a:t>
            </a:r>
            <a:r>
              <a:rPr dirty="0" err="1"/>
              <a:t>esperada</a:t>
            </a:r>
            <a:r>
              <a:rPr dirty="0"/>
              <a:t>: </a:t>
            </a:r>
            <a:r>
              <a:rPr dirty="0" err="1"/>
              <a:t>casi</a:t>
            </a:r>
            <a:r>
              <a:rPr dirty="0"/>
              <a:t> </a:t>
            </a:r>
            <a:r>
              <a:rPr dirty="0" err="1"/>
              <a:t>todos</a:t>
            </a:r>
            <a:r>
              <a:rPr dirty="0"/>
              <a:t> van a </a:t>
            </a:r>
            <a:r>
              <a:rPr dirty="0" err="1"/>
              <a:t>decir</a:t>
            </a:r>
            <a:r>
              <a:rPr dirty="0"/>
              <a:t> "la </a:t>
            </a:r>
            <a:r>
              <a:rPr dirty="0" err="1"/>
              <a:t>que</a:t>
            </a:r>
            <a:r>
              <a:rPr dirty="0"/>
              <a:t> </a:t>
            </a:r>
            <a:r>
              <a:rPr dirty="0" err="1"/>
              <a:t>más</a:t>
            </a:r>
            <a:r>
              <a:rPr dirty="0"/>
              <a:t> </a:t>
            </a:r>
            <a:r>
              <a:rPr dirty="0" err="1"/>
              <a:t>vendió</a:t>
            </a:r>
            <a:r>
              <a:rPr dirty="0"/>
              <a:t>".</a:t>
            </a:r>
          </a:p>
          <a:p>
            <a:r>
              <a:rPr dirty="0"/>
              <a:t>No </a:t>
            </a:r>
            <a:r>
              <a:rPr dirty="0" err="1"/>
              <a:t>corregir</a:t>
            </a:r>
            <a:r>
              <a:rPr dirty="0"/>
              <a:t> </a:t>
            </a:r>
            <a:r>
              <a:rPr dirty="0" err="1"/>
              <a:t>todavía</a:t>
            </a:r>
            <a:r>
              <a:rPr dirty="0"/>
              <a:t>. La </a:t>
            </a:r>
            <a:r>
              <a:rPr dirty="0" err="1"/>
              <a:t>clase</a:t>
            </a:r>
            <a:r>
              <a:rPr dirty="0"/>
              <a:t> </a:t>
            </a:r>
            <a:r>
              <a:rPr dirty="0" err="1"/>
              <a:t>va</a:t>
            </a:r>
            <a:r>
              <a:rPr dirty="0"/>
              <a:t> a </a:t>
            </a:r>
            <a:r>
              <a:rPr dirty="0" err="1"/>
              <a:t>mostrar</a:t>
            </a:r>
            <a:r>
              <a:rPr dirty="0"/>
              <a:t> </a:t>
            </a:r>
            <a:r>
              <a:rPr dirty="0" err="1"/>
              <a:t>tres</a:t>
            </a:r>
            <a:r>
              <a:rPr dirty="0"/>
              <a:t> </a:t>
            </a:r>
            <a:r>
              <a:rPr dirty="0" err="1"/>
              <a:t>problemas</a:t>
            </a:r>
            <a:r>
              <a:rPr dirty="0"/>
              <a:t> de </a:t>
            </a:r>
            <a:r>
              <a:rPr dirty="0" err="1"/>
              <a:t>esa</a:t>
            </a:r>
            <a:r>
              <a:rPr dirty="0"/>
              <a:t> </a:t>
            </a:r>
            <a:r>
              <a:rPr dirty="0" err="1"/>
              <a:t>respuesta</a:t>
            </a:r>
            <a:r>
              <a:rPr dirty="0"/>
              <a:t>:</a:t>
            </a:r>
          </a:p>
          <a:p>
            <a:r>
              <a:rPr dirty="0"/>
              <a:t>1. Las </a:t>
            </a:r>
            <a:r>
              <a:rPr dirty="0" err="1"/>
              <a:t>cifras</a:t>
            </a:r>
            <a:r>
              <a:rPr dirty="0"/>
              <a:t> no se </a:t>
            </a:r>
            <a:r>
              <a:rPr dirty="0" err="1"/>
              <a:t>comparan</a:t>
            </a:r>
            <a:r>
              <a:rPr dirty="0"/>
              <a:t> </a:t>
            </a:r>
            <a:r>
              <a:rPr dirty="0" err="1"/>
              <a:t>directo</a:t>
            </a:r>
            <a:r>
              <a:rPr dirty="0"/>
              <a:t>: </a:t>
            </a:r>
            <a:r>
              <a:rPr dirty="0" err="1"/>
              <a:t>cada</a:t>
            </a:r>
            <a:r>
              <a:rPr dirty="0"/>
              <a:t> </a:t>
            </a:r>
            <a:r>
              <a:rPr dirty="0" err="1"/>
              <a:t>consola</a:t>
            </a:r>
            <a:r>
              <a:rPr dirty="0"/>
              <a:t> </a:t>
            </a:r>
            <a:r>
              <a:rPr dirty="0" err="1"/>
              <a:t>tiene</a:t>
            </a:r>
            <a:r>
              <a:rPr dirty="0"/>
              <a:t> </a:t>
            </a:r>
            <a:r>
              <a:rPr dirty="0" err="1"/>
              <a:t>otra</a:t>
            </a:r>
            <a:r>
              <a:rPr dirty="0"/>
              <a:t> </a:t>
            </a:r>
            <a:r>
              <a:rPr dirty="0" err="1"/>
              <a:t>edad</a:t>
            </a:r>
            <a:r>
              <a:rPr dirty="0"/>
              <a:t>, Microsoft no publica las suyas y lo </a:t>
            </a:r>
            <a:r>
              <a:rPr dirty="0" err="1"/>
              <a:t>publicado</a:t>
            </a:r>
            <a:r>
              <a:rPr dirty="0"/>
              <a:t> son </a:t>
            </a:r>
            <a:r>
              <a:rPr dirty="0" err="1"/>
              <a:t>despachos</a:t>
            </a:r>
            <a:r>
              <a:rPr dirty="0"/>
              <a:t>, no </a:t>
            </a:r>
            <a:r>
              <a:rPr dirty="0" err="1"/>
              <a:t>jugadores</a:t>
            </a:r>
            <a:r>
              <a:rPr dirty="0"/>
              <a:t>.</a:t>
            </a:r>
          </a:p>
          <a:p>
            <a:r>
              <a:rPr dirty="0"/>
              <a:t>2. Cada </a:t>
            </a:r>
            <a:r>
              <a:rPr dirty="0" err="1"/>
              <a:t>consola</a:t>
            </a:r>
            <a:r>
              <a:rPr dirty="0"/>
              <a:t> </a:t>
            </a:r>
            <a:r>
              <a:rPr dirty="0" err="1"/>
              <a:t>impone</a:t>
            </a:r>
            <a:r>
              <a:rPr dirty="0"/>
              <a:t> </a:t>
            </a:r>
            <a:r>
              <a:rPr dirty="0" err="1"/>
              <a:t>condiciones</a:t>
            </a:r>
            <a:r>
              <a:rPr dirty="0"/>
              <a:t> de </a:t>
            </a:r>
            <a:r>
              <a:rPr dirty="0" err="1"/>
              <a:t>diseño</a:t>
            </a:r>
            <a:r>
              <a:rPr dirty="0"/>
              <a:t>: </a:t>
            </a:r>
            <a:r>
              <a:rPr dirty="0" err="1"/>
              <a:t>mando</a:t>
            </a:r>
            <a:r>
              <a:rPr dirty="0"/>
              <a:t>, TV a </a:t>
            </a:r>
            <a:r>
              <a:rPr dirty="0" err="1"/>
              <a:t>distancia</a:t>
            </a:r>
            <a:r>
              <a:rPr dirty="0"/>
              <a:t>, un </a:t>
            </a:r>
            <a:r>
              <a:rPr dirty="0" err="1"/>
              <a:t>modelo</a:t>
            </a:r>
            <a:r>
              <a:rPr dirty="0"/>
              <a:t> </a:t>
            </a:r>
            <a:r>
              <a:rPr dirty="0" err="1"/>
              <a:t>más</a:t>
            </a:r>
            <a:r>
              <a:rPr dirty="0"/>
              <a:t> </a:t>
            </a:r>
            <a:r>
              <a:rPr dirty="0" err="1"/>
              <a:t>débil</a:t>
            </a:r>
            <a:r>
              <a:rPr dirty="0"/>
              <a:t> </a:t>
            </a:r>
            <a:r>
              <a:rPr dirty="0" err="1"/>
              <a:t>en</a:t>
            </a:r>
            <a:r>
              <a:rPr dirty="0"/>
              <a:t> la </a:t>
            </a:r>
            <a:r>
              <a:rPr dirty="0" err="1"/>
              <a:t>misma</a:t>
            </a:r>
            <a:r>
              <a:rPr dirty="0"/>
              <a:t> </a:t>
            </a:r>
            <a:r>
              <a:rPr dirty="0" err="1"/>
              <a:t>generación</a:t>
            </a:r>
            <a:r>
              <a:rPr dirty="0"/>
              <a:t>, </a:t>
            </a:r>
            <a:r>
              <a:rPr dirty="0" err="1"/>
              <a:t>certificación</a:t>
            </a:r>
            <a:r>
              <a:rPr dirty="0"/>
              <a:t> y tienda </a:t>
            </a:r>
            <a:r>
              <a:rPr dirty="0" err="1"/>
              <a:t>única</a:t>
            </a:r>
            <a:r>
              <a:rPr dirty="0"/>
              <a:t>.</a:t>
            </a:r>
          </a:p>
          <a:p>
            <a:r>
              <a:rPr dirty="0"/>
              <a:t>3. En 2026 el mercado </a:t>
            </a:r>
            <a:r>
              <a:rPr dirty="0" err="1"/>
              <a:t>cambió</a:t>
            </a:r>
            <a:r>
              <a:rPr dirty="0"/>
              <a:t>: las </a:t>
            </a:r>
            <a:r>
              <a:rPr dirty="0" err="1"/>
              <a:t>consolas</a:t>
            </a:r>
            <a:r>
              <a:rPr dirty="0"/>
              <a:t> </a:t>
            </a:r>
            <a:r>
              <a:rPr dirty="0" err="1"/>
              <a:t>suben</a:t>
            </a:r>
            <a:r>
              <a:rPr dirty="0"/>
              <a:t> de </a:t>
            </a:r>
            <a:r>
              <a:rPr dirty="0" err="1"/>
              <a:t>precio</a:t>
            </a:r>
            <a:r>
              <a:rPr dirty="0"/>
              <a:t> y las </a:t>
            </a:r>
            <a:r>
              <a:rPr dirty="0" err="1"/>
              <a:t>ventas</a:t>
            </a:r>
            <a:r>
              <a:rPr dirty="0"/>
              <a:t> de hardware </a:t>
            </a:r>
            <a:r>
              <a:rPr dirty="0" err="1"/>
              <a:t>caen</a:t>
            </a:r>
            <a:r>
              <a:rPr dirty="0"/>
              <a:t>.</a:t>
            </a:r>
          </a:p>
          <a:p>
            <a:r>
              <a:rPr dirty="0"/>
              <a:t>Volver a </a:t>
            </a:r>
            <a:r>
              <a:rPr dirty="0" err="1"/>
              <a:t>esta</a:t>
            </a:r>
            <a:r>
              <a:rPr dirty="0"/>
              <a:t> </a:t>
            </a:r>
            <a:r>
              <a:rPr dirty="0" err="1"/>
              <a:t>votación</a:t>
            </a:r>
            <a:r>
              <a:rPr dirty="0"/>
              <a:t> </a:t>
            </a:r>
            <a:r>
              <a:rPr dirty="0" err="1"/>
              <a:t>en</a:t>
            </a:r>
            <a:r>
              <a:rPr dirty="0"/>
              <a:t> la </a:t>
            </a:r>
            <a:r>
              <a:rPr dirty="0" err="1"/>
              <a:t>Actividad</a:t>
            </a:r>
            <a:r>
              <a:rPr dirty="0"/>
              <a:t> 2 para </a:t>
            </a:r>
            <a:r>
              <a:rPr dirty="0" err="1"/>
              <a:t>ver</a:t>
            </a:r>
            <a:r>
              <a:rPr dirty="0"/>
              <a:t> </a:t>
            </a:r>
            <a:r>
              <a:rPr dirty="0" err="1"/>
              <a:t>si</a:t>
            </a:r>
            <a:r>
              <a:rPr dirty="0"/>
              <a:t> </a:t>
            </a:r>
            <a:r>
              <a:rPr dirty="0" err="1"/>
              <a:t>cambió</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Glosario</a:t>
            </a:r>
            <a:r>
              <a:rPr dirty="0"/>
              <a:t> (</a:t>
            </a:r>
            <a:r>
              <a:rPr dirty="0" err="1"/>
              <a:t>conceptos</a:t>
            </a:r>
            <a:r>
              <a:rPr dirty="0"/>
              <a:t> </a:t>
            </a:r>
            <a:r>
              <a:rPr dirty="0" err="1"/>
              <a:t>cortos</a:t>
            </a:r>
            <a:r>
              <a:rPr dirty="0"/>
              <a:t> para la </a:t>
            </a:r>
            <a:r>
              <a:rPr dirty="0" err="1"/>
              <a:t>docente</a:t>
            </a:r>
            <a:r>
              <a:rPr dirty="0"/>
              <a:t>):</a:t>
            </a:r>
          </a:p>
          <a:p>
            <a:r>
              <a:rPr dirty="0"/>
              <a:t>• Plataforma </a:t>
            </a:r>
            <a:r>
              <a:rPr dirty="0" err="1"/>
              <a:t>cerrada</a:t>
            </a:r>
            <a:r>
              <a:rPr dirty="0"/>
              <a:t>: la </a:t>
            </a:r>
            <a:r>
              <a:rPr dirty="0" err="1"/>
              <a:t>que</a:t>
            </a:r>
            <a:r>
              <a:rPr dirty="0"/>
              <a:t> </a:t>
            </a:r>
            <a:r>
              <a:rPr dirty="0" err="1"/>
              <a:t>exige</a:t>
            </a:r>
            <a:r>
              <a:rPr dirty="0"/>
              <a:t> </a:t>
            </a:r>
            <a:r>
              <a:rPr dirty="0" err="1"/>
              <a:t>acuerdos</a:t>
            </a:r>
            <a:r>
              <a:rPr dirty="0"/>
              <a:t> de </a:t>
            </a:r>
            <a:r>
              <a:rPr dirty="0" err="1"/>
              <a:t>confidencialidad</a:t>
            </a:r>
            <a:r>
              <a:rPr dirty="0"/>
              <a:t> y </a:t>
            </a:r>
            <a:r>
              <a:rPr dirty="0" err="1"/>
              <a:t>legales</a:t>
            </a:r>
            <a:r>
              <a:rPr dirty="0"/>
              <a:t> con el </a:t>
            </a:r>
            <a:r>
              <a:rPr dirty="0" err="1"/>
              <a:t>fabricante</a:t>
            </a:r>
            <a:r>
              <a:rPr dirty="0"/>
              <a:t> para usar sus </a:t>
            </a:r>
            <a:r>
              <a:rPr dirty="0" err="1"/>
              <a:t>herramientas</a:t>
            </a:r>
            <a:r>
              <a:rPr dirty="0"/>
              <a:t> y </a:t>
            </a:r>
            <a:r>
              <a:rPr dirty="0" err="1"/>
              <a:t>su</a:t>
            </a:r>
            <a:r>
              <a:rPr dirty="0"/>
              <a:t> hardware (</a:t>
            </a:r>
            <a:r>
              <a:rPr dirty="0" err="1"/>
              <a:t>definición</a:t>
            </a:r>
            <a:r>
              <a:rPr dirty="0"/>
              <a:t> del manual de Unity).</a:t>
            </a:r>
          </a:p>
          <a:p>
            <a:r>
              <a:rPr dirty="0"/>
              <a:t>• NDA: </a:t>
            </a:r>
            <a:r>
              <a:rPr dirty="0" err="1"/>
              <a:t>acuerdo</a:t>
            </a:r>
            <a:r>
              <a:rPr dirty="0"/>
              <a:t> de </a:t>
            </a:r>
            <a:r>
              <a:rPr dirty="0" err="1"/>
              <a:t>confidencialidad</a:t>
            </a:r>
            <a:r>
              <a:rPr dirty="0"/>
              <a:t>.</a:t>
            </a:r>
          </a:p>
          <a:p>
            <a:r>
              <a:rPr dirty="0"/>
              <a:t>• Kit de </a:t>
            </a:r>
            <a:r>
              <a:rPr dirty="0" err="1"/>
              <a:t>desarrollo</a:t>
            </a:r>
            <a:r>
              <a:rPr dirty="0"/>
              <a:t> (devkit): </a:t>
            </a:r>
            <a:r>
              <a:rPr dirty="0" err="1"/>
              <a:t>consola</a:t>
            </a:r>
            <a:r>
              <a:rPr dirty="0"/>
              <a:t> especial </a:t>
            </a:r>
            <a:r>
              <a:rPr dirty="0" err="1"/>
              <a:t>que</a:t>
            </a:r>
            <a:r>
              <a:rPr dirty="0"/>
              <a:t> </a:t>
            </a:r>
            <a:r>
              <a:rPr dirty="0" err="1"/>
              <a:t>presta</a:t>
            </a:r>
            <a:r>
              <a:rPr dirty="0"/>
              <a:t> o </a:t>
            </a:r>
            <a:r>
              <a:rPr dirty="0" err="1"/>
              <a:t>vende</a:t>
            </a:r>
            <a:r>
              <a:rPr dirty="0"/>
              <a:t> el </a:t>
            </a:r>
            <a:r>
              <a:rPr dirty="0" err="1"/>
              <a:t>fabricante</a:t>
            </a:r>
            <a:r>
              <a:rPr dirty="0"/>
              <a:t> para </a:t>
            </a:r>
            <a:r>
              <a:rPr dirty="0" err="1"/>
              <a:t>desarrollar</a:t>
            </a:r>
            <a:r>
              <a:rPr dirty="0"/>
              <a:t> y </a:t>
            </a:r>
            <a:r>
              <a:rPr dirty="0" err="1"/>
              <a:t>depurar</a:t>
            </a:r>
            <a:r>
              <a:rPr dirty="0"/>
              <a:t>.</a:t>
            </a:r>
          </a:p>
          <a:p>
            <a:r>
              <a:rPr dirty="0"/>
              <a:t>• </a:t>
            </a:r>
            <a:r>
              <a:rPr dirty="0" err="1"/>
              <a:t>Certificación</a:t>
            </a:r>
            <a:r>
              <a:rPr dirty="0"/>
              <a:t>: </a:t>
            </a:r>
            <a:r>
              <a:rPr dirty="0" err="1"/>
              <a:t>revisión</a:t>
            </a:r>
            <a:r>
              <a:rPr dirty="0"/>
              <a:t> </a:t>
            </a:r>
            <a:r>
              <a:rPr dirty="0" err="1"/>
              <a:t>técnica</a:t>
            </a:r>
            <a:r>
              <a:rPr dirty="0"/>
              <a:t> </a:t>
            </a:r>
            <a:r>
              <a:rPr dirty="0" err="1"/>
              <a:t>que</a:t>
            </a:r>
            <a:r>
              <a:rPr dirty="0"/>
              <a:t> </a:t>
            </a:r>
            <a:r>
              <a:rPr dirty="0" err="1"/>
              <a:t>hace</a:t>
            </a:r>
            <a:r>
              <a:rPr dirty="0"/>
              <a:t> el </a:t>
            </a:r>
            <a:r>
              <a:rPr dirty="0" err="1"/>
              <a:t>fabricante</a:t>
            </a:r>
            <a:r>
              <a:rPr dirty="0"/>
              <a:t> antes de </a:t>
            </a:r>
            <a:r>
              <a:rPr dirty="0" err="1"/>
              <a:t>dejar</a:t>
            </a:r>
            <a:r>
              <a:rPr dirty="0"/>
              <a:t> </a:t>
            </a:r>
            <a:r>
              <a:rPr dirty="0" err="1"/>
              <a:t>publicar</a:t>
            </a:r>
            <a:r>
              <a:rPr dirty="0"/>
              <a:t> un juego o un </a:t>
            </a:r>
            <a:r>
              <a:rPr dirty="0" err="1"/>
              <a:t>parche</a:t>
            </a:r>
            <a:r>
              <a:rPr dirty="0"/>
              <a:t>.</a:t>
            </a:r>
          </a:p>
          <a:p>
            <a:r>
              <a:rPr dirty="0"/>
              <a:t>• Zona </a:t>
            </a:r>
            <a:r>
              <a:rPr dirty="0" err="1"/>
              <a:t>segura</a:t>
            </a:r>
            <a:r>
              <a:rPr dirty="0"/>
              <a:t>: </a:t>
            </a:r>
            <a:r>
              <a:rPr dirty="0" err="1"/>
              <a:t>margen</a:t>
            </a:r>
            <a:r>
              <a:rPr dirty="0"/>
              <a:t> de la </a:t>
            </a:r>
            <a:r>
              <a:rPr dirty="0" err="1"/>
              <a:t>pantalla</a:t>
            </a:r>
            <a:r>
              <a:rPr dirty="0"/>
              <a:t> </a:t>
            </a:r>
            <a:r>
              <a:rPr dirty="0" err="1"/>
              <a:t>donde</a:t>
            </a:r>
            <a:r>
              <a:rPr dirty="0"/>
              <a:t> no </a:t>
            </a:r>
            <a:r>
              <a:rPr dirty="0" err="1"/>
              <a:t>conviene</a:t>
            </a:r>
            <a:r>
              <a:rPr dirty="0"/>
              <a:t> </a:t>
            </a:r>
            <a:r>
              <a:rPr dirty="0" err="1"/>
              <a:t>poner</a:t>
            </a:r>
            <a:r>
              <a:rPr dirty="0"/>
              <a:t> UI </a:t>
            </a:r>
            <a:r>
              <a:rPr dirty="0" err="1"/>
              <a:t>esencial</a:t>
            </a:r>
            <a:r>
              <a:rPr dirty="0"/>
              <a:t> </a:t>
            </a:r>
            <a:r>
              <a:rPr dirty="0" err="1"/>
              <a:t>porque</a:t>
            </a:r>
            <a:r>
              <a:rPr dirty="0"/>
              <a:t> </a:t>
            </a:r>
            <a:r>
              <a:rPr dirty="0" err="1"/>
              <a:t>algunas</a:t>
            </a:r>
            <a:r>
              <a:rPr dirty="0"/>
              <a:t> TV lo </a:t>
            </a:r>
            <a:r>
              <a:rPr dirty="0" err="1"/>
              <a:t>recortan</a:t>
            </a:r>
            <a:r>
              <a:rPr dirty="0"/>
              <a:t>.</a:t>
            </a:r>
          </a:p>
          <a:p>
            <a:r>
              <a:rPr dirty="0"/>
              <a:t>Desarrollo de </a:t>
            </a:r>
            <a:r>
              <a:rPr dirty="0" err="1"/>
              <a:t>cada</a:t>
            </a:r>
            <a:r>
              <a:rPr dirty="0"/>
              <a:t> fila:</a:t>
            </a:r>
          </a:p>
          <a:p>
            <a:r>
              <a:rPr dirty="0"/>
              <a:t>- </a:t>
            </a:r>
            <a:r>
              <a:rPr dirty="0" err="1"/>
              <a:t>Cerrada</a:t>
            </a:r>
            <a:r>
              <a:rPr dirty="0"/>
              <a:t>: no se publica "</a:t>
            </a:r>
            <a:r>
              <a:rPr dirty="0" err="1"/>
              <a:t>subiendo</a:t>
            </a:r>
            <a:r>
              <a:rPr dirty="0"/>
              <a:t> un </a:t>
            </a:r>
            <a:r>
              <a:rPr dirty="0" err="1"/>
              <a:t>archivo</a:t>
            </a:r>
            <a:r>
              <a:rPr dirty="0"/>
              <a:t>". Hay </a:t>
            </a:r>
            <a:r>
              <a:rPr dirty="0" err="1"/>
              <a:t>que</a:t>
            </a:r>
            <a:r>
              <a:rPr dirty="0"/>
              <a:t> </a:t>
            </a:r>
            <a:r>
              <a:rPr dirty="0" err="1"/>
              <a:t>registrarse</a:t>
            </a:r>
            <a:r>
              <a:rPr dirty="0"/>
              <a:t>, </a:t>
            </a:r>
            <a:r>
              <a:rPr dirty="0" err="1"/>
              <a:t>firmar</a:t>
            </a:r>
            <a:r>
              <a:rPr dirty="0"/>
              <a:t> NDA y </a:t>
            </a:r>
            <a:r>
              <a:rPr dirty="0" err="1"/>
              <a:t>conseguir</a:t>
            </a:r>
            <a:r>
              <a:rPr dirty="0"/>
              <a:t> devkit (Sony </a:t>
            </a:r>
            <a:r>
              <a:rPr dirty="0" err="1"/>
              <a:t>presta</a:t>
            </a:r>
            <a:r>
              <a:rPr dirty="0"/>
              <a:t> un dev kit y un test kit a </a:t>
            </a:r>
            <a:r>
              <a:rPr dirty="0" err="1"/>
              <a:t>socios</a:t>
            </a:r>
            <a:r>
              <a:rPr dirty="0"/>
              <a:t> </a:t>
            </a:r>
            <a:r>
              <a:rPr dirty="0" err="1"/>
              <a:t>nuevos</a:t>
            </a:r>
            <a:r>
              <a:rPr dirty="0"/>
              <a:t>; Nintendo </a:t>
            </a:r>
            <a:r>
              <a:rPr dirty="0" err="1"/>
              <a:t>pide</a:t>
            </a:r>
            <a:r>
              <a:rPr dirty="0"/>
              <a:t> </a:t>
            </a:r>
            <a:r>
              <a:rPr dirty="0" err="1"/>
              <a:t>aceptar</a:t>
            </a:r>
            <a:r>
              <a:rPr dirty="0"/>
              <a:t> NDA y </a:t>
            </a:r>
            <a:r>
              <a:rPr dirty="0" err="1"/>
              <a:t>enviar</a:t>
            </a:r>
            <a:r>
              <a:rPr dirty="0"/>
              <a:t> el juego a </a:t>
            </a:r>
            <a:r>
              <a:rPr dirty="0" err="1"/>
              <a:t>revisión</a:t>
            </a:r>
            <a:r>
              <a:rPr dirty="0"/>
              <a:t>).</a:t>
            </a:r>
          </a:p>
          <a:p>
            <a:r>
              <a:rPr dirty="0"/>
              <a:t>- Hardware </a:t>
            </a:r>
            <a:r>
              <a:rPr dirty="0" err="1"/>
              <a:t>fijo</a:t>
            </a:r>
            <a:r>
              <a:rPr dirty="0"/>
              <a:t>: </a:t>
            </a:r>
            <a:r>
              <a:rPr dirty="0" err="1"/>
              <a:t>todos</a:t>
            </a:r>
            <a:r>
              <a:rPr dirty="0"/>
              <a:t> </a:t>
            </a:r>
            <a:r>
              <a:rPr dirty="0" err="1"/>
              <a:t>los</a:t>
            </a:r>
            <a:r>
              <a:rPr dirty="0"/>
              <a:t> </a:t>
            </a:r>
            <a:r>
              <a:rPr dirty="0" err="1"/>
              <a:t>jugadores</a:t>
            </a:r>
            <a:r>
              <a:rPr dirty="0"/>
              <a:t> de un </a:t>
            </a:r>
            <a:r>
              <a:rPr dirty="0" err="1"/>
              <a:t>modelo</a:t>
            </a:r>
            <a:r>
              <a:rPr dirty="0"/>
              <a:t> </a:t>
            </a:r>
            <a:r>
              <a:rPr dirty="0" err="1"/>
              <a:t>tienen</a:t>
            </a:r>
            <a:r>
              <a:rPr dirty="0"/>
              <a:t> la </a:t>
            </a:r>
            <a:r>
              <a:rPr dirty="0" err="1"/>
              <a:t>misma</a:t>
            </a:r>
            <a:r>
              <a:rPr dirty="0"/>
              <a:t> </a:t>
            </a:r>
            <a:r>
              <a:rPr dirty="0" err="1"/>
              <a:t>máquina</a:t>
            </a:r>
            <a:r>
              <a:rPr dirty="0"/>
              <a:t>; </a:t>
            </a:r>
            <a:r>
              <a:rPr dirty="0" err="1"/>
              <a:t>eso</a:t>
            </a:r>
            <a:r>
              <a:rPr dirty="0"/>
              <a:t> </a:t>
            </a:r>
            <a:r>
              <a:rPr dirty="0" err="1"/>
              <a:t>permite</a:t>
            </a:r>
            <a:r>
              <a:rPr dirty="0"/>
              <a:t> </a:t>
            </a:r>
            <a:r>
              <a:rPr dirty="0" err="1"/>
              <a:t>optimizar</a:t>
            </a:r>
            <a:r>
              <a:rPr dirty="0"/>
              <a:t> a </a:t>
            </a:r>
            <a:r>
              <a:rPr dirty="0" err="1"/>
              <a:t>medida</a:t>
            </a:r>
            <a:r>
              <a:rPr dirty="0"/>
              <a:t>, </a:t>
            </a:r>
            <a:r>
              <a:rPr dirty="0" err="1"/>
              <a:t>cosa</a:t>
            </a:r>
            <a:r>
              <a:rPr dirty="0"/>
              <a:t> </a:t>
            </a:r>
            <a:r>
              <a:rPr dirty="0" err="1"/>
              <a:t>imposible</a:t>
            </a:r>
            <a:r>
              <a:rPr dirty="0"/>
              <a:t> </a:t>
            </a:r>
            <a:r>
              <a:rPr dirty="0" err="1"/>
              <a:t>en</a:t>
            </a:r>
            <a:r>
              <a:rPr dirty="0"/>
              <a:t> PC o </a:t>
            </a:r>
            <a:r>
              <a:rPr dirty="0" err="1"/>
              <a:t>en</a:t>
            </a:r>
            <a:r>
              <a:rPr dirty="0"/>
              <a:t> Android.</a:t>
            </a:r>
          </a:p>
          <a:p>
            <a:r>
              <a:rPr dirty="0"/>
              <a:t>- </a:t>
            </a:r>
            <a:r>
              <a:rPr dirty="0" err="1"/>
              <a:t>Varios</a:t>
            </a:r>
            <a:r>
              <a:rPr dirty="0"/>
              <a:t> </a:t>
            </a:r>
            <a:r>
              <a:rPr dirty="0" err="1"/>
              <a:t>modelos</a:t>
            </a:r>
            <a:r>
              <a:rPr dirty="0"/>
              <a:t>: Series S y Series X, PS5 y PS5 Pro, Switch 2 </a:t>
            </a:r>
            <a:r>
              <a:rPr dirty="0" err="1"/>
              <a:t>portátil</a:t>
            </a:r>
            <a:r>
              <a:rPr dirty="0"/>
              <a:t> y </a:t>
            </a:r>
            <a:r>
              <a:rPr dirty="0" err="1"/>
              <a:t>en</a:t>
            </a:r>
            <a:r>
              <a:rPr dirty="0"/>
              <a:t> dock. Microsoft </a:t>
            </a:r>
            <a:r>
              <a:rPr dirty="0" err="1"/>
              <a:t>exige</a:t>
            </a:r>
            <a:r>
              <a:rPr dirty="0"/>
              <a:t> </a:t>
            </a:r>
            <a:r>
              <a:rPr dirty="0" err="1"/>
              <a:t>los</a:t>
            </a:r>
            <a:r>
              <a:rPr dirty="0"/>
              <a:t> </a:t>
            </a:r>
            <a:r>
              <a:rPr dirty="0" err="1"/>
              <a:t>mismos</a:t>
            </a:r>
            <a:r>
              <a:rPr dirty="0"/>
              <a:t> </a:t>
            </a:r>
            <a:r>
              <a:rPr dirty="0" err="1"/>
              <a:t>modos</a:t>
            </a:r>
            <a:r>
              <a:rPr dirty="0"/>
              <a:t> de juego </a:t>
            </a:r>
            <a:r>
              <a:rPr dirty="0" err="1"/>
              <a:t>en</a:t>
            </a:r>
            <a:r>
              <a:rPr dirty="0"/>
              <a:t> </a:t>
            </a:r>
            <a:r>
              <a:rPr dirty="0" err="1"/>
              <a:t>toda</a:t>
            </a:r>
            <a:r>
              <a:rPr dirty="0"/>
              <a:t> la </a:t>
            </a:r>
            <a:r>
              <a:rPr dirty="0" err="1"/>
              <a:t>generación</a:t>
            </a:r>
            <a:r>
              <a:rPr dirty="0"/>
              <a:t> (XR-130).</a:t>
            </a:r>
          </a:p>
          <a:p>
            <a:r>
              <a:rPr dirty="0"/>
              <a:t>- Mando: XR-003 dice </a:t>
            </a:r>
            <a:r>
              <a:rPr dirty="0" err="1"/>
              <a:t>literalmente</a:t>
            </a:r>
            <a:r>
              <a:rPr dirty="0"/>
              <a:t> "On consoles, the game must be fully navigable with a controller".</a:t>
            </a:r>
          </a:p>
          <a:p>
            <a:r>
              <a:rPr dirty="0"/>
              <a:t>- TV: la Xbox Accessibility Guideline 101 </a:t>
            </a:r>
            <a:r>
              <a:rPr dirty="0" err="1"/>
              <a:t>recomienda</a:t>
            </a:r>
            <a:r>
              <a:rPr dirty="0"/>
              <a:t> 26 </a:t>
            </a:r>
            <a:r>
              <a:rPr dirty="0" err="1"/>
              <a:t>px</a:t>
            </a:r>
            <a:r>
              <a:rPr dirty="0"/>
              <a:t> de </a:t>
            </a:r>
            <a:r>
              <a:rPr dirty="0" err="1"/>
              <a:t>texto</a:t>
            </a:r>
            <a:r>
              <a:rPr dirty="0"/>
              <a:t> </a:t>
            </a:r>
            <a:r>
              <a:rPr dirty="0" err="1"/>
              <a:t>mínimo</a:t>
            </a:r>
            <a:r>
              <a:rPr dirty="0"/>
              <a:t> a 1080p </a:t>
            </a:r>
            <a:r>
              <a:rPr dirty="0" err="1"/>
              <a:t>en</a:t>
            </a:r>
            <a:r>
              <a:rPr dirty="0"/>
              <a:t> </a:t>
            </a:r>
            <a:r>
              <a:rPr dirty="0" err="1"/>
              <a:t>consola</a:t>
            </a:r>
            <a:r>
              <a:rPr dirty="0"/>
              <a:t> (18 </a:t>
            </a:r>
            <a:r>
              <a:rPr dirty="0" err="1"/>
              <a:t>px</a:t>
            </a:r>
            <a:r>
              <a:rPr dirty="0"/>
              <a:t> </a:t>
            </a:r>
            <a:r>
              <a:rPr dirty="0" err="1"/>
              <a:t>en</a:t>
            </a:r>
            <a:r>
              <a:rPr dirty="0"/>
              <a:t> PC).</a:t>
            </a:r>
          </a:p>
          <a:p>
            <a:r>
              <a:rPr dirty="0"/>
              <a:t>- </a:t>
            </a:r>
            <a:r>
              <a:rPr dirty="0" err="1"/>
              <a:t>Certificación</a:t>
            </a:r>
            <a:r>
              <a:rPr dirty="0"/>
              <a:t>: también </a:t>
            </a:r>
            <a:r>
              <a:rPr dirty="0" err="1"/>
              <a:t>los</a:t>
            </a:r>
            <a:r>
              <a:rPr dirty="0"/>
              <a:t> parches </a:t>
            </a:r>
            <a:r>
              <a:rPr dirty="0" err="1"/>
              <a:t>pasan</a:t>
            </a:r>
            <a:r>
              <a:rPr dirty="0"/>
              <a:t> </a:t>
            </a:r>
            <a:r>
              <a:rPr dirty="0" err="1"/>
              <a:t>por</a:t>
            </a:r>
            <a:r>
              <a:rPr dirty="0"/>
              <a:t> </a:t>
            </a:r>
            <a:r>
              <a:rPr dirty="0" err="1"/>
              <a:t>ella</a:t>
            </a:r>
            <a:r>
              <a:rPr dirty="0"/>
              <a:t>. Más </a:t>
            </a:r>
            <a:r>
              <a:rPr dirty="0" err="1"/>
              <a:t>adelante</a:t>
            </a:r>
            <a:r>
              <a:rPr dirty="0"/>
              <a:t> </a:t>
            </a:r>
            <a:r>
              <a:rPr dirty="0" err="1"/>
              <a:t>en</a:t>
            </a:r>
            <a:r>
              <a:rPr dirty="0"/>
              <a:t> la </a:t>
            </a:r>
            <a:r>
              <a:rPr dirty="0" err="1"/>
              <a:t>unidad</a:t>
            </a:r>
            <a:r>
              <a:rPr dirty="0"/>
              <a:t> </a:t>
            </a:r>
            <a:r>
              <a:rPr dirty="0" err="1"/>
              <a:t>vemos</a:t>
            </a:r>
            <a:r>
              <a:rPr dirty="0"/>
              <a:t> </a:t>
            </a:r>
            <a:r>
              <a:rPr dirty="0" err="1"/>
              <a:t>los</a:t>
            </a:r>
            <a:r>
              <a:rPr dirty="0"/>
              <a:t> </a:t>
            </a:r>
            <a:r>
              <a:rPr dirty="0" err="1"/>
              <a:t>requisitos</a:t>
            </a:r>
            <a:r>
              <a:rPr dirty="0"/>
              <a:t> </a:t>
            </a:r>
            <a:r>
              <a:rPr dirty="0" err="1"/>
              <a:t>públicos</a:t>
            </a:r>
            <a:r>
              <a:rPr dirty="0"/>
              <a:t> de Microsoft.</a:t>
            </a:r>
          </a:p>
          <a:p>
            <a:r>
              <a:rPr dirty="0" err="1"/>
              <a:t>Pregunta</a:t>
            </a:r>
            <a:r>
              <a:rPr dirty="0"/>
              <a:t> </a:t>
            </a:r>
            <a:r>
              <a:rPr dirty="0" err="1"/>
              <a:t>rápida</a:t>
            </a:r>
            <a:r>
              <a:rPr dirty="0"/>
              <a:t>: ¿</a:t>
            </a:r>
            <a:r>
              <a:rPr dirty="0" err="1"/>
              <a:t>cuáles</a:t>
            </a:r>
            <a:r>
              <a:rPr dirty="0"/>
              <a:t> de </a:t>
            </a:r>
            <a:r>
              <a:rPr dirty="0" err="1"/>
              <a:t>estos</a:t>
            </a:r>
            <a:r>
              <a:rPr dirty="0"/>
              <a:t> </a:t>
            </a:r>
            <a:r>
              <a:rPr dirty="0" err="1"/>
              <a:t>rasgos</a:t>
            </a:r>
            <a:r>
              <a:rPr dirty="0"/>
              <a:t> </a:t>
            </a:r>
            <a:r>
              <a:rPr dirty="0" err="1"/>
              <a:t>tenía</a:t>
            </a:r>
            <a:r>
              <a:rPr dirty="0"/>
              <a:t> Android? </a:t>
            </a:r>
            <a:r>
              <a:rPr dirty="0" err="1"/>
              <a:t>Ninguno</a:t>
            </a:r>
            <a:r>
              <a:rPr dirty="0"/>
              <a:t> es </a:t>
            </a:r>
            <a:r>
              <a:rPr dirty="0" err="1"/>
              <a:t>obligatorio</a:t>
            </a:r>
            <a:r>
              <a:rPr dirty="0"/>
              <a:t> </a:t>
            </a:r>
            <a:r>
              <a:rPr dirty="0" err="1"/>
              <a:t>en</a:t>
            </a:r>
            <a:r>
              <a:rPr dirty="0"/>
              <a:t> Android salvo la tienda (y </a:t>
            </a:r>
            <a:r>
              <a:rPr dirty="0" err="1"/>
              <a:t>ni</a:t>
            </a:r>
            <a:r>
              <a:rPr dirty="0"/>
              <a:t> </a:t>
            </a:r>
            <a:r>
              <a:rPr dirty="0" err="1"/>
              <a:t>siquiera</a:t>
            </a:r>
            <a:r>
              <a:rPr dirty="0"/>
              <a:t>: se </a:t>
            </a:r>
            <a:r>
              <a:rPr dirty="0" err="1"/>
              <a:t>puede</a:t>
            </a:r>
            <a:r>
              <a:rPr dirty="0"/>
              <a:t> </a:t>
            </a:r>
            <a:r>
              <a:rPr dirty="0" err="1"/>
              <a:t>instalar</a:t>
            </a:r>
            <a:r>
              <a:rPr dirty="0"/>
              <a:t> un APK).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Glosario (conceptos cortos para la docente):</a:t>
            </a:r>
          </a:p>
          <a:p>
            <a:r>
              <a:t>• Sobremesa: consola que se conecta a la TV y no se lleva encima.</a:t>
            </a:r>
          </a:p>
          <a:p>
            <a:r>
              <a:t>• Híbrida: consola que funciona como portátil y también conectada a la TV (dock).</a:t>
            </a:r>
          </a:p>
          <a:p>
            <a:r>
              <a:t>• Dock: base que conecta la Switch a la TV.</a:t>
            </a:r>
          </a:p>
          <a:p>
            <a:r>
              <a:t>• SteamOS: sistema operativo de Valve, basado en Linux.</a:t>
            </a:r>
          </a:p>
          <a:p>
            <a:r>
              <a:t>El programa de la materia habla de "sobremesa y portátiles". Esa dicotomía ya no alcanza:</a:t>
            </a:r>
          </a:p>
          <a:p>
            <a:r>
              <a:t>- Desde 2017 ninguno de los tres grandes tiene una portátil pura. PlayStation Portal (nov-2023) no es una consola: reproduce a distancia lo que corre en la PS5.</a:t>
            </a:r>
          </a:p>
          <a:p>
            <a:r>
              <a:t>- La portátil histórica (Game Boy 118,69 M; DS 154,02 M; PSP más de 76,4 M) fue absorbida por la híbrida y por el teléfono (INFERENCIA).</a:t>
            </a:r>
          </a:p>
          <a:p>
            <a:r>
              <a:t>- Switch 2: pantalla de 7,9" 1920×1080 en portátil; en dock, hasta 3840×2160 a 60 fps (dato oficial de Nintendo). Son dos presupuestos de rendimiento y dos tamaños de UI en el mismo juego.</a:t>
            </a:r>
          </a:p>
          <a:p>
            <a:r>
              <a:t>- Steam Deck y Steam Machine son PC con SteamOS: el sistema es abierto, pero Valve publica una revisión de compatibilidad (Verified / Playable / Unsupported) que se parece a una certificación.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Glosario (conceptos cortos para la docente):</a:t>
            </a:r>
          </a:p>
          <a:p>
            <a:r>
              <a:t>• Sell-in: unidades despachadas por el fabricante a los comercios; no son consolas compradas por jugadores.</a:t>
            </a:r>
          </a:p>
          <a:p>
            <a:r>
              <a:t>• PS5 Pro: modelo más potente de la misma generación, lanzado el 7-nov-2024.</a:t>
            </a:r>
          </a:p>
          <a:p>
            <a:r>
              <a:t>• GDDR6: tipo de memoria rápida que comparten CPU y GPU en estas consolas.</a:t>
            </a:r>
          </a:p>
          <a:p>
            <a:r>
              <a:t>Datos completos (todos verificados el 2026-10-24):</a:t>
            </a:r>
          </a:p>
          <a:p>
            <a:r>
              <a:t>- PS5: lanzamiento 12-nov-2020. Más de 95 M al 30-jun-2026 (Sony). Precios desde 2-abr-2026: USD 649,99 con lectora, 599,99 Digital, 899,99 Pro. PS5 Pro: "67 percent more Compute Units", memoria 28 % más rápida, hasta 45 % más de render, escalado PSSR.</a:t>
            </a:r>
          </a:p>
          <a:p>
            <a:r>
              <a:t>- Xbox Series X: 16 GB GDDR6, 12 TFLOPS, objetivo 4K. Series S: 10 GB, 4 TFLOPS, objetivo 1440p. Desde 1-ago-2026 suben USD 100 (512 GB) y USD 150 (1 TB); se discontinúa el modelo de 2 TB. La fecha exacta de lanzamiento (nov-2020) es conocimiento general: la página de Microsoft solo registra el anuncio.</a:t>
            </a:r>
          </a:p>
          <a:p>
            <a:r>
              <a:t>- Switch 2: 5-jun-2025. 23,68 M de consolas y 58,17 M de juegos al 30-jun-2026. USD 449,99 → 499,99 desde 1-sep-2026.</a:t>
            </a:r>
          </a:p>
          <a:p>
            <a:r>
              <a:t>- Steam Machine: a la venta desde 22-jun-2026; AMD Zen 4 de 6 núcleos, GPU RDNA3 de 28 CU, 16 GB DDR5 + 8 GB GDDR6. USD 1.049 (512 GB) y 1.349 (2 TB).</a:t>
            </a:r>
          </a:p>
          <a:p>
            <a:r>
              <a:t>- Las specs base de PS5 y la RAM de Switch 2 no se verificaron con fuente oficial: no darlas como dato.</a:t>
            </a:r>
          </a:p>
          <a:p>
            <a:r>
              <a:t>Pregunta para el grupo: ¿qué columna de esta tabla le importa más al diseñador? Respuesta esperada: la memoria (y la existencia de varios modelos), más que el precio o las ventas.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Glosario (conceptos cortos para la docente):</a:t>
            </a:r>
          </a:p>
          <a:p>
            <a:r>
              <a:t>• Generación: conjunto de consolas de un fabricante que comparten catálogo (Series S y Series X son la misma generación).</a:t>
            </a:r>
          </a:p>
          <a:p>
            <a:r>
              <a:t>• XR-130: requisito de Microsoft que exige partidas guardadas compatibles y modos de juego idénticos entre consolas de la misma generación.</a:t>
            </a:r>
          </a:p>
          <a:p>
            <a:r>
              <a:t>• Split-screen (pantalla dividida): varios jugadores en la misma TV, cada uno con su parte de la pantalla.</a:t>
            </a:r>
          </a:p>
          <a:p>
            <a:r>
              <a:t>Caso Baldur's Gate 3 (fuentes de prensa profesional; las fuentes primarias no se pudieron abrir):</a:t>
            </a:r>
          </a:p>
          <a:p>
            <a:r>
              <a:t>- En agosto de 2023 Larian anunció que la versión de Series S no tendría pantalla dividida. Kotaku citó a Swen Vincke: "Series S will not feature split-screen coop".</a:t>
            </a:r>
          </a:p>
          <a:p>
            <a:r>
              <a:t>- La pantalla dividida necesita renderizar dos vistas y más memoria; en 10 GB no entraba.</a:t>
            </a:r>
          </a:p>
          <a:p>
            <a:r>
              <a:t>- Xbox dijo que seguiría trabajando en el tema; el Patch 8 (2025) agregó la pantalla dividida en Series S.</a:t>
            </a:r>
          </a:p>
          <a:p>
            <a:r>
              <a:t>Lección: la memoria del modelo más débil no solo baja la calidad gráfica, puede eliminar un modo de juego entero. Y con XR-130, ese modo no se puede dejar "solo para Series X" sin negociarlo con Microsoft. Que BG3 haya salido igual es una excepción cuyo detalle no es público (INFERENCIA).</a:t>
            </a:r>
          </a:p>
          <a:p>
            <a:r>
              <a:t>Lo mismo pasa con Switch 2: el modo portátil es el piso; el dock es el techo.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Glosario (conceptos cortos para la docente):</a:t>
            </a:r>
          </a:p>
          <a:p>
            <a:r>
              <a:t>• DualShock: mando de PlayStation de 1997 con dos palancas analógicas y vibración; es la base de los mandos actuales.</a:t>
            </a:r>
          </a:p>
          <a:p>
            <a:r>
              <a:t>• Xbox Live: servicio en línea de Xbox lanzado en noviembre de 2002, solo para banda ancha.</a:t>
            </a:r>
          </a:p>
          <a:p>
            <a:r>
              <a:t>• Hito: hecho que cambia la forma de diseñar o de vender juegos.</a:t>
            </a:r>
          </a:p>
          <a:p>
            <a:r>
              <a:t>Leer la línea de izquierda a derecha y preguntar en cada hito: ¿qué tuvo que cambiar el diseñador?</a:t>
            </a:r>
          </a:p>
          <a:p>
            <a:r>
              <a:t>- 1983: Family Computer sale en Japón el 15-jul-1983. Ese mismo año, en EE. UU., el mercado de consolas colapsa por exceso de juegos de baja calidad (conocimiento general, sin fuente oficial verificada). Desde entonces el fabricante controla qué se publica: es el antecedente de la certificación.</a:t>
            </a:r>
          </a:p>
          <a:p>
            <a:r>
              <a:t>- 1989: Game Boy (21-abr-1989), 118,69 M con Game Boy Color.</a:t>
            </a:r>
          </a:p>
          <a:p>
            <a:r>
              <a:t>- 1997: el DualShock (nov-1997) agrega dos sticks analógicos y vibración. Es el mando que todavía usan PS5 y Xbox.</a:t>
            </a:r>
          </a:p>
          <a:p>
            <a:r>
              <a:t>- 2002: Xbox Live sale en el primer aniversario de Xbox (nov-2002), solo banda ancha. El juego en línea pasa a tener reglas de la plataforma.</a:t>
            </a:r>
          </a:p>
          <a:p>
            <a:r>
              <a:t>- 2006: Wii (19-nov-2006), 101,63 M, con un hardware menos potente que el de sus rivales.</a:t>
            </a:r>
          </a:p>
          <a:p>
            <a:r>
              <a:t>- 2017: Switch (3-mar-2017), la primera híbrida de éxito: 156,59 M.</a:t>
            </a:r>
          </a:p>
          <a:p>
            <a:r>
              <a:t>- 2020: Xbox Series S y X salen juntas, con potencias distintas desde el primer día.</a:t>
            </a:r>
          </a:p>
          <a:p>
            <a:r>
              <a:t>- 2026: PS5, Xbox y Switch 2 suben de precio por el costo de la memoria.</a:t>
            </a:r>
          </a:p>
          <a:p>
            <a:r>
              <a:t>La escala es ordinal (el gráfico lo aclara): la separación no es proporcional al tiempo.</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Glosario (conceptos cortos para la docente):</a:t>
            </a:r>
          </a:p>
          <a:p>
            <a:r>
              <a:t>• Línea de tiempo proporcional: aquí sí la distancia horizontal representa años, a diferencia de la slide anterior.</a:t>
            </a:r>
          </a:p>
          <a:p>
            <a:r>
              <a:t>Qué mostrar (un minuto):</a:t>
            </a:r>
          </a:p>
          <a:p>
            <a:r>
              <a:t>- Nintendo es el único fabricante presente desde los 80, y el único que sostuvo portátiles hasta pasarlas a la híbrida.</a:t>
            </a:r>
          </a:p>
          <a:p>
            <a:r>
              <a:t>- Sony entra en 1994 (PlayStation, 3-dic-1994 en Japón) y Microsoft en 2001 (Xbox, 15-nov-2001).</a:t>
            </a:r>
          </a:p>
          <a:p>
            <a:r>
              <a:t>- Las generaciones de Sony y Microsoft salen casi juntas (2005–06, 2013, 2020). Nintendo va con su propio calendario.</a:t>
            </a:r>
          </a:p>
          <a:p>
            <a:r>
              <a:t>- Desde 2016 aparecen los modelos "de mitad de generación" (PS4 Pro, Xbox One X, PS5 Pro): un mismo juego con dos perfiles de rendimiento.</a:t>
            </a:r>
          </a:p>
          <a:p>
            <a:r>
              <a:t>Las bandas grises marcan la crisis de 1983 en EE. UU. (conocimiento general) y la pandemia (2020–21), que disparó las ventas de Switch.</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Glosario (conceptos cortos para la docente):</a:t>
            </a:r>
          </a:p>
          <a:p>
            <a:r>
              <a:t>• Ventas de vida: total de unidades despachadas desde el lanzamiento hasta la fecha del dato.</a:t>
            </a:r>
          </a:p>
          <a:p>
            <a:r>
              <a:t>• "More than": Sony publica cifras redondeadas hacia abajo ("más de 160 millones").</a:t>
            </a:r>
          </a:p>
          <a:p>
            <a:r>
              <a:t>Lectura guiada:</a:t>
            </a:r>
          </a:p>
          <a:p>
            <a:r>
              <a:t>- Podio: PS2 (más de 160 M), Switch (156,59 M, todavía en venta) y DS (154,02 M).</a:t>
            </a:r>
          </a:p>
          <a:p>
            <a:r>
              <a:t>- El mismo fabricante tiene éxitos y fracasos seguidos: Wii vendió 101,63 M y su sucesora Wii U, 13,56 M. Una buena idea de control (el GamePad con pantalla) no garantizó ventas.</a:t>
            </a:r>
          </a:p>
          <a:p>
            <a:r>
              <a:t>- Microsoft no aparece: no publica unidades de Xbox One ni de Series X|S. Las cifras que circulan (Xbox 360 "84 M") no se verificaron con un documento de Microsoft. Que no publique no significa que no venda.</a:t>
            </a:r>
          </a:p>
          <a:p>
            <a:r>
              <a:t>Cuidado al comparar: las fechas de corte son distintas (PS2 al 31-mar-2012, PS4 al 30-jun-2022, Nintendo al 30-jun-2026), y las consolas rayadas siguen sumando.</a:t>
            </a:r>
          </a:p>
          <a:p>
            <a:r>
              <a:t>Dato para la discusión: Switch está 3,4 M por debajo de PS2. Al ritmo de su último ejercicio (3,80 M) podría superarla, pero no hay dato oficial que lo anticipe (INFERENCIA).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Glosario (conceptos cortos para la docente):</a:t>
            </a:r>
          </a:p>
          <a:p>
            <a:r>
              <a:t>• Histograma: gráfico que agrupa los datos en intervalos (clases) y muestra cuántos casos caen en cada uno. Las barras van pegadas porque los intervalos son continuos.</a:t>
            </a:r>
          </a:p>
          <a:p>
            <a:r>
              <a:t>• Gráfico de barras: una barra por categoría (por consola), separadas, para comparar valores.</a:t>
            </a:r>
          </a:p>
          <a:p>
            <a:r>
              <a:t>• Distribución: la forma en que se reparten los valores (dónde se concentran, dónde hay huecos).</a:t>
            </a:r>
          </a:p>
          <a:p>
            <a:r>
              <a:t>Error frecuente que vale la pena corregir acá: llamar "histograma" a cualquier gráfico de barras. El ranking de la slide anterior NO es un histograma.</a:t>
            </a:r>
          </a:p>
          <a:p>
            <a:r>
              <a:t>Cómo leer este:</a:t>
            </a:r>
          </a:p>
          <a:p>
            <a:r>
              <a:t>- Eje horizontal: ventas de vida en intervalos de 25 M. Eje vertical: cuántas consolas.</a:t>
            </a:r>
          </a:p>
          <a:p>
            <a:r>
              <a:t>- 13 de las 15 consolas discontinuadas vendieron menos de 125 M; solo PS2 y DS pasan los 150 M.</a:t>
            </a:r>
          </a:p>
          <a:p>
            <a:r>
              <a:t>- Hay un hueco entre 125 y 150 M: ninguna consola discontinuada cayó ahí.</a:t>
            </a:r>
          </a:p>
          <a:p>
            <a:r>
              <a:t>Conclusión (INFERENCIA): un éxito de la escala de Switch es la excepción. Para planificar un port, conviene pensar en la consola "típica", no en la récord.</a:t>
            </a:r>
          </a:p>
          <a:p>
            <a:r>
              <a:t>Se excluyen las consolas en venta porque su cifra todavía crece y deformaría la distribución.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Glosario (conceptos cortos para la docente):</a:t>
            </a:r>
          </a:p>
          <a:p>
            <a:r>
              <a:t>• Ejercicio fiscal: año contable de la empresa. En Sony y Nintendo va de abril a marzo.</a:t>
            </a:r>
          </a:p>
          <a:p>
            <a:r>
              <a:t>• Base instalada: cantidad de consolas que están en los hogares. Crece año a año con las ventas.</a:t>
            </a:r>
          </a:p>
          <a:p>
            <a:r>
              <a:t>• Ciclo de vida: subida, pico y caída de las ventas de una consola.</a:t>
            </a:r>
          </a:p>
          <a:p>
            <a:r>
              <a:t>Lectura:</a:t>
            </a:r>
          </a:p>
          <a:p>
            <a:r>
              <a:t>- Switch subió cuatro ejercicios, llegó a 28,83 M entre abril de 2020 y marzo de 2021 (pandemia) y cayó a 3,80 M en el ejercicio en que salió Switch 2.</a:t>
            </a:r>
          </a:p>
          <a:p>
            <a:r>
              <a:t>- PS5 arrancó más lento (7,8 y 11,5 M; escasez de chips) y su pico (20,8 M) llegó en el cuarto ejercicio. La caída posterior coincide con las subas de precio.</a:t>
            </a:r>
          </a:p>
          <a:p>
            <a:r>
              <a:t>- Switch 2 vendió 19,86 M en su primer ejercicio, de menos de diez meses. A los 13 meses tenía 23,68 M; Switch tenía 17,79 M en el mismo plazo.</a:t>
            </a:r>
          </a:p>
          <a:p>
            <a:r>
              <a:t>Datos: el valor de PS5 del cuarto ejercicio (20,8 M) se obtiene restando los otros cinco al total de 93,7 M; los tres primeros vienen de los 20-F de Sony citados por el buscador y son coherentes con el hito oficial de 40 M en julio de 2023.</a:t>
            </a:r>
          </a:p>
          <a:p>
            <a:r>
              <a:t>Por qué le importa al diseñador (INFERENCIA): lanzar en el año 1 es un público chico con poca competencia; en el año 6, mucho público, mucha competencia y quizás la sucesora ya en la calle.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Glosario (conceptos cortos para la docente):</a:t>
            </a:r>
          </a:p>
          <a:p>
            <a:r>
              <a:t>• Localización: adaptar textos, audio, formatos y a veces contenido a otro idioma y cultura.</a:t>
            </a:r>
          </a:p>
          <a:p>
            <a:r>
              <a:t>• Región: zona de venta que reporta el fabricante (Japón, América, Europa, otros).</a:t>
            </a:r>
          </a:p>
          <a:p>
            <a:r>
              <a:t>Lectura:</a:t>
            </a:r>
          </a:p>
          <a:p>
            <a:r>
              <a:t>- NES y Super Famicom: Japón era un tercio de las ventas. N64 y GameCube: menos de un quinto.</a:t>
            </a:r>
          </a:p>
          <a:p>
            <a:r>
              <a:t>- Switch: 25 % Japón, 38 % América, 37 % Europa y resto. Switch 2 (primer ejercicio): 29 / 34 / 38.</a:t>
            </a:r>
          </a:p>
          <a:p>
            <a:r>
              <a:t>- Antes de Switch, Nintendo no separa Europa de "otros"; por eso la tercera franja agrupa ambas.</a:t>
            </a:r>
          </a:p>
          <a:p>
            <a:r>
              <a:t>Consecuencia de diseño (INFERENCIA): en Nintendo, más de la mitad del mercado está fuera de América. La localización al japonés y a los idiomas europeos se diseña desde el principio: textos que se alargan, fuentes con caracteres japoneses, botones que no se cortan.</a:t>
            </a:r>
          </a:p>
          <a:p>
            <a:r>
              <a:t>Sony no publica un desglose regional comparable en las páginas consultadas.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Glosario (conceptos cortos para la docente):</a:t>
            </a:r>
          </a:p>
          <a:p>
            <a:r>
              <a:t>• Precio sugerido: el que fija el fabricante para los comercios.</a:t>
            </a:r>
          </a:p>
          <a:p>
            <a:r>
              <a:t>• Componentes: memoria (RAM) y almacenamiento (SSD), cuyo precio subió por la demanda de los centros de datos de IA (según la prensa; los fabricantes hablan de costo de componentes).</a:t>
            </a:r>
          </a:p>
          <a:p>
            <a:r>
              <a:t>Datos verificados:</a:t>
            </a:r>
          </a:p>
          <a:p>
            <a:r>
              <a:t>- PS5 Digital: USD 399,99 en el lanzamiento (2020) → 599,99 desde 2-abr-2026. PS5 con lectora: 499,99 → 649,99. PS5 Pro: 899,99.</a:t>
            </a:r>
          </a:p>
          <a:p>
            <a:r>
              <a:t>- Switch 2: 449,99 → 499,99 desde 1-sep-2026; en Japón ¥49.980 → ¥59.980 desde 25-may-2026.</a:t>
            </a:r>
          </a:p>
          <a:p>
            <a:r>
              <a:t>- Xbox: +USD 100 (512 GB) y +USD 150 (1 TB) desde 1-ago-2026. Microsoft escribió: "console storage and memory prices have increased by more than 2.5x and we expect another doubling by the fall of 2027".</a:t>
            </a:r>
          </a:p>
          <a:p>
            <a:r>
              <a:t>Historia: una consola solía bajar de precio con los años y eso ampliaba el público. En 2026 pasa lo contrario.</a:t>
            </a:r>
          </a:p>
          <a:p>
            <a:r>
              <a:t>Consecuencia (INFERENCIA): si la base instalada crece más lento, la generación anterior y la PC siguen siendo mercado por más tiempo. Y la memoria, que ya limitaba el diseño (Series S), ahora también limita cuántas consolas hay.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Glosario (conceptos cortos para la docente):</a:t>
            </a:r>
          </a:p>
          <a:p>
            <a:r>
              <a:t>• MAU (usuarios activos mensuales): cuentas que jugaron al menos una vez en el mes.</a:t>
            </a:r>
          </a:p>
          <a:p>
            <a:r>
              <a:t>• Distribución digital: venta del juego como descarga, sin disco.</a:t>
            </a:r>
          </a:p>
          <a:p>
            <a:r>
              <a:t>Detalle:</a:t>
            </a:r>
          </a:p>
          <a:p>
            <a:r>
              <a:t>- Mercado 2025: USD 201.600 M, primera vez que supera los 200.000 M (Newzoo, citado por GamesBeat; Newzoo no fue accesible directamente). El crecimiento está en PC y móvil; la consola crece poco, pero sigue siendo donde se venden los juegos más caros (conocimiento general, sin cifra verificada).</a:t>
            </a:r>
          </a:p>
          <a:p>
            <a:r>
              <a:t>- PlayStation: 125 M de usuarios activos mensuales (estimación de Sony) y más de 1.706 M de juegos de PS4 + PS5.</a:t>
            </a:r>
          </a:p>
          <a:p>
            <a:r>
              <a:t>- Xbox: memo del 10-jun-2026, "We are in a hardware component crisis"; no logra fabricar todas las consolas que se le piden y sigue comprometida con su próxima consola (Helix), sin más detalles públicos.</a:t>
            </a:r>
          </a:p>
          <a:p>
            <a:r>
              <a:t>- Sony: desde enero de 2028 los juegos nuevos de PlayStation dejan de fabricarse en disco. Consecuencia de diseño: tamaño de descarga, parches chicos y contenido descargable por partes.</a:t>
            </a:r>
          </a:p>
          <a:p>
            <a:r>
              <a:t>- Steam Machine (jun-2026, USD 1.049): la PC se acerca a la consola.</a:t>
            </a:r>
          </a:p>
          <a:p>
            <a:r>
              <a:t>Cierre de la parte teórica: con estos datos, volver a la pregunta de la apertura.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Glosario (conceptos cortos para la docente):</a:t>
            </a:r>
          </a:p>
          <a:p>
            <a:r>
              <a:t>• Fecha de corte: el día al que corresponde un dato ("al 30-jun-2026").</a:t>
            </a:r>
          </a:p>
          <a:p>
            <a:r>
              <a:t>• Base instalada: consolas en los hogares (ver slide 11).</a:t>
            </a:r>
          </a:p>
          <a:p>
            <a:r>
              <a:t>Consigna completa: en grupos de tres, con los gráficos proyectados o impresos (están en imagenes/ del repositorio), responder las cinco preguntas citando el número y su fecha. 15 minutos de trabajo y 5 de puesta en común rápida.</a:t>
            </a:r>
          </a:p>
          <a:p>
            <a:r>
              <a:t>Respuestas esperadas:</a:t>
            </a:r>
          </a:p>
          <a:p>
            <a:r>
              <a:t>1. Base instalada hoy: Switch (156,59 M, al 30-jun-2026), aunque una parte ya no se usa: el ranking muestra despachos, no consolas activas. Si se pregunta por la generación actual: PS5 (más de 95 M) por encima de Switch 2 (23,68 M); Xbox, sin dato.</a:t>
            </a:r>
          </a:p>
          <a:p>
            <a:r>
              <a:t>2. Crece más rápido: Switch 2 (19,86 M en su primer ejercicio; 23,68 M en 13 meses contra 17,79 M de Switch).</a:t>
            </a:r>
          </a:p>
          <a:p>
            <a:r>
              <a:t>3. Falta Xbox One y Series X|S: Microsoft no publica unidades. Lo correcto es decir "sin dato", no "cero".</a:t>
            </a:r>
          </a:p>
          <a:p>
            <a:r>
              <a:t>4. No: 13 de 15 consolas discontinuadas vendieron menos de 125 M. 150 M es excepcional.</a:t>
            </a:r>
          </a:p>
          <a:p>
            <a:r>
              <a:t>5. Japonés e idiomas europeos: Japón es el 25–29 % y Europa y resto el 37–38 % en Switch y Switch 2.</a:t>
            </a:r>
          </a:p>
          <a:p>
            <a:r>
              <a:t>Error a vigilar: comparar PS2 con PS5 sin tener en cuenta que PS5 sigue en venta y tiene 6 años.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Glosario (conceptos cortos para la docente):</a:t>
            </a:r>
          </a:p>
          <a:p>
            <a:r>
              <a:t>• Cruceta (D-pad): botón en cruz del mando, para moverse entre opciones.</a:t>
            </a:r>
          </a:p>
          <a:p>
            <a:r>
              <a:t>• Presupuesto de rendimiento: tiempo de cuadro, memoria y almacenamiento que el juego puede usar en un modelo.</a:t>
            </a:r>
          </a:p>
          <a:p>
            <a:r>
              <a:t>Esta tabla es la herramienta para la Actividad 2: cada fila convierte un dato de la clase en una decisión que alguien del equipo tiene que tomar.</a:t>
            </a:r>
          </a:p>
          <a:p>
            <a:r>
              <a:t>Ampliación de cada fila:</a:t>
            </a:r>
          </a:p>
          <a:p>
            <a:r>
              <a:t>- Modelo más débil: Series S (10 GB) y Switch 2 portátil fijan el piso; escalar hacia arriba.</a:t>
            </a:r>
          </a:p>
          <a:p>
            <a:r>
              <a:t>- Mando y TV: XR-003 obliga a navegar todo con mando; XAG 101 recomienda texto mínimo de 26 px a 1080p. La UI de PC no sirve tal cual. El mouse de Asteroides para menús no existe en consola.</a:t>
            </a:r>
          </a:p>
          <a:p>
            <a:r>
              <a:t>- Switch 1: llegar a más de 180 M de consolas de la familia, con el costo de un tercer presupuesto de rendimiento.</a:t>
            </a:r>
          </a:p>
          <a:p>
            <a:r>
              <a:t>- Digital: con PlayStation sin discos desde 2028, el tamaño de la descarga y de los parches es parte del diseño.</a:t>
            </a:r>
          </a:p>
          <a:p>
            <a:r>
              <a:t>- Localización: textos más largos en alemán, caracteres japoneses en las fuentes.</a:t>
            </a:r>
          </a:p>
          <a:p>
            <a:r>
              <a:t>- Precios: si la base instalada crece lento, PC (Steam Deck y Steam Machine) y la generación anterior no son un "port posterior": son parte del plan (INFERENCIA).</a:t>
            </a:r>
          </a:p>
          <a:p>
            <a:r>
              <a:t>Mandos con funciones propias (gatillos adaptativos del DualSense, HD Rumble 2): se usan como mejora opcional; el juego tiene que funcionar con cualquier mando, incluido uno adaptado. Lo vemos más adelante en la unidad.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Glosario (conceptos cortos para la docente):</a:t>
            </a:r>
          </a:p>
          <a:p>
            <a:r>
              <a:t>• Matriz de decisión: tabla que compara opciones con los mismos criterios para justificar una elección.</a:t>
            </a:r>
          </a:p>
          <a:p>
            <a:r>
              <a:t>• Cambio obligatorio: modificación sin la cual el juego no se puede publicar o no se puede jugar en esa consola.</a:t>
            </a:r>
          </a:p>
          <a:p>
            <a:r>
              <a:t>Consigna completa (20 minutos de trabajo + 6 de exposición de dos grupos):</a:t>
            </a:r>
          </a:p>
          <a:p>
            <a:r>
              <a:t>1. Completar la matriz con datos de la clase, citando la fuente y la fecha.</a:t>
            </a:r>
          </a:p>
          <a:p>
            <a:r>
              <a:t>2. Elegir UNA consola y justificarla con al menos tres datos.</a:t>
            </a:r>
          </a:p>
          <a:p>
            <a:r>
              <a:t>3. Listar tres cambios de diseño obligatorios para Asteroides en esa consola (usar la slide 16).</a:t>
            </a:r>
          </a:p>
          <a:p>
            <a:r>
              <a:t>Cambios esperados para cualquier consola:</a:t>
            </a:r>
          </a:p>
          <a:p>
            <a:r>
              <a:t>- Entrada: el juego ya separa la intención del dispositivo (lo hicimos en el porteo a móvil); falta mapear el mando y quitar la dependencia del mouse en los menús.</a:t>
            </a:r>
          </a:p>
          <a:p>
            <a:r>
              <a:t>- UI: menús navegables por cruceta, texto más grande, zona segura de TV.</a:t>
            </a:r>
          </a:p>
          <a:p>
            <a:r>
              <a:t>- Ciclo de vida: pausar al desconectarse el mando y al suspender la consola (XR-115 y XR-112, que veremos más adelante en la unidad).</a:t>
            </a:r>
          </a:p>
          <a:p>
            <a:r>
              <a:t>Específicos: en Switch 2, dos presupuestos (portátil y dock) y controles con Joy-Con; en Xbox, el piso es Series S; en PS5, el modelo base (no la Pro).</a:t>
            </a:r>
          </a:p>
          <a:p>
            <a:r>
              <a:t>No hay una respuesta única correcta: se evalúa que la decisión use datos con fecha y que los cambios sean de diseño, no "hacerlo más lindo".</a:t>
            </a:r>
          </a:p>
          <a:p>
            <a:r>
              <a:t>Volver a la votación de la apertura: ¿cuántos grupos siguen eligiendo "la que más vendió"?</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Glosario (conceptos cortos para la docente):</a:t>
            </a:r>
          </a:p>
          <a:p>
            <a:r>
              <a:t>• Indie: juego de un equipo independiente, sin un gran publisher detrás.</a:t>
            </a:r>
          </a:p>
          <a:p>
            <a:r>
              <a:t>• Devkit: consola de desarrollo que entrega el fabricante tras firmar los acuerdos.</a:t>
            </a:r>
          </a:p>
          <a:p>
            <a:r>
              <a:t>Desarrollo:</a:t>
            </a:r>
          </a:p>
          <a:p>
            <a:r>
              <a:t>- Las ventas de hardware sirven para dimensionar plataformas, no para predecir cuánto venderá un juego puntual ni cuántos jugadores tiene un género.</a:t>
            </a:r>
          </a:p>
          <a:p>
            <a:r>
              <a:t>- Solo Microsoft publica sus requisitos de certificación y sus casos de prueba. Los de Sony (TRC) y Nintendo (Lotcheck) están bajo NDA: en la materia solo se enseñan los pasos públicos del proceso.</a:t>
            </a:r>
          </a:p>
          <a:p>
            <a:r>
              <a:t>- Sin registro, NDA y kit de desarrollo no se compila para consola. En el aula lo simulamos con PC y un mando, y con los criterios públicos de Steam Deck.</a:t>
            </a:r>
          </a:p>
          <a:p>
            <a:r>
              <a:t>- Los datos de Xbox no existen en forma oficial: cualquier comparación con Xbox es incompleta.</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Glosario (conceptos cortos para la docente):</a:t>
            </a:r>
          </a:p>
          <a:p>
            <a:r>
              <a:t>• Sell-through: consolas efectivamente compradas por jugadores; casi nunca se publica.</a:t>
            </a:r>
          </a:p>
          <a:p>
            <a:r>
              <a:t>Desarrollo de cada error:</a:t>
            </a:r>
          </a:p>
          <a:p>
            <a:r>
              <a:t>- Sell-in: lo publicado por Sony y Nintendo son unidades despachadas. Puede haber consolas en depósitos.</a:t>
            </a:r>
          </a:p>
          <a:p>
            <a:r>
              <a:t>- "La mejor": la base instalada activa del público del juego, la competencia en su género y el costo del port pesan más que el total histórico.</a:t>
            </a:r>
          </a:p>
          <a:p>
            <a:r>
              <a:t>- PS5 vs PS2: PS5 sigue en venta y tiene 6 años; PS2 se vendió más de 12. Usar el gráfico de ciclo de vida.</a:t>
            </a:r>
          </a:p>
          <a:p>
            <a:r>
              <a:t>- Xbox: Microsoft dejó de publicar unidades con Xbox One. Ausencia de dato no es dato cero.</a:t>
            </a:r>
          </a:p>
          <a:p>
            <a:r>
              <a:t>- Series S/X: 10 GB contra 16 GB. Caso BG3.</a:t>
            </a:r>
          </a:p>
          <a:p>
            <a:r>
              <a:t>- Precios: fue cierto durante décadas; en 2026 PS5, Xbox y Switch 2 subieron.</a:t>
            </a:r>
          </a:p>
          <a:p>
            <a:r>
              <a:t>Uno más, si hay tiempo: "los specs explican el éxito". Wii (101,63 M) era menos potente que sus rivales; Wii U (13,56 M) tenía una idea de control original y fracasó.</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Glosario (conceptos cortos para la docente):</a:t>
            </a:r>
          </a:p>
          <a:p>
            <a:r>
              <a:t>• Piso de diseño: la configuración mínima en la que el juego tiene que funcionar bien.</a:t>
            </a:r>
          </a:p>
          <a:p>
            <a:r>
              <a:t>Síntesis en tres ideas:</a:t>
            </a:r>
          </a:p>
          <a:p>
            <a:r>
              <a:t>1. En consola, el fabricante fija modelos, precios, mandos, certificación y tienda: se diseña dentro de sus reglas.</a:t>
            </a:r>
          </a:p>
          <a:p>
            <a:r>
              <a:t>2. Los datos de mercado sirven si se leen con fuente, fecha y tipo de cifra (sell-in), y sabiendo qué falta (Xbox).</a:t>
            </a:r>
          </a:p>
          <a:p>
            <a:r>
              <a:t>3. El diseño parte del modelo más débil de la generación y escala hacia arriba.</a:t>
            </a:r>
          </a:p>
          <a:p>
            <a:r>
              <a:t>Más adelante en la unidad: los requisitos públicos de certificación de Microsoft, los mandos (Input System, remapeo, glifos), accesibilidad, multijugador local y optimización.</a:t>
            </a:r>
          </a:p>
          <a:p>
            <a:r>
              <a:t>Para la próxima: traer la matriz de la Actividad 2 terminada; se usa como punto de partida.</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Glosario (conceptos cortos para la docente):</a:t>
            </a:r>
          </a:p>
          <a:p>
            <a:r>
              <a:t>• Sell-in: unidades despachadas a comercios.</a:t>
            </a:r>
          </a:p>
          <a:p>
            <a:r>
              <a:t>Fuentes: Nintendo IR, Dedicated Video Game Sales Units (https://www.nintendo.co.jp/ir/en/finance/hard_soft/index.html); SIE, Business Data &amp; Sales (https://sonyinteractive.com/en/our-company/business-data-sales/). Datos en datos/ventas-hardware.csv.</a:t>
            </a:r>
          </a:p>
          <a:p>
            <a:r>
              <a:t>Microsoft no publica unidades de Xbox One ni de Series X|S; las de Xbox y Xbox 360 que circulan en prensa no se verificaron.</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Glosario (conceptos cortos para la docente):</a:t>
            </a:r>
          </a:p>
          <a:p>
            <a:r>
              <a:t>• FY3/2021: ejercicio de Nintendo que termina en marzo de 2021 (abril de 2020 a marzo de 2021).</a:t>
            </a:r>
          </a:p>
          <a:p>
            <a:r>
              <a:t>Fuentes: Nintendo IR, Consolidated Sales Transition by Region (planilla al 31-mar-2026). PS5: 16,0 y 18,5 M según Game Developer (8-may-2026, resultados de Sony); 7,8, 11,5 y 19,1 M de los 20-F de Sony citados por el buscador (tabla no abierta); 20,8 M = 93,7 M menos los otros cinco ejercicios. Coherencia: 38,4 M a mar-2023 contra el hito oficial de 40 M en jul-2023.</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Glosario (conceptos cortos para la docente):</a:t>
            </a:r>
          </a:p>
          <a:p>
            <a:r>
              <a:t>• Fuente primaria: la del propio fabricante (IR, blog oficial, tienda).</a:t>
            </a:r>
          </a:p>
          <a:p>
            <a:r>
              <a:t>• Fuente secundaria: prensa que cita a la primaria.</a:t>
            </a:r>
          </a:p>
          <a:p>
            <a:r>
              <a:t>Las URL completas están en diseno-plataformas/unidad-05/datos/fuentes.md y las fichas B en 00-investigacion-preliminar.md.</a:t>
            </a:r>
          </a:p>
          <a:p>
            <a:r>
              <a:t>Criterio de la cátedra: los conceptos pueden venir de prensa profesional; las cifras se toman de la fuente oficial. Cuando solo hubo prensa (Newzoo, BG3), se dice en la slide.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Glosario (conceptos cortos para la docente):</a:t>
            </a:r>
          </a:p>
          <a:p>
            <a:r>
              <a:t>• Conocimiento general: dato histórico aceptado que no se verificó con una fuente oficial en esta investigación.</a:t>
            </a:r>
          </a:p>
          <a:p>
            <a:r>
              <a:t>Detalle:</a:t>
            </a:r>
          </a:p>
          <a:p>
            <a:r>
              <a:t>1. Xbox 360 "84 millones" y Xbox "24 millones": prensa y Wikipedia, sin documento de Microsoft. Series X|S: solo estimaciones de terceros.</a:t>
            </a:r>
          </a:p>
          <a:p>
            <a:r>
              <a:t>2. RAM de Switch 2 y especificaciones base de PS5: no se leyeron en una página oficial.</a:t>
            </a:r>
          </a:p>
          <a:p>
            <a:r>
              <a:t>3. Crisis de 1983 y su relación con los sistemas de licencias de Nintendo: conocimiento general.</a:t>
            </a:r>
          </a:p>
          <a:p>
            <a:r>
              <a:t>4. Newzoo: el total de 2025 (USD 201.600 M) y los porcentajes de crecimiento se leyeron en GamesBeat; los montos por segmento difieren entre versiones del informe.</a:t>
            </a:r>
          </a:p>
          <a:p>
            <a:r>
              <a:t>5. Fechas exactas de lanzamiento de Xbox Series X|S (nov-2020) y Steam Deck (2022).</a:t>
            </a:r>
          </a:p>
          <a:p>
            <a:r>
              <a:t>6. Ventas de PS5 de los tres primeros ejercicios (ver slide 22).</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2A44"/>
        </a:solidFill>
        <a:effectLst/>
      </p:bgPr>
    </p:bg>
    <p:spTree>
      <p:nvGrpSpPr>
        <p:cNvPr id="1" name=""/>
        <p:cNvGrpSpPr/>
        <p:nvPr/>
      </p:nvGrpSpPr>
      <p:grpSpPr>
        <a:xfrm>
          <a:off x="0" y="0"/>
          <a:ext cx="0" cy="0"/>
          <a:chOff x="0" y="0"/>
          <a:chExt cx="0" cy="0"/>
        </a:xfrm>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0"/>
            <a:ext cx="11185855" cy="3291840"/>
          </a:xfrm>
          <a:prstGeom prst="rect">
            <a:avLst/>
          </a:prstGeom>
          <a:noFill/>
        </p:spPr>
        <p:txBody>
          <a:bodyPr wrap="square" lIns="0" tIns="0" rIns="0" bIns="0" anchor="b">
            <a:spAutoFit/>
          </a:bodyPr>
          <a:lstStyle/>
          <a:p>
            <a:r>
              <a:rPr sz="1400" b="1" i="0">
                <a:solidFill>
                  <a:srgbClr val="99F6E4"/>
                </a:solidFill>
                <a:latin typeface="Calibri"/>
              </a:rPr>
              <a:t>UNIDAD V · CLASE 1</a:t>
            </a:r>
          </a:p>
          <a:p>
            <a:r>
              <a:rPr sz="4000" b="1" i="0">
                <a:solidFill>
                  <a:srgbClr val="FFFFFF"/>
                </a:solidFill>
                <a:latin typeface="Calibri"/>
              </a:rPr>
              <a:t>Diseño según Plataforma: Consolas</a:t>
            </a:r>
          </a:p>
          <a:p>
            <a:pPr>
              <a:spcBef>
                <a:spcPts val="600"/>
              </a:spcBef>
            </a:pPr>
            <a:r>
              <a:rPr sz="2000" b="0" i="0">
                <a:solidFill>
                  <a:srgbClr val="CBD5E1"/>
                </a:solidFill>
                <a:latin typeface="Calibri"/>
              </a:rPr>
              <a:t>La consola tiene dueño</a:t>
            </a:r>
          </a:p>
          <a:p>
            <a:pPr>
              <a:spcBef>
                <a:spcPts val="600"/>
              </a:spcBef>
            </a:pPr>
            <a:r>
              <a:rPr sz="2000" b="0" i="0">
                <a:solidFill>
                  <a:srgbClr val="CBD5E1"/>
                </a:solidFill>
                <a:latin typeface="Calibri"/>
              </a:rPr>
              <a:t>Diseño según Plataformas de Juego · Ing. Elsa Daniela Ramírez · FI – UNJu · 2026</a:t>
            </a:r>
          </a:p>
        </p:txBody>
      </p:sp>
      <p:sp>
        <p:nvSpPr>
          <p:cNvPr id="4" name="TextBox 3"/>
          <p:cNvSpPr txBox="1"/>
          <p:nvPr/>
        </p:nvSpPr>
        <p:spPr>
          <a:xfrm>
            <a:off x="502920" y="6035040"/>
            <a:ext cx="11185855" cy="365760"/>
          </a:xfrm>
          <a:prstGeom prst="rect">
            <a:avLst/>
          </a:prstGeom>
          <a:noFill/>
        </p:spPr>
        <p:txBody>
          <a:bodyPr wrap="square" lIns="0" tIns="0" rIns="0" bIns="0" anchor="t">
            <a:spAutoFit/>
          </a:bodyPr>
          <a:lstStyle/>
          <a:p>
            <a:r>
              <a:rPr sz="1200" b="0" i="0">
                <a:solidFill>
                  <a:srgbClr val="CBD5E1"/>
                </a:solidFill>
                <a:latin typeface="Calibri"/>
              </a:rPr>
              <a:t>Unidad V · Clase 1 · 1/24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2</a:t>
            </a:r>
          </a:p>
        </p:txBody>
      </p:sp>
      <p:sp>
        <p:nvSpPr>
          <p:cNvPr id="5" name="TextBox 4"/>
          <p:cNvSpPr txBox="1"/>
          <p:nvPr/>
        </p:nvSpPr>
        <p:spPr>
          <a:xfrm>
            <a:off x="1005840" y="109728"/>
            <a:ext cx="10728655" cy="777240"/>
          </a:xfrm>
          <a:prstGeom prst="rect">
            <a:avLst/>
          </a:prstGeom>
          <a:noFill/>
        </p:spPr>
        <p:txBody>
          <a:bodyPr wrap="square" lIns="0" tIns="0" rIns="0" bIns="0" anchor="ctr">
            <a:spAutoFit/>
          </a:bodyPr>
          <a:lstStyle/>
          <a:p>
            <a:r>
              <a:rPr sz="1100" b="1" i="0">
                <a:solidFill>
                  <a:srgbClr val="99F6E4"/>
                </a:solidFill>
                <a:latin typeface="Calibri"/>
              </a:rPr>
              <a:t>APERTURA</a:t>
            </a:r>
          </a:p>
          <a:p>
            <a:r>
              <a:rPr sz="2600" b="1" i="0">
                <a:solidFill>
                  <a:srgbClr val="FFFFFF"/>
                </a:solidFill>
                <a:latin typeface="Calibri"/>
              </a:rPr>
              <a:t>Un publisher, una sola consola</a:t>
            </a:r>
          </a:p>
        </p:txBody>
      </p:sp>
      <p:sp>
        <p:nvSpPr>
          <p:cNvPr id="6" name="TextBox 5"/>
          <p:cNvSpPr txBox="1"/>
          <p:nvPr/>
        </p:nvSpPr>
        <p:spPr>
          <a:xfrm>
            <a:off x="502920" y="6473952"/>
            <a:ext cx="11185855" cy="274320"/>
          </a:xfrm>
          <a:prstGeom prst="rect">
            <a:avLst/>
          </a:prstGeom>
          <a:noFill/>
        </p:spPr>
        <p:txBody>
          <a:bodyPr wrap="square" lIns="0" tIns="0" rIns="0" bIns="0" anchor="ctr">
            <a:spAutoFit/>
          </a:bodyPr>
          <a:lstStyle/>
          <a:p>
            <a:r>
              <a:rPr sz="1000" b="0" i="0">
                <a:solidFill>
                  <a:srgbClr val="6B7280"/>
                </a:solidFill>
                <a:latin typeface="Calibri"/>
              </a:rPr>
              <a:t>Diseño según Plataformas de Juego · Unidad V · Clase 1 · La consola tiene dueño</a:t>
            </a:r>
          </a:p>
        </p:txBody>
      </p:sp>
      <p:sp>
        <p:nvSpPr>
          <p:cNvPr id="7" name="TextBox 6"/>
          <p:cNvSpPr txBox="1"/>
          <p:nvPr/>
        </p:nvSpPr>
        <p:spPr>
          <a:xfrm>
            <a:off x="10774375" y="6473952"/>
            <a:ext cx="914400" cy="274320"/>
          </a:xfrm>
          <a:prstGeom prst="rect">
            <a:avLst/>
          </a:prstGeom>
          <a:noFill/>
        </p:spPr>
        <p:txBody>
          <a:bodyPr wrap="square" lIns="0" tIns="0" rIns="0" bIns="0" anchor="ctr">
            <a:spAutoFit/>
          </a:bodyPr>
          <a:lstStyle/>
          <a:p>
            <a:pPr algn="r"/>
            <a:r>
              <a:rPr sz="1000" b="0" i="0">
                <a:solidFill>
                  <a:srgbClr val="6B7280"/>
                </a:solidFill>
                <a:latin typeface="Calibri"/>
              </a:rPr>
              <a:t>2/24</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r>
              <a:rPr sz="1300" b="1" i="0">
                <a:solidFill>
                  <a:srgbClr val="D97706"/>
                </a:solidFill>
                <a:latin typeface="Calibri"/>
              </a:rPr>
              <a:t>PREGUNTA  </a:t>
            </a:r>
            <a:r>
              <a:rPr sz="1400" b="0" i="0">
                <a:solidFill>
                  <a:srgbClr val="1F2937"/>
                </a:solidFill>
                <a:latin typeface="Calibri"/>
              </a:rPr>
              <a:t>¿Alcanza con elegir "la que más vendió"?</a:t>
            </a:r>
          </a:p>
        </p:txBody>
      </p:sp>
      <p:sp>
        <p:nvSpPr>
          <p:cNvPr id="10" name="TextBox 9"/>
          <p:cNvSpPr txBox="1"/>
          <p:nvPr/>
        </p:nvSpPr>
        <p:spPr>
          <a:xfrm>
            <a:off x="502920" y="1234440"/>
            <a:ext cx="11185855" cy="4206240"/>
          </a:xfrm>
          <a:prstGeom prst="rect">
            <a:avLst/>
          </a:prstGeom>
          <a:noFill/>
        </p:spPr>
        <p:txBody>
          <a:bodyPr wrap="square" lIns="0" tIns="0" rIns="0" bIns="0" anchor="t">
            <a:spAutoFit/>
          </a:bodyPr>
          <a:lstStyle/>
          <a:p>
            <a:pPr>
              <a:spcAft>
                <a:spcPts val="800"/>
              </a:spcAft>
            </a:pPr>
            <a:r>
              <a:rPr sz="1600" b="1" i="0">
                <a:solidFill>
                  <a:srgbClr val="0D9488"/>
                </a:solidFill>
                <a:latin typeface="Calibri"/>
              </a:rPr>
              <a:t>■  </a:t>
            </a:r>
            <a:r>
              <a:rPr sz="2200" b="0" i="0">
                <a:solidFill>
                  <a:srgbClr val="1F2937"/>
                </a:solidFill>
                <a:latin typeface="Calibri"/>
              </a:rPr>
              <a:t>Asteroides ya corre en PC y Android</a:t>
            </a:r>
          </a:p>
          <a:p>
            <a:pPr>
              <a:spcAft>
                <a:spcPts val="800"/>
              </a:spcAft>
            </a:pPr>
            <a:r>
              <a:rPr sz="1600" b="1" i="0">
                <a:solidFill>
                  <a:srgbClr val="0D9488"/>
                </a:solidFill>
                <a:latin typeface="Calibri"/>
              </a:rPr>
              <a:t>■  </a:t>
            </a:r>
            <a:r>
              <a:rPr sz="2200" b="0" i="0">
                <a:solidFill>
                  <a:srgbClr val="1F2937"/>
                </a:solidFill>
                <a:latin typeface="Calibri"/>
              </a:rPr>
              <a:t>Un publisher financia una consola</a:t>
            </a:r>
          </a:p>
          <a:p>
            <a:pPr>
              <a:spcAft>
                <a:spcPts val="800"/>
              </a:spcAft>
            </a:pPr>
            <a:r>
              <a:rPr sz="1600" b="1" i="0">
                <a:solidFill>
                  <a:srgbClr val="0D9488"/>
                </a:solidFill>
                <a:latin typeface="Calibri"/>
              </a:rPr>
              <a:t>■  </a:t>
            </a:r>
            <a:r>
              <a:rPr sz="2200" b="0" i="0">
                <a:solidFill>
                  <a:srgbClr val="1F2937"/>
                </a:solidFill>
                <a:latin typeface="Calibri"/>
              </a:rPr>
              <a:t>PS5, Xbox Series o Switch 2</a:t>
            </a:r>
          </a:p>
          <a:p>
            <a:pPr>
              <a:spcAft>
                <a:spcPts val="800"/>
              </a:spcAft>
            </a:pPr>
            <a:r>
              <a:rPr sz="1600" b="1" i="0">
                <a:solidFill>
                  <a:srgbClr val="0D9488"/>
                </a:solidFill>
                <a:latin typeface="Calibri"/>
              </a:rPr>
              <a:t>■  </a:t>
            </a:r>
            <a:r>
              <a:rPr sz="2200" b="0" i="0">
                <a:solidFill>
                  <a:srgbClr val="1F2937"/>
                </a:solidFill>
                <a:latin typeface="Calibri"/>
              </a:rPr>
              <a:t>¿Cuál? ¿Qué hay que cambiar?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3</a:t>
            </a:r>
          </a:p>
        </p:txBody>
      </p:sp>
      <p:sp>
        <p:nvSpPr>
          <p:cNvPr id="5" name="TextBox 4"/>
          <p:cNvSpPr txBox="1"/>
          <p:nvPr/>
        </p:nvSpPr>
        <p:spPr>
          <a:xfrm>
            <a:off x="1005840" y="109728"/>
            <a:ext cx="10728655" cy="777240"/>
          </a:xfrm>
          <a:prstGeom prst="rect">
            <a:avLst/>
          </a:prstGeom>
          <a:noFill/>
        </p:spPr>
        <p:txBody>
          <a:bodyPr wrap="square" lIns="0" tIns="0" rIns="0" bIns="0" anchor="ctr">
            <a:spAutoFit/>
          </a:bodyPr>
          <a:lstStyle/>
          <a:p>
            <a:r>
              <a:rPr sz="1100" b="1" i="0">
                <a:solidFill>
                  <a:srgbClr val="99F6E4"/>
                </a:solidFill>
                <a:latin typeface="Calibri"/>
              </a:rPr>
              <a:t>LA CONSOLA COMO PLATAFORMA</a:t>
            </a:r>
          </a:p>
          <a:p>
            <a:r>
              <a:rPr sz="2600" b="1" i="0">
                <a:solidFill>
                  <a:srgbClr val="FFFFFF"/>
                </a:solidFill>
                <a:latin typeface="Calibri"/>
              </a:rPr>
              <a:t>Una consola, vista por quien diseña</a:t>
            </a:r>
          </a:p>
        </p:txBody>
      </p:sp>
      <p:sp>
        <p:nvSpPr>
          <p:cNvPr id="6" name="TextBox 5"/>
          <p:cNvSpPr txBox="1"/>
          <p:nvPr/>
        </p:nvSpPr>
        <p:spPr>
          <a:xfrm>
            <a:off x="502920" y="6473952"/>
            <a:ext cx="11185855" cy="274320"/>
          </a:xfrm>
          <a:prstGeom prst="rect">
            <a:avLst/>
          </a:prstGeom>
          <a:noFill/>
        </p:spPr>
        <p:txBody>
          <a:bodyPr wrap="square" lIns="0" tIns="0" rIns="0" bIns="0" anchor="ctr">
            <a:spAutoFit/>
          </a:bodyPr>
          <a:lstStyle/>
          <a:p>
            <a:r>
              <a:rPr sz="1000" b="0" i="0">
                <a:solidFill>
                  <a:srgbClr val="6B7280"/>
                </a:solidFill>
                <a:latin typeface="Calibri"/>
              </a:rPr>
              <a:t>Diseño según Plataformas de Juego · Unidad V · Clase 1 · La consola tiene dueño</a:t>
            </a:r>
          </a:p>
        </p:txBody>
      </p:sp>
      <p:sp>
        <p:nvSpPr>
          <p:cNvPr id="7" name="TextBox 6"/>
          <p:cNvSpPr txBox="1"/>
          <p:nvPr/>
        </p:nvSpPr>
        <p:spPr>
          <a:xfrm>
            <a:off x="10774375" y="6473952"/>
            <a:ext cx="914400" cy="274320"/>
          </a:xfrm>
          <a:prstGeom prst="rect">
            <a:avLst/>
          </a:prstGeom>
          <a:noFill/>
        </p:spPr>
        <p:txBody>
          <a:bodyPr wrap="square" lIns="0" tIns="0" rIns="0" bIns="0" anchor="ctr">
            <a:spAutoFit/>
          </a:bodyPr>
          <a:lstStyle/>
          <a:p>
            <a:pPr algn="r"/>
            <a:r>
              <a:rPr sz="1000" b="0" i="0">
                <a:solidFill>
                  <a:srgbClr val="6B7280"/>
                </a:solidFill>
                <a:latin typeface="Calibri"/>
              </a:rPr>
              <a:t>3/24</a:t>
            </a:r>
          </a:p>
        </p:txBody>
      </p:sp>
      <p:sp>
        <p:nvSpPr>
          <p:cNvPr id="8" name="TextBox 7"/>
          <p:cNvSpPr txBox="1"/>
          <p:nvPr/>
        </p:nvSpPr>
        <p:spPr>
          <a:xfrm>
            <a:off x="502920" y="6126480"/>
            <a:ext cx="11185855" cy="292608"/>
          </a:xfrm>
          <a:prstGeom prst="rect">
            <a:avLst/>
          </a:prstGeom>
          <a:noFill/>
        </p:spPr>
        <p:txBody>
          <a:bodyPr wrap="square" lIns="0" tIns="0" rIns="0" bIns="0" anchor="ctr">
            <a:spAutoFit/>
          </a:bodyPr>
          <a:lstStyle/>
          <a:p>
            <a:r>
              <a:rPr sz="1000" b="1" i="0">
                <a:solidFill>
                  <a:srgbClr val="6B7280"/>
                </a:solidFill>
                <a:latin typeface="Calibri"/>
              </a:rPr>
              <a:t>Fuente: </a:t>
            </a:r>
            <a:r>
              <a:rPr sz="1000" b="0" i="0">
                <a:solidFill>
                  <a:srgbClr val="6B7280"/>
                </a:solidFill>
                <a:latin typeface="Calibri"/>
              </a:rPr>
              <a:t>Unity 6000.3 Manual, Platform development; Microsoft, XBOX Requirements (XR-003, XR-130); XAG 101</a:t>
            </a:r>
          </a:p>
        </p:txBody>
      </p:sp>
      <p:graphicFrame>
        <p:nvGraphicFramePr>
          <p:cNvPr id="9" name="Table 8"/>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5220065">
                  <a:extLst>
                    <a:ext uri="{9D8B030D-6E8A-4147-A177-3AD203B41FA5}">
                      <a16:colId xmlns:a16="http://schemas.microsoft.com/office/drawing/2014/main" val="20000"/>
                    </a:ext>
                  </a:extLst>
                </a:gridCol>
                <a:gridCol w="5965789">
                  <a:extLst>
                    <a:ext uri="{9D8B030D-6E8A-4147-A177-3AD203B41FA5}">
                      <a16:colId xmlns:a16="http://schemas.microsoft.com/office/drawing/2014/main" val="20001"/>
                    </a:ext>
                  </a:extLst>
                </a:gridCol>
              </a:tblGrid>
              <a:tr h="566928">
                <a:tc>
                  <a:txBody>
                    <a:bodyPr/>
                    <a:lstStyle/>
                    <a:p>
                      <a:r>
                        <a:rPr sz="1200" b="1" i="0">
                          <a:solidFill>
                            <a:srgbClr val="FFFFFF"/>
                          </a:solidFill>
                          <a:latin typeface="Calibri"/>
                        </a:rPr>
                        <a:t>Rasgo</a:t>
                      </a:r>
                    </a:p>
                  </a:txBody>
                  <a:tcPr marL="73152" marR="73152" marT="36576" marB="36576" anchor="ctr">
                    <a:solidFill>
                      <a:srgbClr val="0D9488"/>
                    </a:solidFill>
                  </a:tcPr>
                </a:tc>
                <a:tc>
                  <a:txBody>
                    <a:bodyPr/>
                    <a:lstStyle/>
                    <a:p>
                      <a:r>
                        <a:rPr sz="1200" b="1" i="0">
                          <a:solidFill>
                            <a:srgbClr val="FFFFFF"/>
                          </a:solidFill>
                          <a:latin typeface="Calibri"/>
                        </a:rPr>
                        <a:t>Consecuencia de diseño</a:t>
                      </a:r>
                    </a:p>
                  </a:txBody>
                  <a:tcPr marL="73152" marR="73152" marT="36576" marB="36576" anchor="ctr">
                    <a:solidFill>
                      <a:srgbClr val="0D9488"/>
                    </a:solidFill>
                  </a:tcPr>
                </a:tc>
                <a:extLst>
                  <a:ext uri="{0D108BD9-81ED-4DB2-BD59-A6C34878D82A}">
                    <a16:rowId xmlns:a16="http://schemas.microsoft.com/office/drawing/2014/main" val="10000"/>
                  </a:ext>
                </a:extLst>
              </a:tr>
              <a:tr h="566928">
                <a:tc>
                  <a:txBody>
                    <a:bodyPr/>
                    <a:lstStyle/>
                    <a:p>
                      <a:r>
                        <a:rPr sz="1200" b="0" i="0">
                          <a:solidFill>
                            <a:srgbClr val="1F2937"/>
                          </a:solidFill>
                          <a:latin typeface="Calibri"/>
                        </a:rPr>
                        <a:t>Plataforma cerrada</a:t>
                      </a:r>
                    </a:p>
                  </a:txBody>
                  <a:tcPr marL="73152" marR="73152" marT="36576" marB="36576" anchor="ctr">
                    <a:solidFill>
                      <a:srgbClr val="FFFFFF"/>
                    </a:solidFill>
                  </a:tcPr>
                </a:tc>
                <a:tc>
                  <a:txBody>
                    <a:bodyPr/>
                    <a:lstStyle/>
                    <a:p>
                      <a:r>
                        <a:rPr sz="1200" b="0" i="0">
                          <a:solidFill>
                            <a:srgbClr val="1F2937"/>
                          </a:solidFill>
                          <a:latin typeface="Calibri"/>
                        </a:rPr>
                        <a:t>NDA, registro y kit de desarrollo</a:t>
                      </a:r>
                    </a:p>
                  </a:txBody>
                  <a:tcPr marL="73152" marR="73152" marT="36576" marB="36576" anchor="ctr">
                    <a:solidFill>
                      <a:srgbClr val="FFFFFF"/>
                    </a:solidFill>
                  </a:tcPr>
                </a:tc>
                <a:extLst>
                  <a:ext uri="{0D108BD9-81ED-4DB2-BD59-A6C34878D82A}">
                    <a16:rowId xmlns:a16="http://schemas.microsoft.com/office/drawing/2014/main" val="10001"/>
                  </a:ext>
                </a:extLst>
              </a:tr>
              <a:tr h="566928">
                <a:tc>
                  <a:txBody>
                    <a:bodyPr/>
                    <a:lstStyle/>
                    <a:p>
                      <a:r>
                        <a:rPr sz="1200" b="0" i="0">
                          <a:solidFill>
                            <a:srgbClr val="1F2937"/>
                          </a:solidFill>
                          <a:latin typeface="Calibri"/>
                        </a:rPr>
                        <a:t>Hardware fijo por modelo</a:t>
                      </a:r>
                    </a:p>
                  </a:txBody>
                  <a:tcPr marL="73152" marR="73152" marT="36576" marB="36576" anchor="ctr">
                    <a:solidFill>
                      <a:srgbClr val="E6F4F2"/>
                    </a:solidFill>
                  </a:tcPr>
                </a:tc>
                <a:tc>
                  <a:txBody>
                    <a:bodyPr/>
                    <a:lstStyle/>
                    <a:p>
                      <a:r>
                        <a:rPr sz="1200" b="0" i="0">
                          <a:solidFill>
                            <a:srgbClr val="1F2937"/>
                          </a:solidFill>
                          <a:latin typeface="Calibri"/>
                        </a:rPr>
                        <a:t>Optimizar a medida, en cada modelo</a:t>
                      </a:r>
                    </a:p>
                  </a:txBody>
                  <a:tcPr marL="73152" marR="73152" marT="36576" marB="36576" anchor="ctr">
                    <a:solidFill>
                      <a:srgbClr val="E6F4F2"/>
                    </a:solidFill>
                  </a:tcPr>
                </a:tc>
                <a:extLst>
                  <a:ext uri="{0D108BD9-81ED-4DB2-BD59-A6C34878D82A}">
                    <a16:rowId xmlns:a16="http://schemas.microsoft.com/office/drawing/2014/main" val="10002"/>
                  </a:ext>
                </a:extLst>
              </a:tr>
              <a:tr h="566928">
                <a:tc>
                  <a:txBody>
                    <a:bodyPr/>
                    <a:lstStyle/>
                    <a:p>
                      <a:r>
                        <a:rPr sz="1200" b="0" i="0">
                          <a:solidFill>
                            <a:srgbClr val="1F2937"/>
                          </a:solidFill>
                          <a:latin typeface="Calibri"/>
                        </a:rPr>
                        <a:t>Varios modelos por generación</a:t>
                      </a:r>
                    </a:p>
                  </a:txBody>
                  <a:tcPr marL="73152" marR="73152" marT="36576" marB="36576" anchor="ctr">
                    <a:solidFill>
                      <a:srgbClr val="FFFFFF"/>
                    </a:solidFill>
                  </a:tcPr>
                </a:tc>
                <a:tc>
                  <a:txBody>
                    <a:bodyPr/>
                    <a:lstStyle/>
                    <a:p>
                      <a:r>
                        <a:rPr sz="1200" b="0" i="0">
                          <a:solidFill>
                            <a:srgbClr val="1F2937"/>
                          </a:solidFill>
                          <a:latin typeface="Calibri"/>
                        </a:rPr>
                        <a:t>El más débil fija el piso</a:t>
                      </a:r>
                    </a:p>
                  </a:txBody>
                  <a:tcPr marL="73152" marR="73152" marT="36576" marB="36576" anchor="ctr">
                    <a:solidFill>
                      <a:srgbClr val="FFFFFF"/>
                    </a:solidFill>
                  </a:tcPr>
                </a:tc>
                <a:extLst>
                  <a:ext uri="{0D108BD9-81ED-4DB2-BD59-A6C34878D82A}">
                    <a16:rowId xmlns:a16="http://schemas.microsoft.com/office/drawing/2014/main" val="10003"/>
                  </a:ext>
                </a:extLst>
              </a:tr>
              <a:tr h="566928">
                <a:tc>
                  <a:txBody>
                    <a:bodyPr/>
                    <a:lstStyle/>
                    <a:p>
                      <a:r>
                        <a:rPr sz="1200" b="0" i="0">
                          <a:solidFill>
                            <a:srgbClr val="1F2937"/>
                          </a:solidFill>
                          <a:latin typeface="Calibri"/>
                        </a:rPr>
                        <a:t>Mando como entrada</a:t>
                      </a:r>
                    </a:p>
                  </a:txBody>
                  <a:tcPr marL="73152" marR="73152" marT="36576" marB="36576" anchor="ctr">
                    <a:solidFill>
                      <a:srgbClr val="E6F4F2"/>
                    </a:solidFill>
                  </a:tcPr>
                </a:tc>
                <a:tc>
                  <a:txBody>
                    <a:bodyPr/>
                    <a:lstStyle/>
                    <a:p>
                      <a:r>
                        <a:rPr sz="1200" b="0" i="0">
                          <a:solidFill>
                            <a:srgbClr val="1F2937"/>
                          </a:solidFill>
                          <a:latin typeface="Calibri"/>
                        </a:rPr>
                        <a:t>Todo navegable con mando</a:t>
                      </a:r>
                    </a:p>
                  </a:txBody>
                  <a:tcPr marL="73152" marR="73152" marT="36576" marB="36576" anchor="ctr">
                    <a:solidFill>
                      <a:srgbClr val="E6F4F2"/>
                    </a:solidFill>
                  </a:tcPr>
                </a:tc>
                <a:extLst>
                  <a:ext uri="{0D108BD9-81ED-4DB2-BD59-A6C34878D82A}">
                    <a16:rowId xmlns:a16="http://schemas.microsoft.com/office/drawing/2014/main" val="10004"/>
                  </a:ext>
                </a:extLst>
              </a:tr>
              <a:tr h="566928">
                <a:tc>
                  <a:txBody>
                    <a:bodyPr/>
                    <a:lstStyle/>
                    <a:p>
                      <a:r>
                        <a:rPr sz="1200" b="0" i="0">
                          <a:solidFill>
                            <a:srgbClr val="1F2937"/>
                          </a:solidFill>
                          <a:latin typeface="Calibri"/>
                        </a:rPr>
                        <a:t>TV a tres metros</a:t>
                      </a:r>
                    </a:p>
                  </a:txBody>
                  <a:tcPr marL="73152" marR="73152" marT="36576" marB="36576" anchor="ctr">
                    <a:solidFill>
                      <a:srgbClr val="FFFFFF"/>
                    </a:solidFill>
                  </a:tcPr>
                </a:tc>
                <a:tc>
                  <a:txBody>
                    <a:bodyPr/>
                    <a:lstStyle/>
                    <a:p>
                      <a:r>
                        <a:rPr sz="1200" b="0" i="0">
                          <a:solidFill>
                            <a:srgbClr val="1F2937"/>
                          </a:solidFill>
                          <a:latin typeface="Calibri"/>
                        </a:rPr>
                        <a:t>UI más grande, zona segura</a:t>
                      </a:r>
                    </a:p>
                  </a:txBody>
                  <a:tcPr marL="73152" marR="73152" marT="36576" marB="36576" anchor="ctr">
                    <a:solidFill>
                      <a:srgbClr val="FFFFFF"/>
                    </a:solidFill>
                  </a:tcPr>
                </a:tc>
                <a:extLst>
                  <a:ext uri="{0D108BD9-81ED-4DB2-BD59-A6C34878D82A}">
                    <a16:rowId xmlns:a16="http://schemas.microsoft.com/office/drawing/2014/main" val="10005"/>
                  </a:ext>
                </a:extLst>
              </a:tr>
              <a:tr h="566928">
                <a:tc>
                  <a:txBody>
                    <a:bodyPr/>
                    <a:lstStyle/>
                    <a:p>
                      <a:r>
                        <a:rPr sz="1200" b="0" i="0">
                          <a:solidFill>
                            <a:srgbClr val="1F2937"/>
                          </a:solidFill>
                          <a:latin typeface="Calibri"/>
                        </a:rPr>
                        <a:t>Certificación y tienda única</a:t>
                      </a:r>
                    </a:p>
                  </a:txBody>
                  <a:tcPr marL="73152" marR="73152" marT="36576" marB="36576" anchor="ctr">
                    <a:solidFill>
                      <a:srgbClr val="E6F4F2"/>
                    </a:solidFill>
                  </a:tcPr>
                </a:tc>
                <a:tc>
                  <a:txBody>
                    <a:bodyPr/>
                    <a:lstStyle/>
                    <a:p>
                      <a:r>
                        <a:rPr sz="1200" b="0" i="0">
                          <a:solidFill>
                            <a:srgbClr val="1F2937"/>
                          </a:solidFill>
                          <a:latin typeface="Calibri"/>
                        </a:rPr>
                        <a:t>Requisitos antes de publicar</a:t>
                      </a:r>
                    </a:p>
                  </a:txBody>
                  <a:tcPr marL="73152" marR="73152" marT="36576" marB="36576" anchor="ctr">
                    <a:solidFill>
                      <a:srgbClr val="E6F4F2"/>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4</a:t>
            </a:r>
          </a:p>
        </p:txBody>
      </p:sp>
      <p:sp>
        <p:nvSpPr>
          <p:cNvPr id="5" name="TextBox 4"/>
          <p:cNvSpPr txBox="1"/>
          <p:nvPr/>
        </p:nvSpPr>
        <p:spPr>
          <a:xfrm>
            <a:off x="1005840" y="109728"/>
            <a:ext cx="10728655" cy="777240"/>
          </a:xfrm>
          <a:prstGeom prst="rect">
            <a:avLst/>
          </a:prstGeom>
          <a:noFill/>
        </p:spPr>
        <p:txBody>
          <a:bodyPr wrap="square" lIns="0" tIns="0" rIns="0" bIns="0" anchor="ctr">
            <a:spAutoFit/>
          </a:bodyPr>
          <a:lstStyle/>
          <a:p>
            <a:r>
              <a:rPr sz="1100" b="1" i="0">
                <a:solidFill>
                  <a:srgbClr val="99F6E4"/>
                </a:solidFill>
                <a:latin typeface="Calibri"/>
              </a:rPr>
              <a:t>LA CONSOLA COMO PLATAFORMA</a:t>
            </a:r>
          </a:p>
          <a:p>
            <a:r>
              <a:rPr sz="2600" b="1" i="0">
                <a:solidFill>
                  <a:srgbClr val="FFFFFF"/>
                </a:solidFill>
                <a:latin typeface="Calibri"/>
              </a:rPr>
              <a:t>Cuatro categorías en 2026</a:t>
            </a:r>
          </a:p>
        </p:txBody>
      </p:sp>
      <p:sp>
        <p:nvSpPr>
          <p:cNvPr id="6" name="TextBox 5"/>
          <p:cNvSpPr txBox="1"/>
          <p:nvPr/>
        </p:nvSpPr>
        <p:spPr>
          <a:xfrm>
            <a:off x="502920" y="6473952"/>
            <a:ext cx="11185855" cy="274320"/>
          </a:xfrm>
          <a:prstGeom prst="rect">
            <a:avLst/>
          </a:prstGeom>
          <a:noFill/>
        </p:spPr>
        <p:txBody>
          <a:bodyPr wrap="square" lIns="0" tIns="0" rIns="0" bIns="0" anchor="ctr">
            <a:spAutoFit/>
          </a:bodyPr>
          <a:lstStyle/>
          <a:p>
            <a:r>
              <a:rPr sz="1000" b="0" i="0">
                <a:solidFill>
                  <a:srgbClr val="6B7280"/>
                </a:solidFill>
                <a:latin typeface="Calibri"/>
              </a:rPr>
              <a:t>Diseño según Plataformas de Juego · Unidad V · Clase 1 · La consola tiene dueño</a:t>
            </a:r>
          </a:p>
        </p:txBody>
      </p:sp>
      <p:sp>
        <p:nvSpPr>
          <p:cNvPr id="7" name="TextBox 6"/>
          <p:cNvSpPr txBox="1"/>
          <p:nvPr/>
        </p:nvSpPr>
        <p:spPr>
          <a:xfrm>
            <a:off x="10774375" y="6473952"/>
            <a:ext cx="914400" cy="274320"/>
          </a:xfrm>
          <a:prstGeom prst="rect">
            <a:avLst/>
          </a:prstGeom>
          <a:noFill/>
        </p:spPr>
        <p:txBody>
          <a:bodyPr wrap="square" lIns="0" tIns="0" rIns="0" bIns="0" anchor="ctr">
            <a:spAutoFit/>
          </a:bodyPr>
          <a:lstStyle/>
          <a:p>
            <a:pPr algn="r"/>
            <a:r>
              <a:rPr sz="1000" b="0" i="0">
                <a:solidFill>
                  <a:srgbClr val="6B7280"/>
                </a:solidFill>
                <a:latin typeface="Calibri"/>
              </a:rPr>
              <a:t>4/24</a:t>
            </a:r>
          </a:p>
        </p:txBody>
      </p:sp>
      <p:sp>
        <p:nvSpPr>
          <p:cNvPr id="8" name="TextBox 7"/>
          <p:cNvSpPr txBox="1"/>
          <p:nvPr/>
        </p:nvSpPr>
        <p:spPr>
          <a:xfrm>
            <a:off x="502920" y="6126480"/>
            <a:ext cx="11185855" cy="292608"/>
          </a:xfrm>
          <a:prstGeom prst="rect">
            <a:avLst/>
          </a:prstGeom>
          <a:noFill/>
        </p:spPr>
        <p:txBody>
          <a:bodyPr wrap="square" lIns="0" tIns="0" rIns="0" bIns="0" anchor="ctr">
            <a:spAutoFit/>
          </a:bodyPr>
          <a:lstStyle/>
          <a:p>
            <a:r>
              <a:rPr sz="1000" b="1" i="0">
                <a:solidFill>
                  <a:srgbClr val="6B7280"/>
                </a:solidFill>
                <a:latin typeface="Calibri"/>
              </a:rPr>
              <a:t>Fuente: </a:t>
            </a:r>
            <a:r>
              <a:rPr sz="1000" b="0" i="0">
                <a:solidFill>
                  <a:srgbClr val="6B7280"/>
                </a:solidFill>
                <a:latin typeface="Calibri"/>
              </a:rPr>
              <a:t>Nintendo, Switch 2 Tech Specs; Valve, Steam Deck Tech Specs y Compatibility Review; SIE, company timeline</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r>
              <a:rPr sz="1300" b="1" i="0">
                <a:solidFill>
                  <a:srgbClr val="0D9488"/>
                </a:solidFill>
                <a:latin typeface="Calibri"/>
              </a:rPr>
              <a:t>PARA CONSOLA  </a:t>
            </a:r>
            <a:r>
              <a:rPr sz="1400" b="0" i="0">
                <a:solidFill>
                  <a:srgbClr val="1F2937"/>
                </a:solidFill>
                <a:latin typeface="Calibri"/>
              </a:rPr>
              <a:t>En una híbrida, el mismo juego debe rendir en 7,9" y en una TV 4K</a:t>
            </a:r>
          </a:p>
        </p:txBody>
      </p:sp>
      <p:graphicFrame>
        <p:nvGraphicFramePr>
          <p:cNvPr id="11" name="Table 10"/>
          <p:cNvGraphicFramePr>
            <a:graphicFrameLocks noGrp="1"/>
          </p:cNvGraphicFramePr>
          <p:nvPr/>
        </p:nvGraphicFramePr>
        <p:xfrm>
          <a:off x="502920" y="1234440"/>
          <a:ext cx="11185854" cy="2834640"/>
        </p:xfrm>
        <a:graphic>
          <a:graphicData uri="http://schemas.openxmlformats.org/drawingml/2006/table">
            <a:tbl>
              <a:tblPr firstRow="1" bandRow="1">
                <a:tableStyleId>{5C22544A-7EE6-4342-B048-85BDC9FD1C3A}</a:tableStyleId>
              </a:tblPr>
              <a:tblGrid>
                <a:gridCol w="2081089">
                  <a:extLst>
                    <a:ext uri="{9D8B030D-6E8A-4147-A177-3AD203B41FA5}">
                      <a16:colId xmlns:a16="http://schemas.microsoft.com/office/drawing/2014/main" val="20000"/>
                    </a:ext>
                  </a:extLst>
                </a:gridCol>
                <a:gridCol w="4032110">
                  <a:extLst>
                    <a:ext uri="{9D8B030D-6E8A-4147-A177-3AD203B41FA5}">
                      <a16:colId xmlns:a16="http://schemas.microsoft.com/office/drawing/2014/main" val="20001"/>
                    </a:ext>
                  </a:extLst>
                </a:gridCol>
                <a:gridCol w="5072655">
                  <a:extLst>
                    <a:ext uri="{9D8B030D-6E8A-4147-A177-3AD203B41FA5}">
                      <a16:colId xmlns:a16="http://schemas.microsoft.com/office/drawing/2014/main" val="20002"/>
                    </a:ext>
                  </a:extLst>
                </a:gridCol>
              </a:tblGrid>
              <a:tr h="566928">
                <a:tc>
                  <a:txBody>
                    <a:bodyPr/>
                    <a:lstStyle/>
                    <a:p>
                      <a:r>
                        <a:rPr sz="1400" b="1" i="0">
                          <a:solidFill>
                            <a:srgbClr val="FFFFFF"/>
                          </a:solidFill>
                          <a:latin typeface="Calibri"/>
                        </a:rPr>
                        <a:t>Categoría</a:t>
                      </a:r>
                    </a:p>
                  </a:txBody>
                  <a:tcPr marL="73152" marR="73152" marT="36576" marB="36576" anchor="ctr">
                    <a:solidFill>
                      <a:srgbClr val="0D9488"/>
                    </a:solidFill>
                  </a:tcPr>
                </a:tc>
                <a:tc>
                  <a:txBody>
                    <a:bodyPr/>
                    <a:lstStyle/>
                    <a:p>
                      <a:r>
                        <a:rPr sz="1400" b="1" i="0">
                          <a:solidFill>
                            <a:srgbClr val="FFFFFF"/>
                          </a:solidFill>
                          <a:latin typeface="Calibri"/>
                        </a:rPr>
                        <a:t>Ejemplos</a:t>
                      </a:r>
                    </a:p>
                  </a:txBody>
                  <a:tcPr marL="73152" marR="73152" marT="36576" marB="36576" anchor="ctr">
                    <a:solidFill>
                      <a:srgbClr val="0D9488"/>
                    </a:solidFill>
                  </a:tcPr>
                </a:tc>
                <a:tc>
                  <a:txBody>
                    <a:bodyPr/>
                    <a:lstStyle/>
                    <a:p>
                      <a:r>
                        <a:rPr sz="1400" b="1" i="0">
                          <a:solidFill>
                            <a:srgbClr val="FFFFFF"/>
                          </a:solidFill>
                          <a:latin typeface="Calibri"/>
                        </a:rPr>
                        <a:t>Qué cambia</a:t>
                      </a:r>
                    </a:p>
                  </a:txBody>
                  <a:tcPr marL="73152" marR="73152" marT="36576" marB="36576" anchor="ctr">
                    <a:solidFill>
                      <a:srgbClr val="0D9488"/>
                    </a:solidFill>
                  </a:tcPr>
                </a:tc>
                <a:extLst>
                  <a:ext uri="{0D108BD9-81ED-4DB2-BD59-A6C34878D82A}">
                    <a16:rowId xmlns:a16="http://schemas.microsoft.com/office/drawing/2014/main" val="10000"/>
                  </a:ext>
                </a:extLst>
              </a:tr>
              <a:tr h="566928">
                <a:tc>
                  <a:txBody>
                    <a:bodyPr/>
                    <a:lstStyle/>
                    <a:p>
                      <a:r>
                        <a:rPr sz="1400" b="0" i="0">
                          <a:solidFill>
                            <a:srgbClr val="1F2937"/>
                          </a:solidFill>
                          <a:latin typeface="Calibri"/>
                        </a:rPr>
                        <a:t>Sobremesa</a:t>
                      </a:r>
                    </a:p>
                  </a:txBody>
                  <a:tcPr marL="73152" marR="73152" marT="36576" marB="36576" anchor="ctr">
                    <a:solidFill>
                      <a:srgbClr val="FFFFFF"/>
                    </a:solidFill>
                  </a:tcPr>
                </a:tc>
                <a:tc>
                  <a:txBody>
                    <a:bodyPr/>
                    <a:lstStyle/>
                    <a:p>
                      <a:r>
                        <a:rPr sz="1400" b="0" i="0">
                          <a:solidFill>
                            <a:srgbClr val="1F2937"/>
                          </a:solidFill>
                          <a:latin typeface="Calibri"/>
                        </a:rPr>
                        <a:t>PS5, Xbox Series</a:t>
                      </a:r>
                    </a:p>
                  </a:txBody>
                  <a:tcPr marL="73152" marR="73152" marT="36576" marB="36576" anchor="ctr">
                    <a:solidFill>
                      <a:srgbClr val="FFFFFF"/>
                    </a:solidFill>
                  </a:tcPr>
                </a:tc>
                <a:tc>
                  <a:txBody>
                    <a:bodyPr/>
                    <a:lstStyle/>
                    <a:p>
                      <a:r>
                        <a:rPr sz="1400" b="0" i="0">
                          <a:solidFill>
                            <a:srgbClr val="1F2937"/>
                          </a:solidFill>
                          <a:latin typeface="Calibri"/>
                        </a:rPr>
                        <a:t>TV, mando, varios modelos</a:t>
                      </a:r>
                    </a:p>
                  </a:txBody>
                  <a:tcPr marL="73152" marR="73152" marT="36576" marB="36576" anchor="ctr">
                    <a:solidFill>
                      <a:srgbClr val="FFFFFF"/>
                    </a:solidFill>
                  </a:tcPr>
                </a:tc>
                <a:extLst>
                  <a:ext uri="{0D108BD9-81ED-4DB2-BD59-A6C34878D82A}">
                    <a16:rowId xmlns:a16="http://schemas.microsoft.com/office/drawing/2014/main" val="10001"/>
                  </a:ext>
                </a:extLst>
              </a:tr>
              <a:tr h="566928">
                <a:tc>
                  <a:txBody>
                    <a:bodyPr/>
                    <a:lstStyle/>
                    <a:p>
                      <a:r>
                        <a:rPr sz="1400" b="0" i="0">
                          <a:solidFill>
                            <a:srgbClr val="1F2937"/>
                          </a:solidFill>
                          <a:latin typeface="Calibri"/>
                        </a:rPr>
                        <a:t>Portátil</a:t>
                      </a:r>
                    </a:p>
                  </a:txBody>
                  <a:tcPr marL="73152" marR="73152" marT="36576" marB="36576" anchor="ctr">
                    <a:solidFill>
                      <a:srgbClr val="E6F4F2"/>
                    </a:solidFill>
                  </a:tcPr>
                </a:tc>
                <a:tc>
                  <a:txBody>
                    <a:bodyPr/>
                    <a:lstStyle/>
                    <a:p>
                      <a:r>
                        <a:rPr sz="1400" b="0" i="0">
                          <a:solidFill>
                            <a:srgbClr val="1F2937"/>
                          </a:solidFill>
                          <a:latin typeface="Calibri"/>
                        </a:rPr>
                        <a:t>Game Boy, DS, PSP</a:t>
                      </a:r>
                    </a:p>
                  </a:txBody>
                  <a:tcPr marL="73152" marR="73152" marT="36576" marB="36576" anchor="ctr">
                    <a:solidFill>
                      <a:srgbClr val="E6F4F2"/>
                    </a:solidFill>
                  </a:tcPr>
                </a:tc>
                <a:tc>
                  <a:txBody>
                    <a:bodyPr/>
                    <a:lstStyle/>
                    <a:p>
                      <a:r>
                        <a:rPr sz="1400" b="0" i="0">
                          <a:solidFill>
                            <a:srgbClr val="1F2937"/>
                          </a:solidFill>
                          <a:latin typeface="Calibri"/>
                        </a:rPr>
                        <a:t>Absorbida por híbrida y móvil</a:t>
                      </a:r>
                    </a:p>
                  </a:txBody>
                  <a:tcPr marL="73152" marR="73152" marT="36576" marB="36576" anchor="ctr">
                    <a:solidFill>
                      <a:srgbClr val="E6F4F2"/>
                    </a:solidFill>
                  </a:tcPr>
                </a:tc>
                <a:extLst>
                  <a:ext uri="{0D108BD9-81ED-4DB2-BD59-A6C34878D82A}">
                    <a16:rowId xmlns:a16="http://schemas.microsoft.com/office/drawing/2014/main" val="10002"/>
                  </a:ext>
                </a:extLst>
              </a:tr>
              <a:tr h="566928">
                <a:tc>
                  <a:txBody>
                    <a:bodyPr/>
                    <a:lstStyle/>
                    <a:p>
                      <a:r>
                        <a:rPr sz="1400" b="0" i="0">
                          <a:solidFill>
                            <a:srgbClr val="1F2937"/>
                          </a:solidFill>
                          <a:latin typeface="Calibri"/>
                        </a:rPr>
                        <a:t>Híbrida</a:t>
                      </a:r>
                    </a:p>
                  </a:txBody>
                  <a:tcPr marL="73152" marR="73152" marT="36576" marB="36576" anchor="ctr">
                    <a:solidFill>
                      <a:srgbClr val="FFFFFF"/>
                    </a:solidFill>
                  </a:tcPr>
                </a:tc>
                <a:tc>
                  <a:txBody>
                    <a:bodyPr/>
                    <a:lstStyle/>
                    <a:p>
                      <a:r>
                        <a:rPr sz="1400" b="0" i="0">
                          <a:solidFill>
                            <a:srgbClr val="1F2937"/>
                          </a:solidFill>
                          <a:latin typeface="Calibri"/>
                        </a:rPr>
                        <a:t>Switch, Switch 2</a:t>
                      </a:r>
                    </a:p>
                  </a:txBody>
                  <a:tcPr marL="73152" marR="73152" marT="36576" marB="36576" anchor="ctr">
                    <a:solidFill>
                      <a:srgbClr val="FFFFFF"/>
                    </a:solidFill>
                  </a:tcPr>
                </a:tc>
                <a:tc>
                  <a:txBody>
                    <a:bodyPr/>
                    <a:lstStyle/>
                    <a:p>
                      <a:r>
                        <a:rPr sz="1400" b="0" i="0">
                          <a:solidFill>
                            <a:srgbClr val="1F2937"/>
                          </a:solidFill>
                          <a:latin typeface="Calibri"/>
                        </a:rPr>
                        <a:t>Dos presupuestos: portátil y dock</a:t>
                      </a:r>
                    </a:p>
                  </a:txBody>
                  <a:tcPr marL="73152" marR="73152" marT="36576" marB="36576" anchor="ctr">
                    <a:solidFill>
                      <a:srgbClr val="FFFFFF"/>
                    </a:solidFill>
                  </a:tcPr>
                </a:tc>
                <a:extLst>
                  <a:ext uri="{0D108BD9-81ED-4DB2-BD59-A6C34878D82A}">
                    <a16:rowId xmlns:a16="http://schemas.microsoft.com/office/drawing/2014/main" val="10003"/>
                  </a:ext>
                </a:extLst>
              </a:tr>
              <a:tr h="566928">
                <a:tc>
                  <a:txBody>
                    <a:bodyPr/>
                    <a:lstStyle/>
                    <a:p>
                      <a:r>
                        <a:rPr sz="1400" b="0" i="0">
                          <a:solidFill>
                            <a:srgbClr val="1F2937"/>
                          </a:solidFill>
                          <a:latin typeface="Calibri"/>
                        </a:rPr>
                        <a:t>PC-consola</a:t>
                      </a:r>
                    </a:p>
                  </a:txBody>
                  <a:tcPr marL="73152" marR="73152" marT="36576" marB="36576" anchor="ctr">
                    <a:solidFill>
                      <a:srgbClr val="E6F4F2"/>
                    </a:solidFill>
                  </a:tcPr>
                </a:tc>
                <a:tc>
                  <a:txBody>
                    <a:bodyPr/>
                    <a:lstStyle/>
                    <a:p>
                      <a:r>
                        <a:rPr sz="1400" b="0" i="0">
                          <a:solidFill>
                            <a:srgbClr val="1F2937"/>
                          </a:solidFill>
                          <a:latin typeface="Calibri"/>
                        </a:rPr>
                        <a:t>Steam Deck, Steam Machine</a:t>
                      </a:r>
                    </a:p>
                  </a:txBody>
                  <a:tcPr marL="73152" marR="73152" marT="36576" marB="36576" anchor="ctr">
                    <a:solidFill>
                      <a:srgbClr val="E6F4F2"/>
                    </a:solidFill>
                  </a:tcPr>
                </a:tc>
                <a:tc>
                  <a:txBody>
                    <a:bodyPr/>
                    <a:lstStyle/>
                    <a:p>
                      <a:r>
                        <a:rPr sz="1400" b="0" i="0">
                          <a:solidFill>
                            <a:srgbClr val="1F2937"/>
                          </a:solidFill>
                          <a:latin typeface="Calibri"/>
                        </a:rPr>
                        <a:t>Sistema abierto, revisión pública</a:t>
                      </a:r>
                    </a:p>
                  </a:txBody>
                  <a:tcPr marL="73152" marR="73152" marT="36576" marB="36576" anchor="ctr">
                    <a:solidFill>
                      <a:srgbClr val="E6F4F2"/>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5</a:t>
            </a:r>
          </a:p>
        </p:txBody>
      </p:sp>
      <p:sp>
        <p:nvSpPr>
          <p:cNvPr id="5" name="TextBox 4"/>
          <p:cNvSpPr txBox="1"/>
          <p:nvPr/>
        </p:nvSpPr>
        <p:spPr>
          <a:xfrm>
            <a:off x="1005840" y="109728"/>
            <a:ext cx="10728655" cy="777240"/>
          </a:xfrm>
          <a:prstGeom prst="rect">
            <a:avLst/>
          </a:prstGeom>
          <a:noFill/>
        </p:spPr>
        <p:txBody>
          <a:bodyPr wrap="square" lIns="0" tIns="0" rIns="0" bIns="0" anchor="ctr">
            <a:spAutoFit/>
          </a:bodyPr>
          <a:lstStyle/>
          <a:p>
            <a:r>
              <a:rPr sz="1100" b="1" i="0">
                <a:solidFill>
                  <a:srgbClr val="99F6E4"/>
                </a:solidFill>
                <a:latin typeface="Calibri"/>
              </a:rPr>
              <a:t>LA CONSOLA COMO PLATAFORMA</a:t>
            </a:r>
          </a:p>
          <a:p>
            <a:r>
              <a:rPr sz="2600" b="1" i="0">
                <a:solidFill>
                  <a:srgbClr val="FFFFFF"/>
                </a:solidFill>
                <a:latin typeface="Calibri"/>
              </a:rPr>
              <a:t>Las consolas de hoy</a:t>
            </a:r>
          </a:p>
        </p:txBody>
      </p:sp>
      <p:sp>
        <p:nvSpPr>
          <p:cNvPr id="6" name="TextBox 5"/>
          <p:cNvSpPr txBox="1"/>
          <p:nvPr/>
        </p:nvSpPr>
        <p:spPr>
          <a:xfrm>
            <a:off x="502920" y="6473952"/>
            <a:ext cx="11185855" cy="274320"/>
          </a:xfrm>
          <a:prstGeom prst="rect">
            <a:avLst/>
          </a:prstGeom>
          <a:noFill/>
        </p:spPr>
        <p:txBody>
          <a:bodyPr wrap="square" lIns="0" tIns="0" rIns="0" bIns="0" anchor="ctr">
            <a:spAutoFit/>
          </a:bodyPr>
          <a:lstStyle/>
          <a:p>
            <a:r>
              <a:rPr sz="1000" b="0" i="0">
                <a:solidFill>
                  <a:srgbClr val="6B7280"/>
                </a:solidFill>
                <a:latin typeface="Calibri"/>
              </a:rPr>
              <a:t>Diseño según Plataformas de Juego · Unidad V · Clase 1 · La consola tiene dueño</a:t>
            </a:r>
          </a:p>
        </p:txBody>
      </p:sp>
      <p:sp>
        <p:nvSpPr>
          <p:cNvPr id="7" name="TextBox 6"/>
          <p:cNvSpPr txBox="1"/>
          <p:nvPr/>
        </p:nvSpPr>
        <p:spPr>
          <a:xfrm>
            <a:off x="10774375" y="6473952"/>
            <a:ext cx="914400" cy="274320"/>
          </a:xfrm>
          <a:prstGeom prst="rect">
            <a:avLst/>
          </a:prstGeom>
          <a:noFill/>
        </p:spPr>
        <p:txBody>
          <a:bodyPr wrap="square" lIns="0" tIns="0" rIns="0" bIns="0" anchor="ctr">
            <a:spAutoFit/>
          </a:bodyPr>
          <a:lstStyle/>
          <a:p>
            <a:pPr algn="r"/>
            <a:r>
              <a:rPr sz="1000" b="0" i="0">
                <a:solidFill>
                  <a:srgbClr val="6B7280"/>
                </a:solidFill>
                <a:latin typeface="Calibri"/>
              </a:rPr>
              <a:t>5/24</a:t>
            </a:r>
          </a:p>
        </p:txBody>
      </p:sp>
      <p:sp>
        <p:nvSpPr>
          <p:cNvPr id="8" name="TextBox 7"/>
          <p:cNvSpPr txBox="1"/>
          <p:nvPr/>
        </p:nvSpPr>
        <p:spPr>
          <a:xfrm>
            <a:off x="502920" y="6126480"/>
            <a:ext cx="11185855" cy="292608"/>
          </a:xfrm>
          <a:prstGeom prst="rect">
            <a:avLst/>
          </a:prstGeom>
          <a:noFill/>
        </p:spPr>
        <p:txBody>
          <a:bodyPr wrap="square" lIns="0" tIns="0" rIns="0" bIns="0" anchor="ctr">
            <a:spAutoFit/>
          </a:bodyPr>
          <a:lstStyle/>
          <a:p>
            <a:r>
              <a:rPr sz="1000" b="1" i="0">
                <a:solidFill>
                  <a:srgbClr val="6B7280"/>
                </a:solidFill>
                <a:latin typeface="Calibri"/>
              </a:rPr>
              <a:t>Fuente: </a:t>
            </a:r>
            <a:r>
              <a:rPr sz="1000" b="0" i="0">
                <a:solidFill>
                  <a:srgbClr val="6B7280"/>
                </a:solidFill>
                <a:latin typeface="Calibri"/>
              </a:rPr>
              <a:t>SIE Business Data (30-jun-2026); PlayStation Blog (27-mar-2026); Xbox Wire (25-jun-2026); Nintendo IR (30-jun-2026); Steam Store</a:t>
            </a:r>
          </a:p>
        </p:txBody>
      </p:sp>
      <p:graphicFrame>
        <p:nvGraphicFramePr>
          <p:cNvPr id="9" name="Table 8"/>
          <p:cNvGraphicFramePr>
            <a:graphicFrameLocks noGrp="1"/>
          </p:cNvGraphicFramePr>
          <p:nvPr/>
        </p:nvGraphicFramePr>
        <p:xfrm>
          <a:off x="502920" y="1234440"/>
          <a:ext cx="11185852" cy="3401568"/>
        </p:xfrm>
        <a:graphic>
          <a:graphicData uri="http://schemas.openxmlformats.org/drawingml/2006/table">
            <a:tbl>
              <a:tblPr firstRow="1" bandRow="1">
                <a:tableStyleId>{5C22544A-7EE6-4342-B048-85BDC9FD1C3A}</a:tableStyleId>
              </a:tblPr>
              <a:tblGrid>
                <a:gridCol w="1967881">
                  <a:extLst>
                    <a:ext uri="{9D8B030D-6E8A-4147-A177-3AD203B41FA5}">
                      <a16:colId xmlns:a16="http://schemas.microsoft.com/office/drawing/2014/main" val="20000"/>
                    </a:ext>
                  </a:extLst>
                </a:gridCol>
                <a:gridCol w="1760736">
                  <a:extLst>
                    <a:ext uri="{9D8B030D-6E8A-4147-A177-3AD203B41FA5}">
                      <a16:colId xmlns:a16="http://schemas.microsoft.com/office/drawing/2014/main" val="20001"/>
                    </a:ext>
                  </a:extLst>
                </a:gridCol>
                <a:gridCol w="2796463">
                  <a:extLst>
                    <a:ext uri="{9D8B030D-6E8A-4147-A177-3AD203B41FA5}">
                      <a16:colId xmlns:a16="http://schemas.microsoft.com/office/drawing/2014/main" val="20002"/>
                    </a:ext>
                  </a:extLst>
                </a:gridCol>
                <a:gridCol w="3003609">
                  <a:extLst>
                    <a:ext uri="{9D8B030D-6E8A-4147-A177-3AD203B41FA5}">
                      <a16:colId xmlns:a16="http://schemas.microsoft.com/office/drawing/2014/main" val="20003"/>
                    </a:ext>
                  </a:extLst>
                </a:gridCol>
                <a:gridCol w="1657163">
                  <a:extLst>
                    <a:ext uri="{9D8B030D-6E8A-4147-A177-3AD203B41FA5}">
                      <a16:colId xmlns:a16="http://schemas.microsoft.com/office/drawing/2014/main" val="20004"/>
                    </a:ext>
                  </a:extLst>
                </a:gridCol>
              </a:tblGrid>
              <a:tr h="566928">
                <a:tc>
                  <a:txBody>
                    <a:bodyPr/>
                    <a:lstStyle/>
                    <a:p>
                      <a:r>
                        <a:rPr sz="1400" b="1" i="0">
                          <a:solidFill>
                            <a:srgbClr val="FFFFFF"/>
                          </a:solidFill>
                          <a:latin typeface="Calibri"/>
                        </a:rPr>
                        <a:t>Consola</a:t>
                      </a:r>
                    </a:p>
                  </a:txBody>
                  <a:tcPr marL="73152" marR="73152" marT="36576" marB="36576" anchor="ctr">
                    <a:solidFill>
                      <a:srgbClr val="0D9488"/>
                    </a:solidFill>
                  </a:tcPr>
                </a:tc>
                <a:tc>
                  <a:txBody>
                    <a:bodyPr/>
                    <a:lstStyle/>
                    <a:p>
                      <a:r>
                        <a:rPr sz="1400" b="1" i="0">
                          <a:solidFill>
                            <a:srgbClr val="FFFFFF"/>
                          </a:solidFill>
                          <a:latin typeface="Calibri"/>
                        </a:rPr>
                        <a:t>Lanzamiento</a:t>
                      </a:r>
                    </a:p>
                  </a:txBody>
                  <a:tcPr marL="73152" marR="73152" marT="36576" marB="36576" anchor="ctr">
                    <a:solidFill>
                      <a:srgbClr val="0D9488"/>
                    </a:solidFill>
                  </a:tcPr>
                </a:tc>
                <a:tc>
                  <a:txBody>
                    <a:bodyPr/>
                    <a:lstStyle/>
                    <a:p>
                      <a:r>
                        <a:rPr sz="1400" b="1" i="0">
                          <a:solidFill>
                            <a:srgbClr val="FFFFFF"/>
                          </a:solidFill>
                          <a:latin typeface="Calibri"/>
                        </a:rPr>
                        <a:t>Dato clave</a:t>
                      </a:r>
                    </a:p>
                  </a:txBody>
                  <a:tcPr marL="73152" marR="73152" marT="36576" marB="36576" anchor="ctr">
                    <a:solidFill>
                      <a:srgbClr val="0D9488"/>
                    </a:solidFill>
                  </a:tcPr>
                </a:tc>
                <a:tc>
                  <a:txBody>
                    <a:bodyPr/>
                    <a:lstStyle/>
                    <a:p>
                      <a:r>
                        <a:rPr sz="1400" b="1" i="0">
                          <a:solidFill>
                            <a:srgbClr val="FFFFFF"/>
                          </a:solidFill>
                          <a:latin typeface="Calibri"/>
                        </a:rPr>
                        <a:t>Precio EE. UU.</a:t>
                      </a:r>
                    </a:p>
                  </a:txBody>
                  <a:tcPr marL="73152" marR="73152" marT="36576" marB="36576" anchor="ctr">
                    <a:solidFill>
                      <a:srgbClr val="0D9488"/>
                    </a:solidFill>
                  </a:tcPr>
                </a:tc>
                <a:tc>
                  <a:txBody>
                    <a:bodyPr/>
                    <a:lstStyle/>
                    <a:p>
                      <a:r>
                        <a:rPr sz="1400" b="1" i="0">
                          <a:solidFill>
                            <a:srgbClr val="FFFFFF"/>
                          </a:solidFill>
                          <a:latin typeface="Calibri"/>
                        </a:rPr>
                        <a:t>Vendidas</a:t>
                      </a:r>
                    </a:p>
                  </a:txBody>
                  <a:tcPr marL="73152" marR="73152" marT="36576" marB="36576" anchor="ctr">
                    <a:solidFill>
                      <a:srgbClr val="0D9488"/>
                    </a:solidFill>
                  </a:tcPr>
                </a:tc>
                <a:extLst>
                  <a:ext uri="{0D108BD9-81ED-4DB2-BD59-A6C34878D82A}">
                    <a16:rowId xmlns:a16="http://schemas.microsoft.com/office/drawing/2014/main" val="10000"/>
                  </a:ext>
                </a:extLst>
              </a:tr>
              <a:tr h="566928">
                <a:tc>
                  <a:txBody>
                    <a:bodyPr/>
                    <a:lstStyle/>
                    <a:p>
                      <a:r>
                        <a:rPr sz="1400" b="0" i="0">
                          <a:solidFill>
                            <a:srgbClr val="1F2937"/>
                          </a:solidFill>
                          <a:latin typeface="Calibri"/>
                        </a:rPr>
                        <a:t>PS5</a:t>
                      </a:r>
                    </a:p>
                  </a:txBody>
                  <a:tcPr marL="73152" marR="73152" marT="36576" marB="36576" anchor="ctr">
                    <a:solidFill>
                      <a:srgbClr val="FFFFFF"/>
                    </a:solidFill>
                  </a:tcPr>
                </a:tc>
                <a:tc>
                  <a:txBody>
                    <a:bodyPr/>
                    <a:lstStyle/>
                    <a:p>
                      <a:r>
                        <a:rPr sz="1400" b="0" i="0">
                          <a:solidFill>
                            <a:srgbClr val="1F2937"/>
                          </a:solidFill>
                          <a:latin typeface="Calibri"/>
                        </a:rPr>
                        <a:t>nov-2020</a:t>
                      </a:r>
                    </a:p>
                  </a:txBody>
                  <a:tcPr marL="73152" marR="73152" marT="36576" marB="36576" anchor="ctr">
                    <a:solidFill>
                      <a:srgbClr val="FFFFFF"/>
                    </a:solidFill>
                  </a:tcPr>
                </a:tc>
                <a:tc>
                  <a:txBody>
                    <a:bodyPr/>
                    <a:lstStyle/>
                    <a:p>
                      <a:r>
                        <a:rPr sz="1400" b="0" i="0">
                          <a:solidFill>
                            <a:srgbClr val="1F2937"/>
                          </a:solidFill>
                          <a:latin typeface="Calibri"/>
                        </a:rPr>
                        <a:t>Pro: +67 % de cómputo</a:t>
                      </a:r>
                    </a:p>
                  </a:txBody>
                  <a:tcPr marL="73152" marR="73152" marT="36576" marB="36576" anchor="ctr">
                    <a:solidFill>
                      <a:srgbClr val="FFFFFF"/>
                    </a:solidFill>
                  </a:tcPr>
                </a:tc>
                <a:tc>
                  <a:txBody>
                    <a:bodyPr/>
                    <a:lstStyle/>
                    <a:p>
                      <a:r>
                        <a:rPr sz="1400" b="0" i="0">
                          <a:solidFill>
                            <a:srgbClr val="1F2937"/>
                          </a:solidFill>
                          <a:latin typeface="Calibri"/>
                        </a:rPr>
                        <a:t>USD 650 / 900 Pro</a:t>
                      </a:r>
                    </a:p>
                  </a:txBody>
                  <a:tcPr marL="73152" marR="73152" marT="36576" marB="36576" anchor="ctr">
                    <a:solidFill>
                      <a:srgbClr val="FFFFFF"/>
                    </a:solidFill>
                  </a:tcPr>
                </a:tc>
                <a:tc>
                  <a:txBody>
                    <a:bodyPr/>
                    <a:lstStyle/>
                    <a:p>
                      <a:r>
                        <a:rPr sz="1400" b="0" i="0">
                          <a:solidFill>
                            <a:srgbClr val="1F2937"/>
                          </a:solidFill>
                          <a:latin typeface="Calibri"/>
                        </a:rPr>
                        <a:t>+95 M</a:t>
                      </a:r>
                    </a:p>
                  </a:txBody>
                  <a:tcPr marL="73152" marR="73152" marT="36576" marB="36576" anchor="ctr">
                    <a:solidFill>
                      <a:srgbClr val="FFFFFF"/>
                    </a:solidFill>
                  </a:tcPr>
                </a:tc>
                <a:extLst>
                  <a:ext uri="{0D108BD9-81ED-4DB2-BD59-A6C34878D82A}">
                    <a16:rowId xmlns:a16="http://schemas.microsoft.com/office/drawing/2014/main" val="10001"/>
                  </a:ext>
                </a:extLst>
              </a:tr>
              <a:tr h="566928">
                <a:tc>
                  <a:txBody>
                    <a:bodyPr/>
                    <a:lstStyle/>
                    <a:p>
                      <a:r>
                        <a:rPr sz="1400" b="0" i="0">
                          <a:solidFill>
                            <a:srgbClr val="1F2937"/>
                          </a:solidFill>
                          <a:latin typeface="Calibri"/>
                        </a:rPr>
                        <a:t>Xbox Series X</a:t>
                      </a:r>
                    </a:p>
                  </a:txBody>
                  <a:tcPr marL="73152" marR="73152" marT="36576" marB="36576" anchor="ctr">
                    <a:solidFill>
                      <a:srgbClr val="E6F4F2"/>
                    </a:solidFill>
                  </a:tcPr>
                </a:tc>
                <a:tc>
                  <a:txBody>
                    <a:bodyPr/>
                    <a:lstStyle/>
                    <a:p>
                      <a:r>
                        <a:rPr sz="1400" b="0" i="0">
                          <a:solidFill>
                            <a:srgbClr val="1F2937"/>
                          </a:solidFill>
                          <a:latin typeface="Calibri"/>
                        </a:rPr>
                        <a:t>nov-2020</a:t>
                      </a:r>
                    </a:p>
                  </a:txBody>
                  <a:tcPr marL="73152" marR="73152" marT="36576" marB="36576" anchor="ctr">
                    <a:solidFill>
                      <a:srgbClr val="E6F4F2"/>
                    </a:solidFill>
                  </a:tcPr>
                </a:tc>
                <a:tc>
                  <a:txBody>
                    <a:bodyPr/>
                    <a:lstStyle/>
                    <a:p>
                      <a:r>
                        <a:rPr sz="1400" b="0" i="0">
                          <a:solidFill>
                            <a:srgbClr val="1F2937"/>
                          </a:solidFill>
                          <a:latin typeface="Calibri"/>
                        </a:rPr>
                        <a:t>16 GB de memoria</a:t>
                      </a:r>
                    </a:p>
                  </a:txBody>
                  <a:tcPr marL="73152" marR="73152" marT="36576" marB="36576" anchor="ctr">
                    <a:solidFill>
                      <a:srgbClr val="E6F4F2"/>
                    </a:solidFill>
                  </a:tcPr>
                </a:tc>
                <a:tc>
                  <a:txBody>
                    <a:bodyPr/>
                    <a:lstStyle/>
                    <a:p>
                      <a:r>
                        <a:rPr sz="1400" b="0" i="0">
                          <a:solidFill>
                            <a:srgbClr val="1F2937"/>
                          </a:solidFill>
                          <a:latin typeface="Calibri"/>
                        </a:rPr>
                        <a:t>+USD 100–150 (ago-2026)</a:t>
                      </a:r>
                    </a:p>
                  </a:txBody>
                  <a:tcPr marL="73152" marR="73152" marT="36576" marB="36576" anchor="ctr">
                    <a:solidFill>
                      <a:srgbClr val="E6F4F2"/>
                    </a:solidFill>
                  </a:tcPr>
                </a:tc>
                <a:tc>
                  <a:txBody>
                    <a:bodyPr/>
                    <a:lstStyle/>
                    <a:p>
                      <a:r>
                        <a:rPr sz="1400" b="0" i="0">
                          <a:solidFill>
                            <a:srgbClr val="1F2937"/>
                          </a:solidFill>
                          <a:latin typeface="Calibri"/>
                        </a:rPr>
                        <a:t>No publica</a:t>
                      </a:r>
                    </a:p>
                  </a:txBody>
                  <a:tcPr marL="73152" marR="73152" marT="36576" marB="36576" anchor="ctr">
                    <a:solidFill>
                      <a:srgbClr val="E6F4F2"/>
                    </a:solidFill>
                  </a:tcPr>
                </a:tc>
                <a:extLst>
                  <a:ext uri="{0D108BD9-81ED-4DB2-BD59-A6C34878D82A}">
                    <a16:rowId xmlns:a16="http://schemas.microsoft.com/office/drawing/2014/main" val="10002"/>
                  </a:ext>
                </a:extLst>
              </a:tr>
              <a:tr h="566928">
                <a:tc>
                  <a:txBody>
                    <a:bodyPr/>
                    <a:lstStyle/>
                    <a:p>
                      <a:r>
                        <a:rPr sz="1400" b="0" i="0">
                          <a:solidFill>
                            <a:srgbClr val="1F2937"/>
                          </a:solidFill>
                          <a:latin typeface="Calibri"/>
                        </a:rPr>
                        <a:t>Xbox Series S</a:t>
                      </a:r>
                    </a:p>
                  </a:txBody>
                  <a:tcPr marL="73152" marR="73152" marT="36576" marB="36576" anchor="ctr">
                    <a:solidFill>
                      <a:srgbClr val="FFFFFF"/>
                    </a:solidFill>
                  </a:tcPr>
                </a:tc>
                <a:tc>
                  <a:txBody>
                    <a:bodyPr/>
                    <a:lstStyle/>
                    <a:p>
                      <a:r>
                        <a:rPr sz="1400" b="0" i="0">
                          <a:solidFill>
                            <a:srgbClr val="1F2937"/>
                          </a:solidFill>
                          <a:latin typeface="Calibri"/>
                        </a:rPr>
                        <a:t>nov-2020</a:t>
                      </a:r>
                    </a:p>
                  </a:txBody>
                  <a:tcPr marL="73152" marR="73152" marT="36576" marB="36576" anchor="ctr">
                    <a:solidFill>
                      <a:srgbClr val="FFFFFF"/>
                    </a:solidFill>
                  </a:tcPr>
                </a:tc>
                <a:tc>
                  <a:txBody>
                    <a:bodyPr/>
                    <a:lstStyle/>
                    <a:p>
                      <a:r>
                        <a:rPr sz="1400" b="0" i="0">
                          <a:solidFill>
                            <a:srgbClr val="1F2937"/>
                          </a:solidFill>
                          <a:latin typeface="Calibri"/>
                        </a:rPr>
                        <a:t>10 GB de memoria</a:t>
                      </a:r>
                    </a:p>
                  </a:txBody>
                  <a:tcPr marL="73152" marR="73152" marT="36576" marB="36576" anchor="ctr">
                    <a:solidFill>
                      <a:srgbClr val="FFFFFF"/>
                    </a:solidFill>
                  </a:tcPr>
                </a:tc>
                <a:tc>
                  <a:txBody>
                    <a:bodyPr/>
                    <a:lstStyle/>
                    <a:p>
                      <a:r>
                        <a:rPr sz="1400" b="0" i="0">
                          <a:solidFill>
                            <a:srgbClr val="1F2937"/>
                          </a:solidFill>
                          <a:latin typeface="Calibri"/>
                        </a:rPr>
                        <a:t>ídem</a:t>
                      </a:r>
                    </a:p>
                  </a:txBody>
                  <a:tcPr marL="73152" marR="73152" marT="36576" marB="36576" anchor="ctr">
                    <a:solidFill>
                      <a:srgbClr val="FFFFFF"/>
                    </a:solidFill>
                  </a:tcPr>
                </a:tc>
                <a:tc>
                  <a:txBody>
                    <a:bodyPr/>
                    <a:lstStyle/>
                    <a:p>
                      <a:r>
                        <a:rPr sz="1400" b="0" i="0">
                          <a:solidFill>
                            <a:srgbClr val="1F2937"/>
                          </a:solidFill>
                          <a:latin typeface="Calibri"/>
                        </a:rPr>
                        <a:t>No publica</a:t>
                      </a:r>
                    </a:p>
                  </a:txBody>
                  <a:tcPr marL="73152" marR="73152" marT="36576" marB="36576" anchor="ctr">
                    <a:solidFill>
                      <a:srgbClr val="FFFFFF"/>
                    </a:solidFill>
                  </a:tcPr>
                </a:tc>
                <a:extLst>
                  <a:ext uri="{0D108BD9-81ED-4DB2-BD59-A6C34878D82A}">
                    <a16:rowId xmlns:a16="http://schemas.microsoft.com/office/drawing/2014/main" val="10003"/>
                  </a:ext>
                </a:extLst>
              </a:tr>
              <a:tr h="566928">
                <a:tc>
                  <a:txBody>
                    <a:bodyPr/>
                    <a:lstStyle/>
                    <a:p>
                      <a:r>
                        <a:rPr sz="1400" b="0" i="0">
                          <a:solidFill>
                            <a:srgbClr val="1F2937"/>
                          </a:solidFill>
                          <a:latin typeface="Calibri"/>
                        </a:rPr>
                        <a:t>Switch 2</a:t>
                      </a:r>
                    </a:p>
                  </a:txBody>
                  <a:tcPr marL="73152" marR="73152" marT="36576" marB="36576" anchor="ctr">
                    <a:solidFill>
                      <a:srgbClr val="E6F4F2"/>
                    </a:solidFill>
                  </a:tcPr>
                </a:tc>
                <a:tc>
                  <a:txBody>
                    <a:bodyPr/>
                    <a:lstStyle/>
                    <a:p>
                      <a:r>
                        <a:rPr sz="1400" b="0" i="0">
                          <a:solidFill>
                            <a:srgbClr val="1F2937"/>
                          </a:solidFill>
                          <a:latin typeface="Calibri"/>
                        </a:rPr>
                        <a:t>jun-2025</a:t>
                      </a:r>
                    </a:p>
                  </a:txBody>
                  <a:tcPr marL="73152" marR="73152" marT="36576" marB="36576" anchor="ctr">
                    <a:solidFill>
                      <a:srgbClr val="E6F4F2"/>
                    </a:solidFill>
                  </a:tcPr>
                </a:tc>
                <a:tc>
                  <a:txBody>
                    <a:bodyPr/>
                    <a:lstStyle/>
                    <a:p>
                      <a:r>
                        <a:rPr sz="1400" b="0" i="0">
                          <a:solidFill>
                            <a:srgbClr val="1F2937"/>
                          </a:solidFill>
                          <a:latin typeface="Calibri"/>
                        </a:rPr>
                        <a:t>Portátil + dock 4K</a:t>
                      </a:r>
                    </a:p>
                  </a:txBody>
                  <a:tcPr marL="73152" marR="73152" marT="36576" marB="36576" anchor="ctr">
                    <a:solidFill>
                      <a:srgbClr val="E6F4F2"/>
                    </a:solidFill>
                  </a:tcPr>
                </a:tc>
                <a:tc>
                  <a:txBody>
                    <a:bodyPr/>
                    <a:lstStyle/>
                    <a:p>
                      <a:r>
                        <a:rPr sz="1400" b="0" i="0">
                          <a:solidFill>
                            <a:srgbClr val="1F2937"/>
                          </a:solidFill>
                          <a:latin typeface="Calibri"/>
                        </a:rPr>
                        <a:t>USD 500</a:t>
                      </a:r>
                    </a:p>
                  </a:txBody>
                  <a:tcPr marL="73152" marR="73152" marT="36576" marB="36576" anchor="ctr">
                    <a:solidFill>
                      <a:srgbClr val="E6F4F2"/>
                    </a:solidFill>
                  </a:tcPr>
                </a:tc>
                <a:tc>
                  <a:txBody>
                    <a:bodyPr/>
                    <a:lstStyle/>
                    <a:p>
                      <a:r>
                        <a:rPr sz="1400" b="0" i="0">
                          <a:solidFill>
                            <a:srgbClr val="1F2937"/>
                          </a:solidFill>
                          <a:latin typeface="Calibri"/>
                        </a:rPr>
                        <a:t>23,68 M</a:t>
                      </a:r>
                    </a:p>
                  </a:txBody>
                  <a:tcPr marL="73152" marR="73152" marT="36576" marB="36576" anchor="ctr">
                    <a:solidFill>
                      <a:srgbClr val="E6F4F2"/>
                    </a:solidFill>
                  </a:tcPr>
                </a:tc>
                <a:extLst>
                  <a:ext uri="{0D108BD9-81ED-4DB2-BD59-A6C34878D82A}">
                    <a16:rowId xmlns:a16="http://schemas.microsoft.com/office/drawing/2014/main" val="10004"/>
                  </a:ext>
                </a:extLst>
              </a:tr>
              <a:tr h="566928">
                <a:tc>
                  <a:txBody>
                    <a:bodyPr/>
                    <a:lstStyle/>
                    <a:p>
                      <a:r>
                        <a:rPr sz="1400" b="0" i="0">
                          <a:solidFill>
                            <a:srgbClr val="1F2937"/>
                          </a:solidFill>
                          <a:latin typeface="Calibri"/>
                        </a:rPr>
                        <a:t>Steam Machine</a:t>
                      </a:r>
                    </a:p>
                  </a:txBody>
                  <a:tcPr marL="73152" marR="73152" marT="36576" marB="36576" anchor="ctr">
                    <a:solidFill>
                      <a:srgbClr val="FFFFFF"/>
                    </a:solidFill>
                  </a:tcPr>
                </a:tc>
                <a:tc>
                  <a:txBody>
                    <a:bodyPr/>
                    <a:lstStyle/>
                    <a:p>
                      <a:r>
                        <a:rPr sz="1400" b="0" i="0">
                          <a:solidFill>
                            <a:srgbClr val="1F2937"/>
                          </a:solidFill>
                          <a:latin typeface="Calibri"/>
                        </a:rPr>
                        <a:t>jun-2026</a:t>
                      </a:r>
                    </a:p>
                  </a:txBody>
                  <a:tcPr marL="73152" marR="73152" marT="36576" marB="36576" anchor="ctr">
                    <a:solidFill>
                      <a:srgbClr val="FFFFFF"/>
                    </a:solidFill>
                  </a:tcPr>
                </a:tc>
                <a:tc>
                  <a:txBody>
                    <a:bodyPr/>
                    <a:lstStyle/>
                    <a:p>
                      <a:r>
                        <a:rPr sz="1400" b="0" i="0">
                          <a:solidFill>
                            <a:srgbClr val="1F2937"/>
                          </a:solidFill>
                          <a:latin typeface="Calibri"/>
                        </a:rPr>
                        <a:t>PC con SteamOS</a:t>
                      </a:r>
                    </a:p>
                  </a:txBody>
                  <a:tcPr marL="73152" marR="73152" marT="36576" marB="36576" anchor="ctr">
                    <a:solidFill>
                      <a:srgbClr val="FFFFFF"/>
                    </a:solidFill>
                  </a:tcPr>
                </a:tc>
                <a:tc>
                  <a:txBody>
                    <a:bodyPr/>
                    <a:lstStyle/>
                    <a:p>
                      <a:r>
                        <a:rPr sz="1400" b="0" i="0">
                          <a:solidFill>
                            <a:srgbClr val="1F2937"/>
                          </a:solidFill>
                          <a:latin typeface="Calibri"/>
                        </a:rPr>
                        <a:t>USD 1.049</a:t>
                      </a:r>
                    </a:p>
                  </a:txBody>
                  <a:tcPr marL="73152" marR="73152" marT="36576" marB="36576" anchor="ctr">
                    <a:solidFill>
                      <a:srgbClr val="FFFFFF"/>
                    </a:solidFill>
                  </a:tcPr>
                </a:tc>
                <a:tc>
                  <a:txBody>
                    <a:bodyPr/>
                    <a:lstStyle/>
                    <a:p>
                      <a:r>
                        <a:rPr sz="1400" b="0" i="0">
                          <a:solidFill>
                            <a:srgbClr val="1F2937"/>
                          </a:solidFill>
                          <a:latin typeface="Calibri"/>
                        </a:rPr>
                        <a:t>No publica</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6</a:t>
            </a:r>
          </a:p>
        </p:txBody>
      </p:sp>
      <p:sp>
        <p:nvSpPr>
          <p:cNvPr id="5" name="TextBox 4"/>
          <p:cNvSpPr txBox="1"/>
          <p:nvPr/>
        </p:nvSpPr>
        <p:spPr>
          <a:xfrm>
            <a:off x="1005840" y="109728"/>
            <a:ext cx="10728655" cy="777240"/>
          </a:xfrm>
          <a:prstGeom prst="rect">
            <a:avLst/>
          </a:prstGeom>
          <a:noFill/>
        </p:spPr>
        <p:txBody>
          <a:bodyPr wrap="square" lIns="0" tIns="0" rIns="0" bIns="0" anchor="ctr">
            <a:spAutoFit/>
          </a:bodyPr>
          <a:lstStyle/>
          <a:p>
            <a:r>
              <a:rPr sz="1100" b="1" i="0">
                <a:solidFill>
                  <a:srgbClr val="99F6E4"/>
                </a:solidFill>
                <a:latin typeface="Calibri"/>
              </a:rPr>
              <a:t>LA CONSOLA COMO PLATAFORMA</a:t>
            </a:r>
          </a:p>
          <a:p>
            <a:r>
              <a:rPr sz="2600" b="1" i="0">
                <a:solidFill>
                  <a:srgbClr val="FFFFFF"/>
                </a:solidFill>
                <a:latin typeface="Calibri"/>
              </a:rPr>
              <a:t>Misma generación, dos pisos</a:t>
            </a:r>
          </a:p>
        </p:txBody>
      </p:sp>
      <p:sp>
        <p:nvSpPr>
          <p:cNvPr id="6" name="TextBox 5"/>
          <p:cNvSpPr txBox="1"/>
          <p:nvPr/>
        </p:nvSpPr>
        <p:spPr>
          <a:xfrm>
            <a:off x="502920" y="6473952"/>
            <a:ext cx="11185855" cy="274320"/>
          </a:xfrm>
          <a:prstGeom prst="rect">
            <a:avLst/>
          </a:prstGeom>
          <a:noFill/>
        </p:spPr>
        <p:txBody>
          <a:bodyPr wrap="square" lIns="0" tIns="0" rIns="0" bIns="0" anchor="ctr">
            <a:spAutoFit/>
          </a:bodyPr>
          <a:lstStyle/>
          <a:p>
            <a:r>
              <a:rPr sz="1000" b="0" i="0">
                <a:solidFill>
                  <a:srgbClr val="6B7280"/>
                </a:solidFill>
                <a:latin typeface="Calibri"/>
              </a:rPr>
              <a:t>Diseño según Plataformas de Juego · Unidad V · Clase 1 · La consola tiene dueño</a:t>
            </a:r>
          </a:p>
        </p:txBody>
      </p:sp>
      <p:sp>
        <p:nvSpPr>
          <p:cNvPr id="7" name="TextBox 6"/>
          <p:cNvSpPr txBox="1"/>
          <p:nvPr/>
        </p:nvSpPr>
        <p:spPr>
          <a:xfrm>
            <a:off x="10774375" y="6473952"/>
            <a:ext cx="914400" cy="274320"/>
          </a:xfrm>
          <a:prstGeom prst="rect">
            <a:avLst/>
          </a:prstGeom>
          <a:noFill/>
        </p:spPr>
        <p:txBody>
          <a:bodyPr wrap="square" lIns="0" tIns="0" rIns="0" bIns="0" anchor="ctr">
            <a:spAutoFit/>
          </a:bodyPr>
          <a:lstStyle/>
          <a:p>
            <a:pPr algn="r"/>
            <a:r>
              <a:rPr sz="1000" b="0" i="0">
                <a:solidFill>
                  <a:srgbClr val="6B7280"/>
                </a:solidFill>
                <a:latin typeface="Calibri"/>
              </a:rPr>
              <a:t>6/24</a:t>
            </a:r>
          </a:p>
        </p:txBody>
      </p:sp>
      <p:sp>
        <p:nvSpPr>
          <p:cNvPr id="8" name="TextBox 7"/>
          <p:cNvSpPr txBox="1"/>
          <p:nvPr/>
        </p:nvSpPr>
        <p:spPr>
          <a:xfrm>
            <a:off x="502920" y="6126480"/>
            <a:ext cx="11185855" cy="292608"/>
          </a:xfrm>
          <a:prstGeom prst="rect">
            <a:avLst/>
          </a:prstGeom>
          <a:noFill/>
        </p:spPr>
        <p:txBody>
          <a:bodyPr wrap="square" lIns="0" tIns="0" rIns="0" bIns="0" anchor="ctr">
            <a:spAutoFit/>
          </a:bodyPr>
          <a:lstStyle/>
          <a:p>
            <a:r>
              <a:rPr sz="1000" b="1" i="0">
                <a:solidFill>
                  <a:srgbClr val="6B7280"/>
                </a:solidFill>
                <a:latin typeface="Calibri"/>
              </a:rPr>
              <a:t>Fuente: </a:t>
            </a:r>
            <a:r>
              <a:rPr sz="1000" b="0" i="0">
                <a:solidFill>
                  <a:srgbClr val="6B7280"/>
                </a:solidFill>
                <a:latin typeface="Calibri"/>
              </a:rPr>
              <a:t>Xbox, páginas de Series S y Series X; XBOX Requirements XR-130; Kotaku (24-ago-2023) y Shacknews (28-ene-2025) sobre BG3</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r>
              <a:rPr sz="1300" b="1" i="0">
                <a:solidFill>
                  <a:srgbClr val="0D9488"/>
                </a:solidFill>
                <a:latin typeface="Calibri"/>
              </a:rPr>
              <a:t>PARA CONSOLA  </a:t>
            </a:r>
            <a:r>
              <a:rPr sz="1400" b="0" i="0">
                <a:solidFill>
                  <a:srgbClr val="1F2937"/>
                </a:solidFill>
                <a:latin typeface="Calibri"/>
              </a:rPr>
              <a:t>Se diseña para el modelo más débil y se escala hacia arriba, nunca al revés</a:t>
            </a:r>
          </a:p>
        </p:txBody>
      </p:sp>
      <p:sp>
        <p:nvSpPr>
          <p:cNvPr id="11" name="TextBox 10"/>
          <p:cNvSpPr txBox="1"/>
          <p:nvPr/>
        </p:nvSpPr>
        <p:spPr>
          <a:xfrm>
            <a:off x="6019495" y="1234440"/>
            <a:ext cx="2697480" cy="411480"/>
          </a:xfrm>
          <a:prstGeom prst="rect">
            <a:avLst/>
          </a:prstGeom>
          <a:noFill/>
        </p:spPr>
        <p:txBody>
          <a:bodyPr wrap="square" lIns="0" tIns="0" rIns="0" bIns="0" anchor="ctr">
            <a:spAutoFit/>
          </a:bodyPr>
          <a:lstStyle/>
          <a:p>
            <a:pPr algn="ctr"/>
            <a:r>
              <a:rPr sz="1600" b="1" i="0">
                <a:solidFill>
                  <a:srgbClr val="0D9488"/>
                </a:solidFill>
                <a:latin typeface="Calibri"/>
              </a:rPr>
              <a:t>SERIES S</a:t>
            </a:r>
          </a:p>
        </p:txBody>
      </p:sp>
      <p:sp>
        <p:nvSpPr>
          <p:cNvPr id="12" name="Rounded Rectangle 11"/>
          <p:cNvSpPr/>
          <p:nvPr/>
        </p:nvSpPr>
        <p:spPr>
          <a:xfrm>
            <a:off x="6293815" y="214884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Calibri"/>
              </a:rPr>
              <a:t>10 GB</a:t>
            </a:r>
          </a:p>
        </p:txBody>
      </p:sp>
      <p:sp>
        <p:nvSpPr>
          <p:cNvPr id="13" name="Rounded Rectangle 12"/>
          <p:cNvSpPr/>
          <p:nvPr/>
        </p:nvSpPr>
        <p:spPr>
          <a:xfrm>
            <a:off x="6293815" y="297180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Calibri"/>
              </a:rPr>
              <a:t>1440p</a:t>
            </a:r>
          </a:p>
        </p:txBody>
      </p:sp>
      <p:sp>
        <p:nvSpPr>
          <p:cNvPr id="14" name="Rounded Rectangle 13"/>
          <p:cNvSpPr/>
          <p:nvPr/>
        </p:nvSpPr>
        <p:spPr>
          <a:xfrm>
            <a:off x="6293815" y="379476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Calibri"/>
              </a:rPr>
              <a:t>4 TFLOPS</a:t>
            </a:r>
          </a:p>
        </p:txBody>
      </p:sp>
      <p:sp>
        <p:nvSpPr>
          <p:cNvPr id="15" name="TextBox 14"/>
          <p:cNvSpPr txBox="1"/>
          <p:nvPr/>
        </p:nvSpPr>
        <p:spPr>
          <a:xfrm>
            <a:off x="6019495" y="4800600"/>
            <a:ext cx="2697480" cy="640080"/>
          </a:xfrm>
          <a:prstGeom prst="rect">
            <a:avLst/>
          </a:prstGeom>
          <a:noFill/>
        </p:spPr>
        <p:txBody>
          <a:bodyPr wrap="square" lIns="0" tIns="0" rIns="0" bIns="0" anchor="t">
            <a:spAutoFit/>
          </a:bodyPr>
          <a:lstStyle/>
          <a:p>
            <a:pPr algn="ctr"/>
            <a:r>
              <a:rPr sz="1400" b="0" i="0">
                <a:solidFill>
                  <a:srgbClr val="1F2937"/>
                </a:solidFill>
                <a:latin typeface="Calibri"/>
              </a:rPr>
              <a:t>El piso del diseño</a:t>
            </a:r>
          </a:p>
        </p:txBody>
      </p:sp>
      <p:sp>
        <p:nvSpPr>
          <p:cNvPr id="16" name="TextBox 15"/>
          <p:cNvSpPr txBox="1"/>
          <p:nvPr/>
        </p:nvSpPr>
        <p:spPr>
          <a:xfrm>
            <a:off x="8991295" y="1234440"/>
            <a:ext cx="2697480" cy="411480"/>
          </a:xfrm>
          <a:prstGeom prst="rect">
            <a:avLst/>
          </a:prstGeom>
          <a:noFill/>
        </p:spPr>
        <p:txBody>
          <a:bodyPr wrap="square" lIns="0" tIns="0" rIns="0" bIns="0" anchor="ctr">
            <a:spAutoFit/>
          </a:bodyPr>
          <a:lstStyle/>
          <a:p>
            <a:pPr algn="ctr"/>
            <a:r>
              <a:rPr sz="1600" b="1" i="0">
                <a:solidFill>
                  <a:srgbClr val="1F2A44"/>
                </a:solidFill>
                <a:latin typeface="Calibri"/>
              </a:rPr>
              <a:t>SERIES X</a:t>
            </a:r>
          </a:p>
        </p:txBody>
      </p:sp>
      <p:sp>
        <p:nvSpPr>
          <p:cNvPr id="17" name="Rounded Rectangle 16"/>
          <p:cNvSpPr/>
          <p:nvPr/>
        </p:nvSpPr>
        <p:spPr>
          <a:xfrm>
            <a:off x="9265615" y="214884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Calibri"/>
              </a:rPr>
              <a:t>16 GB</a:t>
            </a:r>
          </a:p>
        </p:txBody>
      </p:sp>
      <p:sp>
        <p:nvSpPr>
          <p:cNvPr id="18" name="Rounded Rectangle 17"/>
          <p:cNvSpPr/>
          <p:nvPr/>
        </p:nvSpPr>
        <p:spPr>
          <a:xfrm>
            <a:off x="9265615" y="297180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Calibri"/>
              </a:rPr>
              <a:t>4K</a:t>
            </a:r>
          </a:p>
        </p:txBody>
      </p:sp>
      <p:sp>
        <p:nvSpPr>
          <p:cNvPr id="19" name="Rounded Rectangle 18"/>
          <p:cNvSpPr/>
          <p:nvPr/>
        </p:nvSpPr>
        <p:spPr>
          <a:xfrm>
            <a:off x="9265615" y="379476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Calibri"/>
              </a:rPr>
              <a:t>12 TFLOPS</a:t>
            </a:r>
          </a:p>
        </p:txBody>
      </p:sp>
      <p:sp>
        <p:nvSpPr>
          <p:cNvPr id="20" name="TextBox 19"/>
          <p:cNvSpPr txBox="1"/>
          <p:nvPr/>
        </p:nvSpPr>
        <p:spPr>
          <a:xfrm>
            <a:off x="8991295" y="4800600"/>
            <a:ext cx="2697480" cy="640080"/>
          </a:xfrm>
          <a:prstGeom prst="rect">
            <a:avLst/>
          </a:prstGeom>
          <a:noFill/>
        </p:spPr>
        <p:txBody>
          <a:bodyPr wrap="square" lIns="0" tIns="0" rIns="0" bIns="0" anchor="t">
            <a:spAutoFit/>
          </a:bodyPr>
          <a:lstStyle/>
          <a:p>
            <a:pPr algn="ctr"/>
            <a:r>
              <a:rPr sz="1400" b="0" i="0">
                <a:solidFill>
                  <a:srgbClr val="1F2937"/>
                </a:solidFill>
                <a:latin typeface="Calibri"/>
              </a:rPr>
              <a:t>El techo del diseño</a:t>
            </a:r>
          </a:p>
        </p:txBody>
      </p:sp>
      <p:sp>
        <p:nvSpPr>
          <p:cNvPr id="21" name="TextBox 20"/>
          <p:cNvSpPr txBox="1"/>
          <p:nvPr/>
        </p:nvSpPr>
        <p:spPr>
          <a:xfrm>
            <a:off x="502920" y="1234440"/>
            <a:ext cx="5242255" cy="4206240"/>
          </a:xfrm>
          <a:prstGeom prst="rect">
            <a:avLst/>
          </a:prstGeom>
          <a:noFill/>
        </p:spPr>
        <p:txBody>
          <a:bodyPr wrap="square" lIns="0" tIns="0" rIns="0" bIns="0" anchor="t">
            <a:spAutoFit/>
          </a:bodyPr>
          <a:lstStyle/>
          <a:p>
            <a:pPr>
              <a:spcAft>
                <a:spcPts val="800"/>
              </a:spcAft>
            </a:pPr>
            <a:r>
              <a:rPr sz="1600" b="1" i="0">
                <a:solidFill>
                  <a:srgbClr val="0D9488"/>
                </a:solidFill>
                <a:latin typeface="Calibri"/>
              </a:rPr>
              <a:t>■  </a:t>
            </a:r>
            <a:r>
              <a:rPr sz="2200" b="0" i="0">
                <a:solidFill>
                  <a:srgbClr val="1F2937"/>
                </a:solidFill>
                <a:latin typeface="Calibri"/>
              </a:rPr>
              <a:t>Series S: 10 GB de memoria</a:t>
            </a:r>
          </a:p>
          <a:p>
            <a:pPr>
              <a:spcAft>
                <a:spcPts val="800"/>
              </a:spcAft>
            </a:pPr>
            <a:r>
              <a:rPr sz="1600" b="1" i="0">
                <a:solidFill>
                  <a:srgbClr val="0D9488"/>
                </a:solidFill>
                <a:latin typeface="Calibri"/>
              </a:rPr>
              <a:t>■  </a:t>
            </a:r>
            <a:r>
              <a:rPr sz="2200" b="0" i="0">
                <a:solidFill>
                  <a:srgbClr val="1F2937"/>
                </a:solidFill>
                <a:latin typeface="Calibri"/>
              </a:rPr>
              <a:t>Series X: 16 GB de memoria</a:t>
            </a:r>
          </a:p>
          <a:p>
            <a:pPr>
              <a:spcAft>
                <a:spcPts val="800"/>
              </a:spcAft>
            </a:pPr>
            <a:r>
              <a:rPr sz="1600" b="1" i="0">
                <a:solidFill>
                  <a:srgbClr val="0D9488"/>
                </a:solidFill>
                <a:latin typeface="Calibri"/>
              </a:rPr>
              <a:t>■  </a:t>
            </a:r>
            <a:r>
              <a:rPr sz="2200" b="0" i="0">
                <a:solidFill>
                  <a:srgbClr val="1F2937"/>
                </a:solidFill>
                <a:latin typeface="Calibri"/>
              </a:rPr>
              <a:t>Mismos modos de juego (XR-130)</a:t>
            </a:r>
          </a:p>
          <a:p>
            <a:pPr>
              <a:spcAft>
                <a:spcPts val="800"/>
              </a:spcAft>
            </a:pPr>
            <a:r>
              <a:rPr sz="1600" b="1" i="0">
                <a:solidFill>
                  <a:srgbClr val="0D9488"/>
                </a:solidFill>
                <a:latin typeface="Calibri"/>
              </a:rPr>
              <a:t>■  </a:t>
            </a:r>
            <a:r>
              <a:rPr sz="2200" b="0" i="0">
                <a:solidFill>
                  <a:srgbClr val="1F2937"/>
                </a:solidFill>
                <a:latin typeface="Calibri"/>
              </a:rPr>
              <a:t>BG3: sin pantalla dividida en 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7</a:t>
            </a:r>
          </a:p>
        </p:txBody>
      </p:sp>
      <p:sp>
        <p:nvSpPr>
          <p:cNvPr id="5" name="TextBox 4"/>
          <p:cNvSpPr txBox="1"/>
          <p:nvPr/>
        </p:nvSpPr>
        <p:spPr>
          <a:xfrm>
            <a:off x="1005840" y="109728"/>
            <a:ext cx="10728655" cy="777240"/>
          </a:xfrm>
          <a:prstGeom prst="rect">
            <a:avLst/>
          </a:prstGeom>
          <a:noFill/>
        </p:spPr>
        <p:txBody>
          <a:bodyPr wrap="square" lIns="0" tIns="0" rIns="0" bIns="0" anchor="ctr">
            <a:spAutoFit/>
          </a:bodyPr>
          <a:lstStyle/>
          <a:p>
            <a:r>
              <a:rPr sz="1100" b="1" i="0">
                <a:solidFill>
                  <a:srgbClr val="99F6E4"/>
                </a:solidFill>
                <a:latin typeface="Calibri"/>
              </a:rPr>
              <a:t>HISTORIA Y DATOS</a:t>
            </a:r>
          </a:p>
          <a:p>
            <a:r>
              <a:rPr sz="2600" b="1" i="0">
                <a:solidFill>
                  <a:srgbClr val="FFFFFF"/>
                </a:solidFill>
                <a:latin typeface="Calibri"/>
              </a:rPr>
              <a:t>Hitos que cambiaron el diseño</a:t>
            </a:r>
          </a:p>
        </p:txBody>
      </p:sp>
      <p:sp>
        <p:nvSpPr>
          <p:cNvPr id="6" name="TextBox 5"/>
          <p:cNvSpPr txBox="1"/>
          <p:nvPr/>
        </p:nvSpPr>
        <p:spPr>
          <a:xfrm>
            <a:off x="502920" y="6473952"/>
            <a:ext cx="11185855" cy="274320"/>
          </a:xfrm>
          <a:prstGeom prst="rect">
            <a:avLst/>
          </a:prstGeom>
          <a:noFill/>
        </p:spPr>
        <p:txBody>
          <a:bodyPr wrap="square" lIns="0" tIns="0" rIns="0" bIns="0" anchor="ctr">
            <a:spAutoFit/>
          </a:bodyPr>
          <a:lstStyle/>
          <a:p>
            <a:r>
              <a:rPr sz="1000" b="0" i="0">
                <a:solidFill>
                  <a:srgbClr val="6B7280"/>
                </a:solidFill>
                <a:latin typeface="Calibri"/>
              </a:rPr>
              <a:t>Diseño según Plataformas de Juego · Unidad V · Clase 1 · La consola tiene dueño</a:t>
            </a:r>
          </a:p>
        </p:txBody>
      </p:sp>
      <p:sp>
        <p:nvSpPr>
          <p:cNvPr id="7" name="TextBox 6"/>
          <p:cNvSpPr txBox="1"/>
          <p:nvPr/>
        </p:nvSpPr>
        <p:spPr>
          <a:xfrm>
            <a:off x="10774375" y="6473952"/>
            <a:ext cx="914400" cy="274320"/>
          </a:xfrm>
          <a:prstGeom prst="rect">
            <a:avLst/>
          </a:prstGeom>
          <a:noFill/>
        </p:spPr>
        <p:txBody>
          <a:bodyPr wrap="square" lIns="0" tIns="0" rIns="0" bIns="0" anchor="ctr">
            <a:spAutoFit/>
          </a:bodyPr>
          <a:lstStyle/>
          <a:p>
            <a:pPr algn="r"/>
            <a:r>
              <a:rPr sz="1000" b="0" i="0">
                <a:solidFill>
                  <a:srgbClr val="6B7280"/>
                </a:solidFill>
                <a:latin typeface="Calibri"/>
              </a:rPr>
              <a:t>7/24</a:t>
            </a:r>
          </a:p>
        </p:txBody>
      </p:sp>
      <p:sp>
        <p:nvSpPr>
          <p:cNvPr id="8" name="TextBox 7"/>
          <p:cNvSpPr txBox="1"/>
          <p:nvPr/>
        </p:nvSpPr>
        <p:spPr>
          <a:xfrm>
            <a:off x="502920" y="6126480"/>
            <a:ext cx="11185855" cy="292608"/>
          </a:xfrm>
          <a:prstGeom prst="rect">
            <a:avLst/>
          </a:prstGeom>
          <a:noFill/>
        </p:spPr>
        <p:txBody>
          <a:bodyPr wrap="square" lIns="0" tIns="0" rIns="0" bIns="0" anchor="ctr">
            <a:spAutoFit/>
          </a:bodyPr>
          <a:lstStyle/>
          <a:p>
            <a:r>
              <a:rPr sz="1000" b="1" i="0">
                <a:solidFill>
                  <a:srgbClr val="6B7280"/>
                </a:solidFill>
                <a:latin typeface="Calibri"/>
              </a:rPr>
              <a:t>Fuente: </a:t>
            </a:r>
            <a:r>
              <a:rPr sz="1000" b="0" i="0">
                <a:solidFill>
                  <a:srgbClr val="6B7280"/>
                </a:solidFill>
                <a:latin typeface="Calibri"/>
              </a:rPr>
              <a:t>Nintendo IR; playstation.com/playstation-history; Microsoft, comunicado del 13-ago-2002; Xbox Wire, PlayStation Blog y Nintendo (2026)</a:t>
            </a:r>
          </a:p>
        </p:txBody>
      </p:sp>
      <p:sp>
        <p:nvSpPr>
          <p:cNvPr id="9" name="Rectangle 8"/>
          <p:cNvSpPr/>
          <p:nvPr/>
        </p:nvSpPr>
        <p:spPr>
          <a:xfrm>
            <a:off x="1325880" y="3455670"/>
            <a:ext cx="9539935" cy="381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499235" y="315468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417320"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02920" y="2377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200" b="1" i="0">
                <a:solidFill>
                  <a:srgbClr val="0D9488"/>
                </a:solidFill>
                <a:latin typeface="Calibri"/>
              </a:rPr>
              <a:t>1983  </a:t>
            </a:r>
            <a:r>
              <a:rPr sz="1200" b="1" i="0">
                <a:solidFill>
                  <a:srgbClr val="1F2937"/>
                </a:solidFill>
                <a:latin typeface="Calibri"/>
              </a:rPr>
              <a:t>Famicom</a:t>
            </a:r>
          </a:p>
          <a:p>
            <a:pPr algn="ctr"/>
            <a:r>
              <a:rPr sz="1100" b="0" i="0">
                <a:solidFill>
                  <a:srgbClr val="6B7280"/>
                </a:solidFill>
                <a:latin typeface="Calibri"/>
              </a:rPr>
              <a:t>el fabricante controla qué se publica</a:t>
            </a:r>
          </a:p>
        </p:txBody>
      </p:sp>
      <p:sp>
        <p:nvSpPr>
          <p:cNvPr id="13" name="Rectangle 12"/>
          <p:cNvSpPr/>
          <p:nvPr/>
        </p:nvSpPr>
        <p:spPr>
          <a:xfrm>
            <a:off x="2809831" y="347472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727916"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813516" y="379476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200" b="1" i="0">
                <a:solidFill>
                  <a:srgbClr val="0D9488"/>
                </a:solidFill>
                <a:latin typeface="Calibri"/>
              </a:rPr>
              <a:t>1989  </a:t>
            </a:r>
            <a:r>
              <a:rPr sz="1200" b="1" i="0">
                <a:solidFill>
                  <a:srgbClr val="1F2937"/>
                </a:solidFill>
                <a:latin typeface="Calibri"/>
              </a:rPr>
              <a:t>Game Boy</a:t>
            </a:r>
          </a:p>
          <a:p>
            <a:pPr algn="ctr"/>
            <a:r>
              <a:rPr sz="1100" b="0" i="0">
                <a:solidFill>
                  <a:srgbClr val="6B7280"/>
                </a:solidFill>
                <a:latin typeface="Calibri"/>
              </a:rPr>
              <a:t>nace la portátil masiva</a:t>
            </a:r>
          </a:p>
        </p:txBody>
      </p:sp>
      <p:sp>
        <p:nvSpPr>
          <p:cNvPr id="16" name="Rectangle 15"/>
          <p:cNvSpPr/>
          <p:nvPr/>
        </p:nvSpPr>
        <p:spPr>
          <a:xfrm>
            <a:off x="4120427" y="315468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038512"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124112" y="2377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200" b="1" i="0">
                <a:solidFill>
                  <a:srgbClr val="0D9488"/>
                </a:solidFill>
                <a:latin typeface="Calibri"/>
              </a:rPr>
              <a:t>1997  </a:t>
            </a:r>
            <a:r>
              <a:rPr sz="1200" b="1" i="0">
                <a:solidFill>
                  <a:srgbClr val="1F2937"/>
                </a:solidFill>
                <a:latin typeface="Calibri"/>
              </a:rPr>
              <a:t>DualShock</a:t>
            </a:r>
          </a:p>
          <a:p>
            <a:pPr algn="ctr"/>
            <a:r>
              <a:rPr sz="1100" b="0" i="0">
                <a:solidFill>
                  <a:srgbClr val="6B7280"/>
                </a:solidFill>
                <a:latin typeface="Calibri"/>
              </a:rPr>
              <a:t>dos sticks y vibración</a:t>
            </a:r>
          </a:p>
        </p:txBody>
      </p:sp>
      <p:sp>
        <p:nvSpPr>
          <p:cNvPr id="19" name="Rectangle 18"/>
          <p:cNvSpPr/>
          <p:nvPr/>
        </p:nvSpPr>
        <p:spPr>
          <a:xfrm>
            <a:off x="5431024" y="347472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349109"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434709" y="379476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200" b="1" i="0">
                <a:solidFill>
                  <a:srgbClr val="0D9488"/>
                </a:solidFill>
                <a:latin typeface="Calibri"/>
              </a:rPr>
              <a:t>2002  </a:t>
            </a:r>
            <a:r>
              <a:rPr sz="1200" b="1" i="0">
                <a:solidFill>
                  <a:srgbClr val="1F2937"/>
                </a:solidFill>
                <a:latin typeface="Calibri"/>
              </a:rPr>
              <a:t>Xbox Live</a:t>
            </a:r>
          </a:p>
          <a:p>
            <a:pPr algn="ctr"/>
            <a:r>
              <a:rPr sz="1100" b="0" i="0">
                <a:solidFill>
                  <a:srgbClr val="6B7280"/>
                </a:solidFill>
                <a:latin typeface="Calibri"/>
              </a:rPr>
              <a:t>el online como servicio</a:t>
            </a:r>
          </a:p>
        </p:txBody>
      </p:sp>
      <p:sp>
        <p:nvSpPr>
          <p:cNvPr id="22" name="Rectangle 21"/>
          <p:cNvSpPr/>
          <p:nvPr/>
        </p:nvSpPr>
        <p:spPr>
          <a:xfrm>
            <a:off x="6741620" y="315468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659705"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745305" y="2377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200" b="1" i="0">
                <a:solidFill>
                  <a:srgbClr val="0D9488"/>
                </a:solidFill>
                <a:latin typeface="Calibri"/>
              </a:rPr>
              <a:t>2006  </a:t>
            </a:r>
            <a:r>
              <a:rPr sz="1200" b="1" i="0">
                <a:solidFill>
                  <a:srgbClr val="1F2937"/>
                </a:solidFill>
                <a:latin typeface="Calibri"/>
              </a:rPr>
              <a:t>Wii</a:t>
            </a:r>
          </a:p>
          <a:p>
            <a:pPr algn="ctr"/>
            <a:r>
              <a:rPr sz="1100" b="0" i="0">
                <a:solidFill>
                  <a:srgbClr val="6B7280"/>
                </a:solidFill>
                <a:latin typeface="Calibri"/>
              </a:rPr>
              <a:t>control por movimiento</a:t>
            </a:r>
          </a:p>
        </p:txBody>
      </p:sp>
      <p:sp>
        <p:nvSpPr>
          <p:cNvPr id="25" name="Rectangle 24"/>
          <p:cNvSpPr/>
          <p:nvPr/>
        </p:nvSpPr>
        <p:spPr>
          <a:xfrm>
            <a:off x="8052217" y="347472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970302"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055902" y="379476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200" b="1" i="0">
                <a:solidFill>
                  <a:srgbClr val="0D9488"/>
                </a:solidFill>
                <a:latin typeface="Calibri"/>
              </a:rPr>
              <a:t>2017  </a:t>
            </a:r>
            <a:r>
              <a:rPr sz="1200" b="1" i="0">
                <a:solidFill>
                  <a:srgbClr val="1F2937"/>
                </a:solidFill>
                <a:latin typeface="Calibri"/>
              </a:rPr>
              <a:t>Switch</a:t>
            </a:r>
          </a:p>
          <a:p>
            <a:pPr algn="ctr"/>
            <a:r>
              <a:rPr sz="1100" b="0" i="0">
                <a:solidFill>
                  <a:srgbClr val="6B7280"/>
                </a:solidFill>
                <a:latin typeface="Calibri"/>
              </a:rPr>
              <a:t>consola híbrida</a:t>
            </a:r>
          </a:p>
        </p:txBody>
      </p:sp>
      <p:sp>
        <p:nvSpPr>
          <p:cNvPr id="28" name="Rectangle 27"/>
          <p:cNvSpPr/>
          <p:nvPr/>
        </p:nvSpPr>
        <p:spPr>
          <a:xfrm>
            <a:off x="9362813" y="315468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280898"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366498" y="2377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200" b="1" i="0">
                <a:solidFill>
                  <a:srgbClr val="0D9488"/>
                </a:solidFill>
                <a:latin typeface="Calibri"/>
              </a:rPr>
              <a:t>2020  </a:t>
            </a:r>
            <a:r>
              <a:rPr sz="1200" b="1" i="0">
                <a:solidFill>
                  <a:srgbClr val="1F2937"/>
                </a:solidFill>
                <a:latin typeface="Calibri"/>
              </a:rPr>
              <a:t>Series S/X</a:t>
            </a:r>
          </a:p>
          <a:p>
            <a:pPr algn="ctr"/>
            <a:r>
              <a:rPr sz="1100" b="0" i="0">
                <a:solidFill>
                  <a:srgbClr val="6B7280"/>
                </a:solidFill>
                <a:latin typeface="Calibri"/>
              </a:rPr>
              <a:t>dos potencias a la vez</a:t>
            </a:r>
          </a:p>
        </p:txBody>
      </p:sp>
      <p:sp>
        <p:nvSpPr>
          <p:cNvPr id="31" name="Rectangle 30"/>
          <p:cNvSpPr/>
          <p:nvPr/>
        </p:nvSpPr>
        <p:spPr>
          <a:xfrm>
            <a:off x="10673410" y="347472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591495"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677095" y="379476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200" b="1" i="0">
                <a:solidFill>
                  <a:srgbClr val="0D9488"/>
                </a:solidFill>
                <a:latin typeface="Calibri"/>
              </a:rPr>
              <a:t>2026  </a:t>
            </a:r>
            <a:r>
              <a:rPr sz="1200" b="1" i="0">
                <a:solidFill>
                  <a:srgbClr val="1F2937"/>
                </a:solidFill>
                <a:latin typeface="Calibri"/>
              </a:rPr>
              <a:t>Subas de precio</a:t>
            </a:r>
          </a:p>
          <a:p>
            <a:pPr algn="ctr"/>
            <a:r>
              <a:rPr sz="1100" b="0" i="0">
                <a:solidFill>
                  <a:srgbClr val="6B7280"/>
                </a:solidFill>
                <a:latin typeface="Calibri"/>
              </a:rPr>
              <a:t>la memoria encarece</a:t>
            </a:r>
          </a:p>
        </p:txBody>
      </p:sp>
      <p:sp>
        <p:nvSpPr>
          <p:cNvPr id="34" name="TextBox 33"/>
          <p:cNvSpPr txBox="1"/>
          <p:nvPr/>
        </p:nvSpPr>
        <p:spPr>
          <a:xfrm>
            <a:off x="502920" y="5715000"/>
            <a:ext cx="11185855" cy="274320"/>
          </a:xfrm>
          <a:prstGeom prst="rect">
            <a:avLst/>
          </a:prstGeom>
          <a:noFill/>
        </p:spPr>
        <p:txBody>
          <a:bodyPr wrap="square" lIns="0" tIns="0" rIns="0" bIns="0" anchor="ctr">
            <a:spAutoFit/>
          </a:bodyPr>
          <a:lstStyle/>
          <a:p>
            <a:pPr algn="r"/>
            <a:r>
              <a:rPr sz="1100" b="0" i="1">
                <a:solidFill>
                  <a:srgbClr val="6B7280"/>
                </a:solidFill>
                <a:latin typeface="Calibri"/>
              </a:rPr>
              <a:t>Orden cronológico: la separación entre hitos no es proporcional al tiempo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8</a:t>
            </a:r>
          </a:p>
        </p:txBody>
      </p:sp>
      <p:sp>
        <p:nvSpPr>
          <p:cNvPr id="5" name="TextBox 4"/>
          <p:cNvSpPr txBox="1"/>
          <p:nvPr/>
        </p:nvSpPr>
        <p:spPr>
          <a:xfrm>
            <a:off x="1005840" y="109728"/>
            <a:ext cx="10728655" cy="777240"/>
          </a:xfrm>
          <a:prstGeom prst="rect">
            <a:avLst/>
          </a:prstGeom>
          <a:noFill/>
        </p:spPr>
        <p:txBody>
          <a:bodyPr wrap="square" lIns="0" tIns="0" rIns="0" bIns="0" anchor="ctr">
            <a:spAutoFit/>
          </a:bodyPr>
          <a:lstStyle/>
          <a:p>
            <a:r>
              <a:rPr sz="1100" b="1" i="0">
                <a:solidFill>
                  <a:srgbClr val="99F6E4"/>
                </a:solidFill>
                <a:latin typeface="Calibri"/>
              </a:rPr>
              <a:t>HISTORIA Y DATOS</a:t>
            </a:r>
          </a:p>
          <a:p>
            <a:r>
              <a:rPr sz="2600" b="1" i="0">
                <a:solidFill>
                  <a:srgbClr val="FFFFFF"/>
                </a:solidFill>
                <a:latin typeface="Calibri"/>
              </a:rPr>
              <a:t>Cuatro décadas de lanzamientos</a:t>
            </a:r>
          </a:p>
        </p:txBody>
      </p:sp>
      <p:sp>
        <p:nvSpPr>
          <p:cNvPr id="6" name="TextBox 5"/>
          <p:cNvSpPr txBox="1"/>
          <p:nvPr/>
        </p:nvSpPr>
        <p:spPr>
          <a:xfrm>
            <a:off x="502920" y="6473952"/>
            <a:ext cx="11185855" cy="274320"/>
          </a:xfrm>
          <a:prstGeom prst="rect">
            <a:avLst/>
          </a:prstGeom>
          <a:noFill/>
        </p:spPr>
        <p:txBody>
          <a:bodyPr wrap="square" lIns="0" tIns="0" rIns="0" bIns="0" anchor="ctr">
            <a:spAutoFit/>
          </a:bodyPr>
          <a:lstStyle/>
          <a:p>
            <a:r>
              <a:rPr sz="1000" b="0" i="0">
                <a:solidFill>
                  <a:srgbClr val="6B7280"/>
                </a:solidFill>
                <a:latin typeface="Calibri"/>
              </a:rPr>
              <a:t>Diseño según Plataformas de Juego · Unidad V · Clase 1 · La consola tiene dueño</a:t>
            </a:r>
          </a:p>
        </p:txBody>
      </p:sp>
      <p:sp>
        <p:nvSpPr>
          <p:cNvPr id="7" name="TextBox 6"/>
          <p:cNvSpPr txBox="1"/>
          <p:nvPr/>
        </p:nvSpPr>
        <p:spPr>
          <a:xfrm>
            <a:off x="10774375" y="6473952"/>
            <a:ext cx="914400" cy="274320"/>
          </a:xfrm>
          <a:prstGeom prst="rect">
            <a:avLst/>
          </a:prstGeom>
          <a:noFill/>
        </p:spPr>
        <p:txBody>
          <a:bodyPr wrap="square" lIns="0" tIns="0" rIns="0" bIns="0" anchor="ctr">
            <a:spAutoFit/>
          </a:bodyPr>
          <a:lstStyle/>
          <a:p>
            <a:pPr algn="r"/>
            <a:r>
              <a:rPr sz="1000" b="0" i="0">
                <a:solidFill>
                  <a:srgbClr val="6B7280"/>
                </a:solidFill>
                <a:latin typeface="Calibri"/>
              </a:rPr>
              <a:t>8/24</a:t>
            </a:r>
          </a:p>
        </p:txBody>
      </p:sp>
      <p:sp>
        <p:nvSpPr>
          <p:cNvPr id="8" name="TextBox 7"/>
          <p:cNvSpPr txBox="1"/>
          <p:nvPr/>
        </p:nvSpPr>
        <p:spPr>
          <a:xfrm>
            <a:off x="502920" y="6126480"/>
            <a:ext cx="11185855" cy="292608"/>
          </a:xfrm>
          <a:prstGeom prst="rect">
            <a:avLst/>
          </a:prstGeom>
          <a:noFill/>
        </p:spPr>
        <p:txBody>
          <a:bodyPr wrap="square" lIns="0" tIns="0" rIns="0" bIns="0" anchor="ctr">
            <a:spAutoFit/>
          </a:bodyPr>
          <a:lstStyle/>
          <a:p>
            <a:r>
              <a:rPr sz="1000" b="1" i="0">
                <a:solidFill>
                  <a:srgbClr val="6B7280"/>
                </a:solidFill>
                <a:latin typeface="Calibri"/>
              </a:rPr>
              <a:t>Fuente: </a:t>
            </a:r>
            <a:r>
              <a:rPr sz="1000" b="0" i="0">
                <a:solidFill>
                  <a:srgbClr val="6B7280"/>
                </a:solidFill>
                <a:latin typeface="Calibri"/>
              </a:rPr>
              <a:t>Nintendo IR (planilla por región); SIE, Expanded company timeline; Microsoft, Facts about Microsoft</a:t>
            </a:r>
          </a:p>
        </p:txBody>
      </p:sp>
      <p:pic>
        <p:nvPicPr>
          <p:cNvPr id="9" name="Picture 8" descr="06-linea-de-tiempo.png"/>
          <p:cNvPicPr>
            <a:picLocks noChangeAspect="1"/>
          </p:cNvPicPr>
          <p:nvPr/>
        </p:nvPicPr>
        <p:blipFill>
          <a:blip r:embed="rId3"/>
          <a:stretch>
            <a:fillRect/>
          </a:stretch>
        </p:blipFill>
        <p:spPr>
          <a:xfrm>
            <a:off x="502920" y="1693264"/>
            <a:ext cx="11185855" cy="3471472"/>
          </a:xfrm>
          <a:prstGeom prst="rect">
            <a:avLst/>
          </a:prstGeom>
          <a:ln w="12700">
            <a:solidFill>
              <a:srgbClr val="E5E7EB"/>
            </a:solidFill>
          </a:ln>
        </p:spPr>
      </p:pic>
      <p:sp>
        <p:nvSpPr>
          <p:cNvPr id="10" name="TextBox 9"/>
          <p:cNvSpPr txBox="1"/>
          <p:nvPr/>
        </p:nvSpPr>
        <p:spPr>
          <a:xfrm>
            <a:off x="502920" y="5623560"/>
            <a:ext cx="11185855" cy="365760"/>
          </a:xfrm>
          <a:prstGeom prst="rect">
            <a:avLst/>
          </a:prstGeom>
          <a:noFill/>
        </p:spPr>
        <p:txBody>
          <a:bodyPr wrap="square" lIns="0" tIns="0" rIns="0" bIns="0" anchor="ctr">
            <a:spAutoFit/>
          </a:bodyPr>
          <a:lstStyle/>
          <a:p>
            <a:pPr algn="ctr"/>
            <a:r>
              <a:rPr sz="1200" b="0" i="1">
                <a:solidFill>
                  <a:srgbClr val="6B7280"/>
                </a:solidFill>
                <a:latin typeface="Calibri"/>
              </a:rPr>
              <a:t>Primer lanzamiento mundial de cada consola, por fabricante. La línea punteada es hoy.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9</a:t>
            </a:r>
          </a:p>
        </p:txBody>
      </p:sp>
      <p:sp>
        <p:nvSpPr>
          <p:cNvPr id="5" name="TextBox 4"/>
          <p:cNvSpPr txBox="1"/>
          <p:nvPr/>
        </p:nvSpPr>
        <p:spPr>
          <a:xfrm>
            <a:off x="1005840" y="109728"/>
            <a:ext cx="10728655" cy="777240"/>
          </a:xfrm>
          <a:prstGeom prst="rect">
            <a:avLst/>
          </a:prstGeom>
          <a:noFill/>
        </p:spPr>
        <p:txBody>
          <a:bodyPr wrap="square" lIns="0" tIns="0" rIns="0" bIns="0" anchor="ctr">
            <a:spAutoFit/>
          </a:bodyPr>
          <a:lstStyle/>
          <a:p>
            <a:r>
              <a:rPr sz="1100" b="1" i="0">
                <a:solidFill>
                  <a:srgbClr val="99F6E4"/>
                </a:solidFill>
                <a:latin typeface="Calibri"/>
              </a:rPr>
              <a:t>HISTORIA Y DATOS</a:t>
            </a:r>
          </a:p>
          <a:p>
            <a:r>
              <a:rPr sz="2600" b="1" i="0">
                <a:solidFill>
                  <a:srgbClr val="FFFFFF"/>
                </a:solidFill>
                <a:latin typeface="Calibri"/>
              </a:rPr>
              <a:t>Las más vendidas de la historia</a:t>
            </a:r>
          </a:p>
        </p:txBody>
      </p:sp>
      <p:sp>
        <p:nvSpPr>
          <p:cNvPr id="6" name="TextBox 5"/>
          <p:cNvSpPr txBox="1"/>
          <p:nvPr/>
        </p:nvSpPr>
        <p:spPr>
          <a:xfrm>
            <a:off x="502920" y="6473952"/>
            <a:ext cx="11185855" cy="274320"/>
          </a:xfrm>
          <a:prstGeom prst="rect">
            <a:avLst/>
          </a:prstGeom>
          <a:noFill/>
        </p:spPr>
        <p:txBody>
          <a:bodyPr wrap="square" lIns="0" tIns="0" rIns="0" bIns="0" anchor="ctr">
            <a:spAutoFit/>
          </a:bodyPr>
          <a:lstStyle/>
          <a:p>
            <a:r>
              <a:rPr sz="1000" b="0" i="0">
                <a:solidFill>
                  <a:srgbClr val="6B7280"/>
                </a:solidFill>
                <a:latin typeface="Calibri"/>
              </a:rPr>
              <a:t>Diseño según Plataformas de Juego · Unidad V · Clase 1 · La consola tiene dueño</a:t>
            </a:r>
          </a:p>
        </p:txBody>
      </p:sp>
      <p:sp>
        <p:nvSpPr>
          <p:cNvPr id="7" name="TextBox 6"/>
          <p:cNvSpPr txBox="1"/>
          <p:nvPr/>
        </p:nvSpPr>
        <p:spPr>
          <a:xfrm>
            <a:off x="10774375" y="6473952"/>
            <a:ext cx="914400" cy="274320"/>
          </a:xfrm>
          <a:prstGeom prst="rect">
            <a:avLst/>
          </a:prstGeom>
          <a:noFill/>
        </p:spPr>
        <p:txBody>
          <a:bodyPr wrap="square" lIns="0" tIns="0" rIns="0" bIns="0" anchor="ctr">
            <a:spAutoFit/>
          </a:bodyPr>
          <a:lstStyle/>
          <a:p>
            <a:pPr algn="r"/>
            <a:r>
              <a:rPr sz="1000" b="0" i="0">
                <a:solidFill>
                  <a:srgbClr val="6B7280"/>
                </a:solidFill>
                <a:latin typeface="Calibri"/>
              </a:rPr>
              <a:t>9/24</a:t>
            </a:r>
          </a:p>
        </p:txBody>
      </p:sp>
      <p:sp>
        <p:nvSpPr>
          <p:cNvPr id="8" name="TextBox 7"/>
          <p:cNvSpPr txBox="1"/>
          <p:nvPr/>
        </p:nvSpPr>
        <p:spPr>
          <a:xfrm>
            <a:off x="502920" y="6126480"/>
            <a:ext cx="11185855" cy="292608"/>
          </a:xfrm>
          <a:prstGeom prst="rect">
            <a:avLst/>
          </a:prstGeom>
          <a:noFill/>
        </p:spPr>
        <p:txBody>
          <a:bodyPr wrap="square" lIns="0" tIns="0" rIns="0" bIns="0" anchor="ctr">
            <a:spAutoFit/>
          </a:bodyPr>
          <a:lstStyle/>
          <a:p>
            <a:r>
              <a:rPr sz="1000" b="1" i="0">
                <a:solidFill>
                  <a:srgbClr val="6B7280"/>
                </a:solidFill>
                <a:latin typeface="Calibri"/>
              </a:rPr>
              <a:t>Fuente: </a:t>
            </a:r>
            <a:r>
              <a:rPr sz="1000" b="0" i="0">
                <a:solidFill>
                  <a:srgbClr val="6B7280"/>
                </a:solidFill>
                <a:latin typeface="Calibri"/>
              </a:rPr>
              <a:t>Nintendo IR, Dedicated Video Game Sales Units (30-jun-2026); SIE, Business Data &amp; Sales</a:t>
            </a:r>
          </a:p>
        </p:txBody>
      </p:sp>
      <p:pic>
        <p:nvPicPr>
          <p:cNvPr id="9" name="Picture 8" descr="01-ranking-ventas-consolas.png"/>
          <p:cNvPicPr>
            <a:picLocks noChangeAspect="1"/>
          </p:cNvPicPr>
          <p:nvPr/>
        </p:nvPicPr>
        <p:blipFill>
          <a:blip r:embed="rId3"/>
          <a:stretch>
            <a:fillRect/>
          </a:stretch>
        </p:blipFill>
        <p:spPr>
          <a:xfrm>
            <a:off x="4739335" y="1438933"/>
            <a:ext cx="6949440" cy="3980133"/>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lIns="0" tIns="0" rIns="0" bIns="0" anchor="ctr">
            <a:spAutoFit/>
          </a:bodyPr>
          <a:lstStyle/>
          <a:p>
            <a:pPr algn="ctr"/>
            <a:r>
              <a:rPr sz="1200" b="0" i="1">
                <a:solidFill>
                  <a:srgbClr val="6B7280"/>
                </a:solidFill>
                <a:latin typeface="Calibri"/>
              </a:rPr>
              <a:t>Rayado = todavía en venta. Azul: Sony · Naranja: Nintendo</a:t>
            </a:r>
          </a:p>
        </p:txBody>
      </p:sp>
      <p:sp>
        <p:nvSpPr>
          <p:cNvPr id="11" name="TextBox 10"/>
          <p:cNvSpPr txBox="1"/>
          <p:nvPr/>
        </p:nvSpPr>
        <p:spPr>
          <a:xfrm>
            <a:off x="502920" y="1234440"/>
            <a:ext cx="3962095" cy="4754880"/>
          </a:xfrm>
          <a:prstGeom prst="rect">
            <a:avLst/>
          </a:prstGeom>
          <a:noFill/>
        </p:spPr>
        <p:txBody>
          <a:bodyPr wrap="square" lIns="0" tIns="0" rIns="0" bIns="0" anchor="t">
            <a:spAutoFit/>
          </a:bodyPr>
          <a:lstStyle/>
          <a:p>
            <a:pPr>
              <a:spcAft>
                <a:spcPts val="800"/>
              </a:spcAft>
            </a:pPr>
            <a:r>
              <a:rPr sz="1600" b="1" i="0">
                <a:solidFill>
                  <a:srgbClr val="0D9488"/>
                </a:solidFill>
                <a:latin typeface="Calibri"/>
              </a:rPr>
              <a:t>■  </a:t>
            </a:r>
            <a:r>
              <a:rPr sz="2200" b="0" i="0">
                <a:solidFill>
                  <a:srgbClr val="1F2937"/>
                </a:solidFill>
                <a:latin typeface="Calibri"/>
              </a:rPr>
              <a:t>PS2: más de 160 M</a:t>
            </a:r>
          </a:p>
          <a:p>
            <a:pPr>
              <a:spcAft>
                <a:spcPts val="800"/>
              </a:spcAft>
            </a:pPr>
            <a:r>
              <a:rPr sz="1600" b="1" i="0">
                <a:solidFill>
                  <a:srgbClr val="0D9488"/>
                </a:solidFill>
                <a:latin typeface="Calibri"/>
              </a:rPr>
              <a:t>■  </a:t>
            </a:r>
            <a:r>
              <a:rPr sz="2200" b="0" i="0">
                <a:solidFill>
                  <a:srgbClr val="1F2937"/>
                </a:solidFill>
                <a:latin typeface="Calibri"/>
              </a:rPr>
              <a:t>Switch: 156,59 M, sigue</a:t>
            </a:r>
          </a:p>
          <a:p>
            <a:pPr>
              <a:spcAft>
                <a:spcPts val="800"/>
              </a:spcAft>
            </a:pPr>
            <a:r>
              <a:rPr sz="1600" b="1" i="0">
                <a:solidFill>
                  <a:srgbClr val="0D9488"/>
                </a:solidFill>
                <a:latin typeface="Calibri"/>
              </a:rPr>
              <a:t>■  </a:t>
            </a:r>
            <a:r>
              <a:rPr sz="2200" b="0" i="0">
                <a:solidFill>
                  <a:srgbClr val="1F2937"/>
                </a:solidFill>
                <a:latin typeface="Calibri"/>
              </a:rPr>
              <a:t>Wii 101,6 M → Wii U 13,6 M</a:t>
            </a:r>
          </a:p>
          <a:p>
            <a:pPr>
              <a:spcAft>
                <a:spcPts val="800"/>
              </a:spcAft>
            </a:pPr>
            <a:r>
              <a:rPr sz="1600" b="1" i="0">
                <a:solidFill>
                  <a:srgbClr val="0D9488"/>
                </a:solidFill>
                <a:latin typeface="Calibri"/>
              </a:rPr>
              <a:t>■  </a:t>
            </a:r>
            <a:r>
              <a:rPr sz="2200" b="0" i="0">
                <a:solidFill>
                  <a:srgbClr val="1F2937"/>
                </a:solidFill>
                <a:latin typeface="Calibri"/>
              </a:rPr>
              <a:t>Xbox: Microsoft no publica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10</a:t>
            </a:r>
          </a:p>
        </p:txBody>
      </p:sp>
      <p:sp>
        <p:nvSpPr>
          <p:cNvPr id="5" name="TextBox 4"/>
          <p:cNvSpPr txBox="1"/>
          <p:nvPr/>
        </p:nvSpPr>
        <p:spPr>
          <a:xfrm>
            <a:off x="1005840" y="109728"/>
            <a:ext cx="10728655" cy="777240"/>
          </a:xfrm>
          <a:prstGeom prst="rect">
            <a:avLst/>
          </a:prstGeom>
          <a:noFill/>
        </p:spPr>
        <p:txBody>
          <a:bodyPr wrap="square" lIns="0" tIns="0" rIns="0" bIns="0" anchor="ctr">
            <a:spAutoFit/>
          </a:bodyPr>
          <a:lstStyle/>
          <a:p>
            <a:r>
              <a:rPr sz="1100" b="1" i="0">
                <a:solidFill>
                  <a:srgbClr val="99F6E4"/>
                </a:solidFill>
                <a:latin typeface="Calibri"/>
              </a:rPr>
              <a:t>HISTORIA Y DATOS</a:t>
            </a:r>
          </a:p>
          <a:p>
            <a:r>
              <a:rPr sz="2600" b="1" i="0">
                <a:solidFill>
                  <a:srgbClr val="FFFFFF"/>
                </a:solidFill>
                <a:latin typeface="Calibri"/>
              </a:rPr>
              <a:t>Histograma: no es un gráfico de barras</a:t>
            </a:r>
          </a:p>
        </p:txBody>
      </p:sp>
      <p:sp>
        <p:nvSpPr>
          <p:cNvPr id="6" name="TextBox 5"/>
          <p:cNvSpPr txBox="1"/>
          <p:nvPr/>
        </p:nvSpPr>
        <p:spPr>
          <a:xfrm>
            <a:off x="502920" y="6473952"/>
            <a:ext cx="11185855" cy="274320"/>
          </a:xfrm>
          <a:prstGeom prst="rect">
            <a:avLst/>
          </a:prstGeom>
          <a:noFill/>
        </p:spPr>
        <p:txBody>
          <a:bodyPr wrap="square" lIns="0" tIns="0" rIns="0" bIns="0" anchor="ctr">
            <a:spAutoFit/>
          </a:bodyPr>
          <a:lstStyle/>
          <a:p>
            <a:r>
              <a:rPr sz="1000" b="0" i="0">
                <a:solidFill>
                  <a:srgbClr val="6B7280"/>
                </a:solidFill>
                <a:latin typeface="Calibri"/>
              </a:rPr>
              <a:t>Diseño según Plataformas de Juego · Unidad V · Clase 1 · La consola tiene dueño</a:t>
            </a:r>
          </a:p>
        </p:txBody>
      </p:sp>
      <p:sp>
        <p:nvSpPr>
          <p:cNvPr id="7" name="TextBox 6"/>
          <p:cNvSpPr txBox="1"/>
          <p:nvPr/>
        </p:nvSpPr>
        <p:spPr>
          <a:xfrm>
            <a:off x="10774375" y="6473952"/>
            <a:ext cx="914400" cy="274320"/>
          </a:xfrm>
          <a:prstGeom prst="rect">
            <a:avLst/>
          </a:prstGeom>
          <a:noFill/>
        </p:spPr>
        <p:txBody>
          <a:bodyPr wrap="square" lIns="0" tIns="0" rIns="0" bIns="0" anchor="ctr">
            <a:spAutoFit/>
          </a:bodyPr>
          <a:lstStyle/>
          <a:p>
            <a:pPr algn="r"/>
            <a:r>
              <a:rPr sz="1000" b="0" i="0">
                <a:solidFill>
                  <a:srgbClr val="6B7280"/>
                </a:solidFill>
                <a:latin typeface="Calibri"/>
              </a:rPr>
              <a:t>10/24</a:t>
            </a:r>
          </a:p>
        </p:txBody>
      </p:sp>
      <p:sp>
        <p:nvSpPr>
          <p:cNvPr id="8" name="TextBox 7"/>
          <p:cNvSpPr txBox="1"/>
          <p:nvPr/>
        </p:nvSpPr>
        <p:spPr>
          <a:xfrm>
            <a:off x="502920" y="6126480"/>
            <a:ext cx="11185855" cy="292608"/>
          </a:xfrm>
          <a:prstGeom prst="rect">
            <a:avLst/>
          </a:prstGeom>
          <a:noFill/>
        </p:spPr>
        <p:txBody>
          <a:bodyPr wrap="square" lIns="0" tIns="0" rIns="0" bIns="0" anchor="ctr">
            <a:spAutoFit/>
          </a:bodyPr>
          <a:lstStyle/>
          <a:p>
            <a:r>
              <a:rPr sz="1000" b="1" i="0">
                <a:solidFill>
                  <a:srgbClr val="6B7280"/>
                </a:solidFill>
                <a:latin typeface="Calibri"/>
              </a:rPr>
              <a:t>Fuente: </a:t>
            </a:r>
            <a:r>
              <a:rPr sz="1000" b="0" i="0">
                <a:solidFill>
                  <a:srgbClr val="6B7280"/>
                </a:solidFill>
                <a:latin typeface="Calibri"/>
              </a:rPr>
              <a:t>Mismos datos que la slide anterior, sin las consolas en venta</a:t>
            </a:r>
          </a:p>
        </p:txBody>
      </p:sp>
      <p:pic>
        <p:nvPicPr>
          <p:cNvPr id="9" name="Picture 8" descr="02-histograma-ventas.png"/>
          <p:cNvPicPr>
            <a:picLocks noChangeAspect="1"/>
          </p:cNvPicPr>
          <p:nvPr/>
        </p:nvPicPr>
        <p:blipFill>
          <a:blip r:embed="rId3"/>
          <a:stretch>
            <a:fillRect/>
          </a:stretch>
        </p:blipFill>
        <p:spPr>
          <a:xfrm>
            <a:off x="4739335" y="1706512"/>
            <a:ext cx="6949440" cy="3444975"/>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lIns="0" tIns="0" rIns="0" bIns="0" anchor="ctr">
            <a:spAutoFit/>
          </a:bodyPr>
          <a:lstStyle/>
          <a:p>
            <a:pPr algn="ctr"/>
            <a:r>
              <a:rPr sz="1200" b="0" i="1">
                <a:solidFill>
                  <a:srgbClr val="6B7280"/>
                </a:solidFill>
                <a:latin typeface="Calibri"/>
              </a:rPr>
              <a:t>15 consolas ya discontinuadas de Sony y Nintendo, en intervalos de 25 M</a:t>
            </a:r>
          </a:p>
        </p:txBody>
      </p:sp>
      <p:sp>
        <p:nvSpPr>
          <p:cNvPr id="11" name="TextBox 10"/>
          <p:cNvSpPr txBox="1"/>
          <p:nvPr/>
        </p:nvSpPr>
        <p:spPr>
          <a:xfrm>
            <a:off x="502920" y="1234440"/>
            <a:ext cx="3962095" cy="4754880"/>
          </a:xfrm>
          <a:prstGeom prst="rect">
            <a:avLst/>
          </a:prstGeom>
          <a:noFill/>
        </p:spPr>
        <p:txBody>
          <a:bodyPr wrap="square" lIns="0" tIns="0" rIns="0" bIns="0" anchor="t">
            <a:spAutoFit/>
          </a:bodyPr>
          <a:lstStyle/>
          <a:p>
            <a:pPr>
              <a:spcAft>
                <a:spcPts val="800"/>
              </a:spcAft>
            </a:pPr>
            <a:r>
              <a:rPr sz="1600" b="1" i="0">
                <a:solidFill>
                  <a:srgbClr val="0D9488"/>
                </a:solidFill>
                <a:latin typeface="Calibri"/>
              </a:rPr>
              <a:t>■  </a:t>
            </a:r>
            <a:r>
              <a:rPr sz="2200" b="0" i="0">
                <a:solidFill>
                  <a:srgbClr val="1F2937"/>
                </a:solidFill>
                <a:latin typeface="Calibri"/>
              </a:rPr>
              <a:t>Barras: una por consola</a:t>
            </a:r>
          </a:p>
          <a:p>
            <a:pPr>
              <a:spcAft>
                <a:spcPts val="800"/>
              </a:spcAft>
            </a:pPr>
            <a:r>
              <a:rPr sz="1600" b="1" i="0">
                <a:solidFill>
                  <a:srgbClr val="0D9488"/>
                </a:solidFill>
                <a:latin typeface="Calibri"/>
              </a:rPr>
              <a:t>■  </a:t>
            </a:r>
            <a:r>
              <a:rPr sz="2200" b="0" i="0">
                <a:solidFill>
                  <a:srgbClr val="1F2937"/>
                </a:solidFill>
                <a:latin typeface="Calibri"/>
              </a:rPr>
              <a:t>Histograma: casos por intervalo</a:t>
            </a:r>
          </a:p>
          <a:p>
            <a:pPr>
              <a:spcAft>
                <a:spcPts val="800"/>
              </a:spcAft>
            </a:pPr>
            <a:r>
              <a:rPr sz="1600" b="1" i="0">
                <a:solidFill>
                  <a:srgbClr val="0D9488"/>
                </a:solidFill>
                <a:latin typeface="Calibri"/>
              </a:rPr>
              <a:t>■  </a:t>
            </a:r>
            <a:r>
              <a:rPr sz="2200" b="0" i="0">
                <a:solidFill>
                  <a:srgbClr val="1F2937"/>
                </a:solidFill>
                <a:latin typeface="Calibri"/>
              </a:rPr>
              <a:t>13 de 15, menos de 125 M</a:t>
            </a:r>
          </a:p>
          <a:p>
            <a:pPr>
              <a:spcAft>
                <a:spcPts val="800"/>
              </a:spcAft>
            </a:pPr>
            <a:r>
              <a:rPr sz="1600" b="1" i="0">
                <a:solidFill>
                  <a:srgbClr val="0D9488"/>
                </a:solidFill>
                <a:latin typeface="Calibri"/>
              </a:rPr>
              <a:t>■  </a:t>
            </a:r>
            <a:r>
              <a:rPr sz="2200" b="0" i="0">
                <a:solidFill>
                  <a:srgbClr val="1F2937"/>
                </a:solidFill>
                <a:latin typeface="Calibri"/>
              </a:rPr>
              <a:t>Más de 150 M: excepcional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11</a:t>
            </a:r>
          </a:p>
        </p:txBody>
      </p:sp>
      <p:sp>
        <p:nvSpPr>
          <p:cNvPr id="5" name="TextBox 4"/>
          <p:cNvSpPr txBox="1"/>
          <p:nvPr/>
        </p:nvSpPr>
        <p:spPr>
          <a:xfrm>
            <a:off x="1005840" y="109728"/>
            <a:ext cx="10728655" cy="777240"/>
          </a:xfrm>
          <a:prstGeom prst="rect">
            <a:avLst/>
          </a:prstGeom>
          <a:noFill/>
        </p:spPr>
        <p:txBody>
          <a:bodyPr wrap="square" lIns="0" tIns="0" rIns="0" bIns="0" anchor="ctr">
            <a:spAutoFit/>
          </a:bodyPr>
          <a:lstStyle/>
          <a:p>
            <a:r>
              <a:rPr sz="1100" b="1" i="0">
                <a:solidFill>
                  <a:srgbClr val="99F6E4"/>
                </a:solidFill>
                <a:latin typeface="Calibri"/>
              </a:rPr>
              <a:t>HISTORIA Y DATOS</a:t>
            </a:r>
          </a:p>
          <a:p>
            <a:r>
              <a:rPr sz="2600" b="1" i="0">
                <a:solidFill>
                  <a:srgbClr val="FFFFFF"/>
                </a:solidFill>
                <a:latin typeface="Calibri"/>
              </a:rPr>
              <a:t>Ciclo de vida de una consola</a:t>
            </a:r>
          </a:p>
        </p:txBody>
      </p:sp>
      <p:sp>
        <p:nvSpPr>
          <p:cNvPr id="6" name="TextBox 5"/>
          <p:cNvSpPr txBox="1"/>
          <p:nvPr/>
        </p:nvSpPr>
        <p:spPr>
          <a:xfrm>
            <a:off x="502920" y="6473952"/>
            <a:ext cx="11185855" cy="274320"/>
          </a:xfrm>
          <a:prstGeom prst="rect">
            <a:avLst/>
          </a:prstGeom>
          <a:noFill/>
        </p:spPr>
        <p:txBody>
          <a:bodyPr wrap="square" lIns="0" tIns="0" rIns="0" bIns="0" anchor="ctr">
            <a:spAutoFit/>
          </a:bodyPr>
          <a:lstStyle/>
          <a:p>
            <a:r>
              <a:rPr sz="1000" b="0" i="0">
                <a:solidFill>
                  <a:srgbClr val="6B7280"/>
                </a:solidFill>
                <a:latin typeface="Calibri"/>
              </a:rPr>
              <a:t>Diseño según Plataformas de Juego · Unidad V · Clase 1 · La consola tiene dueño</a:t>
            </a:r>
          </a:p>
        </p:txBody>
      </p:sp>
      <p:sp>
        <p:nvSpPr>
          <p:cNvPr id="7" name="TextBox 6"/>
          <p:cNvSpPr txBox="1"/>
          <p:nvPr/>
        </p:nvSpPr>
        <p:spPr>
          <a:xfrm>
            <a:off x="10774375" y="6473952"/>
            <a:ext cx="914400" cy="274320"/>
          </a:xfrm>
          <a:prstGeom prst="rect">
            <a:avLst/>
          </a:prstGeom>
          <a:noFill/>
        </p:spPr>
        <p:txBody>
          <a:bodyPr wrap="square" lIns="0" tIns="0" rIns="0" bIns="0" anchor="ctr">
            <a:spAutoFit/>
          </a:bodyPr>
          <a:lstStyle/>
          <a:p>
            <a:pPr algn="r"/>
            <a:r>
              <a:rPr sz="1000" b="0" i="0">
                <a:solidFill>
                  <a:srgbClr val="6B7280"/>
                </a:solidFill>
                <a:latin typeface="Calibri"/>
              </a:rPr>
              <a:t>11/24</a:t>
            </a:r>
          </a:p>
        </p:txBody>
      </p:sp>
      <p:sp>
        <p:nvSpPr>
          <p:cNvPr id="8" name="TextBox 7"/>
          <p:cNvSpPr txBox="1"/>
          <p:nvPr/>
        </p:nvSpPr>
        <p:spPr>
          <a:xfrm>
            <a:off x="502920" y="6126480"/>
            <a:ext cx="11185855" cy="292608"/>
          </a:xfrm>
          <a:prstGeom prst="rect">
            <a:avLst/>
          </a:prstGeom>
          <a:noFill/>
        </p:spPr>
        <p:txBody>
          <a:bodyPr wrap="square" lIns="0" tIns="0" rIns="0" bIns="0" anchor="ctr">
            <a:spAutoFit/>
          </a:bodyPr>
          <a:lstStyle/>
          <a:p>
            <a:r>
              <a:rPr sz="1000" b="1" i="0">
                <a:solidFill>
                  <a:srgbClr val="6B7280"/>
                </a:solidFill>
                <a:latin typeface="Calibri"/>
              </a:rPr>
              <a:t>Fuente: </a:t>
            </a:r>
            <a:r>
              <a:rPr sz="1000" b="0" i="0">
                <a:solidFill>
                  <a:srgbClr val="6B7280"/>
                </a:solidFill>
                <a:latin typeface="Calibri"/>
              </a:rPr>
              <a:t>Nintendo IR (planilla por región, 31-mar-2026); Sony vía 20-F y Game Developer (8-may-2026)</a:t>
            </a:r>
          </a:p>
        </p:txBody>
      </p:sp>
      <p:pic>
        <p:nvPicPr>
          <p:cNvPr id="9" name="Picture 8" descr="03-ciclo-de-vida-anual.png"/>
          <p:cNvPicPr>
            <a:picLocks noChangeAspect="1"/>
          </p:cNvPicPr>
          <p:nvPr/>
        </p:nvPicPr>
        <p:blipFill>
          <a:blip r:embed="rId3"/>
          <a:stretch>
            <a:fillRect/>
          </a:stretch>
        </p:blipFill>
        <p:spPr>
          <a:xfrm>
            <a:off x="4739335" y="1858672"/>
            <a:ext cx="6949440" cy="3140656"/>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lIns="0" tIns="0" rIns="0" bIns="0" anchor="ctr">
            <a:spAutoFit/>
          </a:bodyPr>
          <a:lstStyle/>
          <a:p>
            <a:pPr algn="ctr"/>
            <a:r>
              <a:rPr sz="1200" b="0" i="1">
                <a:solidFill>
                  <a:srgbClr val="6B7280"/>
                </a:solidFill>
                <a:latin typeface="Calibri"/>
              </a:rPr>
              <a:t>Millones por ejercicio fiscal (abril a marzo) desde el lanzamiento</a:t>
            </a:r>
          </a:p>
        </p:txBody>
      </p:sp>
      <p:sp>
        <p:nvSpPr>
          <p:cNvPr id="11" name="TextBox 10"/>
          <p:cNvSpPr txBox="1"/>
          <p:nvPr/>
        </p:nvSpPr>
        <p:spPr>
          <a:xfrm>
            <a:off x="502920" y="1234440"/>
            <a:ext cx="3962095" cy="4754880"/>
          </a:xfrm>
          <a:prstGeom prst="rect">
            <a:avLst/>
          </a:prstGeom>
          <a:noFill/>
        </p:spPr>
        <p:txBody>
          <a:bodyPr wrap="square" lIns="0" tIns="0" rIns="0" bIns="0" anchor="t">
            <a:spAutoFit/>
          </a:bodyPr>
          <a:lstStyle/>
          <a:p>
            <a:pPr>
              <a:spcAft>
                <a:spcPts val="800"/>
              </a:spcAft>
            </a:pPr>
            <a:r>
              <a:rPr sz="1600" b="1" i="0">
                <a:solidFill>
                  <a:srgbClr val="0D9488"/>
                </a:solidFill>
                <a:latin typeface="Calibri"/>
              </a:rPr>
              <a:t>■  </a:t>
            </a:r>
            <a:r>
              <a:rPr sz="2200" b="0" i="0">
                <a:solidFill>
                  <a:srgbClr val="1F2937"/>
                </a:solidFill>
                <a:latin typeface="Calibri"/>
              </a:rPr>
              <a:t>Sube, pico, decae</a:t>
            </a:r>
          </a:p>
          <a:p>
            <a:pPr>
              <a:spcAft>
                <a:spcPts val="800"/>
              </a:spcAft>
            </a:pPr>
            <a:r>
              <a:rPr sz="1600" b="1" i="0">
                <a:solidFill>
                  <a:srgbClr val="0D9488"/>
                </a:solidFill>
                <a:latin typeface="Calibri"/>
              </a:rPr>
              <a:t>■  </a:t>
            </a:r>
            <a:r>
              <a:rPr sz="2200" b="0" i="0">
                <a:solidFill>
                  <a:srgbClr val="1F2937"/>
                </a:solidFill>
                <a:latin typeface="Calibri"/>
              </a:rPr>
              <a:t>Switch: pico 28,8 M (pandemia)</a:t>
            </a:r>
          </a:p>
          <a:p>
            <a:pPr>
              <a:spcAft>
                <a:spcPts val="800"/>
              </a:spcAft>
            </a:pPr>
            <a:r>
              <a:rPr sz="1600" b="1" i="0">
                <a:solidFill>
                  <a:srgbClr val="0D9488"/>
                </a:solidFill>
                <a:latin typeface="Calibri"/>
              </a:rPr>
              <a:t>■  </a:t>
            </a:r>
            <a:r>
              <a:rPr sz="2200" b="0" i="0">
                <a:solidFill>
                  <a:srgbClr val="1F2937"/>
                </a:solidFill>
                <a:latin typeface="Calibri"/>
              </a:rPr>
              <a:t>PS5: pico en el 4.º año</a:t>
            </a:r>
          </a:p>
          <a:p>
            <a:pPr>
              <a:spcAft>
                <a:spcPts val="800"/>
              </a:spcAft>
            </a:pPr>
            <a:r>
              <a:rPr sz="1600" b="1" i="0">
                <a:solidFill>
                  <a:srgbClr val="0D9488"/>
                </a:solidFill>
                <a:latin typeface="Calibri"/>
              </a:rPr>
              <a:t>■  </a:t>
            </a:r>
            <a:r>
              <a:rPr sz="2200" b="0" i="0">
                <a:solidFill>
                  <a:srgbClr val="1F2937"/>
                </a:solidFill>
                <a:latin typeface="Calibri"/>
              </a:rPr>
              <a:t>Switch 2: 19,9 M en 10 meses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12</a:t>
            </a:r>
          </a:p>
        </p:txBody>
      </p:sp>
      <p:sp>
        <p:nvSpPr>
          <p:cNvPr id="5" name="TextBox 4"/>
          <p:cNvSpPr txBox="1"/>
          <p:nvPr/>
        </p:nvSpPr>
        <p:spPr>
          <a:xfrm>
            <a:off x="1005840" y="109728"/>
            <a:ext cx="10728655" cy="777240"/>
          </a:xfrm>
          <a:prstGeom prst="rect">
            <a:avLst/>
          </a:prstGeom>
          <a:noFill/>
        </p:spPr>
        <p:txBody>
          <a:bodyPr wrap="square" lIns="0" tIns="0" rIns="0" bIns="0" anchor="ctr">
            <a:spAutoFit/>
          </a:bodyPr>
          <a:lstStyle/>
          <a:p>
            <a:r>
              <a:rPr sz="1100" b="1" i="0">
                <a:solidFill>
                  <a:srgbClr val="99F6E4"/>
                </a:solidFill>
                <a:latin typeface="Calibri"/>
              </a:rPr>
              <a:t>HISTORIA Y DATOS</a:t>
            </a:r>
          </a:p>
          <a:p>
            <a:r>
              <a:rPr sz="2600" b="1" i="0">
                <a:solidFill>
                  <a:srgbClr val="FFFFFF"/>
                </a:solidFill>
                <a:latin typeface="Calibri"/>
              </a:rPr>
              <a:t>Dónde se venden</a:t>
            </a:r>
          </a:p>
        </p:txBody>
      </p:sp>
      <p:sp>
        <p:nvSpPr>
          <p:cNvPr id="6" name="TextBox 5"/>
          <p:cNvSpPr txBox="1"/>
          <p:nvPr/>
        </p:nvSpPr>
        <p:spPr>
          <a:xfrm>
            <a:off x="502920" y="6473952"/>
            <a:ext cx="11185855" cy="274320"/>
          </a:xfrm>
          <a:prstGeom prst="rect">
            <a:avLst/>
          </a:prstGeom>
          <a:noFill/>
        </p:spPr>
        <p:txBody>
          <a:bodyPr wrap="square" lIns="0" tIns="0" rIns="0" bIns="0" anchor="ctr">
            <a:spAutoFit/>
          </a:bodyPr>
          <a:lstStyle/>
          <a:p>
            <a:r>
              <a:rPr sz="1000" b="0" i="0">
                <a:solidFill>
                  <a:srgbClr val="6B7280"/>
                </a:solidFill>
                <a:latin typeface="Calibri"/>
              </a:rPr>
              <a:t>Diseño según Plataformas de Juego · Unidad V · Clase 1 · La consola tiene dueño</a:t>
            </a:r>
          </a:p>
        </p:txBody>
      </p:sp>
      <p:sp>
        <p:nvSpPr>
          <p:cNvPr id="7" name="TextBox 6"/>
          <p:cNvSpPr txBox="1"/>
          <p:nvPr/>
        </p:nvSpPr>
        <p:spPr>
          <a:xfrm>
            <a:off x="10774375" y="6473952"/>
            <a:ext cx="914400" cy="274320"/>
          </a:xfrm>
          <a:prstGeom prst="rect">
            <a:avLst/>
          </a:prstGeom>
          <a:noFill/>
        </p:spPr>
        <p:txBody>
          <a:bodyPr wrap="square" lIns="0" tIns="0" rIns="0" bIns="0" anchor="ctr">
            <a:spAutoFit/>
          </a:bodyPr>
          <a:lstStyle/>
          <a:p>
            <a:pPr algn="r"/>
            <a:r>
              <a:rPr sz="1000" b="0" i="0">
                <a:solidFill>
                  <a:srgbClr val="6B7280"/>
                </a:solidFill>
                <a:latin typeface="Calibri"/>
              </a:rPr>
              <a:t>12/24</a:t>
            </a:r>
          </a:p>
        </p:txBody>
      </p:sp>
      <p:sp>
        <p:nvSpPr>
          <p:cNvPr id="8" name="TextBox 7"/>
          <p:cNvSpPr txBox="1"/>
          <p:nvPr/>
        </p:nvSpPr>
        <p:spPr>
          <a:xfrm>
            <a:off x="502920" y="6126480"/>
            <a:ext cx="11185855" cy="292608"/>
          </a:xfrm>
          <a:prstGeom prst="rect">
            <a:avLst/>
          </a:prstGeom>
          <a:noFill/>
        </p:spPr>
        <p:txBody>
          <a:bodyPr wrap="square" lIns="0" tIns="0" rIns="0" bIns="0" anchor="ctr">
            <a:spAutoFit/>
          </a:bodyPr>
          <a:lstStyle/>
          <a:p>
            <a:r>
              <a:rPr sz="1000" b="1" i="0">
                <a:solidFill>
                  <a:srgbClr val="6B7280"/>
                </a:solidFill>
                <a:latin typeface="Calibri"/>
              </a:rPr>
              <a:t>Fuente: </a:t>
            </a:r>
            <a:r>
              <a:rPr sz="1000" b="0" i="0">
                <a:solidFill>
                  <a:srgbClr val="6B7280"/>
                </a:solidFill>
                <a:latin typeface="Calibri"/>
              </a:rPr>
              <a:t>Nintendo IR, Consolidated Sales Transition by Region (31-mar-2026)</a:t>
            </a:r>
          </a:p>
        </p:txBody>
      </p:sp>
      <p:pic>
        <p:nvPicPr>
          <p:cNvPr id="9" name="Picture 8" descr="04-regiones-nintendo.png"/>
          <p:cNvPicPr>
            <a:picLocks noChangeAspect="1"/>
          </p:cNvPicPr>
          <p:nvPr/>
        </p:nvPicPr>
        <p:blipFill>
          <a:blip r:embed="rId3"/>
          <a:stretch>
            <a:fillRect/>
          </a:stretch>
        </p:blipFill>
        <p:spPr>
          <a:xfrm>
            <a:off x="4739335" y="1791893"/>
            <a:ext cx="6949440" cy="3274213"/>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lIns="0" tIns="0" rIns="0" bIns="0" anchor="ctr">
            <a:spAutoFit/>
          </a:bodyPr>
          <a:lstStyle/>
          <a:p>
            <a:pPr algn="ctr"/>
            <a:r>
              <a:rPr sz="1200" b="0" i="1">
                <a:solidFill>
                  <a:srgbClr val="6B7280"/>
                </a:solidFill>
                <a:latin typeface="Calibri"/>
              </a:rPr>
              <a:t>% de las consolas Nintendo vendidas por región</a:t>
            </a:r>
          </a:p>
        </p:txBody>
      </p:sp>
      <p:sp>
        <p:nvSpPr>
          <p:cNvPr id="11" name="TextBox 10"/>
          <p:cNvSpPr txBox="1"/>
          <p:nvPr/>
        </p:nvSpPr>
        <p:spPr>
          <a:xfrm>
            <a:off x="502920" y="1234440"/>
            <a:ext cx="3962095" cy="4754880"/>
          </a:xfrm>
          <a:prstGeom prst="rect">
            <a:avLst/>
          </a:prstGeom>
          <a:noFill/>
        </p:spPr>
        <p:txBody>
          <a:bodyPr wrap="square" lIns="0" tIns="0" rIns="0" bIns="0" anchor="t">
            <a:spAutoFit/>
          </a:bodyPr>
          <a:lstStyle/>
          <a:p>
            <a:pPr>
              <a:spcAft>
                <a:spcPts val="800"/>
              </a:spcAft>
            </a:pPr>
            <a:r>
              <a:rPr sz="1600" b="1" i="0">
                <a:solidFill>
                  <a:srgbClr val="0D9488"/>
                </a:solidFill>
                <a:latin typeface="Calibri"/>
              </a:rPr>
              <a:t>■  </a:t>
            </a:r>
            <a:r>
              <a:rPr sz="2200" b="0" i="0">
                <a:solidFill>
                  <a:srgbClr val="1F2937"/>
                </a:solidFill>
                <a:latin typeface="Calibri"/>
              </a:rPr>
              <a:t>Japón: un tercio en la NES</a:t>
            </a:r>
          </a:p>
          <a:p>
            <a:pPr>
              <a:spcAft>
                <a:spcPts val="800"/>
              </a:spcAft>
            </a:pPr>
            <a:r>
              <a:rPr sz="1600" b="1" i="0">
                <a:solidFill>
                  <a:srgbClr val="0D9488"/>
                </a:solidFill>
                <a:latin typeface="Calibri"/>
              </a:rPr>
              <a:t>■  </a:t>
            </a:r>
            <a:r>
              <a:rPr sz="2200" b="0" i="0">
                <a:solidFill>
                  <a:srgbClr val="1F2937"/>
                </a:solidFill>
                <a:latin typeface="Calibri"/>
              </a:rPr>
              <a:t>Bajó con N64 y GameCube</a:t>
            </a:r>
          </a:p>
          <a:p>
            <a:pPr>
              <a:spcAft>
                <a:spcPts val="800"/>
              </a:spcAft>
            </a:pPr>
            <a:r>
              <a:rPr sz="1600" b="1" i="0">
                <a:solidFill>
                  <a:srgbClr val="0D9488"/>
                </a:solidFill>
                <a:latin typeface="Calibri"/>
              </a:rPr>
              <a:t>■  </a:t>
            </a:r>
            <a:r>
              <a:rPr sz="2200" b="0" i="0">
                <a:solidFill>
                  <a:srgbClr val="1F2937"/>
                </a:solidFill>
                <a:latin typeface="Calibri"/>
              </a:rPr>
              <a:t>Switch y Switch 2: 25–29 %</a:t>
            </a:r>
          </a:p>
          <a:p>
            <a:pPr>
              <a:spcAft>
                <a:spcPts val="800"/>
              </a:spcAft>
            </a:pPr>
            <a:r>
              <a:rPr sz="1600" b="1" i="0">
                <a:solidFill>
                  <a:srgbClr val="0D9488"/>
                </a:solidFill>
                <a:latin typeface="Calibri"/>
              </a:rPr>
              <a:t>■  </a:t>
            </a:r>
            <a:r>
              <a:rPr sz="2200" b="0" i="0">
                <a:solidFill>
                  <a:srgbClr val="1F2937"/>
                </a:solidFill>
                <a:latin typeface="Calibri"/>
              </a:rPr>
              <a:t>Europa y resto: 14 % → 38 %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13</a:t>
            </a:r>
          </a:p>
        </p:txBody>
      </p:sp>
      <p:sp>
        <p:nvSpPr>
          <p:cNvPr id="5" name="TextBox 4"/>
          <p:cNvSpPr txBox="1"/>
          <p:nvPr/>
        </p:nvSpPr>
        <p:spPr>
          <a:xfrm>
            <a:off x="1005840" y="109728"/>
            <a:ext cx="10728655" cy="777240"/>
          </a:xfrm>
          <a:prstGeom prst="rect">
            <a:avLst/>
          </a:prstGeom>
          <a:noFill/>
        </p:spPr>
        <p:txBody>
          <a:bodyPr wrap="square" lIns="0" tIns="0" rIns="0" bIns="0" anchor="ctr">
            <a:spAutoFit/>
          </a:bodyPr>
          <a:lstStyle/>
          <a:p>
            <a:r>
              <a:rPr sz="1100" b="1" i="0">
                <a:solidFill>
                  <a:srgbClr val="99F6E4"/>
                </a:solidFill>
                <a:latin typeface="Calibri"/>
              </a:rPr>
              <a:t>HISTORIA Y DATOS</a:t>
            </a:r>
          </a:p>
          <a:p>
            <a:r>
              <a:rPr sz="2600" b="1" i="0">
                <a:solidFill>
                  <a:srgbClr val="FFFFFF"/>
                </a:solidFill>
                <a:latin typeface="Calibri"/>
              </a:rPr>
              <a:t>2026: las consolas suben de precio</a:t>
            </a:r>
          </a:p>
        </p:txBody>
      </p:sp>
      <p:sp>
        <p:nvSpPr>
          <p:cNvPr id="6" name="TextBox 5"/>
          <p:cNvSpPr txBox="1"/>
          <p:nvPr/>
        </p:nvSpPr>
        <p:spPr>
          <a:xfrm>
            <a:off x="502920" y="6473952"/>
            <a:ext cx="11185855" cy="274320"/>
          </a:xfrm>
          <a:prstGeom prst="rect">
            <a:avLst/>
          </a:prstGeom>
          <a:noFill/>
        </p:spPr>
        <p:txBody>
          <a:bodyPr wrap="square" lIns="0" tIns="0" rIns="0" bIns="0" anchor="ctr">
            <a:spAutoFit/>
          </a:bodyPr>
          <a:lstStyle/>
          <a:p>
            <a:r>
              <a:rPr sz="1000" b="0" i="0">
                <a:solidFill>
                  <a:srgbClr val="6B7280"/>
                </a:solidFill>
                <a:latin typeface="Calibri"/>
              </a:rPr>
              <a:t>Diseño según Plataformas de Juego · Unidad V · Clase 1 · La consola tiene dueño</a:t>
            </a:r>
          </a:p>
        </p:txBody>
      </p:sp>
      <p:sp>
        <p:nvSpPr>
          <p:cNvPr id="7" name="TextBox 6"/>
          <p:cNvSpPr txBox="1"/>
          <p:nvPr/>
        </p:nvSpPr>
        <p:spPr>
          <a:xfrm>
            <a:off x="10774375" y="6473952"/>
            <a:ext cx="914400" cy="274320"/>
          </a:xfrm>
          <a:prstGeom prst="rect">
            <a:avLst/>
          </a:prstGeom>
          <a:noFill/>
        </p:spPr>
        <p:txBody>
          <a:bodyPr wrap="square" lIns="0" tIns="0" rIns="0" bIns="0" anchor="ctr">
            <a:spAutoFit/>
          </a:bodyPr>
          <a:lstStyle/>
          <a:p>
            <a:pPr algn="r"/>
            <a:r>
              <a:rPr sz="1000" b="0" i="0">
                <a:solidFill>
                  <a:srgbClr val="6B7280"/>
                </a:solidFill>
                <a:latin typeface="Calibri"/>
              </a:rPr>
              <a:t>13/24</a:t>
            </a:r>
          </a:p>
        </p:txBody>
      </p:sp>
      <p:sp>
        <p:nvSpPr>
          <p:cNvPr id="8" name="TextBox 7"/>
          <p:cNvSpPr txBox="1"/>
          <p:nvPr/>
        </p:nvSpPr>
        <p:spPr>
          <a:xfrm>
            <a:off x="502920" y="6126480"/>
            <a:ext cx="11185855" cy="292608"/>
          </a:xfrm>
          <a:prstGeom prst="rect">
            <a:avLst/>
          </a:prstGeom>
          <a:noFill/>
        </p:spPr>
        <p:txBody>
          <a:bodyPr wrap="square" lIns="0" tIns="0" rIns="0" bIns="0" anchor="ctr">
            <a:spAutoFit/>
          </a:bodyPr>
          <a:lstStyle/>
          <a:p>
            <a:r>
              <a:rPr sz="1000" b="1" i="0">
                <a:solidFill>
                  <a:srgbClr val="6B7280"/>
                </a:solidFill>
                <a:latin typeface="Calibri"/>
              </a:rPr>
              <a:t>Fuente: </a:t>
            </a:r>
            <a:r>
              <a:rPr sz="1000" b="0" i="0">
                <a:solidFill>
                  <a:srgbClr val="6B7280"/>
                </a:solidFill>
                <a:latin typeface="Calibri"/>
              </a:rPr>
              <a:t>PlayStation Blog (16-sep-2020 y 27-mar-2026); Nintendo (8-may-2026); Xbox Wire (25-jun-2026)</a:t>
            </a:r>
          </a:p>
        </p:txBody>
      </p:sp>
      <p:pic>
        <p:nvPicPr>
          <p:cNvPr id="9" name="Picture 8" descr="05-precios-lanzamiento-vs-2026.png"/>
          <p:cNvPicPr>
            <a:picLocks noChangeAspect="1"/>
          </p:cNvPicPr>
          <p:nvPr/>
        </p:nvPicPr>
        <p:blipFill>
          <a:blip r:embed="rId3"/>
          <a:stretch>
            <a:fillRect/>
          </a:stretch>
        </p:blipFill>
        <p:spPr>
          <a:xfrm>
            <a:off x="4739335" y="2067150"/>
            <a:ext cx="6949440" cy="2723699"/>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lIns="0" tIns="0" rIns="0" bIns="0" anchor="ctr">
            <a:spAutoFit/>
          </a:bodyPr>
          <a:lstStyle/>
          <a:p>
            <a:pPr algn="ctr"/>
            <a:r>
              <a:rPr sz="1200" b="0" i="1">
                <a:solidFill>
                  <a:srgbClr val="6B7280"/>
                </a:solidFill>
                <a:latin typeface="Calibri"/>
              </a:rPr>
              <a:t>Círculo vacío: precio de lanzamiento · lleno: vigente en oct-2026 (USD, EE. UU.)</a:t>
            </a:r>
          </a:p>
        </p:txBody>
      </p:sp>
      <p:sp>
        <p:nvSpPr>
          <p:cNvPr id="11" name="TextBox 10"/>
          <p:cNvSpPr txBox="1"/>
          <p:nvPr/>
        </p:nvSpPr>
        <p:spPr>
          <a:xfrm>
            <a:off x="502920" y="1234440"/>
            <a:ext cx="3962095" cy="4754880"/>
          </a:xfrm>
          <a:prstGeom prst="rect">
            <a:avLst/>
          </a:prstGeom>
          <a:noFill/>
        </p:spPr>
        <p:txBody>
          <a:bodyPr wrap="square" lIns="0" tIns="0" rIns="0" bIns="0" anchor="t">
            <a:spAutoFit/>
          </a:bodyPr>
          <a:lstStyle/>
          <a:p>
            <a:pPr>
              <a:spcAft>
                <a:spcPts val="800"/>
              </a:spcAft>
            </a:pPr>
            <a:r>
              <a:rPr sz="1600" b="1" i="0">
                <a:solidFill>
                  <a:srgbClr val="0D9488"/>
                </a:solidFill>
                <a:latin typeface="Calibri"/>
              </a:rPr>
              <a:t>■  </a:t>
            </a:r>
            <a:r>
              <a:rPr sz="2200" b="0" i="0">
                <a:solidFill>
                  <a:srgbClr val="1F2937"/>
                </a:solidFill>
                <a:latin typeface="Calibri"/>
              </a:rPr>
              <a:t>PS5 Digital: +50 %</a:t>
            </a:r>
          </a:p>
          <a:p>
            <a:pPr>
              <a:spcAft>
                <a:spcPts val="800"/>
              </a:spcAft>
            </a:pPr>
            <a:r>
              <a:rPr sz="1600" b="1" i="0">
                <a:solidFill>
                  <a:srgbClr val="0D9488"/>
                </a:solidFill>
                <a:latin typeface="Calibri"/>
              </a:rPr>
              <a:t>■  </a:t>
            </a:r>
            <a:r>
              <a:rPr sz="2200" b="0" i="0">
                <a:solidFill>
                  <a:srgbClr val="1F2937"/>
                </a:solidFill>
                <a:latin typeface="Calibri"/>
              </a:rPr>
              <a:t>Switch 2: +11 %</a:t>
            </a:r>
          </a:p>
          <a:p>
            <a:pPr>
              <a:spcAft>
                <a:spcPts val="800"/>
              </a:spcAft>
            </a:pPr>
            <a:r>
              <a:rPr sz="1600" b="1" i="0">
                <a:solidFill>
                  <a:srgbClr val="0D9488"/>
                </a:solidFill>
                <a:latin typeface="Calibri"/>
              </a:rPr>
              <a:t>■  </a:t>
            </a:r>
            <a:r>
              <a:rPr sz="2200" b="0" i="0">
                <a:solidFill>
                  <a:srgbClr val="1F2937"/>
                </a:solidFill>
                <a:latin typeface="Calibri"/>
              </a:rPr>
              <a:t>Xbox: +USD 100–150</a:t>
            </a:r>
          </a:p>
          <a:p>
            <a:pPr>
              <a:spcAft>
                <a:spcPts val="800"/>
              </a:spcAft>
            </a:pPr>
            <a:r>
              <a:rPr sz="1600" b="1" i="0">
                <a:solidFill>
                  <a:srgbClr val="0D9488"/>
                </a:solidFill>
                <a:latin typeface="Calibri"/>
              </a:rPr>
              <a:t>■  </a:t>
            </a:r>
            <a:r>
              <a:rPr sz="2200" b="0" i="0">
                <a:solidFill>
                  <a:srgbClr val="1F2937"/>
                </a:solidFill>
                <a:latin typeface="Calibri"/>
              </a:rPr>
              <a:t>Causa: costo de memoria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14</a:t>
            </a:r>
          </a:p>
        </p:txBody>
      </p:sp>
      <p:sp>
        <p:nvSpPr>
          <p:cNvPr id="5" name="TextBox 4"/>
          <p:cNvSpPr txBox="1"/>
          <p:nvPr/>
        </p:nvSpPr>
        <p:spPr>
          <a:xfrm>
            <a:off x="1005840" y="109728"/>
            <a:ext cx="10728655" cy="777240"/>
          </a:xfrm>
          <a:prstGeom prst="rect">
            <a:avLst/>
          </a:prstGeom>
          <a:noFill/>
        </p:spPr>
        <p:txBody>
          <a:bodyPr wrap="square" lIns="0" tIns="0" rIns="0" bIns="0" anchor="ctr">
            <a:spAutoFit/>
          </a:bodyPr>
          <a:lstStyle/>
          <a:p>
            <a:r>
              <a:rPr sz="1100" b="1" i="0">
                <a:solidFill>
                  <a:srgbClr val="99F6E4"/>
                </a:solidFill>
                <a:latin typeface="Calibri"/>
              </a:rPr>
              <a:t>HISTORIA Y DATOS</a:t>
            </a:r>
          </a:p>
          <a:p>
            <a:r>
              <a:rPr sz="2600" b="1" i="0">
                <a:solidFill>
                  <a:srgbClr val="FFFFFF"/>
                </a:solidFill>
                <a:latin typeface="Calibri"/>
              </a:rPr>
              <a:t>2026 en cifras</a:t>
            </a:r>
          </a:p>
        </p:txBody>
      </p:sp>
      <p:sp>
        <p:nvSpPr>
          <p:cNvPr id="6" name="TextBox 5"/>
          <p:cNvSpPr txBox="1"/>
          <p:nvPr/>
        </p:nvSpPr>
        <p:spPr>
          <a:xfrm>
            <a:off x="502920" y="6473952"/>
            <a:ext cx="11185855" cy="274320"/>
          </a:xfrm>
          <a:prstGeom prst="rect">
            <a:avLst/>
          </a:prstGeom>
          <a:noFill/>
        </p:spPr>
        <p:txBody>
          <a:bodyPr wrap="square" lIns="0" tIns="0" rIns="0" bIns="0" anchor="ctr">
            <a:spAutoFit/>
          </a:bodyPr>
          <a:lstStyle/>
          <a:p>
            <a:r>
              <a:rPr sz="1000" b="0" i="0">
                <a:solidFill>
                  <a:srgbClr val="6B7280"/>
                </a:solidFill>
                <a:latin typeface="Calibri"/>
              </a:rPr>
              <a:t>Diseño según Plataformas de Juego · Unidad V · Clase 1 · La consola tiene dueño</a:t>
            </a:r>
          </a:p>
        </p:txBody>
      </p:sp>
      <p:sp>
        <p:nvSpPr>
          <p:cNvPr id="7" name="TextBox 6"/>
          <p:cNvSpPr txBox="1"/>
          <p:nvPr/>
        </p:nvSpPr>
        <p:spPr>
          <a:xfrm>
            <a:off x="10774375" y="6473952"/>
            <a:ext cx="914400" cy="274320"/>
          </a:xfrm>
          <a:prstGeom prst="rect">
            <a:avLst/>
          </a:prstGeom>
          <a:noFill/>
        </p:spPr>
        <p:txBody>
          <a:bodyPr wrap="square" lIns="0" tIns="0" rIns="0" bIns="0" anchor="ctr">
            <a:spAutoFit/>
          </a:bodyPr>
          <a:lstStyle/>
          <a:p>
            <a:pPr algn="r"/>
            <a:r>
              <a:rPr sz="1000" b="0" i="0">
                <a:solidFill>
                  <a:srgbClr val="6B7280"/>
                </a:solidFill>
                <a:latin typeface="Calibri"/>
              </a:rPr>
              <a:t>14/24</a:t>
            </a:r>
          </a:p>
        </p:txBody>
      </p:sp>
      <p:sp>
        <p:nvSpPr>
          <p:cNvPr id="8" name="TextBox 7"/>
          <p:cNvSpPr txBox="1"/>
          <p:nvPr/>
        </p:nvSpPr>
        <p:spPr>
          <a:xfrm>
            <a:off x="502920" y="6126480"/>
            <a:ext cx="11185855" cy="292608"/>
          </a:xfrm>
          <a:prstGeom prst="rect">
            <a:avLst/>
          </a:prstGeom>
          <a:noFill/>
        </p:spPr>
        <p:txBody>
          <a:bodyPr wrap="square" lIns="0" tIns="0" rIns="0" bIns="0" anchor="ctr">
            <a:spAutoFit/>
          </a:bodyPr>
          <a:lstStyle/>
          <a:p>
            <a:r>
              <a:rPr sz="1000" b="1" i="0">
                <a:solidFill>
                  <a:srgbClr val="6B7280"/>
                </a:solidFill>
                <a:latin typeface="Calibri"/>
              </a:rPr>
              <a:t>Fuente: </a:t>
            </a:r>
            <a:r>
              <a:rPr sz="1000" b="0" i="0">
                <a:solidFill>
                  <a:srgbClr val="6B7280"/>
                </a:solidFill>
                <a:latin typeface="Calibri"/>
              </a:rPr>
              <a:t>GamesBeat (18-jun-2026) sobre Newzoo; SIE; Nintendo IR; Xbox Wire (10-jun-2026); PlayStation Blog (1-jul-2026)</a:t>
            </a:r>
          </a:p>
        </p:txBody>
      </p:sp>
      <p:graphicFrame>
        <p:nvGraphicFramePr>
          <p:cNvPr id="9" name="Table 8"/>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4695297">
                  <a:extLst>
                    <a:ext uri="{9D8B030D-6E8A-4147-A177-3AD203B41FA5}">
                      <a16:colId xmlns:a16="http://schemas.microsoft.com/office/drawing/2014/main" val="20000"/>
                    </a:ext>
                  </a:extLst>
                </a:gridCol>
                <a:gridCol w="6490557">
                  <a:extLst>
                    <a:ext uri="{9D8B030D-6E8A-4147-A177-3AD203B41FA5}">
                      <a16:colId xmlns:a16="http://schemas.microsoft.com/office/drawing/2014/main" val="20001"/>
                    </a:ext>
                  </a:extLst>
                </a:gridCol>
              </a:tblGrid>
              <a:tr h="566928">
                <a:tc>
                  <a:txBody>
                    <a:bodyPr/>
                    <a:lstStyle/>
                    <a:p>
                      <a:r>
                        <a:rPr sz="1200" b="1" i="0">
                          <a:solidFill>
                            <a:srgbClr val="FFFFFF"/>
                          </a:solidFill>
                          <a:latin typeface="Calibri"/>
                        </a:rPr>
                        <a:t>Dato</a:t>
                      </a:r>
                    </a:p>
                  </a:txBody>
                  <a:tcPr marL="73152" marR="73152" marT="36576" marB="36576" anchor="ctr">
                    <a:solidFill>
                      <a:srgbClr val="0D9488"/>
                    </a:solidFill>
                  </a:tcPr>
                </a:tc>
                <a:tc>
                  <a:txBody>
                    <a:bodyPr/>
                    <a:lstStyle/>
                    <a:p>
                      <a:r>
                        <a:rPr sz="1200" b="1" i="0">
                          <a:solidFill>
                            <a:srgbClr val="FFFFFF"/>
                          </a:solidFill>
                          <a:latin typeface="Calibri"/>
                        </a:rPr>
                        <a:t>Valor</a:t>
                      </a:r>
                    </a:p>
                  </a:txBody>
                  <a:tcPr marL="73152" marR="73152" marT="36576" marB="36576" anchor="ctr">
                    <a:solidFill>
                      <a:srgbClr val="0D9488"/>
                    </a:solidFill>
                  </a:tcPr>
                </a:tc>
                <a:extLst>
                  <a:ext uri="{0D108BD9-81ED-4DB2-BD59-A6C34878D82A}">
                    <a16:rowId xmlns:a16="http://schemas.microsoft.com/office/drawing/2014/main" val="10000"/>
                  </a:ext>
                </a:extLst>
              </a:tr>
              <a:tr h="566928">
                <a:tc>
                  <a:txBody>
                    <a:bodyPr/>
                    <a:lstStyle/>
                    <a:p>
                      <a:r>
                        <a:rPr sz="1200" b="0" i="0">
                          <a:solidFill>
                            <a:srgbClr val="1F2937"/>
                          </a:solidFill>
                          <a:latin typeface="Calibri"/>
                        </a:rPr>
                        <a:t>Mercado mundial 2025</a:t>
                      </a:r>
                    </a:p>
                  </a:txBody>
                  <a:tcPr marL="73152" marR="73152" marT="36576" marB="36576" anchor="ctr">
                    <a:solidFill>
                      <a:srgbClr val="FFFFFF"/>
                    </a:solidFill>
                  </a:tcPr>
                </a:tc>
                <a:tc>
                  <a:txBody>
                    <a:bodyPr/>
                    <a:lstStyle/>
                    <a:p>
                      <a:r>
                        <a:rPr sz="1200" b="0" i="0">
                          <a:solidFill>
                            <a:srgbClr val="1F2937"/>
                          </a:solidFill>
                          <a:latin typeface="Calibri"/>
                        </a:rPr>
                        <a:t>USD 201.600 M (Newzoo)</a:t>
                      </a:r>
                    </a:p>
                  </a:txBody>
                  <a:tcPr marL="73152" marR="73152" marT="36576" marB="36576" anchor="ctr">
                    <a:solidFill>
                      <a:srgbClr val="FFFFFF"/>
                    </a:solidFill>
                  </a:tcPr>
                </a:tc>
                <a:extLst>
                  <a:ext uri="{0D108BD9-81ED-4DB2-BD59-A6C34878D82A}">
                    <a16:rowId xmlns:a16="http://schemas.microsoft.com/office/drawing/2014/main" val="10001"/>
                  </a:ext>
                </a:extLst>
              </a:tr>
              <a:tr h="566928">
                <a:tc>
                  <a:txBody>
                    <a:bodyPr/>
                    <a:lstStyle/>
                    <a:p>
                      <a:r>
                        <a:rPr sz="1200" b="0" i="0">
                          <a:solidFill>
                            <a:srgbClr val="1F2937"/>
                          </a:solidFill>
                          <a:latin typeface="Calibri"/>
                        </a:rPr>
                        <a:t>Crecimiento 2025</a:t>
                      </a:r>
                    </a:p>
                  </a:txBody>
                  <a:tcPr marL="73152" marR="73152" marT="36576" marB="36576" anchor="ctr">
                    <a:solidFill>
                      <a:srgbClr val="E6F4F2"/>
                    </a:solidFill>
                  </a:tcPr>
                </a:tc>
                <a:tc>
                  <a:txBody>
                    <a:bodyPr/>
                    <a:lstStyle/>
                    <a:p>
                      <a:r>
                        <a:rPr sz="1200" b="0" i="0">
                          <a:solidFill>
                            <a:srgbClr val="1F2937"/>
                          </a:solidFill>
                          <a:latin typeface="Calibri"/>
                        </a:rPr>
                        <a:t>PC +12 % · móvil +10,7 % · consola +2,8 %</a:t>
                      </a:r>
                    </a:p>
                  </a:txBody>
                  <a:tcPr marL="73152" marR="73152" marT="36576" marB="36576" anchor="ctr">
                    <a:solidFill>
                      <a:srgbClr val="E6F4F2"/>
                    </a:solidFill>
                  </a:tcPr>
                </a:tc>
                <a:extLst>
                  <a:ext uri="{0D108BD9-81ED-4DB2-BD59-A6C34878D82A}">
                    <a16:rowId xmlns:a16="http://schemas.microsoft.com/office/drawing/2014/main" val="10002"/>
                  </a:ext>
                </a:extLst>
              </a:tr>
              <a:tr h="566928">
                <a:tc>
                  <a:txBody>
                    <a:bodyPr/>
                    <a:lstStyle/>
                    <a:p>
                      <a:r>
                        <a:rPr sz="1200" b="0" i="0">
                          <a:solidFill>
                            <a:srgbClr val="1F2937"/>
                          </a:solidFill>
                          <a:latin typeface="Calibri"/>
                        </a:rPr>
                        <a:t>Usuarios activos PlayStation</a:t>
                      </a:r>
                    </a:p>
                  </a:txBody>
                  <a:tcPr marL="73152" marR="73152" marT="36576" marB="36576" anchor="ctr">
                    <a:solidFill>
                      <a:srgbClr val="FFFFFF"/>
                    </a:solidFill>
                  </a:tcPr>
                </a:tc>
                <a:tc>
                  <a:txBody>
                    <a:bodyPr/>
                    <a:lstStyle/>
                    <a:p>
                      <a:r>
                        <a:rPr sz="1200" b="0" i="0">
                          <a:solidFill>
                            <a:srgbClr val="1F2937"/>
                          </a:solidFill>
                          <a:latin typeface="Calibri"/>
                        </a:rPr>
                        <a:t>125 M por mes</a:t>
                      </a:r>
                    </a:p>
                  </a:txBody>
                  <a:tcPr marL="73152" marR="73152" marT="36576" marB="36576" anchor="ctr">
                    <a:solidFill>
                      <a:srgbClr val="FFFFFF"/>
                    </a:solidFill>
                  </a:tcPr>
                </a:tc>
                <a:extLst>
                  <a:ext uri="{0D108BD9-81ED-4DB2-BD59-A6C34878D82A}">
                    <a16:rowId xmlns:a16="http://schemas.microsoft.com/office/drawing/2014/main" val="10003"/>
                  </a:ext>
                </a:extLst>
              </a:tr>
              <a:tr h="566928">
                <a:tc>
                  <a:txBody>
                    <a:bodyPr/>
                    <a:lstStyle/>
                    <a:p>
                      <a:r>
                        <a:rPr sz="1200" b="0" i="0">
                          <a:solidFill>
                            <a:srgbClr val="1F2937"/>
                          </a:solidFill>
                          <a:latin typeface="Calibri"/>
                        </a:rPr>
                        <a:t>Switch 2 en 13 meses</a:t>
                      </a:r>
                    </a:p>
                  </a:txBody>
                  <a:tcPr marL="73152" marR="73152" marT="36576" marB="36576" anchor="ctr">
                    <a:solidFill>
                      <a:srgbClr val="E6F4F2"/>
                    </a:solidFill>
                  </a:tcPr>
                </a:tc>
                <a:tc>
                  <a:txBody>
                    <a:bodyPr/>
                    <a:lstStyle/>
                    <a:p>
                      <a:r>
                        <a:rPr sz="1200" b="0" i="0">
                          <a:solidFill>
                            <a:srgbClr val="1F2937"/>
                          </a:solidFill>
                          <a:latin typeface="Calibri"/>
                        </a:rPr>
                        <a:t>23,68 M (Switch: 17,79 M)</a:t>
                      </a:r>
                    </a:p>
                  </a:txBody>
                  <a:tcPr marL="73152" marR="73152" marT="36576" marB="36576" anchor="ctr">
                    <a:solidFill>
                      <a:srgbClr val="E6F4F2"/>
                    </a:solidFill>
                  </a:tcPr>
                </a:tc>
                <a:extLst>
                  <a:ext uri="{0D108BD9-81ED-4DB2-BD59-A6C34878D82A}">
                    <a16:rowId xmlns:a16="http://schemas.microsoft.com/office/drawing/2014/main" val="10004"/>
                  </a:ext>
                </a:extLst>
              </a:tr>
              <a:tr h="566928">
                <a:tc>
                  <a:txBody>
                    <a:bodyPr/>
                    <a:lstStyle/>
                    <a:p>
                      <a:r>
                        <a:rPr sz="1200" b="0" i="0">
                          <a:solidFill>
                            <a:srgbClr val="1F2937"/>
                          </a:solidFill>
                          <a:latin typeface="Calibri"/>
                        </a:rPr>
                        <a:t>Xbox</a:t>
                      </a:r>
                    </a:p>
                  </a:txBody>
                  <a:tcPr marL="73152" marR="73152" marT="36576" marB="36576" anchor="ctr">
                    <a:solidFill>
                      <a:srgbClr val="FFFFFF"/>
                    </a:solidFill>
                  </a:tcPr>
                </a:tc>
                <a:tc>
                  <a:txBody>
                    <a:bodyPr/>
                    <a:lstStyle/>
                    <a:p>
                      <a:r>
                        <a:rPr sz="1200" b="0" i="0">
                          <a:solidFill>
                            <a:srgbClr val="1F2937"/>
                          </a:solidFill>
                          <a:latin typeface="Calibri"/>
                        </a:rPr>
                        <a:t>"Hardware component crisis"</a:t>
                      </a:r>
                    </a:p>
                  </a:txBody>
                  <a:tcPr marL="73152" marR="73152" marT="36576" marB="36576" anchor="ctr">
                    <a:solidFill>
                      <a:srgbClr val="FFFFFF"/>
                    </a:solidFill>
                  </a:tcPr>
                </a:tc>
                <a:extLst>
                  <a:ext uri="{0D108BD9-81ED-4DB2-BD59-A6C34878D82A}">
                    <a16:rowId xmlns:a16="http://schemas.microsoft.com/office/drawing/2014/main" val="10005"/>
                  </a:ext>
                </a:extLst>
              </a:tr>
              <a:tr h="566928">
                <a:tc>
                  <a:txBody>
                    <a:bodyPr/>
                    <a:lstStyle/>
                    <a:p>
                      <a:r>
                        <a:rPr sz="1200" b="0" i="0">
                          <a:solidFill>
                            <a:srgbClr val="1F2937"/>
                          </a:solidFill>
                          <a:latin typeface="Calibri"/>
                        </a:rPr>
                        <a:t>PlayStation</a:t>
                      </a:r>
                    </a:p>
                  </a:txBody>
                  <a:tcPr marL="73152" marR="73152" marT="36576" marB="36576" anchor="ctr">
                    <a:solidFill>
                      <a:srgbClr val="E6F4F2"/>
                    </a:solidFill>
                  </a:tcPr>
                </a:tc>
                <a:tc>
                  <a:txBody>
                    <a:bodyPr/>
                    <a:lstStyle/>
                    <a:p>
                      <a:r>
                        <a:rPr sz="1200" b="0" i="0">
                          <a:solidFill>
                            <a:srgbClr val="1F2937"/>
                          </a:solidFill>
                          <a:latin typeface="Calibri"/>
                        </a:rPr>
                        <a:t>Sin discos para juegos nuevos desde 2028</a:t>
                      </a:r>
                    </a:p>
                  </a:txBody>
                  <a:tcPr marL="73152" marR="73152" marT="36576" marB="36576" anchor="ctr">
                    <a:solidFill>
                      <a:srgbClr val="E6F4F2"/>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15</a:t>
            </a:r>
          </a:p>
        </p:txBody>
      </p:sp>
      <p:sp>
        <p:nvSpPr>
          <p:cNvPr id="5" name="TextBox 4"/>
          <p:cNvSpPr txBox="1"/>
          <p:nvPr/>
        </p:nvSpPr>
        <p:spPr>
          <a:xfrm>
            <a:off x="1005840" y="109728"/>
            <a:ext cx="10728655" cy="777240"/>
          </a:xfrm>
          <a:prstGeom prst="rect">
            <a:avLst/>
          </a:prstGeom>
          <a:noFill/>
        </p:spPr>
        <p:txBody>
          <a:bodyPr wrap="square" lIns="0" tIns="0" rIns="0" bIns="0" anchor="ctr">
            <a:spAutoFit/>
          </a:bodyPr>
          <a:lstStyle/>
          <a:p>
            <a:r>
              <a:rPr sz="1100" b="1" i="0">
                <a:solidFill>
                  <a:srgbClr val="99F6E4"/>
                </a:solidFill>
                <a:latin typeface="Calibri"/>
              </a:rPr>
              <a:t>ACTIVIDAD · GRUPOS DE 3</a:t>
            </a:r>
          </a:p>
          <a:p>
            <a:r>
              <a:rPr sz="2600" b="1" i="0">
                <a:solidFill>
                  <a:srgbClr val="FFFFFF"/>
                </a:solidFill>
                <a:latin typeface="Calibri"/>
              </a:rPr>
              <a:t>Actividad 1: leer los gráficos</a:t>
            </a:r>
          </a:p>
        </p:txBody>
      </p:sp>
      <p:sp>
        <p:nvSpPr>
          <p:cNvPr id="6" name="TextBox 5"/>
          <p:cNvSpPr txBox="1"/>
          <p:nvPr/>
        </p:nvSpPr>
        <p:spPr>
          <a:xfrm>
            <a:off x="502920" y="6473952"/>
            <a:ext cx="11185855" cy="274320"/>
          </a:xfrm>
          <a:prstGeom prst="rect">
            <a:avLst/>
          </a:prstGeom>
          <a:noFill/>
        </p:spPr>
        <p:txBody>
          <a:bodyPr wrap="square" lIns="0" tIns="0" rIns="0" bIns="0" anchor="ctr">
            <a:spAutoFit/>
          </a:bodyPr>
          <a:lstStyle/>
          <a:p>
            <a:r>
              <a:rPr sz="1000" b="0" i="0">
                <a:solidFill>
                  <a:srgbClr val="6B7280"/>
                </a:solidFill>
                <a:latin typeface="Calibri"/>
              </a:rPr>
              <a:t>Diseño según Plataformas de Juego · Unidad V · Clase 1 · La consola tiene dueño</a:t>
            </a:r>
          </a:p>
        </p:txBody>
      </p:sp>
      <p:sp>
        <p:nvSpPr>
          <p:cNvPr id="7" name="TextBox 6"/>
          <p:cNvSpPr txBox="1"/>
          <p:nvPr/>
        </p:nvSpPr>
        <p:spPr>
          <a:xfrm>
            <a:off x="10774375" y="6473952"/>
            <a:ext cx="914400" cy="274320"/>
          </a:xfrm>
          <a:prstGeom prst="rect">
            <a:avLst/>
          </a:prstGeom>
          <a:noFill/>
        </p:spPr>
        <p:txBody>
          <a:bodyPr wrap="square" lIns="0" tIns="0" rIns="0" bIns="0" anchor="ctr">
            <a:spAutoFit/>
          </a:bodyPr>
          <a:lstStyle/>
          <a:p>
            <a:pPr algn="r"/>
            <a:r>
              <a:rPr sz="1000" b="0" i="0">
                <a:solidFill>
                  <a:srgbClr val="6B7280"/>
                </a:solidFill>
                <a:latin typeface="Calibri"/>
              </a:rPr>
              <a:t>15/24</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r>
              <a:rPr sz="1300" b="1" i="0">
                <a:solidFill>
                  <a:srgbClr val="16A34A"/>
                </a:solidFill>
                <a:latin typeface="Calibri"/>
              </a:rPr>
              <a:t>ACTIVIDAD  </a:t>
            </a:r>
            <a:r>
              <a:rPr sz="1400" b="0" i="0">
                <a:solidFill>
                  <a:srgbClr val="1F2937"/>
                </a:solidFill>
                <a:latin typeface="Calibri"/>
              </a:rPr>
              <a:t>Cada respuesta cita un número y su fecha de corte</a:t>
            </a:r>
          </a:p>
        </p:txBody>
      </p:sp>
      <p:graphicFrame>
        <p:nvGraphicFramePr>
          <p:cNvPr id="10" name="Table 9"/>
          <p:cNvGraphicFramePr>
            <a:graphicFrameLocks noGrp="1"/>
          </p:cNvGraphicFramePr>
          <p:nvPr/>
        </p:nvGraphicFramePr>
        <p:xfrm>
          <a:off x="502920" y="1234440"/>
          <a:ext cx="11185853" cy="3401568"/>
        </p:xfrm>
        <a:graphic>
          <a:graphicData uri="http://schemas.openxmlformats.org/drawingml/2006/table">
            <a:tbl>
              <a:tblPr firstRow="1" bandRow="1">
                <a:tableStyleId>{5C22544A-7EE6-4342-B048-85BDC9FD1C3A}</a:tableStyleId>
              </a:tblPr>
              <a:tblGrid>
                <a:gridCol w="6547817">
                  <a:extLst>
                    <a:ext uri="{9D8B030D-6E8A-4147-A177-3AD203B41FA5}">
                      <a16:colId xmlns:a16="http://schemas.microsoft.com/office/drawing/2014/main" val="20000"/>
                    </a:ext>
                  </a:extLst>
                </a:gridCol>
                <a:gridCol w="2591844">
                  <a:extLst>
                    <a:ext uri="{9D8B030D-6E8A-4147-A177-3AD203B41FA5}">
                      <a16:colId xmlns:a16="http://schemas.microsoft.com/office/drawing/2014/main" val="20001"/>
                    </a:ext>
                  </a:extLst>
                </a:gridCol>
                <a:gridCol w="2046192">
                  <a:extLst>
                    <a:ext uri="{9D8B030D-6E8A-4147-A177-3AD203B41FA5}">
                      <a16:colId xmlns:a16="http://schemas.microsoft.com/office/drawing/2014/main" val="20002"/>
                    </a:ext>
                  </a:extLst>
                </a:gridCol>
              </a:tblGrid>
              <a:tr h="566928">
                <a:tc>
                  <a:txBody>
                    <a:bodyPr/>
                    <a:lstStyle/>
                    <a:p>
                      <a:r>
                        <a:rPr sz="1400" b="1" i="0">
                          <a:solidFill>
                            <a:srgbClr val="FFFFFF"/>
                          </a:solidFill>
                          <a:latin typeface="Calibri"/>
                        </a:rPr>
                        <a:t>Pregunta</a:t>
                      </a:r>
                    </a:p>
                  </a:txBody>
                  <a:tcPr marL="73152" marR="73152" marT="36576" marB="36576" anchor="ctr">
                    <a:solidFill>
                      <a:srgbClr val="0D9488"/>
                    </a:solidFill>
                  </a:tcPr>
                </a:tc>
                <a:tc>
                  <a:txBody>
                    <a:bodyPr/>
                    <a:lstStyle/>
                    <a:p>
                      <a:r>
                        <a:rPr sz="1400" b="1" i="0">
                          <a:solidFill>
                            <a:srgbClr val="FFFFFF"/>
                          </a:solidFill>
                          <a:latin typeface="Calibri"/>
                        </a:rPr>
                        <a:t>Gráfico</a:t>
                      </a:r>
                    </a:p>
                  </a:txBody>
                  <a:tcPr marL="73152" marR="73152" marT="36576" marB="36576" anchor="ctr">
                    <a:solidFill>
                      <a:srgbClr val="0D9488"/>
                    </a:solidFill>
                  </a:tcPr>
                </a:tc>
                <a:tc>
                  <a:txBody>
                    <a:bodyPr/>
                    <a:lstStyle/>
                    <a:p>
                      <a:r>
                        <a:rPr sz="1400" b="1" i="0">
                          <a:solidFill>
                            <a:srgbClr val="FFFFFF"/>
                          </a:solidFill>
                          <a:latin typeface="Calibri"/>
                        </a:rPr>
                        <a:t>Respuesta</a:t>
                      </a:r>
                    </a:p>
                  </a:txBody>
                  <a:tcPr marL="73152" marR="73152" marT="36576" marB="36576" anchor="ctr">
                    <a:solidFill>
                      <a:srgbClr val="0D9488"/>
                    </a:solidFill>
                  </a:tcPr>
                </a:tc>
                <a:extLst>
                  <a:ext uri="{0D108BD9-81ED-4DB2-BD59-A6C34878D82A}">
                    <a16:rowId xmlns:a16="http://schemas.microsoft.com/office/drawing/2014/main" val="10000"/>
                  </a:ext>
                </a:extLst>
              </a:tr>
              <a:tr h="566928">
                <a:tc>
                  <a:txBody>
                    <a:bodyPr/>
                    <a:lstStyle/>
                    <a:p>
                      <a:r>
                        <a:rPr sz="1400" b="0" i="0">
                          <a:solidFill>
                            <a:srgbClr val="1F2937"/>
                          </a:solidFill>
                          <a:latin typeface="Calibri"/>
                        </a:rPr>
                        <a:t>¿Qué consola tiene más base instalada hoy?</a:t>
                      </a:r>
                    </a:p>
                  </a:txBody>
                  <a:tcPr marL="73152" marR="73152" marT="36576" marB="36576" anchor="ctr">
                    <a:solidFill>
                      <a:srgbClr val="FFFFFF"/>
                    </a:solidFill>
                  </a:tcPr>
                </a:tc>
                <a:tc>
                  <a:txBody>
                    <a:bodyPr/>
                    <a:lstStyle/>
                    <a:p>
                      <a:r>
                        <a:rPr sz="1400" b="0" i="0">
                          <a:solidFill>
                            <a:srgbClr val="1F2937"/>
                          </a:solidFill>
                          <a:latin typeface="Calibri"/>
                        </a:rPr>
                        <a:t>Ranking</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1"/>
                  </a:ext>
                </a:extLst>
              </a:tr>
              <a:tr h="566928">
                <a:tc>
                  <a:txBody>
                    <a:bodyPr/>
                    <a:lstStyle/>
                    <a:p>
                      <a:r>
                        <a:rPr sz="1400" b="0" i="0">
                          <a:solidFill>
                            <a:srgbClr val="1F2937"/>
                          </a:solidFill>
                          <a:latin typeface="Calibri"/>
                        </a:rPr>
                        <a:t>¿Cuál crece más rápido?</a:t>
                      </a:r>
                    </a:p>
                  </a:txBody>
                  <a:tcPr marL="73152" marR="73152" marT="36576" marB="36576" anchor="ctr">
                    <a:solidFill>
                      <a:srgbClr val="E6F4F2"/>
                    </a:solidFill>
                  </a:tcPr>
                </a:tc>
                <a:tc>
                  <a:txBody>
                    <a:bodyPr/>
                    <a:lstStyle/>
                    <a:p>
                      <a:r>
                        <a:rPr sz="1400" b="0" i="0">
                          <a:solidFill>
                            <a:srgbClr val="1F2937"/>
                          </a:solidFill>
                          <a:latin typeface="Calibri"/>
                        </a:rPr>
                        <a:t>Ciclo de vida</a:t>
                      </a:r>
                    </a:p>
                  </a:txBody>
                  <a:tcPr marL="73152" marR="73152" marT="36576" marB="36576" anchor="ctr">
                    <a:solidFill>
                      <a:srgbClr val="E6F4F2"/>
                    </a:solidFill>
                  </a:tcPr>
                </a:tc>
                <a:tc>
                  <a:txBody>
                    <a:bodyPr/>
                    <a:lstStyle/>
                    <a:p>
                      <a:endParaRPr/>
                    </a:p>
                  </a:txBody>
                  <a:tcPr marL="73152" marR="73152" marT="36576" marB="36576" anchor="ctr">
                    <a:solidFill>
                      <a:srgbClr val="E6F4F2"/>
                    </a:solidFill>
                  </a:tcPr>
                </a:tc>
                <a:extLst>
                  <a:ext uri="{0D108BD9-81ED-4DB2-BD59-A6C34878D82A}">
                    <a16:rowId xmlns:a16="http://schemas.microsoft.com/office/drawing/2014/main" val="10002"/>
                  </a:ext>
                </a:extLst>
              </a:tr>
              <a:tr h="566928">
                <a:tc>
                  <a:txBody>
                    <a:bodyPr/>
                    <a:lstStyle/>
                    <a:p>
                      <a:r>
                        <a:rPr sz="1400" b="0" i="0">
                          <a:solidFill>
                            <a:srgbClr val="1F2937"/>
                          </a:solidFill>
                          <a:latin typeface="Calibri"/>
                        </a:rPr>
                        <a:t>¿Qué dato falta y por qué?</a:t>
                      </a:r>
                    </a:p>
                  </a:txBody>
                  <a:tcPr marL="73152" marR="73152" marT="36576" marB="36576" anchor="ctr">
                    <a:solidFill>
                      <a:srgbClr val="FFFFFF"/>
                    </a:solidFill>
                  </a:tcPr>
                </a:tc>
                <a:tc>
                  <a:txBody>
                    <a:bodyPr/>
                    <a:lstStyle/>
                    <a:p>
                      <a:r>
                        <a:rPr sz="1400" b="0" i="0">
                          <a:solidFill>
                            <a:srgbClr val="1F2937"/>
                          </a:solidFill>
                          <a:latin typeface="Calibri"/>
                        </a:rPr>
                        <a:t>Ranking</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3"/>
                  </a:ext>
                </a:extLst>
              </a:tr>
              <a:tr h="566928">
                <a:tc>
                  <a:txBody>
                    <a:bodyPr/>
                    <a:lstStyle/>
                    <a:p>
                      <a:r>
                        <a:rPr sz="1400" b="0" i="0">
                          <a:solidFill>
                            <a:srgbClr val="1F2937"/>
                          </a:solidFill>
                          <a:latin typeface="Calibri"/>
                        </a:rPr>
                        <a:t>¿La consola típica vende 150 M?</a:t>
                      </a:r>
                    </a:p>
                  </a:txBody>
                  <a:tcPr marL="73152" marR="73152" marT="36576" marB="36576" anchor="ctr">
                    <a:solidFill>
                      <a:srgbClr val="E6F4F2"/>
                    </a:solidFill>
                  </a:tcPr>
                </a:tc>
                <a:tc>
                  <a:txBody>
                    <a:bodyPr/>
                    <a:lstStyle/>
                    <a:p>
                      <a:r>
                        <a:rPr sz="1400" b="0" i="0">
                          <a:solidFill>
                            <a:srgbClr val="1F2937"/>
                          </a:solidFill>
                          <a:latin typeface="Calibri"/>
                        </a:rPr>
                        <a:t>Histograma</a:t>
                      </a:r>
                    </a:p>
                  </a:txBody>
                  <a:tcPr marL="73152" marR="73152" marT="36576" marB="36576" anchor="ctr">
                    <a:solidFill>
                      <a:srgbClr val="E6F4F2"/>
                    </a:solidFill>
                  </a:tcPr>
                </a:tc>
                <a:tc>
                  <a:txBody>
                    <a:bodyPr/>
                    <a:lstStyle/>
                    <a:p>
                      <a:endParaRPr/>
                    </a:p>
                  </a:txBody>
                  <a:tcPr marL="73152" marR="73152" marT="36576" marB="36576" anchor="ctr">
                    <a:solidFill>
                      <a:srgbClr val="E6F4F2"/>
                    </a:solidFill>
                  </a:tcPr>
                </a:tc>
                <a:extLst>
                  <a:ext uri="{0D108BD9-81ED-4DB2-BD59-A6C34878D82A}">
                    <a16:rowId xmlns:a16="http://schemas.microsoft.com/office/drawing/2014/main" val="10004"/>
                  </a:ext>
                </a:extLst>
              </a:tr>
              <a:tr h="566928">
                <a:tc>
                  <a:txBody>
                    <a:bodyPr/>
                    <a:lstStyle/>
                    <a:p>
                      <a:r>
                        <a:rPr sz="1400" b="0" i="0">
                          <a:solidFill>
                            <a:srgbClr val="1F2937"/>
                          </a:solidFill>
                          <a:latin typeface="Calibri"/>
                        </a:rPr>
                        <a:t>¿Qué idiomas priorizar en Nintendo?</a:t>
                      </a:r>
                    </a:p>
                  </a:txBody>
                  <a:tcPr marL="73152" marR="73152" marT="36576" marB="36576" anchor="ctr">
                    <a:solidFill>
                      <a:srgbClr val="FFFFFF"/>
                    </a:solidFill>
                  </a:tcPr>
                </a:tc>
                <a:tc>
                  <a:txBody>
                    <a:bodyPr/>
                    <a:lstStyle/>
                    <a:p>
                      <a:r>
                        <a:rPr sz="1400" b="0" i="0">
                          <a:solidFill>
                            <a:srgbClr val="1F2937"/>
                          </a:solidFill>
                          <a:latin typeface="Calibri"/>
                        </a:rPr>
                        <a:t>Regiones</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16</a:t>
            </a:r>
          </a:p>
        </p:txBody>
      </p:sp>
      <p:sp>
        <p:nvSpPr>
          <p:cNvPr id="5" name="TextBox 4"/>
          <p:cNvSpPr txBox="1"/>
          <p:nvPr/>
        </p:nvSpPr>
        <p:spPr>
          <a:xfrm>
            <a:off x="1005840" y="109728"/>
            <a:ext cx="10728655" cy="777240"/>
          </a:xfrm>
          <a:prstGeom prst="rect">
            <a:avLst/>
          </a:prstGeom>
          <a:noFill/>
        </p:spPr>
        <p:txBody>
          <a:bodyPr wrap="square" lIns="0" tIns="0" rIns="0" bIns="0" anchor="ctr">
            <a:spAutoFit/>
          </a:bodyPr>
          <a:lstStyle/>
          <a:p>
            <a:r>
              <a:rPr sz="1100" b="1" i="0">
                <a:solidFill>
                  <a:srgbClr val="99F6E4"/>
                </a:solidFill>
                <a:latin typeface="Calibri"/>
              </a:rPr>
              <a:t>PRÁCTICA · INSUMO DE LA ACTIVIDAD 2</a:t>
            </a:r>
          </a:p>
          <a:p>
            <a:r>
              <a:rPr sz="2600" b="1" i="0">
                <a:solidFill>
                  <a:srgbClr val="FFFFFF"/>
                </a:solidFill>
                <a:latin typeface="Calibri"/>
              </a:rPr>
              <a:t>De los datos a las decisiones</a:t>
            </a:r>
          </a:p>
        </p:txBody>
      </p:sp>
      <p:sp>
        <p:nvSpPr>
          <p:cNvPr id="6" name="TextBox 5"/>
          <p:cNvSpPr txBox="1"/>
          <p:nvPr/>
        </p:nvSpPr>
        <p:spPr>
          <a:xfrm>
            <a:off x="502920" y="6473952"/>
            <a:ext cx="11185855" cy="274320"/>
          </a:xfrm>
          <a:prstGeom prst="rect">
            <a:avLst/>
          </a:prstGeom>
          <a:noFill/>
        </p:spPr>
        <p:txBody>
          <a:bodyPr wrap="square" lIns="0" tIns="0" rIns="0" bIns="0" anchor="ctr">
            <a:spAutoFit/>
          </a:bodyPr>
          <a:lstStyle/>
          <a:p>
            <a:r>
              <a:rPr sz="1000" b="0" i="0">
                <a:solidFill>
                  <a:srgbClr val="6B7280"/>
                </a:solidFill>
                <a:latin typeface="Calibri"/>
              </a:rPr>
              <a:t>Diseño según Plataformas de Juego · Unidad V · Clase 1 · La consola tiene dueño</a:t>
            </a:r>
          </a:p>
        </p:txBody>
      </p:sp>
      <p:sp>
        <p:nvSpPr>
          <p:cNvPr id="7" name="TextBox 6"/>
          <p:cNvSpPr txBox="1"/>
          <p:nvPr/>
        </p:nvSpPr>
        <p:spPr>
          <a:xfrm>
            <a:off x="10774375" y="6473952"/>
            <a:ext cx="914400" cy="274320"/>
          </a:xfrm>
          <a:prstGeom prst="rect">
            <a:avLst/>
          </a:prstGeom>
          <a:noFill/>
        </p:spPr>
        <p:txBody>
          <a:bodyPr wrap="square" lIns="0" tIns="0" rIns="0" bIns="0" anchor="ctr">
            <a:spAutoFit/>
          </a:bodyPr>
          <a:lstStyle/>
          <a:p>
            <a:pPr algn="r"/>
            <a:r>
              <a:rPr sz="1000" b="0" i="0">
                <a:solidFill>
                  <a:srgbClr val="6B7280"/>
                </a:solidFill>
                <a:latin typeface="Calibri"/>
              </a:rPr>
              <a:t>16/24</a:t>
            </a:r>
          </a:p>
        </p:txBody>
      </p:sp>
      <p:sp>
        <p:nvSpPr>
          <p:cNvPr id="8" name="TextBox 7"/>
          <p:cNvSpPr txBox="1"/>
          <p:nvPr/>
        </p:nvSpPr>
        <p:spPr>
          <a:xfrm>
            <a:off x="502920" y="6126480"/>
            <a:ext cx="11185855" cy="292608"/>
          </a:xfrm>
          <a:prstGeom prst="rect">
            <a:avLst/>
          </a:prstGeom>
          <a:noFill/>
        </p:spPr>
        <p:txBody>
          <a:bodyPr wrap="square" lIns="0" tIns="0" rIns="0" bIns="0" anchor="ctr">
            <a:spAutoFit/>
          </a:bodyPr>
          <a:lstStyle/>
          <a:p>
            <a:r>
              <a:rPr sz="1000" b="1" i="0">
                <a:solidFill>
                  <a:srgbClr val="6B7280"/>
                </a:solidFill>
                <a:latin typeface="Calibri"/>
              </a:rPr>
              <a:t>Fuente: </a:t>
            </a:r>
            <a:r>
              <a:rPr sz="1000" b="0" i="0">
                <a:solidFill>
                  <a:srgbClr val="6B7280"/>
                </a:solidFill>
                <a:latin typeface="Calibri"/>
              </a:rPr>
              <a:t>01-desarrollo-tema-consolas.md, sección 7; XAG 101; XR-130</a:t>
            </a:r>
          </a:p>
        </p:txBody>
      </p:sp>
      <p:graphicFrame>
        <p:nvGraphicFramePr>
          <p:cNvPr id="9" name="Table 8"/>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5592927">
                  <a:extLst>
                    <a:ext uri="{9D8B030D-6E8A-4147-A177-3AD203B41FA5}">
                      <a16:colId xmlns:a16="http://schemas.microsoft.com/office/drawing/2014/main" val="20000"/>
                    </a:ext>
                  </a:extLst>
                </a:gridCol>
                <a:gridCol w="5592927">
                  <a:extLst>
                    <a:ext uri="{9D8B030D-6E8A-4147-A177-3AD203B41FA5}">
                      <a16:colId xmlns:a16="http://schemas.microsoft.com/office/drawing/2014/main" val="20001"/>
                    </a:ext>
                  </a:extLst>
                </a:gridCol>
              </a:tblGrid>
              <a:tr h="566928">
                <a:tc>
                  <a:txBody>
                    <a:bodyPr/>
                    <a:lstStyle/>
                    <a:p>
                      <a:r>
                        <a:rPr sz="1200" b="1" i="0">
                          <a:solidFill>
                            <a:srgbClr val="FFFFFF"/>
                          </a:solidFill>
                          <a:latin typeface="Calibri"/>
                        </a:rPr>
                        <a:t>Dato</a:t>
                      </a:r>
                    </a:p>
                  </a:txBody>
                  <a:tcPr marL="73152" marR="73152" marT="36576" marB="36576" anchor="ctr">
                    <a:solidFill>
                      <a:srgbClr val="0D9488"/>
                    </a:solidFill>
                  </a:tcPr>
                </a:tc>
                <a:tc>
                  <a:txBody>
                    <a:bodyPr/>
                    <a:lstStyle/>
                    <a:p>
                      <a:r>
                        <a:rPr sz="1200" b="1" i="0">
                          <a:solidFill>
                            <a:srgbClr val="FFFFFF"/>
                          </a:solidFill>
                          <a:latin typeface="Calibri"/>
                        </a:rPr>
                        <a:t>Decisión de diseño</a:t>
                      </a:r>
                    </a:p>
                  </a:txBody>
                  <a:tcPr marL="73152" marR="73152" marT="36576" marB="36576" anchor="ctr">
                    <a:solidFill>
                      <a:srgbClr val="0D9488"/>
                    </a:solidFill>
                  </a:tcPr>
                </a:tc>
                <a:extLst>
                  <a:ext uri="{0D108BD9-81ED-4DB2-BD59-A6C34878D82A}">
                    <a16:rowId xmlns:a16="http://schemas.microsoft.com/office/drawing/2014/main" val="10000"/>
                  </a:ext>
                </a:extLst>
              </a:tr>
              <a:tr h="566928">
                <a:tc>
                  <a:txBody>
                    <a:bodyPr/>
                    <a:lstStyle/>
                    <a:p>
                      <a:r>
                        <a:rPr sz="1200" b="0" i="0">
                          <a:solidFill>
                            <a:srgbClr val="1F2937"/>
                          </a:solidFill>
                          <a:latin typeface="Calibri"/>
                        </a:rPr>
                        <a:t>Varios modelos por generación</a:t>
                      </a:r>
                    </a:p>
                  </a:txBody>
                  <a:tcPr marL="73152" marR="73152" marT="36576" marB="36576" anchor="ctr">
                    <a:solidFill>
                      <a:srgbClr val="FFFFFF"/>
                    </a:solidFill>
                  </a:tcPr>
                </a:tc>
                <a:tc>
                  <a:txBody>
                    <a:bodyPr/>
                    <a:lstStyle/>
                    <a:p>
                      <a:r>
                        <a:rPr sz="1200" b="0" i="0">
                          <a:solidFill>
                            <a:srgbClr val="1F2937"/>
                          </a:solidFill>
                          <a:latin typeface="Calibri"/>
                        </a:rPr>
                        <a:t>Diseñar para el más débil</a:t>
                      </a:r>
                    </a:p>
                  </a:txBody>
                  <a:tcPr marL="73152" marR="73152" marT="36576" marB="36576" anchor="ctr">
                    <a:solidFill>
                      <a:srgbClr val="FFFFFF"/>
                    </a:solidFill>
                  </a:tcPr>
                </a:tc>
                <a:extLst>
                  <a:ext uri="{0D108BD9-81ED-4DB2-BD59-A6C34878D82A}">
                    <a16:rowId xmlns:a16="http://schemas.microsoft.com/office/drawing/2014/main" val="10001"/>
                  </a:ext>
                </a:extLst>
              </a:tr>
              <a:tr h="566928">
                <a:tc>
                  <a:txBody>
                    <a:bodyPr/>
                    <a:lstStyle/>
                    <a:p>
                      <a:r>
                        <a:rPr sz="1200" b="0" i="0">
                          <a:solidFill>
                            <a:srgbClr val="1F2937"/>
                          </a:solidFill>
                          <a:latin typeface="Calibri"/>
                        </a:rPr>
                        <a:t>Mando y TV a distancia</a:t>
                      </a:r>
                    </a:p>
                  </a:txBody>
                  <a:tcPr marL="73152" marR="73152" marT="36576" marB="36576" anchor="ctr">
                    <a:solidFill>
                      <a:srgbClr val="E6F4F2"/>
                    </a:solidFill>
                  </a:tcPr>
                </a:tc>
                <a:tc>
                  <a:txBody>
                    <a:bodyPr/>
                    <a:lstStyle/>
                    <a:p>
                      <a:r>
                        <a:rPr sz="1200" b="0" i="0">
                          <a:solidFill>
                            <a:srgbClr val="1F2937"/>
                          </a:solidFill>
                          <a:latin typeface="Calibri"/>
                        </a:rPr>
                        <a:t>UI por cruceta, texto ≥ 26 px</a:t>
                      </a:r>
                    </a:p>
                  </a:txBody>
                  <a:tcPr marL="73152" marR="73152" marT="36576" marB="36576" anchor="ctr">
                    <a:solidFill>
                      <a:srgbClr val="E6F4F2"/>
                    </a:solidFill>
                  </a:tcPr>
                </a:tc>
                <a:extLst>
                  <a:ext uri="{0D108BD9-81ED-4DB2-BD59-A6C34878D82A}">
                    <a16:rowId xmlns:a16="http://schemas.microsoft.com/office/drawing/2014/main" val="10002"/>
                  </a:ext>
                </a:extLst>
              </a:tr>
              <a:tr h="566928">
                <a:tc>
                  <a:txBody>
                    <a:bodyPr/>
                    <a:lstStyle/>
                    <a:p>
                      <a:r>
                        <a:rPr sz="1200" b="0" i="0">
                          <a:solidFill>
                            <a:srgbClr val="1F2937"/>
                          </a:solidFill>
                          <a:latin typeface="Calibri"/>
                        </a:rPr>
                        <a:t>Switch 1 sigue en 156 M de hogares</a:t>
                      </a:r>
                    </a:p>
                  </a:txBody>
                  <a:tcPr marL="73152" marR="73152" marT="36576" marB="36576" anchor="ctr">
                    <a:solidFill>
                      <a:srgbClr val="FFFFFF"/>
                    </a:solidFill>
                  </a:tcPr>
                </a:tc>
                <a:tc>
                  <a:txBody>
                    <a:bodyPr/>
                    <a:lstStyle/>
                    <a:p>
                      <a:r>
                        <a:rPr sz="1200" b="0" i="0">
                          <a:solidFill>
                            <a:srgbClr val="1F2937"/>
                          </a:solidFill>
                          <a:latin typeface="Calibri"/>
                        </a:rPr>
                        <a:t>¿Salir también en Switch 1?</a:t>
                      </a:r>
                    </a:p>
                  </a:txBody>
                  <a:tcPr marL="73152" marR="73152" marT="36576" marB="36576" anchor="ctr">
                    <a:solidFill>
                      <a:srgbClr val="FFFFFF"/>
                    </a:solidFill>
                  </a:tcPr>
                </a:tc>
                <a:extLst>
                  <a:ext uri="{0D108BD9-81ED-4DB2-BD59-A6C34878D82A}">
                    <a16:rowId xmlns:a16="http://schemas.microsoft.com/office/drawing/2014/main" val="10003"/>
                  </a:ext>
                </a:extLst>
              </a:tr>
              <a:tr h="566928">
                <a:tc>
                  <a:txBody>
                    <a:bodyPr/>
                    <a:lstStyle/>
                    <a:p>
                      <a:r>
                        <a:rPr sz="1200" b="0" i="0">
                          <a:solidFill>
                            <a:srgbClr val="1F2937"/>
                          </a:solidFill>
                          <a:latin typeface="Calibri"/>
                        </a:rPr>
                        <a:t>Sin discos desde 2028 (PlayStation)</a:t>
                      </a:r>
                    </a:p>
                  </a:txBody>
                  <a:tcPr marL="73152" marR="73152" marT="36576" marB="36576" anchor="ctr">
                    <a:solidFill>
                      <a:srgbClr val="E6F4F2"/>
                    </a:solidFill>
                  </a:tcPr>
                </a:tc>
                <a:tc>
                  <a:txBody>
                    <a:bodyPr/>
                    <a:lstStyle/>
                    <a:p>
                      <a:r>
                        <a:rPr sz="1200" b="0" i="0">
                          <a:solidFill>
                            <a:srgbClr val="1F2937"/>
                          </a:solidFill>
                          <a:latin typeface="Calibri"/>
                        </a:rPr>
                        <a:t>Descargas y parches chicos</a:t>
                      </a:r>
                    </a:p>
                  </a:txBody>
                  <a:tcPr marL="73152" marR="73152" marT="36576" marB="36576" anchor="ctr">
                    <a:solidFill>
                      <a:srgbClr val="E6F4F2"/>
                    </a:solidFill>
                  </a:tcPr>
                </a:tc>
                <a:extLst>
                  <a:ext uri="{0D108BD9-81ED-4DB2-BD59-A6C34878D82A}">
                    <a16:rowId xmlns:a16="http://schemas.microsoft.com/office/drawing/2014/main" val="10004"/>
                  </a:ext>
                </a:extLst>
              </a:tr>
              <a:tr h="566928">
                <a:tc>
                  <a:txBody>
                    <a:bodyPr/>
                    <a:lstStyle/>
                    <a:p>
                      <a:r>
                        <a:rPr sz="1200" b="0" i="0">
                          <a:solidFill>
                            <a:srgbClr val="1F2937"/>
                          </a:solidFill>
                          <a:latin typeface="Calibri"/>
                        </a:rPr>
                        <a:t>Japón y Europa: más de la mitad</a:t>
                      </a:r>
                    </a:p>
                  </a:txBody>
                  <a:tcPr marL="73152" marR="73152" marT="36576" marB="36576" anchor="ctr">
                    <a:solidFill>
                      <a:srgbClr val="FFFFFF"/>
                    </a:solidFill>
                  </a:tcPr>
                </a:tc>
                <a:tc>
                  <a:txBody>
                    <a:bodyPr/>
                    <a:lstStyle/>
                    <a:p>
                      <a:r>
                        <a:rPr sz="1200" b="0" i="0">
                          <a:solidFill>
                            <a:srgbClr val="1F2937"/>
                          </a:solidFill>
                          <a:latin typeface="Calibri"/>
                        </a:rPr>
                        <a:t>Localizar desde el diseño</a:t>
                      </a:r>
                    </a:p>
                  </a:txBody>
                  <a:tcPr marL="73152" marR="73152" marT="36576" marB="36576" anchor="ctr">
                    <a:solidFill>
                      <a:srgbClr val="FFFFFF"/>
                    </a:solidFill>
                  </a:tcPr>
                </a:tc>
                <a:extLst>
                  <a:ext uri="{0D108BD9-81ED-4DB2-BD59-A6C34878D82A}">
                    <a16:rowId xmlns:a16="http://schemas.microsoft.com/office/drawing/2014/main" val="10005"/>
                  </a:ext>
                </a:extLst>
              </a:tr>
              <a:tr h="566928">
                <a:tc>
                  <a:txBody>
                    <a:bodyPr/>
                    <a:lstStyle/>
                    <a:p>
                      <a:r>
                        <a:rPr sz="1200" b="0" i="0">
                          <a:solidFill>
                            <a:srgbClr val="1F2937"/>
                          </a:solidFill>
                          <a:latin typeface="Calibri"/>
                        </a:rPr>
                        <a:t>Precios en alza</a:t>
                      </a:r>
                    </a:p>
                  </a:txBody>
                  <a:tcPr marL="73152" marR="73152" marT="36576" marB="36576" anchor="ctr">
                    <a:solidFill>
                      <a:srgbClr val="E6F4F2"/>
                    </a:solidFill>
                  </a:tcPr>
                </a:tc>
                <a:tc>
                  <a:txBody>
                    <a:bodyPr/>
                    <a:lstStyle/>
                    <a:p>
                      <a:r>
                        <a:rPr sz="1200" b="0" i="0">
                          <a:solidFill>
                            <a:srgbClr val="1F2937"/>
                          </a:solidFill>
                          <a:latin typeface="Calibri"/>
                        </a:rPr>
                        <a:t>Contar con PC y generación anterior</a:t>
                      </a:r>
                    </a:p>
                  </a:txBody>
                  <a:tcPr marL="73152" marR="73152" marT="36576" marB="36576" anchor="ctr">
                    <a:solidFill>
                      <a:srgbClr val="E6F4F2"/>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17</a:t>
            </a:r>
          </a:p>
        </p:txBody>
      </p:sp>
      <p:sp>
        <p:nvSpPr>
          <p:cNvPr id="5" name="TextBox 4"/>
          <p:cNvSpPr txBox="1"/>
          <p:nvPr/>
        </p:nvSpPr>
        <p:spPr>
          <a:xfrm>
            <a:off x="1005840" y="109728"/>
            <a:ext cx="10728655" cy="777240"/>
          </a:xfrm>
          <a:prstGeom prst="rect">
            <a:avLst/>
          </a:prstGeom>
          <a:noFill/>
        </p:spPr>
        <p:txBody>
          <a:bodyPr wrap="square" lIns="0" tIns="0" rIns="0" bIns="0" anchor="ctr">
            <a:spAutoFit/>
          </a:bodyPr>
          <a:lstStyle/>
          <a:p>
            <a:r>
              <a:rPr sz="1100" b="1" i="0">
                <a:solidFill>
                  <a:srgbClr val="99F6E4"/>
                </a:solidFill>
                <a:latin typeface="Calibri"/>
              </a:rPr>
              <a:t>ACTIVIDAD · GRUPOS DE 3</a:t>
            </a:r>
          </a:p>
          <a:p>
            <a:r>
              <a:rPr sz="2600" b="1" i="0">
                <a:solidFill>
                  <a:srgbClr val="FFFFFF"/>
                </a:solidFill>
                <a:latin typeface="Calibri"/>
              </a:rPr>
              <a:t>Actividad 2: Asteroides va a consola</a:t>
            </a:r>
          </a:p>
        </p:txBody>
      </p:sp>
      <p:sp>
        <p:nvSpPr>
          <p:cNvPr id="6" name="TextBox 5"/>
          <p:cNvSpPr txBox="1"/>
          <p:nvPr/>
        </p:nvSpPr>
        <p:spPr>
          <a:xfrm>
            <a:off x="502920" y="6473952"/>
            <a:ext cx="11185855" cy="274320"/>
          </a:xfrm>
          <a:prstGeom prst="rect">
            <a:avLst/>
          </a:prstGeom>
          <a:noFill/>
        </p:spPr>
        <p:txBody>
          <a:bodyPr wrap="square" lIns="0" tIns="0" rIns="0" bIns="0" anchor="ctr">
            <a:spAutoFit/>
          </a:bodyPr>
          <a:lstStyle/>
          <a:p>
            <a:r>
              <a:rPr sz="1000" b="0" i="0">
                <a:solidFill>
                  <a:srgbClr val="6B7280"/>
                </a:solidFill>
                <a:latin typeface="Calibri"/>
              </a:rPr>
              <a:t>Diseño según Plataformas de Juego · Unidad V · Clase 1 · La consola tiene dueño</a:t>
            </a:r>
          </a:p>
        </p:txBody>
      </p:sp>
      <p:sp>
        <p:nvSpPr>
          <p:cNvPr id="7" name="TextBox 6"/>
          <p:cNvSpPr txBox="1"/>
          <p:nvPr/>
        </p:nvSpPr>
        <p:spPr>
          <a:xfrm>
            <a:off x="10774375" y="6473952"/>
            <a:ext cx="914400" cy="274320"/>
          </a:xfrm>
          <a:prstGeom prst="rect">
            <a:avLst/>
          </a:prstGeom>
          <a:noFill/>
        </p:spPr>
        <p:txBody>
          <a:bodyPr wrap="square" lIns="0" tIns="0" rIns="0" bIns="0" anchor="ctr">
            <a:spAutoFit/>
          </a:bodyPr>
          <a:lstStyle/>
          <a:p>
            <a:pPr algn="r"/>
            <a:r>
              <a:rPr sz="1000" b="0" i="0">
                <a:solidFill>
                  <a:srgbClr val="6B7280"/>
                </a:solidFill>
                <a:latin typeface="Calibri"/>
              </a:rPr>
              <a:t>17/24</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r>
              <a:rPr sz="1300" b="1" i="0">
                <a:solidFill>
                  <a:srgbClr val="16A34A"/>
                </a:solidFill>
                <a:latin typeface="Calibri"/>
              </a:rPr>
              <a:t>ACTIVIDAD  </a:t>
            </a:r>
            <a:r>
              <a:rPr sz="1400" b="0" i="0">
                <a:solidFill>
                  <a:srgbClr val="1F2937"/>
                </a:solidFill>
                <a:latin typeface="Calibri"/>
              </a:rPr>
              <a:t>Elegir una consola con 3 datos y listar 3 cambios obligatorios</a:t>
            </a:r>
          </a:p>
        </p:txBody>
      </p:sp>
      <p:graphicFrame>
        <p:nvGraphicFramePr>
          <p:cNvPr id="10" name="Table 9"/>
          <p:cNvGraphicFramePr>
            <a:graphicFrameLocks noGrp="1"/>
          </p:cNvGraphicFramePr>
          <p:nvPr/>
        </p:nvGraphicFramePr>
        <p:xfrm>
          <a:off x="502920" y="1234440"/>
          <a:ext cx="11185853" cy="3401568"/>
        </p:xfrm>
        <a:graphic>
          <a:graphicData uri="http://schemas.openxmlformats.org/drawingml/2006/table">
            <a:tbl>
              <a:tblPr firstRow="1" bandRow="1">
                <a:tableStyleId>{5C22544A-7EE6-4342-B048-85BDC9FD1C3A}</a:tableStyleId>
              </a:tblPr>
              <a:tblGrid>
                <a:gridCol w="5220065">
                  <a:extLst>
                    <a:ext uri="{9D8B030D-6E8A-4147-A177-3AD203B41FA5}">
                      <a16:colId xmlns:a16="http://schemas.microsoft.com/office/drawing/2014/main" val="20000"/>
                    </a:ext>
                  </a:extLst>
                </a:gridCol>
                <a:gridCol w="1342302">
                  <a:extLst>
                    <a:ext uri="{9D8B030D-6E8A-4147-A177-3AD203B41FA5}">
                      <a16:colId xmlns:a16="http://schemas.microsoft.com/office/drawing/2014/main" val="20001"/>
                    </a:ext>
                  </a:extLst>
                </a:gridCol>
                <a:gridCol w="2535460">
                  <a:extLst>
                    <a:ext uri="{9D8B030D-6E8A-4147-A177-3AD203B41FA5}">
                      <a16:colId xmlns:a16="http://schemas.microsoft.com/office/drawing/2014/main" val="20002"/>
                    </a:ext>
                  </a:extLst>
                </a:gridCol>
                <a:gridCol w="2088026">
                  <a:extLst>
                    <a:ext uri="{9D8B030D-6E8A-4147-A177-3AD203B41FA5}">
                      <a16:colId xmlns:a16="http://schemas.microsoft.com/office/drawing/2014/main" val="20003"/>
                    </a:ext>
                  </a:extLst>
                </a:gridCol>
              </a:tblGrid>
              <a:tr h="566928">
                <a:tc>
                  <a:txBody>
                    <a:bodyPr/>
                    <a:lstStyle/>
                    <a:p>
                      <a:r>
                        <a:rPr sz="1400" b="1" i="0">
                          <a:solidFill>
                            <a:srgbClr val="FFFFFF"/>
                          </a:solidFill>
                          <a:latin typeface="Calibri"/>
                        </a:rPr>
                        <a:t>Criterio</a:t>
                      </a:r>
                    </a:p>
                  </a:txBody>
                  <a:tcPr marL="73152" marR="73152" marT="36576" marB="36576" anchor="ctr">
                    <a:solidFill>
                      <a:srgbClr val="0D9488"/>
                    </a:solidFill>
                  </a:tcPr>
                </a:tc>
                <a:tc>
                  <a:txBody>
                    <a:bodyPr/>
                    <a:lstStyle/>
                    <a:p>
                      <a:r>
                        <a:rPr sz="1400" b="1" i="0">
                          <a:solidFill>
                            <a:srgbClr val="FFFFFF"/>
                          </a:solidFill>
                          <a:latin typeface="Calibri"/>
                        </a:rPr>
                        <a:t>PS5</a:t>
                      </a:r>
                    </a:p>
                  </a:txBody>
                  <a:tcPr marL="73152" marR="73152" marT="36576" marB="36576" anchor="ctr">
                    <a:solidFill>
                      <a:srgbClr val="0D9488"/>
                    </a:solidFill>
                  </a:tcPr>
                </a:tc>
                <a:tc>
                  <a:txBody>
                    <a:bodyPr/>
                    <a:lstStyle/>
                    <a:p>
                      <a:r>
                        <a:rPr sz="1400" b="1" i="0">
                          <a:solidFill>
                            <a:srgbClr val="FFFFFF"/>
                          </a:solidFill>
                          <a:latin typeface="Calibri"/>
                        </a:rPr>
                        <a:t>Xbox Series</a:t>
                      </a:r>
                    </a:p>
                  </a:txBody>
                  <a:tcPr marL="73152" marR="73152" marT="36576" marB="36576" anchor="ctr">
                    <a:solidFill>
                      <a:srgbClr val="0D9488"/>
                    </a:solidFill>
                  </a:tcPr>
                </a:tc>
                <a:tc>
                  <a:txBody>
                    <a:bodyPr/>
                    <a:lstStyle/>
                    <a:p>
                      <a:r>
                        <a:rPr sz="1400" b="1" i="0">
                          <a:solidFill>
                            <a:srgbClr val="FFFFFF"/>
                          </a:solidFill>
                          <a:latin typeface="Calibri"/>
                        </a:rPr>
                        <a:t>Switch 2</a:t>
                      </a:r>
                    </a:p>
                  </a:txBody>
                  <a:tcPr marL="73152" marR="73152" marT="36576" marB="36576" anchor="ctr">
                    <a:solidFill>
                      <a:srgbClr val="0D9488"/>
                    </a:solidFill>
                  </a:tcPr>
                </a:tc>
                <a:extLst>
                  <a:ext uri="{0D108BD9-81ED-4DB2-BD59-A6C34878D82A}">
                    <a16:rowId xmlns:a16="http://schemas.microsoft.com/office/drawing/2014/main" val="10000"/>
                  </a:ext>
                </a:extLst>
              </a:tr>
              <a:tr h="566928">
                <a:tc>
                  <a:txBody>
                    <a:bodyPr/>
                    <a:lstStyle/>
                    <a:p>
                      <a:r>
                        <a:rPr sz="1400" b="0" i="0">
                          <a:solidFill>
                            <a:srgbClr val="1F2937"/>
                          </a:solidFill>
                          <a:latin typeface="Calibri"/>
                        </a:rPr>
                        <a:t>Base instalada (dato + fecha)</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1"/>
                  </a:ext>
                </a:extLst>
              </a:tr>
              <a:tr h="566928">
                <a:tc>
                  <a:txBody>
                    <a:bodyPr/>
                    <a:lstStyle/>
                    <a:p>
                      <a:r>
                        <a:rPr sz="1400" b="0" i="0">
                          <a:solidFill>
                            <a:srgbClr val="1F2937"/>
                          </a:solidFill>
                          <a:latin typeface="Calibri"/>
                        </a:rPr>
                        <a:t>Modelo más débil</a:t>
                      </a:r>
                    </a:p>
                  </a:txBody>
                  <a:tcPr marL="73152" marR="73152" marT="36576" marB="36576" anchor="ctr">
                    <a:solidFill>
                      <a:srgbClr val="E6F4F2"/>
                    </a:solidFill>
                  </a:tcPr>
                </a:tc>
                <a:tc>
                  <a:txBody>
                    <a:bodyPr/>
                    <a:lstStyle/>
                    <a:p>
                      <a:endParaRPr/>
                    </a:p>
                  </a:txBody>
                  <a:tcPr marL="73152" marR="73152" marT="36576" marB="36576" anchor="ctr">
                    <a:solidFill>
                      <a:srgbClr val="E6F4F2"/>
                    </a:solidFill>
                  </a:tcPr>
                </a:tc>
                <a:tc>
                  <a:txBody>
                    <a:bodyPr/>
                    <a:lstStyle/>
                    <a:p>
                      <a:endParaRPr/>
                    </a:p>
                  </a:txBody>
                  <a:tcPr marL="73152" marR="73152" marT="36576" marB="36576" anchor="ctr">
                    <a:solidFill>
                      <a:srgbClr val="E6F4F2"/>
                    </a:solidFill>
                  </a:tcPr>
                </a:tc>
                <a:tc>
                  <a:txBody>
                    <a:bodyPr/>
                    <a:lstStyle/>
                    <a:p>
                      <a:endParaRPr/>
                    </a:p>
                  </a:txBody>
                  <a:tcPr marL="73152" marR="73152" marT="36576" marB="36576" anchor="ctr">
                    <a:solidFill>
                      <a:srgbClr val="E6F4F2"/>
                    </a:solidFill>
                  </a:tcPr>
                </a:tc>
                <a:extLst>
                  <a:ext uri="{0D108BD9-81ED-4DB2-BD59-A6C34878D82A}">
                    <a16:rowId xmlns:a16="http://schemas.microsoft.com/office/drawing/2014/main" val="10002"/>
                  </a:ext>
                </a:extLst>
              </a:tr>
              <a:tr h="566928">
                <a:tc>
                  <a:txBody>
                    <a:bodyPr/>
                    <a:lstStyle/>
                    <a:p>
                      <a:r>
                        <a:rPr sz="1400" b="0" i="0">
                          <a:solidFill>
                            <a:srgbClr val="1F2937"/>
                          </a:solidFill>
                          <a:latin typeface="Calibri"/>
                        </a:rPr>
                        <a:t>Mando y UI</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3"/>
                  </a:ext>
                </a:extLst>
              </a:tr>
              <a:tr h="566928">
                <a:tc>
                  <a:txBody>
                    <a:bodyPr/>
                    <a:lstStyle/>
                    <a:p>
                      <a:r>
                        <a:rPr sz="1400" b="0" i="0">
                          <a:solidFill>
                            <a:srgbClr val="1F2937"/>
                          </a:solidFill>
                          <a:latin typeface="Calibri"/>
                        </a:rPr>
                        <a:t>Riesgo principal</a:t>
                      </a:r>
                    </a:p>
                  </a:txBody>
                  <a:tcPr marL="73152" marR="73152" marT="36576" marB="36576" anchor="ctr">
                    <a:solidFill>
                      <a:srgbClr val="E6F4F2"/>
                    </a:solidFill>
                  </a:tcPr>
                </a:tc>
                <a:tc>
                  <a:txBody>
                    <a:bodyPr/>
                    <a:lstStyle/>
                    <a:p>
                      <a:endParaRPr/>
                    </a:p>
                  </a:txBody>
                  <a:tcPr marL="73152" marR="73152" marT="36576" marB="36576" anchor="ctr">
                    <a:solidFill>
                      <a:srgbClr val="E6F4F2"/>
                    </a:solidFill>
                  </a:tcPr>
                </a:tc>
                <a:tc>
                  <a:txBody>
                    <a:bodyPr/>
                    <a:lstStyle/>
                    <a:p>
                      <a:endParaRPr/>
                    </a:p>
                  </a:txBody>
                  <a:tcPr marL="73152" marR="73152" marT="36576" marB="36576" anchor="ctr">
                    <a:solidFill>
                      <a:srgbClr val="E6F4F2"/>
                    </a:solidFill>
                  </a:tcPr>
                </a:tc>
                <a:tc>
                  <a:txBody>
                    <a:bodyPr/>
                    <a:lstStyle/>
                    <a:p>
                      <a:endParaRPr/>
                    </a:p>
                  </a:txBody>
                  <a:tcPr marL="73152" marR="73152" marT="36576" marB="36576" anchor="ctr">
                    <a:solidFill>
                      <a:srgbClr val="E6F4F2"/>
                    </a:solidFill>
                  </a:tcPr>
                </a:tc>
                <a:extLst>
                  <a:ext uri="{0D108BD9-81ED-4DB2-BD59-A6C34878D82A}">
                    <a16:rowId xmlns:a16="http://schemas.microsoft.com/office/drawing/2014/main" val="10004"/>
                  </a:ext>
                </a:extLst>
              </a:tr>
              <a:tr h="566928">
                <a:tc>
                  <a:txBody>
                    <a:bodyPr/>
                    <a:lstStyle/>
                    <a:p>
                      <a:r>
                        <a:rPr sz="1400" b="0" i="0">
                          <a:solidFill>
                            <a:srgbClr val="1F2937"/>
                          </a:solidFill>
                          <a:latin typeface="Calibri"/>
                        </a:rPr>
                        <a:t>Decisión del grupo</a:t>
                      </a: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tc>
                  <a:txBody>
                    <a:bodyPr/>
                    <a:lstStyle/>
                    <a:p>
                      <a:endParaRP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18</a:t>
            </a:r>
          </a:p>
        </p:txBody>
      </p:sp>
      <p:sp>
        <p:nvSpPr>
          <p:cNvPr id="5" name="TextBox 4"/>
          <p:cNvSpPr txBox="1"/>
          <p:nvPr/>
        </p:nvSpPr>
        <p:spPr>
          <a:xfrm>
            <a:off x="1005840" y="109728"/>
            <a:ext cx="10728655" cy="777240"/>
          </a:xfrm>
          <a:prstGeom prst="rect">
            <a:avLst/>
          </a:prstGeom>
          <a:noFill/>
        </p:spPr>
        <p:txBody>
          <a:bodyPr wrap="square" lIns="0" tIns="0" rIns="0" bIns="0" anchor="ctr">
            <a:spAutoFit/>
          </a:bodyPr>
          <a:lstStyle/>
          <a:p>
            <a:r>
              <a:rPr sz="1100" b="1" i="0">
                <a:solidFill>
                  <a:srgbClr val="99F6E4"/>
                </a:solidFill>
                <a:latin typeface="Calibri"/>
              </a:rPr>
              <a:t>PUESTA EN COMÚN</a:t>
            </a:r>
          </a:p>
          <a:p>
            <a:r>
              <a:rPr sz="2600" b="1" i="0">
                <a:solidFill>
                  <a:srgbClr val="FFFFFF"/>
                </a:solidFill>
                <a:latin typeface="Calibri"/>
              </a:rPr>
              <a:t>Qué NO resuelven estos datos</a:t>
            </a:r>
          </a:p>
        </p:txBody>
      </p:sp>
      <p:sp>
        <p:nvSpPr>
          <p:cNvPr id="6" name="TextBox 5"/>
          <p:cNvSpPr txBox="1"/>
          <p:nvPr/>
        </p:nvSpPr>
        <p:spPr>
          <a:xfrm>
            <a:off x="502920" y="6473952"/>
            <a:ext cx="11185855" cy="274320"/>
          </a:xfrm>
          <a:prstGeom prst="rect">
            <a:avLst/>
          </a:prstGeom>
          <a:noFill/>
        </p:spPr>
        <p:txBody>
          <a:bodyPr wrap="square" lIns="0" tIns="0" rIns="0" bIns="0" anchor="ctr">
            <a:spAutoFit/>
          </a:bodyPr>
          <a:lstStyle/>
          <a:p>
            <a:r>
              <a:rPr sz="1000" b="0" i="0">
                <a:solidFill>
                  <a:srgbClr val="6B7280"/>
                </a:solidFill>
                <a:latin typeface="Calibri"/>
              </a:rPr>
              <a:t>Diseño según Plataformas de Juego · Unidad V · Clase 1 · La consola tiene dueño</a:t>
            </a:r>
          </a:p>
        </p:txBody>
      </p:sp>
      <p:sp>
        <p:nvSpPr>
          <p:cNvPr id="7" name="TextBox 6"/>
          <p:cNvSpPr txBox="1"/>
          <p:nvPr/>
        </p:nvSpPr>
        <p:spPr>
          <a:xfrm>
            <a:off x="10774375" y="6473952"/>
            <a:ext cx="914400" cy="274320"/>
          </a:xfrm>
          <a:prstGeom prst="rect">
            <a:avLst/>
          </a:prstGeom>
          <a:noFill/>
        </p:spPr>
        <p:txBody>
          <a:bodyPr wrap="square" lIns="0" tIns="0" rIns="0" bIns="0" anchor="ctr">
            <a:spAutoFit/>
          </a:bodyPr>
          <a:lstStyle/>
          <a:p>
            <a:pPr algn="r"/>
            <a:r>
              <a:rPr sz="1000" b="0" i="0">
                <a:solidFill>
                  <a:srgbClr val="6B7280"/>
                </a:solidFill>
                <a:latin typeface="Calibri"/>
              </a:rPr>
              <a:t>18/24</a:t>
            </a:r>
          </a:p>
        </p:txBody>
      </p:sp>
      <p:sp>
        <p:nvSpPr>
          <p:cNvPr id="8" name="TextBox 7"/>
          <p:cNvSpPr txBox="1"/>
          <p:nvPr/>
        </p:nvSpPr>
        <p:spPr>
          <a:xfrm>
            <a:off x="502920" y="1234440"/>
            <a:ext cx="11185855" cy="4754880"/>
          </a:xfrm>
          <a:prstGeom prst="rect">
            <a:avLst/>
          </a:prstGeom>
          <a:noFill/>
        </p:spPr>
        <p:txBody>
          <a:bodyPr wrap="square" lIns="0" tIns="0" rIns="0" bIns="0" anchor="t">
            <a:spAutoFit/>
          </a:bodyPr>
          <a:lstStyle/>
          <a:p>
            <a:pPr>
              <a:spcAft>
                <a:spcPts val="800"/>
              </a:spcAft>
            </a:pPr>
            <a:r>
              <a:rPr sz="1600" b="1" i="0">
                <a:solidFill>
                  <a:srgbClr val="0D9488"/>
                </a:solidFill>
                <a:latin typeface="Calibri"/>
              </a:rPr>
              <a:t>■  </a:t>
            </a:r>
            <a:r>
              <a:rPr sz="2200" b="0" i="0">
                <a:solidFill>
                  <a:srgbClr val="1F2937"/>
                </a:solidFill>
                <a:latin typeface="Calibri"/>
              </a:rPr>
              <a:t>No dicen cuántos juegan tu género</a:t>
            </a:r>
          </a:p>
          <a:p>
            <a:pPr>
              <a:spcAft>
                <a:spcPts val="800"/>
              </a:spcAft>
            </a:pPr>
            <a:r>
              <a:rPr sz="1600" b="1" i="0">
                <a:solidFill>
                  <a:srgbClr val="0D9488"/>
                </a:solidFill>
                <a:latin typeface="Calibri"/>
              </a:rPr>
              <a:t>■  </a:t>
            </a:r>
            <a:r>
              <a:rPr sz="2200" b="0" i="0">
                <a:solidFill>
                  <a:srgbClr val="1F2937"/>
                </a:solidFill>
                <a:latin typeface="Calibri"/>
              </a:rPr>
              <a:t>No pronostican ventas de un indie</a:t>
            </a:r>
          </a:p>
          <a:p>
            <a:pPr>
              <a:spcAft>
                <a:spcPts val="800"/>
              </a:spcAft>
            </a:pPr>
            <a:r>
              <a:rPr sz="1600" b="1" i="0">
                <a:solidFill>
                  <a:srgbClr val="0D9488"/>
                </a:solidFill>
                <a:latin typeface="Calibri"/>
              </a:rPr>
              <a:t>■  </a:t>
            </a:r>
            <a:r>
              <a:rPr sz="2200" b="0" i="0">
                <a:solidFill>
                  <a:srgbClr val="1F2937"/>
                </a:solidFill>
                <a:latin typeface="Calibri"/>
              </a:rPr>
              <a:t>Certificación de Sony y Nintendo: NDA</a:t>
            </a:r>
          </a:p>
          <a:p>
            <a:pPr>
              <a:spcAft>
                <a:spcPts val="800"/>
              </a:spcAft>
            </a:pPr>
            <a:r>
              <a:rPr sz="1600" b="1" i="0">
                <a:solidFill>
                  <a:srgbClr val="0D9488"/>
                </a:solidFill>
                <a:latin typeface="Calibri"/>
              </a:rPr>
              <a:t>■  </a:t>
            </a:r>
            <a:r>
              <a:rPr sz="2200" b="0" i="0">
                <a:solidFill>
                  <a:srgbClr val="1F2937"/>
                </a:solidFill>
                <a:latin typeface="Calibri"/>
              </a:rPr>
              <a:t>Sin devkit, no se compila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19</a:t>
            </a:r>
          </a:p>
        </p:txBody>
      </p:sp>
      <p:sp>
        <p:nvSpPr>
          <p:cNvPr id="5" name="TextBox 4"/>
          <p:cNvSpPr txBox="1"/>
          <p:nvPr/>
        </p:nvSpPr>
        <p:spPr>
          <a:xfrm>
            <a:off x="1005840" y="109728"/>
            <a:ext cx="10728655" cy="777240"/>
          </a:xfrm>
          <a:prstGeom prst="rect">
            <a:avLst/>
          </a:prstGeom>
          <a:noFill/>
        </p:spPr>
        <p:txBody>
          <a:bodyPr wrap="square" lIns="0" tIns="0" rIns="0" bIns="0" anchor="ctr">
            <a:spAutoFit/>
          </a:bodyPr>
          <a:lstStyle/>
          <a:p>
            <a:r>
              <a:rPr sz="1100" b="1" i="0">
                <a:solidFill>
                  <a:srgbClr val="99F6E4"/>
                </a:solidFill>
                <a:latin typeface="Calibri"/>
              </a:rPr>
              <a:t>PUESTA EN COMÚN</a:t>
            </a:r>
          </a:p>
          <a:p>
            <a:r>
              <a:rPr sz="2600" b="1" i="0">
                <a:solidFill>
                  <a:srgbClr val="FFFFFF"/>
                </a:solidFill>
                <a:latin typeface="Calibri"/>
              </a:rPr>
              <a:t>Errores frecuentes</a:t>
            </a:r>
          </a:p>
        </p:txBody>
      </p:sp>
      <p:sp>
        <p:nvSpPr>
          <p:cNvPr id="6" name="TextBox 5"/>
          <p:cNvSpPr txBox="1"/>
          <p:nvPr/>
        </p:nvSpPr>
        <p:spPr>
          <a:xfrm>
            <a:off x="502920" y="6473952"/>
            <a:ext cx="11185855" cy="274320"/>
          </a:xfrm>
          <a:prstGeom prst="rect">
            <a:avLst/>
          </a:prstGeom>
          <a:noFill/>
        </p:spPr>
        <p:txBody>
          <a:bodyPr wrap="square" lIns="0" tIns="0" rIns="0" bIns="0" anchor="ctr">
            <a:spAutoFit/>
          </a:bodyPr>
          <a:lstStyle/>
          <a:p>
            <a:r>
              <a:rPr sz="1000" b="0" i="0">
                <a:solidFill>
                  <a:srgbClr val="6B7280"/>
                </a:solidFill>
                <a:latin typeface="Calibri"/>
              </a:rPr>
              <a:t>Diseño según Plataformas de Juego · Unidad V · Clase 1 · La consola tiene dueño</a:t>
            </a:r>
          </a:p>
        </p:txBody>
      </p:sp>
      <p:sp>
        <p:nvSpPr>
          <p:cNvPr id="7" name="TextBox 6"/>
          <p:cNvSpPr txBox="1"/>
          <p:nvPr/>
        </p:nvSpPr>
        <p:spPr>
          <a:xfrm>
            <a:off x="10774375" y="6473952"/>
            <a:ext cx="914400" cy="274320"/>
          </a:xfrm>
          <a:prstGeom prst="rect">
            <a:avLst/>
          </a:prstGeom>
          <a:noFill/>
        </p:spPr>
        <p:txBody>
          <a:bodyPr wrap="square" lIns="0" tIns="0" rIns="0" bIns="0" anchor="ctr">
            <a:spAutoFit/>
          </a:bodyPr>
          <a:lstStyle/>
          <a:p>
            <a:pPr algn="r"/>
            <a:r>
              <a:rPr sz="1000" b="0" i="0">
                <a:solidFill>
                  <a:srgbClr val="6B7280"/>
                </a:solidFill>
                <a:latin typeface="Calibri"/>
              </a:rPr>
              <a:t>19/24</a:t>
            </a:r>
          </a:p>
        </p:txBody>
      </p:sp>
      <p:graphicFrame>
        <p:nvGraphicFramePr>
          <p:cNvPr id="8" name="Table 7"/>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5326597">
                  <a:extLst>
                    <a:ext uri="{9D8B030D-6E8A-4147-A177-3AD203B41FA5}">
                      <a16:colId xmlns:a16="http://schemas.microsoft.com/office/drawing/2014/main" val="20000"/>
                    </a:ext>
                  </a:extLst>
                </a:gridCol>
                <a:gridCol w="5859257">
                  <a:extLst>
                    <a:ext uri="{9D8B030D-6E8A-4147-A177-3AD203B41FA5}">
                      <a16:colId xmlns:a16="http://schemas.microsoft.com/office/drawing/2014/main" val="20001"/>
                    </a:ext>
                  </a:extLst>
                </a:gridCol>
              </a:tblGrid>
              <a:tr h="566928">
                <a:tc>
                  <a:txBody>
                    <a:bodyPr/>
                    <a:lstStyle/>
                    <a:p>
                      <a:r>
                        <a:rPr sz="1200" b="1" i="0">
                          <a:solidFill>
                            <a:srgbClr val="FFFFFF"/>
                          </a:solidFill>
                          <a:latin typeface="Calibri"/>
                        </a:rPr>
                        <a:t>Error</a:t>
                      </a:r>
                    </a:p>
                  </a:txBody>
                  <a:tcPr marL="73152" marR="73152" marT="36576" marB="36576" anchor="ctr">
                    <a:solidFill>
                      <a:srgbClr val="0D9488"/>
                    </a:solidFill>
                  </a:tcPr>
                </a:tc>
                <a:tc>
                  <a:txBody>
                    <a:bodyPr/>
                    <a:lstStyle/>
                    <a:p>
                      <a:r>
                        <a:rPr sz="1200" b="1" i="0">
                          <a:solidFill>
                            <a:srgbClr val="FFFFFF"/>
                          </a:solidFill>
                          <a:latin typeface="Calibri"/>
                        </a:rPr>
                        <a:t>Corrección</a:t>
                      </a:r>
                    </a:p>
                  </a:txBody>
                  <a:tcPr marL="73152" marR="73152" marT="36576" marB="36576" anchor="ctr">
                    <a:solidFill>
                      <a:srgbClr val="0D9488"/>
                    </a:solidFill>
                  </a:tcPr>
                </a:tc>
                <a:extLst>
                  <a:ext uri="{0D108BD9-81ED-4DB2-BD59-A6C34878D82A}">
                    <a16:rowId xmlns:a16="http://schemas.microsoft.com/office/drawing/2014/main" val="10000"/>
                  </a:ext>
                </a:extLst>
              </a:tr>
              <a:tr h="566928">
                <a:tc>
                  <a:txBody>
                    <a:bodyPr/>
                    <a:lstStyle/>
                    <a:p>
                      <a:r>
                        <a:rPr sz="1200" b="0" i="0">
                          <a:solidFill>
                            <a:srgbClr val="1F2937"/>
                          </a:solidFill>
                          <a:latin typeface="Calibri"/>
                        </a:rPr>
                        <a:t>"Sell-in = consolas compradas"</a:t>
                      </a:r>
                    </a:p>
                  </a:txBody>
                  <a:tcPr marL="73152" marR="73152" marT="36576" marB="36576" anchor="ctr">
                    <a:solidFill>
                      <a:srgbClr val="FFFFFF"/>
                    </a:solidFill>
                  </a:tcPr>
                </a:tc>
                <a:tc>
                  <a:txBody>
                    <a:bodyPr/>
                    <a:lstStyle/>
                    <a:p>
                      <a:r>
                        <a:rPr sz="1200" b="0" i="0">
                          <a:solidFill>
                            <a:srgbClr val="1F2937"/>
                          </a:solidFill>
                          <a:latin typeface="Calibri"/>
                        </a:rPr>
                        <a:t>Son despachos a comercios</a:t>
                      </a:r>
                    </a:p>
                  </a:txBody>
                  <a:tcPr marL="73152" marR="73152" marT="36576" marB="36576" anchor="ctr">
                    <a:solidFill>
                      <a:srgbClr val="FFFFFF"/>
                    </a:solidFill>
                  </a:tcPr>
                </a:tc>
                <a:extLst>
                  <a:ext uri="{0D108BD9-81ED-4DB2-BD59-A6C34878D82A}">
                    <a16:rowId xmlns:a16="http://schemas.microsoft.com/office/drawing/2014/main" val="10001"/>
                  </a:ext>
                </a:extLst>
              </a:tr>
              <a:tr h="566928">
                <a:tc>
                  <a:txBody>
                    <a:bodyPr/>
                    <a:lstStyle/>
                    <a:p>
                      <a:r>
                        <a:rPr sz="1200" b="0" i="0">
                          <a:solidFill>
                            <a:srgbClr val="1F2937"/>
                          </a:solidFill>
                          <a:latin typeface="Calibri"/>
                        </a:rPr>
                        <a:t>"La que más vendió es la mejor"</a:t>
                      </a:r>
                    </a:p>
                  </a:txBody>
                  <a:tcPr marL="73152" marR="73152" marT="36576" marB="36576" anchor="ctr">
                    <a:solidFill>
                      <a:srgbClr val="E6F4F2"/>
                    </a:solidFill>
                  </a:tcPr>
                </a:tc>
                <a:tc>
                  <a:txBody>
                    <a:bodyPr/>
                    <a:lstStyle/>
                    <a:p>
                      <a:r>
                        <a:rPr sz="1200" b="0" i="0">
                          <a:solidFill>
                            <a:srgbClr val="1F2937"/>
                          </a:solidFill>
                          <a:latin typeface="Calibri"/>
                        </a:rPr>
                        <a:t>Importa tu público y el costo del port</a:t>
                      </a:r>
                    </a:p>
                  </a:txBody>
                  <a:tcPr marL="73152" marR="73152" marT="36576" marB="36576" anchor="ctr">
                    <a:solidFill>
                      <a:srgbClr val="E6F4F2"/>
                    </a:solidFill>
                  </a:tcPr>
                </a:tc>
                <a:extLst>
                  <a:ext uri="{0D108BD9-81ED-4DB2-BD59-A6C34878D82A}">
                    <a16:rowId xmlns:a16="http://schemas.microsoft.com/office/drawing/2014/main" val="10002"/>
                  </a:ext>
                </a:extLst>
              </a:tr>
              <a:tr h="566928">
                <a:tc>
                  <a:txBody>
                    <a:bodyPr/>
                    <a:lstStyle/>
                    <a:p>
                      <a:r>
                        <a:rPr sz="1200" b="0" i="0">
                          <a:solidFill>
                            <a:srgbClr val="1F2937"/>
                          </a:solidFill>
                          <a:latin typeface="Calibri"/>
                        </a:rPr>
                        <a:t>"PS5 pierde contra PS2"</a:t>
                      </a:r>
                    </a:p>
                  </a:txBody>
                  <a:tcPr marL="73152" marR="73152" marT="36576" marB="36576" anchor="ctr">
                    <a:solidFill>
                      <a:srgbClr val="FFFFFF"/>
                    </a:solidFill>
                  </a:tcPr>
                </a:tc>
                <a:tc>
                  <a:txBody>
                    <a:bodyPr/>
                    <a:lstStyle/>
                    <a:p>
                      <a:r>
                        <a:rPr sz="1200" b="0" i="0">
                          <a:solidFill>
                            <a:srgbClr val="1F2937"/>
                          </a:solidFill>
                          <a:latin typeface="Calibri"/>
                        </a:rPr>
                        <a:t>Comparar por años desde el lanzamiento</a:t>
                      </a:r>
                    </a:p>
                  </a:txBody>
                  <a:tcPr marL="73152" marR="73152" marT="36576" marB="36576" anchor="ctr">
                    <a:solidFill>
                      <a:srgbClr val="FFFFFF"/>
                    </a:solidFill>
                  </a:tcPr>
                </a:tc>
                <a:extLst>
                  <a:ext uri="{0D108BD9-81ED-4DB2-BD59-A6C34878D82A}">
                    <a16:rowId xmlns:a16="http://schemas.microsoft.com/office/drawing/2014/main" val="10003"/>
                  </a:ext>
                </a:extLst>
              </a:tr>
              <a:tr h="566928">
                <a:tc>
                  <a:txBody>
                    <a:bodyPr/>
                    <a:lstStyle/>
                    <a:p>
                      <a:r>
                        <a:rPr sz="1200" b="0" i="0">
                          <a:solidFill>
                            <a:srgbClr val="1F2937"/>
                          </a:solidFill>
                          <a:latin typeface="Calibri"/>
                        </a:rPr>
                        <a:t>"Xbox no vende"</a:t>
                      </a:r>
                    </a:p>
                  </a:txBody>
                  <a:tcPr marL="73152" marR="73152" marT="36576" marB="36576" anchor="ctr">
                    <a:solidFill>
                      <a:srgbClr val="E6F4F2"/>
                    </a:solidFill>
                  </a:tcPr>
                </a:tc>
                <a:tc>
                  <a:txBody>
                    <a:bodyPr/>
                    <a:lstStyle/>
                    <a:p>
                      <a:r>
                        <a:rPr sz="1200" b="0" i="0">
                          <a:solidFill>
                            <a:srgbClr val="1F2937"/>
                          </a:solidFill>
                          <a:latin typeface="Calibri"/>
                        </a:rPr>
                        <a:t>No publica: sin dato ≠ cero</a:t>
                      </a:r>
                    </a:p>
                  </a:txBody>
                  <a:tcPr marL="73152" marR="73152" marT="36576" marB="36576" anchor="ctr">
                    <a:solidFill>
                      <a:srgbClr val="E6F4F2"/>
                    </a:solidFill>
                  </a:tcPr>
                </a:tc>
                <a:extLst>
                  <a:ext uri="{0D108BD9-81ED-4DB2-BD59-A6C34878D82A}">
                    <a16:rowId xmlns:a16="http://schemas.microsoft.com/office/drawing/2014/main" val="10004"/>
                  </a:ext>
                </a:extLst>
              </a:tr>
              <a:tr h="566928">
                <a:tc>
                  <a:txBody>
                    <a:bodyPr/>
                    <a:lstStyle/>
                    <a:p>
                      <a:r>
                        <a:rPr sz="1200" b="0" i="0">
                          <a:solidFill>
                            <a:srgbClr val="1F2937"/>
                          </a:solidFill>
                          <a:latin typeface="Calibri"/>
                        </a:rPr>
                        <a:t>"Si corre en Series X, corre en S"</a:t>
                      </a:r>
                    </a:p>
                  </a:txBody>
                  <a:tcPr marL="73152" marR="73152" marT="36576" marB="36576" anchor="ctr">
                    <a:solidFill>
                      <a:srgbClr val="FFFFFF"/>
                    </a:solidFill>
                  </a:tcPr>
                </a:tc>
                <a:tc>
                  <a:txBody>
                    <a:bodyPr/>
                    <a:lstStyle/>
                    <a:p>
                      <a:r>
                        <a:rPr sz="1200" b="0" i="0">
                          <a:solidFill>
                            <a:srgbClr val="1F2937"/>
                          </a:solidFill>
                          <a:latin typeface="Calibri"/>
                        </a:rPr>
                        <a:t>El piso lo fija la más débil</a:t>
                      </a:r>
                    </a:p>
                  </a:txBody>
                  <a:tcPr marL="73152" marR="73152" marT="36576" marB="36576" anchor="ctr">
                    <a:solidFill>
                      <a:srgbClr val="FFFFFF"/>
                    </a:solidFill>
                  </a:tcPr>
                </a:tc>
                <a:extLst>
                  <a:ext uri="{0D108BD9-81ED-4DB2-BD59-A6C34878D82A}">
                    <a16:rowId xmlns:a16="http://schemas.microsoft.com/office/drawing/2014/main" val="10005"/>
                  </a:ext>
                </a:extLst>
              </a:tr>
              <a:tr h="566928">
                <a:tc>
                  <a:txBody>
                    <a:bodyPr/>
                    <a:lstStyle/>
                    <a:p>
                      <a:r>
                        <a:rPr sz="1200" b="0" i="0">
                          <a:solidFill>
                            <a:srgbClr val="1F2937"/>
                          </a:solidFill>
                          <a:latin typeface="Calibri"/>
                        </a:rPr>
                        <a:t>"Las consolas bajan de precio"</a:t>
                      </a:r>
                    </a:p>
                  </a:txBody>
                  <a:tcPr marL="73152" marR="73152" marT="36576" marB="36576" anchor="ctr">
                    <a:solidFill>
                      <a:srgbClr val="E6F4F2"/>
                    </a:solidFill>
                  </a:tcPr>
                </a:tc>
                <a:tc>
                  <a:txBody>
                    <a:bodyPr/>
                    <a:lstStyle/>
                    <a:p>
                      <a:r>
                        <a:rPr sz="1200" b="0" i="0">
                          <a:solidFill>
                            <a:srgbClr val="1F2937"/>
                          </a:solidFill>
                          <a:latin typeface="Calibri"/>
                        </a:rPr>
                        <a:t>En 2026, las tres suben</a:t>
                      </a:r>
                    </a:p>
                  </a:txBody>
                  <a:tcPr marL="73152" marR="73152" marT="36576" marB="36576" anchor="ctr">
                    <a:solidFill>
                      <a:srgbClr val="E6F4F2"/>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20</a:t>
            </a:r>
          </a:p>
        </p:txBody>
      </p:sp>
      <p:sp>
        <p:nvSpPr>
          <p:cNvPr id="5" name="TextBox 4"/>
          <p:cNvSpPr txBox="1"/>
          <p:nvPr/>
        </p:nvSpPr>
        <p:spPr>
          <a:xfrm>
            <a:off x="1005840" y="109728"/>
            <a:ext cx="10728655" cy="777240"/>
          </a:xfrm>
          <a:prstGeom prst="rect">
            <a:avLst/>
          </a:prstGeom>
          <a:noFill/>
        </p:spPr>
        <p:txBody>
          <a:bodyPr wrap="square" lIns="0" tIns="0" rIns="0" bIns="0" anchor="ctr">
            <a:spAutoFit/>
          </a:bodyPr>
          <a:lstStyle/>
          <a:p>
            <a:r>
              <a:rPr sz="1100" b="1" i="0">
                <a:solidFill>
                  <a:srgbClr val="99F6E4"/>
                </a:solidFill>
                <a:latin typeface="Calibri"/>
              </a:rPr>
              <a:t>CIERRE</a:t>
            </a:r>
          </a:p>
          <a:p>
            <a:r>
              <a:rPr sz="2600" b="1" i="0">
                <a:solidFill>
                  <a:srgbClr val="FFFFFF"/>
                </a:solidFill>
                <a:latin typeface="Calibri"/>
              </a:rPr>
              <a:t>Cierre</a:t>
            </a:r>
          </a:p>
        </p:txBody>
      </p:sp>
      <p:sp>
        <p:nvSpPr>
          <p:cNvPr id="6" name="TextBox 5"/>
          <p:cNvSpPr txBox="1"/>
          <p:nvPr/>
        </p:nvSpPr>
        <p:spPr>
          <a:xfrm>
            <a:off x="502920" y="6473952"/>
            <a:ext cx="11185855" cy="274320"/>
          </a:xfrm>
          <a:prstGeom prst="rect">
            <a:avLst/>
          </a:prstGeom>
          <a:noFill/>
        </p:spPr>
        <p:txBody>
          <a:bodyPr wrap="square" lIns="0" tIns="0" rIns="0" bIns="0" anchor="ctr">
            <a:spAutoFit/>
          </a:bodyPr>
          <a:lstStyle/>
          <a:p>
            <a:r>
              <a:rPr sz="1000" b="0" i="0">
                <a:solidFill>
                  <a:srgbClr val="6B7280"/>
                </a:solidFill>
                <a:latin typeface="Calibri"/>
              </a:rPr>
              <a:t>Diseño según Plataformas de Juego · Unidad V · Clase 1 · La consola tiene dueño</a:t>
            </a:r>
          </a:p>
        </p:txBody>
      </p:sp>
      <p:sp>
        <p:nvSpPr>
          <p:cNvPr id="7" name="TextBox 6"/>
          <p:cNvSpPr txBox="1"/>
          <p:nvPr/>
        </p:nvSpPr>
        <p:spPr>
          <a:xfrm>
            <a:off x="10774375" y="6473952"/>
            <a:ext cx="914400" cy="274320"/>
          </a:xfrm>
          <a:prstGeom prst="rect">
            <a:avLst/>
          </a:prstGeom>
          <a:noFill/>
        </p:spPr>
        <p:txBody>
          <a:bodyPr wrap="square" lIns="0" tIns="0" rIns="0" bIns="0" anchor="ctr">
            <a:spAutoFit/>
          </a:bodyPr>
          <a:lstStyle/>
          <a:p>
            <a:pPr algn="r"/>
            <a:r>
              <a:rPr sz="1000" b="0" i="0">
                <a:solidFill>
                  <a:srgbClr val="6B7280"/>
                </a:solidFill>
                <a:latin typeface="Calibri"/>
              </a:rPr>
              <a:t>20/24</a:t>
            </a:r>
          </a:p>
        </p:txBody>
      </p:sp>
      <p:sp>
        <p:nvSpPr>
          <p:cNvPr id="8" name="TextBox 7"/>
          <p:cNvSpPr txBox="1"/>
          <p:nvPr/>
        </p:nvSpPr>
        <p:spPr>
          <a:xfrm>
            <a:off x="502920" y="1234440"/>
            <a:ext cx="11185855" cy="4754880"/>
          </a:xfrm>
          <a:prstGeom prst="rect">
            <a:avLst/>
          </a:prstGeom>
          <a:noFill/>
        </p:spPr>
        <p:txBody>
          <a:bodyPr wrap="square" lIns="0" tIns="0" rIns="0" bIns="0" anchor="t">
            <a:spAutoFit/>
          </a:bodyPr>
          <a:lstStyle/>
          <a:p>
            <a:pPr>
              <a:spcAft>
                <a:spcPts val="800"/>
              </a:spcAft>
            </a:pPr>
            <a:r>
              <a:rPr sz="1600" b="1" i="0">
                <a:solidFill>
                  <a:srgbClr val="0D9488"/>
                </a:solidFill>
                <a:latin typeface="Calibri"/>
              </a:rPr>
              <a:t>■  </a:t>
            </a:r>
            <a:r>
              <a:rPr sz="2200" b="0" i="0">
                <a:solidFill>
                  <a:srgbClr val="1F2937"/>
                </a:solidFill>
                <a:latin typeface="Calibri"/>
              </a:rPr>
              <a:t>La consola tiene dueño y reglas</a:t>
            </a:r>
          </a:p>
          <a:p>
            <a:pPr>
              <a:spcAft>
                <a:spcPts val="800"/>
              </a:spcAft>
            </a:pPr>
            <a:r>
              <a:rPr sz="1600" b="1" i="0">
                <a:solidFill>
                  <a:srgbClr val="0D9488"/>
                </a:solidFill>
                <a:latin typeface="Calibri"/>
              </a:rPr>
              <a:t>■  </a:t>
            </a:r>
            <a:r>
              <a:rPr sz="2200" b="0" i="0">
                <a:solidFill>
                  <a:srgbClr val="1F2937"/>
                </a:solidFill>
                <a:latin typeface="Calibri"/>
              </a:rPr>
              <a:t>Datos con fuente y fecha</a:t>
            </a:r>
          </a:p>
          <a:p>
            <a:pPr>
              <a:spcAft>
                <a:spcPts val="800"/>
              </a:spcAft>
            </a:pPr>
            <a:r>
              <a:rPr sz="1600" b="1" i="0">
                <a:solidFill>
                  <a:srgbClr val="0D9488"/>
                </a:solidFill>
                <a:latin typeface="Calibri"/>
              </a:rPr>
              <a:t>■  </a:t>
            </a:r>
            <a:r>
              <a:rPr sz="2200" b="0" i="0">
                <a:solidFill>
                  <a:srgbClr val="1F2937"/>
                </a:solidFill>
                <a:latin typeface="Calibri"/>
              </a:rPr>
              <a:t>El piso: el modelo más débil</a:t>
            </a:r>
          </a:p>
          <a:p>
            <a:pPr>
              <a:spcAft>
                <a:spcPts val="800"/>
              </a:spcAft>
            </a:pPr>
            <a:r>
              <a:rPr sz="1600" b="1" i="0">
                <a:solidFill>
                  <a:srgbClr val="0D9488"/>
                </a:solidFill>
                <a:latin typeface="Calibri"/>
              </a:rPr>
              <a:t>■  </a:t>
            </a:r>
            <a:r>
              <a:rPr sz="2200" b="0" i="0">
                <a:solidFill>
                  <a:srgbClr val="1F2937"/>
                </a:solidFill>
                <a:latin typeface="Calibri"/>
              </a:rPr>
              <a:t>Más adelante: certificación y mandos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21</a:t>
            </a:r>
          </a:p>
        </p:txBody>
      </p:sp>
      <p:sp>
        <p:nvSpPr>
          <p:cNvPr id="5" name="TextBox 4"/>
          <p:cNvSpPr txBox="1"/>
          <p:nvPr/>
        </p:nvSpPr>
        <p:spPr>
          <a:xfrm>
            <a:off x="1005840" y="109728"/>
            <a:ext cx="10728655" cy="777240"/>
          </a:xfrm>
          <a:prstGeom prst="rect">
            <a:avLst/>
          </a:prstGeom>
          <a:noFill/>
        </p:spPr>
        <p:txBody>
          <a:bodyPr wrap="square" lIns="0" tIns="0" rIns="0" bIns="0" anchor="ctr">
            <a:spAutoFit/>
          </a:bodyPr>
          <a:lstStyle/>
          <a:p>
            <a:r>
              <a:rPr sz="1100" b="1" i="0">
                <a:solidFill>
                  <a:srgbClr val="99F6E4"/>
                </a:solidFill>
                <a:latin typeface="Calibri"/>
              </a:rPr>
              <a:t>ANEXO · CONSULTA</a:t>
            </a:r>
          </a:p>
          <a:p>
            <a:r>
              <a:rPr sz="2600" b="1" i="0">
                <a:solidFill>
                  <a:srgbClr val="FFFFFF"/>
                </a:solidFill>
                <a:latin typeface="Calibri"/>
              </a:rPr>
              <a:t>Ventas de vida: tabla completa</a:t>
            </a:r>
          </a:p>
        </p:txBody>
      </p:sp>
      <p:sp>
        <p:nvSpPr>
          <p:cNvPr id="6" name="TextBox 5"/>
          <p:cNvSpPr txBox="1"/>
          <p:nvPr/>
        </p:nvSpPr>
        <p:spPr>
          <a:xfrm>
            <a:off x="502920" y="6473952"/>
            <a:ext cx="11185855" cy="274320"/>
          </a:xfrm>
          <a:prstGeom prst="rect">
            <a:avLst/>
          </a:prstGeom>
          <a:noFill/>
        </p:spPr>
        <p:txBody>
          <a:bodyPr wrap="square" lIns="0" tIns="0" rIns="0" bIns="0" anchor="ctr">
            <a:spAutoFit/>
          </a:bodyPr>
          <a:lstStyle/>
          <a:p>
            <a:r>
              <a:rPr sz="1000" b="0" i="0">
                <a:solidFill>
                  <a:srgbClr val="6B7280"/>
                </a:solidFill>
                <a:latin typeface="Calibri"/>
              </a:rPr>
              <a:t>Diseño según Plataformas de Juego · Unidad V · Anexo · Anexo: datos y fuentes</a:t>
            </a:r>
          </a:p>
        </p:txBody>
      </p:sp>
      <p:sp>
        <p:nvSpPr>
          <p:cNvPr id="7" name="TextBox 6"/>
          <p:cNvSpPr txBox="1"/>
          <p:nvPr/>
        </p:nvSpPr>
        <p:spPr>
          <a:xfrm>
            <a:off x="10774375" y="6473952"/>
            <a:ext cx="914400" cy="274320"/>
          </a:xfrm>
          <a:prstGeom prst="rect">
            <a:avLst/>
          </a:prstGeom>
          <a:noFill/>
        </p:spPr>
        <p:txBody>
          <a:bodyPr wrap="square" lIns="0" tIns="0" rIns="0" bIns="0" anchor="ctr">
            <a:spAutoFit/>
          </a:bodyPr>
          <a:lstStyle/>
          <a:p>
            <a:pPr algn="r"/>
            <a:r>
              <a:rPr sz="1000" b="0" i="0">
                <a:solidFill>
                  <a:srgbClr val="6B7280"/>
                </a:solidFill>
                <a:latin typeface="Calibri"/>
              </a:rPr>
              <a:t>21/24</a:t>
            </a:r>
          </a:p>
        </p:txBody>
      </p:sp>
      <p:sp>
        <p:nvSpPr>
          <p:cNvPr id="8" name="TextBox 7"/>
          <p:cNvSpPr txBox="1"/>
          <p:nvPr/>
        </p:nvSpPr>
        <p:spPr>
          <a:xfrm>
            <a:off x="502920" y="1234440"/>
            <a:ext cx="5432907" cy="365760"/>
          </a:xfrm>
          <a:prstGeom prst="rect">
            <a:avLst/>
          </a:prstGeom>
          <a:noFill/>
        </p:spPr>
        <p:txBody>
          <a:bodyPr wrap="square" lIns="0" tIns="0" rIns="0" bIns="0" anchor="ctr">
            <a:spAutoFit/>
          </a:bodyPr>
          <a:lstStyle/>
          <a:p>
            <a:r>
              <a:rPr sz="1500" b="1" i="0">
                <a:solidFill>
                  <a:srgbClr val="1F2A44"/>
                </a:solidFill>
                <a:latin typeface="Calibri"/>
              </a:rPr>
              <a:t>Nintendo (al 30-jun-2026)</a:t>
            </a:r>
          </a:p>
        </p:txBody>
      </p:sp>
      <p:graphicFrame>
        <p:nvGraphicFramePr>
          <p:cNvPr id="9" name="Table 8"/>
          <p:cNvGraphicFramePr>
            <a:graphicFrameLocks noGrp="1"/>
          </p:cNvGraphicFramePr>
          <p:nvPr/>
        </p:nvGraphicFramePr>
        <p:xfrm>
          <a:off x="502920" y="1600200"/>
          <a:ext cx="5432905" cy="4389112"/>
        </p:xfrm>
        <a:graphic>
          <a:graphicData uri="http://schemas.openxmlformats.org/drawingml/2006/table">
            <a:tbl>
              <a:tblPr firstRow="1" bandRow="1">
                <a:tableStyleId>{5C22544A-7EE6-4342-B048-85BDC9FD1C3A}</a:tableStyleId>
              </a:tblPr>
              <a:tblGrid>
                <a:gridCol w="2825111">
                  <a:extLst>
                    <a:ext uri="{9D8B030D-6E8A-4147-A177-3AD203B41FA5}">
                      <a16:colId xmlns:a16="http://schemas.microsoft.com/office/drawing/2014/main" val="20000"/>
                    </a:ext>
                  </a:extLst>
                </a:gridCol>
                <a:gridCol w="1086581">
                  <a:extLst>
                    <a:ext uri="{9D8B030D-6E8A-4147-A177-3AD203B41FA5}">
                      <a16:colId xmlns:a16="http://schemas.microsoft.com/office/drawing/2014/main" val="20001"/>
                    </a:ext>
                  </a:extLst>
                </a:gridCol>
                <a:gridCol w="1521213">
                  <a:extLst>
                    <a:ext uri="{9D8B030D-6E8A-4147-A177-3AD203B41FA5}">
                      <a16:colId xmlns:a16="http://schemas.microsoft.com/office/drawing/2014/main" val="20002"/>
                    </a:ext>
                  </a:extLst>
                </a:gridCol>
              </a:tblGrid>
              <a:tr h="337624">
                <a:tc>
                  <a:txBody>
                    <a:bodyPr/>
                    <a:lstStyle/>
                    <a:p>
                      <a:r>
                        <a:rPr sz="1200" b="1" i="0">
                          <a:solidFill>
                            <a:srgbClr val="FFFFFF"/>
                          </a:solidFill>
                          <a:latin typeface="Calibri"/>
                        </a:rPr>
                        <a:t>Consola</a:t>
                      </a:r>
                    </a:p>
                  </a:txBody>
                  <a:tcPr marL="73152" marR="73152" marT="36576" marB="36576" anchor="ctr">
                    <a:solidFill>
                      <a:srgbClr val="0D9488"/>
                    </a:solidFill>
                  </a:tcPr>
                </a:tc>
                <a:tc>
                  <a:txBody>
                    <a:bodyPr/>
                    <a:lstStyle/>
                    <a:p>
                      <a:r>
                        <a:rPr sz="1200" b="1" i="0">
                          <a:solidFill>
                            <a:srgbClr val="FFFFFF"/>
                          </a:solidFill>
                          <a:latin typeface="Calibri"/>
                        </a:rPr>
                        <a:t>Año</a:t>
                      </a:r>
                    </a:p>
                  </a:txBody>
                  <a:tcPr marL="73152" marR="73152" marT="36576" marB="36576" anchor="ctr">
                    <a:solidFill>
                      <a:srgbClr val="0D9488"/>
                    </a:solidFill>
                  </a:tcPr>
                </a:tc>
                <a:tc>
                  <a:txBody>
                    <a:bodyPr/>
                    <a:lstStyle/>
                    <a:p>
                      <a:r>
                        <a:rPr sz="1200" b="1" i="0">
                          <a:solidFill>
                            <a:srgbClr val="FFFFFF"/>
                          </a:solidFill>
                          <a:latin typeface="Calibri"/>
                        </a:rPr>
                        <a:t>Millones</a:t>
                      </a:r>
                    </a:p>
                  </a:txBody>
                  <a:tcPr marL="73152" marR="73152" marT="36576" marB="36576" anchor="ctr">
                    <a:solidFill>
                      <a:srgbClr val="0D9488"/>
                    </a:solidFill>
                  </a:tcPr>
                </a:tc>
                <a:extLst>
                  <a:ext uri="{0D108BD9-81ED-4DB2-BD59-A6C34878D82A}">
                    <a16:rowId xmlns:a16="http://schemas.microsoft.com/office/drawing/2014/main" val="10000"/>
                  </a:ext>
                </a:extLst>
              </a:tr>
              <a:tr h="337624">
                <a:tc>
                  <a:txBody>
                    <a:bodyPr/>
                    <a:lstStyle/>
                    <a:p>
                      <a:r>
                        <a:rPr sz="1200" b="0" i="0">
                          <a:solidFill>
                            <a:srgbClr val="1F2937"/>
                          </a:solidFill>
                          <a:latin typeface="Calibri"/>
                        </a:rPr>
                        <a:t>Switch (en venta)</a:t>
                      </a:r>
                    </a:p>
                  </a:txBody>
                  <a:tcPr marL="73152" marR="73152" marT="36576" marB="36576" anchor="ctr">
                    <a:solidFill>
                      <a:srgbClr val="FFFFFF"/>
                    </a:solidFill>
                  </a:tcPr>
                </a:tc>
                <a:tc>
                  <a:txBody>
                    <a:bodyPr/>
                    <a:lstStyle/>
                    <a:p>
                      <a:r>
                        <a:rPr sz="1200" b="0" i="0">
                          <a:solidFill>
                            <a:srgbClr val="1F2937"/>
                          </a:solidFill>
                          <a:latin typeface="Calibri"/>
                        </a:rPr>
                        <a:t>2017</a:t>
                      </a:r>
                    </a:p>
                  </a:txBody>
                  <a:tcPr marL="73152" marR="73152" marT="36576" marB="36576" anchor="ctr">
                    <a:solidFill>
                      <a:srgbClr val="FFFFFF"/>
                    </a:solidFill>
                  </a:tcPr>
                </a:tc>
                <a:tc>
                  <a:txBody>
                    <a:bodyPr/>
                    <a:lstStyle/>
                    <a:p>
                      <a:r>
                        <a:rPr sz="1200" b="0" i="0">
                          <a:solidFill>
                            <a:srgbClr val="1F2937"/>
                          </a:solidFill>
                          <a:latin typeface="Calibri"/>
                        </a:rPr>
                        <a:t>156,59</a:t>
                      </a:r>
                    </a:p>
                  </a:txBody>
                  <a:tcPr marL="73152" marR="73152" marT="36576" marB="36576" anchor="ctr">
                    <a:solidFill>
                      <a:srgbClr val="FFFFFF"/>
                    </a:solidFill>
                  </a:tcPr>
                </a:tc>
                <a:extLst>
                  <a:ext uri="{0D108BD9-81ED-4DB2-BD59-A6C34878D82A}">
                    <a16:rowId xmlns:a16="http://schemas.microsoft.com/office/drawing/2014/main" val="10001"/>
                  </a:ext>
                </a:extLst>
              </a:tr>
              <a:tr h="337624">
                <a:tc>
                  <a:txBody>
                    <a:bodyPr/>
                    <a:lstStyle/>
                    <a:p>
                      <a:r>
                        <a:rPr sz="1200" b="0" i="0">
                          <a:solidFill>
                            <a:srgbClr val="1F2937"/>
                          </a:solidFill>
                          <a:latin typeface="Calibri"/>
                        </a:rPr>
                        <a:t>DS</a:t>
                      </a:r>
                    </a:p>
                  </a:txBody>
                  <a:tcPr marL="73152" marR="73152" marT="36576" marB="36576" anchor="ctr">
                    <a:solidFill>
                      <a:srgbClr val="E6F4F2"/>
                    </a:solidFill>
                  </a:tcPr>
                </a:tc>
                <a:tc>
                  <a:txBody>
                    <a:bodyPr/>
                    <a:lstStyle/>
                    <a:p>
                      <a:r>
                        <a:rPr sz="1200" b="0" i="0">
                          <a:solidFill>
                            <a:srgbClr val="1F2937"/>
                          </a:solidFill>
                          <a:latin typeface="Calibri"/>
                        </a:rPr>
                        <a:t>2004</a:t>
                      </a:r>
                    </a:p>
                  </a:txBody>
                  <a:tcPr marL="73152" marR="73152" marT="36576" marB="36576" anchor="ctr">
                    <a:solidFill>
                      <a:srgbClr val="E6F4F2"/>
                    </a:solidFill>
                  </a:tcPr>
                </a:tc>
                <a:tc>
                  <a:txBody>
                    <a:bodyPr/>
                    <a:lstStyle/>
                    <a:p>
                      <a:r>
                        <a:rPr sz="1200" b="0" i="0">
                          <a:solidFill>
                            <a:srgbClr val="1F2937"/>
                          </a:solidFill>
                          <a:latin typeface="Calibri"/>
                        </a:rPr>
                        <a:t>154,02</a:t>
                      </a:r>
                    </a:p>
                  </a:txBody>
                  <a:tcPr marL="73152" marR="73152" marT="36576" marB="36576" anchor="ctr">
                    <a:solidFill>
                      <a:srgbClr val="E6F4F2"/>
                    </a:solidFill>
                  </a:tcPr>
                </a:tc>
                <a:extLst>
                  <a:ext uri="{0D108BD9-81ED-4DB2-BD59-A6C34878D82A}">
                    <a16:rowId xmlns:a16="http://schemas.microsoft.com/office/drawing/2014/main" val="10002"/>
                  </a:ext>
                </a:extLst>
              </a:tr>
              <a:tr h="337624">
                <a:tc>
                  <a:txBody>
                    <a:bodyPr/>
                    <a:lstStyle/>
                    <a:p>
                      <a:r>
                        <a:rPr sz="1200" b="0" i="0">
                          <a:solidFill>
                            <a:srgbClr val="1F2937"/>
                          </a:solidFill>
                          <a:latin typeface="Calibri"/>
                        </a:rPr>
                        <a:t>Game Boy + Color</a:t>
                      </a:r>
                    </a:p>
                  </a:txBody>
                  <a:tcPr marL="73152" marR="73152" marT="36576" marB="36576" anchor="ctr">
                    <a:solidFill>
                      <a:srgbClr val="FFFFFF"/>
                    </a:solidFill>
                  </a:tcPr>
                </a:tc>
                <a:tc>
                  <a:txBody>
                    <a:bodyPr/>
                    <a:lstStyle/>
                    <a:p>
                      <a:r>
                        <a:rPr sz="1200" b="0" i="0">
                          <a:solidFill>
                            <a:srgbClr val="1F2937"/>
                          </a:solidFill>
                          <a:latin typeface="Calibri"/>
                        </a:rPr>
                        <a:t>1989</a:t>
                      </a:r>
                    </a:p>
                  </a:txBody>
                  <a:tcPr marL="73152" marR="73152" marT="36576" marB="36576" anchor="ctr">
                    <a:solidFill>
                      <a:srgbClr val="FFFFFF"/>
                    </a:solidFill>
                  </a:tcPr>
                </a:tc>
                <a:tc>
                  <a:txBody>
                    <a:bodyPr/>
                    <a:lstStyle/>
                    <a:p>
                      <a:r>
                        <a:rPr sz="1200" b="0" i="0">
                          <a:solidFill>
                            <a:srgbClr val="1F2937"/>
                          </a:solidFill>
                          <a:latin typeface="Calibri"/>
                        </a:rPr>
                        <a:t>118,69</a:t>
                      </a:r>
                    </a:p>
                  </a:txBody>
                  <a:tcPr marL="73152" marR="73152" marT="36576" marB="36576" anchor="ctr">
                    <a:solidFill>
                      <a:srgbClr val="FFFFFF"/>
                    </a:solidFill>
                  </a:tcPr>
                </a:tc>
                <a:extLst>
                  <a:ext uri="{0D108BD9-81ED-4DB2-BD59-A6C34878D82A}">
                    <a16:rowId xmlns:a16="http://schemas.microsoft.com/office/drawing/2014/main" val="10003"/>
                  </a:ext>
                </a:extLst>
              </a:tr>
              <a:tr h="337624">
                <a:tc>
                  <a:txBody>
                    <a:bodyPr/>
                    <a:lstStyle/>
                    <a:p>
                      <a:r>
                        <a:rPr sz="1200" b="0" i="0">
                          <a:solidFill>
                            <a:srgbClr val="1F2937"/>
                          </a:solidFill>
                          <a:latin typeface="Calibri"/>
                        </a:rPr>
                        <a:t>Wii</a:t>
                      </a:r>
                    </a:p>
                  </a:txBody>
                  <a:tcPr marL="73152" marR="73152" marT="36576" marB="36576" anchor="ctr">
                    <a:solidFill>
                      <a:srgbClr val="E6F4F2"/>
                    </a:solidFill>
                  </a:tcPr>
                </a:tc>
                <a:tc>
                  <a:txBody>
                    <a:bodyPr/>
                    <a:lstStyle/>
                    <a:p>
                      <a:r>
                        <a:rPr sz="1200" b="0" i="0">
                          <a:solidFill>
                            <a:srgbClr val="1F2937"/>
                          </a:solidFill>
                          <a:latin typeface="Calibri"/>
                        </a:rPr>
                        <a:t>2006</a:t>
                      </a:r>
                    </a:p>
                  </a:txBody>
                  <a:tcPr marL="73152" marR="73152" marT="36576" marB="36576" anchor="ctr">
                    <a:solidFill>
                      <a:srgbClr val="E6F4F2"/>
                    </a:solidFill>
                  </a:tcPr>
                </a:tc>
                <a:tc>
                  <a:txBody>
                    <a:bodyPr/>
                    <a:lstStyle/>
                    <a:p>
                      <a:r>
                        <a:rPr sz="1200" b="0" i="0">
                          <a:solidFill>
                            <a:srgbClr val="1F2937"/>
                          </a:solidFill>
                          <a:latin typeface="Calibri"/>
                        </a:rPr>
                        <a:t>101,63</a:t>
                      </a:r>
                    </a:p>
                  </a:txBody>
                  <a:tcPr marL="73152" marR="73152" marT="36576" marB="36576" anchor="ctr">
                    <a:solidFill>
                      <a:srgbClr val="E6F4F2"/>
                    </a:solidFill>
                  </a:tcPr>
                </a:tc>
                <a:extLst>
                  <a:ext uri="{0D108BD9-81ED-4DB2-BD59-A6C34878D82A}">
                    <a16:rowId xmlns:a16="http://schemas.microsoft.com/office/drawing/2014/main" val="10004"/>
                  </a:ext>
                </a:extLst>
              </a:tr>
              <a:tr h="337624">
                <a:tc>
                  <a:txBody>
                    <a:bodyPr/>
                    <a:lstStyle/>
                    <a:p>
                      <a:r>
                        <a:rPr sz="1200" b="0" i="0">
                          <a:solidFill>
                            <a:srgbClr val="1F2937"/>
                          </a:solidFill>
                          <a:latin typeface="Calibri"/>
                        </a:rPr>
                        <a:t>Game Boy Advance</a:t>
                      </a:r>
                    </a:p>
                  </a:txBody>
                  <a:tcPr marL="73152" marR="73152" marT="36576" marB="36576" anchor="ctr">
                    <a:solidFill>
                      <a:srgbClr val="FFFFFF"/>
                    </a:solidFill>
                  </a:tcPr>
                </a:tc>
                <a:tc>
                  <a:txBody>
                    <a:bodyPr/>
                    <a:lstStyle/>
                    <a:p>
                      <a:r>
                        <a:rPr sz="1200" b="0" i="0">
                          <a:solidFill>
                            <a:srgbClr val="1F2937"/>
                          </a:solidFill>
                          <a:latin typeface="Calibri"/>
                        </a:rPr>
                        <a:t>2001</a:t>
                      </a:r>
                    </a:p>
                  </a:txBody>
                  <a:tcPr marL="73152" marR="73152" marT="36576" marB="36576" anchor="ctr">
                    <a:solidFill>
                      <a:srgbClr val="FFFFFF"/>
                    </a:solidFill>
                  </a:tcPr>
                </a:tc>
                <a:tc>
                  <a:txBody>
                    <a:bodyPr/>
                    <a:lstStyle/>
                    <a:p>
                      <a:r>
                        <a:rPr sz="1200" b="0" i="0">
                          <a:solidFill>
                            <a:srgbClr val="1F2937"/>
                          </a:solidFill>
                          <a:latin typeface="Calibri"/>
                        </a:rPr>
                        <a:t>81,51</a:t>
                      </a:r>
                    </a:p>
                  </a:txBody>
                  <a:tcPr marL="73152" marR="73152" marT="36576" marB="36576" anchor="ctr">
                    <a:solidFill>
                      <a:srgbClr val="FFFFFF"/>
                    </a:solidFill>
                  </a:tcPr>
                </a:tc>
                <a:extLst>
                  <a:ext uri="{0D108BD9-81ED-4DB2-BD59-A6C34878D82A}">
                    <a16:rowId xmlns:a16="http://schemas.microsoft.com/office/drawing/2014/main" val="10005"/>
                  </a:ext>
                </a:extLst>
              </a:tr>
              <a:tr h="337624">
                <a:tc>
                  <a:txBody>
                    <a:bodyPr/>
                    <a:lstStyle/>
                    <a:p>
                      <a:r>
                        <a:rPr sz="1200" b="0" i="0">
                          <a:solidFill>
                            <a:srgbClr val="1F2937"/>
                          </a:solidFill>
                          <a:latin typeface="Calibri"/>
                        </a:rPr>
                        <a:t>3DS</a:t>
                      </a:r>
                    </a:p>
                  </a:txBody>
                  <a:tcPr marL="73152" marR="73152" marT="36576" marB="36576" anchor="ctr">
                    <a:solidFill>
                      <a:srgbClr val="E6F4F2"/>
                    </a:solidFill>
                  </a:tcPr>
                </a:tc>
                <a:tc>
                  <a:txBody>
                    <a:bodyPr/>
                    <a:lstStyle/>
                    <a:p>
                      <a:r>
                        <a:rPr sz="1200" b="0" i="0">
                          <a:solidFill>
                            <a:srgbClr val="1F2937"/>
                          </a:solidFill>
                          <a:latin typeface="Calibri"/>
                        </a:rPr>
                        <a:t>2011</a:t>
                      </a:r>
                    </a:p>
                  </a:txBody>
                  <a:tcPr marL="73152" marR="73152" marT="36576" marB="36576" anchor="ctr">
                    <a:solidFill>
                      <a:srgbClr val="E6F4F2"/>
                    </a:solidFill>
                  </a:tcPr>
                </a:tc>
                <a:tc>
                  <a:txBody>
                    <a:bodyPr/>
                    <a:lstStyle/>
                    <a:p>
                      <a:r>
                        <a:rPr sz="1200" b="0" i="0">
                          <a:solidFill>
                            <a:srgbClr val="1F2937"/>
                          </a:solidFill>
                          <a:latin typeface="Calibri"/>
                        </a:rPr>
                        <a:t>75,94</a:t>
                      </a:r>
                    </a:p>
                  </a:txBody>
                  <a:tcPr marL="73152" marR="73152" marT="36576" marB="36576" anchor="ctr">
                    <a:solidFill>
                      <a:srgbClr val="E6F4F2"/>
                    </a:solidFill>
                  </a:tcPr>
                </a:tc>
                <a:extLst>
                  <a:ext uri="{0D108BD9-81ED-4DB2-BD59-A6C34878D82A}">
                    <a16:rowId xmlns:a16="http://schemas.microsoft.com/office/drawing/2014/main" val="10006"/>
                  </a:ext>
                </a:extLst>
              </a:tr>
              <a:tr h="337624">
                <a:tc>
                  <a:txBody>
                    <a:bodyPr/>
                    <a:lstStyle/>
                    <a:p>
                      <a:r>
                        <a:rPr sz="1200" b="0" i="0">
                          <a:solidFill>
                            <a:srgbClr val="1F2937"/>
                          </a:solidFill>
                          <a:latin typeface="Calibri"/>
                        </a:rPr>
                        <a:t>Famicom / NES</a:t>
                      </a:r>
                    </a:p>
                  </a:txBody>
                  <a:tcPr marL="73152" marR="73152" marT="36576" marB="36576" anchor="ctr">
                    <a:solidFill>
                      <a:srgbClr val="FFFFFF"/>
                    </a:solidFill>
                  </a:tcPr>
                </a:tc>
                <a:tc>
                  <a:txBody>
                    <a:bodyPr/>
                    <a:lstStyle/>
                    <a:p>
                      <a:r>
                        <a:rPr sz="1200" b="0" i="0">
                          <a:solidFill>
                            <a:srgbClr val="1F2937"/>
                          </a:solidFill>
                          <a:latin typeface="Calibri"/>
                        </a:rPr>
                        <a:t>1983</a:t>
                      </a:r>
                    </a:p>
                  </a:txBody>
                  <a:tcPr marL="73152" marR="73152" marT="36576" marB="36576" anchor="ctr">
                    <a:solidFill>
                      <a:srgbClr val="FFFFFF"/>
                    </a:solidFill>
                  </a:tcPr>
                </a:tc>
                <a:tc>
                  <a:txBody>
                    <a:bodyPr/>
                    <a:lstStyle/>
                    <a:p>
                      <a:r>
                        <a:rPr sz="1200" b="0" i="0">
                          <a:solidFill>
                            <a:srgbClr val="1F2937"/>
                          </a:solidFill>
                          <a:latin typeface="Calibri"/>
                        </a:rPr>
                        <a:t>61,91</a:t>
                      </a:r>
                    </a:p>
                  </a:txBody>
                  <a:tcPr marL="73152" marR="73152" marT="36576" marB="36576" anchor="ctr">
                    <a:solidFill>
                      <a:srgbClr val="FFFFFF"/>
                    </a:solidFill>
                  </a:tcPr>
                </a:tc>
                <a:extLst>
                  <a:ext uri="{0D108BD9-81ED-4DB2-BD59-A6C34878D82A}">
                    <a16:rowId xmlns:a16="http://schemas.microsoft.com/office/drawing/2014/main" val="10007"/>
                  </a:ext>
                </a:extLst>
              </a:tr>
              <a:tr h="337624">
                <a:tc>
                  <a:txBody>
                    <a:bodyPr/>
                    <a:lstStyle/>
                    <a:p>
                      <a:r>
                        <a:rPr sz="1200" b="0" i="0">
                          <a:solidFill>
                            <a:srgbClr val="1F2937"/>
                          </a:solidFill>
                          <a:latin typeface="Calibri"/>
                        </a:rPr>
                        <a:t>Super Famicom / SNES</a:t>
                      </a:r>
                    </a:p>
                  </a:txBody>
                  <a:tcPr marL="73152" marR="73152" marT="36576" marB="36576" anchor="ctr">
                    <a:solidFill>
                      <a:srgbClr val="E6F4F2"/>
                    </a:solidFill>
                  </a:tcPr>
                </a:tc>
                <a:tc>
                  <a:txBody>
                    <a:bodyPr/>
                    <a:lstStyle/>
                    <a:p>
                      <a:r>
                        <a:rPr sz="1200" b="0" i="0">
                          <a:solidFill>
                            <a:srgbClr val="1F2937"/>
                          </a:solidFill>
                          <a:latin typeface="Calibri"/>
                        </a:rPr>
                        <a:t>1990</a:t>
                      </a:r>
                    </a:p>
                  </a:txBody>
                  <a:tcPr marL="73152" marR="73152" marT="36576" marB="36576" anchor="ctr">
                    <a:solidFill>
                      <a:srgbClr val="E6F4F2"/>
                    </a:solidFill>
                  </a:tcPr>
                </a:tc>
                <a:tc>
                  <a:txBody>
                    <a:bodyPr/>
                    <a:lstStyle/>
                    <a:p>
                      <a:r>
                        <a:rPr sz="1200" b="0" i="0">
                          <a:solidFill>
                            <a:srgbClr val="1F2937"/>
                          </a:solidFill>
                          <a:latin typeface="Calibri"/>
                        </a:rPr>
                        <a:t>49,10</a:t>
                      </a:r>
                    </a:p>
                  </a:txBody>
                  <a:tcPr marL="73152" marR="73152" marT="36576" marB="36576" anchor="ctr">
                    <a:solidFill>
                      <a:srgbClr val="E6F4F2"/>
                    </a:solidFill>
                  </a:tcPr>
                </a:tc>
                <a:extLst>
                  <a:ext uri="{0D108BD9-81ED-4DB2-BD59-A6C34878D82A}">
                    <a16:rowId xmlns:a16="http://schemas.microsoft.com/office/drawing/2014/main" val="10008"/>
                  </a:ext>
                </a:extLst>
              </a:tr>
              <a:tr h="337624">
                <a:tc>
                  <a:txBody>
                    <a:bodyPr/>
                    <a:lstStyle/>
                    <a:p>
                      <a:r>
                        <a:rPr sz="1200" b="0" i="0">
                          <a:solidFill>
                            <a:srgbClr val="1F2937"/>
                          </a:solidFill>
                          <a:latin typeface="Calibri"/>
                        </a:rPr>
                        <a:t>Nintendo 64</a:t>
                      </a:r>
                    </a:p>
                  </a:txBody>
                  <a:tcPr marL="73152" marR="73152" marT="36576" marB="36576" anchor="ctr">
                    <a:solidFill>
                      <a:srgbClr val="FFFFFF"/>
                    </a:solidFill>
                  </a:tcPr>
                </a:tc>
                <a:tc>
                  <a:txBody>
                    <a:bodyPr/>
                    <a:lstStyle/>
                    <a:p>
                      <a:r>
                        <a:rPr sz="1200" b="0" i="0">
                          <a:solidFill>
                            <a:srgbClr val="1F2937"/>
                          </a:solidFill>
                          <a:latin typeface="Calibri"/>
                        </a:rPr>
                        <a:t>1996</a:t>
                      </a:r>
                    </a:p>
                  </a:txBody>
                  <a:tcPr marL="73152" marR="73152" marT="36576" marB="36576" anchor="ctr">
                    <a:solidFill>
                      <a:srgbClr val="FFFFFF"/>
                    </a:solidFill>
                  </a:tcPr>
                </a:tc>
                <a:tc>
                  <a:txBody>
                    <a:bodyPr/>
                    <a:lstStyle/>
                    <a:p>
                      <a:r>
                        <a:rPr sz="1200" b="0" i="0">
                          <a:solidFill>
                            <a:srgbClr val="1F2937"/>
                          </a:solidFill>
                          <a:latin typeface="Calibri"/>
                        </a:rPr>
                        <a:t>32,93</a:t>
                      </a:r>
                    </a:p>
                  </a:txBody>
                  <a:tcPr marL="73152" marR="73152" marT="36576" marB="36576" anchor="ctr">
                    <a:solidFill>
                      <a:srgbClr val="FFFFFF"/>
                    </a:solidFill>
                  </a:tcPr>
                </a:tc>
                <a:extLst>
                  <a:ext uri="{0D108BD9-81ED-4DB2-BD59-A6C34878D82A}">
                    <a16:rowId xmlns:a16="http://schemas.microsoft.com/office/drawing/2014/main" val="10009"/>
                  </a:ext>
                </a:extLst>
              </a:tr>
              <a:tr h="337624">
                <a:tc>
                  <a:txBody>
                    <a:bodyPr/>
                    <a:lstStyle/>
                    <a:p>
                      <a:r>
                        <a:rPr sz="1200" b="0" i="0">
                          <a:solidFill>
                            <a:srgbClr val="1F2937"/>
                          </a:solidFill>
                          <a:latin typeface="Calibri"/>
                        </a:rPr>
                        <a:t>Switch 2 (en venta)</a:t>
                      </a:r>
                    </a:p>
                  </a:txBody>
                  <a:tcPr marL="73152" marR="73152" marT="36576" marB="36576" anchor="ctr">
                    <a:solidFill>
                      <a:srgbClr val="E6F4F2"/>
                    </a:solidFill>
                  </a:tcPr>
                </a:tc>
                <a:tc>
                  <a:txBody>
                    <a:bodyPr/>
                    <a:lstStyle/>
                    <a:p>
                      <a:r>
                        <a:rPr sz="1200" b="0" i="0">
                          <a:solidFill>
                            <a:srgbClr val="1F2937"/>
                          </a:solidFill>
                          <a:latin typeface="Calibri"/>
                        </a:rPr>
                        <a:t>2025</a:t>
                      </a:r>
                    </a:p>
                  </a:txBody>
                  <a:tcPr marL="73152" marR="73152" marT="36576" marB="36576" anchor="ctr">
                    <a:solidFill>
                      <a:srgbClr val="E6F4F2"/>
                    </a:solidFill>
                  </a:tcPr>
                </a:tc>
                <a:tc>
                  <a:txBody>
                    <a:bodyPr/>
                    <a:lstStyle/>
                    <a:p>
                      <a:r>
                        <a:rPr sz="1200" b="0" i="0">
                          <a:solidFill>
                            <a:srgbClr val="1F2937"/>
                          </a:solidFill>
                          <a:latin typeface="Calibri"/>
                        </a:rPr>
                        <a:t>23,68</a:t>
                      </a:r>
                    </a:p>
                  </a:txBody>
                  <a:tcPr marL="73152" marR="73152" marT="36576" marB="36576" anchor="ctr">
                    <a:solidFill>
                      <a:srgbClr val="E6F4F2"/>
                    </a:solidFill>
                  </a:tcPr>
                </a:tc>
                <a:extLst>
                  <a:ext uri="{0D108BD9-81ED-4DB2-BD59-A6C34878D82A}">
                    <a16:rowId xmlns:a16="http://schemas.microsoft.com/office/drawing/2014/main" val="10010"/>
                  </a:ext>
                </a:extLst>
              </a:tr>
              <a:tr h="337624">
                <a:tc>
                  <a:txBody>
                    <a:bodyPr/>
                    <a:lstStyle/>
                    <a:p>
                      <a:r>
                        <a:rPr sz="1200" b="0" i="0">
                          <a:solidFill>
                            <a:srgbClr val="1F2937"/>
                          </a:solidFill>
                          <a:latin typeface="Calibri"/>
                        </a:rPr>
                        <a:t>GameCube</a:t>
                      </a:r>
                    </a:p>
                  </a:txBody>
                  <a:tcPr marL="73152" marR="73152" marT="36576" marB="36576" anchor="ctr">
                    <a:solidFill>
                      <a:srgbClr val="FFFFFF"/>
                    </a:solidFill>
                  </a:tcPr>
                </a:tc>
                <a:tc>
                  <a:txBody>
                    <a:bodyPr/>
                    <a:lstStyle/>
                    <a:p>
                      <a:r>
                        <a:rPr sz="1200" b="0" i="0">
                          <a:solidFill>
                            <a:srgbClr val="1F2937"/>
                          </a:solidFill>
                          <a:latin typeface="Calibri"/>
                        </a:rPr>
                        <a:t>2001</a:t>
                      </a:r>
                    </a:p>
                  </a:txBody>
                  <a:tcPr marL="73152" marR="73152" marT="36576" marB="36576" anchor="ctr">
                    <a:solidFill>
                      <a:srgbClr val="FFFFFF"/>
                    </a:solidFill>
                  </a:tcPr>
                </a:tc>
                <a:tc>
                  <a:txBody>
                    <a:bodyPr/>
                    <a:lstStyle/>
                    <a:p>
                      <a:r>
                        <a:rPr sz="1200" b="0" i="0">
                          <a:solidFill>
                            <a:srgbClr val="1F2937"/>
                          </a:solidFill>
                          <a:latin typeface="Calibri"/>
                        </a:rPr>
                        <a:t>21,74</a:t>
                      </a:r>
                    </a:p>
                  </a:txBody>
                  <a:tcPr marL="73152" marR="73152" marT="36576" marB="36576" anchor="ctr">
                    <a:solidFill>
                      <a:srgbClr val="FFFFFF"/>
                    </a:solidFill>
                  </a:tcPr>
                </a:tc>
                <a:extLst>
                  <a:ext uri="{0D108BD9-81ED-4DB2-BD59-A6C34878D82A}">
                    <a16:rowId xmlns:a16="http://schemas.microsoft.com/office/drawing/2014/main" val="10011"/>
                  </a:ext>
                </a:extLst>
              </a:tr>
              <a:tr h="337624">
                <a:tc>
                  <a:txBody>
                    <a:bodyPr/>
                    <a:lstStyle/>
                    <a:p>
                      <a:r>
                        <a:rPr sz="1200" b="0" i="0">
                          <a:solidFill>
                            <a:srgbClr val="1F2937"/>
                          </a:solidFill>
                          <a:latin typeface="Calibri"/>
                        </a:rPr>
                        <a:t>Wii U</a:t>
                      </a:r>
                    </a:p>
                  </a:txBody>
                  <a:tcPr marL="73152" marR="73152" marT="36576" marB="36576" anchor="ctr">
                    <a:solidFill>
                      <a:srgbClr val="E6F4F2"/>
                    </a:solidFill>
                  </a:tcPr>
                </a:tc>
                <a:tc>
                  <a:txBody>
                    <a:bodyPr/>
                    <a:lstStyle/>
                    <a:p>
                      <a:r>
                        <a:rPr sz="1200" b="0" i="0">
                          <a:solidFill>
                            <a:srgbClr val="1F2937"/>
                          </a:solidFill>
                          <a:latin typeface="Calibri"/>
                        </a:rPr>
                        <a:t>2012</a:t>
                      </a:r>
                    </a:p>
                  </a:txBody>
                  <a:tcPr marL="73152" marR="73152" marT="36576" marB="36576" anchor="ctr">
                    <a:solidFill>
                      <a:srgbClr val="E6F4F2"/>
                    </a:solidFill>
                  </a:tcPr>
                </a:tc>
                <a:tc>
                  <a:txBody>
                    <a:bodyPr/>
                    <a:lstStyle/>
                    <a:p>
                      <a:r>
                        <a:rPr sz="1200" b="0" i="0">
                          <a:solidFill>
                            <a:srgbClr val="1F2937"/>
                          </a:solidFill>
                          <a:latin typeface="Calibri"/>
                        </a:rPr>
                        <a:t>13,56</a:t>
                      </a:r>
                    </a:p>
                  </a:txBody>
                  <a:tcPr marL="73152" marR="73152" marT="36576" marB="36576" anchor="ctr">
                    <a:solidFill>
                      <a:srgbClr val="E6F4F2"/>
                    </a:solidFill>
                  </a:tcPr>
                </a:tc>
                <a:extLst>
                  <a:ext uri="{0D108BD9-81ED-4DB2-BD59-A6C34878D82A}">
                    <a16:rowId xmlns:a16="http://schemas.microsoft.com/office/drawing/2014/main" val="10012"/>
                  </a:ext>
                </a:extLst>
              </a:tr>
            </a:tbl>
          </a:graphicData>
        </a:graphic>
      </p:graphicFrame>
      <p:sp>
        <p:nvSpPr>
          <p:cNvPr id="10" name="TextBox 9"/>
          <p:cNvSpPr txBox="1"/>
          <p:nvPr/>
        </p:nvSpPr>
        <p:spPr>
          <a:xfrm>
            <a:off x="6255867" y="1234440"/>
            <a:ext cx="5432907" cy="365760"/>
          </a:xfrm>
          <a:prstGeom prst="rect">
            <a:avLst/>
          </a:prstGeom>
          <a:noFill/>
        </p:spPr>
        <p:txBody>
          <a:bodyPr wrap="square" lIns="0" tIns="0" rIns="0" bIns="0" anchor="ctr">
            <a:spAutoFit/>
          </a:bodyPr>
          <a:lstStyle/>
          <a:p>
            <a:r>
              <a:rPr sz="1500" b="1" i="0">
                <a:solidFill>
                  <a:srgbClr val="1F2A44"/>
                </a:solidFill>
                <a:latin typeface="Calibri"/>
              </a:rPr>
              <a:t>Sony (cifras "more than")</a:t>
            </a:r>
          </a:p>
        </p:txBody>
      </p:sp>
      <p:graphicFrame>
        <p:nvGraphicFramePr>
          <p:cNvPr id="11" name="Table 10"/>
          <p:cNvGraphicFramePr>
            <a:graphicFrameLocks noGrp="1"/>
          </p:cNvGraphicFramePr>
          <p:nvPr/>
        </p:nvGraphicFramePr>
        <p:xfrm>
          <a:off x="6255867" y="1600200"/>
          <a:ext cx="5432905" cy="4389120"/>
        </p:xfrm>
        <a:graphic>
          <a:graphicData uri="http://schemas.openxmlformats.org/drawingml/2006/table">
            <a:tbl>
              <a:tblPr firstRow="1" bandRow="1">
                <a:tableStyleId>{5C22544A-7EE6-4342-B048-85BDC9FD1C3A}</a:tableStyleId>
              </a:tblPr>
              <a:tblGrid>
                <a:gridCol w="2089579">
                  <a:extLst>
                    <a:ext uri="{9D8B030D-6E8A-4147-A177-3AD203B41FA5}">
                      <a16:colId xmlns:a16="http://schemas.microsoft.com/office/drawing/2014/main" val="20000"/>
                    </a:ext>
                  </a:extLst>
                </a:gridCol>
                <a:gridCol w="1044789">
                  <a:extLst>
                    <a:ext uri="{9D8B030D-6E8A-4147-A177-3AD203B41FA5}">
                      <a16:colId xmlns:a16="http://schemas.microsoft.com/office/drawing/2014/main" val="20001"/>
                    </a:ext>
                  </a:extLst>
                </a:gridCol>
                <a:gridCol w="2298537">
                  <a:extLst>
                    <a:ext uri="{9D8B030D-6E8A-4147-A177-3AD203B41FA5}">
                      <a16:colId xmlns:a16="http://schemas.microsoft.com/office/drawing/2014/main" val="20002"/>
                    </a:ext>
                  </a:extLst>
                </a:gridCol>
              </a:tblGrid>
              <a:tr h="548640">
                <a:tc>
                  <a:txBody>
                    <a:bodyPr/>
                    <a:lstStyle/>
                    <a:p>
                      <a:r>
                        <a:rPr sz="1200" b="1" i="0">
                          <a:solidFill>
                            <a:srgbClr val="FFFFFF"/>
                          </a:solidFill>
                          <a:latin typeface="Calibri"/>
                        </a:rPr>
                        <a:t>Consola</a:t>
                      </a:r>
                    </a:p>
                  </a:txBody>
                  <a:tcPr marL="73152" marR="73152" marT="36576" marB="36576" anchor="ctr">
                    <a:solidFill>
                      <a:srgbClr val="0D9488"/>
                    </a:solidFill>
                  </a:tcPr>
                </a:tc>
                <a:tc>
                  <a:txBody>
                    <a:bodyPr/>
                    <a:lstStyle/>
                    <a:p>
                      <a:r>
                        <a:rPr sz="1200" b="1" i="0">
                          <a:solidFill>
                            <a:srgbClr val="FFFFFF"/>
                          </a:solidFill>
                          <a:latin typeface="Calibri"/>
                        </a:rPr>
                        <a:t>Año</a:t>
                      </a:r>
                    </a:p>
                  </a:txBody>
                  <a:tcPr marL="73152" marR="73152" marT="36576" marB="36576" anchor="ctr">
                    <a:solidFill>
                      <a:srgbClr val="0D9488"/>
                    </a:solidFill>
                  </a:tcPr>
                </a:tc>
                <a:tc>
                  <a:txBody>
                    <a:bodyPr/>
                    <a:lstStyle/>
                    <a:p>
                      <a:r>
                        <a:rPr sz="1200" b="1" i="0">
                          <a:solidFill>
                            <a:srgbClr val="FFFFFF"/>
                          </a:solidFill>
                          <a:latin typeface="Calibri"/>
                        </a:rPr>
                        <a:t>Millones · al</a:t>
                      </a:r>
                    </a:p>
                  </a:txBody>
                  <a:tcPr marL="73152" marR="73152" marT="36576" marB="36576" anchor="ctr">
                    <a:solidFill>
                      <a:srgbClr val="0D9488"/>
                    </a:solidFill>
                  </a:tcPr>
                </a:tc>
                <a:extLst>
                  <a:ext uri="{0D108BD9-81ED-4DB2-BD59-A6C34878D82A}">
                    <a16:rowId xmlns:a16="http://schemas.microsoft.com/office/drawing/2014/main" val="10000"/>
                  </a:ext>
                </a:extLst>
              </a:tr>
              <a:tr h="548640">
                <a:tc>
                  <a:txBody>
                    <a:bodyPr/>
                    <a:lstStyle/>
                    <a:p>
                      <a:r>
                        <a:rPr sz="1200" b="0" i="0">
                          <a:solidFill>
                            <a:srgbClr val="1F2937"/>
                          </a:solidFill>
                          <a:latin typeface="Calibri"/>
                        </a:rPr>
                        <a:t>PS2</a:t>
                      </a:r>
                    </a:p>
                  </a:txBody>
                  <a:tcPr marL="73152" marR="73152" marT="36576" marB="36576" anchor="ctr">
                    <a:solidFill>
                      <a:srgbClr val="FFFFFF"/>
                    </a:solidFill>
                  </a:tcPr>
                </a:tc>
                <a:tc>
                  <a:txBody>
                    <a:bodyPr/>
                    <a:lstStyle/>
                    <a:p>
                      <a:r>
                        <a:rPr sz="1200" b="0" i="0">
                          <a:solidFill>
                            <a:srgbClr val="1F2937"/>
                          </a:solidFill>
                          <a:latin typeface="Calibri"/>
                        </a:rPr>
                        <a:t>2000</a:t>
                      </a:r>
                    </a:p>
                  </a:txBody>
                  <a:tcPr marL="73152" marR="73152" marT="36576" marB="36576" anchor="ctr">
                    <a:solidFill>
                      <a:srgbClr val="FFFFFF"/>
                    </a:solidFill>
                  </a:tcPr>
                </a:tc>
                <a:tc>
                  <a:txBody>
                    <a:bodyPr/>
                    <a:lstStyle/>
                    <a:p>
                      <a:r>
                        <a:rPr sz="1200" b="0" i="0">
                          <a:solidFill>
                            <a:srgbClr val="1F2937"/>
                          </a:solidFill>
                          <a:latin typeface="Calibri"/>
                        </a:rPr>
                        <a:t>160 · mar-2012</a:t>
                      </a:r>
                    </a:p>
                  </a:txBody>
                  <a:tcPr marL="73152" marR="73152" marT="36576" marB="36576" anchor="ctr">
                    <a:solidFill>
                      <a:srgbClr val="FFFFFF"/>
                    </a:solidFill>
                  </a:tcPr>
                </a:tc>
                <a:extLst>
                  <a:ext uri="{0D108BD9-81ED-4DB2-BD59-A6C34878D82A}">
                    <a16:rowId xmlns:a16="http://schemas.microsoft.com/office/drawing/2014/main" val="10001"/>
                  </a:ext>
                </a:extLst>
              </a:tr>
              <a:tr h="548640">
                <a:tc>
                  <a:txBody>
                    <a:bodyPr/>
                    <a:lstStyle/>
                    <a:p>
                      <a:r>
                        <a:rPr sz="1200" b="0" i="0">
                          <a:solidFill>
                            <a:srgbClr val="1F2937"/>
                          </a:solidFill>
                          <a:latin typeface="Calibri"/>
                        </a:rPr>
                        <a:t>PS4</a:t>
                      </a:r>
                    </a:p>
                  </a:txBody>
                  <a:tcPr marL="73152" marR="73152" marT="36576" marB="36576" anchor="ctr">
                    <a:solidFill>
                      <a:srgbClr val="E6F4F2"/>
                    </a:solidFill>
                  </a:tcPr>
                </a:tc>
                <a:tc>
                  <a:txBody>
                    <a:bodyPr/>
                    <a:lstStyle/>
                    <a:p>
                      <a:r>
                        <a:rPr sz="1200" b="0" i="0">
                          <a:solidFill>
                            <a:srgbClr val="1F2937"/>
                          </a:solidFill>
                          <a:latin typeface="Calibri"/>
                        </a:rPr>
                        <a:t>2013</a:t>
                      </a:r>
                    </a:p>
                  </a:txBody>
                  <a:tcPr marL="73152" marR="73152" marT="36576" marB="36576" anchor="ctr">
                    <a:solidFill>
                      <a:srgbClr val="E6F4F2"/>
                    </a:solidFill>
                  </a:tcPr>
                </a:tc>
                <a:tc>
                  <a:txBody>
                    <a:bodyPr/>
                    <a:lstStyle/>
                    <a:p>
                      <a:r>
                        <a:rPr sz="1200" b="0" i="0">
                          <a:solidFill>
                            <a:srgbClr val="1F2937"/>
                          </a:solidFill>
                          <a:latin typeface="Calibri"/>
                        </a:rPr>
                        <a:t>117 · jun-2022</a:t>
                      </a:r>
                    </a:p>
                  </a:txBody>
                  <a:tcPr marL="73152" marR="73152" marT="36576" marB="36576" anchor="ctr">
                    <a:solidFill>
                      <a:srgbClr val="E6F4F2"/>
                    </a:solidFill>
                  </a:tcPr>
                </a:tc>
                <a:extLst>
                  <a:ext uri="{0D108BD9-81ED-4DB2-BD59-A6C34878D82A}">
                    <a16:rowId xmlns:a16="http://schemas.microsoft.com/office/drawing/2014/main" val="10002"/>
                  </a:ext>
                </a:extLst>
              </a:tr>
              <a:tr h="548640">
                <a:tc>
                  <a:txBody>
                    <a:bodyPr/>
                    <a:lstStyle/>
                    <a:p>
                      <a:r>
                        <a:rPr sz="1200" b="0" i="0">
                          <a:solidFill>
                            <a:srgbClr val="1F2937"/>
                          </a:solidFill>
                          <a:latin typeface="Calibri"/>
                        </a:rPr>
                        <a:t>PlayStation</a:t>
                      </a:r>
                    </a:p>
                  </a:txBody>
                  <a:tcPr marL="73152" marR="73152" marT="36576" marB="36576" anchor="ctr">
                    <a:solidFill>
                      <a:srgbClr val="FFFFFF"/>
                    </a:solidFill>
                  </a:tcPr>
                </a:tc>
                <a:tc>
                  <a:txBody>
                    <a:bodyPr/>
                    <a:lstStyle/>
                    <a:p>
                      <a:r>
                        <a:rPr sz="1200" b="0" i="0">
                          <a:solidFill>
                            <a:srgbClr val="1F2937"/>
                          </a:solidFill>
                          <a:latin typeface="Calibri"/>
                        </a:rPr>
                        <a:t>1994</a:t>
                      </a:r>
                    </a:p>
                  </a:txBody>
                  <a:tcPr marL="73152" marR="73152" marT="36576" marB="36576" anchor="ctr">
                    <a:solidFill>
                      <a:srgbClr val="FFFFFF"/>
                    </a:solidFill>
                  </a:tcPr>
                </a:tc>
                <a:tc>
                  <a:txBody>
                    <a:bodyPr/>
                    <a:lstStyle/>
                    <a:p>
                      <a:r>
                        <a:rPr sz="1200" b="0" i="0">
                          <a:solidFill>
                            <a:srgbClr val="1F2937"/>
                          </a:solidFill>
                          <a:latin typeface="Calibri"/>
                        </a:rPr>
                        <a:t>102,4 · mar-2012</a:t>
                      </a:r>
                    </a:p>
                  </a:txBody>
                  <a:tcPr marL="73152" marR="73152" marT="36576" marB="36576" anchor="ctr">
                    <a:solidFill>
                      <a:srgbClr val="FFFFFF"/>
                    </a:solidFill>
                  </a:tcPr>
                </a:tc>
                <a:extLst>
                  <a:ext uri="{0D108BD9-81ED-4DB2-BD59-A6C34878D82A}">
                    <a16:rowId xmlns:a16="http://schemas.microsoft.com/office/drawing/2014/main" val="10003"/>
                  </a:ext>
                </a:extLst>
              </a:tr>
              <a:tr h="548640">
                <a:tc>
                  <a:txBody>
                    <a:bodyPr/>
                    <a:lstStyle/>
                    <a:p>
                      <a:r>
                        <a:rPr sz="1200" b="0" i="0">
                          <a:solidFill>
                            <a:srgbClr val="1F2937"/>
                          </a:solidFill>
                          <a:latin typeface="Calibri"/>
                        </a:rPr>
                        <a:t>PS5 (en venta)</a:t>
                      </a:r>
                    </a:p>
                  </a:txBody>
                  <a:tcPr marL="73152" marR="73152" marT="36576" marB="36576" anchor="ctr">
                    <a:solidFill>
                      <a:srgbClr val="E6F4F2"/>
                    </a:solidFill>
                  </a:tcPr>
                </a:tc>
                <a:tc>
                  <a:txBody>
                    <a:bodyPr/>
                    <a:lstStyle/>
                    <a:p>
                      <a:r>
                        <a:rPr sz="1200" b="0" i="0">
                          <a:solidFill>
                            <a:srgbClr val="1F2937"/>
                          </a:solidFill>
                          <a:latin typeface="Calibri"/>
                        </a:rPr>
                        <a:t>2020</a:t>
                      </a:r>
                    </a:p>
                  </a:txBody>
                  <a:tcPr marL="73152" marR="73152" marT="36576" marB="36576" anchor="ctr">
                    <a:solidFill>
                      <a:srgbClr val="E6F4F2"/>
                    </a:solidFill>
                  </a:tcPr>
                </a:tc>
                <a:tc>
                  <a:txBody>
                    <a:bodyPr/>
                    <a:lstStyle/>
                    <a:p>
                      <a:r>
                        <a:rPr sz="1200" b="0" i="0">
                          <a:solidFill>
                            <a:srgbClr val="1F2937"/>
                          </a:solidFill>
                          <a:latin typeface="Calibri"/>
                        </a:rPr>
                        <a:t>95 · jun-2026</a:t>
                      </a:r>
                    </a:p>
                  </a:txBody>
                  <a:tcPr marL="73152" marR="73152" marT="36576" marB="36576" anchor="ctr">
                    <a:solidFill>
                      <a:srgbClr val="E6F4F2"/>
                    </a:solidFill>
                  </a:tcPr>
                </a:tc>
                <a:extLst>
                  <a:ext uri="{0D108BD9-81ED-4DB2-BD59-A6C34878D82A}">
                    <a16:rowId xmlns:a16="http://schemas.microsoft.com/office/drawing/2014/main" val="10004"/>
                  </a:ext>
                </a:extLst>
              </a:tr>
              <a:tr h="548640">
                <a:tc>
                  <a:txBody>
                    <a:bodyPr/>
                    <a:lstStyle/>
                    <a:p>
                      <a:r>
                        <a:rPr sz="1200" b="0" i="0">
                          <a:solidFill>
                            <a:srgbClr val="1F2937"/>
                          </a:solidFill>
                          <a:latin typeface="Calibri"/>
                        </a:rPr>
                        <a:t>PS3</a:t>
                      </a:r>
                    </a:p>
                  </a:txBody>
                  <a:tcPr marL="73152" marR="73152" marT="36576" marB="36576" anchor="ctr">
                    <a:solidFill>
                      <a:srgbClr val="FFFFFF"/>
                    </a:solidFill>
                  </a:tcPr>
                </a:tc>
                <a:tc>
                  <a:txBody>
                    <a:bodyPr/>
                    <a:lstStyle/>
                    <a:p>
                      <a:r>
                        <a:rPr sz="1200" b="0" i="0">
                          <a:solidFill>
                            <a:srgbClr val="1F2937"/>
                          </a:solidFill>
                          <a:latin typeface="Calibri"/>
                        </a:rPr>
                        <a:t>2006</a:t>
                      </a:r>
                    </a:p>
                  </a:txBody>
                  <a:tcPr marL="73152" marR="73152" marT="36576" marB="36576" anchor="ctr">
                    <a:solidFill>
                      <a:srgbClr val="FFFFFF"/>
                    </a:solidFill>
                  </a:tcPr>
                </a:tc>
                <a:tc>
                  <a:txBody>
                    <a:bodyPr/>
                    <a:lstStyle/>
                    <a:p>
                      <a:r>
                        <a:rPr sz="1200" b="0" i="0">
                          <a:solidFill>
                            <a:srgbClr val="1F2937"/>
                          </a:solidFill>
                          <a:latin typeface="Calibri"/>
                        </a:rPr>
                        <a:t>87,4 · mar-2017</a:t>
                      </a:r>
                    </a:p>
                  </a:txBody>
                  <a:tcPr marL="73152" marR="73152" marT="36576" marB="36576" anchor="ctr">
                    <a:solidFill>
                      <a:srgbClr val="FFFFFF"/>
                    </a:solidFill>
                  </a:tcPr>
                </a:tc>
                <a:extLst>
                  <a:ext uri="{0D108BD9-81ED-4DB2-BD59-A6C34878D82A}">
                    <a16:rowId xmlns:a16="http://schemas.microsoft.com/office/drawing/2014/main" val="10005"/>
                  </a:ext>
                </a:extLst>
              </a:tr>
              <a:tr h="548640">
                <a:tc>
                  <a:txBody>
                    <a:bodyPr/>
                    <a:lstStyle/>
                    <a:p>
                      <a:r>
                        <a:rPr sz="1200" b="0" i="0">
                          <a:solidFill>
                            <a:srgbClr val="1F2937"/>
                          </a:solidFill>
                          <a:latin typeface="Calibri"/>
                        </a:rPr>
                        <a:t>PSP</a:t>
                      </a:r>
                    </a:p>
                  </a:txBody>
                  <a:tcPr marL="73152" marR="73152" marT="36576" marB="36576" anchor="ctr">
                    <a:solidFill>
                      <a:srgbClr val="E6F4F2"/>
                    </a:solidFill>
                  </a:tcPr>
                </a:tc>
                <a:tc>
                  <a:txBody>
                    <a:bodyPr/>
                    <a:lstStyle/>
                    <a:p>
                      <a:r>
                        <a:rPr sz="1200" b="0" i="0">
                          <a:solidFill>
                            <a:srgbClr val="1F2937"/>
                          </a:solidFill>
                          <a:latin typeface="Calibri"/>
                        </a:rPr>
                        <a:t>2004</a:t>
                      </a:r>
                    </a:p>
                  </a:txBody>
                  <a:tcPr marL="73152" marR="73152" marT="36576" marB="36576" anchor="ctr">
                    <a:solidFill>
                      <a:srgbClr val="E6F4F2"/>
                    </a:solidFill>
                  </a:tcPr>
                </a:tc>
                <a:tc>
                  <a:txBody>
                    <a:bodyPr/>
                    <a:lstStyle/>
                    <a:p>
                      <a:r>
                        <a:rPr sz="1200" b="0" i="0">
                          <a:solidFill>
                            <a:srgbClr val="1F2937"/>
                          </a:solidFill>
                          <a:latin typeface="Calibri"/>
                        </a:rPr>
                        <a:t>76,4 · mar-2012</a:t>
                      </a:r>
                    </a:p>
                  </a:txBody>
                  <a:tcPr marL="73152" marR="73152" marT="36576" marB="36576" anchor="ctr">
                    <a:solidFill>
                      <a:srgbClr val="E6F4F2"/>
                    </a:solidFill>
                  </a:tcPr>
                </a:tc>
                <a:extLst>
                  <a:ext uri="{0D108BD9-81ED-4DB2-BD59-A6C34878D82A}">
                    <a16:rowId xmlns:a16="http://schemas.microsoft.com/office/drawing/2014/main" val="10006"/>
                  </a:ext>
                </a:extLst>
              </a:tr>
              <a:tr h="548640">
                <a:tc>
                  <a:txBody>
                    <a:bodyPr/>
                    <a:lstStyle/>
                    <a:p>
                      <a:r>
                        <a:rPr sz="1200" b="0" i="0">
                          <a:solidFill>
                            <a:srgbClr val="1F2937"/>
                          </a:solidFill>
                          <a:latin typeface="Calibri"/>
                        </a:rPr>
                        <a:t>PS Vita</a:t>
                      </a:r>
                    </a:p>
                  </a:txBody>
                  <a:tcPr marL="73152" marR="73152" marT="36576" marB="36576" anchor="ctr">
                    <a:solidFill>
                      <a:srgbClr val="FFFFFF"/>
                    </a:solidFill>
                  </a:tcPr>
                </a:tc>
                <a:tc>
                  <a:txBody>
                    <a:bodyPr/>
                    <a:lstStyle/>
                    <a:p>
                      <a:r>
                        <a:rPr sz="1200" b="0" i="0">
                          <a:solidFill>
                            <a:srgbClr val="1F2937"/>
                          </a:solidFill>
                          <a:latin typeface="Calibri"/>
                        </a:rPr>
                        <a:t>2011</a:t>
                      </a:r>
                    </a:p>
                  </a:txBody>
                  <a:tcPr marL="73152" marR="73152" marT="36576" marB="36576" anchor="ctr">
                    <a:solidFill>
                      <a:srgbClr val="FFFFFF"/>
                    </a:solidFill>
                  </a:tcPr>
                </a:tc>
                <a:tc>
                  <a:txBody>
                    <a:bodyPr/>
                    <a:lstStyle/>
                    <a:p>
                      <a:r>
                        <a:rPr sz="1200" b="0" i="0">
                          <a:solidFill>
                            <a:srgbClr val="1F2937"/>
                          </a:solidFill>
                          <a:latin typeface="Calibri"/>
                        </a:rPr>
                        <a:t>No publicado</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22</a:t>
            </a:r>
          </a:p>
        </p:txBody>
      </p:sp>
      <p:sp>
        <p:nvSpPr>
          <p:cNvPr id="5" name="TextBox 4"/>
          <p:cNvSpPr txBox="1"/>
          <p:nvPr/>
        </p:nvSpPr>
        <p:spPr>
          <a:xfrm>
            <a:off x="1005840" y="109728"/>
            <a:ext cx="10728655" cy="777240"/>
          </a:xfrm>
          <a:prstGeom prst="rect">
            <a:avLst/>
          </a:prstGeom>
          <a:noFill/>
        </p:spPr>
        <p:txBody>
          <a:bodyPr wrap="square" lIns="0" tIns="0" rIns="0" bIns="0" anchor="ctr">
            <a:spAutoFit/>
          </a:bodyPr>
          <a:lstStyle/>
          <a:p>
            <a:r>
              <a:rPr sz="1100" b="1" i="0">
                <a:solidFill>
                  <a:srgbClr val="99F6E4"/>
                </a:solidFill>
                <a:latin typeface="Calibri"/>
              </a:rPr>
              <a:t>ANEXO · CONSULTA</a:t>
            </a:r>
          </a:p>
          <a:p>
            <a:r>
              <a:rPr sz="2600" b="1" i="0">
                <a:solidFill>
                  <a:srgbClr val="FFFFFF"/>
                </a:solidFill>
                <a:latin typeface="Calibri"/>
              </a:rPr>
              <a:t>Ventas por ejercicio fiscal</a:t>
            </a:r>
          </a:p>
        </p:txBody>
      </p:sp>
      <p:sp>
        <p:nvSpPr>
          <p:cNvPr id="6" name="TextBox 5"/>
          <p:cNvSpPr txBox="1"/>
          <p:nvPr/>
        </p:nvSpPr>
        <p:spPr>
          <a:xfrm>
            <a:off x="502920" y="6473952"/>
            <a:ext cx="11185855" cy="274320"/>
          </a:xfrm>
          <a:prstGeom prst="rect">
            <a:avLst/>
          </a:prstGeom>
          <a:noFill/>
        </p:spPr>
        <p:txBody>
          <a:bodyPr wrap="square" lIns="0" tIns="0" rIns="0" bIns="0" anchor="ctr">
            <a:spAutoFit/>
          </a:bodyPr>
          <a:lstStyle/>
          <a:p>
            <a:r>
              <a:rPr sz="1000" b="0" i="0">
                <a:solidFill>
                  <a:srgbClr val="6B7280"/>
                </a:solidFill>
                <a:latin typeface="Calibri"/>
              </a:rPr>
              <a:t>Diseño según Plataformas de Juego · Unidad V · Anexo · Anexo: datos y fuentes</a:t>
            </a:r>
          </a:p>
        </p:txBody>
      </p:sp>
      <p:sp>
        <p:nvSpPr>
          <p:cNvPr id="7" name="TextBox 6"/>
          <p:cNvSpPr txBox="1"/>
          <p:nvPr/>
        </p:nvSpPr>
        <p:spPr>
          <a:xfrm>
            <a:off x="10774375" y="6473952"/>
            <a:ext cx="914400" cy="274320"/>
          </a:xfrm>
          <a:prstGeom prst="rect">
            <a:avLst/>
          </a:prstGeom>
          <a:noFill/>
        </p:spPr>
        <p:txBody>
          <a:bodyPr wrap="square" lIns="0" tIns="0" rIns="0" bIns="0" anchor="ctr">
            <a:spAutoFit/>
          </a:bodyPr>
          <a:lstStyle/>
          <a:p>
            <a:pPr algn="r"/>
            <a:r>
              <a:rPr sz="1000" b="0" i="0">
                <a:solidFill>
                  <a:srgbClr val="6B7280"/>
                </a:solidFill>
                <a:latin typeface="Calibri"/>
              </a:rPr>
              <a:t>22/24</a:t>
            </a:r>
          </a:p>
        </p:txBody>
      </p:sp>
      <p:sp>
        <p:nvSpPr>
          <p:cNvPr id="8" name="TextBox 7"/>
          <p:cNvSpPr txBox="1"/>
          <p:nvPr/>
        </p:nvSpPr>
        <p:spPr>
          <a:xfrm>
            <a:off x="502920" y="1234440"/>
            <a:ext cx="5432907" cy="365760"/>
          </a:xfrm>
          <a:prstGeom prst="rect">
            <a:avLst/>
          </a:prstGeom>
          <a:noFill/>
        </p:spPr>
        <p:txBody>
          <a:bodyPr wrap="square" lIns="0" tIns="0" rIns="0" bIns="0" anchor="ctr">
            <a:spAutoFit/>
          </a:bodyPr>
          <a:lstStyle/>
          <a:p>
            <a:r>
              <a:rPr sz="1500" b="1" i="0">
                <a:solidFill>
                  <a:srgbClr val="1F2A44"/>
                </a:solidFill>
                <a:latin typeface="Calibri"/>
              </a:rPr>
              <a:t>Nintendo Switch (millones)</a:t>
            </a:r>
          </a:p>
        </p:txBody>
      </p:sp>
      <p:graphicFrame>
        <p:nvGraphicFramePr>
          <p:cNvPr id="9" name="Table 8"/>
          <p:cNvGraphicFramePr>
            <a:graphicFrameLocks noGrp="1"/>
          </p:cNvGraphicFramePr>
          <p:nvPr/>
        </p:nvGraphicFramePr>
        <p:xfrm>
          <a:off x="502920" y="1600200"/>
          <a:ext cx="5432906" cy="4389110"/>
        </p:xfrm>
        <a:graphic>
          <a:graphicData uri="http://schemas.openxmlformats.org/drawingml/2006/table">
            <a:tbl>
              <a:tblPr firstRow="1" bandRow="1">
                <a:tableStyleId>{5C22544A-7EE6-4342-B048-85BDC9FD1C3A}</a:tableStyleId>
              </a:tblPr>
              <a:tblGrid>
                <a:gridCol w="3320109">
                  <a:extLst>
                    <a:ext uri="{9D8B030D-6E8A-4147-A177-3AD203B41FA5}">
                      <a16:colId xmlns:a16="http://schemas.microsoft.com/office/drawing/2014/main" val="20000"/>
                    </a:ext>
                  </a:extLst>
                </a:gridCol>
                <a:gridCol w="2112797">
                  <a:extLst>
                    <a:ext uri="{9D8B030D-6E8A-4147-A177-3AD203B41FA5}">
                      <a16:colId xmlns:a16="http://schemas.microsoft.com/office/drawing/2014/main" val="20001"/>
                    </a:ext>
                  </a:extLst>
                </a:gridCol>
              </a:tblGrid>
              <a:tr h="399010">
                <a:tc>
                  <a:txBody>
                    <a:bodyPr/>
                    <a:lstStyle/>
                    <a:p>
                      <a:r>
                        <a:rPr sz="1200" b="1" i="0">
                          <a:solidFill>
                            <a:srgbClr val="FFFFFF"/>
                          </a:solidFill>
                          <a:latin typeface="Calibri"/>
                        </a:rPr>
                        <a:t>Ejercicio</a:t>
                      </a:r>
                    </a:p>
                  </a:txBody>
                  <a:tcPr marL="73152" marR="73152" marT="36576" marB="36576" anchor="ctr">
                    <a:solidFill>
                      <a:srgbClr val="0D9488"/>
                    </a:solidFill>
                  </a:tcPr>
                </a:tc>
                <a:tc>
                  <a:txBody>
                    <a:bodyPr/>
                    <a:lstStyle/>
                    <a:p>
                      <a:r>
                        <a:rPr sz="1200" b="1" i="0">
                          <a:solidFill>
                            <a:srgbClr val="FFFFFF"/>
                          </a:solidFill>
                          <a:latin typeface="Calibri"/>
                        </a:rPr>
                        <a:t>Millones</a:t>
                      </a:r>
                    </a:p>
                  </a:txBody>
                  <a:tcPr marL="73152" marR="73152" marT="36576" marB="36576" anchor="ctr">
                    <a:solidFill>
                      <a:srgbClr val="0D9488"/>
                    </a:solidFill>
                  </a:tcPr>
                </a:tc>
                <a:extLst>
                  <a:ext uri="{0D108BD9-81ED-4DB2-BD59-A6C34878D82A}">
                    <a16:rowId xmlns:a16="http://schemas.microsoft.com/office/drawing/2014/main" val="10000"/>
                  </a:ext>
                </a:extLst>
              </a:tr>
              <a:tr h="399010">
                <a:tc>
                  <a:txBody>
                    <a:bodyPr/>
                    <a:lstStyle/>
                    <a:p>
                      <a:r>
                        <a:rPr sz="1200" b="0" i="0">
                          <a:solidFill>
                            <a:srgbClr val="1F2937"/>
                          </a:solidFill>
                          <a:latin typeface="Calibri"/>
                        </a:rPr>
                        <a:t>FY3/2017 (1 mes)</a:t>
                      </a:r>
                    </a:p>
                  </a:txBody>
                  <a:tcPr marL="73152" marR="73152" marT="36576" marB="36576" anchor="ctr">
                    <a:solidFill>
                      <a:srgbClr val="FFFFFF"/>
                    </a:solidFill>
                  </a:tcPr>
                </a:tc>
                <a:tc>
                  <a:txBody>
                    <a:bodyPr/>
                    <a:lstStyle/>
                    <a:p>
                      <a:r>
                        <a:rPr sz="1200" b="0" i="0">
                          <a:solidFill>
                            <a:srgbClr val="1F2937"/>
                          </a:solidFill>
                          <a:latin typeface="Calibri"/>
                        </a:rPr>
                        <a:t>2,74</a:t>
                      </a:r>
                    </a:p>
                  </a:txBody>
                  <a:tcPr marL="73152" marR="73152" marT="36576" marB="36576" anchor="ctr">
                    <a:solidFill>
                      <a:srgbClr val="FFFFFF"/>
                    </a:solidFill>
                  </a:tcPr>
                </a:tc>
                <a:extLst>
                  <a:ext uri="{0D108BD9-81ED-4DB2-BD59-A6C34878D82A}">
                    <a16:rowId xmlns:a16="http://schemas.microsoft.com/office/drawing/2014/main" val="10001"/>
                  </a:ext>
                </a:extLst>
              </a:tr>
              <a:tr h="399010">
                <a:tc>
                  <a:txBody>
                    <a:bodyPr/>
                    <a:lstStyle/>
                    <a:p>
                      <a:r>
                        <a:rPr sz="1200" b="0" i="0">
                          <a:solidFill>
                            <a:srgbClr val="1F2937"/>
                          </a:solidFill>
                          <a:latin typeface="Calibri"/>
                        </a:rPr>
                        <a:t>FY3/2018</a:t>
                      </a:r>
                    </a:p>
                  </a:txBody>
                  <a:tcPr marL="73152" marR="73152" marT="36576" marB="36576" anchor="ctr">
                    <a:solidFill>
                      <a:srgbClr val="E6F4F2"/>
                    </a:solidFill>
                  </a:tcPr>
                </a:tc>
                <a:tc>
                  <a:txBody>
                    <a:bodyPr/>
                    <a:lstStyle/>
                    <a:p>
                      <a:r>
                        <a:rPr sz="1200" b="0" i="0">
                          <a:solidFill>
                            <a:srgbClr val="1F2937"/>
                          </a:solidFill>
                          <a:latin typeface="Calibri"/>
                        </a:rPr>
                        <a:t>15,05</a:t>
                      </a:r>
                    </a:p>
                  </a:txBody>
                  <a:tcPr marL="73152" marR="73152" marT="36576" marB="36576" anchor="ctr">
                    <a:solidFill>
                      <a:srgbClr val="E6F4F2"/>
                    </a:solidFill>
                  </a:tcPr>
                </a:tc>
                <a:extLst>
                  <a:ext uri="{0D108BD9-81ED-4DB2-BD59-A6C34878D82A}">
                    <a16:rowId xmlns:a16="http://schemas.microsoft.com/office/drawing/2014/main" val="10002"/>
                  </a:ext>
                </a:extLst>
              </a:tr>
              <a:tr h="399010">
                <a:tc>
                  <a:txBody>
                    <a:bodyPr/>
                    <a:lstStyle/>
                    <a:p>
                      <a:r>
                        <a:rPr sz="1200" b="0" i="0">
                          <a:solidFill>
                            <a:srgbClr val="1F2937"/>
                          </a:solidFill>
                          <a:latin typeface="Calibri"/>
                        </a:rPr>
                        <a:t>FY3/2019</a:t>
                      </a:r>
                    </a:p>
                  </a:txBody>
                  <a:tcPr marL="73152" marR="73152" marT="36576" marB="36576" anchor="ctr">
                    <a:solidFill>
                      <a:srgbClr val="FFFFFF"/>
                    </a:solidFill>
                  </a:tcPr>
                </a:tc>
                <a:tc>
                  <a:txBody>
                    <a:bodyPr/>
                    <a:lstStyle/>
                    <a:p>
                      <a:r>
                        <a:rPr sz="1200" b="0" i="0">
                          <a:solidFill>
                            <a:srgbClr val="1F2937"/>
                          </a:solidFill>
                          <a:latin typeface="Calibri"/>
                        </a:rPr>
                        <a:t>16,95</a:t>
                      </a:r>
                    </a:p>
                  </a:txBody>
                  <a:tcPr marL="73152" marR="73152" marT="36576" marB="36576" anchor="ctr">
                    <a:solidFill>
                      <a:srgbClr val="FFFFFF"/>
                    </a:solidFill>
                  </a:tcPr>
                </a:tc>
                <a:extLst>
                  <a:ext uri="{0D108BD9-81ED-4DB2-BD59-A6C34878D82A}">
                    <a16:rowId xmlns:a16="http://schemas.microsoft.com/office/drawing/2014/main" val="10003"/>
                  </a:ext>
                </a:extLst>
              </a:tr>
              <a:tr h="399010">
                <a:tc>
                  <a:txBody>
                    <a:bodyPr/>
                    <a:lstStyle/>
                    <a:p>
                      <a:r>
                        <a:rPr sz="1200" b="0" i="0">
                          <a:solidFill>
                            <a:srgbClr val="1F2937"/>
                          </a:solidFill>
                          <a:latin typeface="Calibri"/>
                        </a:rPr>
                        <a:t>FY3/2020</a:t>
                      </a:r>
                    </a:p>
                  </a:txBody>
                  <a:tcPr marL="73152" marR="73152" marT="36576" marB="36576" anchor="ctr">
                    <a:solidFill>
                      <a:srgbClr val="E6F4F2"/>
                    </a:solidFill>
                  </a:tcPr>
                </a:tc>
                <a:tc>
                  <a:txBody>
                    <a:bodyPr/>
                    <a:lstStyle/>
                    <a:p>
                      <a:r>
                        <a:rPr sz="1200" b="0" i="0">
                          <a:solidFill>
                            <a:srgbClr val="1F2937"/>
                          </a:solidFill>
                          <a:latin typeface="Calibri"/>
                        </a:rPr>
                        <a:t>21,03</a:t>
                      </a:r>
                    </a:p>
                  </a:txBody>
                  <a:tcPr marL="73152" marR="73152" marT="36576" marB="36576" anchor="ctr">
                    <a:solidFill>
                      <a:srgbClr val="E6F4F2"/>
                    </a:solidFill>
                  </a:tcPr>
                </a:tc>
                <a:extLst>
                  <a:ext uri="{0D108BD9-81ED-4DB2-BD59-A6C34878D82A}">
                    <a16:rowId xmlns:a16="http://schemas.microsoft.com/office/drawing/2014/main" val="10004"/>
                  </a:ext>
                </a:extLst>
              </a:tr>
              <a:tr h="399010">
                <a:tc>
                  <a:txBody>
                    <a:bodyPr/>
                    <a:lstStyle/>
                    <a:p>
                      <a:r>
                        <a:rPr sz="1200" b="0" i="0">
                          <a:solidFill>
                            <a:srgbClr val="1F2937"/>
                          </a:solidFill>
                          <a:latin typeface="Calibri"/>
                        </a:rPr>
                        <a:t>FY3/2021</a:t>
                      </a:r>
                    </a:p>
                  </a:txBody>
                  <a:tcPr marL="73152" marR="73152" marT="36576" marB="36576" anchor="ctr">
                    <a:solidFill>
                      <a:srgbClr val="FFFFFF"/>
                    </a:solidFill>
                  </a:tcPr>
                </a:tc>
                <a:tc>
                  <a:txBody>
                    <a:bodyPr/>
                    <a:lstStyle/>
                    <a:p>
                      <a:r>
                        <a:rPr sz="1200" b="0" i="0">
                          <a:solidFill>
                            <a:srgbClr val="1F2937"/>
                          </a:solidFill>
                          <a:latin typeface="Calibri"/>
                        </a:rPr>
                        <a:t>28,83</a:t>
                      </a:r>
                    </a:p>
                  </a:txBody>
                  <a:tcPr marL="73152" marR="73152" marT="36576" marB="36576" anchor="ctr">
                    <a:solidFill>
                      <a:srgbClr val="FFFFFF"/>
                    </a:solidFill>
                  </a:tcPr>
                </a:tc>
                <a:extLst>
                  <a:ext uri="{0D108BD9-81ED-4DB2-BD59-A6C34878D82A}">
                    <a16:rowId xmlns:a16="http://schemas.microsoft.com/office/drawing/2014/main" val="10005"/>
                  </a:ext>
                </a:extLst>
              </a:tr>
              <a:tr h="399010">
                <a:tc>
                  <a:txBody>
                    <a:bodyPr/>
                    <a:lstStyle/>
                    <a:p>
                      <a:r>
                        <a:rPr sz="1200" b="0" i="0">
                          <a:solidFill>
                            <a:srgbClr val="1F2937"/>
                          </a:solidFill>
                          <a:latin typeface="Calibri"/>
                        </a:rPr>
                        <a:t>FY3/2022</a:t>
                      </a:r>
                    </a:p>
                  </a:txBody>
                  <a:tcPr marL="73152" marR="73152" marT="36576" marB="36576" anchor="ctr">
                    <a:solidFill>
                      <a:srgbClr val="E6F4F2"/>
                    </a:solidFill>
                  </a:tcPr>
                </a:tc>
                <a:tc>
                  <a:txBody>
                    <a:bodyPr/>
                    <a:lstStyle/>
                    <a:p>
                      <a:r>
                        <a:rPr sz="1200" b="0" i="0">
                          <a:solidFill>
                            <a:srgbClr val="1F2937"/>
                          </a:solidFill>
                          <a:latin typeface="Calibri"/>
                        </a:rPr>
                        <a:t>23,06</a:t>
                      </a:r>
                    </a:p>
                  </a:txBody>
                  <a:tcPr marL="73152" marR="73152" marT="36576" marB="36576" anchor="ctr">
                    <a:solidFill>
                      <a:srgbClr val="E6F4F2"/>
                    </a:solidFill>
                  </a:tcPr>
                </a:tc>
                <a:extLst>
                  <a:ext uri="{0D108BD9-81ED-4DB2-BD59-A6C34878D82A}">
                    <a16:rowId xmlns:a16="http://schemas.microsoft.com/office/drawing/2014/main" val="10006"/>
                  </a:ext>
                </a:extLst>
              </a:tr>
              <a:tr h="399010">
                <a:tc>
                  <a:txBody>
                    <a:bodyPr/>
                    <a:lstStyle/>
                    <a:p>
                      <a:r>
                        <a:rPr sz="1200" b="0" i="0">
                          <a:solidFill>
                            <a:srgbClr val="1F2937"/>
                          </a:solidFill>
                          <a:latin typeface="Calibri"/>
                        </a:rPr>
                        <a:t>FY3/2023</a:t>
                      </a:r>
                    </a:p>
                  </a:txBody>
                  <a:tcPr marL="73152" marR="73152" marT="36576" marB="36576" anchor="ctr">
                    <a:solidFill>
                      <a:srgbClr val="FFFFFF"/>
                    </a:solidFill>
                  </a:tcPr>
                </a:tc>
                <a:tc>
                  <a:txBody>
                    <a:bodyPr/>
                    <a:lstStyle/>
                    <a:p>
                      <a:r>
                        <a:rPr sz="1200" b="0" i="0">
                          <a:solidFill>
                            <a:srgbClr val="1F2937"/>
                          </a:solidFill>
                          <a:latin typeface="Calibri"/>
                        </a:rPr>
                        <a:t>17,97</a:t>
                      </a:r>
                    </a:p>
                  </a:txBody>
                  <a:tcPr marL="73152" marR="73152" marT="36576" marB="36576" anchor="ctr">
                    <a:solidFill>
                      <a:srgbClr val="FFFFFF"/>
                    </a:solidFill>
                  </a:tcPr>
                </a:tc>
                <a:extLst>
                  <a:ext uri="{0D108BD9-81ED-4DB2-BD59-A6C34878D82A}">
                    <a16:rowId xmlns:a16="http://schemas.microsoft.com/office/drawing/2014/main" val="10007"/>
                  </a:ext>
                </a:extLst>
              </a:tr>
              <a:tr h="399010">
                <a:tc>
                  <a:txBody>
                    <a:bodyPr/>
                    <a:lstStyle/>
                    <a:p>
                      <a:r>
                        <a:rPr sz="1200" b="0" i="0">
                          <a:solidFill>
                            <a:srgbClr val="1F2937"/>
                          </a:solidFill>
                          <a:latin typeface="Calibri"/>
                        </a:rPr>
                        <a:t>FY3/2024</a:t>
                      </a:r>
                    </a:p>
                  </a:txBody>
                  <a:tcPr marL="73152" marR="73152" marT="36576" marB="36576" anchor="ctr">
                    <a:solidFill>
                      <a:srgbClr val="E6F4F2"/>
                    </a:solidFill>
                  </a:tcPr>
                </a:tc>
                <a:tc>
                  <a:txBody>
                    <a:bodyPr/>
                    <a:lstStyle/>
                    <a:p>
                      <a:r>
                        <a:rPr sz="1200" b="0" i="0">
                          <a:solidFill>
                            <a:srgbClr val="1F2937"/>
                          </a:solidFill>
                          <a:latin typeface="Calibri"/>
                        </a:rPr>
                        <a:t>15,70</a:t>
                      </a:r>
                    </a:p>
                  </a:txBody>
                  <a:tcPr marL="73152" marR="73152" marT="36576" marB="36576" anchor="ctr">
                    <a:solidFill>
                      <a:srgbClr val="E6F4F2"/>
                    </a:solidFill>
                  </a:tcPr>
                </a:tc>
                <a:extLst>
                  <a:ext uri="{0D108BD9-81ED-4DB2-BD59-A6C34878D82A}">
                    <a16:rowId xmlns:a16="http://schemas.microsoft.com/office/drawing/2014/main" val="10008"/>
                  </a:ext>
                </a:extLst>
              </a:tr>
              <a:tr h="399010">
                <a:tc>
                  <a:txBody>
                    <a:bodyPr/>
                    <a:lstStyle/>
                    <a:p>
                      <a:r>
                        <a:rPr sz="1200" b="0" i="0">
                          <a:solidFill>
                            <a:srgbClr val="1F2937"/>
                          </a:solidFill>
                          <a:latin typeface="Calibri"/>
                        </a:rPr>
                        <a:t>FY3/2025</a:t>
                      </a:r>
                    </a:p>
                  </a:txBody>
                  <a:tcPr marL="73152" marR="73152" marT="36576" marB="36576" anchor="ctr">
                    <a:solidFill>
                      <a:srgbClr val="FFFFFF"/>
                    </a:solidFill>
                  </a:tcPr>
                </a:tc>
                <a:tc>
                  <a:txBody>
                    <a:bodyPr/>
                    <a:lstStyle/>
                    <a:p>
                      <a:r>
                        <a:rPr sz="1200" b="0" i="0">
                          <a:solidFill>
                            <a:srgbClr val="1F2937"/>
                          </a:solidFill>
                          <a:latin typeface="Calibri"/>
                        </a:rPr>
                        <a:t>10,80</a:t>
                      </a:r>
                    </a:p>
                  </a:txBody>
                  <a:tcPr marL="73152" marR="73152" marT="36576" marB="36576" anchor="ctr">
                    <a:solidFill>
                      <a:srgbClr val="FFFFFF"/>
                    </a:solidFill>
                  </a:tcPr>
                </a:tc>
                <a:extLst>
                  <a:ext uri="{0D108BD9-81ED-4DB2-BD59-A6C34878D82A}">
                    <a16:rowId xmlns:a16="http://schemas.microsoft.com/office/drawing/2014/main" val="10009"/>
                  </a:ext>
                </a:extLst>
              </a:tr>
              <a:tr h="399010">
                <a:tc>
                  <a:txBody>
                    <a:bodyPr/>
                    <a:lstStyle/>
                    <a:p>
                      <a:r>
                        <a:rPr sz="1200" b="0" i="0">
                          <a:solidFill>
                            <a:srgbClr val="1F2937"/>
                          </a:solidFill>
                          <a:latin typeface="Calibri"/>
                        </a:rPr>
                        <a:t>FY3/2026</a:t>
                      </a:r>
                    </a:p>
                  </a:txBody>
                  <a:tcPr marL="73152" marR="73152" marT="36576" marB="36576" anchor="ctr">
                    <a:solidFill>
                      <a:srgbClr val="E6F4F2"/>
                    </a:solidFill>
                  </a:tcPr>
                </a:tc>
                <a:tc>
                  <a:txBody>
                    <a:bodyPr/>
                    <a:lstStyle/>
                    <a:p>
                      <a:r>
                        <a:rPr sz="1200" b="0" i="0">
                          <a:solidFill>
                            <a:srgbClr val="1F2937"/>
                          </a:solidFill>
                          <a:latin typeface="Calibri"/>
                        </a:rPr>
                        <a:t>3,80</a:t>
                      </a:r>
                    </a:p>
                  </a:txBody>
                  <a:tcPr marL="73152" marR="73152" marT="36576" marB="36576" anchor="ctr">
                    <a:solidFill>
                      <a:srgbClr val="E6F4F2"/>
                    </a:solidFill>
                  </a:tcPr>
                </a:tc>
                <a:extLst>
                  <a:ext uri="{0D108BD9-81ED-4DB2-BD59-A6C34878D82A}">
                    <a16:rowId xmlns:a16="http://schemas.microsoft.com/office/drawing/2014/main" val="10010"/>
                  </a:ext>
                </a:extLst>
              </a:tr>
            </a:tbl>
          </a:graphicData>
        </a:graphic>
      </p:graphicFrame>
      <p:sp>
        <p:nvSpPr>
          <p:cNvPr id="10" name="TextBox 9"/>
          <p:cNvSpPr txBox="1"/>
          <p:nvPr/>
        </p:nvSpPr>
        <p:spPr>
          <a:xfrm>
            <a:off x="6255867" y="1234440"/>
            <a:ext cx="5432907" cy="365760"/>
          </a:xfrm>
          <a:prstGeom prst="rect">
            <a:avLst/>
          </a:prstGeom>
          <a:noFill/>
        </p:spPr>
        <p:txBody>
          <a:bodyPr wrap="square" lIns="0" tIns="0" rIns="0" bIns="0" anchor="ctr">
            <a:spAutoFit/>
          </a:bodyPr>
          <a:lstStyle/>
          <a:p>
            <a:r>
              <a:rPr sz="1500" b="1" i="0">
                <a:solidFill>
                  <a:srgbClr val="1F2A44"/>
                </a:solidFill>
                <a:latin typeface="Calibri"/>
              </a:rPr>
              <a:t>PS5 y Switch 2 (millones)</a:t>
            </a:r>
          </a:p>
        </p:txBody>
      </p:sp>
      <p:graphicFrame>
        <p:nvGraphicFramePr>
          <p:cNvPr id="11" name="Table 10"/>
          <p:cNvGraphicFramePr>
            <a:graphicFrameLocks noGrp="1"/>
          </p:cNvGraphicFramePr>
          <p:nvPr/>
        </p:nvGraphicFramePr>
        <p:xfrm>
          <a:off x="6255867" y="1600200"/>
          <a:ext cx="5432906" cy="4389120"/>
        </p:xfrm>
        <a:graphic>
          <a:graphicData uri="http://schemas.openxmlformats.org/drawingml/2006/table">
            <a:tbl>
              <a:tblPr firstRow="1" bandRow="1">
                <a:tableStyleId>{5C22544A-7EE6-4342-B048-85BDC9FD1C3A}</a:tableStyleId>
              </a:tblPr>
              <a:tblGrid>
                <a:gridCol w="3195827">
                  <a:extLst>
                    <a:ext uri="{9D8B030D-6E8A-4147-A177-3AD203B41FA5}">
                      <a16:colId xmlns:a16="http://schemas.microsoft.com/office/drawing/2014/main" val="20000"/>
                    </a:ext>
                  </a:extLst>
                </a:gridCol>
                <a:gridCol w="2237079">
                  <a:extLst>
                    <a:ext uri="{9D8B030D-6E8A-4147-A177-3AD203B41FA5}">
                      <a16:colId xmlns:a16="http://schemas.microsoft.com/office/drawing/2014/main" val="20001"/>
                    </a:ext>
                  </a:extLst>
                </a:gridCol>
              </a:tblGrid>
              <a:tr h="548640">
                <a:tc>
                  <a:txBody>
                    <a:bodyPr/>
                    <a:lstStyle/>
                    <a:p>
                      <a:r>
                        <a:rPr sz="1200" b="1" i="0">
                          <a:solidFill>
                            <a:srgbClr val="FFFFFF"/>
                          </a:solidFill>
                          <a:latin typeface="Calibri"/>
                        </a:rPr>
                        <a:t>Ejercicio</a:t>
                      </a:r>
                    </a:p>
                  </a:txBody>
                  <a:tcPr marL="73152" marR="73152" marT="36576" marB="36576" anchor="ctr">
                    <a:solidFill>
                      <a:srgbClr val="0D9488"/>
                    </a:solidFill>
                  </a:tcPr>
                </a:tc>
                <a:tc>
                  <a:txBody>
                    <a:bodyPr/>
                    <a:lstStyle/>
                    <a:p>
                      <a:r>
                        <a:rPr sz="1200" b="1" i="0">
                          <a:solidFill>
                            <a:srgbClr val="FFFFFF"/>
                          </a:solidFill>
                          <a:latin typeface="Calibri"/>
                        </a:rPr>
                        <a:t>Millones</a:t>
                      </a:r>
                    </a:p>
                  </a:txBody>
                  <a:tcPr marL="73152" marR="73152" marT="36576" marB="36576" anchor="ctr">
                    <a:solidFill>
                      <a:srgbClr val="0D9488"/>
                    </a:solidFill>
                  </a:tcPr>
                </a:tc>
                <a:extLst>
                  <a:ext uri="{0D108BD9-81ED-4DB2-BD59-A6C34878D82A}">
                    <a16:rowId xmlns:a16="http://schemas.microsoft.com/office/drawing/2014/main" val="10000"/>
                  </a:ext>
                </a:extLst>
              </a:tr>
              <a:tr h="548640">
                <a:tc>
                  <a:txBody>
                    <a:bodyPr/>
                    <a:lstStyle/>
                    <a:p>
                      <a:r>
                        <a:rPr sz="1200" b="0" i="0">
                          <a:solidFill>
                            <a:srgbClr val="1F2937"/>
                          </a:solidFill>
                          <a:latin typeface="Calibri"/>
                        </a:rPr>
                        <a:t>PS5 abr-20 a mar-21</a:t>
                      </a:r>
                    </a:p>
                  </a:txBody>
                  <a:tcPr marL="73152" marR="73152" marT="36576" marB="36576" anchor="ctr">
                    <a:solidFill>
                      <a:srgbClr val="FFFFFF"/>
                    </a:solidFill>
                  </a:tcPr>
                </a:tc>
                <a:tc>
                  <a:txBody>
                    <a:bodyPr/>
                    <a:lstStyle/>
                    <a:p>
                      <a:r>
                        <a:rPr sz="1200" b="0" i="0">
                          <a:solidFill>
                            <a:srgbClr val="1F2937"/>
                          </a:solidFill>
                          <a:latin typeface="Calibri"/>
                        </a:rPr>
                        <a:t>7,8</a:t>
                      </a:r>
                    </a:p>
                  </a:txBody>
                  <a:tcPr marL="73152" marR="73152" marT="36576" marB="36576" anchor="ctr">
                    <a:solidFill>
                      <a:srgbClr val="FFFFFF"/>
                    </a:solidFill>
                  </a:tcPr>
                </a:tc>
                <a:extLst>
                  <a:ext uri="{0D108BD9-81ED-4DB2-BD59-A6C34878D82A}">
                    <a16:rowId xmlns:a16="http://schemas.microsoft.com/office/drawing/2014/main" val="10001"/>
                  </a:ext>
                </a:extLst>
              </a:tr>
              <a:tr h="548640">
                <a:tc>
                  <a:txBody>
                    <a:bodyPr/>
                    <a:lstStyle/>
                    <a:p>
                      <a:r>
                        <a:rPr sz="1200" b="0" i="0">
                          <a:solidFill>
                            <a:srgbClr val="1F2937"/>
                          </a:solidFill>
                          <a:latin typeface="Calibri"/>
                        </a:rPr>
                        <a:t>PS5 abr-21 a mar-22</a:t>
                      </a:r>
                    </a:p>
                  </a:txBody>
                  <a:tcPr marL="73152" marR="73152" marT="36576" marB="36576" anchor="ctr">
                    <a:solidFill>
                      <a:srgbClr val="E6F4F2"/>
                    </a:solidFill>
                  </a:tcPr>
                </a:tc>
                <a:tc>
                  <a:txBody>
                    <a:bodyPr/>
                    <a:lstStyle/>
                    <a:p>
                      <a:r>
                        <a:rPr sz="1200" b="0" i="0">
                          <a:solidFill>
                            <a:srgbClr val="1F2937"/>
                          </a:solidFill>
                          <a:latin typeface="Calibri"/>
                        </a:rPr>
                        <a:t>11,5</a:t>
                      </a:r>
                    </a:p>
                  </a:txBody>
                  <a:tcPr marL="73152" marR="73152" marT="36576" marB="36576" anchor="ctr">
                    <a:solidFill>
                      <a:srgbClr val="E6F4F2"/>
                    </a:solidFill>
                  </a:tcPr>
                </a:tc>
                <a:extLst>
                  <a:ext uri="{0D108BD9-81ED-4DB2-BD59-A6C34878D82A}">
                    <a16:rowId xmlns:a16="http://schemas.microsoft.com/office/drawing/2014/main" val="10002"/>
                  </a:ext>
                </a:extLst>
              </a:tr>
              <a:tr h="548640">
                <a:tc>
                  <a:txBody>
                    <a:bodyPr/>
                    <a:lstStyle/>
                    <a:p>
                      <a:r>
                        <a:rPr sz="1200" b="0" i="0">
                          <a:solidFill>
                            <a:srgbClr val="1F2937"/>
                          </a:solidFill>
                          <a:latin typeface="Calibri"/>
                        </a:rPr>
                        <a:t>PS5 abr-22 a mar-23</a:t>
                      </a:r>
                    </a:p>
                  </a:txBody>
                  <a:tcPr marL="73152" marR="73152" marT="36576" marB="36576" anchor="ctr">
                    <a:solidFill>
                      <a:srgbClr val="FFFFFF"/>
                    </a:solidFill>
                  </a:tcPr>
                </a:tc>
                <a:tc>
                  <a:txBody>
                    <a:bodyPr/>
                    <a:lstStyle/>
                    <a:p>
                      <a:r>
                        <a:rPr sz="1200" b="0" i="0">
                          <a:solidFill>
                            <a:srgbClr val="1F2937"/>
                          </a:solidFill>
                          <a:latin typeface="Calibri"/>
                        </a:rPr>
                        <a:t>19,1</a:t>
                      </a:r>
                    </a:p>
                  </a:txBody>
                  <a:tcPr marL="73152" marR="73152" marT="36576" marB="36576" anchor="ctr">
                    <a:solidFill>
                      <a:srgbClr val="FFFFFF"/>
                    </a:solidFill>
                  </a:tcPr>
                </a:tc>
                <a:extLst>
                  <a:ext uri="{0D108BD9-81ED-4DB2-BD59-A6C34878D82A}">
                    <a16:rowId xmlns:a16="http://schemas.microsoft.com/office/drawing/2014/main" val="10003"/>
                  </a:ext>
                </a:extLst>
              </a:tr>
              <a:tr h="548640">
                <a:tc>
                  <a:txBody>
                    <a:bodyPr/>
                    <a:lstStyle/>
                    <a:p>
                      <a:r>
                        <a:rPr sz="1200" b="0" i="0">
                          <a:solidFill>
                            <a:srgbClr val="1F2937"/>
                          </a:solidFill>
                          <a:latin typeface="Calibri"/>
                        </a:rPr>
                        <a:t>PS5 abr-23 a mar-24</a:t>
                      </a:r>
                    </a:p>
                  </a:txBody>
                  <a:tcPr marL="73152" marR="73152" marT="36576" marB="36576" anchor="ctr">
                    <a:solidFill>
                      <a:srgbClr val="E6F4F2"/>
                    </a:solidFill>
                  </a:tcPr>
                </a:tc>
                <a:tc>
                  <a:txBody>
                    <a:bodyPr/>
                    <a:lstStyle/>
                    <a:p>
                      <a:r>
                        <a:rPr sz="1200" b="0" i="0">
                          <a:solidFill>
                            <a:srgbClr val="1F2937"/>
                          </a:solidFill>
                          <a:latin typeface="Calibri"/>
                        </a:rPr>
                        <a:t>20,8 (derivado)</a:t>
                      </a:r>
                    </a:p>
                  </a:txBody>
                  <a:tcPr marL="73152" marR="73152" marT="36576" marB="36576" anchor="ctr">
                    <a:solidFill>
                      <a:srgbClr val="E6F4F2"/>
                    </a:solidFill>
                  </a:tcPr>
                </a:tc>
                <a:extLst>
                  <a:ext uri="{0D108BD9-81ED-4DB2-BD59-A6C34878D82A}">
                    <a16:rowId xmlns:a16="http://schemas.microsoft.com/office/drawing/2014/main" val="10004"/>
                  </a:ext>
                </a:extLst>
              </a:tr>
              <a:tr h="548640">
                <a:tc>
                  <a:txBody>
                    <a:bodyPr/>
                    <a:lstStyle/>
                    <a:p>
                      <a:r>
                        <a:rPr sz="1200" b="0" i="0">
                          <a:solidFill>
                            <a:srgbClr val="1F2937"/>
                          </a:solidFill>
                          <a:latin typeface="Calibri"/>
                        </a:rPr>
                        <a:t>PS5 abr-24 a mar-25</a:t>
                      </a:r>
                    </a:p>
                  </a:txBody>
                  <a:tcPr marL="73152" marR="73152" marT="36576" marB="36576" anchor="ctr">
                    <a:solidFill>
                      <a:srgbClr val="FFFFFF"/>
                    </a:solidFill>
                  </a:tcPr>
                </a:tc>
                <a:tc>
                  <a:txBody>
                    <a:bodyPr/>
                    <a:lstStyle/>
                    <a:p>
                      <a:r>
                        <a:rPr sz="1200" b="0" i="0">
                          <a:solidFill>
                            <a:srgbClr val="1F2937"/>
                          </a:solidFill>
                          <a:latin typeface="Calibri"/>
                        </a:rPr>
                        <a:t>18,5</a:t>
                      </a:r>
                    </a:p>
                  </a:txBody>
                  <a:tcPr marL="73152" marR="73152" marT="36576" marB="36576" anchor="ctr">
                    <a:solidFill>
                      <a:srgbClr val="FFFFFF"/>
                    </a:solidFill>
                  </a:tcPr>
                </a:tc>
                <a:extLst>
                  <a:ext uri="{0D108BD9-81ED-4DB2-BD59-A6C34878D82A}">
                    <a16:rowId xmlns:a16="http://schemas.microsoft.com/office/drawing/2014/main" val="10005"/>
                  </a:ext>
                </a:extLst>
              </a:tr>
              <a:tr h="548640">
                <a:tc>
                  <a:txBody>
                    <a:bodyPr/>
                    <a:lstStyle/>
                    <a:p>
                      <a:r>
                        <a:rPr sz="1200" b="0" i="0">
                          <a:solidFill>
                            <a:srgbClr val="1F2937"/>
                          </a:solidFill>
                          <a:latin typeface="Calibri"/>
                        </a:rPr>
                        <a:t>PS5 abr-25 a mar-26</a:t>
                      </a:r>
                    </a:p>
                  </a:txBody>
                  <a:tcPr marL="73152" marR="73152" marT="36576" marB="36576" anchor="ctr">
                    <a:solidFill>
                      <a:srgbClr val="E6F4F2"/>
                    </a:solidFill>
                  </a:tcPr>
                </a:tc>
                <a:tc>
                  <a:txBody>
                    <a:bodyPr/>
                    <a:lstStyle/>
                    <a:p>
                      <a:r>
                        <a:rPr sz="1200" b="0" i="0">
                          <a:solidFill>
                            <a:srgbClr val="1F2937"/>
                          </a:solidFill>
                          <a:latin typeface="Calibri"/>
                        </a:rPr>
                        <a:t>16,0</a:t>
                      </a:r>
                    </a:p>
                  </a:txBody>
                  <a:tcPr marL="73152" marR="73152" marT="36576" marB="36576" anchor="ctr">
                    <a:solidFill>
                      <a:srgbClr val="E6F4F2"/>
                    </a:solidFill>
                  </a:tcPr>
                </a:tc>
                <a:extLst>
                  <a:ext uri="{0D108BD9-81ED-4DB2-BD59-A6C34878D82A}">
                    <a16:rowId xmlns:a16="http://schemas.microsoft.com/office/drawing/2014/main" val="10006"/>
                  </a:ext>
                </a:extLst>
              </a:tr>
              <a:tr h="548640">
                <a:tc>
                  <a:txBody>
                    <a:bodyPr/>
                    <a:lstStyle/>
                    <a:p>
                      <a:r>
                        <a:rPr sz="1200" b="0" i="0">
                          <a:solidFill>
                            <a:srgbClr val="1F2937"/>
                          </a:solidFill>
                          <a:latin typeface="Calibri"/>
                        </a:rPr>
                        <a:t>Switch 2 jun-25 a mar-26</a:t>
                      </a:r>
                    </a:p>
                  </a:txBody>
                  <a:tcPr marL="73152" marR="73152" marT="36576" marB="36576" anchor="ctr">
                    <a:solidFill>
                      <a:srgbClr val="FFFFFF"/>
                    </a:solidFill>
                  </a:tcPr>
                </a:tc>
                <a:tc>
                  <a:txBody>
                    <a:bodyPr/>
                    <a:lstStyle/>
                    <a:p>
                      <a:r>
                        <a:rPr sz="1200" b="0" i="0">
                          <a:solidFill>
                            <a:srgbClr val="1F2937"/>
                          </a:solidFill>
                          <a:latin typeface="Calibri"/>
                        </a:rPr>
                        <a:t>19,86</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23</a:t>
            </a:r>
          </a:p>
        </p:txBody>
      </p:sp>
      <p:sp>
        <p:nvSpPr>
          <p:cNvPr id="5" name="TextBox 4"/>
          <p:cNvSpPr txBox="1"/>
          <p:nvPr/>
        </p:nvSpPr>
        <p:spPr>
          <a:xfrm>
            <a:off x="1005840" y="109728"/>
            <a:ext cx="10728655" cy="777240"/>
          </a:xfrm>
          <a:prstGeom prst="rect">
            <a:avLst/>
          </a:prstGeom>
          <a:noFill/>
        </p:spPr>
        <p:txBody>
          <a:bodyPr wrap="square" lIns="0" tIns="0" rIns="0" bIns="0" anchor="ctr">
            <a:spAutoFit/>
          </a:bodyPr>
          <a:lstStyle/>
          <a:p>
            <a:r>
              <a:rPr sz="1100" b="1" i="0">
                <a:solidFill>
                  <a:srgbClr val="99F6E4"/>
                </a:solidFill>
                <a:latin typeface="Calibri"/>
              </a:rPr>
              <a:t>ANEXO · CONSULTA</a:t>
            </a:r>
          </a:p>
          <a:p>
            <a:r>
              <a:rPr sz="2600" b="1" i="0">
                <a:solidFill>
                  <a:srgbClr val="FFFFFF"/>
                </a:solidFill>
                <a:latin typeface="Calibri"/>
              </a:rPr>
              <a:t>Fuentes de los datos</a:t>
            </a:r>
          </a:p>
        </p:txBody>
      </p:sp>
      <p:sp>
        <p:nvSpPr>
          <p:cNvPr id="6" name="TextBox 5"/>
          <p:cNvSpPr txBox="1"/>
          <p:nvPr/>
        </p:nvSpPr>
        <p:spPr>
          <a:xfrm>
            <a:off x="502920" y="6473952"/>
            <a:ext cx="11185855" cy="274320"/>
          </a:xfrm>
          <a:prstGeom prst="rect">
            <a:avLst/>
          </a:prstGeom>
          <a:noFill/>
        </p:spPr>
        <p:txBody>
          <a:bodyPr wrap="square" lIns="0" tIns="0" rIns="0" bIns="0" anchor="ctr">
            <a:spAutoFit/>
          </a:bodyPr>
          <a:lstStyle/>
          <a:p>
            <a:r>
              <a:rPr sz="1000" b="0" i="0">
                <a:solidFill>
                  <a:srgbClr val="6B7280"/>
                </a:solidFill>
                <a:latin typeface="Calibri"/>
              </a:rPr>
              <a:t>Diseño según Plataformas de Juego · Unidad V · Anexo · Anexo: datos y fuentes</a:t>
            </a:r>
          </a:p>
        </p:txBody>
      </p:sp>
      <p:sp>
        <p:nvSpPr>
          <p:cNvPr id="7" name="TextBox 6"/>
          <p:cNvSpPr txBox="1"/>
          <p:nvPr/>
        </p:nvSpPr>
        <p:spPr>
          <a:xfrm>
            <a:off x="10774375" y="6473952"/>
            <a:ext cx="914400" cy="274320"/>
          </a:xfrm>
          <a:prstGeom prst="rect">
            <a:avLst/>
          </a:prstGeom>
          <a:noFill/>
        </p:spPr>
        <p:txBody>
          <a:bodyPr wrap="square" lIns="0" tIns="0" rIns="0" bIns="0" anchor="ctr">
            <a:spAutoFit/>
          </a:bodyPr>
          <a:lstStyle/>
          <a:p>
            <a:pPr algn="r"/>
            <a:r>
              <a:rPr sz="1000" b="0" i="0">
                <a:solidFill>
                  <a:srgbClr val="6B7280"/>
                </a:solidFill>
                <a:latin typeface="Calibri"/>
              </a:rPr>
              <a:t>23/24</a:t>
            </a:r>
          </a:p>
        </p:txBody>
      </p:sp>
      <p:sp>
        <p:nvSpPr>
          <p:cNvPr id="8" name="TextBox 7"/>
          <p:cNvSpPr txBox="1"/>
          <p:nvPr/>
        </p:nvSpPr>
        <p:spPr>
          <a:xfrm>
            <a:off x="502920" y="6126480"/>
            <a:ext cx="11185855" cy="292608"/>
          </a:xfrm>
          <a:prstGeom prst="rect">
            <a:avLst/>
          </a:prstGeom>
          <a:noFill/>
        </p:spPr>
        <p:txBody>
          <a:bodyPr wrap="square" lIns="0" tIns="0" rIns="0" bIns="0" anchor="ctr">
            <a:spAutoFit/>
          </a:bodyPr>
          <a:lstStyle/>
          <a:p>
            <a:r>
              <a:rPr sz="1000" b="1" i="0">
                <a:solidFill>
                  <a:srgbClr val="6B7280"/>
                </a:solidFill>
                <a:latin typeface="Calibri"/>
              </a:rPr>
              <a:t>Fuente: </a:t>
            </a:r>
            <a:r>
              <a:rPr sz="1000" b="0" i="0">
                <a:solidFill>
                  <a:srgbClr val="6B7280"/>
                </a:solidFill>
                <a:latin typeface="Calibri"/>
              </a:rPr>
              <a:t>datos/fuentes.md (URL completas, verificadas el 2026-10-24)</a:t>
            </a:r>
          </a:p>
        </p:txBody>
      </p:sp>
      <p:graphicFrame>
        <p:nvGraphicFramePr>
          <p:cNvPr id="9" name="Table 8"/>
          <p:cNvGraphicFramePr>
            <a:graphicFrameLocks noGrp="1"/>
          </p:cNvGraphicFramePr>
          <p:nvPr/>
        </p:nvGraphicFramePr>
        <p:xfrm>
          <a:off x="502920" y="1234440"/>
          <a:ext cx="11185853" cy="3968496"/>
        </p:xfrm>
        <a:graphic>
          <a:graphicData uri="http://schemas.openxmlformats.org/drawingml/2006/table">
            <a:tbl>
              <a:tblPr firstRow="1" bandRow="1">
                <a:tableStyleId>{5C22544A-7EE6-4342-B048-85BDC9FD1C3A}</a:tableStyleId>
              </a:tblPr>
              <a:tblGrid>
                <a:gridCol w="1772016">
                  <a:extLst>
                    <a:ext uri="{9D8B030D-6E8A-4147-A177-3AD203B41FA5}">
                      <a16:colId xmlns:a16="http://schemas.microsoft.com/office/drawing/2014/main" val="20000"/>
                    </a:ext>
                  </a:extLst>
                </a:gridCol>
                <a:gridCol w="4540792">
                  <a:extLst>
                    <a:ext uri="{9D8B030D-6E8A-4147-A177-3AD203B41FA5}">
                      <a16:colId xmlns:a16="http://schemas.microsoft.com/office/drawing/2014/main" val="20001"/>
                    </a:ext>
                  </a:extLst>
                </a:gridCol>
                <a:gridCol w="4873045">
                  <a:extLst>
                    <a:ext uri="{9D8B030D-6E8A-4147-A177-3AD203B41FA5}">
                      <a16:colId xmlns:a16="http://schemas.microsoft.com/office/drawing/2014/main" val="20002"/>
                    </a:ext>
                  </a:extLst>
                </a:gridCol>
              </a:tblGrid>
              <a:tr h="566928">
                <a:tc>
                  <a:txBody>
                    <a:bodyPr/>
                    <a:lstStyle/>
                    <a:p>
                      <a:r>
                        <a:rPr sz="1200" b="1" i="0">
                          <a:solidFill>
                            <a:srgbClr val="FFFFFF"/>
                          </a:solidFill>
                          <a:latin typeface="Calibri"/>
                        </a:rPr>
                        <a:t>ID</a:t>
                      </a:r>
                    </a:p>
                  </a:txBody>
                  <a:tcPr marL="73152" marR="73152" marT="36576" marB="36576" anchor="ctr">
                    <a:solidFill>
                      <a:srgbClr val="0D9488"/>
                    </a:solidFill>
                  </a:tcPr>
                </a:tc>
                <a:tc>
                  <a:txBody>
                    <a:bodyPr/>
                    <a:lstStyle/>
                    <a:p>
                      <a:r>
                        <a:rPr sz="1200" b="1" i="0">
                          <a:solidFill>
                            <a:srgbClr val="FFFFFF"/>
                          </a:solidFill>
                          <a:latin typeface="Calibri"/>
                        </a:rPr>
                        <a:t>Fuente</a:t>
                      </a:r>
                    </a:p>
                  </a:txBody>
                  <a:tcPr marL="73152" marR="73152" marT="36576" marB="36576" anchor="ctr">
                    <a:solidFill>
                      <a:srgbClr val="0D9488"/>
                    </a:solidFill>
                  </a:tcPr>
                </a:tc>
                <a:tc>
                  <a:txBody>
                    <a:bodyPr/>
                    <a:lstStyle/>
                    <a:p>
                      <a:r>
                        <a:rPr sz="1200" b="1" i="0">
                          <a:solidFill>
                            <a:srgbClr val="FFFFFF"/>
                          </a:solidFill>
                          <a:latin typeface="Calibri"/>
                        </a:rPr>
                        <a:t>Aporta</a:t>
                      </a:r>
                    </a:p>
                  </a:txBody>
                  <a:tcPr marL="73152" marR="73152" marT="36576" marB="36576" anchor="ctr">
                    <a:solidFill>
                      <a:srgbClr val="0D9488"/>
                    </a:solidFill>
                  </a:tcPr>
                </a:tc>
                <a:extLst>
                  <a:ext uri="{0D108BD9-81ED-4DB2-BD59-A6C34878D82A}">
                    <a16:rowId xmlns:a16="http://schemas.microsoft.com/office/drawing/2014/main" val="10000"/>
                  </a:ext>
                </a:extLst>
              </a:tr>
              <a:tr h="566928">
                <a:tc>
                  <a:txBody>
                    <a:bodyPr/>
                    <a:lstStyle/>
                    <a:p>
                      <a:r>
                        <a:rPr sz="1200" b="0" i="0">
                          <a:solidFill>
                            <a:srgbClr val="1F2937"/>
                          </a:solidFill>
                          <a:latin typeface="Calibri"/>
                        </a:rPr>
                        <a:t>N1–N3</a:t>
                      </a:r>
                    </a:p>
                  </a:txBody>
                  <a:tcPr marL="73152" marR="73152" marT="36576" marB="36576" anchor="ctr">
                    <a:solidFill>
                      <a:srgbClr val="FFFFFF"/>
                    </a:solidFill>
                  </a:tcPr>
                </a:tc>
                <a:tc>
                  <a:txBody>
                    <a:bodyPr/>
                    <a:lstStyle/>
                    <a:p>
                      <a:r>
                        <a:rPr sz="1200" b="0" i="0">
                          <a:solidFill>
                            <a:srgbClr val="1F2937"/>
                          </a:solidFill>
                          <a:latin typeface="Calibri"/>
                        </a:rPr>
                        <a:t>Nintendo IR y comunicado 8-may-2026</a:t>
                      </a:r>
                    </a:p>
                  </a:txBody>
                  <a:tcPr marL="73152" marR="73152" marT="36576" marB="36576" anchor="ctr">
                    <a:solidFill>
                      <a:srgbClr val="FFFFFF"/>
                    </a:solidFill>
                  </a:tcPr>
                </a:tc>
                <a:tc>
                  <a:txBody>
                    <a:bodyPr/>
                    <a:lstStyle/>
                    <a:p>
                      <a:r>
                        <a:rPr sz="1200" b="0" i="0">
                          <a:solidFill>
                            <a:srgbClr val="1F2937"/>
                          </a:solidFill>
                          <a:latin typeface="Calibri"/>
                        </a:rPr>
                        <a:t>Ventas, regiones, precio Switch 2</a:t>
                      </a:r>
                    </a:p>
                  </a:txBody>
                  <a:tcPr marL="73152" marR="73152" marT="36576" marB="36576" anchor="ctr">
                    <a:solidFill>
                      <a:srgbClr val="FFFFFF"/>
                    </a:solidFill>
                  </a:tcPr>
                </a:tc>
                <a:extLst>
                  <a:ext uri="{0D108BD9-81ED-4DB2-BD59-A6C34878D82A}">
                    <a16:rowId xmlns:a16="http://schemas.microsoft.com/office/drawing/2014/main" val="10001"/>
                  </a:ext>
                </a:extLst>
              </a:tr>
              <a:tr h="566928">
                <a:tc>
                  <a:txBody>
                    <a:bodyPr/>
                    <a:lstStyle/>
                    <a:p>
                      <a:r>
                        <a:rPr sz="1200" b="0" i="0">
                          <a:solidFill>
                            <a:srgbClr val="1F2937"/>
                          </a:solidFill>
                          <a:latin typeface="Calibri"/>
                        </a:rPr>
                        <a:t>S1–S6</a:t>
                      </a:r>
                    </a:p>
                  </a:txBody>
                  <a:tcPr marL="73152" marR="73152" marT="36576" marB="36576" anchor="ctr">
                    <a:solidFill>
                      <a:srgbClr val="E6F4F2"/>
                    </a:solidFill>
                  </a:tcPr>
                </a:tc>
                <a:tc>
                  <a:txBody>
                    <a:bodyPr/>
                    <a:lstStyle/>
                    <a:p>
                      <a:r>
                        <a:rPr sz="1200" b="0" i="0">
                          <a:solidFill>
                            <a:srgbClr val="1F2937"/>
                          </a:solidFill>
                          <a:latin typeface="Calibri"/>
                        </a:rPr>
                        <a:t>SIE, PlayStation Blog, 20-F</a:t>
                      </a:r>
                    </a:p>
                  </a:txBody>
                  <a:tcPr marL="73152" marR="73152" marT="36576" marB="36576" anchor="ctr">
                    <a:solidFill>
                      <a:srgbClr val="E6F4F2"/>
                    </a:solidFill>
                  </a:tcPr>
                </a:tc>
                <a:tc>
                  <a:txBody>
                    <a:bodyPr/>
                    <a:lstStyle/>
                    <a:p>
                      <a:r>
                        <a:rPr sz="1200" b="0" i="0">
                          <a:solidFill>
                            <a:srgbClr val="1F2937"/>
                          </a:solidFill>
                          <a:latin typeface="Calibri"/>
                        </a:rPr>
                        <a:t>Ventas, precios, fechas</a:t>
                      </a:r>
                    </a:p>
                  </a:txBody>
                  <a:tcPr marL="73152" marR="73152" marT="36576" marB="36576" anchor="ctr">
                    <a:solidFill>
                      <a:srgbClr val="E6F4F2"/>
                    </a:solidFill>
                  </a:tcPr>
                </a:tc>
                <a:extLst>
                  <a:ext uri="{0D108BD9-81ED-4DB2-BD59-A6C34878D82A}">
                    <a16:rowId xmlns:a16="http://schemas.microsoft.com/office/drawing/2014/main" val="10002"/>
                  </a:ext>
                </a:extLst>
              </a:tr>
              <a:tr h="566928">
                <a:tc>
                  <a:txBody>
                    <a:bodyPr/>
                    <a:lstStyle/>
                    <a:p>
                      <a:r>
                        <a:rPr sz="1200" b="0" i="0">
                          <a:solidFill>
                            <a:srgbClr val="1F2937"/>
                          </a:solidFill>
                          <a:latin typeface="Calibri"/>
                        </a:rPr>
                        <a:t>M1–M3</a:t>
                      </a:r>
                    </a:p>
                  </a:txBody>
                  <a:tcPr marL="73152" marR="73152" marT="36576" marB="36576" anchor="ctr">
                    <a:solidFill>
                      <a:srgbClr val="FFFFFF"/>
                    </a:solidFill>
                  </a:tcPr>
                </a:tc>
                <a:tc>
                  <a:txBody>
                    <a:bodyPr/>
                    <a:lstStyle/>
                    <a:p>
                      <a:r>
                        <a:rPr sz="1200" b="0" i="0">
                          <a:solidFill>
                            <a:srgbClr val="1F2937"/>
                          </a:solidFill>
                          <a:latin typeface="Calibri"/>
                        </a:rPr>
                        <a:t>Microsoft, Xbox Wire</a:t>
                      </a:r>
                    </a:p>
                  </a:txBody>
                  <a:tcPr marL="73152" marR="73152" marT="36576" marB="36576" anchor="ctr">
                    <a:solidFill>
                      <a:srgbClr val="FFFFFF"/>
                    </a:solidFill>
                  </a:tcPr>
                </a:tc>
                <a:tc>
                  <a:txBody>
                    <a:bodyPr/>
                    <a:lstStyle/>
                    <a:p>
                      <a:r>
                        <a:rPr sz="1200" b="0" i="0">
                          <a:solidFill>
                            <a:srgbClr val="1F2937"/>
                          </a:solidFill>
                          <a:latin typeface="Calibri"/>
                        </a:rPr>
                        <a:t>Fechas, precios, crisis de componentes</a:t>
                      </a:r>
                    </a:p>
                  </a:txBody>
                  <a:tcPr marL="73152" marR="73152" marT="36576" marB="36576" anchor="ctr">
                    <a:solidFill>
                      <a:srgbClr val="FFFFFF"/>
                    </a:solidFill>
                  </a:tcPr>
                </a:tc>
                <a:extLst>
                  <a:ext uri="{0D108BD9-81ED-4DB2-BD59-A6C34878D82A}">
                    <a16:rowId xmlns:a16="http://schemas.microsoft.com/office/drawing/2014/main" val="10003"/>
                  </a:ext>
                </a:extLst>
              </a:tr>
              <a:tr h="566928">
                <a:tc>
                  <a:txBody>
                    <a:bodyPr/>
                    <a:lstStyle/>
                    <a:p>
                      <a:r>
                        <a:rPr sz="1200" b="0" i="0">
                          <a:solidFill>
                            <a:srgbClr val="1F2937"/>
                          </a:solidFill>
                          <a:latin typeface="Calibri"/>
                        </a:rPr>
                        <a:t>V1</a:t>
                      </a:r>
                    </a:p>
                  </a:txBody>
                  <a:tcPr marL="73152" marR="73152" marT="36576" marB="36576" anchor="ctr">
                    <a:solidFill>
                      <a:srgbClr val="E6F4F2"/>
                    </a:solidFill>
                  </a:tcPr>
                </a:tc>
                <a:tc>
                  <a:txBody>
                    <a:bodyPr/>
                    <a:lstStyle/>
                    <a:p>
                      <a:r>
                        <a:rPr sz="1200" b="0" i="0">
                          <a:solidFill>
                            <a:srgbClr val="1F2937"/>
                          </a:solidFill>
                          <a:latin typeface="Calibri"/>
                        </a:rPr>
                        <a:t>Steam Store</a:t>
                      </a:r>
                    </a:p>
                  </a:txBody>
                  <a:tcPr marL="73152" marR="73152" marT="36576" marB="36576" anchor="ctr">
                    <a:solidFill>
                      <a:srgbClr val="E6F4F2"/>
                    </a:solidFill>
                  </a:tcPr>
                </a:tc>
                <a:tc>
                  <a:txBody>
                    <a:bodyPr/>
                    <a:lstStyle/>
                    <a:p>
                      <a:r>
                        <a:rPr sz="1200" b="0" i="0">
                          <a:solidFill>
                            <a:srgbClr val="1F2937"/>
                          </a:solidFill>
                          <a:latin typeface="Calibri"/>
                        </a:rPr>
                        <a:t>Steam Machine</a:t>
                      </a:r>
                    </a:p>
                  </a:txBody>
                  <a:tcPr marL="73152" marR="73152" marT="36576" marB="36576" anchor="ctr">
                    <a:solidFill>
                      <a:srgbClr val="E6F4F2"/>
                    </a:solidFill>
                  </a:tcPr>
                </a:tc>
                <a:extLst>
                  <a:ext uri="{0D108BD9-81ED-4DB2-BD59-A6C34878D82A}">
                    <a16:rowId xmlns:a16="http://schemas.microsoft.com/office/drawing/2014/main" val="10004"/>
                  </a:ext>
                </a:extLst>
              </a:tr>
              <a:tr h="566928">
                <a:tc>
                  <a:txBody>
                    <a:bodyPr/>
                    <a:lstStyle/>
                    <a:p>
                      <a:r>
                        <a:rPr sz="1200" b="0" i="0">
                          <a:solidFill>
                            <a:srgbClr val="1F2937"/>
                          </a:solidFill>
                          <a:latin typeface="Calibri"/>
                        </a:rPr>
                        <a:t>G1</a:t>
                      </a:r>
                    </a:p>
                  </a:txBody>
                  <a:tcPr marL="73152" marR="73152" marT="36576" marB="36576" anchor="ctr">
                    <a:solidFill>
                      <a:srgbClr val="FFFFFF"/>
                    </a:solidFill>
                  </a:tcPr>
                </a:tc>
                <a:tc>
                  <a:txBody>
                    <a:bodyPr/>
                    <a:lstStyle/>
                    <a:p>
                      <a:r>
                        <a:rPr sz="1200" b="0" i="0">
                          <a:solidFill>
                            <a:srgbClr val="1F2937"/>
                          </a:solidFill>
                          <a:latin typeface="Calibri"/>
                        </a:rPr>
                        <a:t>GamesBeat (Newzoo)</a:t>
                      </a:r>
                    </a:p>
                  </a:txBody>
                  <a:tcPr marL="73152" marR="73152" marT="36576" marB="36576" anchor="ctr">
                    <a:solidFill>
                      <a:srgbClr val="FFFFFF"/>
                    </a:solidFill>
                  </a:tcPr>
                </a:tc>
                <a:tc>
                  <a:txBody>
                    <a:bodyPr/>
                    <a:lstStyle/>
                    <a:p>
                      <a:r>
                        <a:rPr sz="1200" b="0" i="0">
                          <a:solidFill>
                            <a:srgbClr val="1F2937"/>
                          </a:solidFill>
                          <a:latin typeface="Calibri"/>
                        </a:rPr>
                        <a:t>Mercado 2025</a:t>
                      </a:r>
                    </a:p>
                  </a:txBody>
                  <a:tcPr marL="73152" marR="73152" marT="36576" marB="36576" anchor="ctr">
                    <a:solidFill>
                      <a:srgbClr val="FFFFFF"/>
                    </a:solidFill>
                  </a:tcPr>
                </a:tc>
                <a:extLst>
                  <a:ext uri="{0D108BD9-81ED-4DB2-BD59-A6C34878D82A}">
                    <a16:rowId xmlns:a16="http://schemas.microsoft.com/office/drawing/2014/main" val="10005"/>
                  </a:ext>
                </a:extLst>
              </a:tr>
              <a:tr h="566928">
                <a:tc>
                  <a:txBody>
                    <a:bodyPr/>
                    <a:lstStyle/>
                    <a:p>
                      <a:r>
                        <a:rPr sz="1200" b="0" i="0">
                          <a:solidFill>
                            <a:srgbClr val="1F2937"/>
                          </a:solidFill>
                          <a:latin typeface="Calibri"/>
                        </a:rPr>
                        <a:t>B-1 a B-52</a:t>
                      </a:r>
                    </a:p>
                  </a:txBody>
                  <a:tcPr marL="73152" marR="73152" marT="36576" marB="36576" anchor="ctr">
                    <a:solidFill>
                      <a:srgbClr val="E6F4F2"/>
                    </a:solidFill>
                  </a:tcPr>
                </a:tc>
                <a:tc>
                  <a:txBody>
                    <a:bodyPr/>
                    <a:lstStyle/>
                    <a:p>
                      <a:r>
                        <a:rPr sz="1200" b="0" i="0">
                          <a:solidFill>
                            <a:srgbClr val="1F2937"/>
                          </a:solidFill>
                          <a:latin typeface="Calibri"/>
                        </a:rPr>
                        <a:t>Investigación preliminar U5</a:t>
                      </a:r>
                    </a:p>
                  </a:txBody>
                  <a:tcPr marL="73152" marR="73152" marT="36576" marB="36576" anchor="ctr">
                    <a:solidFill>
                      <a:srgbClr val="E6F4F2"/>
                    </a:solidFill>
                  </a:tcPr>
                </a:tc>
                <a:tc>
                  <a:txBody>
                    <a:bodyPr/>
                    <a:lstStyle/>
                    <a:p>
                      <a:r>
                        <a:rPr sz="1200" b="0" i="0">
                          <a:solidFill>
                            <a:srgbClr val="1F2937"/>
                          </a:solidFill>
                          <a:latin typeface="Calibri"/>
                        </a:rPr>
                        <a:t>Specs, certificación, mandos</a:t>
                      </a:r>
                    </a:p>
                  </a:txBody>
                  <a:tcPr marL="73152" marR="73152" marT="36576" marB="36576" anchor="ctr">
                    <a:solidFill>
                      <a:srgbClr val="E6F4F2"/>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24</a:t>
            </a:r>
          </a:p>
        </p:txBody>
      </p:sp>
      <p:sp>
        <p:nvSpPr>
          <p:cNvPr id="5" name="TextBox 4"/>
          <p:cNvSpPr txBox="1"/>
          <p:nvPr/>
        </p:nvSpPr>
        <p:spPr>
          <a:xfrm>
            <a:off x="1005840" y="109728"/>
            <a:ext cx="10728655" cy="777240"/>
          </a:xfrm>
          <a:prstGeom prst="rect">
            <a:avLst/>
          </a:prstGeom>
          <a:noFill/>
        </p:spPr>
        <p:txBody>
          <a:bodyPr wrap="square" lIns="0" tIns="0" rIns="0" bIns="0" anchor="ctr">
            <a:spAutoFit/>
          </a:bodyPr>
          <a:lstStyle/>
          <a:p>
            <a:r>
              <a:rPr sz="1100" b="1" i="0">
                <a:solidFill>
                  <a:srgbClr val="99F6E4"/>
                </a:solidFill>
                <a:latin typeface="Calibri"/>
              </a:rPr>
              <a:t>ANEXO · CONSULTA</a:t>
            </a:r>
          </a:p>
          <a:p>
            <a:r>
              <a:rPr sz="2600" b="1" i="0">
                <a:solidFill>
                  <a:srgbClr val="FFFFFF"/>
                </a:solidFill>
                <a:latin typeface="Calibri"/>
              </a:rPr>
              <a:t>No verificado: no usar como dato</a:t>
            </a:r>
          </a:p>
        </p:txBody>
      </p:sp>
      <p:sp>
        <p:nvSpPr>
          <p:cNvPr id="6" name="TextBox 5"/>
          <p:cNvSpPr txBox="1"/>
          <p:nvPr/>
        </p:nvSpPr>
        <p:spPr>
          <a:xfrm>
            <a:off x="502920" y="6473952"/>
            <a:ext cx="11185855" cy="274320"/>
          </a:xfrm>
          <a:prstGeom prst="rect">
            <a:avLst/>
          </a:prstGeom>
          <a:noFill/>
        </p:spPr>
        <p:txBody>
          <a:bodyPr wrap="square" lIns="0" tIns="0" rIns="0" bIns="0" anchor="ctr">
            <a:spAutoFit/>
          </a:bodyPr>
          <a:lstStyle/>
          <a:p>
            <a:r>
              <a:rPr sz="1000" b="0" i="0">
                <a:solidFill>
                  <a:srgbClr val="6B7280"/>
                </a:solidFill>
                <a:latin typeface="Calibri"/>
              </a:rPr>
              <a:t>Diseño según Plataformas de Juego · Unidad V · Anexo · Anexo: datos y fuentes</a:t>
            </a:r>
          </a:p>
        </p:txBody>
      </p:sp>
      <p:sp>
        <p:nvSpPr>
          <p:cNvPr id="7" name="TextBox 6"/>
          <p:cNvSpPr txBox="1"/>
          <p:nvPr/>
        </p:nvSpPr>
        <p:spPr>
          <a:xfrm>
            <a:off x="10774375" y="6473952"/>
            <a:ext cx="914400" cy="274320"/>
          </a:xfrm>
          <a:prstGeom prst="rect">
            <a:avLst/>
          </a:prstGeom>
          <a:noFill/>
        </p:spPr>
        <p:txBody>
          <a:bodyPr wrap="square" lIns="0" tIns="0" rIns="0" bIns="0" anchor="ctr">
            <a:spAutoFit/>
          </a:bodyPr>
          <a:lstStyle/>
          <a:p>
            <a:pPr algn="r"/>
            <a:r>
              <a:rPr sz="1000" b="0" i="0">
                <a:solidFill>
                  <a:srgbClr val="6B7280"/>
                </a:solidFill>
                <a:latin typeface="Calibri"/>
              </a:rPr>
              <a:t>24/24</a:t>
            </a:r>
          </a:p>
        </p:txBody>
      </p:sp>
      <p:sp>
        <p:nvSpPr>
          <p:cNvPr id="8" name="TextBox 7"/>
          <p:cNvSpPr txBox="1"/>
          <p:nvPr/>
        </p:nvSpPr>
        <p:spPr>
          <a:xfrm>
            <a:off x="502920" y="1234440"/>
            <a:ext cx="11185855" cy="4754880"/>
          </a:xfrm>
          <a:prstGeom prst="rect">
            <a:avLst/>
          </a:prstGeom>
          <a:noFill/>
        </p:spPr>
        <p:txBody>
          <a:bodyPr wrap="square" lIns="0" tIns="0" rIns="0" bIns="0" anchor="t">
            <a:spAutoFit/>
          </a:bodyPr>
          <a:lstStyle/>
          <a:p>
            <a:pPr>
              <a:spcAft>
                <a:spcPts val="800"/>
              </a:spcAft>
            </a:pPr>
            <a:r>
              <a:rPr sz="1600" b="1" i="0">
                <a:solidFill>
                  <a:srgbClr val="0D9488"/>
                </a:solidFill>
                <a:latin typeface="Calibri"/>
              </a:rPr>
              <a:t>■  </a:t>
            </a:r>
            <a:r>
              <a:rPr sz="2200" b="0" i="0">
                <a:solidFill>
                  <a:srgbClr val="1F2937"/>
                </a:solidFill>
                <a:latin typeface="Calibri"/>
              </a:rPr>
              <a:t>Unidades de Xbox (360, Series)</a:t>
            </a:r>
          </a:p>
          <a:p>
            <a:pPr>
              <a:spcAft>
                <a:spcPts val="800"/>
              </a:spcAft>
            </a:pPr>
            <a:r>
              <a:rPr sz="1600" b="1" i="0">
                <a:solidFill>
                  <a:srgbClr val="0D9488"/>
                </a:solidFill>
                <a:latin typeface="Calibri"/>
              </a:rPr>
              <a:t>■  </a:t>
            </a:r>
            <a:r>
              <a:rPr sz="2200" b="0" i="0">
                <a:solidFill>
                  <a:srgbClr val="1F2937"/>
                </a:solidFill>
                <a:latin typeface="Calibri"/>
              </a:rPr>
              <a:t>RAM de Switch 2 y specs base de PS5</a:t>
            </a:r>
          </a:p>
          <a:p>
            <a:pPr>
              <a:spcAft>
                <a:spcPts val="800"/>
              </a:spcAft>
            </a:pPr>
            <a:r>
              <a:rPr sz="1600" b="1" i="0">
                <a:solidFill>
                  <a:srgbClr val="0D9488"/>
                </a:solidFill>
                <a:latin typeface="Calibri"/>
              </a:rPr>
              <a:t>■  </a:t>
            </a:r>
            <a:r>
              <a:rPr sz="2200" b="0" i="0">
                <a:solidFill>
                  <a:srgbClr val="1F2937"/>
                </a:solidFill>
                <a:latin typeface="Calibri"/>
              </a:rPr>
              <a:t>Crisis de 1983 (conocimiento general)</a:t>
            </a:r>
          </a:p>
          <a:p>
            <a:pPr>
              <a:spcAft>
                <a:spcPts val="800"/>
              </a:spcAft>
            </a:pPr>
            <a:r>
              <a:rPr sz="1600" b="1" i="0">
                <a:solidFill>
                  <a:srgbClr val="0D9488"/>
                </a:solidFill>
                <a:latin typeface="Calibri"/>
              </a:rPr>
              <a:t>■  </a:t>
            </a:r>
            <a:r>
              <a:rPr sz="2200" b="0" i="0">
                <a:solidFill>
                  <a:srgbClr val="1F2937"/>
                </a:solidFill>
                <a:latin typeface="Calibri"/>
              </a:rPr>
              <a:t>Newzoo por segmento en dólares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TotalTime>
  <Words>7339</Words>
  <Application>Microsoft Office PowerPoint</Application>
  <PresentationFormat>Panorámica</PresentationFormat>
  <Paragraphs>687</Paragraphs>
  <Slides>24</Slides>
  <Notes>24</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24</vt:i4>
      </vt:variant>
    </vt:vector>
  </HeadingPairs>
  <TitlesOfParts>
    <vt:vector size="27"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Hilarion</cp:lastModifiedBy>
  <cp:revision>2</cp:revision>
  <dcterms:created xsi:type="dcterms:W3CDTF">2013-01-27T09:14:16Z</dcterms:created>
  <dcterms:modified xsi:type="dcterms:W3CDTF">2026-10-24T22:01:58Z</dcterms:modified>
  <cp:category/>
</cp:coreProperties>
</file>