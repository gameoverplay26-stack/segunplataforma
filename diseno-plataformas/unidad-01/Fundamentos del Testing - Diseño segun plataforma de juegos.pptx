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2011680"/>
            <a:ext cx="8229600" cy="365760"/>
          </a:xfrm>
          <a:prstGeom prst="rect">
            <a:avLst/>
          </a:prstGeom>
          <a:noFill/>
          <a:ln/>
        </p:spPr>
        <p:txBody>
          <a:bodyPr wrap="square" rtlCol="0" anchor="ctr"/>
          <a:lstStyle/>
          <a:p>
            <a:pPr indent="0" marL="0">
              <a:buNone/>
            </a:pPr>
            <a:r>
              <a:rPr lang="en-US" sz="1400" b="1" spc="300" kern="0" dirty="0">
                <a:solidFill>
                  <a:srgbClr val="5FE3FF"/>
                </a:solidFill>
                <a:latin typeface="Consolas" pitchFamily="34" charset="0"/>
                <a:ea typeface="Consolas" pitchFamily="34" charset="-122"/>
                <a:cs typeface="Consolas" pitchFamily="34" charset="-120"/>
              </a:rPr>
              <a:t>CLASE MAGISTRAL · 120 MIN</a:t>
            </a:r>
            <a:endParaRPr lang="en-US" sz="1400" dirty="0"/>
          </a:p>
        </p:txBody>
      </p:sp>
      <p:sp>
        <p:nvSpPr>
          <p:cNvPr id="3" name="Text 1"/>
          <p:cNvSpPr/>
          <p:nvPr/>
        </p:nvSpPr>
        <p:spPr>
          <a:xfrm>
            <a:off x="640080" y="2423160"/>
            <a:ext cx="10058400" cy="2103120"/>
          </a:xfrm>
          <a:prstGeom prst="rect">
            <a:avLst/>
          </a:prstGeom>
          <a:noFill/>
          <a:ln/>
        </p:spPr>
        <p:txBody>
          <a:bodyPr wrap="square" rtlCol="0" anchor="t"/>
          <a:lstStyle/>
          <a:p>
            <a:pPr indent="0" marL="0">
              <a:buNone/>
            </a:pPr>
            <a:r>
              <a:rPr lang="en-US" sz="5600" b="1" dirty="0">
                <a:solidFill>
                  <a:srgbClr val="EAF3FF"/>
                </a:solidFill>
                <a:latin typeface="Segoe UI Semibold" pitchFamily="34" charset="0"/>
                <a:ea typeface="Segoe UI Semibold" pitchFamily="34" charset="-122"/>
                <a:cs typeface="Segoe UI Semibold" pitchFamily="34" charset="-120"/>
              </a:rPr>
              <a:t>Fundamentos
</a:t>
            </a:r>
            <a:pPr indent="0" marL="0">
              <a:buNone/>
            </a:pPr>
            <a:r>
              <a:rPr lang="en-US" sz="5600" b="1" dirty="0">
                <a:solidFill>
                  <a:srgbClr val="5FE3FF"/>
                </a:solidFill>
                <a:latin typeface="Segoe UI Semibold" pitchFamily="34" charset="0"/>
                <a:ea typeface="Segoe UI Semibold" pitchFamily="34" charset="-122"/>
                <a:cs typeface="Segoe UI Semibold" pitchFamily="34" charset="-120"/>
              </a:rPr>
              <a:t>del Testing</a:t>
            </a:r>
            <a:endParaRPr lang="en-US" sz="5600" dirty="0"/>
          </a:p>
        </p:txBody>
      </p:sp>
      <p:sp>
        <p:nvSpPr>
          <p:cNvPr id="4" name="Text 2"/>
          <p:cNvSpPr/>
          <p:nvPr/>
        </p:nvSpPr>
        <p:spPr>
          <a:xfrm>
            <a:off x="640080" y="4434840"/>
            <a:ext cx="8229600" cy="548640"/>
          </a:xfrm>
          <a:prstGeom prst="rect">
            <a:avLst/>
          </a:prstGeom>
          <a:noFill/>
          <a:ln/>
        </p:spPr>
        <p:txBody>
          <a:bodyPr wrap="square" rtlCol="0" anchor="ctr"/>
          <a:lstStyle/>
          <a:p>
            <a:pPr indent="0" marL="0">
              <a:buNone/>
            </a:pPr>
            <a:r>
              <a:rPr lang="en-US" sz="2200" dirty="0">
                <a:solidFill>
                  <a:srgbClr val="C3D4EA"/>
                </a:solidFill>
                <a:latin typeface="Segoe UI" pitchFamily="34" charset="0"/>
                <a:ea typeface="Segoe UI" pitchFamily="34" charset="-122"/>
                <a:cs typeface="Segoe UI" pitchFamily="34" charset="-120"/>
              </a:rPr>
              <a:t>Diseño según plataforma de juegos</a:t>
            </a:r>
            <a:endParaRPr lang="en-US" sz="2200" dirty="0"/>
          </a:p>
        </p:txBody>
      </p:sp>
      <p:sp>
        <p:nvSpPr>
          <p:cNvPr id="5" name="Shape 3"/>
          <p:cNvSpPr/>
          <p:nvPr/>
        </p:nvSpPr>
        <p:spPr>
          <a:xfrm>
            <a:off x="640080" y="5029200"/>
            <a:ext cx="1005840" cy="36576"/>
          </a:xfrm>
          <a:prstGeom prst="rect">
            <a:avLst/>
          </a:prstGeom>
          <a:solidFill>
            <a:srgbClr val="5FE3FF"/>
          </a:solidFill>
          <a:ln/>
        </p:spPr>
      </p:sp>
      <p:sp>
        <p:nvSpPr>
          <p:cNvPr id="6" name="Text 4"/>
          <p:cNvSpPr/>
          <p:nvPr/>
        </p:nvSpPr>
        <p:spPr>
          <a:xfrm>
            <a:off x="640080" y="6035040"/>
            <a:ext cx="5486400" cy="365760"/>
          </a:xfrm>
          <a:prstGeom prst="rect">
            <a:avLst/>
          </a:prstGeom>
          <a:noFill/>
          <a:ln/>
        </p:spPr>
        <p:txBody>
          <a:bodyPr wrap="square" rtlCol="0" anchor="ctr"/>
          <a:lstStyle/>
          <a:p>
            <a:pPr indent="0" marL="0">
              <a:buNone/>
            </a:pPr>
            <a:r>
              <a:rPr lang="en-US" sz="1600" b="1" dirty="0">
                <a:solidFill>
                  <a:srgbClr val="EAF3FF"/>
                </a:solidFill>
                <a:latin typeface="Segoe UI" pitchFamily="34" charset="0"/>
                <a:ea typeface="Segoe UI" pitchFamily="34" charset="-122"/>
                <a:cs typeface="Segoe UI" pitchFamily="34" charset="-120"/>
              </a:rPr>
              <a:t>Ing. Daniela Ramírez</a:t>
            </a:r>
            <a:endParaRPr lang="en-US" sz="1600" dirty="0"/>
          </a:p>
        </p:txBody>
      </p:sp>
      <p:sp>
        <p:nvSpPr>
          <p:cNvPr id="7" name="Text 5"/>
          <p:cNvSpPr/>
          <p:nvPr/>
        </p:nvSpPr>
        <p:spPr>
          <a:xfrm>
            <a:off x="640080" y="6355080"/>
            <a:ext cx="7315200" cy="320040"/>
          </a:xfrm>
          <a:prstGeom prst="rect">
            <a:avLst/>
          </a:prstGeom>
          <a:noFill/>
          <a:ln/>
        </p:spPr>
        <p:txBody>
          <a:bodyPr wrap="square" rtlCol="0" anchor="ctr"/>
          <a:lstStyle/>
          <a:p>
            <a:pPr indent="0" marL="0">
              <a:buNone/>
            </a:pPr>
            <a:r>
              <a:rPr lang="en-US" sz="1200" dirty="0">
                <a:solidFill>
                  <a:srgbClr val="93AED4"/>
                </a:solidFill>
                <a:latin typeface="Segoe UI" pitchFamily="34" charset="0"/>
                <a:ea typeface="Segoe UI" pitchFamily="34" charset="-122"/>
                <a:cs typeface="Segoe UI" pitchFamily="34" charset="-120"/>
              </a:rPr>
              <a:t>Docente · Diseño de pruebas de software para videojuegos</a:t>
            </a:r>
            <a:endParaRPr lang="en-US" sz="1200" dirty="0"/>
          </a:p>
        </p:txBody>
      </p:sp>
      <p:sp>
        <p:nvSpPr>
          <p:cNvPr id="8" name="Text 6"/>
          <p:cNvSpPr/>
          <p:nvPr/>
        </p:nvSpPr>
        <p:spPr>
          <a:xfrm>
            <a:off x="8808415" y="6263640"/>
            <a:ext cx="2743200" cy="274320"/>
          </a:xfrm>
          <a:prstGeom prst="rect">
            <a:avLst/>
          </a:prstGeom>
          <a:noFill/>
          <a:ln/>
        </p:spPr>
        <p:txBody>
          <a:bodyPr wrap="square" rtlCol="0" anchor="ctr"/>
          <a:lstStyle/>
          <a:p>
            <a:pPr algn="r" indent="0" marL="0">
              <a:buNone/>
            </a:pPr>
            <a:r>
              <a:rPr lang="en-US" sz="1000" dirty="0">
                <a:solidFill>
                  <a:srgbClr val="5FE3FF"/>
                </a:solidFill>
                <a:latin typeface="Consolas" pitchFamily="34" charset="0"/>
                <a:ea typeface="Consolas" pitchFamily="34" charset="-122"/>
                <a:cs typeface="Consolas" pitchFamily="34" charset="-120"/>
              </a:rPr>
              <a:t>01 / 38 · APERTURA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INTRODUCCIÓN ESTRATÉGICA · 10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De la intuición al rigor de ingeniería</a:t>
            </a:r>
            <a:endParaRPr lang="en-US" sz="3200" dirty="0"/>
          </a:p>
        </p:txBody>
      </p:sp>
      <p:sp>
        <p:nvSpPr>
          <p:cNvPr id="4" name="Text 2"/>
          <p:cNvSpPr/>
          <p:nvPr/>
        </p:nvSpPr>
        <p:spPr>
          <a:xfrm>
            <a:off x="640080" y="1828800"/>
            <a:ext cx="10881360" cy="118872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Como ingenieros de calidad, nuestra misión no es solo jugar, sino aplicar un rigor metodológico que garantice la estabilidad de productos de alta complejidad. Tendemos un puente entre el pensamiento lateral necesario para romper el sistema y la formalidad matemática necesaria para cubrir espacios de entrada masivos.</a:t>
            </a:r>
            <a:endParaRPr lang="en-US" sz="1700" dirty="0"/>
          </a:p>
        </p:txBody>
      </p:sp>
      <p:sp>
        <p:nvSpPr>
          <p:cNvPr id="5" name="Text 3"/>
          <p:cNvSpPr/>
          <p:nvPr/>
        </p:nvSpPr>
        <p:spPr>
          <a:xfrm>
            <a:off x="640080" y="3291840"/>
            <a:ext cx="2453564" cy="320040"/>
          </a:xfrm>
          <a:prstGeom prst="rect">
            <a:avLst/>
          </a:prstGeom>
          <a:noFill/>
          <a:ln/>
        </p:spPr>
        <p:txBody>
          <a:bodyPr wrap="square" rtlCol="0" anchor="ctr"/>
          <a:lstStyle/>
          <a:p>
            <a:pPr indent="0" marL="0">
              <a:buNone/>
            </a:pPr>
            <a:r>
              <a:rPr lang="en-US" sz="1300" b="1" dirty="0">
                <a:solidFill>
                  <a:srgbClr val="5FE3FF"/>
                </a:solidFill>
                <a:latin typeface="Consolas" pitchFamily="34" charset="0"/>
                <a:ea typeface="Consolas" pitchFamily="34" charset="-122"/>
                <a:cs typeface="Consolas" pitchFamily="34" charset="-120"/>
              </a:rPr>
              <a:t>01</a:t>
            </a:r>
            <a:endParaRPr lang="en-US" sz="1300" dirty="0"/>
          </a:p>
        </p:txBody>
      </p:sp>
      <p:sp>
        <p:nvSpPr>
          <p:cNvPr id="6" name="Text 4"/>
          <p:cNvSpPr/>
          <p:nvPr/>
        </p:nvSpPr>
        <p:spPr>
          <a:xfrm>
            <a:off x="640080" y="3611880"/>
            <a:ext cx="2453564" cy="457200"/>
          </a:xfrm>
          <a:prstGeom prst="rect">
            <a:avLst/>
          </a:prstGeom>
          <a:noFill/>
          <a:ln/>
        </p:spPr>
        <p:txBody>
          <a:bodyPr wrap="square" rtlCol="0" anchor="ctr"/>
          <a:lstStyle/>
          <a:p>
            <a:pPr indent="0" marL="0">
              <a:buNone/>
            </a:pPr>
            <a:r>
              <a:rPr lang="en-US" sz="1800" b="1" dirty="0">
                <a:solidFill>
                  <a:srgbClr val="EAF3FF"/>
                </a:solidFill>
                <a:latin typeface="Segoe UI Semibold" pitchFamily="34" charset="0"/>
                <a:ea typeface="Segoe UI Semibold" pitchFamily="34" charset="-122"/>
                <a:cs typeface="Segoe UI Semibold" pitchFamily="34" charset="-120"/>
              </a:rPr>
              <a:t>Informal</a:t>
            </a:r>
            <a:endParaRPr lang="en-US" sz="1800" dirty="0"/>
          </a:p>
        </p:txBody>
      </p:sp>
      <p:sp>
        <p:nvSpPr>
          <p:cNvPr id="7" name="Text 5"/>
          <p:cNvSpPr/>
          <p:nvPr/>
        </p:nvSpPr>
        <p:spPr>
          <a:xfrm>
            <a:off x="640080" y="4069080"/>
            <a:ext cx="2453564" cy="548640"/>
          </a:xfrm>
          <a:prstGeom prst="rect">
            <a:avLst/>
          </a:prstGeom>
          <a:noFill/>
          <a:ln/>
        </p:spPr>
        <p:txBody>
          <a:bodyPr wrap="square" rtlCol="0" anchor="ctr"/>
          <a:lstStyle/>
          <a:p>
            <a:pPr indent="0" marL="0">
              <a:buNone/>
            </a:pPr>
            <a:r>
              <a:rPr lang="en-US" sz="1200" dirty="0">
                <a:solidFill>
                  <a:srgbClr val="93AED4"/>
                </a:solidFill>
                <a:latin typeface="Segoe UI" pitchFamily="34" charset="0"/>
                <a:ea typeface="Segoe UI" pitchFamily="34" charset="-122"/>
                <a:cs typeface="Segoe UI" pitchFamily="34" charset="-120"/>
              </a:rPr>
              <a:t>Intuición y experiencia</a:t>
            </a:r>
            <a:endParaRPr lang="en-US" sz="1200" dirty="0"/>
          </a:p>
        </p:txBody>
      </p:sp>
      <p:sp>
        <p:nvSpPr>
          <p:cNvPr id="8" name="Shape 6"/>
          <p:cNvSpPr/>
          <p:nvPr/>
        </p:nvSpPr>
        <p:spPr>
          <a:xfrm>
            <a:off x="640080" y="4709160"/>
            <a:ext cx="2453564" cy="45720"/>
          </a:xfrm>
          <a:prstGeom prst="rect">
            <a:avLst/>
          </a:prstGeom>
          <a:solidFill>
            <a:srgbClr val="12294A"/>
          </a:solidFill>
          <a:ln/>
        </p:spPr>
      </p:sp>
      <p:sp>
        <p:nvSpPr>
          <p:cNvPr id="9" name="Shape 7"/>
          <p:cNvSpPr/>
          <p:nvPr/>
        </p:nvSpPr>
        <p:spPr>
          <a:xfrm>
            <a:off x="640080" y="4709160"/>
            <a:ext cx="2453564" cy="45720"/>
          </a:xfrm>
          <a:prstGeom prst="rect">
            <a:avLst/>
          </a:prstGeom>
          <a:solidFill>
            <a:srgbClr val="5FE3FF"/>
          </a:solidFill>
          <a:ln/>
        </p:spPr>
      </p:sp>
      <p:sp>
        <p:nvSpPr>
          <p:cNvPr id="10" name="Text 8"/>
          <p:cNvSpPr/>
          <p:nvPr/>
        </p:nvSpPr>
        <p:spPr>
          <a:xfrm>
            <a:off x="3367964" y="3291840"/>
            <a:ext cx="2453564" cy="320040"/>
          </a:xfrm>
          <a:prstGeom prst="rect">
            <a:avLst/>
          </a:prstGeom>
          <a:noFill/>
          <a:ln/>
        </p:spPr>
        <p:txBody>
          <a:bodyPr wrap="square" rtlCol="0" anchor="ctr"/>
          <a:lstStyle/>
          <a:p>
            <a:pPr indent="0" marL="0">
              <a:buNone/>
            </a:pPr>
            <a:r>
              <a:rPr lang="en-US" sz="1300" b="1" dirty="0">
                <a:solidFill>
                  <a:srgbClr val="5FE3FF"/>
                </a:solidFill>
                <a:latin typeface="Consolas" pitchFamily="34" charset="0"/>
                <a:ea typeface="Consolas" pitchFamily="34" charset="-122"/>
                <a:cs typeface="Consolas" pitchFamily="34" charset="-120"/>
              </a:rPr>
              <a:t>02</a:t>
            </a:r>
            <a:endParaRPr lang="en-US" sz="1300" dirty="0"/>
          </a:p>
        </p:txBody>
      </p:sp>
      <p:sp>
        <p:nvSpPr>
          <p:cNvPr id="11" name="Text 9"/>
          <p:cNvSpPr/>
          <p:nvPr/>
        </p:nvSpPr>
        <p:spPr>
          <a:xfrm>
            <a:off x="3367964" y="3611880"/>
            <a:ext cx="2453564" cy="457200"/>
          </a:xfrm>
          <a:prstGeom prst="rect">
            <a:avLst/>
          </a:prstGeom>
          <a:noFill/>
          <a:ln/>
        </p:spPr>
        <p:txBody>
          <a:bodyPr wrap="square" rtlCol="0" anchor="ctr"/>
          <a:lstStyle/>
          <a:p>
            <a:pPr indent="0" marL="0">
              <a:buNone/>
            </a:pPr>
            <a:r>
              <a:rPr lang="en-US" sz="1800" b="1" dirty="0">
                <a:solidFill>
                  <a:srgbClr val="EAF3FF"/>
                </a:solidFill>
                <a:latin typeface="Segoe UI Semibold" pitchFamily="34" charset="0"/>
                <a:ea typeface="Segoe UI Semibold" pitchFamily="34" charset="-122"/>
                <a:cs typeface="Segoe UI Semibold" pitchFamily="34" charset="-120"/>
              </a:rPr>
              <a:t>EP &amp; BVA</a:t>
            </a:r>
            <a:endParaRPr lang="en-US" sz="1800" dirty="0"/>
          </a:p>
        </p:txBody>
      </p:sp>
      <p:sp>
        <p:nvSpPr>
          <p:cNvPr id="12" name="Text 10"/>
          <p:cNvSpPr/>
          <p:nvPr/>
        </p:nvSpPr>
        <p:spPr>
          <a:xfrm>
            <a:off x="3367964" y="4069080"/>
            <a:ext cx="2453564" cy="548640"/>
          </a:xfrm>
          <a:prstGeom prst="rect">
            <a:avLst/>
          </a:prstGeom>
          <a:noFill/>
          <a:ln/>
        </p:spPr>
        <p:txBody>
          <a:bodyPr wrap="square" rtlCol="0" anchor="ctr"/>
          <a:lstStyle/>
          <a:p>
            <a:pPr indent="0" marL="0">
              <a:buNone/>
            </a:pPr>
            <a:r>
              <a:rPr lang="en-US" sz="1200" dirty="0">
                <a:solidFill>
                  <a:srgbClr val="93AED4"/>
                </a:solidFill>
                <a:latin typeface="Segoe UI" pitchFamily="34" charset="0"/>
                <a:ea typeface="Segoe UI" pitchFamily="34" charset="-122"/>
                <a:cs typeface="Segoe UI" pitchFamily="34" charset="-120"/>
              </a:rPr>
              <a:t>Caja negra estructurada</a:t>
            </a:r>
            <a:endParaRPr lang="en-US" sz="1200" dirty="0"/>
          </a:p>
        </p:txBody>
      </p:sp>
      <p:sp>
        <p:nvSpPr>
          <p:cNvPr id="13" name="Shape 11"/>
          <p:cNvSpPr/>
          <p:nvPr/>
        </p:nvSpPr>
        <p:spPr>
          <a:xfrm>
            <a:off x="3367964" y="4709160"/>
            <a:ext cx="2453564" cy="45720"/>
          </a:xfrm>
          <a:prstGeom prst="rect">
            <a:avLst/>
          </a:prstGeom>
          <a:solidFill>
            <a:srgbClr val="12294A"/>
          </a:solidFill>
          <a:ln/>
        </p:spPr>
      </p:sp>
      <p:sp>
        <p:nvSpPr>
          <p:cNvPr id="14" name="Shape 12"/>
          <p:cNvSpPr/>
          <p:nvPr/>
        </p:nvSpPr>
        <p:spPr>
          <a:xfrm>
            <a:off x="3367964" y="4709160"/>
            <a:ext cx="1913780" cy="45720"/>
          </a:xfrm>
          <a:prstGeom prst="rect">
            <a:avLst/>
          </a:prstGeom>
          <a:solidFill>
            <a:srgbClr val="5FE3FF"/>
          </a:solidFill>
          <a:ln/>
        </p:spPr>
      </p:sp>
      <p:sp>
        <p:nvSpPr>
          <p:cNvPr id="15" name="Text 13"/>
          <p:cNvSpPr/>
          <p:nvPr/>
        </p:nvSpPr>
        <p:spPr>
          <a:xfrm>
            <a:off x="6095848" y="3291840"/>
            <a:ext cx="2453564" cy="320040"/>
          </a:xfrm>
          <a:prstGeom prst="rect">
            <a:avLst/>
          </a:prstGeom>
          <a:noFill/>
          <a:ln/>
        </p:spPr>
        <p:txBody>
          <a:bodyPr wrap="square" rtlCol="0" anchor="ctr"/>
          <a:lstStyle/>
          <a:p>
            <a:pPr indent="0" marL="0">
              <a:buNone/>
            </a:pPr>
            <a:r>
              <a:rPr lang="en-US" sz="1300" b="1" dirty="0">
                <a:solidFill>
                  <a:srgbClr val="5FE3FF"/>
                </a:solidFill>
                <a:latin typeface="Consolas" pitchFamily="34" charset="0"/>
                <a:ea typeface="Consolas" pitchFamily="34" charset="-122"/>
                <a:cs typeface="Consolas" pitchFamily="34" charset="-120"/>
              </a:rPr>
              <a:t>03</a:t>
            </a:r>
            <a:endParaRPr lang="en-US" sz="1300" dirty="0"/>
          </a:p>
        </p:txBody>
      </p:sp>
      <p:sp>
        <p:nvSpPr>
          <p:cNvPr id="16" name="Text 14"/>
          <p:cNvSpPr/>
          <p:nvPr/>
        </p:nvSpPr>
        <p:spPr>
          <a:xfrm>
            <a:off x="6095848" y="3611880"/>
            <a:ext cx="2453564" cy="457200"/>
          </a:xfrm>
          <a:prstGeom prst="rect">
            <a:avLst/>
          </a:prstGeom>
          <a:noFill/>
          <a:ln/>
        </p:spPr>
        <p:txBody>
          <a:bodyPr wrap="square" rtlCol="0" anchor="ctr"/>
          <a:lstStyle/>
          <a:p>
            <a:pPr indent="0" marL="0">
              <a:buNone/>
            </a:pPr>
            <a:r>
              <a:rPr lang="en-US" sz="1800" b="1" dirty="0">
                <a:solidFill>
                  <a:srgbClr val="EAF3FF"/>
                </a:solidFill>
                <a:latin typeface="Segoe UI Semibold" pitchFamily="34" charset="0"/>
                <a:ea typeface="Segoe UI Semibold" pitchFamily="34" charset="-122"/>
                <a:cs typeface="Segoe UI Semibold" pitchFamily="34" charset="-120"/>
              </a:rPr>
              <a:t>Negativo &amp; Estados</a:t>
            </a:r>
            <a:endParaRPr lang="en-US" sz="1800" dirty="0"/>
          </a:p>
        </p:txBody>
      </p:sp>
      <p:sp>
        <p:nvSpPr>
          <p:cNvPr id="17" name="Text 15"/>
          <p:cNvSpPr/>
          <p:nvPr/>
        </p:nvSpPr>
        <p:spPr>
          <a:xfrm>
            <a:off x="6095848" y="4069080"/>
            <a:ext cx="2453564" cy="548640"/>
          </a:xfrm>
          <a:prstGeom prst="rect">
            <a:avLst/>
          </a:prstGeom>
          <a:noFill/>
          <a:ln/>
        </p:spPr>
        <p:txBody>
          <a:bodyPr wrap="square" rtlCol="0" anchor="ctr"/>
          <a:lstStyle/>
          <a:p>
            <a:pPr indent="0" marL="0">
              <a:buNone/>
            </a:pPr>
            <a:r>
              <a:rPr lang="en-US" sz="1200" dirty="0">
                <a:solidFill>
                  <a:srgbClr val="93AED4"/>
                </a:solidFill>
                <a:latin typeface="Segoe UI" pitchFamily="34" charset="0"/>
                <a:ea typeface="Segoe UI" pitchFamily="34" charset="-122"/>
                <a:cs typeface="Segoe UI" pitchFamily="34" charset="-120"/>
              </a:rPr>
              <a:t>Robustez del sistema</a:t>
            </a:r>
            <a:endParaRPr lang="en-US" sz="1200" dirty="0"/>
          </a:p>
        </p:txBody>
      </p:sp>
      <p:sp>
        <p:nvSpPr>
          <p:cNvPr id="18" name="Shape 16"/>
          <p:cNvSpPr/>
          <p:nvPr/>
        </p:nvSpPr>
        <p:spPr>
          <a:xfrm>
            <a:off x="6095848" y="4709160"/>
            <a:ext cx="2453564" cy="45720"/>
          </a:xfrm>
          <a:prstGeom prst="rect">
            <a:avLst/>
          </a:prstGeom>
          <a:solidFill>
            <a:srgbClr val="12294A"/>
          </a:solidFill>
          <a:ln/>
        </p:spPr>
      </p:sp>
      <p:sp>
        <p:nvSpPr>
          <p:cNvPr id="19" name="Shape 17"/>
          <p:cNvSpPr/>
          <p:nvPr/>
        </p:nvSpPr>
        <p:spPr>
          <a:xfrm>
            <a:off x="6095848" y="4709160"/>
            <a:ext cx="1373996" cy="45720"/>
          </a:xfrm>
          <a:prstGeom prst="rect">
            <a:avLst/>
          </a:prstGeom>
          <a:solidFill>
            <a:srgbClr val="5FE3FF"/>
          </a:solidFill>
          <a:ln/>
        </p:spPr>
      </p:sp>
      <p:sp>
        <p:nvSpPr>
          <p:cNvPr id="20" name="Text 18"/>
          <p:cNvSpPr/>
          <p:nvPr/>
        </p:nvSpPr>
        <p:spPr>
          <a:xfrm>
            <a:off x="8823731" y="3291840"/>
            <a:ext cx="2453564" cy="320040"/>
          </a:xfrm>
          <a:prstGeom prst="rect">
            <a:avLst/>
          </a:prstGeom>
          <a:noFill/>
          <a:ln/>
        </p:spPr>
        <p:txBody>
          <a:bodyPr wrap="square" rtlCol="0" anchor="ctr"/>
          <a:lstStyle/>
          <a:p>
            <a:pPr indent="0" marL="0">
              <a:buNone/>
            </a:pPr>
            <a:r>
              <a:rPr lang="en-US" sz="1300" b="1" dirty="0">
                <a:solidFill>
                  <a:srgbClr val="5FE3FF"/>
                </a:solidFill>
                <a:latin typeface="Consolas" pitchFamily="34" charset="0"/>
                <a:ea typeface="Consolas" pitchFamily="34" charset="-122"/>
                <a:cs typeface="Consolas" pitchFamily="34" charset="-120"/>
              </a:rPr>
              <a:t>04</a:t>
            </a:r>
            <a:endParaRPr lang="en-US" sz="1300" dirty="0"/>
          </a:p>
        </p:txBody>
      </p:sp>
      <p:sp>
        <p:nvSpPr>
          <p:cNvPr id="21" name="Text 19"/>
          <p:cNvSpPr/>
          <p:nvPr/>
        </p:nvSpPr>
        <p:spPr>
          <a:xfrm>
            <a:off x="8823731" y="3611880"/>
            <a:ext cx="2453564" cy="457200"/>
          </a:xfrm>
          <a:prstGeom prst="rect">
            <a:avLst/>
          </a:prstGeom>
          <a:noFill/>
          <a:ln/>
        </p:spPr>
        <p:txBody>
          <a:bodyPr wrap="square" rtlCol="0" anchor="ctr"/>
          <a:lstStyle/>
          <a:p>
            <a:pPr indent="0" marL="0">
              <a:buNone/>
            </a:pPr>
            <a:r>
              <a:rPr lang="en-US" sz="1800" b="1" dirty="0">
                <a:solidFill>
                  <a:srgbClr val="EAF3FF"/>
                </a:solidFill>
                <a:latin typeface="Segoe UI Semibold" pitchFamily="34" charset="0"/>
                <a:ea typeface="Segoe UI Semibold" pitchFamily="34" charset="-122"/>
                <a:cs typeface="Segoe UI Semibold" pitchFamily="34" charset="-120"/>
              </a:rPr>
              <a:t>Combinatoria</a:t>
            </a:r>
            <a:endParaRPr lang="en-US" sz="1800" dirty="0"/>
          </a:p>
        </p:txBody>
      </p:sp>
      <p:sp>
        <p:nvSpPr>
          <p:cNvPr id="22" name="Text 20"/>
          <p:cNvSpPr/>
          <p:nvPr/>
        </p:nvSpPr>
        <p:spPr>
          <a:xfrm>
            <a:off x="8823731" y="4069080"/>
            <a:ext cx="2453564" cy="548640"/>
          </a:xfrm>
          <a:prstGeom prst="rect">
            <a:avLst/>
          </a:prstGeom>
          <a:noFill/>
          <a:ln/>
        </p:spPr>
        <p:txBody>
          <a:bodyPr wrap="square" rtlCol="0" anchor="ctr"/>
          <a:lstStyle/>
          <a:p>
            <a:pPr indent="0" marL="0">
              <a:buNone/>
            </a:pPr>
            <a:r>
              <a:rPr lang="en-US" sz="1200" dirty="0">
                <a:solidFill>
                  <a:srgbClr val="93AED4"/>
                </a:solidFill>
                <a:latin typeface="Segoe UI" pitchFamily="34" charset="0"/>
                <a:ea typeface="Segoe UI" pitchFamily="34" charset="-122"/>
                <a:cs typeface="Segoe UI" pitchFamily="34" charset="-120"/>
              </a:rPr>
              <a:t>Rigor matemático</a:t>
            </a:r>
            <a:endParaRPr lang="en-US" sz="1200" dirty="0"/>
          </a:p>
        </p:txBody>
      </p:sp>
      <p:sp>
        <p:nvSpPr>
          <p:cNvPr id="23" name="Shape 21"/>
          <p:cNvSpPr/>
          <p:nvPr/>
        </p:nvSpPr>
        <p:spPr>
          <a:xfrm>
            <a:off x="8823731" y="4709160"/>
            <a:ext cx="2453564" cy="45720"/>
          </a:xfrm>
          <a:prstGeom prst="rect">
            <a:avLst/>
          </a:prstGeom>
          <a:solidFill>
            <a:srgbClr val="12294A"/>
          </a:solidFill>
          <a:ln/>
        </p:spPr>
      </p:sp>
      <p:sp>
        <p:nvSpPr>
          <p:cNvPr id="24" name="Shape 22"/>
          <p:cNvSpPr/>
          <p:nvPr/>
        </p:nvSpPr>
        <p:spPr>
          <a:xfrm>
            <a:off x="8823731" y="4709160"/>
            <a:ext cx="834212" cy="45720"/>
          </a:xfrm>
          <a:prstGeom prst="rect">
            <a:avLst/>
          </a:prstGeom>
          <a:solidFill>
            <a:srgbClr val="5FE3FF"/>
          </a:solidFill>
          <a:ln/>
        </p:spPr>
      </p:sp>
      <p:sp>
        <p:nvSpPr>
          <p:cNvPr id="25" name="Text 23"/>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INTRODUCCIÓN ESTRATÉGICA</a:t>
            </a:r>
            <a:endParaRPr lang="en-US" sz="1000" dirty="0"/>
          </a:p>
        </p:txBody>
      </p:sp>
      <p:sp>
        <p:nvSpPr>
          <p:cNvPr id="26" name="Text 24"/>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02 / 38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1 · TESTING INFORMAL VS. FORMAL · 20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Ad-hoc &amp; </a:t>
            </a:r>
            <a:pPr indent="0" marL="0">
              <a:buNone/>
            </a:pPr>
            <a:r>
              <a:rPr lang="en-US" sz="3200" b="1" dirty="0">
                <a:solidFill>
                  <a:srgbClr val="5FE3FF"/>
                </a:solidFill>
                <a:latin typeface="Segoe UI Semibold" pitchFamily="34" charset="0"/>
                <a:ea typeface="Segoe UI Semibold" pitchFamily="34" charset="-122"/>
                <a:cs typeface="Segoe UI Semibold" pitchFamily="34" charset="-120"/>
              </a:rPr>
              <a:t>Exploratory Testing</a:t>
            </a:r>
            <a:endParaRPr lang="en-US" sz="3200" dirty="0"/>
          </a:p>
        </p:txBody>
      </p:sp>
      <p:sp>
        <p:nvSpPr>
          <p:cNvPr id="4" name="Text 2"/>
          <p:cNvSpPr/>
          <p:nvPr/>
        </p:nvSpPr>
        <p:spPr>
          <a:xfrm>
            <a:off x="640080" y="1828800"/>
            <a:ext cx="7863840" cy="100584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Aunque la academia propone matices, en la industria el Ad-hoc y el Exploratory Testing operan como sinónimos profesionales: pruebas improvisadas para responder a una única pregunta.</a:t>
            </a:r>
            <a:endParaRPr lang="en-US" sz="1700" dirty="0"/>
          </a:p>
        </p:txBody>
      </p:sp>
      <p:sp>
        <p:nvSpPr>
          <p:cNvPr id="5" name="Text 3"/>
          <p:cNvSpPr/>
          <p:nvPr/>
        </p:nvSpPr>
        <p:spPr>
          <a:xfrm>
            <a:off x="640080" y="3200400"/>
            <a:ext cx="10881360" cy="1188720"/>
          </a:xfrm>
          <a:prstGeom prst="rect">
            <a:avLst>
              <a:gd name="adj" fmla="val 6154"/>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2600" b="1" dirty="0">
                <a:solidFill>
                  <a:srgbClr val="EAF3FF"/>
                </a:solidFill>
                <a:latin typeface="Segoe UI Semibold" pitchFamily="34" charset="0"/>
                <a:ea typeface="Segoe UI Semibold" pitchFamily="34" charset="-122"/>
                <a:cs typeface="Segoe UI Semibold" pitchFamily="34" charset="-120"/>
              </a:rPr>
              <a:t>“¿Qué pasaría si hago esto?”</a:t>
            </a:r>
            <a:endParaRPr lang="en-US" sz="26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1 · TESTING INFORMAL VS. FORMAL</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03 / 38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1 · TESTING INFORMAL VS. FORMAL · 20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El valor del </a:t>
            </a:r>
            <a:pPr indent="0" marL="0">
              <a:buNone/>
            </a:pPr>
            <a:r>
              <a:rPr lang="en-US" sz="3200" b="1" dirty="0">
                <a:solidFill>
                  <a:srgbClr val="5FE3FF"/>
                </a:solidFill>
                <a:latin typeface="Segoe UI Semibold" pitchFamily="34" charset="0"/>
                <a:ea typeface="Segoe UI Semibold" pitchFamily="34" charset="-122"/>
                <a:cs typeface="Segoe UI Semibold" pitchFamily="34" charset="-120"/>
              </a:rPr>
              <a:t>“ojo fresco”</a:t>
            </a:r>
            <a:endParaRPr lang="en-US" sz="3200" dirty="0"/>
          </a:p>
        </p:txBody>
      </p:sp>
      <p:sp>
        <p:nvSpPr>
          <p:cNvPr id="4" name="Text 2"/>
          <p:cNvSpPr/>
          <p:nvPr/>
        </p:nvSpPr>
        <p:spPr>
          <a:xfrm>
            <a:off x="640080" y="1828800"/>
            <a:ext cx="7863840" cy="91440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Es imperativa la rotación de testers. Un integrante nuevo aporta una perspectiva libre de sesgos cognitivos y hábitos adquiridos, capaz de detectar errores que los veteranos ya han normalizado.</a:t>
            </a:r>
            <a:endParaRPr lang="en-US" sz="1700" dirty="0"/>
          </a:p>
        </p:txBody>
      </p:sp>
      <p:sp>
        <p:nvSpPr>
          <p:cNvPr id="5" name="Text 3"/>
          <p:cNvSpPr/>
          <p:nvPr/>
        </p:nvSpPr>
        <p:spPr>
          <a:xfrm>
            <a:off x="640080" y="3017520"/>
            <a:ext cx="7863840" cy="2926080"/>
          </a:xfrm>
          <a:prstGeom prst="rect">
            <a:avLst/>
          </a:prstGeom>
          <a:noFill/>
          <a:ln/>
        </p:spPr>
        <p:txBody>
          <a:bodyPr wrap="square" rtlCol="0" anchor="t"/>
          <a:lstStyle/>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Sin historial en el proyecto, no da nada “por hecho”.</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Rota testers periódicamente entre módulos del juego.</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Los hábitos adquiridos son la principal causa de bugs invisibles para el equipo veterano.</a:t>
            </a:r>
            <a:endParaRPr lang="en-US" sz="16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1 · TESTING INFORMAL VS. FORMAL</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04 / 38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1 · TESTING INFORMAL VS. FORMAL · 20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Documentación ágil</a:t>
            </a:r>
            <a:endParaRPr lang="en-US" sz="3200" dirty="0"/>
          </a:p>
        </p:txBody>
      </p:sp>
      <p:sp>
        <p:nvSpPr>
          <p:cNvPr id="4" name="Text 2"/>
          <p:cNvSpPr/>
          <p:nvPr/>
        </p:nvSpPr>
        <p:spPr>
          <a:xfrm>
            <a:off x="640080" y="1828800"/>
            <a:ext cx="10881360" cy="100584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La informalidad no justifica el desorden. Se recomienda el uso de capturas y grabaciones —especialmente en secuencias de 15 a 20 minutos— para rastrear los pasos exactos que llevan al fallo.</a:t>
            </a:r>
            <a:endParaRPr lang="en-US" sz="1700" dirty="0"/>
          </a:p>
        </p:txBody>
      </p:sp>
      <p:sp>
        <p:nvSpPr>
          <p:cNvPr id="5" name="Text 3"/>
          <p:cNvSpPr/>
          <p:nvPr/>
        </p:nvSpPr>
        <p:spPr>
          <a:xfrm>
            <a:off x="640080" y="3291840"/>
            <a:ext cx="5212080" cy="1463040"/>
          </a:xfrm>
          <a:prstGeom prst="rect">
            <a:avLst>
              <a:gd name="adj" fmla="val 5000"/>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200" b="1" dirty="0">
                <a:solidFill>
                  <a:srgbClr val="5FE3FF"/>
                </a:solidFill>
                <a:latin typeface="Consolas" pitchFamily="34" charset="0"/>
                <a:ea typeface="Consolas" pitchFamily="34" charset="-122"/>
                <a:cs typeface="Consolas" pitchFamily="34" charset="-120"/>
              </a:rPr>
              <a:t>CAPTURA
</a:t>
            </a:r>
            <a:pPr indent="0" marL="0">
              <a:lnSpc>
                <a:spcPct val="125000"/>
              </a:lnSpc>
              <a:buNone/>
            </a:pPr>
            <a:r>
              <a:rPr lang="en-US" sz="1500" dirty="0">
                <a:solidFill>
                  <a:srgbClr val="C3D4EA"/>
                </a:solidFill>
                <a:latin typeface="Segoe UI" pitchFamily="34" charset="0"/>
                <a:ea typeface="Segoe UI" pitchFamily="34" charset="-122"/>
                <a:cs typeface="Segoe UI" pitchFamily="34" charset="-120"/>
              </a:rPr>
              <a:t>Fija el estado exacto del fallo: escena, HUD, variables visibles.</a:t>
            </a:r>
            <a:endParaRPr lang="en-US" sz="1500" dirty="0"/>
          </a:p>
        </p:txBody>
      </p:sp>
      <p:sp>
        <p:nvSpPr>
          <p:cNvPr id="6" name="Text 4"/>
          <p:cNvSpPr/>
          <p:nvPr/>
        </p:nvSpPr>
        <p:spPr>
          <a:xfrm>
            <a:off x="6309360" y="3291840"/>
            <a:ext cx="5212080" cy="1463040"/>
          </a:xfrm>
          <a:prstGeom prst="rect">
            <a:avLst>
              <a:gd name="adj" fmla="val 5000"/>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200" b="1" dirty="0">
                <a:solidFill>
                  <a:srgbClr val="5FE3FF"/>
                </a:solidFill>
                <a:latin typeface="Consolas" pitchFamily="34" charset="0"/>
                <a:ea typeface="Consolas" pitchFamily="34" charset="-122"/>
                <a:cs typeface="Consolas" pitchFamily="34" charset="-120"/>
              </a:rPr>
              <a:t>GRABACIÓN 15–20 MIN
</a:t>
            </a:r>
            <a:pPr indent="0" marL="0">
              <a:lnSpc>
                <a:spcPct val="125000"/>
              </a:lnSpc>
              <a:buNone/>
            </a:pPr>
            <a:r>
              <a:rPr lang="en-US" sz="1500" dirty="0">
                <a:solidFill>
                  <a:srgbClr val="C3D4EA"/>
                </a:solidFill>
                <a:latin typeface="Segoe UI" pitchFamily="34" charset="0"/>
                <a:ea typeface="Segoe UI" pitchFamily="34" charset="-122"/>
                <a:cs typeface="Segoe UI" pitchFamily="34" charset="-120"/>
              </a:rPr>
              <a:t>Reconstruye la secuencia completa de acciones que provocó el error.</a:t>
            </a:r>
            <a:endParaRPr lang="en-US" sz="1500" dirty="0"/>
          </a:p>
        </p:txBody>
      </p:sp>
      <p:sp>
        <p:nvSpPr>
          <p:cNvPr id="7" name="Text 5"/>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1 · TESTING INFORMAL VS. FORMAL</a:t>
            </a:r>
            <a:endParaRPr lang="en-US" sz="1000" dirty="0"/>
          </a:p>
        </p:txBody>
      </p:sp>
      <p:sp>
        <p:nvSpPr>
          <p:cNvPr id="8" name="Text 6"/>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05 / 38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41708"/>
        </a:solidFill>
      </p:bgPr>
    </p:bg>
    <p:spTree>
      <p:nvGrpSpPr>
        <p:cNvPr id="1" name=""/>
        <p:cNvGrpSpPr/>
        <p:nvPr/>
      </p:nvGrpSpPr>
      <p:grpSpPr>
        <a:xfrm>
          <a:off x="0" y="0"/>
          <a:ext cx="0" cy="0"/>
          <a:chOff x="0" y="0"/>
          <a:chExt cx="0" cy="0"/>
        </a:xfrm>
      </p:grpSpPr>
      <p:sp>
        <p:nvSpPr>
          <p:cNvPr id="2" name="Text 0"/>
          <p:cNvSpPr/>
          <p:nvPr/>
        </p:nvSpPr>
        <p:spPr>
          <a:xfrm>
            <a:off x="640080" y="384048"/>
            <a:ext cx="5943600" cy="384048"/>
          </a:xfrm>
          <a:prstGeom prst="rect">
            <a:avLst>
              <a:gd name="adj" fmla="val 42857"/>
            </a:avLst>
          </a:prstGeom>
          <a:solidFill>
            <a:srgbClr val="3A2410"/>
          </a:solidFill>
          <a:ln w="12700">
            <a:solidFill>
              <a:srgbClr val="6B4A1E"/>
            </a:solidFill>
          </a:ln>
        </p:spPr>
        <p:txBody>
          <a:bodyPr wrap="square" rtlCol="0" anchor="ctr"/>
          <a:lstStyle/>
          <a:p>
            <a:pPr algn="ctr" indent="0" marL="0">
              <a:buNone/>
            </a:pPr>
            <a:r>
              <a:rPr lang="en-US" sz="1200" b="1" dirty="0">
                <a:solidFill>
                  <a:srgbClr val="FFB454"/>
                </a:solidFill>
                <a:latin typeface="Consolas" pitchFamily="34" charset="0"/>
                <a:ea typeface="Consolas" pitchFamily="34" charset="-122"/>
                <a:cs typeface="Consolas" pitchFamily="34" charset="-120"/>
              </a:rPr>
              <a:t>DINÁMICA DE DEBATE 1 · 5 MIN</a:t>
            </a:r>
            <a:endParaRPr lang="en-US" sz="1200" dirty="0"/>
          </a:p>
        </p:txBody>
      </p:sp>
      <p:sp>
        <p:nvSpPr>
          <p:cNvPr id="3" name="Text 1"/>
          <p:cNvSpPr/>
          <p:nvPr/>
        </p:nvSpPr>
        <p:spPr>
          <a:xfrm>
            <a:off x="640080" y="1463040"/>
            <a:ext cx="10515600" cy="1463040"/>
          </a:xfrm>
          <a:prstGeom prst="rect">
            <a:avLst/>
          </a:prstGeom>
          <a:noFill/>
          <a:ln/>
        </p:spPr>
        <p:txBody>
          <a:bodyPr wrap="square" rtlCol="0" anchor="t"/>
          <a:lstStyle/>
          <a:p>
            <a:pPr indent="0" marL="0">
              <a:buNone/>
            </a:pPr>
            <a:r>
              <a:rPr lang="en-US" sz="3400" b="1" dirty="0">
                <a:solidFill>
                  <a:srgbClr val="EAF3FF"/>
                </a:solidFill>
                <a:latin typeface="Segoe UI Semibold" pitchFamily="34" charset="0"/>
                <a:ea typeface="Segoe UI Semibold" pitchFamily="34" charset="-122"/>
                <a:cs typeface="Segoe UI Semibold" pitchFamily="34" charset="-120"/>
              </a:rPr>
              <a:t>¿Es el testing informal una excepción —o un pilar habitual?</a:t>
            </a:r>
            <a:endParaRPr lang="en-US" sz="3400" dirty="0"/>
          </a:p>
        </p:txBody>
      </p:sp>
      <p:sp>
        <p:nvSpPr>
          <p:cNvPr id="4" name="Text 2"/>
          <p:cNvSpPr/>
          <p:nvPr/>
        </p:nvSpPr>
        <p:spPr>
          <a:xfrm>
            <a:off x="640080" y="3200400"/>
            <a:ext cx="9601200" cy="1280160"/>
          </a:xfrm>
          <a:prstGeom prst="rect">
            <a:avLst/>
          </a:prstGeom>
          <a:noFill/>
          <a:ln/>
        </p:spPr>
        <p:txBody>
          <a:bodyPr wrap="square" rtlCol="0" anchor="t"/>
          <a:lstStyle/>
          <a:p>
            <a:pPr indent="0" marL="0">
              <a:lnSpc>
                <a:spcPct val="130000"/>
              </a:lnSpc>
              <a:buNone/>
            </a:pPr>
            <a:r>
              <a:rPr lang="en-US" sz="1800" dirty="0">
                <a:solidFill>
                  <a:srgbClr val="C3D4EA"/>
                </a:solidFill>
                <a:latin typeface="Segoe UI" pitchFamily="34" charset="0"/>
                <a:ea typeface="Segoe UI" pitchFamily="34" charset="-122"/>
                <a:cs typeface="Segoe UI" pitchFamily="34" charset="-120"/>
              </a:rPr>
              <a:t>Analicemos cómo los deadlines agresivos de la industria de videojuegos y la ausencia de documentación técnica inicial obligan a los departamentos de QA a confiar en la intuición como primera línea de defensa.</a:t>
            </a:r>
            <a:endParaRPr lang="en-US" sz="1800" dirty="0"/>
          </a:p>
        </p:txBody>
      </p:sp>
      <p:sp>
        <p:nvSpPr>
          <p:cNvPr id="5" name="Text 3"/>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1 · TESTING INFORMAL VS. FORMAL</a:t>
            </a:r>
            <a:endParaRPr lang="en-US" sz="1000" dirty="0"/>
          </a:p>
        </p:txBody>
      </p:sp>
      <p:sp>
        <p:nvSpPr>
          <p:cNvPr id="6" name="Text 4"/>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FFB454"/>
                </a:solidFill>
                <a:latin typeface="Consolas" pitchFamily="34" charset="0"/>
                <a:ea typeface="Consolas" pitchFamily="34" charset="-122"/>
                <a:cs typeface="Consolas" pitchFamily="34" charset="-120"/>
              </a:rPr>
              <a:t>06 / 38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1 · TESTING INFORMAL VS. FORMAL · 20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El método científico en el debugging</a:t>
            </a:r>
            <a:endParaRPr lang="en-US" sz="3200" dirty="0"/>
          </a:p>
        </p:txBody>
      </p:sp>
      <p:sp>
        <p:nvSpPr>
          <p:cNvPr id="4" name="Text 2"/>
          <p:cNvSpPr/>
          <p:nvPr/>
        </p:nvSpPr>
        <p:spPr>
          <a:xfrm>
            <a:off x="640080" y="1828800"/>
            <a:ext cx="7863840" cy="54864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Para transformar un hallazgo informal en un reporte técnico accionable, aplicamos cuatro pasos:</a:t>
            </a:r>
            <a:endParaRPr lang="en-US" sz="1700" dirty="0"/>
          </a:p>
        </p:txBody>
      </p:sp>
      <p:sp>
        <p:nvSpPr>
          <p:cNvPr id="5" name="Text 3"/>
          <p:cNvSpPr/>
          <p:nvPr/>
        </p:nvSpPr>
        <p:spPr>
          <a:xfrm>
            <a:off x="640080" y="2651760"/>
            <a:ext cx="2499284" cy="2286000"/>
          </a:xfrm>
          <a:prstGeom prst="rect">
            <a:avLst>
              <a:gd name="adj" fmla="val 3200"/>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200" b="1" dirty="0">
                <a:solidFill>
                  <a:srgbClr val="5FE3FF"/>
                </a:solidFill>
                <a:latin typeface="Consolas" pitchFamily="34" charset="0"/>
                <a:ea typeface="Consolas" pitchFamily="34" charset="-122"/>
                <a:cs typeface="Consolas" pitchFamily="34" charset="-120"/>
              </a:rPr>
              <a:t>01
</a:t>
            </a:r>
            <a:pPr indent="0" marL="0">
              <a:lnSpc>
                <a:spcPct val="125000"/>
              </a:lnSpc>
              <a:buNone/>
            </a:pPr>
            <a:r>
              <a:rPr lang="en-US" sz="1600" b="1" dirty="0">
                <a:solidFill>
                  <a:srgbClr val="EAF3FF"/>
                </a:solidFill>
                <a:latin typeface="Segoe UI Semibold" pitchFamily="34" charset="0"/>
                <a:ea typeface="Segoe UI Semibold" pitchFamily="34" charset="-122"/>
                <a:cs typeface="Segoe UI Semibold" pitchFamily="34" charset="-120"/>
              </a:rPr>
              <a:t>Observación
</a:t>
            </a:r>
            <a:pPr indent="0" marL="0">
              <a:lnSpc>
                <a:spcPct val="125000"/>
              </a:lnSpc>
              <a:buNone/>
            </a:pPr>
            <a:r>
              <a:rPr lang="en-US" sz="1200" dirty="0">
                <a:solidFill>
                  <a:srgbClr val="93AED4"/>
                </a:solidFill>
                <a:latin typeface="Segoe UI" pitchFamily="34" charset="0"/>
                <a:ea typeface="Segoe UI" pitchFamily="34" charset="-122"/>
                <a:cs typeface="Segoe UI" pitchFamily="34" charset="-120"/>
              </a:rPr>
              <a:t>Identificar el fenómeno (ej. un personaje con el pelo de color erróneo).</a:t>
            </a:r>
            <a:endParaRPr lang="en-US" sz="1500" dirty="0"/>
          </a:p>
        </p:txBody>
      </p:sp>
      <p:sp>
        <p:nvSpPr>
          <p:cNvPr id="6" name="Text 4"/>
          <p:cNvSpPr/>
          <p:nvPr/>
        </p:nvSpPr>
        <p:spPr>
          <a:xfrm>
            <a:off x="3367964" y="2651760"/>
            <a:ext cx="2499284" cy="2286000"/>
          </a:xfrm>
          <a:prstGeom prst="rect">
            <a:avLst>
              <a:gd name="adj" fmla="val 3200"/>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200" b="1" dirty="0">
                <a:solidFill>
                  <a:srgbClr val="5FE3FF"/>
                </a:solidFill>
                <a:latin typeface="Consolas" pitchFamily="34" charset="0"/>
                <a:ea typeface="Consolas" pitchFamily="34" charset="-122"/>
                <a:cs typeface="Consolas" pitchFamily="34" charset="-120"/>
              </a:rPr>
              <a:t>02
</a:t>
            </a:r>
            <a:pPr indent="0" marL="0">
              <a:lnSpc>
                <a:spcPct val="125000"/>
              </a:lnSpc>
              <a:buNone/>
            </a:pPr>
            <a:r>
              <a:rPr lang="en-US" sz="1600" b="1" dirty="0">
                <a:solidFill>
                  <a:srgbClr val="EAF3FF"/>
                </a:solidFill>
                <a:latin typeface="Segoe UI Semibold" pitchFamily="34" charset="0"/>
                <a:ea typeface="Segoe UI Semibold" pitchFamily="34" charset="-122"/>
                <a:cs typeface="Segoe UI Semibold" pitchFamily="34" charset="-120"/>
              </a:rPr>
              <a:t>Hipótesis
</a:t>
            </a:r>
            <a:pPr indent="0" marL="0">
              <a:lnSpc>
                <a:spcPct val="125000"/>
              </a:lnSpc>
              <a:buNone/>
            </a:pPr>
            <a:r>
              <a:rPr lang="en-US" sz="1200" dirty="0">
                <a:solidFill>
                  <a:srgbClr val="93AED4"/>
                </a:solidFill>
                <a:latin typeface="Segoe UI" pitchFamily="34" charset="0"/>
                <a:ea typeface="Segoe UI" pitchFamily="34" charset="-122"/>
                <a:cs typeface="Segoe UI" pitchFamily="34" charset="-120"/>
              </a:rPr>
              <a:t>Proponer una causa raíz probable.</a:t>
            </a:r>
            <a:endParaRPr lang="en-US" sz="1500" dirty="0"/>
          </a:p>
        </p:txBody>
      </p:sp>
      <p:sp>
        <p:nvSpPr>
          <p:cNvPr id="7" name="Text 5"/>
          <p:cNvSpPr/>
          <p:nvPr/>
        </p:nvSpPr>
        <p:spPr>
          <a:xfrm>
            <a:off x="6095848" y="2651760"/>
            <a:ext cx="2499284" cy="2286000"/>
          </a:xfrm>
          <a:prstGeom prst="rect">
            <a:avLst>
              <a:gd name="adj" fmla="val 3200"/>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200" b="1" dirty="0">
                <a:solidFill>
                  <a:srgbClr val="5FE3FF"/>
                </a:solidFill>
                <a:latin typeface="Consolas" pitchFamily="34" charset="0"/>
                <a:ea typeface="Consolas" pitchFamily="34" charset="-122"/>
                <a:cs typeface="Consolas" pitchFamily="34" charset="-120"/>
              </a:rPr>
              <a:t>03
</a:t>
            </a:r>
            <a:pPr indent="0" marL="0">
              <a:lnSpc>
                <a:spcPct val="125000"/>
              </a:lnSpc>
              <a:buNone/>
            </a:pPr>
            <a:r>
              <a:rPr lang="en-US" sz="1600" b="1" dirty="0">
                <a:solidFill>
                  <a:srgbClr val="EAF3FF"/>
                </a:solidFill>
                <a:latin typeface="Segoe UI Semibold" pitchFamily="34" charset="0"/>
                <a:ea typeface="Segoe UI Semibold" pitchFamily="34" charset="-122"/>
                <a:cs typeface="Segoe UI Semibold" pitchFamily="34" charset="-120"/>
              </a:rPr>
              <a:t>Predicción
</a:t>
            </a:r>
            <a:pPr indent="0" marL="0">
              <a:lnSpc>
                <a:spcPct val="125000"/>
              </a:lnSpc>
              <a:buNone/>
            </a:pPr>
            <a:r>
              <a:rPr lang="en-US" sz="1200" dirty="0">
                <a:solidFill>
                  <a:srgbClr val="93AED4"/>
                </a:solidFill>
                <a:latin typeface="Segoe UI" pitchFamily="34" charset="0"/>
                <a:ea typeface="Segoe UI" pitchFamily="34" charset="-122"/>
                <a:cs typeface="Segoe UI" pitchFamily="34" charset="-120"/>
              </a:rPr>
              <a:t>Definir el resultado esperado bajo condiciones específicas.</a:t>
            </a:r>
            <a:endParaRPr lang="en-US" sz="1500" dirty="0"/>
          </a:p>
        </p:txBody>
      </p:sp>
      <p:sp>
        <p:nvSpPr>
          <p:cNvPr id="8" name="Text 6"/>
          <p:cNvSpPr/>
          <p:nvPr/>
        </p:nvSpPr>
        <p:spPr>
          <a:xfrm>
            <a:off x="8823731" y="2651760"/>
            <a:ext cx="2499284" cy="2286000"/>
          </a:xfrm>
          <a:prstGeom prst="rect">
            <a:avLst>
              <a:gd name="adj" fmla="val 3200"/>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200" b="1" dirty="0">
                <a:solidFill>
                  <a:srgbClr val="5FE3FF"/>
                </a:solidFill>
                <a:latin typeface="Consolas" pitchFamily="34" charset="0"/>
                <a:ea typeface="Consolas" pitchFamily="34" charset="-122"/>
                <a:cs typeface="Consolas" pitchFamily="34" charset="-120"/>
              </a:rPr>
              <a:t>04
</a:t>
            </a:r>
            <a:pPr indent="0" marL="0">
              <a:lnSpc>
                <a:spcPct val="125000"/>
              </a:lnSpc>
              <a:buNone/>
            </a:pPr>
            <a:r>
              <a:rPr lang="en-US" sz="1600" b="1" dirty="0">
                <a:solidFill>
                  <a:srgbClr val="EAF3FF"/>
                </a:solidFill>
                <a:latin typeface="Segoe UI Semibold" pitchFamily="34" charset="0"/>
                <a:ea typeface="Segoe UI Semibold" pitchFamily="34" charset="-122"/>
                <a:cs typeface="Segoe UI Semibold" pitchFamily="34" charset="-120"/>
              </a:rPr>
              <a:t>Repetición
</a:t>
            </a:r>
            <a:pPr indent="0" marL="0">
              <a:lnSpc>
                <a:spcPct val="125000"/>
              </a:lnSpc>
              <a:buNone/>
            </a:pPr>
            <a:r>
              <a:rPr lang="en-US" sz="1200" dirty="0">
                <a:solidFill>
                  <a:srgbClr val="93AED4"/>
                </a:solidFill>
                <a:latin typeface="Segoe UI" pitchFamily="34" charset="0"/>
                <a:ea typeface="Segoe UI" pitchFamily="34" charset="-122"/>
                <a:cs typeface="Segoe UI" pitchFamily="34" charset="-120"/>
              </a:rPr>
              <a:t>Ejecutar la prueba un mínimo de 4 veces para establecer consistencia.</a:t>
            </a:r>
            <a:endParaRPr lang="en-US" sz="1500" dirty="0"/>
          </a:p>
        </p:txBody>
      </p:sp>
      <p:sp>
        <p:nvSpPr>
          <p:cNvPr id="9" name="Text 7"/>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1 · TESTING INFORMAL VS. FORMAL</a:t>
            </a:r>
            <a:endParaRPr lang="en-US" sz="1000" dirty="0"/>
          </a:p>
        </p:txBody>
      </p:sp>
      <p:sp>
        <p:nvSpPr>
          <p:cNvPr id="10" name="Text 8"/>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07 / 38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1 · CÁTEDRA DE RIGOR TÉCNICO</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Fracción, no porcentaje</a:t>
            </a:r>
            <a:endParaRPr lang="en-US" sz="3200" dirty="0"/>
          </a:p>
        </p:txBody>
      </p:sp>
      <p:sp>
        <p:nvSpPr>
          <p:cNvPr id="4" name="Text 2"/>
          <p:cNvSpPr/>
          <p:nvPr/>
        </p:nvSpPr>
        <p:spPr>
          <a:xfrm>
            <a:off x="640080" y="2377440"/>
            <a:ext cx="5212080" cy="1737360"/>
          </a:xfrm>
          <a:prstGeom prst="rect">
            <a:avLst>
              <a:gd name="adj" fmla="val 4211"/>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4400" b="1" dirty="0">
                <a:solidFill>
                  <a:srgbClr val="5FE3FF"/>
                </a:solidFill>
                <a:latin typeface="Consolas" pitchFamily="34" charset="0"/>
                <a:ea typeface="Consolas" pitchFamily="34" charset="-122"/>
                <a:cs typeface="Consolas" pitchFamily="34" charset="-120"/>
              </a:rPr>
              <a:t>2 de 4
</a:t>
            </a:r>
            <a:pPr algn="ctr" indent="0" marL="0">
              <a:lnSpc>
                <a:spcPct val="125000"/>
              </a:lnSpc>
              <a:buNone/>
            </a:pPr>
            <a:r>
              <a:rPr lang="en-US" sz="1400" dirty="0">
                <a:solidFill>
                  <a:srgbClr val="C3D4EA"/>
                </a:solidFill>
                <a:latin typeface="Segoe UI" pitchFamily="34" charset="0"/>
                <a:ea typeface="Segoe UI" pitchFamily="34" charset="-122"/>
                <a:cs typeface="Segoe UI" pitchFamily="34" charset="-120"/>
              </a:rPr>
              <a:t>Reproducibilidad correcta: muestra el alcance real del muestreo.</a:t>
            </a:r>
            <a:endParaRPr lang="en-US" sz="1500" dirty="0"/>
          </a:p>
        </p:txBody>
      </p:sp>
      <p:sp>
        <p:nvSpPr>
          <p:cNvPr id="5" name="Text 3"/>
          <p:cNvSpPr/>
          <p:nvPr/>
        </p:nvSpPr>
        <p:spPr>
          <a:xfrm>
            <a:off x="6309360" y="2377440"/>
            <a:ext cx="5212080" cy="1737360"/>
          </a:xfrm>
          <a:prstGeom prst="rect">
            <a:avLst>
              <a:gd name="adj" fmla="val 4211"/>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4400" b="1" dirty="0">
                <a:solidFill>
                  <a:srgbClr val="93AED4"/>
                </a:solidFill>
                <a:latin typeface="Consolas" pitchFamily="34" charset="0"/>
                <a:ea typeface="Consolas" pitchFamily="34" charset="-122"/>
                <a:cs typeface="Consolas" pitchFamily="34" charset="-120"/>
              </a:rPr>
              <a:t>50%
</a:t>
            </a:r>
            <a:pPr algn="ctr" indent="0" marL="0">
              <a:lnSpc>
                <a:spcPct val="125000"/>
              </a:lnSpc>
              <a:buNone/>
            </a:pPr>
            <a:r>
              <a:rPr lang="en-US" sz="1400" dirty="0">
                <a:solidFill>
                  <a:srgbClr val="C3D4EA"/>
                </a:solidFill>
                <a:latin typeface="Segoe UI" pitchFamily="34" charset="0"/>
                <a:ea typeface="Segoe UI" pitchFamily="34" charset="-122"/>
                <a:cs typeface="Segoe UI" pitchFamily="34" charset="-120"/>
              </a:rPr>
              <a:t>Impreciso en muestras pequeñas — oculta cuántas pruebas se hicieron.</a:t>
            </a:r>
            <a:endParaRPr lang="en-US" sz="1500" dirty="0"/>
          </a:p>
        </p:txBody>
      </p:sp>
      <p:sp>
        <p:nvSpPr>
          <p:cNvPr id="6" name="Text 4"/>
          <p:cNvSpPr/>
          <p:nvPr/>
        </p:nvSpPr>
        <p:spPr>
          <a:xfrm>
            <a:off x="640080" y="4389120"/>
            <a:ext cx="10881360" cy="109728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Es superior informar la reproducibilidad como una fracción (“2 de cada 4 veces”) que como un porcentaje, ya que el porcentaje esconde el sesgo de datos insuficientes.</a:t>
            </a:r>
            <a:endParaRPr lang="en-US" sz="1700" dirty="0"/>
          </a:p>
        </p:txBody>
      </p:sp>
      <p:sp>
        <p:nvSpPr>
          <p:cNvPr id="7" name="Text 5"/>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1 · TESTING INFORMAL VS. FORMAL</a:t>
            </a:r>
            <a:endParaRPr lang="en-US" sz="1000" dirty="0"/>
          </a:p>
        </p:txBody>
      </p:sp>
      <p:sp>
        <p:nvSpPr>
          <p:cNvPr id="8" name="Text 6"/>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08 / 38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5943600" cy="384048"/>
          </a:xfrm>
          <a:prstGeom prst="rect">
            <a:avLst>
              <a:gd name="adj" fmla="val 42857"/>
            </a:avLst>
          </a:prstGeom>
          <a:solidFill>
            <a:srgbClr val="0F2A38"/>
          </a:solidFill>
          <a:ln w="12700">
            <a:solidFill>
              <a:srgbClr val="1C5670"/>
            </a:solidFill>
          </a:ln>
        </p:spPr>
        <p:txBody>
          <a:bodyPr wrap="square" rtlCol="0" anchor="ctr"/>
          <a:lstStyle/>
          <a:p>
            <a:pPr algn="ctr" indent="0" marL="0">
              <a:buNone/>
            </a:pPr>
            <a:r>
              <a:rPr lang="en-US" sz="1200" b="1" dirty="0">
                <a:solidFill>
                  <a:srgbClr val="5FE3FF"/>
                </a:solidFill>
                <a:latin typeface="Consolas" pitchFamily="34" charset="0"/>
                <a:ea typeface="Consolas" pitchFamily="34" charset="-122"/>
                <a:cs typeface="Consolas" pitchFamily="34" charset="-120"/>
              </a:rPr>
              <a:t>CASO PRÁCTICO · 3 MIN</a:t>
            </a:r>
            <a:endParaRPr lang="en-US" sz="1200" dirty="0"/>
          </a:p>
        </p:txBody>
      </p:sp>
      <p:sp>
        <p:nvSpPr>
          <p:cNvPr id="3" name="Text 1"/>
          <p:cNvSpPr/>
          <p:nvPr/>
        </p:nvSpPr>
        <p:spPr>
          <a:xfrm>
            <a:off x="640080" y="1005840"/>
            <a:ext cx="10881360" cy="822960"/>
          </a:xfrm>
          <a:prstGeom prst="rect">
            <a:avLst/>
          </a:prstGeom>
          <a:noFill/>
          <a:ln/>
        </p:spPr>
        <p:txBody>
          <a:bodyPr wrap="square" rtlCol="0" anchor="ctr"/>
          <a:lstStyle/>
          <a:p>
            <a:pPr indent="0" marL="0">
              <a:buNone/>
            </a:pPr>
            <a:r>
              <a:rPr lang="en-US" sz="3000" b="1" dirty="0">
                <a:solidFill>
                  <a:srgbClr val="EAF3FF"/>
                </a:solidFill>
                <a:latin typeface="Segoe UI Semibold" pitchFamily="34" charset="0"/>
                <a:ea typeface="Segoe UI Semibold" pitchFamily="34" charset="-122"/>
                <a:cs typeface="Segoe UI Semibold" pitchFamily="34" charset="-120"/>
              </a:rPr>
              <a:t>El gol invisible del FIFA </a:t>
            </a:r>
            <a:pPr indent="0" marL="0">
              <a:buNone/>
            </a:pPr>
            <a:r>
              <a:rPr lang="en-US" sz="3000" b="1" dirty="0">
                <a:solidFill>
                  <a:srgbClr val="5FE3FF"/>
                </a:solidFill>
                <a:latin typeface="Segoe UI Semibold" pitchFamily="34" charset="0"/>
                <a:ea typeface="Segoe UI Semibold" pitchFamily="34" charset="-122"/>
                <a:cs typeface="Segoe UI Semibold" pitchFamily="34" charset="-120"/>
              </a:rPr>
              <a:t>(minuto 93)</a:t>
            </a:r>
            <a:endParaRPr lang="en-US" sz="3000" dirty="0"/>
          </a:p>
        </p:txBody>
      </p:sp>
      <p:sp>
        <p:nvSpPr>
          <p:cNvPr id="4" name="Text 2"/>
          <p:cNvSpPr/>
          <p:nvPr/>
        </p:nvSpPr>
        <p:spPr>
          <a:xfrm>
            <a:off x="640080" y="1965960"/>
            <a:ext cx="7863840" cy="54864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Se anota un gol en el minuto 93, pero el marcador no se actualiza. ¿Cuál es la causa raíz?</a:t>
            </a:r>
            <a:endParaRPr lang="en-US" sz="1700" dirty="0"/>
          </a:p>
        </p:txBody>
      </p:sp>
      <p:sp>
        <p:nvSpPr>
          <p:cNvPr id="5" name="Text 3"/>
          <p:cNvSpPr/>
          <p:nvPr/>
        </p:nvSpPr>
        <p:spPr>
          <a:xfrm>
            <a:off x="640080" y="2651760"/>
            <a:ext cx="5394960" cy="2103120"/>
          </a:xfrm>
          <a:prstGeom prst="rect">
            <a:avLst/>
          </a:prstGeom>
          <a:noFill/>
          <a:ln/>
        </p:spPr>
        <p:txBody>
          <a:bodyPr wrap="square" rtlCol="0" anchor="t"/>
          <a:lstStyle/>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¿Fallo de coordenadas —portería derecha vs. izquierda?</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¿Lógica de tiempo —segunda mitad vs. descuento?</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¿Variable ambiental —clima lluvioso?</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¿ID de jugador?</a:t>
            </a:r>
            <a:endParaRPr lang="en-US" sz="1600" dirty="0"/>
          </a:p>
        </p:txBody>
      </p:sp>
      <p:sp>
        <p:nvSpPr>
          <p:cNvPr id="6" name="Text 4"/>
          <p:cNvSpPr/>
          <p:nvPr/>
        </p:nvSpPr>
        <p:spPr>
          <a:xfrm>
            <a:off x="6400800" y="2651760"/>
            <a:ext cx="5120640" cy="2103120"/>
          </a:xfrm>
          <a:prstGeom prst="rect">
            <a:avLst>
              <a:gd name="adj" fmla="val 3478"/>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100" b="1" dirty="0">
                <a:solidFill>
                  <a:srgbClr val="5FE3FF"/>
                </a:solidFill>
                <a:latin typeface="Consolas" pitchFamily="34" charset="0"/>
                <a:ea typeface="Consolas" pitchFamily="34" charset="-122"/>
                <a:cs typeface="Consolas" pitchFamily="34" charset="-120"/>
              </a:rPr>
              <a:t>PREGUNTA DE SEGUIMIENTO
</a:t>
            </a:r>
            <a:pPr indent="0" marL="0">
              <a:lnSpc>
                <a:spcPct val="125000"/>
              </a:lnSpc>
              <a:buNone/>
            </a:pPr>
            <a:r>
              <a:rPr lang="en-US" sz="1400" dirty="0">
                <a:solidFill>
                  <a:srgbClr val="C3D4EA"/>
                </a:solidFill>
                <a:latin typeface="Segoe UI" pitchFamily="34" charset="0"/>
                <a:ea typeface="Segoe UI" pitchFamily="34" charset="-122"/>
                <a:cs typeface="Segoe UI" pitchFamily="34" charset="-120"/>
              </a:rPr>
              <a:t>Si el fallo ocurre 2 de cada 4 veces, solo bajo lluvia, en el minuto 93 —¿cómo ayuda cambiar el clima a confirmar la reproducibilidad científica?</a:t>
            </a:r>
            <a:endParaRPr lang="en-US" sz="1500" dirty="0"/>
          </a:p>
        </p:txBody>
      </p:sp>
      <p:sp>
        <p:nvSpPr>
          <p:cNvPr id="7" name="Text 5"/>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1 · TESTING INFORMAL VS. FORMAL</a:t>
            </a:r>
            <a:endParaRPr lang="en-US" sz="1000" dirty="0"/>
          </a:p>
        </p:txBody>
      </p:sp>
      <p:sp>
        <p:nvSpPr>
          <p:cNvPr id="8" name="Text 6"/>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09 / 38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2 · CAJA NEGRA I: EP Y BVA · 30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Partición de </a:t>
            </a:r>
            <a:pPr indent="0" marL="0">
              <a:buNone/>
            </a:pPr>
            <a:r>
              <a:rPr lang="en-US" sz="3200" b="1" dirty="0">
                <a:solidFill>
                  <a:srgbClr val="5FE3FF"/>
                </a:solidFill>
                <a:latin typeface="Segoe UI Semibold" pitchFamily="34" charset="0"/>
                <a:ea typeface="Segoe UI Semibold" pitchFamily="34" charset="-122"/>
                <a:cs typeface="Segoe UI Semibold" pitchFamily="34" charset="-120"/>
              </a:rPr>
              <a:t>Equivalencia</a:t>
            </a:r>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 (EP)</a:t>
            </a:r>
            <a:endParaRPr lang="en-US" sz="3200" dirty="0"/>
          </a:p>
        </p:txBody>
      </p:sp>
      <p:sp>
        <p:nvSpPr>
          <p:cNvPr id="4" name="Text 2"/>
          <p:cNvSpPr/>
          <p:nvPr/>
        </p:nvSpPr>
        <p:spPr>
          <a:xfrm>
            <a:off x="640080" y="1828800"/>
            <a:ext cx="7863840" cy="109728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Reducimos entradas infinitas a un número manejable de grupos, o particiones, en los que se asume que el sistema responde de la misma manera para cualquier valor dentro del grupo.</a:t>
            </a:r>
            <a:endParaRPr lang="en-US" sz="1700" dirty="0"/>
          </a:p>
        </p:txBody>
      </p:sp>
      <p:sp>
        <p:nvSpPr>
          <p:cNvPr id="5" name="Text 3"/>
          <p:cNvSpPr/>
          <p:nvPr/>
        </p:nvSpPr>
        <p:spPr>
          <a:xfrm>
            <a:off x="640080" y="3566160"/>
            <a:ext cx="10881360" cy="1188720"/>
          </a:xfrm>
          <a:prstGeom prst="rect">
            <a:avLst>
              <a:gd name="adj" fmla="val 6154"/>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100" b="1" dirty="0">
                <a:solidFill>
                  <a:srgbClr val="5FE3FF"/>
                </a:solidFill>
                <a:latin typeface="Consolas" pitchFamily="34" charset="0"/>
                <a:ea typeface="Consolas" pitchFamily="34" charset="-122"/>
                <a:cs typeface="Consolas" pitchFamily="34" charset="-120"/>
              </a:rPr>
              <a:t>REGLA DE ORO
</a:t>
            </a:r>
            <a:pPr indent="0" marL="0">
              <a:lnSpc>
                <a:spcPct val="125000"/>
              </a:lnSpc>
              <a:buNone/>
            </a:pPr>
            <a:r>
              <a:rPr lang="en-US" sz="1600" dirty="0">
                <a:solidFill>
                  <a:srgbClr val="EAF3FF"/>
                </a:solidFill>
                <a:latin typeface="Segoe UI" pitchFamily="34" charset="0"/>
                <a:ea typeface="Segoe UI" pitchFamily="34" charset="-122"/>
                <a:cs typeface="Segoe UI" pitchFamily="34" charset="-120"/>
              </a:rPr>
              <a:t>Aislar cada partición inválida — nunca combinarlas en un mismo caso de prueba.</a:t>
            </a:r>
            <a:endParaRPr lang="en-US" sz="15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2 · CAJA NEGRA I: EP Y BVA</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10 / 38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2 · CAJA NEGRA I: EP Y BVA · 30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El riesgo del </a:t>
            </a:r>
            <a:pPr indent="0" marL="0">
              <a:buNone/>
            </a:pPr>
            <a:r>
              <a:rPr lang="en-US" sz="3200" b="1" dirty="0">
                <a:solidFill>
                  <a:srgbClr val="5FE3FF"/>
                </a:solidFill>
                <a:latin typeface="Segoe UI Semibold" pitchFamily="34" charset="0"/>
                <a:ea typeface="Segoe UI Semibold" pitchFamily="34" charset="-122"/>
                <a:cs typeface="Segoe UI Semibold" pitchFamily="34" charset="-120"/>
              </a:rPr>
              <a:t>enmascaramiento</a:t>
            </a:r>
            <a:endParaRPr lang="en-US" sz="3200" dirty="0"/>
          </a:p>
        </p:txBody>
      </p:sp>
      <p:sp>
        <p:nvSpPr>
          <p:cNvPr id="4" name="Text 2"/>
          <p:cNvSpPr/>
          <p:nvPr/>
        </p:nvSpPr>
        <p:spPr>
          <a:xfrm>
            <a:off x="640080" y="2194560"/>
            <a:ext cx="4937760" cy="2377440"/>
          </a:xfrm>
          <a:prstGeom prst="rect">
            <a:avLst>
              <a:gd name="adj" fmla="val 3077"/>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1100" b="1" dirty="0">
                <a:solidFill>
                  <a:srgbClr val="5FE3FF"/>
                </a:solidFill>
                <a:latin typeface="Consolas" pitchFamily="34" charset="0"/>
                <a:ea typeface="Consolas" pitchFamily="34" charset="-122"/>
                <a:cs typeface="Consolas" pitchFamily="34" charset="-120"/>
              </a:rPr>
              <a:t>CASO DE PRUEBA
</a:t>
            </a:r>
            <a:pPr algn="ctr" indent="0" marL="0">
              <a:lnSpc>
                <a:spcPct val="125000"/>
              </a:lnSpc>
              <a:buNone/>
            </a:pPr>
            <a:r>
              <a:rPr lang="en-US" sz="4000" b="1" dirty="0">
                <a:solidFill>
                  <a:srgbClr val="EAF3FF"/>
                </a:solidFill>
                <a:latin typeface="Consolas" pitchFamily="34" charset="0"/>
                <a:ea typeface="Consolas" pitchFamily="34" charset="-122"/>
                <a:cs typeface="Consolas" pitchFamily="34" charset="-120"/>
              </a:rPr>
              <a:t>'14C'
</a:t>
            </a:r>
            <a:pPr algn="ctr" indent="0" marL="0">
              <a:lnSpc>
                <a:spcPct val="125000"/>
              </a:lnSpc>
              <a:buNone/>
            </a:pPr>
            <a:r>
              <a:rPr lang="en-US" sz="1300" dirty="0">
                <a:solidFill>
                  <a:srgbClr val="C3D4EA"/>
                </a:solidFill>
                <a:latin typeface="Segoe UI" pitchFamily="34" charset="0"/>
                <a:ea typeface="Segoe UI" pitchFamily="34" charset="-122"/>
                <a:cs typeface="Segoe UI" pitchFamily="34" charset="-120"/>
              </a:rPr>
              <a:t>Mezcla alfanumérica fuera de un rango numérico permitido.</a:t>
            </a:r>
            <a:endParaRPr lang="en-US" sz="1500" dirty="0"/>
          </a:p>
        </p:txBody>
      </p:sp>
      <p:sp>
        <p:nvSpPr>
          <p:cNvPr id="5" name="Text 3"/>
          <p:cNvSpPr/>
          <p:nvPr/>
        </p:nvSpPr>
        <p:spPr>
          <a:xfrm>
            <a:off x="6035040" y="2377440"/>
            <a:ext cx="5486400" cy="2011680"/>
          </a:xfrm>
          <a:prstGeom prst="rect">
            <a:avLst/>
          </a:prstGeom>
          <a:noFill/>
          <a:ln/>
        </p:spPr>
        <p:txBody>
          <a:bodyPr wrap="square" rtlCol="0" anchor="t"/>
          <a:lstStyle/>
          <a:p>
            <a:pPr indent="0" marL="0">
              <a:lnSpc>
                <a:spcPct val="130000"/>
              </a:lnSpc>
              <a:buNone/>
            </a:pPr>
            <a:r>
              <a:rPr lang="en-US" sz="1800" dirty="0">
                <a:solidFill>
                  <a:srgbClr val="C3D4EA"/>
                </a:solidFill>
                <a:latin typeface="Segoe UI" pitchFamily="34" charset="0"/>
                <a:ea typeface="Segoe UI" pitchFamily="34" charset="-122"/>
                <a:cs typeface="Segoe UI" pitchFamily="34" charset="-120"/>
              </a:rPr>
              <a:t>Si probamos ‘14C’ de una sola vez, un error de tipo de dato podría ocultar por completo un error de límite. Cada falla debe testearse por separado para ser identificable.</a:t>
            </a:r>
            <a:endParaRPr lang="en-US" sz="18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2 · CAJA NEGRA I: EP Y BVA</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11 / 38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2 · CAJA NEGRA I: EP Y BVA · 30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Análisis de Valor </a:t>
            </a:r>
            <a:pPr indent="0" marL="0">
              <a:buNone/>
            </a:pPr>
            <a:r>
              <a:rPr lang="en-US" sz="3200" b="1" dirty="0">
                <a:solidFill>
                  <a:srgbClr val="5FE3FF"/>
                </a:solidFill>
                <a:latin typeface="Segoe UI Semibold" pitchFamily="34" charset="0"/>
                <a:ea typeface="Segoe UI Semibold" pitchFamily="34" charset="-122"/>
                <a:cs typeface="Segoe UI Semibold" pitchFamily="34" charset="-120"/>
              </a:rPr>
              <a:t>Frontera</a:t>
            </a:r>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 (BVA)</a:t>
            </a:r>
            <a:endParaRPr lang="en-US" sz="3200" dirty="0"/>
          </a:p>
        </p:txBody>
      </p:sp>
      <p:sp>
        <p:nvSpPr>
          <p:cNvPr id="4" name="Text 2"/>
          <p:cNvSpPr/>
          <p:nvPr/>
        </p:nvSpPr>
        <p:spPr>
          <a:xfrm>
            <a:off x="640080" y="1828800"/>
            <a:ext cx="7863840" cy="73152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Los desarrolladores suelen fallar justo en los límites, por confusiones lógicas entre operadores de comparación.</a:t>
            </a:r>
            <a:endParaRPr lang="en-US" sz="1700" dirty="0"/>
          </a:p>
        </p:txBody>
      </p:sp>
      <p:sp>
        <p:nvSpPr>
          <p:cNvPr id="5" name="Text 3"/>
          <p:cNvSpPr/>
          <p:nvPr/>
        </p:nvSpPr>
        <p:spPr>
          <a:xfrm>
            <a:off x="640080" y="2651760"/>
            <a:ext cx="10881360" cy="1737360"/>
          </a:xfrm>
          <a:prstGeom prst="rect">
            <a:avLst>
              <a:gd name="adj" fmla="val 4211"/>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endParaRPr lang="en-US" sz="1500" dirty="0"/>
          </a:p>
        </p:txBody>
      </p:sp>
      <p:sp>
        <p:nvSpPr>
          <p:cNvPr id="6" name="Text 4"/>
          <p:cNvSpPr/>
          <p:nvPr/>
        </p:nvSpPr>
        <p:spPr>
          <a:xfrm>
            <a:off x="3566160" y="2743200"/>
            <a:ext cx="1463040" cy="914400"/>
          </a:xfrm>
          <a:prstGeom prst="rect">
            <a:avLst/>
          </a:prstGeom>
          <a:noFill/>
          <a:ln/>
        </p:spPr>
        <p:txBody>
          <a:bodyPr wrap="square" rtlCol="0" anchor="ctr"/>
          <a:lstStyle/>
          <a:p>
            <a:pPr algn="ctr" indent="0" marL="0">
              <a:buNone/>
            </a:pPr>
            <a:r>
              <a:rPr lang="en-US" sz="6000" b="1" dirty="0">
                <a:solidFill>
                  <a:srgbClr val="5FE3FF"/>
                </a:solidFill>
                <a:latin typeface="Consolas" pitchFamily="34" charset="0"/>
                <a:ea typeface="Consolas" pitchFamily="34" charset="-122"/>
                <a:cs typeface="Consolas" pitchFamily="34" charset="-120"/>
              </a:rPr>
              <a:t>&lt;</a:t>
            </a:r>
            <a:endParaRPr lang="en-US" sz="6000" dirty="0"/>
          </a:p>
        </p:txBody>
      </p:sp>
      <p:sp>
        <p:nvSpPr>
          <p:cNvPr id="7" name="Text 5"/>
          <p:cNvSpPr/>
          <p:nvPr/>
        </p:nvSpPr>
        <p:spPr>
          <a:xfrm>
            <a:off x="2834640" y="3703320"/>
            <a:ext cx="2926080" cy="457200"/>
          </a:xfrm>
          <a:prstGeom prst="rect">
            <a:avLst/>
          </a:prstGeom>
          <a:noFill/>
          <a:ln/>
        </p:spPr>
        <p:txBody>
          <a:bodyPr wrap="square" rtlCol="0" anchor="ctr"/>
          <a:lstStyle/>
          <a:p>
            <a:pPr algn="ctr" indent="0" marL="0">
              <a:buNone/>
            </a:pPr>
            <a:r>
              <a:rPr lang="en-US" sz="1300" dirty="0">
                <a:solidFill>
                  <a:srgbClr val="93AED4"/>
                </a:solidFill>
              </a:rPr>
              <a:t>Estrictamente menor</a:t>
            </a:r>
            <a:endParaRPr lang="en-US" sz="1300" dirty="0"/>
          </a:p>
        </p:txBody>
      </p:sp>
      <p:sp>
        <p:nvSpPr>
          <p:cNvPr id="8" name="Text 6"/>
          <p:cNvSpPr/>
          <p:nvPr/>
        </p:nvSpPr>
        <p:spPr>
          <a:xfrm>
            <a:off x="7040880" y="2743200"/>
            <a:ext cx="1463040" cy="914400"/>
          </a:xfrm>
          <a:prstGeom prst="rect">
            <a:avLst/>
          </a:prstGeom>
          <a:noFill/>
          <a:ln/>
        </p:spPr>
        <p:txBody>
          <a:bodyPr wrap="square" rtlCol="0" anchor="ctr"/>
          <a:lstStyle/>
          <a:p>
            <a:pPr algn="ctr" indent="0" marL="0">
              <a:buNone/>
            </a:pPr>
            <a:r>
              <a:rPr lang="en-US" sz="6000" b="1" dirty="0">
                <a:solidFill>
                  <a:srgbClr val="5FE3FF"/>
                </a:solidFill>
                <a:latin typeface="Consolas" pitchFamily="34" charset="0"/>
                <a:ea typeface="Consolas" pitchFamily="34" charset="-122"/>
                <a:cs typeface="Consolas" pitchFamily="34" charset="-120"/>
              </a:rPr>
              <a:t>≤</a:t>
            </a:r>
            <a:endParaRPr lang="en-US" sz="6000" dirty="0"/>
          </a:p>
        </p:txBody>
      </p:sp>
      <p:sp>
        <p:nvSpPr>
          <p:cNvPr id="9" name="Text 7"/>
          <p:cNvSpPr/>
          <p:nvPr/>
        </p:nvSpPr>
        <p:spPr>
          <a:xfrm>
            <a:off x="6309360" y="3703320"/>
            <a:ext cx="2926080" cy="457200"/>
          </a:xfrm>
          <a:prstGeom prst="rect">
            <a:avLst/>
          </a:prstGeom>
          <a:noFill/>
          <a:ln/>
        </p:spPr>
        <p:txBody>
          <a:bodyPr wrap="square" rtlCol="0" anchor="ctr"/>
          <a:lstStyle/>
          <a:p>
            <a:pPr algn="ctr" indent="0" marL="0">
              <a:buNone/>
            </a:pPr>
            <a:r>
              <a:rPr lang="en-US" sz="1300" dirty="0">
                <a:solidFill>
                  <a:srgbClr val="93AED4"/>
                </a:solidFill>
              </a:rPr>
              <a:t>Menor o igual</a:t>
            </a:r>
            <a:endParaRPr lang="en-US" sz="1300" dirty="0"/>
          </a:p>
        </p:txBody>
      </p:sp>
      <p:sp>
        <p:nvSpPr>
          <p:cNvPr id="10" name="Text 8"/>
          <p:cNvSpPr/>
          <p:nvPr/>
        </p:nvSpPr>
        <p:spPr>
          <a:xfrm>
            <a:off x="640080" y="4663440"/>
            <a:ext cx="10881360" cy="457200"/>
          </a:xfrm>
          <a:prstGeom prst="rect">
            <a:avLst/>
          </a:prstGeom>
          <a:noFill/>
          <a:ln/>
        </p:spPr>
        <p:txBody>
          <a:bodyPr wrap="square" rtlCol="0" anchor="t"/>
          <a:lstStyle/>
          <a:p>
            <a:pPr algn="ctr" indent="0" marL="0">
              <a:lnSpc>
                <a:spcPct val="130000"/>
              </a:lnSpc>
              <a:buNone/>
            </a:pPr>
            <a:r>
              <a:rPr lang="en-US" sz="1700" dirty="0">
                <a:solidFill>
                  <a:srgbClr val="C3D4EA"/>
                </a:solidFill>
                <a:latin typeface="Segoe UI" pitchFamily="34" charset="0"/>
                <a:ea typeface="Segoe UI" pitchFamily="34" charset="-122"/>
                <a:cs typeface="Segoe UI" pitchFamily="34" charset="-120"/>
              </a:rPr>
              <a:t>Un solo operador equivocado desplaza toda una frontera de negocio.</a:t>
            </a:r>
            <a:endParaRPr lang="en-US" sz="1700" dirty="0"/>
          </a:p>
        </p:txBody>
      </p:sp>
      <p:sp>
        <p:nvSpPr>
          <p:cNvPr id="11" name="Text 9"/>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2 · CAJA NEGRA I: EP Y BVA</a:t>
            </a:r>
            <a:endParaRPr lang="en-US" sz="1000" dirty="0"/>
          </a:p>
        </p:txBody>
      </p:sp>
      <p:sp>
        <p:nvSpPr>
          <p:cNvPr id="12" name="Text 10"/>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12 / 38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2 · CASO DEL BANCO · GROUND TRUTH</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2600" b="1" dirty="0">
                <a:solidFill>
                  <a:srgbClr val="EAF3FF"/>
                </a:solidFill>
                <a:latin typeface="Segoe UI Semibold" pitchFamily="34" charset="0"/>
                <a:ea typeface="Segoe UI Semibold" pitchFamily="34" charset="-122"/>
                <a:cs typeface="Segoe UI Semibold" pitchFamily="34" charset="-120"/>
              </a:rPr>
              <a:t>8 valores frontera — interés por rango</a:t>
            </a:r>
            <a:endParaRPr lang="en-US" sz="2600" dirty="0"/>
          </a:p>
        </p:txBody>
      </p:sp>
      <p:sp>
        <p:nvSpPr>
          <p:cNvPr id="4" name="Text 2"/>
          <p:cNvSpPr/>
          <p:nvPr/>
        </p:nvSpPr>
        <p:spPr>
          <a:xfrm>
            <a:off x="640080" y="1600200"/>
            <a:ext cx="7863840" cy="365760"/>
          </a:xfrm>
          <a:prstGeom prst="rect">
            <a:avLst/>
          </a:prstGeom>
          <a:noFill/>
          <a:ln/>
        </p:spPr>
        <p:txBody>
          <a:bodyPr wrap="square" rtlCol="0" anchor="t"/>
          <a:lstStyle/>
          <a:p>
            <a:pPr indent="0" marL="0">
              <a:lnSpc>
                <a:spcPct val="130000"/>
              </a:lnSpc>
              <a:buNone/>
            </a:pPr>
            <a:r>
              <a:rPr lang="en-US" sz="1400" dirty="0">
                <a:solidFill>
                  <a:srgbClr val="C3D4EA"/>
                </a:solidFill>
                <a:latin typeface="Segoe UI" pitchFamily="34" charset="0"/>
                <a:ea typeface="Segoe UI" pitchFamily="34" charset="-122"/>
                <a:cs typeface="Segoe UI" pitchFamily="34" charset="-120"/>
              </a:rPr>
              <a:t>Rangos: 0–500€ (0%) · 500–1000€ (2%) · 1000–3000€ (4%)</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2057400"/>
          <a:ext cx="10911535" cy="914400"/>
        </p:xfrm>
        <a:graphic>
          <a:graphicData uri="http://schemas.openxmlformats.org/drawingml/2006/table">
            <a:tbl>
              <a:tblPr/>
              <a:tblGrid>
                <a:gridCol w="2011680"/>
                <a:gridCol w="6217920"/>
                <a:gridCol w="2743200"/>
              </a:tblGrid>
              <a:tr h="0">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Valor de prueba</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Lógica de la frontera</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Resultado esperado</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r>
              <a:tr h="0">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-1</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Límite inferior inválido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Rechazo / Error</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0">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0</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Límite inferior válido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0% interés</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0">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499</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Justo antes del límite de partición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0% interés</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0">
                <a:tc>
                  <a:txBody>
                    <a:bodyPr/>
                    <a:lstStyle/>
                    <a:p>
                      <a:pPr indent="0" marL="0">
                        <a:buNone/>
                      </a:pPr>
                      <a:r>
                        <a:rPr lang="en-US" sz="1300" b="1" dirty="0">
                          <a:solidFill>
                            <a:srgbClr val="EAF3FF"/>
                          </a:solidFill>
                          <a:latin typeface="Segoe UI" pitchFamily="34" charset="0"/>
                          <a:ea typeface="Segoe UI" pitchFamily="34" charset="-122"/>
                          <a:cs typeface="Segoe UI" pitchFamily="34" charset="-120"/>
                        </a:rPr>
                        <a:t>500</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3A1414"/>
                    </a:solidFill>
                  </a:tcPr>
                </a:tc>
                <a:tc>
                  <a:txBody>
                    <a:bodyPr/>
                    <a:lstStyle/>
                    <a:p>
                      <a:pPr indent="0" marL="0">
                        <a:buNone/>
                      </a:pPr>
                      <a:r>
                        <a:rPr lang="en-US" sz="1300" b="1" dirty="0">
                          <a:solidFill>
                            <a:srgbClr val="EAF3FF"/>
                          </a:solidFill>
                          <a:latin typeface="Segoe UI" pitchFamily="34" charset="0"/>
                          <a:ea typeface="Segoe UI" pitchFamily="34" charset="-122"/>
                          <a:cs typeface="Segoe UI" pitchFamily="34" charset="-120"/>
                        </a:rPr>
                        <a:t>Límite de partición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3A1414"/>
                    </a:solidFill>
                  </a:tcPr>
                </a:tc>
                <a:tc>
                  <a:txBody>
                    <a:bodyPr/>
                    <a:lstStyle/>
                    <a:p>
                      <a:pPr indent="0" marL="0">
                        <a:buNone/>
                      </a:pPr>
                      <a:r>
                        <a:rPr lang="en-US" sz="1300" b="1" dirty="0">
                          <a:solidFill>
                            <a:srgbClr val="EAF3FF"/>
                          </a:solidFill>
                          <a:latin typeface="Segoe UI" pitchFamily="34" charset="0"/>
                          <a:ea typeface="Segoe UI" pitchFamily="34" charset="-122"/>
                          <a:cs typeface="Segoe UI" pitchFamily="34" charset="-120"/>
                        </a:rPr>
                        <a:t>2% interés</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3A1414"/>
                    </a:solidFill>
                  </a:tcPr>
                </a:tc>
              </a:tr>
              <a:tr h="0">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999</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Justo antes del límite de partición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2% interés</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0">
                <a:tc>
                  <a:txBody>
                    <a:bodyPr/>
                    <a:lstStyle/>
                    <a:p>
                      <a:pPr indent="0" marL="0">
                        <a:buNone/>
                      </a:pPr>
                      <a:r>
                        <a:rPr lang="en-US" sz="1300" b="1" dirty="0">
                          <a:solidFill>
                            <a:srgbClr val="EAF3FF"/>
                          </a:solidFill>
                          <a:latin typeface="Segoe UI" pitchFamily="34" charset="0"/>
                          <a:ea typeface="Segoe UI" pitchFamily="34" charset="-122"/>
                          <a:cs typeface="Segoe UI" pitchFamily="34" charset="-120"/>
                        </a:rPr>
                        <a:t>1000</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3A1414"/>
                    </a:solidFill>
                  </a:tcPr>
                </a:tc>
                <a:tc>
                  <a:txBody>
                    <a:bodyPr/>
                    <a:lstStyle/>
                    <a:p>
                      <a:pPr indent="0" marL="0">
                        <a:buNone/>
                      </a:pPr>
                      <a:r>
                        <a:rPr lang="en-US" sz="1300" b="1" dirty="0">
                          <a:solidFill>
                            <a:srgbClr val="EAF3FF"/>
                          </a:solidFill>
                          <a:latin typeface="Segoe UI" pitchFamily="34" charset="0"/>
                          <a:ea typeface="Segoe UI" pitchFamily="34" charset="-122"/>
                          <a:cs typeface="Segoe UI" pitchFamily="34" charset="-120"/>
                        </a:rPr>
                        <a:t>Límite de partición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3A1414"/>
                    </a:solidFill>
                  </a:tcPr>
                </a:tc>
                <a:tc>
                  <a:txBody>
                    <a:bodyPr/>
                    <a:lstStyle/>
                    <a:p>
                      <a:pPr indent="0" marL="0">
                        <a:buNone/>
                      </a:pPr>
                      <a:r>
                        <a:rPr lang="en-US" sz="1300" b="1" dirty="0">
                          <a:solidFill>
                            <a:srgbClr val="EAF3FF"/>
                          </a:solidFill>
                          <a:latin typeface="Segoe UI" pitchFamily="34" charset="0"/>
                          <a:ea typeface="Segoe UI" pitchFamily="34" charset="-122"/>
                          <a:cs typeface="Segoe UI" pitchFamily="34" charset="-120"/>
                        </a:rPr>
                        <a:t>4% interés</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3A1414"/>
                    </a:solidFill>
                  </a:tcPr>
                </a:tc>
              </a:tr>
              <a:tr h="0">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3000</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Límite superior válido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4% interés</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0">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3001</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Límite superior inválido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Rechazo / Error</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bl>
          </a:graphicData>
        </a:graphic>
      </p:graphicFrame>
      <p:sp>
        <p:nvSpPr>
          <p:cNvPr id="6" name="Text 3"/>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2 · CAJA NEGRA I: EP Y BVA</a:t>
            </a:r>
            <a:endParaRPr lang="en-US" sz="1000" dirty="0"/>
          </a:p>
        </p:txBody>
      </p:sp>
      <p:sp>
        <p:nvSpPr>
          <p:cNvPr id="7" name="Text 4"/>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13 / 38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41708"/>
        </a:solidFill>
      </p:bgPr>
    </p:bg>
    <p:spTree>
      <p:nvGrpSpPr>
        <p:cNvPr id="1" name=""/>
        <p:cNvGrpSpPr/>
        <p:nvPr/>
      </p:nvGrpSpPr>
      <p:grpSpPr>
        <a:xfrm>
          <a:off x="0" y="0"/>
          <a:ext cx="0" cy="0"/>
          <a:chOff x="0" y="0"/>
          <a:chExt cx="0" cy="0"/>
        </a:xfrm>
      </p:grpSpPr>
      <p:sp>
        <p:nvSpPr>
          <p:cNvPr id="2" name="Text 0"/>
          <p:cNvSpPr/>
          <p:nvPr/>
        </p:nvSpPr>
        <p:spPr>
          <a:xfrm>
            <a:off x="640080" y="384048"/>
            <a:ext cx="5943600" cy="384048"/>
          </a:xfrm>
          <a:prstGeom prst="rect">
            <a:avLst>
              <a:gd name="adj" fmla="val 42857"/>
            </a:avLst>
          </a:prstGeom>
          <a:solidFill>
            <a:srgbClr val="3A2410"/>
          </a:solidFill>
          <a:ln w="12700">
            <a:solidFill>
              <a:srgbClr val="6B4A1E"/>
            </a:solidFill>
          </a:ln>
        </p:spPr>
        <p:txBody>
          <a:bodyPr wrap="square" rtlCol="0" anchor="ctr"/>
          <a:lstStyle/>
          <a:p>
            <a:pPr algn="ctr" indent="0" marL="0">
              <a:buNone/>
            </a:pPr>
            <a:r>
              <a:rPr lang="en-US" sz="1200" b="1" dirty="0">
                <a:solidFill>
                  <a:srgbClr val="FFB454"/>
                </a:solidFill>
                <a:latin typeface="Consolas" pitchFamily="34" charset="0"/>
                <a:ea typeface="Consolas" pitchFamily="34" charset="-122"/>
                <a:cs typeface="Consolas" pitchFamily="34" charset="-120"/>
              </a:rPr>
              <a:t>DINÁMICA DE DEBATE 2 · 5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000" b="1" dirty="0">
                <a:solidFill>
                  <a:srgbClr val="EAF3FF"/>
                </a:solidFill>
                <a:latin typeface="Segoe UI Semibold" pitchFamily="34" charset="0"/>
                <a:ea typeface="Segoe UI Semibold" pitchFamily="34" charset="-122"/>
                <a:cs typeface="Segoe UI Semibold" pitchFamily="34" charset="-120"/>
              </a:rPr>
              <a:t>BVA en videojuegos — </a:t>
            </a:r>
            <a:pPr indent="0" marL="0">
              <a:buNone/>
            </a:pPr>
            <a:r>
              <a:rPr lang="en-US" sz="3000" b="1" dirty="0">
                <a:solidFill>
                  <a:srgbClr val="FFB454"/>
                </a:solidFill>
                <a:latin typeface="Segoe UI Semibold" pitchFamily="34" charset="0"/>
                <a:ea typeface="Segoe UI Semibold" pitchFamily="34" charset="-122"/>
                <a:cs typeface="Segoe UI Semibold" pitchFamily="34" charset="-120"/>
              </a:rPr>
              <a:t>Mario Bros</a:t>
            </a:r>
            <a:endParaRPr lang="en-US" sz="3000" dirty="0"/>
          </a:p>
        </p:txBody>
      </p:sp>
      <p:sp>
        <p:nvSpPr>
          <p:cNvPr id="4" name="Text 2"/>
          <p:cNvSpPr/>
          <p:nvPr/>
        </p:nvSpPr>
        <p:spPr>
          <a:xfrm>
            <a:off x="640080" y="2103120"/>
            <a:ext cx="10515600" cy="1371600"/>
          </a:xfrm>
          <a:prstGeom prst="rect">
            <a:avLst/>
          </a:prstGeom>
          <a:noFill/>
          <a:ln/>
        </p:spPr>
        <p:txBody>
          <a:bodyPr wrap="square" rtlCol="0" anchor="t"/>
          <a:lstStyle/>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El temporizador llegando a 0.</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El score máximo representable.</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El límite de 99 vidas.</a:t>
            </a:r>
            <a:endParaRPr lang="en-US" sz="1600" dirty="0"/>
          </a:p>
        </p:txBody>
      </p:sp>
      <p:sp>
        <p:nvSpPr>
          <p:cNvPr id="5" name="Text 3"/>
          <p:cNvSpPr/>
          <p:nvPr/>
        </p:nvSpPr>
        <p:spPr>
          <a:xfrm>
            <a:off x="640080" y="3749040"/>
            <a:ext cx="10881360" cy="1371600"/>
          </a:xfrm>
          <a:prstGeom prst="rect">
            <a:avLst>
              <a:gd name="adj" fmla="val 5333"/>
            </a:avLst>
          </a:prstGeom>
          <a:solidFill>
            <a:srgbClr val="2B1D0C"/>
          </a:solidFill>
          <a:ln w="12700">
            <a:solidFill>
              <a:srgbClr val="4A3416"/>
            </a:solidFill>
          </a:ln>
        </p:spPr>
        <p:txBody>
          <a:bodyPr wrap="square" lIns="228600" tIns="228600" rIns="228600" bIns="228600" rtlCol="0" anchor="ctr"/>
          <a:lstStyle/>
          <a:p>
            <a:pPr indent="0" marL="0">
              <a:lnSpc>
                <a:spcPct val="125000"/>
              </a:lnSpc>
              <a:buNone/>
            </a:pPr>
            <a:r>
              <a:rPr lang="en-US" sz="1700" dirty="0">
                <a:solidFill>
                  <a:srgbClr val="EAF3FF"/>
                </a:solidFill>
                <a:latin typeface="Segoe UI" pitchFamily="34" charset="0"/>
                <a:ea typeface="Segoe UI" pitchFamily="34" charset="-122"/>
                <a:cs typeface="Segoe UI" pitchFamily="34" charset="-120"/>
              </a:rPr>
              <a:t>¿Qué ocurre con </a:t>
            </a:r>
            <a:pPr indent="0" marL="0">
              <a:lnSpc>
                <a:spcPct val="125000"/>
              </a:lnSpc>
              <a:buNone/>
            </a:pPr>
            <a:r>
              <a:rPr lang="en-US" sz="1700" b="1" dirty="0">
                <a:solidFill>
                  <a:srgbClr val="EAF3FF"/>
                </a:solidFill>
                <a:latin typeface="Segoe UI" pitchFamily="34" charset="0"/>
                <a:ea typeface="Segoe UI" pitchFamily="34" charset="-122"/>
                <a:cs typeface="Segoe UI" pitchFamily="34" charset="-120"/>
              </a:rPr>
              <a:t>la moneda 100</a:t>
            </a:r>
            <a:pPr indent="0" marL="0">
              <a:lnSpc>
                <a:spcPct val="125000"/>
              </a:lnSpc>
              <a:buNone/>
            </a:pPr>
            <a:r>
              <a:rPr lang="en-US" sz="1700" dirty="0">
                <a:solidFill>
                  <a:srgbClr val="EAF3FF"/>
                </a:solidFill>
                <a:latin typeface="Segoe UI" pitchFamily="34" charset="0"/>
                <a:ea typeface="Segoe UI" pitchFamily="34" charset="-122"/>
                <a:cs typeface="Segoe UI" pitchFamily="34" charset="-120"/>
              </a:rPr>
              <a:t>? — el sistema debe resetear el contador de monedas a 0 y sumar una vida: el comportamiento de límite esperado.</a:t>
            </a:r>
            <a:endParaRPr lang="en-US" sz="15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2 · CAJA NEGRA I: EP Y BVA</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FFB454"/>
                </a:solidFill>
                <a:latin typeface="Consolas" pitchFamily="34" charset="0"/>
                <a:ea typeface="Consolas" pitchFamily="34" charset="-122"/>
                <a:cs typeface="Consolas" pitchFamily="34" charset="-120"/>
              </a:rPr>
              <a:t>14 / 38</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2 · CASO ESPECIAL · 5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El caso extremo: </a:t>
            </a:r>
            <a:pPr indent="0" marL="0">
              <a:buNone/>
            </a:pPr>
            <a:r>
              <a:rPr lang="en-US" sz="3200" b="1" dirty="0">
                <a:solidFill>
                  <a:srgbClr val="5FE3FF"/>
                </a:solidFill>
                <a:latin typeface="Segoe UI Semibold" pitchFamily="34" charset="0"/>
                <a:ea typeface="Segoe UI Semibold" pitchFamily="34" charset="-122"/>
                <a:cs typeface="Segoe UI Semibold" pitchFamily="34" charset="-120"/>
              </a:rPr>
              <a:t>input de texto</a:t>
            </a:r>
            <a:endParaRPr lang="en-US" sz="3200" dirty="0"/>
          </a:p>
        </p:txBody>
      </p:sp>
      <p:sp>
        <p:nvSpPr>
          <p:cNvPr id="4" name="Text 2"/>
          <p:cNvSpPr/>
          <p:nvPr/>
        </p:nvSpPr>
        <p:spPr>
          <a:xfrm>
            <a:off x="640080" y="1828800"/>
            <a:ext cx="7863840" cy="91440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El caso más extremo de EP/BVA aparece cuando el input de texto se involucra en el videojuego —por ejemplo, en el nombre de usuario o el chat.</a:t>
            </a:r>
            <a:endParaRPr lang="en-US" sz="1700" dirty="0"/>
          </a:p>
        </p:txBody>
      </p:sp>
      <p:sp>
        <p:nvSpPr>
          <p:cNvPr id="5" name="Text 3"/>
          <p:cNvSpPr/>
          <p:nvPr/>
        </p:nvSpPr>
        <p:spPr>
          <a:xfrm>
            <a:off x="640080" y="2926080"/>
            <a:ext cx="10515600" cy="2286000"/>
          </a:xfrm>
          <a:prstGeom prst="rect">
            <a:avLst/>
          </a:prstGeom>
          <a:noFill/>
          <a:ln/>
        </p:spPr>
        <p:txBody>
          <a:bodyPr wrap="square" rtlCol="0" anchor="t"/>
          <a:lstStyle/>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¿Cuál es el número máximo de caracteres que un jugador puede introducir?</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¿Qué pasa con letras adicionales —no aparecen o reemplazan la última?</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¿Podemos introducir números, caracteres especiales, letras chinas o árabes?</a:t>
            </a:r>
            <a:endParaRPr lang="en-US" sz="16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2 · CAJA NEGRA I: EP Y BVA</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15 / 38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2 · RIESGOS TÉCNICOS DE UI</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2800" b="1" dirty="0">
                <a:solidFill>
                  <a:srgbClr val="EAF3FF"/>
                </a:solidFill>
                <a:latin typeface="Segoe UI Semibold" pitchFamily="34" charset="0"/>
                <a:ea typeface="Segoe UI Semibold" pitchFamily="34" charset="-122"/>
                <a:cs typeface="Segoe UI Semibold" pitchFamily="34" charset="-120"/>
              </a:rPr>
              <a:t>Caso </a:t>
            </a:r>
            <a:pPr indent="0" marL="0">
              <a:buNone/>
            </a:pPr>
            <a:r>
              <a:rPr lang="en-US" sz="2800" b="1" dirty="0">
                <a:solidFill>
                  <a:srgbClr val="5FE3FF"/>
                </a:solidFill>
                <a:latin typeface="Segoe UI Semibold" pitchFamily="34" charset="0"/>
                <a:ea typeface="Segoe UI Semibold" pitchFamily="34" charset="-122"/>
                <a:cs typeface="Segoe UI Semibold" pitchFamily="34" charset="-120"/>
              </a:rPr>
              <a:t>Rocket League</a:t>
            </a:r>
            <a:pPr indent="0" marL="0">
              <a:buNone/>
            </a:pPr>
            <a:r>
              <a:rPr lang="en-US" sz="2800" b="1" dirty="0">
                <a:solidFill>
                  <a:srgbClr val="EAF3FF"/>
                </a:solidFill>
                <a:latin typeface="Segoe UI Semibold" pitchFamily="34" charset="0"/>
                <a:ea typeface="Segoe UI Semibold" pitchFamily="34" charset="-122"/>
                <a:cs typeface="Segoe UI Semibold" pitchFamily="34" charset="-120"/>
              </a:rPr>
              <a:t>: teclado japonés</a:t>
            </a:r>
            <a:endParaRPr lang="en-US" sz="2800" dirty="0"/>
          </a:p>
        </p:txBody>
      </p:sp>
      <p:sp>
        <p:nvSpPr>
          <p:cNvPr id="4" name="Text 2"/>
          <p:cNvSpPr/>
          <p:nvPr/>
        </p:nvSpPr>
        <p:spPr>
          <a:xfrm>
            <a:off x="640080" y="1828800"/>
            <a:ext cx="7863840" cy="118872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Los chats de videojuegos son sistemas estupendos para esta prueba: al cambiar el teclado de inglés a japonés e intentar escribir en su sistema de escritura, Rocket League no permite hiragana/katakana —solo letras latinas.</a:t>
            </a:r>
            <a:endParaRPr lang="en-US" sz="1700" dirty="0"/>
          </a:p>
        </p:txBody>
      </p:sp>
      <p:sp>
        <p:nvSpPr>
          <p:cNvPr id="5" name="Text 3"/>
          <p:cNvSpPr/>
          <p:nvPr/>
        </p:nvSpPr>
        <p:spPr>
          <a:xfrm>
            <a:off x="640080" y="3749040"/>
            <a:ext cx="10881360" cy="1371600"/>
          </a:xfrm>
          <a:prstGeom prst="rect">
            <a:avLst>
              <a:gd name="adj" fmla="val 5333"/>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100" b="1" dirty="0">
                <a:solidFill>
                  <a:srgbClr val="5FE3FF"/>
                </a:solidFill>
                <a:latin typeface="Consolas" pitchFamily="34" charset="0"/>
                <a:ea typeface="Consolas" pitchFamily="34" charset="-122"/>
                <a:cs typeface="Consolas" pitchFamily="34" charset="-120"/>
              </a:rPr>
              <a:t>PREGUNTA ABIERTA
</a:t>
            </a:r>
            <a:pPr indent="0" marL="0">
              <a:lnSpc>
                <a:spcPct val="125000"/>
              </a:lnSpc>
              <a:buNone/>
            </a:pPr>
            <a:r>
              <a:rPr lang="en-US" sz="1600" dirty="0">
                <a:solidFill>
                  <a:srgbClr val="EAF3FF"/>
                </a:solidFill>
                <a:latin typeface="Segoe UI" pitchFamily="34" charset="0"/>
                <a:ea typeface="Segoe UI" pitchFamily="34" charset="-122"/>
                <a:cs typeface="Segoe UI" pitchFamily="34" charset="-120"/>
              </a:rPr>
              <a:t>¿Qué pasaría si escribiéramos en un idioma que se escribe de derecha a izquierda —árabe o hebreo (RTL)? El riesgo: romper por completo la UI del chat.</a:t>
            </a:r>
            <a:endParaRPr lang="en-US" sz="15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2 · CAJA NEGRA I: EP Y BVA</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16 / 38</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2286000"/>
            <a:ext cx="10881360" cy="365760"/>
          </a:xfrm>
          <a:prstGeom prst="rect">
            <a:avLst/>
          </a:prstGeom>
          <a:noFill/>
          <a:ln/>
        </p:spPr>
        <p:txBody>
          <a:bodyPr wrap="square" rtlCol="0" anchor="ctr"/>
          <a:lstStyle/>
          <a:p>
            <a:pPr algn="ctr" indent="0" marL="0">
              <a:buNone/>
            </a:pPr>
            <a:r>
              <a:rPr lang="en-US" sz="1200" b="1" spc="300" kern="0" dirty="0">
                <a:solidFill>
                  <a:srgbClr val="5FE3FF"/>
                </a:solidFill>
                <a:latin typeface="Consolas" pitchFamily="34" charset="0"/>
                <a:ea typeface="Consolas" pitchFamily="34" charset="-122"/>
                <a:cs typeface="Consolas" pitchFamily="34" charset="-120"/>
              </a:rPr>
              <a:t>TRANSICIÓN</a:t>
            </a:r>
            <a:endParaRPr lang="en-US" sz="1200" dirty="0"/>
          </a:p>
        </p:txBody>
      </p:sp>
      <p:sp>
        <p:nvSpPr>
          <p:cNvPr id="3" name="Text 1"/>
          <p:cNvSpPr/>
          <p:nvPr/>
        </p:nvSpPr>
        <p:spPr>
          <a:xfrm>
            <a:off x="1371600" y="2743200"/>
            <a:ext cx="9418320" cy="1645920"/>
          </a:xfrm>
          <a:prstGeom prst="rect">
            <a:avLst/>
          </a:prstGeom>
          <a:noFill/>
          <a:ln/>
        </p:spPr>
        <p:txBody>
          <a:bodyPr wrap="square" rtlCol="0" anchor="ctr"/>
          <a:lstStyle/>
          <a:p>
            <a:pPr algn="ctr" indent="0" marL="0">
              <a:buNone/>
            </a:pPr>
            <a:r>
              <a:rPr lang="en-US" sz="3000" b="1" dirty="0">
                <a:solidFill>
                  <a:srgbClr val="EAF3FF"/>
                </a:solidFill>
                <a:latin typeface="Segoe UI Semibold" pitchFamily="34" charset="0"/>
                <a:ea typeface="Segoe UI Semibold" pitchFamily="34" charset="-122"/>
                <a:cs typeface="Segoe UI Semibold" pitchFamily="34" charset="-120"/>
              </a:rPr>
              <a:t>Tras asegurar los datos de entrada, debemos validar que el sistema sea robusto contra lo que </a:t>
            </a:r>
            <a:pPr algn="ctr" indent="0" marL="0">
              <a:buNone/>
            </a:pPr>
            <a:r>
              <a:rPr lang="en-US" sz="3000" b="1" dirty="0">
                <a:solidFill>
                  <a:srgbClr val="5FE3FF"/>
                </a:solidFill>
                <a:latin typeface="Segoe UI Semibold" pitchFamily="34" charset="0"/>
                <a:ea typeface="Segoe UI Semibold" pitchFamily="34" charset="-122"/>
                <a:cs typeface="Segoe UI Semibold" pitchFamily="34" charset="-120"/>
              </a:rPr>
              <a:t>no debería suceder</a:t>
            </a:r>
            <a:pPr algn="ctr" indent="0" marL="0">
              <a:buNone/>
            </a:pPr>
            <a:r>
              <a:rPr lang="en-US" sz="3000" b="1" dirty="0">
                <a:solidFill>
                  <a:srgbClr val="EAF3FF"/>
                </a:solidFill>
                <a:latin typeface="Segoe UI Semibold" pitchFamily="34" charset="0"/>
                <a:ea typeface="Segoe UI Semibold" pitchFamily="34" charset="-122"/>
                <a:cs typeface="Segoe UI Semibold" pitchFamily="34" charset="-120"/>
              </a:rPr>
              <a:t>.</a:t>
            </a:r>
            <a:endParaRPr lang="en-US" sz="3000" dirty="0"/>
          </a:p>
        </p:txBody>
      </p:sp>
      <p:sp>
        <p:nvSpPr>
          <p:cNvPr id="4" name="Text 2"/>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DE EP/BVA A TESTING NEGATIVO</a:t>
            </a:r>
            <a:endParaRPr lang="en-US" sz="1000" dirty="0"/>
          </a:p>
        </p:txBody>
      </p:sp>
      <p:sp>
        <p:nvSpPr>
          <p:cNvPr id="5" name="Text 3"/>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17 / 38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3 · TESTING NEGATIVO, ESTADOS Y TRANSICIONES · 30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Testing </a:t>
            </a:r>
            <a:pPr indent="0" marL="0">
              <a:buNone/>
            </a:pPr>
            <a:r>
              <a:rPr lang="en-US" sz="3200" b="1" dirty="0">
                <a:solidFill>
                  <a:srgbClr val="5FE3FF"/>
                </a:solidFill>
                <a:latin typeface="Segoe UI Semibold" pitchFamily="34" charset="0"/>
                <a:ea typeface="Segoe UI Semibold" pitchFamily="34" charset="-122"/>
                <a:cs typeface="Segoe UI Semibold" pitchFamily="34" charset="-120"/>
              </a:rPr>
              <a:t>Negativo</a:t>
            </a:r>
            <a:endParaRPr lang="en-US" sz="3200" dirty="0"/>
          </a:p>
        </p:txBody>
      </p:sp>
      <p:sp>
        <p:nvSpPr>
          <p:cNvPr id="4" name="Text 2"/>
          <p:cNvSpPr/>
          <p:nvPr/>
        </p:nvSpPr>
        <p:spPr>
          <a:xfrm>
            <a:off x="640080" y="1828800"/>
            <a:ext cx="7863840" cy="118872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Se utiliza para comprobar que la aplicación no permite a los usuarios hacer acciones inesperadas. Muchos jugadores no quieren jugar como el desarrollador lo deseó, e intentan romper o sobrepasar el sistema para ganar con mayor facilidad.</a:t>
            </a:r>
            <a:endParaRPr lang="en-US" sz="1700" dirty="0"/>
          </a:p>
        </p:txBody>
      </p:sp>
      <p:sp>
        <p:nvSpPr>
          <p:cNvPr id="5" name="Text 3"/>
          <p:cNvSpPr/>
          <p:nvPr/>
        </p:nvSpPr>
        <p:spPr>
          <a:xfrm>
            <a:off x="640080" y="3749040"/>
            <a:ext cx="10881360" cy="1463040"/>
          </a:xfrm>
          <a:prstGeom prst="rect">
            <a:avLst>
              <a:gd name="adj" fmla="val 5000"/>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600" dirty="0">
                <a:solidFill>
                  <a:srgbClr val="EAF3FF"/>
                </a:solidFill>
                <a:latin typeface="Segoe UI" pitchFamily="34" charset="0"/>
                <a:ea typeface="Segoe UI" pitchFamily="34" charset="-122"/>
                <a:cs typeface="Segoe UI" pitchFamily="34" charset="-120"/>
              </a:rPr>
              <a:t>En otras palabras: intentaremos evitar casos en los que los jugadores hagan cosas que </a:t>
            </a:r>
            <a:pPr indent="0" marL="0">
              <a:lnSpc>
                <a:spcPct val="125000"/>
              </a:lnSpc>
              <a:buNone/>
            </a:pPr>
            <a:r>
              <a:rPr lang="en-US" sz="1600" b="1" dirty="0">
                <a:solidFill>
                  <a:srgbClr val="EAF3FF"/>
                </a:solidFill>
                <a:latin typeface="Segoe UI" pitchFamily="34" charset="0"/>
                <a:ea typeface="Segoe UI" pitchFamily="34" charset="-122"/>
                <a:cs typeface="Segoe UI" pitchFamily="34" charset="-120"/>
              </a:rPr>
              <a:t>no deberían</a:t>
            </a:r>
            <a:pPr indent="0" marL="0">
              <a:lnSpc>
                <a:spcPct val="125000"/>
              </a:lnSpc>
              <a:buNone/>
            </a:pPr>
            <a:r>
              <a:rPr lang="en-US" sz="1600" dirty="0">
                <a:solidFill>
                  <a:srgbClr val="EAF3FF"/>
                </a:solidFill>
                <a:latin typeface="Segoe UI" pitchFamily="34" charset="0"/>
                <a:ea typeface="Segoe UI" pitchFamily="34" charset="-122"/>
                <a:cs typeface="Segoe UI" pitchFamily="34" charset="-120"/>
              </a:rPr>
              <a:t> poder hacer.
</a:t>
            </a:r>
            <a:pPr indent="0" marL="0">
              <a:lnSpc>
                <a:spcPct val="125000"/>
              </a:lnSpc>
              <a:buNone/>
            </a:pPr>
            <a:r>
              <a:rPr lang="en-US" sz="1100" dirty="0">
                <a:solidFill>
                  <a:srgbClr val="93AED4"/>
                </a:solidFill>
                <a:latin typeface="Consolas" pitchFamily="34" charset="0"/>
                <a:ea typeface="Consolas" pitchFamily="34" charset="-122"/>
                <a:cs typeface="Consolas" pitchFamily="34" charset="-120"/>
              </a:rPr>
              <a:t>ISTQB, 2022, p.13 · J. Myers, 2011, p.2</a:t>
            </a:r>
            <a:endParaRPr lang="en-US" sz="15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3 · TESTING NEGATIVO Y ESTADOS</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18 / 38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3 · CASO FALL GUYS · “SCALE THE WALLS”</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2800" b="1" dirty="0">
                <a:solidFill>
                  <a:srgbClr val="EAF3FF"/>
                </a:solidFill>
                <a:latin typeface="Segoe UI Semibold" pitchFamily="34" charset="0"/>
                <a:ea typeface="Segoe UI Semibold" pitchFamily="34" charset="-122"/>
                <a:cs typeface="Segoe UI Semibold" pitchFamily="34" charset="-120"/>
              </a:rPr>
              <a:t>Testing positivo vs. negativo</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911535" cy="914400"/>
        </p:xfrm>
        <a:graphic>
          <a:graphicData uri="http://schemas.openxmlformats.org/drawingml/2006/table">
            <a:tbl>
              <a:tblPr/>
              <a:tblGrid>
                <a:gridCol w="5440680"/>
                <a:gridCol w="5440680"/>
              </a:tblGrid>
              <a:tr h="1645920">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Testing positivo</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Testing negativo</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r>
              <a:tr h="1645920">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Los jugadores pueden progresar a través del nivel con la ayuda de las cajas.</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Los jugadores SOLO pueden progresar con la ayuda de las cajas: sin poder saltar sobre otros jugadores, escalar el muro o rodearlo.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bl>
          </a:graphicData>
        </a:graphic>
      </p:graphicFrame>
      <p:sp>
        <p:nvSpPr>
          <p:cNvPr id="5" name="Text 2"/>
          <p:cNvSpPr/>
          <p:nvPr/>
        </p:nvSpPr>
        <p:spPr>
          <a:xfrm>
            <a:off x="640080" y="4114800"/>
            <a:ext cx="10881360" cy="1005840"/>
          </a:xfrm>
          <a:prstGeom prst="rect">
            <a:avLst>
              <a:gd name="adj" fmla="val 7273"/>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600" dirty="0">
                <a:solidFill>
                  <a:srgbClr val="EAF3FF"/>
                </a:solidFill>
                <a:latin typeface="Segoe UI" pitchFamily="34" charset="0"/>
                <a:ea typeface="Segoe UI" pitchFamily="34" charset="-122"/>
                <a:cs typeface="Segoe UI" pitchFamily="34" charset="-120"/>
              </a:rPr>
              <a:t>El testing positivo valida que el camino diseñado funcione. El testing negativo garantiza que </a:t>
            </a:r>
            <a:pPr indent="0" marL="0">
              <a:lnSpc>
                <a:spcPct val="125000"/>
              </a:lnSpc>
              <a:buNone/>
            </a:pPr>
            <a:r>
              <a:rPr lang="en-US" sz="1600" b="1" dirty="0">
                <a:solidFill>
                  <a:srgbClr val="EAF3FF"/>
                </a:solidFill>
                <a:latin typeface="Segoe UI" pitchFamily="34" charset="0"/>
                <a:ea typeface="Segoe UI" pitchFamily="34" charset="-122"/>
                <a:cs typeface="Segoe UI" pitchFamily="34" charset="-120"/>
              </a:rPr>
              <a:t>no existan atajos</a:t>
            </a:r>
            <a:pPr indent="0" marL="0">
              <a:lnSpc>
                <a:spcPct val="125000"/>
              </a:lnSpc>
              <a:buNone/>
            </a:pPr>
            <a:r>
              <a:rPr lang="en-US" sz="1600" dirty="0">
                <a:solidFill>
                  <a:srgbClr val="EAF3FF"/>
                </a:solidFill>
                <a:latin typeface="Segoe UI" pitchFamily="34" charset="0"/>
                <a:ea typeface="Segoe UI" pitchFamily="34" charset="-122"/>
                <a:cs typeface="Segoe UI" pitchFamily="34" charset="-120"/>
              </a:rPr>
              <a:t> fuera de ese camino.</a:t>
            </a:r>
            <a:endParaRPr lang="en-US" sz="1500" dirty="0"/>
          </a:p>
        </p:txBody>
      </p:sp>
      <p:sp>
        <p:nvSpPr>
          <p:cNvPr id="6" name="Text 3"/>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3 · TESTING NEGATIVO Y ESTADOS</a:t>
            </a:r>
            <a:endParaRPr lang="en-US" sz="1000" dirty="0"/>
          </a:p>
        </p:txBody>
      </p:sp>
      <p:sp>
        <p:nvSpPr>
          <p:cNvPr id="7" name="Text 4"/>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19 / 38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41708"/>
        </a:solidFill>
      </p:bgPr>
    </p:bg>
    <p:spTree>
      <p:nvGrpSpPr>
        <p:cNvPr id="1" name=""/>
        <p:cNvGrpSpPr/>
        <p:nvPr/>
      </p:nvGrpSpPr>
      <p:grpSpPr>
        <a:xfrm>
          <a:off x="0" y="0"/>
          <a:ext cx="0" cy="0"/>
          <a:chOff x="0" y="0"/>
          <a:chExt cx="0" cy="0"/>
        </a:xfrm>
      </p:grpSpPr>
      <p:sp>
        <p:nvSpPr>
          <p:cNvPr id="2" name="Text 0"/>
          <p:cNvSpPr/>
          <p:nvPr/>
        </p:nvSpPr>
        <p:spPr>
          <a:xfrm>
            <a:off x="640080" y="384048"/>
            <a:ext cx="5943600" cy="384048"/>
          </a:xfrm>
          <a:prstGeom prst="rect">
            <a:avLst>
              <a:gd name="adj" fmla="val 42857"/>
            </a:avLst>
          </a:prstGeom>
          <a:solidFill>
            <a:srgbClr val="3A2410"/>
          </a:solidFill>
          <a:ln w="12700">
            <a:solidFill>
              <a:srgbClr val="6B4A1E"/>
            </a:solidFill>
          </a:ln>
        </p:spPr>
        <p:txBody>
          <a:bodyPr wrap="square" rtlCol="0" anchor="ctr"/>
          <a:lstStyle/>
          <a:p>
            <a:pPr algn="ctr" indent="0" marL="0">
              <a:buNone/>
            </a:pPr>
            <a:r>
              <a:rPr lang="en-US" sz="1200" b="1" dirty="0">
                <a:solidFill>
                  <a:srgbClr val="FFB454"/>
                </a:solidFill>
                <a:latin typeface="Consolas" pitchFamily="34" charset="0"/>
                <a:ea typeface="Consolas" pitchFamily="34" charset="-122"/>
                <a:cs typeface="Consolas" pitchFamily="34" charset="-120"/>
              </a:rPr>
              <a:t>DINÁMICA DE DEBATE 3 · 10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000" b="1" dirty="0">
                <a:solidFill>
                  <a:srgbClr val="EAF3FF"/>
                </a:solidFill>
                <a:latin typeface="Segoe UI Semibold" pitchFamily="34" charset="0"/>
                <a:ea typeface="Segoe UI Semibold" pitchFamily="34" charset="-122"/>
                <a:cs typeface="Segoe UI Semibold" pitchFamily="34" charset="-120"/>
              </a:rPr>
              <a:t>Comportamiento emergente </a:t>
            </a:r>
            <a:pPr indent="0" marL="0">
              <a:buNone/>
            </a:pPr>
            <a:r>
              <a:rPr lang="en-US" sz="3000" b="1" dirty="0">
                <a:solidFill>
                  <a:srgbClr val="FFB454"/>
                </a:solidFill>
                <a:latin typeface="Segoe UI Semibold" pitchFamily="34" charset="0"/>
                <a:ea typeface="Segoe UI Semibold" pitchFamily="34" charset="-122"/>
                <a:cs typeface="Segoe UI Semibold" pitchFamily="34" charset="-120"/>
              </a:rPr>
              <a:t>vs.</a:t>
            </a:r>
            <a:pPr indent="0" marL="0">
              <a:buNone/>
            </a:pPr>
            <a:r>
              <a:rPr lang="en-US" sz="3000" b="1" dirty="0">
                <a:solidFill>
                  <a:srgbClr val="EAF3FF"/>
                </a:solidFill>
                <a:latin typeface="Segoe UI Semibold" pitchFamily="34" charset="0"/>
                <a:ea typeface="Segoe UI Semibold" pitchFamily="34" charset="-122"/>
                <a:cs typeface="Segoe UI Semibold" pitchFamily="34" charset="-120"/>
              </a:rPr>
              <a:t> Exploit</a:t>
            </a:r>
            <a:endParaRPr lang="en-US" sz="3000" dirty="0"/>
          </a:p>
        </p:txBody>
      </p:sp>
      <p:sp>
        <p:nvSpPr>
          <p:cNvPr id="4" name="Text 2"/>
          <p:cNvSpPr/>
          <p:nvPr/>
        </p:nvSpPr>
        <p:spPr>
          <a:xfrm>
            <a:off x="640080" y="2103120"/>
            <a:ext cx="7863840" cy="548640"/>
          </a:xfrm>
          <a:prstGeom prst="rect">
            <a:avLst/>
          </a:prstGeom>
          <a:noFill/>
          <a:ln/>
        </p:spPr>
        <p:txBody>
          <a:bodyPr wrap="square" rtlCol="0" anchor="t"/>
          <a:lstStyle/>
          <a:p>
            <a:pPr indent="0" marL="0">
              <a:lnSpc>
                <a:spcPct val="130000"/>
              </a:lnSpc>
              <a:buNone/>
            </a:pPr>
            <a:r>
              <a:rPr lang="en-US" sz="1800" dirty="0">
                <a:solidFill>
                  <a:srgbClr val="C3D4EA"/>
                </a:solidFill>
                <a:latin typeface="Segoe UI" pitchFamily="34" charset="0"/>
                <a:ea typeface="Segoe UI" pitchFamily="34" charset="-122"/>
                <a:cs typeface="Segoe UI" pitchFamily="34" charset="-120"/>
              </a:rPr>
              <a:t>El rol del QA es actuar como la “voz del diseño original”.</a:t>
            </a:r>
            <a:endParaRPr lang="en-US" sz="1800" dirty="0"/>
          </a:p>
        </p:txBody>
      </p:sp>
      <p:sp>
        <p:nvSpPr>
          <p:cNvPr id="5" name="Text 3"/>
          <p:cNvSpPr/>
          <p:nvPr/>
        </p:nvSpPr>
        <p:spPr>
          <a:xfrm>
            <a:off x="640080" y="2834640"/>
            <a:ext cx="10881360" cy="1645920"/>
          </a:xfrm>
          <a:prstGeom prst="rect">
            <a:avLst>
              <a:gd name="adj" fmla="val 4444"/>
            </a:avLst>
          </a:prstGeom>
          <a:solidFill>
            <a:srgbClr val="2B1D0C"/>
          </a:solidFill>
          <a:ln w="12700">
            <a:solidFill>
              <a:srgbClr val="4A3416"/>
            </a:solidFill>
          </a:ln>
        </p:spPr>
        <p:txBody>
          <a:bodyPr wrap="square" lIns="228600" tIns="228600" rIns="228600" bIns="228600" rtlCol="0" anchor="ctr"/>
          <a:lstStyle/>
          <a:p>
            <a:pPr indent="0" marL="0">
              <a:lnSpc>
                <a:spcPct val="125000"/>
              </a:lnSpc>
              <a:buNone/>
            </a:pPr>
            <a:r>
              <a:rPr lang="en-US" sz="1800" dirty="0">
                <a:solidFill>
                  <a:srgbClr val="EAF3FF"/>
                </a:solidFill>
                <a:latin typeface="Segoe UI" pitchFamily="34" charset="0"/>
                <a:ea typeface="Segoe UI" pitchFamily="34" charset="-122"/>
                <a:cs typeface="Segoe UI" pitchFamily="34" charset="-120"/>
              </a:rPr>
              <a:t>¿Una granada que te impulsa es una jugada creativa —o un exploit? Si rompe la progresión diseñada del juego, es un </a:t>
            </a:r>
            <a:pPr indent="0" marL="0">
              <a:lnSpc>
                <a:spcPct val="125000"/>
              </a:lnSpc>
              <a:buNone/>
            </a:pPr>
            <a:r>
              <a:rPr lang="en-US" sz="1800" b="1" dirty="0">
                <a:solidFill>
                  <a:srgbClr val="EAF3FF"/>
                </a:solidFill>
                <a:latin typeface="Segoe UI" pitchFamily="34" charset="0"/>
                <a:ea typeface="Segoe UI" pitchFamily="34" charset="-122"/>
                <a:cs typeface="Segoe UI" pitchFamily="34" charset="-120"/>
              </a:rPr>
              <a:t>bug de severidad lógica</a:t>
            </a:r>
            <a:pPr indent="0" marL="0">
              <a:lnSpc>
                <a:spcPct val="125000"/>
              </a:lnSpc>
              <a:buNone/>
            </a:pPr>
            <a:r>
              <a:rPr lang="en-US" sz="1800" dirty="0">
                <a:solidFill>
                  <a:srgbClr val="EAF3FF"/>
                </a:solidFill>
                <a:latin typeface="Segoe UI" pitchFamily="34" charset="0"/>
                <a:ea typeface="Segoe UI" pitchFamily="34" charset="-122"/>
                <a:cs typeface="Segoe UI" pitchFamily="34" charset="-120"/>
              </a:rPr>
              <a:t>, sin importar cuán divertido resulte.</a:t>
            </a:r>
            <a:endParaRPr lang="en-US" sz="15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3 · TESTING NEGATIVO Y ESTADOS</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FFB454"/>
                </a:solidFill>
                <a:latin typeface="Consolas" pitchFamily="34" charset="0"/>
                <a:ea typeface="Consolas" pitchFamily="34" charset="-122"/>
                <a:cs typeface="Consolas" pitchFamily="34" charset="-120"/>
              </a:rPr>
              <a:t>20 / 38</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3 · TESTING NEGATIVO, ESTADOS Y TRANSICIONES · 30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2800" b="1" dirty="0">
                <a:solidFill>
                  <a:srgbClr val="EAF3FF"/>
                </a:solidFill>
                <a:latin typeface="Segoe UI Semibold" pitchFamily="34" charset="0"/>
                <a:ea typeface="Segoe UI Semibold" pitchFamily="34" charset="-122"/>
                <a:cs typeface="Segoe UI Semibold" pitchFamily="34" charset="-120"/>
              </a:rPr>
              <a:t>Cobertura de </a:t>
            </a:r>
            <a:pPr indent="0" marL="0">
              <a:buNone/>
            </a:pPr>
            <a:r>
              <a:rPr lang="en-US" sz="2800" b="1" dirty="0">
                <a:solidFill>
                  <a:srgbClr val="5FE3FF"/>
                </a:solidFill>
                <a:latin typeface="Segoe UI Semibold" pitchFamily="34" charset="0"/>
                <a:ea typeface="Segoe UI Semibold" pitchFamily="34" charset="-122"/>
                <a:cs typeface="Segoe UI Semibold" pitchFamily="34" charset="-120"/>
              </a:rPr>
              <a:t>Estados y Transiciones</a:t>
            </a:r>
            <a:endParaRPr lang="en-US" sz="2800" dirty="0"/>
          </a:p>
        </p:txBody>
      </p:sp>
      <p:sp>
        <p:nvSpPr>
          <p:cNvPr id="4" name="Text 2"/>
          <p:cNvSpPr/>
          <p:nvPr/>
        </p:nvSpPr>
        <p:spPr>
          <a:xfrm>
            <a:off x="640080" y="2377440"/>
            <a:ext cx="10881360" cy="914400"/>
          </a:xfrm>
          <a:prstGeom prst="rect">
            <a:avLst>
              <a:gd name="adj" fmla="val 8000"/>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2000" b="1" dirty="0">
                <a:solidFill>
                  <a:srgbClr val="EAF3FF"/>
                </a:solidFill>
                <a:latin typeface="Segoe UI Semibold" pitchFamily="34" charset="0"/>
                <a:ea typeface="Segoe UI Semibold" pitchFamily="34" charset="-122"/>
                <a:cs typeface="Segoe UI Semibold" pitchFamily="34" charset="-120"/>
              </a:rPr>
              <a:t>El estándar de oro es la cobertura del 100% de las transiciones.</a:t>
            </a:r>
            <a:endParaRPr lang="en-US" sz="2000" dirty="0"/>
          </a:p>
        </p:txBody>
      </p:sp>
      <p:sp>
        <p:nvSpPr>
          <p:cNvPr id="5" name="Text 3"/>
          <p:cNvSpPr/>
          <p:nvPr/>
        </p:nvSpPr>
        <p:spPr>
          <a:xfrm>
            <a:off x="1097280" y="3566160"/>
            <a:ext cx="9966960" cy="1188720"/>
          </a:xfrm>
          <a:prstGeom prst="rect">
            <a:avLst/>
          </a:prstGeom>
          <a:noFill/>
          <a:ln/>
        </p:spPr>
        <p:txBody>
          <a:bodyPr wrap="square" rtlCol="0" anchor="t"/>
          <a:lstStyle/>
          <a:p>
            <a:pPr algn="ctr" indent="0" marL="0">
              <a:lnSpc>
                <a:spcPct val="130000"/>
              </a:lnSpc>
              <a:buNone/>
            </a:pPr>
            <a:r>
              <a:rPr lang="en-US" sz="1700" dirty="0">
                <a:solidFill>
                  <a:srgbClr val="C3D4EA"/>
                </a:solidFill>
                <a:latin typeface="Segoe UI" pitchFamily="34" charset="0"/>
                <a:ea typeface="Segoe UI" pitchFamily="34" charset="-122"/>
                <a:cs typeface="Segoe UI" pitchFamily="34" charset="-120"/>
              </a:rPr>
              <a:t>Esto garantiza automáticamente el 100% de los estados —pero no a la inversa: cubrir todos los estados no implica haber recorrido todas las transiciones entre ellos.</a:t>
            </a:r>
            <a:endParaRPr lang="en-US" sz="17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3 · TESTING NEGATIVO Y ESTADOS</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21 / 38</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3 · FÓRMULA PRÁCTICA</a:t>
            </a:r>
            <a:endParaRPr lang="en-US" sz="1200" dirty="0"/>
          </a:p>
        </p:txBody>
      </p:sp>
      <p:sp>
        <p:nvSpPr>
          <p:cNvPr id="3" name="Text 1"/>
          <p:cNvSpPr/>
          <p:nvPr/>
        </p:nvSpPr>
        <p:spPr>
          <a:xfrm>
            <a:off x="640080" y="1463040"/>
            <a:ext cx="10881360" cy="548640"/>
          </a:xfrm>
          <a:prstGeom prst="rect">
            <a:avLst/>
          </a:prstGeom>
          <a:noFill/>
          <a:ln/>
        </p:spPr>
        <p:txBody>
          <a:bodyPr wrap="square" rtlCol="0" anchor="ctr"/>
          <a:lstStyle/>
          <a:p>
            <a:pPr algn="ctr" indent="0" marL="0">
              <a:buNone/>
            </a:pPr>
            <a:r>
              <a:rPr lang="en-US" sz="2600" b="1" dirty="0">
                <a:solidFill>
                  <a:srgbClr val="EAF3FF"/>
                </a:solidFill>
                <a:latin typeface="Segoe UI Semibold" pitchFamily="34" charset="0"/>
                <a:ea typeface="Segoe UI Semibold" pitchFamily="34" charset="-122"/>
                <a:cs typeface="Segoe UI Semibold" pitchFamily="34" charset="-120"/>
              </a:rPr>
              <a:t>Casos mínimos por decisión lógica</a:t>
            </a:r>
            <a:endParaRPr lang="en-US" sz="2600" dirty="0"/>
          </a:p>
        </p:txBody>
      </p:sp>
      <p:sp>
        <p:nvSpPr>
          <p:cNvPr id="4" name="Text 2"/>
          <p:cNvSpPr/>
          <p:nvPr/>
        </p:nvSpPr>
        <p:spPr>
          <a:xfrm>
            <a:off x="3291840" y="2377440"/>
            <a:ext cx="5577840" cy="1188720"/>
          </a:xfrm>
          <a:prstGeom prst="rect">
            <a:avLst>
              <a:gd name="adj" fmla="val 6154"/>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4400" b="1" dirty="0">
                <a:solidFill>
                  <a:srgbClr val="5FE3FF"/>
                </a:solidFill>
                <a:latin typeface="Consolas" pitchFamily="34" charset="0"/>
                <a:ea typeface="Consolas" pitchFamily="34" charset="-122"/>
                <a:cs typeface="Consolas" pitchFamily="34" charset="-120"/>
              </a:rPr>
              <a:t>N.º de Ifs × 2</a:t>
            </a:r>
            <a:endParaRPr lang="en-US" sz="4400" dirty="0"/>
          </a:p>
        </p:txBody>
      </p:sp>
      <p:sp>
        <p:nvSpPr>
          <p:cNvPr id="5" name="Text 3"/>
          <p:cNvSpPr/>
          <p:nvPr/>
        </p:nvSpPr>
        <p:spPr>
          <a:xfrm>
            <a:off x="1554480" y="3931920"/>
            <a:ext cx="9052560" cy="1005840"/>
          </a:xfrm>
          <a:prstGeom prst="rect">
            <a:avLst/>
          </a:prstGeom>
          <a:noFill/>
          <a:ln/>
        </p:spPr>
        <p:txBody>
          <a:bodyPr wrap="square" rtlCol="0" anchor="t"/>
          <a:lstStyle/>
          <a:p>
            <a:pPr algn="ctr" indent="0" marL="0">
              <a:lnSpc>
                <a:spcPct val="130000"/>
              </a:lnSpc>
              <a:buNone/>
            </a:pPr>
            <a:r>
              <a:rPr lang="en-US" sz="1700" dirty="0">
                <a:solidFill>
                  <a:srgbClr val="C3D4EA"/>
                </a:solidFill>
                <a:latin typeface="Segoe UI" pitchFamily="34" charset="0"/>
                <a:ea typeface="Segoe UI" pitchFamily="34" charset="-122"/>
                <a:cs typeface="Segoe UI" pitchFamily="34" charset="-120"/>
              </a:rPr>
              <a:t>Cada decisión lógica tiene dos caminos posibles —Verdadero y Falso. Para una cobertura básica, necesitamos al menos un caso de prueba para cada rama.</a:t>
            </a:r>
            <a:endParaRPr lang="en-US" sz="17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3 · TESTING NEGATIVO Y ESTADOS</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22 / 38</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3 · ADVERTENCIA NARRATIVA</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Nodos de diálogo </a:t>
            </a:r>
            <a:pPr indent="0" marL="0">
              <a:buNone/>
            </a:pPr>
            <a:r>
              <a:rPr lang="en-US" sz="3200" b="1" dirty="0">
                <a:solidFill>
                  <a:srgbClr val="5FE3FF"/>
                </a:solidFill>
                <a:latin typeface="Segoe UI Semibold" pitchFamily="34" charset="0"/>
                <a:ea typeface="Segoe UI Semibold" pitchFamily="34" charset="-122"/>
                <a:cs typeface="Segoe UI Semibold" pitchFamily="34" charset="-120"/>
              </a:rPr>
              <a:t>huérfanos</a:t>
            </a:r>
            <a:endParaRPr lang="en-US" sz="3200" dirty="0"/>
          </a:p>
        </p:txBody>
      </p:sp>
      <p:sp>
        <p:nvSpPr>
          <p:cNvPr id="4" name="Text 2"/>
          <p:cNvSpPr/>
          <p:nvPr/>
        </p:nvSpPr>
        <p:spPr>
          <a:xfrm>
            <a:off x="640080" y="1828800"/>
            <a:ext cx="7863840" cy="118872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En juegos con árboles de diálogo o ramificaciones narrativas, un estado sin transición de salida —un nodo huérfano— bloquea por completo el flujo del jugador.</a:t>
            </a:r>
            <a:endParaRPr lang="en-US" sz="1700" dirty="0"/>
          </a:p>
        </p:txBody>
      </p:sp>
      <p:sp>
        <p:nvSpPr>
          <p:cNvPr id="5" name="Text 3"/>
          <p:cNvSpPr/>
          <p:nvPr/>
        </p:nvSpPr>
        <p:spPr>
          <a:xfrm>
            <a:off x="640080" y="3657600"/>
            <a:ext cx="10881360" cy="1280160"/>
          </a:xfrm>
          <a:prstGeom prst="rect">
            <a:avLst>
              <a:gd name="adj" fmla="val 5714"/>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600" dirty="0">
                <a:solidFill>
                  <a:srgbClr val="EAF3FF"/>
                </a:solidFill>
                <a:latin typeface="Segoe UI" pitchFamily="34" charset="0"/>
                <a:ea typeface="Segoe UI" pitchFamily="34" charset="-122"/>
                <a:cs typeface="Segoe UI" pitchFamily="34" charset="-120"/>
              </a:rPr>
              <a:t>La cobertura de transiciones no es solo una métrica de calidad: en narrativa, es lo único que garantiza que el jugador siempre pueda continuar la historia.</a:t>
            </a:r>
            <a:endParaRPr lang="en-US" sz="16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3 · TESTING NEGATIVO Y ESTADOS</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23 / 38</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2286000"/>
            <a:ext cx="10881360" cy="365760"/>
          </a:xfrm>
          <a:prstGeom prst="rect">
            <a:avLst/>
          </a:prstGeom>
          <a:noFill/>
          <a:ln/>
        </p:spPr>
        <p:txBody>
          <a:bodyPr wrap="square" rtlCol="0" anchor="ctr"/>
          <a:lstStyle/>
          <a:p>
            <a:pPr algn="ctr" indent="0" marL="0">
              <a:buNone/>
            </a:pPr>
            <a:r>
              <a:rPr lang="en-US" sz="1200" b="1" spc="300" kern="0" dirty="0">
                <a:solidFill>
                  <a:srgbClr val="5FE3FF"/>
                </a:solidFill>
                <a:latin typeface="Consolas" pitchFamily="34" charset="0"/>
                <a:ea typeface="Consolas" pitchFamily="34" charset="-122"/>
                <a:cs typeface="Consolas" pitchFamily="34" charset="-120"/>
              </a:rPr>
              <a:t>TRANSICIÓN</a:t>
            </a:r>
            <a:endParaRPr lang="en-US" sz="1200" dirty="0"/>
          </a:p>
        </p:txBody>
      </p:sp>
      <p:sp>
        <p:nvSpPr>
          <p:cNvPr id="3" name="Text 1"/>
          <p:cNvSpPr/>
          <p:nvPr/>
        </p:nvSpPr>
        <p:spPr>
          <a:xfrm>
            <a:off x="1371600" y="2743200"/>
            <a:ext cx="9418320" cy="1645920"/>
          </a:xfrm>
          <a:prstGeom prst="rect">
            <a:avLst/>
          </a:prstGeom>
          <a:noFill/>
          <a:ln/>
        </p:spPr>
        <p:txBody>
          <a:bodyPr wrap="square" rtlCol="0" anchor="ctr"/>
          <a:lstStyle/>
          <a:p>
            <a:pPr algn="ctr" indent="0" marL="0">
              <a:buNone/>
            </a:pPr>
            <a:r>
              <a:rPr lang="en-US" sz="3000" b="1" dirty="0">
                <a:solidFill>
                  <a:srgbClr val="EAF3FF"/>
                </a:solidFill>
                <a:latin typeface="Segoe UI Semibold" pitchFamily="34" charset="0"/>
                <a:ea typeface="Segoe UI Semibold" pitchFamily="34" charset="-122"/>
                <a:cs typeface="Segoe UI Semibold" pitchFamily="34" charset="-120"/>
              </a:rPr>
              <a:t>Cuando las combinaciones se vuelven inmanejables, recurrimos a la </a:t>
            </a:r>
            <a:pPr algn="ctr" indent="0" marL="0">
              <a:buNone/>
            </a:pPr>
            <a:r>
              <a:rPr lang="en-US" sz="3000" b="1" dirty="0">
                <a:solidFill>
                  <a:srgbClr val="5FE3FF"/>
                </a:solidFill>
                <a:latin typeface="Segoe UI Semibold" pitchFamily="34" charset="0"/>
                <a:ea typeface="Segoe UI Semibold" pitchFamily="34" charset="-122"/>
                <a:cs typeface="Segoe UI Semibold" pitchFamily="34" charset="-120"/>
              </a:rPr>
              <a:t>lógica combinatoria</a:t>
            </a:r>
            <a:pPr algn="ctr" indent="0" marL="0">
              <a:buNone/>
            </a:pPr>
            <a:r>
              <a:rPr lang="en-US" sz="3000" b="1" dirty="0">
                <a:solidFill>
                  <a:srgbClr val="EAF3FF"/>
                </a:solidFill>
                <a:latin typeface="Segoe UI Semibold" pitchFamily="34" charset="0"/>
                <a:ea typeface="Segoe UI Semibold" pitchFamily="34" charset="-122"/>
                <a:cs typeface="Segoe UI Semibold" pitchFamily="34" charset="-120"/>
              </a:rPr>
              <a:t>.</a:t>
            </a:r>
            <a:endParaRPr lang="en-US" sz="3000" dirty="0"/>
          </a:p>
        </p:txBody>
      </p:sp>
      <p:sp>
        <p:nvSpPr>
          <p:cNvPr id="4" name="Text 2"/>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DE ESTADOS A TÉCNICAS COMBINATORIAS</a:t>
            </a:r>
            <a:endParaRPr lang="en-US" sz="1000" dirty="0"/>
          </a:p>
        </p:txBody>
      </p:sp>
      <p:sp>
        <p:nvSpPr>
          <p:cNvPr id="5" name="Text 3"/>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24 / 38</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4 · TÉCNICAS COMBINATORIAS Y GESTIÓN DE ERRORES · 30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Testing </a:t>
            </a:r>
            <a:pPr indent="0" marL="0">
              <a:buNone/>
            </a:pPr>
            <a:r>
              <a:rPr lang="en-US" sz="3200" b="1" dirty="0">
                <a:solidFill>
                  <a:srgbClr val="5FE3FF"/>
                </a:solidFill>
                <a:latin typeface="Segoe UI Semibold" pitchFamily="34" charset="0"/>
                <a:ea typeface="Segoe UI Semibold" pitchFamily="34" charset="-122"/>
                <a:cs typeface="Segoe UI Semibold" pitchFamily="34" charset="-120"/>
              </a:rPr>
              <a:t>Combinatorio</a:t>
            </a:r>
            <a:endParaRPr lang="en-US" sz="3200" dirty="0"/>
          </a:p>
        </p:txBody>
      </p:sp>
      <p:sp>
        <p:nvSpPr>
          <p:cNvPr id="4" name="Text 2"/>
          <p:cNvSpPr/>
          <p:nvPr/>
        </p:nvSpPr>
        <p:spPr>
          <a:xfrm>
            <a:off x="640080" y="1828800"/>
            <a:ext cx="7863840" cy="118872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Pairwise Testing y los Árboles de Clasificación son las 2 técnicas que se consideran combinatorias. Se usan cuando se testea un software con varios parámetros, y cada uno de ellos podría tener varios valores.</a:t>
            </a:r>
            <a:endParaRPr lang="en-US" sz="1700" dirty="0"/>
          </a:p>
        </p:txBody>
      </p:sp>
      <p:sp>
        <p:nvSpPr>
          <p:cNvPr id="5" name="Text 3"/>
          <p:cNvSpPr/>
          <p:nvPr/>
        </p:nvSpPr>
        <p:spPr>
          <a:xfrm>
            <a:off x="640080" y="3657600"/>
            <a:ext cx="10881360" cy="822960"/>
          </a:xfrm>
          <a:prstGeom prst="rect">
            <a:avLst>
              <a:gd name="adj" fmla="val 8889"/>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600" dirty="0">
                <a:solidFill>
                  <a:srgbClr val="EAF3FF"/>
                </a:solidFill>
                <a:latin typeface="Segoe UI" pitchFamily="34" charset="0"/>
                <a:ea typeface="Segoe UI" pitchFamily="34" charset="-122"/>
                <a:cs typeface="Segoe UI" pitchFamily="34" charset="-120"/>
              </a:rPr>
              <a:t>Los valores tienen que ser </a:t>
            </a:r>
            <a:pPr indent="0" marL="0">
              <a:lnSpc>
                <a:spcPct val="125000"/>
              </a:lnSpc>
              <a:buNone/>
            </a:pPr>
            <a:r>
              <a:rPr lang="en-US" sz="1600" b="1" dirty="0">
                <a:solidFill>
                  <a:srgbClr val="EAF3FF"/>
                </a:solidFill>
                <a:latin typeface="Segoe UI" pitchFamily="34" charset="0"/>
                <a:ea typeface="Segoe UI" pitchFamily="34" charset="-122"/>
                <a:cs typeface="Segoe UI" pitchFamily="34" charset="-120"/>
              </a:rPr>
              <a:t>independientes y compatibles</a:t>
            </a:r>
            <a:pPr indent="0" marL="0">
              <a:lnSpc>
                <a:spcPct val="125000"/>
              </a:lnSpc>
              <a:buNone/>
            </a:pPr>
            <a:r>
              <a:rPr lang="en-US" sz="1600" dirty="0">
                <a:solidFill>
                  <a:srgbClr val="EAF3FF"/>
                </a:solidFill>
                <a:latin typeface="Segoe UI" pitchFamily="34" charset="0"/>
                <a:ea typeface="Segoe UI" pitchFamily="34" charset="-122"/>
                <a:cs typeface="Segoe UI" pitchFamily="34" charset="-120"/>
              </a:rPr>
              <a:t> entre sí.</a:t>
            </a:r>
            <a:endParaRPr lang="en-US" sz="15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4 · COMBINATORIA Y GESTIÓN DE ERRORES</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25 / 38</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4 · PAIRWISE TESTING · 10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Pairwise Testing</a:t>
            </a:r>
            <a:endParaRPr lang="en-US" sz="3200" dirty="0"/>
          </a:p>
        </p:txBody>
      </p:sp>
      <p:sp>
        <p:nvSpPr>
          <p:cNvPr id="4" name="Text 2"/>
          <p:cNvSpPr/>
          <p:nvPr/>
        </p:nvSpPr>
        <p:spPr>
          <a:xfrm>
            <a:off x="640080" y="1828800"/>
            <a:ext cx="7863840" cy="54864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La teoría: la mayoría de los fallos son producidos por la interacción de dos variables.</a:t>
            </a:r>
            <a:endParaRPr lang="en-US" sz="1700" dirty="0"/>
          </a:p>
        </p:txBody>
      </p:sp>
      <p:sp>
        <p:nvSpPr>
          <p:cNvPr id="5" name="Text 3"/>
          <p:cNvSpPr/>
          <p:nvPr/>
        </p:nvSpPr>
        <p:spPr>
          <a:xfrm>
            <a:off x="640080" y="2468880"/>
            <a:ext cx="5212080" cy="1737360"/>
          </a:xfrm>
          <a:prstGeom prst="rect">
            <a:avLst>
              <a:gd name="adj" fmla="val 4211"/>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4400" b="1" dirty="0">
                <a:solidFill>
                  <a:srgbClr val="5FE3FF"/>
                </a:solidFill>
                <a:latin typeface="Consolas" pitchFamily="34" charset="0"/>
                <a:ea typeface="Consolas" pitchFamily="34" charset="-122"/>
                <a:cs typeface="Consolas" pitchFamily="34" charset="-120"/>
              </a:rPr>
              <a:t>66%
</a:t>
            </a:r>
            <a:pPr algn="ctr" indent="0" marL="0">
              <a:lnSpc>
                <a:spcPct val="125000"/>
              </a:lnSpc>
              <a:buNone/>
            </a:pPr>
            <a:r>
              <a:rPr lang="en-US" sz="1400" dirty="0">
                <a:solidFill>
                  <a:srgbClr val="C3D4EA"/>
                </a:solidFill>
                <a:latin typeface="Segoe UI" pitchFamily="34" charset="0"/>
                <a:ea typeface="Segoe UI" pitchFamily="34" charset="-122"/>
                <a:cs typeface="Segoe UI" pitchFamily="34" charset="-120"/>
              </a:rPr>
              <a:t>de los fallos se desencadenan por una sola variable.</a:t>
            </a:r>
            <a:endParaRPr lang="en-US" sz="1500" dirty="0"/>
          </a:p>
        </p:txBody>
      </p:sp>
      <p:sp>
        <p:nvSpPr>
          <p:cNvPr id="6" name="Text 4"/>
          <p:cNvSpPr/>
          <p:nvPr/>
        </p:nvSpPr>
        <p:spPr>
          <a:xfrm>
            <a:off x="6309360" y="2468880"/>
            <a:ext cx="5212080" cy="1737360"/>
          </a:xfrm>
          <a:prstGeom prst="rect">
            <a:avLst>
              <a:gd name="adj" fmla="val 4211"/>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4400" b="1" dirty="0">
                <a:solidFill>
                  <a:srgbClr val="5FE3FF"/>
                </a:solidFill>
                <a:latin typeface="Consolas" pitchFamily="34" charset="0"/>
                <a:ea typeface="Consolas" pitchFamily="34" charset="-122"/>
                <a:cs typeface="Consolas" pitchFamily="34" charset="-120"/>
              </a:rPr>
              <a:t>97%
</a:t>
            </a:r>
            <a:pPr algn="ctr" indent="0" marL="0">
              <a:lnSpc>
                <a:spcPct val="125000"/>
              </a:lnSpc>
              <a:buNone/>
            </a:pPr>
            <a:r>
              <a:rPr lang="en-US" sz="1400" dirty="0">
                <a:solidFill>
                  <a:srgbClr val="C3D4EA"/>
                </a:solidFill>
                <a:latin typeface="Segoe UI" pitchFamily="34" charset="0"/>
                <a:ea typeface="Segoe UI" pitchFamily="34" charset="-122"/>
                <a:cs typeface="Segoe UI" pitchFamily="34" charset="-120"/>
              </a:rPr>
              <a:t>por la interacción de una o dos variables.</a:t>
            </a:r>
            <a:endParaRPr lang="en-US" sz="1500" dirty="0"/>
          </a:p>
        </p:txBody>
      </p:sp>
      <p:sp>
        <p:nvSpPr>
          <p:cNvPr id="7" name="Text 5"/>
          <p:cNvSpPr/>
          <p:nvPr/>
        </p:nvSpPr>
        <p:spPr>
          <a:xfrm>
            <a:off x="640080" y="4434840"/>
            <a:ext cx="10881360" cy="320040"/>
          </a:xfrm>
          <a:prstGeom prst="rect">
            <a:avLst/>
          </a:prstGeom>
          <a:noFill/>
          <a:ln/>
        </p:spPr>
        <p:txBody>
          <a:bodyPr wrap="square" rtlCol="0" anchor="ctr"/>
          <a:lstStyle/>
          <a:p>
            <a:pPr algn="ctr" indent="0" marL="0">
              <a:buNone/>
            </a:pPr>
            <a:r>
              <a:rPr lang="en-US" sz="1100" dirty="0">
                <a:solidFill>
                  <a:srgbClr val="93AED4"/>
                </a:solidFill>
                <a:latin typeface="Consolas" pitchFamily="34" charset="0"/>
                <a:ea typeface="Consolas" pitchFamily="34" charset="-122"/>
                <a:cs typeface="Consolas" pitchFamily="34" charset="-120"/>
              </a:rPr>
              <a:t>Datos NIST — dispositivos médicos sometidos a prueba.</a:t>
            </a:r>
            <a:endParaRPr lang="en-US" sz="1100" dirty="0"/>
          </a:p>
        </p:txBody>
      </p:sp>
      <p:sp>
        <p:nvSpPr>
          <p:cNvPr id="8" name="Text 6"/>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4 · COMBINATORIA Y GESTIÓN DE ERRORES</a:t>
            </a:r>
            <a:endParaRPr lang="en-US" sz="1000" dirty="0"/>
          </a:p>
        </p:txBody>
      </p:sp>
      <p:sp>
        <p:nvSpPr>
          <p:cNvPr id="9" name="Text 7"/>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26 / 38</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4 · EJEMPLO PAIRWISE · PLATAFORMA × IDIOMA × CONTROLADOR</a:t>
            </a:r>
            <a:endParaRPr lang="en-US" sz="1200" dirty="0"/>
          </a:p>
        </p:txBody>
      </p:sp>
      <p:sp>
        <p:nvSpPr>
          <p:cNvPr id="3" name="Text 1"/>
          <p:cNvSpPr/>
          <p:nvPr/>
        </p:nvSpPr>
        <p:spPr>
          <a:xfrm>
            <a:off x="640080" y="960120"/>
            <a:ext cx="7315200" cy="548640"/>
          </a:xfrm>
          <a:prstGeom prst="rect">
            <a:avLst/>
          </a:prstGeom>
          <a:noFill/>
          <a:ln/>
        </p:spPr>
        <p:txBody>
          <a:bodyPr wrap="square" rtlCol="0" anchor="t"/>
          <a:lstStyle/>
          <a:p>
            <a:pPr indent="0" marL="0">
              <a:lnSpc>
                <a:spcPct val="130000"/>
              </a:lnSpc>
              <a:buNone/>
            </a:pPr>
            <a:r>
              <a:rPr lang="en-US" sz="1400" dirty="0">
                <a:solidFill>
                  <a:srgbClr val="C3D4EA"/>
                </a:solidFill>
                <a:latin typeface="Segoe UI" pitchFamily="34" charset="0"/>
                <a:ea typeface="Segoe UI" pitchFamily="34" charset="-122"/>
                <a:cs typeface="Segoe UI" pitchFamily="34" charset="-120"/>
              </a:rPr>
              <a:t>Mínimo de casos = parámetro con más valores × 2º parámetro con más valores.</a:t>
            </a:r>
            <a:endParaRPr lang="en-US" sz="1400" dirty="0"/>
          </a:p>
        </p:txBody>
      </p:sp>
      <p:sp>
        <p:nvSpPr>
          <p:cNvPr id="4" name="Text 2"/>
          <p:cNvSpPr/>
          <p:nvPr/>
        </p:nvSpPr>
        <p:spPr>
          <a:xfrm>
            <a:off x="8321040" y="868680"/>
            <a:ext cx="3200400" cy="548640"/>
          </a:xfrm>
          <a:prstGeom prst="rect">
            <a:avLst>
              <a:gd name="adj" fmla="val 13333"/>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1600" b="1" dirty="0">
                <a:solidFill>
                  <a:srgbClr val="5FE3FF"/>
                </a:solidFill>
                <a:latin typeface="Consolas" pitchFamily="34" charset="0"/>
                <a:ea typeface="Consolas" pitchFamily="34" charset="-122"/>
                <a:cs typeface="Consolas" pitchFamily="34" charset="-120"/>
              </a:rPr>
              <a:t>4 × 3 = 12 casos</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11535" cy="914400"/>
        </p:xfrm>
        <a:graphic>
          <a:graphicData uri="http://schemas.openxmlformats.org/drawingml/2006/table">
            <a:tbl>
              <a:tblPr/>
              <a:tblGrid>
                <a:gridCol w="1280160"/>
                <a:gridCol w="3383280"/>
                <a:gridCol w="3383280"/>
                <a:gridCol w="2834640"/>
              </a:tblGrid>
              <a:tr h="329184">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Índice</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Plataforma</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Idioma</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Controlador</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1</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Switch</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Inglés</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pro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2</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Switch</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Italiano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normal</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3</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Switch</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Español</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pro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PlayStation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Inglés</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normal</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PlayStation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Italiano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pro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PlayStation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Español</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pro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7</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xBox</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Italiano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normal</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8</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xBox</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Español</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normal</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9</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xBox</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Inglés</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pro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10</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PC</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Español</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normal</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11</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PC</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Inglés</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normal</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29184">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12</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PC</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Italiano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Mando pro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bl>
          </a:graphicData>
        </a:graphic>
      </p:graphicFrame>
      <p:sp>
        <p:nvSpPr>
          <p:cNvPr id="6" name="Text 3"/>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4 · COMBINATORIA Y GESTIÓN DE ERRORES</a:t>
            </a:r>
            <a:endParaRPr lang="en-US" sz="1000" dirty="0"/>
          </a:p>
        </p:txBody>
      </p:sp>
      <p:sp>
        <p:nvSpPr>
          <p:cNvPr id="7" name="Text 4"/>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27 / 38</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4 · ÁRBOLES DE CLASIFICACIÓN · 5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Árboles de </a:t>
            </a:r>
            <a:pPr indent="0" marL="0">
              <a:buNone/>
            </a:pPr>
            <a:r>
              <a:rPr lang="en-US" sz="3200" b="1" dirty="0">
                <a:solidFill>
                  <a:srgbClr val="5FE3FF"/>
                </a:solidFill>
                <a:latin typeface="Segoe UI Semibold" pitchFamily="34" charset="0"/>
                <a:ea typeface="Segoe UI Semibold" pitchFamily="34" charset="-122"/>
                <a:cs typeface="Segoe UI Semibold" pitchFamily="34" charset="-120"/>
              </a:rPr>
              <a:t>Clasificación</a:t>
            </a:r>
            <a:endParaRPr lang="en-US" sz="3200" dirty="0"/>
          </a:p>
        </p:txBody>
      </p:sp>
      <p:sp>
        <p:nvSpPr>
          <p:cNvPr id="4" name="Text 2"/>
          <p:cNvSpPr/>
          <p:nvPr/>
        </p:nvSpPr>
        <p:spPr>
          <a:xfrm>
            <a:off x="640080" y="1828800"/>
            <a:ext cx="7863840" cy="100584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Sirven de apoyo a técnicas de prueba de caja negra, al permitir una representación gráfica del espacio de datos que se aplica al objeto de prueba.</a:t>
            </a:r>
            <a:endParaRPr lang="en-US" sz="1700" dirty="0"/>
          </a:p>
        </p:txBody>
      </p:sp>
      <p:sp>
        <p:nvSpPr>
          <p:cNvPr id="5" name="Text 3"/>
          <p:cNvSpPr/>
          <p:nvPr/>
        </p:nvSpPr>
        <p:spPr>
          <a:xfrm>
            <a:off x="640080" y="3383280"/>
            <a:ext cx="5212080" cy="1188720"/>
          </a:xfrm>
          <a:prstGeom prst="rect">
            <a:avLst>
              <a:gd name="adj" fmla="val 6154"/>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1100" b="1" dirty="0">
                <a:solidFill>
                  <a:srgbClr val="5FE3FF"/>
                </a:solidFill>
                <a:latin typeface="Consolas" pitchFamily="34" charset="0"/>
                <a:ea typeface="Consolas" pitchFamily="34" charset="-122"/>
                <a:cs typeface="Consolas" pitchFamily="34" charset="-120"/>
              </a:rPr>
              <a:t>CLASIFICACIONES
</a:t>
            </a:r>
            <a:pPr algn="ctr" indent="0" marL="0">
              <a:lnSpc>
                <a:spcPct val="125000"/>
              </a:lnSpc>
              <a:buNone/>
            </a:pPr>
            <a:r>
              <a:rPr lang="en-US" sz="1600" dirty="0">
                <a:solidFill>
                  <a:srgbClr val="C3D4EA"/>
                </a:solidFill>
                <a:latin typeface="Segoe UI" pitchFamily="34" charset="0"/>
                <a:ea typeface="Segoe UI" pitchFamily="34" charset="-122"/>
                <a:cs typeface="Segoe UI" pitchFamily="34" charset="-120"/>
              </a:rPr>
              <a:t>= parámetros</a:t>
            </a:r>
            <a:endParaRPr lang="en-US" sz="1500" dirty="0"/>
          </a:p>
        </p:txBody>
      </p:sp>
      <p:sp>
        <p:nvSpPr>
          <p:cNvPr id="6" name="Text 4"/>
          <p:cNvSpPr/>
          <p:nvPr/>
        </p:nvSpPr>
        <p:spPr>
          <a:xfrm>
            <a:off x="6309360" y="3383280"/>
            <a:ext cx="5212080" cy="1188720"/>
          </a:xfrm>
          <a:prstGeom prst="rect">
            <a:avLst>
              <a:gd name="adj" fmla="val 6154"/>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1100" b="1" dirty="0">
                <a:solidFill>
                  <a:srgbClr val="5FE3FF"/>
                </a:solidFill>
                <a:latin typeface="Consolas" pitchFamily="34" charset="0"/>
                <a:ea typeface="Consolas" pitchFamily="34" charset="-122"/>
                <a:cs typeface="Consolas" pitchFamily="34" charset="-120"/>
              </a:rPr>
              <a:t>CLASES
</a:t>
            </a:r>
            <a:pPr algn="ctr" indent="0" marL="0">
              <a:lnSpc>
                <a:spcPct val="125000"/>
              </a:lnSpc>
              <a:buNone/>
            </a:pPr>
            <a:r>
              <a:rPr lang="en-US" sz="1600" dirty="0">
                <a:solidFill>
                  <a:srgbClr val="C3D4EA"/>
                </a:solidFill>
                <a:latin typeface="Segoe UI" pitchFamily="34" charset="0"/>
                <a:ea typeface="Segoe UI" pitchFamily="34" charset="-122"/>
                <a:cs typeface="Segoe UI" pitchFamily="34" charset="-120"/>
              </a:rPr>
              <a:t>= valores</a:t>
            </a:r>
            <a:endParaRPr lang="en-US" sz="1500" dirty="0"/>
          </a:p>
        </p:txBody>
      </p:sp>
      <p:sp>
        <p:nvSpPr>
          <p:cNvPr id="7" name="Text 5"/>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4 · COMBINATORIA Y GESTIÓN DE ERRORES</a:t>
            </a:r>
            <a:endParaRPr lang="en-US" sz="1000" dirty="0"/>
          </a:p>
        </p:txBody>
      </p:sp>
      <p:sp>
        <p:nvSpPr>
          <p:cNvPr id="8" name="Text 6"/>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28 / 38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4 · CASO “DAWN OF WAR”</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2600" b="1" dirty="0">
                <a:solidFill>
                  <a:srgbClr val="EAF3FF"/>
                </a:solidFill>
                <a:latin typeface="Segoe UI Semibold" pitchFamily="34" charset="0"/>
                <a:ea typeface="Segoe UI Semibold" pitchFamily="34" charset="-122"/>
                <a:cs typeface="Segoe UI Semibold" pitchFamily="34" charset="-120"/>
              </a:rPr>
              <a:t>Árbol de clasificación — </a:t>
            </a:r>
            <a:pPr indent="0" marL="0">
              <a:buNone/>
            </a:pPr>
            <a:r>
              <a:rPr lang="en-US" sz="2600" b="1" dirty="0">
                <a:solidFill>
                  <a:srgbClr val="5FE3FF"/>
                </a:solidFill>
                <a:latin typeface="Segoe UI Semibold" pitchFamily="34" charset="0"/>
                <a:ea typeface="Segoe UI Semibold" pitchFamily="34" charset="-122"/>
                <a:cs typeface="Segoe UI Semibold" pitchFamily="34" charset="-120"/>
              </a:rPr>
              <a:t>Dawn of War</a:t>
            </a:r>
            <a:endParaRPr lang="en-US" sz="2600" dirty="0"/>
          </a:p>
        </p:txBody>
      </p:sp>
      <p:sp>
        <p:nvSpPr>
          <p:cNvPr id="4" name="Text 2"/>
          <p:cNvSpPr/>
          <p:nvPr/>
        </p:nvSpPr>
        <p:spPr>
          <a:xfrm>
            <a:off x="640080" y="1691640"/>
            <a:ext cx="1920240" cy="530352"/>
          </a:xfrm>
          <a:prstGeom prst="rect">
            <a:avLst/>
          </a:prstGeom>
          <a:noFill/>
          <a:ln/>
        </p:spPr>
        <p:txBody>
          <a:bodyPr wrap="square" rtlCol="0" anchor="ctr"/>
          <a:lstStyle/>
          <a:p>
            <a:pPr indent="0" marL="0">
              <a:buNone/>
            </a:pPr>
            <a:r>
              <a:rPr lang="en-US" sz="1300" b="1" dirty="0">
                <a:solidFill>
                  <a:srgbClr val="EAF3FF"/>
                </a:solidFill>
                <a:latin typeface="Segoe UI Semibold" pitchFamily="34" charset="0"/>
                <a:ea typeface="Segoe UI Semibold" pitchFamily="34" charset="-122"/>
                <a:cs typeface="Segoe UI Semibold" pitchFamily="34" charset="-120"/>
              </a:rPr>
              <a:t>Options</a:t>
            </a:r>
            <a:endParaRPr lang="en-US" sz="1300" dirty="0"/>
          </a:p>
        </p:txBody>
      </p:sp>
      <p:sp>
        <p:nvSpPr>
          <p:cNvPr id="5" name="Text 3"/>
          <p:cNvSpPr/>
          <p:nvPr/>
        </p:nvSpPr>
        <p:spPr>
          <a:xfrm>
            <a:off x="2651760" y="1691640"/>
            <a:ext cx="8869680" cy="530352"/>
          </a:xfrm>
          <a:prstGeom prst="rect">
            <a:avLst>
              <a:gd name="adj" fmla="val 10345"/>
            </a:avLst>
          </a:prstGeom>
          <a:solidFill>
            <a:srgbClr val="12294A"/>
          </a:solidFill>
          <a:ln w="12700">
            <a:solidFill>
              <a:srgbClr val="2C4A6E"/>
            </a:solidFill>
            <a:prstDash val="solid"/>
          </a:ln>
        </p:spPr>
        <p:txBody>
          <a:bodyPr wrap="square" lIns="137160" tIns="137160" rIns="137160" bIns="137160" rtlCol="0" anchor="ctr"/>
          <a:lstStyle/>
          <a:p>
            <a:pPr indent="0" marL="0">
              <a:buNone/>
            </a:pPr>
            <a:r>
              <a:rPr lang="en-US" sz="1300" dirty="0">
                <a:solidFill>
                  <a:srgbClr val="C3D4EA"/>
                </a:solidFill>
                <a:latin typeface="Consolas" pitchFamily="34" charset="0"/>
                <a:ea typeface="Consolas" pitchFamily="34" charset="-122"/>
                <a:cs typeface="Consolas" pitchFamily="34" charset="-120"/>
              </a:rPr>
              <a:t>Graphics · Sound · Controls</a:t>
            </a:r>
            <a:endParaRPr lang="en-US" sz="1300" dirty="0"/>
          </a:p>
        </p:txBody>
      </p:sp>
      <p:sp>
        <p:nvSpPr>
          <p:cNvPr id="6" name="Text 4"/>
          <p:cNvSpPr/>
          <p:nvPr/>
        </p:nvSpPr>
        <p:spPr>
          <a:xfrm>
            <a:off x="640080" y="2295144"/>
            <a:ext cx="1920240" cy="530352"/>
          </a:xfrm>
          <a:prstGeom prst="rect">
            <a:avLst/>
          </a:prstGeom>
          <a:noFill/>
          <a:ln/>
        </p:spPr>
        <p:txBody>
          <a:bodyPr wrap="square" rtlCol="0" anchor="ctr"/>
          <a:lstStyle/>
          <a:p>
            <a:pPr indent="0" marL="0">
              <a:buNone/>
            </a:pPr>
            <a:r>
              <a:rPr lang="en-US" sz="1300" b="1" dirty="0">
                <a:solidFill>
                  <a:srgbClr val="EAF3FF"/>
                </a:solidFill>
                <a:latin typeface="Segoe UI Semibold" pitchFamily="34" charset="0"/>
                <a:ea typeface="Segoe UI Semibold" pitchFamily="34" charset="-122"/>
                <a:cs typeface="Segoe UI Semibold" pitchFamily="34" charset="-120"/>
              </a:rPr>
              <a:t>User Interface</a:t>
            </a:r>
            <a:endParaRPr lang="en-US" sz="1300" dirty="0"/>
          </a:p>
        </p:txBody>
      </p:sp>
      <p:sp>
        <p:nvSpPr>
          <p:cNvPr id="7" name="Text 5"/>
          <p:cNvSpPr/>
          <p:nvPr/>
        </p:nvSpPr>
        <p:spPr>
          <a:xfrm>
            <a:off x="2651760" y="2295144"/>
            <a:ext cx="8869680" cy="530352"/>
          </a:xfrm>
          <a:prstGeom prst="rect">
            <a:avLst>
              <a:gd name="adj" fmla="val 10345"/>
            </a:avLst>
          </a:prstGeom>
          <a:solidFill>
            <a:srgbClr val="12294A"/>
          </a:solidFill>
          <a:ln w="12700">
            <a:solidFill>
              <a:srgbClr val="2C4A6E"/>
            </a:solidFill>
            <a:prstDash val="solid"/>
          </a:ln>
        </p:spPr>
        <p:txBody>
          <a:bodyPr wrap="square" lIns="137160" tIns="137160" rIns="137160" bIns="137160" rtlCol="0" anchor="ctr"/>
          <a:lstStyle/>
          <a:p>
            <a:pPr indent="0" marL="0">
              <a:buNone/>
            </a:pPr>
            <a:r>
              <a:rPr lang="en-US" sz="1300" dirty="0">
                <a:solidFill>
                  <a:srgbClr val="C3D4EA"/>
                </a:solidFill>
                <a:latin typeface="Consolas" pitchFamily="34" charset="0"/>
                <a:ea typeface="Consolas" pitchFamily="34" charset="-122"/>
                <a:cs typeface="Consolas" pitchFamily="34" charset="-120"/>
              </a:rPr>
              <a:t>Game Screen · Camera Movement</a:t>
            </a:r>
            <a:endParaRPr lang="en-US" sz="1300" dirty="0"/>
          </a:p>
        </p:txBody>
      </p:sp>
      <p:sp>
        <p:nvSpPr>
          <p:cNvPr id="8" name="Text 6"/>
          <p:cNvSpPr/>
          <p:nvPr/>
        </p:nvSpPr>
        <p:spPr>
          <a:xfrm>
            <a:off x="640080" y="2898648"/>
            <a:ext cx="1920240" cy="530352"/>
          </a:xfrm>
          <a:prstGeom prst="rect">
            <a:avLst/>
          </a:prstGeom>
          <a:noFill/>
          <a:ln/>
        </p:spPr>
        <p:txBody>
          <a:bodyPr wrap="square" rtlCol="0" anchor="ctr"/>
          <a:lstStyle/>
          <a:p>
            <a:pPr indent="0" marL="0">
              <a:buNone/>
            </a:pPr>
            <a:r>
              <a:rPr lang="en-US" sz="1300" b="1" dirty="0">
                <a:solidFill>
                  <a:srgbClr val="EAF3FF"/>
                </a:solidFill>
                <a:latin typeface="Segoe UI Semibold" pitchFamily="34" charset="0"/>
                <a:ea typeface="Segoe UI Semibold" pitchFamily="34" charset="-122"/>
                <a:cs typeface="Segoe UI Semibold" pitchFamily="34" charset="-120"/>
              </a:rPr>
              <a:t>Game Modes</a:t>
            </a:r>
            <a:endParaRPr lang="en-US" sz="1300" dirty="0"/>
          </a:p>
        </p:txBody>
      </p:sp>
      <p:sp>
        <p:nvSpPr>
          <p:cNvPr id="9" name="Text 7"/>
          <p:cNvSpPr/>
          <p:nvPr/>
        </p:nvSpPr>
        <p:spPr>
          <a:xfrm>
            <a:off x="2651760" y="2898648"/>
            <a:ext cx="8869680" cy="530352"/>
          </a:xfrm>
          <a:prstGeom prst="rect">
            <a:avLst>
              <a:gd name="adj" fmla="val 10345"/>
            </a:avLst>
          </a:prstGeom>
          <a:solidFill>
            <a:srgbClr val="12294A"/>
          </a:solidFill>
          <a:ln w="12700">
            <a:solidFill>
              <a:srgbClr val="2C4A6E"/>
            </a:solidFill>
            <a:prstDash val="solid"/>
          </a:ln>
        </p:spPr>
        <p:txBody>
          <a:bodyPr wrap="square" lIns="137160" tIns="137160" rIns="137160" bIns="137160" rtlCol="0" anchor="ctr"/>
          <a:lstStyle/>
          <a:p>
            <a:pPr indent="0" marL="0">
              <a:buNone/>
            </a:pPr>
            <a:r>
              <a:rPr lang="en-US" sz="1300" dirty="0">
                <a:solidFill>
                  <a:srgbClr val="C3D4EA"/>
                </a:solidFill>
                <a:latin typeface="Consolas" pitchFamily="34" charset="0"/>
                <a:ea typeface="Consolas" pitchFamily="34" charset="-122"/>
                <a:cs typeface="Consolas" pitchFamily="34" charset="-120"/>
              </a:rPr>
              <a:t>Campaign · Skirmish ▶ · Multiplayer</a:t>
            </a:r>
            <a:endParaRPr lang="en-US" sz="1300" dirty="0"/>
          </a:p>
        </p:txBody>
      </p:sp>
      <p:sp>
        <p:nvSpPr>
          <p:cNvPr id="10" name="Text 8"/>
          <p:cNvSpPr/>
          <p:nvPr/>
        </p:nvSpPr>
        <p:spPr>
          <a:xfrm>
            <a:off x="640080" y="3502152"/>
            <a:ext cx="1920240" cy="530352"/>
          </a:xfrm>
          <a:prstGeom prst="rect">
            <a:avLst/>
          </a:prstGeom>
          <a:noFill/>
          <a:ln/>
        </p:spPr>
        <p:txBody>
          <a:bodyPr wrap="square" rtlCol="0" anchor="ctr"/>
          <a:lstStyle/>
          <a:p>
            <a:pPr indent="0" marL="0">
              <a:buNone/>
            </a:pPr>
            <a:r>
              <a:rPr lang="en-US" sz="1100" dirty="0">
                <a:solidFill>
                  <a:srgbClr val="93AED4"/>
                </a:solidFill>
                <a:latin typeface="Consolas" pitchFamily="34" charset="0"/>
                <a:ea typeface="Consolas" pitchFamily="34" charset="-122"/>
                <a:cs typeface="Consolas" pitchFamily="34" charset="-120"/>
              </a:rPr>
              <a:t>    ⌙ Skirmish</a:t>
            </a:r>
            <a:endParaRPr lang="en-US" sz="1100" dirty="0"/>
          </a:p>
        </p:txBody>
      </p:sp>
      <p:sp>
        <p:nvSpPr>
          <p:cNvPr id="11" name="Text 9"/>
          <p:cNvSpPr/>
          <p:nvPr/>
        </p:nvSpPr>
        <p:spPr>
          <a:xfrm>
            <a:off x="2651760" y="3502152"/>
            <a:ext cx="8869680" cy="530352"/>
          </a:xfrm>
          <a:prstGeom prst="rect">
            <a:avLst>
              <a:gd name="adj" fmla="val 10345"/>
            </a:avLst>
          </a:prstGeom>
          <a:solidFill>
            <a:srgbClr val="241408"/>
          </a:solidFill>
          <a:ln w="9525">
            <a:solidFill>
              <a:srgbClr val="5A3A16"/>
            </a:solidFill>
            <a:prstDash val="dash"/>
          </a:ln>
        </p:spPr>
        <p:txBody>
          <a:bodyPr wrap="square" lIns="137160" tIns="137160" rIns="137160" bIns="137160" rtlCol="0" anchor="ctr"/>
          <a:lstStyle/>
          <a:p>
            <a:pPr indent="0" marL="0">
              <a:buNone/>
            </a:pPr>
            <a:r>
              <a:rPr lang="en-US" sz="1200" dirty="0">
                <a:solidFill>
                  <a:srgbClr val="C3D4EA"/>
                </a:solidFill>
                <a:latin typeface="Consolas" pitchFamily="34" charset="0"/>
                <a:ea typeface="Consolas" pitchFamily="34" charset="-122"/>
                <a:cs typeface="Consolas" pitchFamily="34" charset="-120"/>
              </a:rPr>
              <a:t>Maps · # of Players · Races · Game Options · Win Conditions</a:t>
            </a:r>
            <a:endParaRPr lang="en-US" sz="1200" dirty="0"/>
          </a:p>
        </p:txBody>
      </p:sp>
      <p:sp>
        <p:nvSpPr>
          <p:cNvPr id="12" name="Text 10"/>
          <p:cNvSpPr/>
          <p:nvPr/>
        </p:nvSpPr>
        <p:spPr>
          <a:xfrm>
            <a:off x="640080" y="4105656"/>
            <a:ext cx="1920240" cy="530352"/>
          </a:xfrm>
          <a:prstGeom prst="rect">
            <a:avLst/>
          </a:prstGeom>
          <a:noFill/>
          <a:ln/>
        </p:spPr>
        <p:txBody>
          <a:bodyPr wrap="square" rtlCol="0" anchor="ctr"/>
          <a:lstStyle/>
          <a:p>
            <a:pPr indent="0" marL="0">
              <a:buNone/>
            </a:pPr>
            <a:r>
              <a:rPr lang="en-US" sz="1300" b="1" dirty="0">
                <a:solidFill>
                  <a:srgbClr val="EAF3FF"/>
                </a:solidFill>
                <a:latin typeface="Segoe UI Semibold" pitchFamily="34" charset="0"/>
                <a:ea typeface="Segoe UI Semibold" pitchFamily="34" charset="-122"/>
                <a:cs typeface="Segoe UI Semibold" pitchFamily="34" charset="-120"/>
              </a:rPr>
              <a:t>Races</a:t>
            </a:r>
            <a:endParaRPr lang="en-US" sz="1300" dirty="0"/>
          </a:p>
        </p:txBody>
      </p:sp>
      <p:sp>
        <p:nvSpPr>
          <p:cNvPr id="13" name="Text 11"/>
          <p:cNvSpPr/>
          <p:nvPr/>
        </p:nvSpPr>
        <p:spPr>
          <a:xfrm>
            <a:off x="2651760" y="4105656"/>
            <a:ext cx="8869680" cy="530352"/>
          </a:xfrm>
          <a:prstGeom prst="rect">
            <a:avLst>
              <a:gd name="adj" fmla="val 10345"/>
            </a:avLst>
          </a:prstGeom>
          <a:solidFill>
            <a:srgbClr val="12294A"/>
          </a:solidFill>
          <a:ln w="12700">
            <a:solidFill>
              <a:srgbClr val="2C4A6E"/>
            </a:solidFill>
            <a:prstDash val="solid"/>
          </a:ln>
        </p:spPr>
        <p:txBody>
          <a:bodyPr wrap="square" lIns="137160" tIns="137160" rIns="137160" bIns="137160" rtlCol="0" anchor="ctr"/>
          <a:lstStyle/>
          <a:p>
            <a:pPr indent="0" marL="0">
              <a:buNone/>
            </a:pPr>
            <a:r>
              <a:rPr lang="en-US" sz="1300" dirty="0">
                <a:solidFill>
                  <a:srgbClr val="C3D4EA"/>
                </a:solidFill>
                <a:latin typeface="Consolas" pitchFamily="34" charset="0"/>
                <a:ea typeface="Consolas" pitchFamily="34" charset="-122"/>
                <a:cs typeface="Consolas" pitchFamily="34" charset="-120"/>
              </a:rPr>
              <a:t>Chaos · Eldar · Orks · Space Marines</a:t>
            </a:r>
            <a:endParaRPr lang="en-US" sz="1300" dirty="0"/>
          </a:p>
        </p:txBody>
      </p:sp>
      <p:sp>
        <p:nvSpPr>
          <p:cNvPr id="14" name="Text 12"/>
          <p:cNvSpPr/>
          <p:nvPr/>
        </p:nvSpPr>
        <p:spPr>
          <a:xfrm>
            <a:off x="640080" y="4709160"/>
            <a:ext cx="1920240" cy="530352"/>
          </a:xfrm>
          <a:prstGeom prst="rect">
            <a:avLst/>
          </a:prstGeom>
          <a:noFill/>
          <a:ln/>
        </p:spPr>
        <p:txBody>
          <a:bodyPr wrap="square" rtlCol="0" anchor="ctr"/>
          <a:lstStyle/>
          <a:p>
            <a:pPr indent="0" marL="0">
              <a:buNone/>
            </a:pPr>
            <a:r>
              <a:rPr lang="en-US" sz="1300" b="1" dirty="0">
                <a:solidFill>
                  <a:srgbClr val="EAF3FF"/>
                </a:solidFill>
                <a:latin typeface="Segoe UI Semibold" pitchFamily="34" charset="0"/>
                <a:ea typeface="Segoe UI Semibold" pitchFamily="34" charset="-122"/>
                <a:cs typeface="Segoe UI Semibold" pitchFamily="34" charset="-120"/>
              </a:rPr>
              <a:t>Chat</a:t>
            </a:r>
            <a:endParaRPr lang="en-US" sz="1300" dirty="0"/>
          </a:p>
        </p:txBody>
      </p:sp>
      <p:sp>
        <p:nvSpPr>
          <p:cNvPr id="15" name="Text 13"/>
          <p:cNvSpPr/>
          <p:nvPr/>
        </p:nvSpPr>
        <p:spPr>
          <a:xfrm>
            <a:off x="2651760" y="4709160"/>
            <a:ext cx="8869680" cy="530352"/>
          </a:xfrm>
          <a:prstGeom prst="rect">
            <a:avLst>
              <a:gd name="adj" fmla="val 10345"/>
            </a:avLst>
          </a:prstGeom>
          <a:solidFill>
            <a:srgbClr val="12294A"/>
          </a:solidFill>
          <a:ln w="12700">
            <a:solidFill>
              <a:srgbClr val="2C4A6E"/>
            </a:solidFill>
            <a:prstDash val="solid"/>
          </a:ln>
        </p:spPr>
        <p:txBody>
          <a:bodyPr wrap="square" lIns="137160" tIns="137160" rIns="137160" bIns="137160" rtlCol="0" anchor="ctr"/>
          <a:lstStyle/>
          <a:p>
            <a:pPr indent="0" marL="0">
              <a:buNone/>
            </a:pPr>
            <a:r>
              <a:rPr lang="en-US" sz="1300" dirty="0">
                <a:solidFill>
                  <a:srgbClr val="C3D4EA"/>
                </a:solidFill>
                <a:latin typeface="Consolas" pitchFamily="34" charset="0"/>
                <a:ea typeface="Consolas" pitchFamily="34" charset="-122"/>
                <a:cs typeface="Consolas" pitchFamily="34" charset="-120"/>
              </a:rPr>
              <a:t>LAN · Online · Direct Link</a:t>
            </a:r>
            <a:endParaRPr lang="en-US" sz="1300" dirty="0"/>
          </a:p>
        </p:txBody>
      </p:sp>
      <p:sp>
        <p:nvSpPr>
          <p:cNvPr id="16" name="Text 1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4 · COMBINATORIA Y GESTIÓN DE ERRORES</a:t>
            </a:r>
            <a:endParaRPr lang="en-US" sz="1000" dirty="0"/>
          </a:p>
        </p:txBody>
      </p:sp>
      <p:sp>
        <p:nvSpPr>
          <p:cNvPr id="17" name="Text 1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29 / 38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4 · CÁLCULO DEL ÁRBOL</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2800" b="1" dirty="0">
                <a:solidFill>
                  <a:srgbClr val="EAF3FF"/>
                </a:solidFill>
                <a:latin typeface="Segoe UI Semibold" pitchFamily="34" charset="0"/>
                <a:ea typeface="Segoe UI Semibold" pitchFamily="34" charset="-122"/>
                <a:cs typeface="Segoe UI Semibold" pitchFamily="34" charset="-120"/>
              </a:rPr>
              <a:t>Casos mínimos y máximos</a:t>
            </a:r>
            <a:endParaRPr lang="en-US" sz="2800" dirty="0"/>
          </a:p>
        </p:txBody>
      </p:sp>
      <p:sp>
        <p:nvSpPr>
          <p:cNvPr id="4" name="Text 2"/>
          <p:cNvSpPr/>
          <p:nvPr/>
        </p:nvSpPr>
        <p:spPr>
          <a:xfrm>
            <a:off x="640080" y="2377440"/>
            <a:ext cx="5212080" cy="2194560"/>
          </a:xfrm>
          <a:prstGeom prst="rect">
            <a:avLst>
              <a:gd name="adj" fmla="val 3333"/>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1100" b="1" dirty="0">
                <a:solidFill>
                  <a:srgbClr val="5FE3FF"/>
                </a:solidFill>
                <a:latin typeface="Consolas" pitchFamily="34" charset="0"/>
                <a:ea typeface="Consolas" pitchFamily="34" charset="-122"/>
                <a:cs typeface="Consolas" pitchFamily="34" charset="-120"/>
              </a:rPr>
              <a:t>MÍNIMO
</a:t>
            </a:r>
            <a:pPr algn="ctr" indent="0" marL="0">
              <a:lnSpc>
                <a:spcPct val="125000"/>
              </a:lnSpc>
              <a:buNone/>
            </a:pPr>
            <a:r>
              <a:rPr lang="en-US" sz="1300" dirty="0">
                <a:solidFill>
                  <a:srgbClr val="C3D4EA"/>
                </a:solidFill>
                <a:latin typeface="Segoe UI" pitchFamily="34" charset="0"/>
                <a:ea typeface="Segoe UI" pitchFamily="34" charset="-122"/>
                <a:cs typeface="Segoe UI" pitchFamily="34" charset="-120"/>
              </a:rPr>
              <a:t>Clasificación con más clases y subclases —rama Skirmish.
</a:t>
            </a:r>
            <a:pPr algn="ctr" indent="0" marL="0">
              <a:lnSpc>
                <a:spcPct val="125000"/>
              </a:lnSpc>
              <a:buNone/>
            </a:pPr>
            <a:r>
              <a:rPr lang="en-US" sz="4000" b="1" dirty="0">
                <a:solidFill>
                  <a:srgbClr val="EAF3FF"/>
                </a:solidFill>
                <a:latin typeface="Consolas" pitchFamily="34" charset="0"/>
                <a:ea typeface="Consolas" pitchFamily="34" charset="-122"/>
                <a:cs typeface="Consolas" pitchFamily="34" charset="-120"/>
              </a:rPr>
              <a:t>7</a:t>
            </a:r>
            <a:endParaRPr lang="en-US" sz="1500" dirty="0"/>
          </a:p>
        </p:txBody>
      </p:sp>
      <p:sp>
        <p:nvSpPr>
          <p:cNvPr id="5" name="Text 3"/>
          <p:cNvSpPr/>
          <p:nvPr/>
        </p:nvSpPr>
        <p:spPr>
          <a:xfrm>
            <a:off x="6309360" y="2377440"/>
            <a:ext cx="5212080" cy="2194560"/>
          </a:xfrm>
          <a:prstGeom prst="rect">
            <a:avLst>
              <a:gd name="adj" fmla="val 3333"/>
            </a:avLst>
          </a:prstGeom>
          <a:solidFill>
            <a:srgbClr val="12294A"/>
          </a:solidFill>
          <a:ln w="12700">
            <a:solidFill>
              <a:srgbClr val="2C4A6E"/>
            </a:solidFill>
          </a:ln>
        </p:spPr>
        <p:txBody>
          <a:bodyPr wrap="square" lIns="228600" tIns="228600" rIns="228600" bIns="228600" rtlCol="0" anchor="ctr"/>
          <a:lstStyle/>
          <a:p>
            <a:pPr algn="ctr" indent="0" marL="0">
              <a:lnSpc>
                <a:spcPct val="125000"/>
              </a:lnSpc>
              <a:buNone/>
            </a:pPr>
            <a:r>
              <a:rPr lang="en-US" sz="1100" b="1" dirty="0">
                <a:solidFill>
                  <a:srgbClr val="5FE3FF"/>
                </a:solidFill>
                <a:latin typeface="Consolas" pitchFamily="34" charset="0"/>
                <a:ea typeface="Consolas" pitchFamily="34" charset="-122"/>
                <a:cs typeface="Consolas" pitchFamily="34" charset="-120"/>
              </a:rPr>
              <a:t>MÁXIMO
</a:t>
            </a:r>
            <a:pPr algn="ctr" indent="0" marL="0">
              <a:lnSpc>
                <a:spcPct val="125000"/>
              </a:lnSpc>
              <a:buNone/>
            </a:pPr>
            <a:r>
              <a:rPr lang="en-US" sz="1300" dirty="0">
                <a:solidFill>
                  <a:srgbClr val="C3D4EA"/>
                </a:solidFill>
                <a:latin typeface="Segoe UI" pitchFamily="34" charset="0"/>
                <a:ea typeface="Segoe UI" pitchFamily="34" charset="-122"/>
                <a:cs typeface="Segoe UI" pitchFamily="34" charset="-120"/>
              </a:rPr>
              <a:t>Multiplicación total de clases y subclases.
</a:t>
            </a:r>
            <a:pPr algn="ctr" indent="0" marL="0">
              <a:lnSpc>
                <a:spcPct val="125000"/>
              </a:lnSpc>
              <a:buNone/>
            </a:pPr>
            <a:r>
              <a:rPr lang="en-US" sz="2600" b="1" dirty="0">
                <a:solidFill>
                  <a:srgbClr val="EAF3FF"/>
                </a:solidFill>
                <a:latin typeface="Consolas" pitchFamily="34" charset="0"/>
                <a:ea typeface="Consolas" pitchFamily="34" charset="-122"/>
                <a:cs typeface="Consolas" pitchFamily="34" charset="-120"/>
              </a:rPr>
              <a:t>3×4×7×2×3 = 504</a:t>
            </a:r>
            <a:endParaRPr lang="en-US" sz="1500" dirty="0"/>
          </a:p>
        </p:txBody>
      </p:sp>
      <p:sp>
        <p:nvSpPr>
          <p:cNvPr id="6" name="Text 4"/>
          <p:cNvSpPr/>
          <p:nvPr/>
        </p:nvSpPr>
        <p:spPr>
          <a:xfrm>
            <a:off x="1280160" y="4754880"/>
            <a:ext cx="9601200" cy="548640"/>
          </a:xfrm>
          <a:prstGeom prst="rect">
            <a:avLst/>
          </a:prstGeom>
          <a:noFill/>
          <a:ln/>
        </p:spPr>
        <p:txBody>
          <a:bodyPr wrap="square" rtlCol="0" anchor="t"/>
          <a:lstStyle/>
          <a:p>
            <a:pPr algn="ctr" indent="0" marL="0">
              <a:lnSpc>
                <a:spcPct val="130000"/>
              </a:lnSpc>
              <a:buNone/>
            </a:pPr>
            <a:r>
              <a:rPr lang="en-US" sz="1700" dirty="0">
                <a:solidFill>
                  <a:srgbClr val="C3D4EA"/>
                </a:solidFill>
                <a:latin typeface="Segoe UI" pitchFamily="34" charset="0"/>
                <a:ea typeface="Segoe UI" pitchFamily="34" charset="-122"/>
                <a:cs typeface="Segoe UI" pitchFamily="34" charset="-120"/>
              </a:rPr>
              <a:t>El mismo árbol produce un rango de 7 a 504 casos posibles según el criterio de cobertura elegido.</a:t>
            </a:r>
            <a:endParaRPr lang="en-US" sz="1700" dirty="0"/>
          </a:p>
        </p:txBody>
      </p:sp>
      <p:sp>
        <p:nvSpPr>
          <p:cNvPr id="7" name="Text 5"/>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4 · COMBINATORIA Y GESTIÓN DE ERRORES</a:t>
            </a:r>
            <a:endParaRPr lang="en-US" sz="1000" dirty="0"/>
          </a:p>
        </p:txBody>
      </p:sp>
      <p:sp>
        <p:nvSpPr>
          <p:cNvPr id="8" name="Text 6"/>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30 / 38</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4 · TABLAS DE DECISIÓN · 10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200" b="1" dirty="0">
                <a:solidFill>
                  <a:srgbClr val="EAF3FF"/>
                </a:solidFill>
                <a:latin typeface="Segoe UI Semibold" pitchFamily="34" charset="0"/>
                <a:ea typeface="Segoe UI Semibold" pitchFamily="34" charset="-122"/>
                <a:cs typeface="Segoe UI Semibold" pitchFamily="34" charset="-120"/>
              </a:rPr>
              <a:t>Tablas de </a:t>
            </a:r>
            <a:pPr indent="0" marL="0">
              <a:buNone/>
            </a:pPr>
            <a:r>
              <a:rPr lang="en-US" sz="3200" b="1" dirty="0">
                <a:solidFill>
                  <a:srgbClr val="5FE3FF"/>
                </a:solidFill>
                <a:latin typeface="Segoe UI Semibold" pitchFamily="34" charset="0"/>
                <a:ea typeface="Segoe UI Semibold" pitchFamily="34" charset="-122"/>
                <a:cs typeface="Segoe UI Semibold" pitchFamily="34" charset="-120"/>
              </a:rPr>
              <a:t>Decisión</a:t>
            </a:r>
            <a:endParaRPr lang="en-US" sz="3200" dirty="0"/>
          </a:p>
        </p:txBody>
      </p:sp>
      <p:sp>
        <p:nvSpPr>
          <p:cNvPr id="4" name="Text 2"/>
          <p:cNvSpPr/>
          <p:nvPr/>
        </p:nvSpPr>
        <p:spPr>
          <a:xfrm>
            <a:off x="640080" y="1828800"/>
            <a:ext cx="7863840" cy="1097280"/>
          </a:xfrm>
          <a:prstGeom prst="rect">
            <a:avLst/>
          </a:prstGeom>
          <a:noFill/>
          <a:ln/>
        </p:spPr>
        <p:txBody>
          <a:bodyPr wrap="square" rtlCol="0" anchor="t"/>
          <a:lstStyle/>
          <a:p>
            <a:pPr indent="0" marL="0">
              <a:lnSpc>
                <a:spcPct val="130000"/>
              </a:lnSpc>
              <a:buNone/>
            </a:pPr>
            <a:r>
              <a:rPr lang="en-US" sz="1700" dirty="0">
                <a:solidFill>
                  <a:srgbClr val="C3D4EA"/>
                </a:solidFill>
                <a:latin typeface="Segoe UI" pitchFamily="34" charset="0"/>
                <a:ea typeface="Segoe UI" pitchFamily="34" charset="-122"/>
                <a:cs typeface="Segoe UI" pitchFamily="34" charset="-120"/>
              </a:rPr>
              <a:t>Comprueban la implementación de requisitos de sistema que especifican cómo diferentes combinaciones de condiciones dan lugar a diferentes resultados.</a:t>
            </a:r>
            <a:endParaRPr lang="en-US" sz="1700" dirty="0"/>
          </a:p>
        </p:txBody>
      </p:sp>
      <p:sp>
        <p:nvSpPr>
          <p:cNvPr id="5" name="Text 3"/>
          <p:cNvSpPr/>
          <p:nvPr/>
        </p:nvSpPr>
        <p:spPr>
          <a:xfrm>
            <a:off x="640080" y="3657600"/>
            <a:ext cx="10881360" cy="1371600"/>
          </a:xfrm>
          <a:prstGeom prst="rect">
            <a:avLst>
              <a:gd name="adj" fmla="val 5333"/>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600" dirty="0">
                <a:solidFill>
                  <a:srgbClr val="EAF3FF"/>
                </a:solidFill>
                <a:latin typeface="Segoe UI" pitchFamily="34" charset="0"/>
                <a:ea typeface="Segoe UI" pitchFamily="34" charset="-122"/>
                <a:cs typeface="Segoe UI" pitchFamily="34" charset="-120"/>
              </a:rPr>
              <a:t>Como testers, debemos cerciorarnos de que </a:t>
            </a:r>
            <a:pPr indent="0" marL="0">
              <a:lnSpc>
                <a:spcPct val="125000"/>
              </a:lnSpc>
              <a:buNone/>
            </a:pPr>
            <a:r>
              <a:rPr lang="en-US" sz="1600" b="1" dirty="0">
                <a:solidFill>
                  <a:srgbClr val="EAF3FF"/>
                </a:solidFill>
                <a:latin typeface="Segoe UI" pitchFamily="34" charset="0"/>
                <a:ea typeface="Segoe UI" pitchFamily="34" charset="-122"/>
                <a:cs typeface="Segoe UI" pitchFamily="34" charset="-120"/>
              </a:rPr>
              <a:t>cada combinación de condiciones</a:t>
            </a:r>
            <a:pPr indent="0" marL="0">
              <a:lnSpc>
                <a:spcPct val="125000"/>
              </a:lnSpc>
              <a:buNone/>
            </a:pPr>
            <a:r>
              <a:rPr lang="en-US" sz="1600" dirty="0">
                <a:solidFill>
                  <a:srgbClr val="EAF3FF"/>
                </a:solidFill>
                <a:latin typeface="Segoe UI" pitchFamily="34" charset="0"/>
                <a:ea typeface="Segoe UI" pitchFamily="34" charset="-122"/>
                <a:cs typeface="Segoe UI" pitchFamily="34" charset="-120"/>
              </a:rPr>
              <a:t> que puede ocurrir sea testeada.
</a:t>
            </a:r>
            <a:pPr indent="0" marL="0">
              <a:lnSpc>
                <a:spcPct val="125000"/>
              </a:lnSpc>
              <a:buNone/>
            </a:pPr>
            <a:r>
              <a:rPr lang="en-US" sz="1100" dirty="0">
                <a:solidFill>
                  <a:srgbClr val="93AED4"/>
                </a:solidFill>
                <a:latin typeface="Consolas" pitchFamily="34" charset="0"/>
                <a:ea typeface="Consolas" pitchFamily="34" charset="-122"/>
                <a:cs typeface="Consolas" pitchFamily="34" charset="-120"/>
              </a:rPr>
              <a:t>ISTQB®, 2023, pp. 48–49</a:t>
            </a:r>
            <a:endParaRPr lang="en-US" sz="15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4 · COMBINATORIA Y GESTIÓN DE ERRORES</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31 / 38</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4 · CASO DEL SEGURO DE COCHES</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2600" b="1" dirty="0">
                <a:solidFill>
                  <a:srgbClr val="EAF3FF"/>
                </a:solidFill>
                <a:latin typeface="Segoe UI Semibold" pitchFamily="34" charset="0"/>
                <a:ea typeface="Segoe UI Semibold" pitchFamily="34" charset="-122"/>
                <a:cs typeface="Segoe UI Semibold" pitchFamily="34" charset="-120"/>
              </a:rPr>
              <a:t>Prima de seguro — requisitos y casos</a:t>
            </a:r>
            <a:endParaRPr lang="en-US" sz="2600" dirty="0"/>
          </a:p>
        </p:txBody>
      </p:sp>
      <p:sp>
        <p:nvSpPr>
          <p:cNvPr id="4" name="Text 2"/>
          <p:cNvSpPr/>
          <p:nvPr/>
        </p:nvSpPr>
        <p:spPr>
          <a:xfrm>
            <a:off x="640080" y="1691640"/>
            <a:ext cx="10515600" cy="822960"/>
          </a:xfrm>
          <a:prstGeom prst="rect">
            <a:avLst/>
          </a:prstGeom>
          <a:noFill/>
          <a:ln/>
        </p:spPr>
        <p:txBody>
          <a:bodyPr wrap="square" rtlCol="0" anchor="t"/>
          <a:lstStyle/>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Mujer 18–64 → 500€</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Hombre 18–64 → 1.000€</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Mayor de 64 → 1.500€</a:t>
            </a:r>
            <a:endParaRPr lang="en-US" sz="1600" dirty="0"/>
          </a:p>
          <a:p>
            <a:pPr marL="228600" indent="-228600">
              <a:lnSpc>
                <a:spcPct val="125000"/>
              </a:lnSpc>
              <a:spcAft>
                <a:spcPts val="1200"/>
              </a:spcAft>
              <a:buSzPct val="100000"/>
              <a:buChar char="▪"/>
            </a:pPr>
            <a:r>
              <a:rPr lang="en-US" sz="1600" dirty="0">
                <a:solidFill>
                  <a:srgbClr val="C3D4EA"/>
                </a:solidFill>
                <a:latin typeface="Segoe UI" pitchFamily="34" charset="0"/>
                <a:ea typeface="Segoe UI" pitchFamily="34" charset="-122"/>
                <a:cs typeface="Segoe UI" pitchFamily="34" charset="-120"/>
              </a:rPr>
              <a:t>Menor de 18 → sin seguro</a:t>
            </a:r>
            <a:endParaRPr lang="en-US" sz="1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40080" y="2697480"/>
          <a:ext cx="10911535" cy="914400"/>
        </p:xfrm>
        <a:graphic>
          <a:graphicData uri="http://schemas.openxmlformats.org/drawingml/2006/table">
            <a:tbl>
              <a:tblPr/>
              <a:tblGrid>
                <a:gridCol w="1280160"/>
                <a:gridCol w="3291840"/>
                <a:gridCol w="3291840"/>
                <a:gridCol w="3017520"/>
              </a:tblGrid>
              <a:tr h="384048">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Caso</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Persona, edad</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Género / rango</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Prima</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r>
              <a:tr h="384048">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1</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Juan, 15</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Hombre, &lt;18</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No aplica</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84048">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2</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Miguel, 25</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Hombre, 18–64</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1.000€</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84048">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3</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Jacinto, 67</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Hombre, ≥65</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1.500€</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84048">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4</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Ramona, 13</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Mujer, &lt;18</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No aplica</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84048">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5</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Nerea, 45</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Mujer, 18–64</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500€</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384048">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6</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Lucía, 80</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Mujer, ≥65</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1.500€</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bl>
          </a:graphicData>
        </a:graphic>
      </p:graphicFrame>
      <p:sp>
        <p:nvSpPr>
          <p:cNvPr id="6" name="Text 3"/>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4 · COMBINATORIA Y GESTIÓN DE ERRORES</a:t>
            </a:r>
            <a:endParaRPr lang="en-US" sz="1000" dirty="0"/>
          </a:p>
        </p:txBody>
      </p:sp>
      <p:sp>
        <p:nvSpPr>
          <p:cNvPr id="7" name="Text 4"/>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32 / 38</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41708"/>
        </a:solidFill>
      </p:bgPr>
    </p:bg>
    <p:spTree>
      <p:nvGrpSpPr>
        <p:cNvPr id="1" name=""/>
        <p:cNvGrpSpPr/>
        <p:nvPr/>
      </p:nvGrpSpPr>
      <p:grpSpPr>
        <a:xfrm>
          <a:off x="0" y="0"/>
          <a:ext cx="0" cy="0"/>
          <a:chOff x="0" y="0"/>
          <a:chExt cx="0" cy="0"/>
        </a:xfrm>
      </p:grpSpPr>
      <p:sp>
        <p:nvSpPr>
          <p:cNvPr id="2" name="Text 0"/>
          <p:cNvSpPr/>
          <p:nvPr/>
        </p:nvSpPr>
        <p:spPr>
          <a:xfrm>
            <a:off x="640080" y="384048"/>
            <a:ext cx="5943600" cy="384048"/>
          </a:xfrm>
          <a:prstGeom prst="rect">
            <a:avLst>
              <a:gd name="adj" fmla="val 42857"/>
            </a:avLst>
          </a:prstGeom>
          <a:solidFill>
            <a:srgbClr val="3A2410"/>
          </a:solidFill>
          <a:ln w="12700">
            <a:solidFill>
              <a:srgbClr val="6B4A1E"/>
            </a:solidFill>
          </a:ln>
        </p:spPr>
        <p:txBody>
          <a:bodyPr wrap="square" rtlCol="0" anchor="ctr"/>
          <a:lstStyle/>
          <a:p>
            <a:pPr algn="ctr" indent="0" marL="0">
              <a:buNone/>
            </a:pPr>
            <a:r>
              <a:rPr lang="en-US" sz="1200" b="1" dirty="0">
                <a:solidFill>
                  <a:srgbClr val="FFB454"/>
                </a:solidFill>
                <a:latin typeface="Consolas" pitchFamily="34" charset="0"/>
                <a:ea typeface="Consolas" pitchFamily="34" charset="-122"/>
                <a:cs typeface="Consolas" pitchFamily="34" charset="-120"/>
              </a:rPr>
              <a:t>DINÁMICA “EL OJO DEL TESTER”</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2800" b="1" dirty="0">
                <a:solidFill>
                  <a:srgbClr val="EAF3FF"/>
                </a:solidFill>
                <a:latin typeface="Segoe UI Semibold" pitchFamily="34" charset="0"/>
                <a:ea typeface="Segoe UI Semibold" pitchFamily="34" charset="-122"/>
                <a:cs typeface="Segoe UI Semibold" pitchFamily="34" charset="-120"/>
              </a:rPr>
              <a:t>Bot de </a:t>
            </a:r>
            <a:pPr indent="0" marL="0">
              <a:buNone/>
            </a:pPr>
            <a:r>
              <a:rPr lang="en-US" sz="2800" b="1" dirty="0">
                <a:solidFill>
                  <a:srgbClr val="FFB454"/>
                </a:solidFill>
                <a:latin typeface="Segoe UI Semibold" pitchFamily="34" charset="0"/>
                <a:ea typeface="Segoe UI Semibold" pitchFamily="34" charset="-122"/>
                <a:cs typeface="Segoe UI Semibold" pitchFamily="34" charset="-120"/>
              </a:rPr>
              <a:t>póker</a:t>
            </a:r>
            <a:pPr indent="0" marL="0">
              <a:buNone/>
            </a:pPr>
            <a:r>
              <a:rPr lang="en-US" sz="2800" b="1" dirty="0">
                <a:solidFill>
                  <a:srgbClr val="EAF3FF"/>
                </a:solidFill>
                <a:latin typeface="Segoe UI Semibold" pitchFamily="34" charset="0"/>
                <a:ea typeface="Segoe UI Semibold" pitchFamily="34" charset="-122"/>
                <a:cs typeface="Segoe UI Semibold" pitchFamily="34" charset="-120"/>
              </a:rPr>
              <a:t> — especificación</a:t>
            </a:r>
            <a:endParaRPr lang="en-US" sz="2800" dirty="0"/>
          </a:p>
        </p:txBody>
      </p:sp>
      <p:sp>
        <p:nvSpPr>
          <p:cNvPr id="4" name="Text 2"/>
          <p:cNvSpPr/>
          <p:nvPr/>
        </p:nvSpPr>
        <p:spPr>
          <a:xfrm>
            <a:off x="640080" y="1783080"/>
            <a:ext cx="7863840" cy="502920"/>
          </a:xfrm>
          <a:prstGeom prst="rect">
            <a:avLst/>
          </a:prstGeom>
          <a:noFill/>
          <a:ln/>
        </p:spPr>
        <p:txBody>
          <a:bodyPr wrap="square" rtlCol="0" anchor="t"/>
          <a:lstStyle/>
          <a:p>
            <a:pPr indent="0" marL="0">
              <a:lnSpc>
                <a:spcPct val="130000"/>
              </a:lnSpc>
              <a:buNone/>
            </a:pPr>
            <a:r>
              <a:rPr lang="en-US" sz="1500" dirty="0">
                <a:solidFill>
                  <a:srgbClr val="C3D4EA"/>
                </a:solidFill>
                <a:latin typeface="Segoe UI" pitchFamily="34" charset="0"/>
                <a:ea typeface="Segoe UI" pitchFamily="34" charset="-122"/>
                <a:cs typeface="Segoe UI" pitchFamily="34" charset="-120"/>
              </a:rPr>
              <a:t>Estamos programando un bot para que juegue al póker. Nos pasan la siguiente especificación por posición:</a:t>
            </a:r>
            <a:endParaRPr lang="en-US" sz="1500" dirty="0"/>
          </a:p>
        </p:txBody>
      </p:sp>
      <p:sp>
        <p:nvSpPr>
          <p:cNvPr id="5" name="Text 3"/>
          <p:cNvSpPr/>
          <p:nvPr/>
        </p:nvSpPr>
        <p:spPr>
          <a:xfrm>
            <a:off x="640080" y="2468880"/>
            <a:ext cx="3362858" cy="2194560"/>
          </a:xfrm>
          <a:prstGeom prst="rect">
            <a:avLst>
              <a:gd name="adj" fmla="val 3333"/>
            </a:avLst>
          </a:prstGeom>
          <a:solidFill>
            <a:srgbClr val="2B1D0C"/>
          </a:solidFill>
          <a:ln w="12700">
            <a:solidFill>
              <a:srgbClr val="4A3416"/>
            </a:solidFill>
          </a:ln>
        </p:spPr>
        <p:txBody>
          <a:bodyPr wrap="square" lIns="228600" tIns="228600" rIns="228600" bIns="228600" rtlCol="0" anchor="ctr"/>
          <a:lstStyle/>
          <a:p>
            <a:pPr indent="0" marL="0">
              <a:lnSpc>
                <a:spcPct val="125000"/>
              </a:lnSpc>
              <a:buNone/>
            </a:pPr>
            <a:r>
              <a:rPr lang="en-US" sz="1300" b="1" dirty="0">
                <a:solidFill>
                  <a:srgbClr val="FFB454"/>
                </a:solidFill>
                <a:latin typeface="Consolas" pitchFamily="34" charset="0"/>
                <a:ea typeface="Consolas" pitchFamily="34" charset="-122"/>
                <a:cs typeface="Consolas" pitchFamily="34" charset="-120"/>
              </a:rPr>
              <a:t>MP
</a:t>
            </a:r>
            <a:pPr indent="0" marL="0">
              <a:lnSpc>
                <a:spcPct val="125000"/>
              </a:lnSpc>
              <a:buNone/>
            </a:pPr>
            <a:r>
              <a:rPr lang="en-US" sz="1300" dirty="0">
                <a:solidFill>
                  <a:srgbClr val="C3D4EA"/>
                </a:solidFill>
                <a:latin typeface="Segoe UI" pitchFamily="34" charset="0"/>
                <a:ea typeface="Segoe UI" pitchFamily="34" charset="-122"/>
                <a:cs typeface="Segoe UI" pitchFamily="34" charset="-120"/>
              </a:rPr>
              <a:t>Mismo número → Pasar
</a:t>
            </a:r>
            <a:pPr indent="0" marL="0">
              <a:lnSpc>
                <a:spcPct val="125000"/>
              </a:lnSpc>
              <a:buNone/>
            </a:pPr>
            <a:r>
              <a:rPr lang="en-US" sz="1300" dirty="0">
                <a:solidFill>
                  <a:srgbClr val="C3D4EA"/>
                </a:solidFill>
                <a:latin typeface="Segoe UI" pitchFamily="34" charset="0"/>
                <a:ea typeface="Segoe UI" pitchFamily="34" charset="-122"/>
                <a:cs typeface="Segoe UI" pitchFamily="34" charset="-120"/>
              </a:rPr>
              <a:t>Mismo palo → Abandonar
</a:t>
            </a:r>
            <a:pPr indent="0" marL="0">
              <a:lnSpc>
                <a:spcPct val="125000"/>
              </a:lnSpc>
              <a:buNone/>
            </a:pPr>
            <a:r>
              <a:rPr lang="en-US" sz="1300" dirty="0">
                <a:solidFill>
                  <a:srgbClr val="C3D4EA"/>
                </a:solidFill>
                <a:latin typeface="Segoe UI" pitchFamily="34" charset="0"/>
                <a:ea typeface="Segoe UI" pitchFamily="34" charset="-122"/>
                <a:cs typeface="Segoe UI" pitchFamily="34" charset="-120"/>
              </a:rPr>
              <a:t>El resto → Abandonar
</a:t>
            </a:r>
            <a:endParaRPr lang="en-US" sz="1500" dirty="0"/>
          </a:p>
        </p:txBody>
      </p:sp>
      <p:sp>
        <p:nvSpPr>
          <p:cNvPr id="6" name="Text 4"/>
          <p:cNvSpPr/>
          <p:nvPr/>
        </p:nvSpPr>
        <p:spPr>
          <a:xfrm>
            <a:off x="4277258" y="2468880"/>
            <a:ext cx="3362858" cy="2194560"/>
          </a:xfrm>
          <a:prstGeom prst="rect">
            <a:avLst>
              <a:gd name="adj" fmla="val 3333"/>
            </a:avLst>
          </a:prstGeom>
          <a:solidFill>
            <a:srgbClr val="2B1D0C"/>
          </a:solidFill>
          <a:ln w="12700">
            <a:solidFill>
              <a:srgbClr val="4A3416"/>
            </a:solidFill>
          </a:ln>
        </p:spPr>
        <p:txBody>
          <a:bodyPr wrap="square" lIns="228600" tIns="228600" rIns="228600" bIns="228600" rtlCol="0" anchor="ctr"/>
          <a:lstStyle/>
          <a:p>
            <a:pPr indent="0" marL="0">
              <a:lnSpc>
                <a:spcPct val="125000"/>
              </a:lnSpc>
              <a:buNone/>
            </a:pPr>
            <a:r>
              <a:rPr lang="en-US" sz="1300" b="1" dirty="0">
                <a:solidFill>
                  <a:srgbClr val="FFB454"/>
                </a:solidFill>
                <a:latin typeface="Consolas" pitchFamily="34" charset="0"/>
                <a:ea typeface="Consolas" pitchFamily="34" charset="-122"/>
                <a:cs typeface="Consolas" pitchFamily="34" charset="-120"/>
              </a:rPr>
              <a:t>BTN
</a:t>
            </a:r>
            <a:pPr indent="0" marL="0">
              <a:lnSpc>
                <a:spcPct val="125000"/>
              </a:lnSpc>
              <a:buNone/>
            </a:pPr>
            <a:r>
              <a:rPr lang="en-US" sz="1300" dirty="0">
                <a:solidFill>
                  <a:srgbClr val="C3D4EA"/>
                </a:solidFill>
                <a:latin typeface="Segoe UI" pitchFamily="34" charset="0"/>
                <a:ea typeface="Segoe UI" pitchFamily="34" charset="-122"/>
                <a:cs typeface="Segoe UI" pitchFamily="34" charset="-120"/>
              </a:rPr>
              <a:t>Mismo número → Subir mucho
</a:t>
            </a:r>
            <a:pPr indent="0" marL="0">
              <a:lnSpc>
                <a:spcPct val="125000"/>
              </a:lnSpc>
              <a:buNone/>
            </a:pPr>
            <a:r>
              <a:rPr lang="en-US" sz="1300" dirty="0">
                <a:solidFill>
                  <a:srgbClr val="C3D4EA"/>
                </a:solidFill>
                <a:latin typeface="Segoe UI" pitchFamily="34" charset="0"/>
                <a:ea typeface="Segoe UI" pitchFamily="34" charset="-122"/>
                <a:cs typeface="Segoe UI" pitchFamily="34" charset="-120"/>
              </a:rPr>
              <a:t>Mismo palo → Subir poco
</a:t>
            </a:r>
            <a:pPr indent="0" marL="0">
              <a:lnSpc>
                <a:spcPct val="125000"/>
              </a:lnSpc>
              <a:buNone/>
            </a:pPr>
            <a:r>
              <a:rPr lang="en-US" sz="1300" dirty="0">
                <a:solidFill>
                  <a:srgbClr val="C3D4EA"/>
                </a:solidFill>
                <a:latin typeface="Segoe UI" pitchFamily="34" charset="0"/>
                <a:ea typeface="Segoe UI" pitchFamily="34" charset="-122"/>
                <a:cs typeface="Segoe UI" pitchFamily="34" charset="-120"/>
              </a:rPr>
              <a:t>El resto → Pasar
</a:t>
            </a:r>
            <a:endParaRPr lang="en-US" sz="1500" dirty="0"/>
          </a:p>
        </p:txBody>
      </p:sp>
      <p:sp>
        <p:nvSpPr>
          <p:cNvPr id="7" name="Text 5"/>
          <p:cNvSpPr/>
          <p:nvPr/>
        </p:nvSpPr>
        <p:spPr>
          <a:xfrm>
            <a:off x="7914437" y="2468880"/>
            <a:ext cx="3362858" cy="2194560"/>
          </a:xfrm>
          <a:prstGeom prst="rect">
            <a:avLst>
              <a:gd name="adj" fmla="val 3333"/>
            </a:avLst>
          </a:prstGeom>
          <a:solidFill>
            <a:srgbClr val="2B1D0C"/>
          </a:solidFill>
          <a:ln w="12700">
            <a:solidFill>
              <a:srgbClr val="4A3416"/>
            </a:solidFill>
          </a:ln>
        </p:spPr>
        <p:txBody>
          <a:bodyPr wrap="square" lIns="228600" tIns="228600" rIns="228600" bIns="228600" rtlCol="0" anchor="ctr"/>
          <a:lstStyle/>
          <a:p>
            <a:pPr indent="0" marL="0">
              <a:lnSpc>
                <a:spcPct val="125000"/>
              </a:lnSpc>
              <a:buNone/>
            </a:pPr>
            <a:r>
              <a:rPr lang="en-US" sz="1300" b="1" dirty="0">
                <a:solidFill>
                  <a:srgbClr val="FFB454"/>
                </a:solidFill>
                <a:latin typeface="Consolas" pitchFamily="34" charset="0"/>
                <a:ea typeface="Consolas" pitchFamily="34" charset="-122"/>
                <a:cs typeface="Consolas" pitchFamily="34" charset="-120"/>
              </a:rPr>
              <a:t>BB
</a:t>
            </a:r>
            <a:pPr indent="0" marL="0">
              <a:lnSpc>
                <a:spcPct val="125000"/>
              </a:lnSpc>
              <a:buNone/>
            </a:pPr>
            <a:r>
              <a:rPr lang="en-US" sz="1300" dirty="0">
                <a:solidFill>
                  <a:srgbClr val="C3D4EA"/>
                </a:solidFill>
                <a:latin typeface="Segoe UI" pitchFamily="34" charset="0"/>
                <a:ea typeface="Segoe UI" pitchFamily="34" charset="-122"/>
                <a:cs typeface="Segoe UI" pitchFamily="34" charset="-120"/>
              </a:rPr>
              <a:t>Mismo número → Subir mucho
</a:t>
            </a:r>
            <a:pPr indent="0" marL="0">
              <a:lnSpc>
                <a:spcPct val="125000"/>
              </a:lnSpc>
              <a:buNone/>
            </a:pPr>
            <a:r>
              <a:rPr lang="en-US" sz="1300" dirty="0">
                <a:solidFill>
                  <a:srgbClr val="C3D4EA"/>
                </a:solidFill>
                <a:latin typeface="Segoe UI" pitchFamily="34" charset="0"/>
                <a:ea typeface="Segoe UI" pitchFamily="34" charset="-122"/>
                <a:cs typeface="Segoe UI" pitchFamily="34" charset="-120"/>
              </a:rPr>
              <a:t>Mismo palo → Subir mucho
</a:t>
            </a:r>
            <a:pPr indent="0" marL="0">
              <a:lnSpc>
                <a:spcPct val="125000"/>
              </a:lnSpc>
              <a:buNone/>
            </a:pPr>
            <a:r>
              <a:rPr lang="en-US" sz="1300" dirty="0">
                <a:solidFill>
                  <a:srgbClr val="C3D4EA"/>
                </a:solidFill>
                <a:latin typeface="Segoe UI" pitchFamily="34" charset="0"/>
                <a:ea typeface="Segoe UI" pitchFamily="34" charset="-122"/>
                <a:cs typeface="Segoe UI" pitchFamily="34" charset="-120"/>
              </a:rPr>
              <a:t>El resto → Pasar
</a:t>
            </a:r>
            <a:endParaRPr lang="en-US" sz="1500" dirty="0"/>
          </a:p>
        </p:txBody>
      </p:sp>
      <p:sp>
        <p:nvSpPr>
          <p:cNvPr id="8" name="Text 6"/>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4 · COMBINATORIA Y GESTIÓN DE ERRORES</a:t>
            </a:r>
            <a:endParaRPr lang="en-US" sz="1000" dirty="0"/>
          </a:p>
        </p:txBody>
      </p:sp>
      <p:sp>
        <p:nvSpPr>
          <p:cNvPr id="9" name="Text 7"/>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FFB454"/>
                </a:solidFill>
                <a:latin typeface="Consolas" pitchFamily="34" charset="0"/>
                <a:ea typeface="Consolas" pitchFamily="34" charset="-122"/>
                <a:cs typeface="Consolas" pitchFamily="34" charset="-120"/>
              </a:rPr>
              <a:t>33 / 38</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4 · TABLA DE DECISIÓN — PÓKER</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2600" b="1" dirty="0">
                <a:solidFill>
                  <a:srgbClr val="EAF3FF"/>
                </a:solidFill>
                <a:latin typeface="Segoe UI Semibold" pitchFamily="34" charset="0"/>
                <a:ea typeface="Segoe UI Semibold" pitchFamily="34" charset="-122"/>
                <a:cs typeface="Segoe UI Semibold" pitchFamily="34" charset="-120"/>
              </a:rPr>
              <a:t>Encuentra el error de lógica</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11535" cy="914400"/>
        </p:xfrm>
        <a:graphic>
          <a:graphicData uri="http://schemas.openxmlformats.org/drawingml/2006/table">
            <a:tbl>
              <a:tblPr/>
              <a:tblGrid>
                <a:gridCol w="1463040"/>
                <a:gridCol w="1051560"/>
                <a:gridCol w="1051560"/>
                <a:gridCol w="1051560"/>
                <a:gridCol w="1051560"/>
                <a:gridCol w="1051560"/>
                <a:gridCol w="1051560"/>
                <a:gridCol w="1051560"/>
                <a:gridCol w="1051560"/>
                <a:gridCol w="1051560"/>
              </a:tblGrid>
              <a:tr h="457200">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Caso</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1</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2</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3</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4</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5</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6</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7</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pPr algn="l" indent="0" marL="0">
                        <a:buNone/>
                      </a:pP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c>
                  <a:txBody>
                    <a:bodyPr/>
                    <a:lstStyle/>
                    <a:p>
                      <a:pPr algn="l" indent="0" marL="0">
                        <a:buNone/>
                      </a:pPr>
                      <a:r>
                        <a:rPr lang="en-US" sz="1200" b="1" dirty="0">
                          <a:solidFill>
                            <a:srgbClr val="06121F"/>
                          </a:solidFill>
                          <a:latin typeface="Consolas" pitchFamily="34" charset="0"/>
                          <a:ea typeface="Consolas" pitchFamily="34" charset="-122"/>
                          <a:cs typeface="Consolas" pitchFamily="34" charset="-120"/>
                        </a:rPr>
                        <a:t>9</a:t>
                      </a:r>
                      <a:endParaRPr lang="en-US" sz="1200" dirty="0">
                        <a:latin typeface="Consolas" charset="0"/>
                        <a:ea typeface="Consolas" charset="0"/>
                        <a:cs typeface="Consolas"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5FE3FF"/>
                    </a:solidFill>
                  </a:tcPr>
                </a:tc>
              </a:tr>
              <a:tr h="457200">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Posición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MP</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MP</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MP</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BTN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BTN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BTN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BB</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b="1" dirty="0">
                          <a:solidFill>
                            <a:srgbClr val="EAF3FF"/>
                          </a:solidFill>
                          <a:latin typeface="Segoe UI" pitchFamily="34" charset="0"/>
                          <a:ea typeface="Segoe UI" pitchFamily="34" charset="-122"/>
                          <a:cs typeface="Segoe UI" pitchFamily="34" charset="-120"/>
                        </a:rPr>
                        <a:t>BB</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3A1414"/>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BB</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457200">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Condición</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N.º</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Palo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Resto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N.º</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Palo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Resto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N.º</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b="1" dirty="0">
                          <a:solidFill>
                            <a:srgbClr val="EAF3FF"/>
                          </a:solidFill>
                          <a:latin typeface="Segoe UI" pitchFamily="34" charset="0"/>
                          <a:ea typeface="Segoe UI" pitchFamily="34" charset="-122"/>
                          <a:cs typeface="Segoe UI" pitchFamily="34" charset="-120"/>
                        </a:rPr>
                        <a:t>Palo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3A1414"/>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Resto</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r h="457200">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Acción tabla</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Pasar</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Aband.</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Aband.</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Subir ++</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Subir +</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Pasar</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Subir ++</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c>
                  <a:txBody>
                    <a:bodyPr/>
                    <a:lstStyle/>
                    <a:p>
                      <a:pPr indent="0" marL="0">
                        <a:buNone/>
                      </a:pPr>
                      <a:r>
                        <a:rPr lang="en-US" sz="1300" b="1" dirty="0">
                          <a:solidFill>
                            <a:srgbClr val="EAF3FF"/>
                          </a:solidFill>
                          <a:latin typeface="Segoe UI" pitchFamily="34" charset="0"/>
                          <a:ea typeface="Segoe UI" pitchFamily="34" charset="-122"/>
                          <a:cs typeface="Segoe UI" pitchFamily="34" charset="-120"/>
                        </a:rPr>
                        <a:t>Subir +</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3A1414"/>
                    </a:solidFill>
                  </a:tcPr>
                </a:tc>
                <a:tc>
                  <a:txBody>
                    <a:bodyPr/>
                    <a:lstStyle/>
                    <a:p>
                      <a:pPr indent="0" marL="0">
                        <a:buNone/>
                      </a:pPr>
                      <a:r>
                        <a:rPr lang="en-US" sz="1300" dirty="0">
                          <a:solidFill>
                            <a:srgbClr val="C3D4EA"/>
                          </a:solidFill>
                          <a:latin typeface="Segoe UI" pitchFamily="34" charset="0"/>
                          <a:ea typeface="Segoe UI" pitchFamily="34" charset="-122"/>
                          <a:cs typeface="Segoe UI" pitchFamily="34" charset="-120"/>
                        </a:rPr>
                        <a:t>Pasar</a:t>
                      </a:r>
                      <a:endParaRPr lang="en-US" sz="1300" dirty="0">
                        <a:latin typeface="Segoe UI" charset="0"/>
                        <a:ea typeface="Segoe UI" charset="0"/>
                        <a:cs typeface="Segoe UI" charset="0"/>
                      </a:endParaRPr>
                    </a:p>
                  </a:txBody>
                  <a:tcPr marL="91440" marR="91440" marT="45720" marB="45720" anchor="ctr">
                    <a:lnL w="6350" cap="flat" cmpd="sng" algn="ctr">
                      <a:solidFill>
                        <a:srgbClr val="2C4A6E"/>
                      </a:solidFill>
                      <a:prstDash val="solid"/>
                      <a:round/>
                      <a:headEnd type="none" w="med" len="med"/>
                      <a:tailEnd type="none" w="med" len="med"/>
                    </a:lnL>
                    <a:lnR w="6350" cap="flat" cmpd="sng" algn="ctr">
                      <a:solidFill>
                        <a:srgbClr val="2C4A6E"/>
                      </a:solidFill>
                      <a:prstDash val="solid"/>
                      <a:round/>
                      <a:headEnd type="none" w="med" len="med"/>
                      <a:tailEnd type="none" w="med" len="med"/>
                    </a:lnR>
                    <a:lnT w="6350" cap="flat" cmpd="sng" algn="ctr">
                      <a:solidFill>
                        <a:srgbClr val="2C4A6E"/>
                      </a:solidFill>
                      <a:prstDash val="solid"/>
                      <a:round/>
                      <a:headEnd type="none" w="med" len="med"/>
                      <a:tailEnd type="none" w="med" len="med"/>
                    </a:lnT>
                    <a:lnB w="6350" cap="flat" cmpd="sng" algn="ctr">
                      <a:solidFill>
                        <a:srgbClr val="2C4A6E"/>
                      </a:solidFill>
                      <a:prstDash val="solid"/>
                      <a:round/>
                      <a:headEnd type="none" w="med" len="med"/>
                      <a:tailEnd type="none" w="med" len="med"/>
                    </a:lnB>
                    <a:solidFill>
                      <a:srgbClr val="12294A"/>
                    </a:solidFill>
                  </a:tcPr>
                </a:tc>
              </a:tr>
            </a:tbl>
          </a:graphicData>
        </a:graphic>
      </p:graphicFrame>
      <p:sp>
        <p:nvSpPr>
          <p:cNvPr id="5" name="Text 2"/>
          <p:cNvSpPr/>
          <p:nvPr/>
        </p:nvSpPr>
        <p:spPr>
          <a:xfrm>
            <a:off x="640080" y="3703320"/>
            <a:ext cx="10881360" cy="1463040"/>
          </a:xfrm>
          <a:prstGeom prst="rect">
            <a:avLst>
              <a:gd name="adj" fmla="val 5000"/>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500" dirty="0">
                <a:solidFill>
                  <a:srgbClr val="EAF3FF"/>
                </a:solidFill>
                <a:latin typeface="Segoe UI" pitchFamily="34" charset="0"/>
                <a:ea typeface="Segoe UI" pitchFamily="34" charset="-122"/>
                <a:cs typeface="Segoe UI" pitchFamily="34" charset="-120"/>
              </a:rPr>
              <a:t>El requisito de </a:t>
            </a:r>
            <a:pPr indent="0" marL="0">
              <a:lnSpc>
                <a:spcPct val="125000"/>
              </a:lnSpc>
              <a:buNone/>
            </a:pPr>
            <a:r>
              <a:rPr lang="en-US" sz="1500" b="1" dirty="0">
                <a:solidFill>
                  <a:srgbClr val="EAF3FF"/>
                </a:solidFill>
                <a:latin typeface="Segoe UI" pitchFamily="34" charset="0"/>
                <a:ea typeface="Segoe UI" pitchFamily="34" charset="-122"/>
                <a:cs typeface="Segoe UI" pitchFamily="34" charset="-120"/>
              </a:rPr>
              <a:t>BB</a:t>
            </a:r>
            <a:pPr indent="0" marL="0">
              <a:lnSpc>
                <a:spcPct val="125000"/>
              </a:lnSpc>
              <a:buNone/>
            </a:pPr>
            <a:r>
              <a:rPr lang="en-US" sz="1500" dirty="0">
                <a:solidFill>
                  <a:srgbClr val="EAF3FF"/>
                </a:solidFill>
                <a:latin typeface="Segoe UI" pitchFamily="34" charset="0"/>
                <a:ea typeface="Segoe UI" pitchFamily="34" charset="-122"/>
                <a:cs typeface="Segoe UI" pitchFamily="34" charset="-120"/>
              </a:rPr>
              <a:t> dice: “Dos cartas del mismo palo → </a:t>
            </a:r>
            <a:pPr indent="0" marL="0">
              <a:lnSpc>
                <a:spcPct val="125000"/>
              </a:lnSpc>
              <a:buNone/>
            </a:pPr>
            <a:r>
              <a:rPr lang="en-US" sz="1500" b="1" dirty="0">
                <a:solidFill>
                  <a:srgbClr val="FF6B6B"/>
                </a:solidFill>
                <a:latin typeface="Segoe UI" pitchFamily="34" charset="0"/>
                <a:ea typeface="Segoe UI" pitchFamily="34" charset="-122"/>
                <a:cs typeface="Segoe UI" pitchFamily="34" charset="-120"/>
              </a:rPr>
              <a:t>Subir mucho</a:t>
            </a:r>
            <a:pPr indent="0" marL="0">
              <a:lnSpc>
                <a:spcPct val="125000"/>
              </a:lnSpc>
              <a:buNone/>
            </a:pPr>
            <a:r>
              <a:rPr lang="en-US" sz="1500" dirty="0">
                <a:solidFill>
                  <a:srgbClr val="EAF3FF"/>
                </a:solidFill>
                <a:latin typeface="Segoe UI" pitchFamily="34" charset="0"/>
                <a:ea typeface="Segoe UI" pitchFamily="34" charset="-122"/>
                <a:cs typeface="Segoe UI" pitchFamily="34" charset="-120"/>
              </a:rPr>
              <a:t>”. La tabla del Caso 8 marca la acción “</a:t>
            </a:r>
            <a:pPr indent="0" marL="0">
              <a:lnSpc>
                <a:spcPct val="125000"/>
              </a:lnSpc>
              <a:buNone/>
            </a:pPr>
            <a:r>
              <a:rPr lang="en-US" sz="1500" b="1" dirty="0">
                <a:solidFill>
                  <a:srgbClr val="FF6B6B"/>
                </a:solidFill>
                <a:latin typeface="Segoe UI" pitchFamily="34" charset="0"/>
                <a:ea typeface="Segoe UI" pitchFamily="34" charset="-122"/>
                <a:cs typeface="Segoe UI" pitchFamily="34" charset="-120"/>
              </a:rPr>
              <a:t>Subir poco</a:t>
            </a:r>
            <a:pPr indent="0" marL="0">
              <a:lnSpc>
                <a:spcPct val="125000"/>
              </a:lnSpc>
              <a:buNone/>
            </a:pPr>
            <a:r>
              <a:rPr lang="en-US" sz="1500" dirty="0">
                <a:solidFill>
                  <a:srgbClr val="EAF3FF"/>
                </a:solidFill>
                <a:latin typeface="Segoe UI" pitchFamily="34" charset="0"/>
                <a:ea typeface="Segoe UI" pitchFamily="34" charset="-122"/>
                <a:cs typeface="Segoe UI" pitchFamily="34" charset="-120"/>
              </a:rPr>
              <a:t>”. Es un error de lógica: contrasta siempre la tabla contra el requisito original.</a:t>
            </a:r>
            <a:endParaRPr lang="en-US" sz="1500" dirty="0"/>
          </a:p>
        </p:txBody>
      </p:sp>
      <p:sp>
        <p:nvSpPr>
          <p:cNvPr id="6" name="Text 3"/>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4 · COMBINATORIA Y GESTIÓN DE ERRORES</a:t>
            </a:r>
            <a:endParaRPr lang="en-US" sz="1000" dirty="0"/>
          </a:p>
        </p:txBody>
      </p:sp>
      <p:sp>
        <p:nvSpPr>
          <p:cNvPr id="7" name="Text 4"/>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34 / 38</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BLOQUE 4 · GESTIÓN DE ERRORES · 5 MIN</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2600" b="1" dirty="0">
                <a:solidFill>
                  <a:srgbClr val="EAF3FF"/>
                </a:solidFill>
                <a:latin typeface="Segoe UI Semibold" pitchFamily="34" charset="0"/>
                <a:ea typeface="Segoe UI Semibold" pitchFamily="34" charset="-122"/>
                <a:cs typeface="Segoe UI Semibold" pitchFamily="34" charset="-120"/>
              </a:rPr>
              <a:t>Falso </a:t>
            </a:r>
            <a:pPr indent="0" marL="0">
              <a:buNone/>
            </a:pPr>
            <a:r>
              <a:rPr lang="en-US" sz="2600" b="1" dirty="0">
                <a:solidFill>
                  <a:srgbClr val="5FE3FF"/>
                </a:solidFill>
                <a:latin typeface="Segoe UI Semibold" pitchFamily="34" charset="0"/>
                <a:ea typeface="Segoe UI Semibold" pitchFamily="34" charset="-122"/>
                <a:cs typeface="Segoe UI Semibold" pitchFamily="34" charset="-120"/>
              </a:rPr>
              <a:t>Positivo</a:t>
            </a:r>
            <a:pPr indent="0" marL="0">
              <a:buNone/>
            </a:pPr>
            <a:r>
              <a:rPr lang="en-US" sz="2600" b="1" dirty="0">
                <a:solidFill>
                  <a:srgbClr val="EAF3FF"/>
                </a:solidFill>
                <a:latin typeface="Segoe UI Semibold" pitchFamily="34" charset="0"/>
                <a:ea typeface="Segoe UI Semibold" pitchFamily="34" charset="-122"/>
                <a:cs typeface="Segoe UI Semibold" pitchFamily="34" charset="-120"/>
              </a:rPr>
              <a:t> vs. Falso </a:t>
            </a:r>
            <a:pPr indent="0" marL="0">
              <a:buNone/>
            </a:pPr>
            <a:r>
              <a:rPr lang="en-US" sz="2600" b="1" dirty="0">
                <a:solidFill>
                  <a:srgbClr val="5FE3FF"/>
                </a:solidFill>
                <a:latin typeface="Segoe UI Semibold" pitchFamily="34" charset="0"/>
                <a:ea typeface="Segoe UI Semibold" pitchFamily="34" charset="-122"/>
                <a:cs typeface="Segoe UI Semibold" pitchFamily="34" charset="-120"/>
              </a:rPr>
              <a:t>Negativo</a:t>
            </a:r>
            <a:endParaRPr lang="en-US" sz="2600" dirty="0"/>
          </a:p>
        </p:txBody>
      </p:sp>
      <p:sp>
        <p:nvSpPr>
          <p:cNvPr id="4" name="Text 2"/>
          <p:cNvSpPr/>
          <p:nvPr/>
        </p:nvSpPr>
        <p:spPr>
          <a:xfrm>
            <a:off x="640080" y="2377440"/>
            <a:ext cx="5212080" cy="2194560"/>
          </a:xfrm>
          <a:prstGeom prst="rect">
            <a:avLst>
              <a:gd name="adj" fmla="val 3333"/>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100" b="1" dirty="0">
                <a:solidFill>
                  <a:srgbClr val="5FE3FF"/>
                </a:solidFill>
                <a:latin typeface="Consolas" pitchFamily="34" charset="0"/>
                <a:ea typeface="Consolas" pitchFamily="34" charset="-122"/>
                <a:cs typeface="Consolas" pitchFamily="34" charset="-120"/>
              </a:rPr>
              <a:t>FALSO POSITIVO
</a:t>
            </a:r>
            <a:pPr indent="0" marL="0">
              <a:lnSpc>
                <a:spcPct val="125000"/>
              </a:lnSpc>
              <a:buNone/>
            </a:pPr>
            <a:r>
              <a:rPr lang="en-US" sz="1500" dirty="0">
                <a:solidFill>
                  <a:srgbClr val="EAF3FF"/>
                </a:solidFill>
                <a:latin typeface="Segoe UI" pitchFamily="34" charset="0"/>
                <a:ea typeface="Segoe UI" pitchFamily="34" charset="-122"/>
                <a:cs typeface="Segoe UI" pitchFamily="34" charset="-120"/>
              </a:rPr>
              <a:t>El test falla, pero el software está bien.
</a:t>
            </a:r>
            <a:pPr indent="0" marL="0">
              <a:lnSpc>
                <a:spcPct val="125000"/>
              </a:lnSpc>
              <a:buNone/>
            </a:pPr>
            <a:r>
              <a:rPr lang="en-US" sz="1200" dirty="0">
                <a:solidFill>
                  <a:srgbClr val="93AED4"/>
                </a:solidFill>
                <a:latin typeface="Segoe UI" pitchFamily="34" charset="0"/>
                <a:ea typeface="Segoe UI" pitchFamily="34" charset="-122"/>
                <a:cs typeface="Segoe UI" pitchFamily="34" charset="-120"/>
              </a:rPr>
              <a:t>Ej.: tablas de tipos obsoletas en Pokémon · reloj del sistema Linux desajustado.</a:t>
            </a:r>
            <a:endParaRPr lang="en-US" sz="1500" dirty="0"/>
          </a:p>
        </p:txBody>
      </p:sp>
      <p:sp>
        <p:nvSpPr>
          <p:cNvPr id="5" name="Text 3"/>
          <p:cNvSpPr/>
          <p:nvPr/>
        </p:nvSpPr>
        <p:spPr>
          <a:xfrm>
            <a:off x="6309360" y="2377440"/>
            <a:ext cx="5212080" cy="2194560"/>
          </a:xfrm>
          <a:prstGeom prst="rect">
            <a:avLst>
              <a:gd name="adj" fmla="val 3333"/>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100" b="1" dirty="0">
                <a:solidFill>
                  <a:srgbClr val="FF6B6B"/>
                </a:solidFill>
                <a:latin typeface="Consolas" pitchFamily="34" charset="0"/>
                <a:ea typeface="Consolas" pitchFamily="34" charset="-122"/>
                <a:cs typeface="Consolas" pitchFamily="34" charset="-120"/>
              </a:rPr>
              <a:t>FALSO NEGATIVO — CRÍTICO
</a:t>
            </a:r>
            <a:pPr indent="0" marL="0">
              <a:lnSpc>
                <a:spcPct val="125000"/>
              </a:lnSpc>
              <a:buNone/>
            </a:pPr>
            <a:r>
              <a:rPr lang="en-US" sz="1500" dirty="0">
                <a:solidFill>
                  <a:srgbClr val="EAF3FF"/>
                </a:solidFill>
                <a:latin typeface="Segoe UI" pitchFamily="34" charset="0"/>
                <a:ea typeface="Segoe UI" pitchFamily="34" charset="-122"/>
                <a:cs typeface="Segoe UI" pitchFamily="34" charset="-120"/>
              </a:rPr>
              <a:t>El test pasa, pero el software está mal.
</a:t>
            </a:r>
            <a:pPr indent="0" marL="0">
              <a:lnSpc>
                <a:spcPct val="125000"/>
              </a:lnSpc>
              <a:buNone/>
            </a:pPr>
            <a:r>
              <a:rPr lang="en-US" sz="1200" dirty="0">
                <a:solidFill>
                  <a:srgbClr val="93AED4"/>
                </a:solidFill>
                <a:latin typeface="Segoe UI" pitchFamily="34" charset="0"/>
                <a:ea typeface="Segoe UI" pitchFamily="34" charset="-122"/>
                <a:cs typeface="Segoe UI" pitchFamily="34" charset="-120"/>
              </a:rPr>
              <a:t>Bug de Ciudad Luminalia en Pokémon X: el juego pasaba el test de guardado, pero corrompía la partida.</a:t>
            </a:r>
            <a:endParaRPr lang="en-US" sz="15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BLOQUE 4 · COMBINATORIA Y GESTIÓN DE ERRORES</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35 / 38</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5943600" cy="384048"/>
          </a:xfrm>
          <a:prstGeom prst="rect">
            <a:avLst>
              <a:gd name="adj" fmla="val 42857"/>
            </a:avLst>
          </a:prstGeom>
          <a:solidFill>
            <a:srgbClr val="0F2A38"/>
          </a:solidFill>
          <a:ln w="12700">
            <a:solidFill>
              <a:srgbClr val="1C5670"/>
            </a:solidFill>
          </a:ln>
        </p:spPr>
        <p:txBody>
          <a:bodyPr wrap="square" rtlCol="0" anchor="ctr"/>
          <a:lstStyle/>
          <a:p>
            <a:pPr algn="ctr" indent="0" marL="0">
              <a:buNone/>
            </a:pPr>
            <a:r>
              <a:rPr lang="en-US" sz="1200" b="1" dirty="0">
                <a:solidFill>
                  <a:srgbClr val="5FE3FF"/>
                </a:solidFill>
                <a:latin typeface="Consolas" pitchFamily="34" charset="0"/>
                <a:ea typeface="Consolas" pitchFamily="34" charset="-122"/>
                <a:cs typeface="Consolas" pitchFamily="34" charset="-120"/>
              </a:rPr>
              <a:t>EJERCICIO INTEGRADOR FINAL</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3000" b="1" dirty="0">
                <a:solidFill>
                  <a:srgbClr val="EAF3FF"/>
                </a:solidFill>
                <a:latin typeface="Segoe UI Semibold" pitchFamily="34" charset="0"/>
                <a:ea typeface="Segoe UI Semibold" pitchFamily="34" charset="-122"/>
                <a:cs typeface="Segoe UI Semibold" pitchFamily="34" charset="-120"/>
              </a:rPr>
              <a:t>El auto que atraviesa </a:t>
            </a:r>
            <a:pPr indent="0" marL="0">
              <a:buNone/>
            </a:pPr>
            <a:r>
              <a:rPr lang="en-US" sz="3000" b="1" dirty="0">
                <a:solidFill>
                  <a:srgbClr val="5FE3FF"/>
                </a:solidFill>
                <a:latin typeface="Segoe UI Semibold" pitchFamily="34" charset="0"/>
                <a:ea typeface="Segoe UI Semibold" pitchFamily="34" charset="-122"/>
                <a:cs typeface="Segoe UI Semibold" pitchFamily="34" charset="-120"/>
              </a:rPr>
              <a:t>paredes</a:t>
            </a:r>
            <a:endParaRPr lang="en-US" sz="3000" dirty="0"/>
          </a:p>
        </p:txBody>
      </p:sp>
      <p:sp>
        <p:nvSpPr>
          <p:cNvPr id="4" name="Text 2"/>
          <p:cNvSpPr/>
          <p:nvPr/>
        </p:nvSpPr>
        <p:spPr>
          <a:xfrm>
            <a:off x="640080" y="1828800"/>
            <a:ext cx="7863840" cy="914400"/>
          </a:xfrm>
          <a:prstGeom prst="rect">
            <a:avLst/>
          </a:prstGeom>
          <a:noFill/>
          <a:ln/>
        </p:spPr>
        <p:txBody>
          <a:bodyPr wrap="square" rtlCol="0" anchor="t"/>
          <a:lstStyle/>
          <a:p>
            <a:pPr indent="0" marL="0">
              <a:lnSpc>
                <a:spcPct val="130000"/>
              </a:lnSpc>
              <a:buNone/>
            </a:pPr>
            <a:r>
              <a:rPr lang="en-US" sz="1800" dirty="0">
                <a:solidFill>
                  <a:srgbClr val="C3D4EA"/>
                </a:solidFill>
                <a:latin typeface="Segoe UI" pitchFamily="34" charset="0"/>
                <a:ea typeface="Segoe UI" pitchFamily="34" charset="-122"/>
                <a:cs typeface="Segoe UI" pitchFamily="34" charset="-120"/>
              </a:rPr>
              <a:t>Un vehículo atraviesa paredes (“noclip”) al chocar a más de </a:t>
            </a:r>
            <a:pPr indent="0" marL="0">
              <a:lnSpc>
                <a:spcPct val="130000"/>
              </a:lnSpc>
              <a:buNone/>
            </a:pPr>
            <a:r>
              <a:rPr lang="en-US" sz="1800" b="1" dirty="0">
                <a:solidFill>
                  <a:srgbClr val="EAF3FF"/>
                </a:solidFill>
                <a:latin typeface="Segoe UI" pitchFamily="34" charset="0"/>
                <a:ea typeface="Segoe UI" pitchFamily="34" charset="-122"/>
                <a:cs typeface="Segoe UI" pitchFamily="34" charset="-120"/>
              </a:rPr>
              <a:t>200 km/h</a:t>
            </a:r>
            <a:pPr indent="0" marL="0">
              <a:lnSpc>
                <a:spcPct val="130000"/>
              </a:lnSpc>
              <a:buNone/>
            </a:pPr>
            <a:r>
              <a:rPr lang="en-US" sz="1800" dirty="0">
                <a:solidFill>
                  <a:srgbClr val="C3D4EA"/>
                </a:solidFill>
                <a:latin typeface="Segoe UI" pitchFamily="34" charset="0"/>
                <a:ea typeface="Segoe UI" pitchFamily="34" charset="-122"/>
                <a:cs typeface="Segoe UI" pitchFamily="34" charset="-120"/>
              </a:rPr>
              <a:t>, en clima de </a:t>
            </a:r>
            <a:pPr indent="0" marL="0">
              <a:lnSpc>
                <a:spcPct val="130000"/>
              </a:lnSpc>
              <a:buNone/>
            </a:pPr>
            <a:r>
              <a:rPr lang="en-US" sz="1800" b="1" dirty="0">
                <a:solidFill>
                  <a:srgbClr val="EAF3FF"/>
                </a:solidFill>
                <a:latin typeface="Segoe UI" pitchFamily="34" charset="0"/>
                <a:ea typeface="Segoe UI" pitchFamily="34" charset="-122"/>
                <a:cs typeface="Segoe UI" pitchFamily="34" charset="-120"/>
              </a:rPr>
              <a:t>lluvia</a:t>
            </a:r>
            <a:pPr indent="0" marL="0">
              <a:lnSpc>
                <a:spcPct val="130000"/>
              </a:lnSpc>
              <a:buNone/>
            </a:pPr>
            <a:r>
              <a:rPr lang="en-US" sz="1800" dirty="0">
                <a:solidFill>
                  <a:srgbClr val="C3D4EA"/>
                </a:solidFill>
                <a:latin typeface="Segoe UI" pitchFamily="34" charset="0"/>
                <a:ea typeface="Segoe UI" pitchFamily="34" charset="-122"/>
                <a:cs typeface="Segoe UI" pitchFamily="34" charset="-120"/>
              </a:rPr>
              <a:t>.</a:t>
            </a:r>
            <a:endParaRPr lang="en-US" sz="1800" dirty="0"/>
          </a:p>
        </p:txBody>
      </p:sp>
      <p:sp>
        <p:nvSpPr>
          <p:cNvPr id="5" name="Text 3"/>
          <p:cNvSpPr/>
          <p:nvPr/>
        </p:nvSpPr>
        <p:spPr>
          <a:xfrm>
            <a:off x="640080" y="3566160"/>
            <a:ext cx="10881360" cy="1371600"/>
          </a:xfrm>
          <a:prstGeom prst="rect">
            <a:avLst>
              <a:gd name="adj" fmla="val 5333"/>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100" b="1" dirty="0">
                <a:solidFill>
                  <a:srgbClr val="5FE3FF"/>
                </a:solidFill>
                <a:latin typeface="Consolas" pitchFamily="34" charset="0"/>
                <a:ea typeface="Consolas" pitchFamily="34" charset="-122"/>
                <a:cs typeface="Consolas" pitchFamily="34" charset="-120"/>
              </a:rPr>
              <a:t>TAREA PARA EL ALUMNO
</a:t>
            </a:r>
            <a:pPr indent="0" marL="0">
              <a:lnSpc>
                <a:spcPct val="125000"/>
              </a:lnSpc>
              <a:buNone/>
            </a:pPr>
            <a:r>
              <a:rPr lang="en-US" sz="1700" dirty="0">
                <a:solidFill>
                  <a:srgbClr val="EAF3FF"/>
                </a:solidFill>
                <a:latin typeface="Segoe UI" pitchFamily="34" charset="0"/>
                <a:ea typeface="Segoe UI" pitchFamily="34" charset="-122"/>
                <a:cs typeface="Segoe UI" pitchFamily="34" charset="-120"/>
              </a:rPr>
              <a:t>Proponer una estrategia de testing que combine EP, BVA y Combinatoria para acotar y reproducir este bug.</a:t>
            </a:r>
            <a:endParaRPr lang="en-US" sz="1500" dirty="0"/>
          </a:p>
        </p:txBody>
      </p:sp>
      <p:sp>
        <p:nvSpPr>
          <p:cNvPr id="6" name="Text 4"/>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CIERRE</a:t>
            </a:r>
            <a:endParaRPr lang="en-US" sz="1000" dirty="0"/>
          </a:p>
        </p:txBody>
      </p:sp>
      <p:sp>
        <p:nvSpPr>
          <p:cNvPr id="7" name="Text 5"/>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36 / 38</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384048"/>
            <a:ext cx="10515600" cy="292608"/>
          </a:xfrm>
          <a:prstGeom prst="rect">
            <a:avLst/>
          </a:prstGeom>
          <a:noFill/>
          <a:ln/>
        </p:spPr>
        <p:txBody>
          <a:bodyPr wrap="square" rtlCol="0" anchor="ctr"/>
          <a:lstStyle/>
          <a:p>
            <a:pPr indent="0" marL="0">
              <a:buNone/>
            </a:pPr>
            <a:r>
              <a:rPr lang="en-US" sz="1200" b="1" spc="200" kern="0" dirty="0">
                <a:solidFill>
                  <a:srgbClr val="5FE3FF"/>
                </a:solidFill>
                <a:latin typeface="Consolas" pitchFamily="34" charset="0"/>
                <a:ea typeface="Consolas" pitchFamily="34" charset="-122"/>
                <a:cs typeface="Consolas" pitchFamily="34" charset="-120"/>
              </a:rPr>
              <a:t>SOLUCIÓN GUÍA — PARA EL DOCENTE</a:t>
            </a:r>
            <a:endParaRPr lang="en-US" sz="1200" dirty="0"/>
          </a:p>
        </p:txBody>
      </p:sp>
      <p:sp>
        <p:nvSpPr>
          <p:cNvPr id="3" name="Text 1"/>
          <p:cNvSpPr/>
          <p:nvPr/>
        </p:nvSpPr>
        <p:spPr>
          <a:xfrm>
            <a:off x="640080" y="749808"/>
            <a:ext cx="10911535" cy="1005840"/>
          </a:xfrm>
          <a:prstGeom prst="rect">
            <a:avLst/>
          </a:prstGeom>
          <a:noFill/>
          <a:ln/>
        </p:spPr>
        <p:txBody>
          <a:bodyPr wrap="square" rtlCol="0" anchor="t"/>
          <a:lstStyle/>
          <a:p>
            <a:pPr indent="0" marL="0">
              <a:buNone/>
            </a:pPr>
            <a:r>
              <a:rPr lang="en-US" sz="2800" b="1" dirty="0">
                <a:solidFill>
                  <a:srgbClr val="EAF3FF"/>
                </a:solidFill>
                <a:latin typeface="Segoe UI Semibold" pitchFamily="34" charset="0"/>
                <a:ea typeface="Segoe UI Semibold" pitchFamily="34" charset="-122"/>
                <a:cs typeface="Segoe UI Semibold" pitchFamily="34" charset="-120"/>
              </a:rPr>
              <a:t>Estrategia combinada</a:t>
            </a:r>
            <a:endParaRPr lang="en-US" sz="2800" dirty="0"/>
          </a:p>
        </p:txBody>
      </p:sp>
      <p:sp>
        <p:nvSpPr>
          <p:cNvPr id="4" name="Text 2"/>
          <p:cNvSpPr/>
          <p:nvPr/>
        </p:nvSpPr>
        <p:spPr>
          <a:xfrm>
            <a:off x="640080" y="2286000"/>
            <a:ext cx="3362858" cy="2194560"/>
          </a:xfrm>
          <a:prstGeom prst="rect">
            <a:avLst>
              <a:gd name="adj" fmla="val 3333"/>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200" b="1" dirty="0">
                <a:solidFill>
                  <a:srgbClr val="5FE3FF"/>
                </a:solidFill>
                <a:latin typeface="Consolas" pitchFamily="34" charset="0"/>
                <a:ea typeface="Consolas" pitchFamily="34" charset="-122"/>
                <a:cs typeface="Consolas" pitchFamily="34" charset="-120"/>
              </a:rPr>
              <a:t>EP
</a:t>
            </a:r>
            <a:pPr indent="0" marL="0">
              <a:lnSpc>
                <a:spcPct val="125000"/>
              </a:lnSpc>
              <a:buNone/>
            </a:pPr>
            <a:r>
              <a:rPr lang="en-US" sz="1300" dirty="0">
                <a:solidFill>
                  <a:srgbClr val="EAF3FF"/>
                </a:solidFill>
                <a:latin typeface="Segoe UI" pitchFamily="34" charset="0"/>
                <a:ea typeface="Segoe UI" pitchFamily="34" charset="-122"/>
                <a:cs typeface="Segoe UI" pitchFamily="34" charset="-120"/>
              </a:rPr>
              <a:t>Particiones de superficie: Asfalto, Tierra, Lluvia.
</a:t>
            </a:r>
            <a:pPr indent="0" marL="0">
              <a:lnSpc>
                <a:spcPct val="125000"/>
              </a:lnSpc>
              <a:buNone/>
            </a:pPr>
            <a:r>
              <a:rPr lang="en-US" sz="1200" dirty="0">
                <a:solidFill>
                  <a:srgbClr val="93AED4"/>
                </a:solidFill>
                <a:latin typeface="Segoe UI" pitchFamily="34" charset="0"/>
                <a:ea typeface="Segoe UI" pitchFamily="34" charset="-122"/>
                <a:cs typeface="Segoe UI" pitchFamily="34" charset="-120"/>
              </a:rPr>
              <a:t>Foco en la partición “Lluvia”.</a:t>
            </a:r>
            <a:endParaRPr lang="en-US" sz="1500" dirty="0"/>
          </a:p>
        </p:txBody>
      </p:sp>
      <p:sp>
        <p:nvSpPr>
          <p:cNvPr id="5" name="Text 3"/>
          <p:cNvSpPr/>
          <p:nvPr/>
        </p:nvSpPr>
        <p:spPr>
          <a:xfrm>
            <a:off x="4277258" y="2286000"/>
            <a:ext cx="3362858" cy="2194560"/>
          </a:xfrm>
          <a:prstGeom prst="rect">
            <a:avLst>
              <a:gd name="adj" fmla="val 3333"/>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200" b="1" dirty="0">
                <a:solidFill>
                  <a:srgbClr val="5FE3FF"/>
                </a:solidFill>
                <a:latin typeface="Consolas" pitchFamily="34" charset="0"/>
                <a:ea typeface="Consolas" pitchFamily="34" charset="-122"/>
                <a:cs typeface="Consolas" pitchFamily="34" charset="-120"/>
              </a:rPr>
              <a:t>BVA
</a:t>
            </a:r>
            <a:pPr indent="0" marL="0">
              <a:lnSpc>
                <a:spcPct val="125000"/>
              </a:lnSpc>
              <a:buNone/>
            </a:pPr>
            <a:r>
              <a:rPr lang="en-US" sz="1300" dirty="0">
                <a:solidFill>
                  <a:srgbClr val="EAF3FF"/>
                </a:solidFill>
                <a:latin typeface="Segoe UI" pitchFamily="34" charset="0"/>
                <a:ea typeface="Segoe UI" pitchFamily="34" charset="-122"/>
                <a:cs typeface="Segoe UI" pitchFamily="34" charset="-120"/>
              </a:rPr>
              <a:t>Probar el límite de velocidad con:
</a:t>
            </a:r>
            <a:pPr indent="0" marL="0">
              <a:lnSpc>
                <a:spcPct val="125000"/>
              </a:lnSpc>
              <a:buNone/>
            </a:pPr>
            <a:r>
              <a:rPr lang="en-US" sz="2000" b="1" dirty="0">
                <a:solidFill>
                  <a:srgbClr val="EAF3FF"/>
                </a:solidFill>
                <a:latin typeface="Consolas" pitchFamily="34" charset="0"/>
                <a:ea typeface="Consolas" pitchFamily="34" charset="-122"/>
                <a:cs typeface="Consolas" pitchFamily="34" charset="-120"/>
              </a:rPr>
              <a:t>199 · 200 · 201 km/h</a:t>
            </a:r>
            <a:endParaRPr lang="en-US" sz="1500" dirty="0"/>
          </a:p>
        </p:txBody>
      </p:sp>
      <p:sp>
        <p:nvSpPr>
          <p:cNvPr id="6" name="Text 4"/>
          <p:cNvSpPr/>
          <p:nvPr/>
        </p:nvSpPr>
        <p:spPr>
          <a:xfrm>
            <a:off x="7914437" y="2286000"/>
            <a:ext cx="3362858" cy="2194560"/>
          </a:xfrm>
          <a:prstGeom prst="rect">
            <a:avLst>
              <a:gd name="adj" fmla="val 3333"/>
            </a:avLst>
          </a:prstGeom>
          <a:solidFill>
            <a:srgbClr val="12294A"/>
          </a:solidFill>
          <a:ln w="12700">
            <a:solidFill>
              <a:srgbClr val="2C4A6E"/>
            </a:solidFill>
          </a:ln>
        </p:spPr>
        <p:txBody>
          <a:bodyPr wrap="square" lIns="228600" tIns="228600" rIns="228600" bIns="228600" rtlCol="0" anchor="ctr"/>
          <a:lstStyle/>
          <a:p>
            <a:pPr indent="0" marL="0">
              <a:lnSpc>
                <a:spcPct val="125000"/>
              </a:lnSpc>
              <a:buNone/>
            </a:pPr>
            <a:r>
              <a:rPr lang="en-US" sz="1200" b="1" dirty="0">
                <a:solidFill>
                  <a:srgbClr val="5FE3FF"/>
                </a:solidFill>
                <a:latin typeface="Consolas" pitchFamily="34" charset="0"/>
                <a:ea typeface="Consolas" pitchFamily="34" charset="-122"/>
                <a:cs typeface="Consolas" pitchFamily="34" charset="-120"/>
              </a:rPr>
              <a:t>PAIRWISE
</a:t>
            </a:r>
            <a:pPr indent="0" marL="0">
              <a:lnSpc>
                <a:spcPct val="125000"/>
              </a:lnSpc>
              <a:buNone/>
            </a:pPr>
            <a:r>
              <a:rPr lang="en-US" sz="1300" dirty="0">
                <a:solidFill>
                  <a:srgbClr val="EAF3FF"/>
                </a:solidFill>
                <a:latin typeface="Segoe UI" pitchFamily="34" charset="0"/>
                <a:ea typeface="Segoe UI" pitchFamily="34" charset="-122"/>
                <a:cs typeface="Segoe UI" pitchFamily="34" charset="-120"/>
              </a:rPr>
              <a:t>Matriz [Tipo de Auto] × [Ángulo de Choque] × [Tipo de Pared].
</a:t>
            </a:r>
            <a:pPr indent="0" marL="0">
              <a:lnSpc>
                <a:spcPct val="125000"/>
              </a:lnSpc>
              <a:buNone/>
            </a:pPr>
            <a:r>
              <a:rPr lang="en-US" sz="1200" dirty="0">
                <a:solidFill>
                  <a:srgbClr val="93AED4"/>
                </a:solidFill>
                <a:latin typeface="Segoe UI" pitchFamily="34" charset="0"/>
                <a:ea typeface="Segoe UI" pitchFamily="34" charset="-122"/>
                <a:cs typeface="Segoe UI" pitchFamily="34" charset="-120"/>
              </a:rPr>
              <a:t>Asegurando que {Lluvia, &gt;200 km/h} esté presente.</a:t>
            </a:r>
            <a:endParaRPr lang="en-US" sz="1500" dirty="0"/>
          </a:p>
        </p:txBody>
      </p:sp>
      <p:sp>
        <p:nvSpPr>
          <p:cNvPr id="7" name="Text 5"/>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CIERRE</a:t>
            </a:r>
            <a:endParaRPr lang="en-US" sz="1000" dirty="0"/>
          </a:p>
        </p:txBody>
      </p:sp>
      <p:sp>
        <p:nvSpPr>
          <p:cNvPr id="8" name="Text 6"/>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37 / 38</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730"/>
        </a:solidFill>
      </p:bgPr>
    </p:bg>
    <p:spTree>
      <p:nvGrpSpPr>
        <p:cNvPr id="1" name=""/>
        <p:cNvGrpSpPr/>
        <p:nvPr/>
      </p:nvGrpSpPr>
      <p:grpSpPr>
        <a:xfrm>
          <a:off x="0" y="0"/>
          <a:ext cx="0" cy="0"/>
          <a:chOff x="0" y="0"/>
          <a:chExt cx="0" cy="0"/>
        </a:xfrm>
      </p:grpSpPr>
      <p:sp>
        <p:nvSpPr>
          <p:cNvPr id="2" name="Text 0"/>
          <p:cNvSpPr/>
          <p:nvPr/>
        </p:nvSpPr>
        <p:spPr>
          <a:xfrm>
            <a:off x="640080" y="1188720"/>
            <a:ext cx="10881360" cy="365760"/>
          </a:xfrm>
          <a:prstGeom prst="rect">
            <a:avLst/>
          </a:prstGeom>
          <a:noFill/>
          <a:ln/>
        </p:spPr>
        <p:txBody>
          <a:bodyPr wrap="square" rtlCol="0" anchor="ctr"/>
          <a:lstStyle/>
          <a:p>
            <a:pPr algn="ctr" indent="0" marL="0">
              <a:buNone/>
            </a:pPr>
            <a:r>
              <a:rPr lang="en-US" sz="1200" b="1" spc="300" kern="0" dirty="0">
                <a:solidFill>
                  <a:srgbClr val="5FE3FF"/>
                </a:solidFill>
                <a:latin typeface="Consolas" pitchFamily="34" charset="0"/>
                <a:ea typeface="Consolas" pitchFamily="34" charset="-122"/>
                <a:cs typeface="Consolas" pitchFamily="34" charset="-120"/>
              </a:rPr>
              <a:t>CIERRE</a:t>
            </a:r>
            <a:endParaRPr lang="en-US" sz="1200" dirty="0"/>
          </a:p>
        </p:txBody>
      </p:sp>
      <p:sp>
        <p:nvSpPr>
          <p:cNvPr id="3" name="Text 1"/>
          <p:cNvSpPr/>
          <p:nvPr/>
        </p:nvSpPr>
        <p:spPr>
          <a:xfrm>
            <a:off x="1097280" y="1645920"/>
            <a:ext cx="9966960" cy="1554480"/>
          </a:xfrm>
          <a:prstGeom prst="rect">
            <a:avLst/>
          </a:prstGeom>
          <a:noFill/>
          <a:ln/>
        </p:spPr>
        <p:txBody>
          <a:bodyPr wrap="square" rtlCol="0" anchor="ctr"/>
          <a:lstStyle/>
          <a:p>
            <a:pPr algn="ctr" indent="0" marL="0">
              <a:buNone/>
            </a:pPr>
            <a:r>
              <a:rPr lang="en-US" sz="2800" b="1" dirty="0">
                <a:solidFill>
                  <a:srgbClr val="EAF3FF"/>
                </a:solidFill>
                <a:latin typeface="Segoe UI Semibold" pitchFamily="34" charset="0"/>
                <a:ea typeface="Segoe UI Semibold" pitchFamily="34" charset="-122"/>
                <a:cs typeface="Segoe UI Semibold" pitchFamily="34" charset="-120"/>
              </a:rPr>
              <a:t>El dominio de estas técnicas transforma a un “jugador que encuentra fallos” en un </a:t>
            </a:r>
            <a:pPr algn="ctr" indent="0" marL="0">
              <a:buNone/>
            </a:pPr>
            <a:r>
              <a:rPr lang="en-US" sz="2800" b="1" dirty="0">
                <a:solidFill>
                  <a:srgbClr val="5FE3FF"/>
                </a:solidFill>
                <a:latin typeface="Segoe UI Semibold" pitchFamily="34" charset="0"/>
                <a:ea typeface="Segoe UI Semibold" pitchFamily="34" charset="-122"/>
                <a:cs typeface="Segoe UI Semibold" pitchFamily="34" charset="-120"/>
              </a:rPr>
              <a:t>Ingeniero de Calidad</a:t>
            </a:r>
            <a:pPr algn="ctr" indent="0" marL="0">
              <a:buNone/>
            </a:pPr>
            <a:r>
              <a:rPr lang="en-US" sz="2800" b="1" dirty="0">
                <a:solidFill>
                  <a:srgbClr val="EAF3FF"/>
                </a:solidFill>
                <a:latin typeface="Segoe UI Semibold" pitchFamily="34" charset="0"/>
                <a:ea typeface="Segoe UI Semibold" pitchFamily="34" charset="-122"/>
                <a:cs typeface="Segoe UI Semibold" pitchFamily="34" charset="-120"/>
              </a:rPr>
              <a:t>.</a:t>
            </a:r>
            <a:endParaRPr lang="en-US" sz="2800" dirty="0"/>
          </a:p>
        </p:txBody>
      </p:sp>
      <p:sp>
        <p:nvSpPr>
          <p:cNvPr id="4" name="Text 2"/>
          <p:cNvSpPr/>
          <p:nvPr/>
        </p:nvSpPr>
        <p:spPr>
          <a:xfrm>
            <a:off x="1828800" y="3291840"/>
            <a:ext cx="8503920" cy="914400"/>
          </a:xfrm>
          <a:prstGeom prst="rect">
            <a:avLst/>
          </a:prstGeom>
          <a:noFill/>
          <a:ln/>
        </p:spPr>
        <p:txBody>
          <a:bodyPr wrap="square" rtlCol="0" anchor="t"/>
          <a:lstStyle/>
          <a:p>
            <a:pPr algn="ctr" indent="0" marL="0">
              <a:lnSpc>
                <a:spcPct val="130000"/>
              </a:lnSpc>
              <a:buNone/>
            </a:pPr>
            <a:r>
              <a:rPr lang="en-US" sz="1700" dirty="0">
                <a:solidFill>
                  <a:srgbClr val="C3D4EA"/>
                </a:solidFill>
                <a:latin typeface="Segoe UI" pitchFamily="34" charset="0"/>
                <a:ea typeface="Segoe UI" pitchFamily="34" charset="-122"/>
                <a:cs typeface="Segoe UI" pitchFamily="34" charset="-120"/>
              </a:rPr>
              <a:t>El rigor científico y la optimización estadística son lo único que asegura la estabilidad de productos complejos en la industria actual.</a:t>
            </a:r>
            <a:endParaRPr lang="en-US" sz="1700" dirty="0"/>
          </a:p>
        </p:txBody>
      </p:sp>
      <p:sp>
        <p:nvSpPr>
          <p:cNvPr id="5" name="Text 3"/>
          <p:cNvSpPr/>
          <p:nvPr/>
        </p:nvSpPr>
        <p:spPr>
          <a:xfrm>
            <a:off x="640080" y="4572000"/>
            <a:ext cx="10881360" cy="365760"/>
          </a:xfrm>
          <a:prstGeom prst="rect">
            <a:avLst/>
          </a:prstGeom>
          <a:noFill/>
          <a:ln/>
        </p:spPr>
        <p:txBody>
          <a:bodyPr wrap="square" rtlCol="0" anchor="ctr"/>
          <a:lstStyle/>
          <a:p>
            <a:pPr algn="ctr" indent="0" marL="0">
              <a:buNone/>
            </a:pPr>
            <a:r>
              <a:rPr lang="en-US" sz="1700" b="1" dirty="0">
                <a:solidFill>
                  <a:srgbClr val="EAF3FF"/>
                </a:solidFill>
                <a:latin typeface="Segoe UI" pitchFamily="34" charset="0"/>
                <a:ea typeface="Segoe UI" pitchFamily="34" charset="-122"/>
                <a:cs typeface="Segoe UI" pitchFamily="34" charset="-120"/>
              </a:rPr>
              <a:t>Ing. Daniela Ramírez</a:t>
            </a:r>
            <a:endParaRPr lang="en-US" sz="1700" dirty="0"/>
          </a:p>
        </p:txBody>
      </p:sp>
      <p:sp>
        <p:nvSpPr>
          <p:cNvPr id="6" name="Text 4"/>
          <p:cNvSpPr/>
          <p:nvPr/>
        </p:nvSpPr>
        <p:spPr>
          <a:xfrm>
            <a:off x="640080" y="4937760"/>
            <a:ext cx="10881360" cy="320040"/>
          </a:xfrm>
          <a:prstGeom prst="rect">
            <a:avLst/>
          </a:prstGeom>
          <a:noFill/>
          <a:ln/>
        </p:spPr>
        <p:txBody>
          <a:bodyPr wrap="square" rtlCol="0" anchor="ctr"/>
          <a:lstStyle/>
          <a:p>
            <a:pPr algn="ctr" indent="0" marL="0">
              <a:buNone/>
            </a:pPr>
            <a:r>
              <a:rPr lang="en-US" sz="1200" dirty="0">
                <a:solidFill>
                  <a:srgbClr val="93AED4"/>
                </a:solidFill>
              </a:rPr>
              <a:t>Fundamentos del Testing · Diseño según plataforma de juegos</a:t>
            </a:r>
            <a:endParaRPr lang="en-US" sz="1200" dirty="0"/>
          </a:p>
        </p:txBody>
      </p:sp>
      <p:sp>
        <p:nvSpPr>
          <p:cNvPr id="7" name="Text 5"/>
          <p:cNvSpPr/>
          <p:nvPr/>
        </p:nvSpPr>
        <p:spPr>
          <a:xfrm>
            <a:off x="640080" y="6473952"/>
            <a:ext cx="7315200" cy="274320"/>
          </a:xfrm>
          <a:prstGeom prst="rect">
            <a:avLst/>
          </a:prstGeom>
          <a:noFill/>
          <a:ln/>
        </p:spPr>
        <p:txBody>
          <a:bodyPr wrap="square" rtlCol="0" anchor="ctr"/>
          <a:lstStyle/>
          <a:p>
            <a:pPr indent="0" marL="0">
              <a:buNone/>
            </a:pPr>
            <a:r>
              <a:rPr lang="en-US" sz="1000" dirty="0">
                <a:solidFill>
                  <a:srgbClr val="93AED4"/>
                </a:solidFill>
                <a:latin typeface="Consolas" pitchFamily="34" charset="0"/>
                <a:ea typeface="Consolas" pitchFamily="34" charset="-122"/>
                <a:cs typeface="Consolas" pitchFamily="34" charset="-120"/>
              </a:rPr>
              <a:t>GRACIAS</a:t>
            </a:r>
            <a:endParaRPr lang="en-US" sz="1000" dirty="0"/>
          </a:p>
        </p:txBody>
      </p:sp>
      <p:sp>
        <p:nvSpPr>
          <p:cNvPr id="8" name="Text 6"/>
          <p:cNvSpPr/>
          <p:nvPr/>
        </p:nvSpPr>
        <p:spPr>
          <a:xfrm>
            <a:off x="9357055" y="6473952"/>
            <a:ext cx="2194560" cy="274320"/>
          </a:xfrm>
          <a:prstGeom prst="rect">
            <a:avLst/>
          </a:prstGeom>
          <a:noFill/>
          <a:ln/>
        </p:spPr>
        <p:txBody>
          <a:bodyPr wrap="square" rtlCol="0" anchor="ctr"/>
          <a:lstStyle/>
          <a:p>
            <a:pPr algn="r" indent="0" marL="0">
              <a:buNone/>
            </a:pPr>
            <a:r>
              <a:rPr lang="en-US" sz="1000" b="1" dirty="0">
                <a:solidFill>
                  <a:srgbClr val="5FE3FF"/>
                </a:solidFill>
                <a:latin typeface="Consolas" pitchFamily="34" charset="0"/>
                <a:ea typeface="Consolas" pitchFamily="34" charset="-122"/>
                <a:cs typeface="Consolas" pitchFamily="34" charset="-120"/>
              </a:rPr>
              <a:t>38 / 38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del Testing — Diseño Según Plataforma de Juegos</dc:title>
  <dc:subject>PptxGenJS Presentation</dc:subject>
  <dc:creator>Ing. Daniela Ramírez</dc:creator>
  <cp:lastModifiedBy>Ing. Daniela Ramírez</cp:lastModifiedBy>
  <cp:revision>1</cp:revision>
  <dcterms:created xsi:type="dcterms:W3CDTF">2026-08-25T17:41:40Z</dcterms:created>
  <dcterms:modified xsi:type="dcterms:W3CDTF">2026-08-25T17:41:40Z</dcterms:modified>
</cp:coreProperties>
</file>