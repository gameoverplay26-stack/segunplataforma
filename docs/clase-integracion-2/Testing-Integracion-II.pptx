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Portada. Misma base que la clase anterior: el proyecto nave + asteroides y su TestSuite de 7 tests.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Ya se trabajó en la clase anterior: niveles vs. tipos, Play Mode ≠ integración, clasificación de estos 7 tests, el hueco del HUD (score vs. scoreText) y las esperas fijas. NO repetir: se usa como punto de partida. Huecos que abre esta clase: (1) no hay negativos ni bordes; (2) 03 parte de un Game Over falso (isGameOver = true a mano); (3) los tests no limpian asteroides ni láseres; (4) nada ejercita la entrada del jugador.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objetivos siguen el orden de los cuatro bloques de la clase.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Proporción: ~31 % teoría, ~14 % demostración, ~38 % práctica, ~17 % resolución. Las resoluciones se hacen en plenario inmediatamente después de cada actividad.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Las cuatro preguntas son el mapa de la clase: 1 → Actividad 3 (INT-AST-14); 2 → Actividad 2 (INT-AST-13); 3 → Actividad 1 (INT-AST-11); 4 → Bloque 4 (cobertura). Mostrar la imagen de Summary.md del reporte real (CodeCoverage/Report).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Retoma partición de equivalencia y valores frontera (Unidad I) pero aplicados a interacciones entre componentes, no a un método aislado. Aclarar el error frecuente: 'caso negativo' no significa 'test que tiene que fallar'.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 demo. Demo sugerida (4 min): en el Editor, pausar y avanzar frame a frame (Step) mientras dos láseres llegan a un asteroide, para mostrar que ambos OnCollisionEnter ocurren antes de que Destroy se haga efectivo al final del frame.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formato de ficha que usarán en las actividades (8 campos). En el juego real los asteroides aparecen en x aleatoria entre −8 y 8 (Spawner.cs 101–107), así que el choque entre asteroides es posible. [A VERIFICAR] que los prefabs de asteroides tengan Rigidbody y collider no-trigger: el proyecto no incluye la carpeta Assets/ en el repositorio.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 diseñar casos positivos y negativos sin duplicar la suite. Resultado esperado: 6 fichas completas. Discusión: ¿un caso negativo necesita datos de prueba especiales? ¿qué positivo nuevo aporta más que otro assert en un test existente? Resolución en la diapositiva siguiente.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Puntos de discusión: (1) el flujo B ya tiene positivos (02 y 04): aceptar que un grupo proponga 'GameOver muestra el texto de Game Over' (gameOverText, Game.cs 64) como positivo válido; (2) INT-AST-08 reemplaza con ventaja a 03, que simula el Game Over poniendo isGameOver = true a mano: un estado que el juego nunca produce así; (3) INT-AST-10 necesita un objeto de prueba (un cubo con collider) que no existe en el juego: primer ejemplo de dato de prueba artificial. [A VERIFICAR] que el prefab del láser tenga Rigidbody; si no, el cubo necesita uno para que ocurra OnCollisionEnter.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 aplicar valores frontera a interacciones. Resultado esperado: 5 filas con valores concretos y al menos 2 filas marcadas ⚠. Discusión: diferencia entre un borde con respuesta en el código (y = −5) y uno que requiere decisión de diseño (un láser contra dos asteroides).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Las filas ⚠ no se resuelven por inferencia: se registran como pregunta al diseño y el caso queda pendiente hasta tener respuesta. INT-AST-13 (hipótesis por lectura de código): ambos Laser.OnCollisionEnter corren antes de que Destroy se haga efectivo → Game.AsteroidDestroyed() se llama dos veces (score 2) y el segundo spawner.asteroids.Release(...) debería lanzar InvalidOperationException, porque el ObjectPool controla dobles liberaciones (collectionCheck). Un test de Unity falla ante una excepción no esperada en el log. Confirmarlo ejecutando antes de afirmarlo en clase.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Idea clave: aislamiento = cada test puede correr solo y en cualquier orden con el mismo resultado. Los tres problemas son reales en el código; su efecto concreto depende del orden de ejecución (ver la diapositiva de tests frágiles).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de 5 min comparando con TestSuite.cs 40–51. [UnitySetUp] y [UnityTearDown] son atributos del Unity Test Framework que permiten usar yield. FindObjectsByType por defecto ignora objetos inactivos: la plantilla inactiva del láser, si está dentro del prefab, no se toca. Sin evidencia de ejecución, el estado de esta fixture es UNKNOWN.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Ejemplo concreto (depende del orden, no confirmado ejecutando): el test 04 (TestSuite.cs 88–115) compara la cantidad de asteroides antes y después de esperar 0,5 s. Si un asteroide sobrante de un test anterior cae por debajo de y = −5 durante esa espera, el conteo baja y el test FALLA aunque el spawner se haya detenido → falso positivo. Al revés: si el spawner NO se detuvo pero en ese lapso uno sobrante se autodestruye, los conteos pueden coincidir y el test PASA → falso negativo. Fuente: martinfowler.com/articles/nonDeterminism.html.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Detalle Unity: un GameObject destruido no es null de C#, pero «== null» devuelve true por la sobrecarga de UnityEngine.Object. NUnit Assert.IsNull(obj) puede no detectarlo; por eso Assert.IsTrue(obj == null).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la salida mostrada es una PREDICCIÓN hecha leyendo el código, no una ejecución. Correr el test antes de la clase y reemplazar la salida por la real. Objetivo: practicar el análisis de causa raíz de un fallo de integración. Resultado esperado: una cadena causal con archivo y líneas, más un ticket. Discusión: ¿cómo sabemos que el resultado esperado es correcto? (ver resolución).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(1) ¿Juego o test? El test está bien construido: el asteroide está lejos de la nave, el spawner automático recién crea uno nuevo a los 0,4 s y se espera 1 frame. El nombre ClearAsteroids sugiere la intención, pero NO inferir el requisito: confirmarlo con diseño. Si el diseño dijera que los asteroides deben seguir cayendo, el que está mal es el test. (2) Causa: el pool se construye con SpawnAsteroid como función de creación (Spawner.cs 52–53) pero nunca se llama a Get(); SpawnAsteroid se usa directo. Laser.cs 52 hace Release de objetos que nunca se pidieron al pool. (3) Impacto: con un reinicio rápido, un asteroide viejo puede chocar la nave en (0,0,0) → Game Over inmediato. (4) Ticket con pasos, esperado/actual y evidencia (salida del test). (5) Regresión: el test queda en rojo hasta el arreglo y luego protege contra la reaparición del defecto.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Advertencia: con demasiados dobles, el test deja de ser de integración y se vuelve unitario. Dependencias reales del proyecto y su estrategia: Input (Ship.cs 61–71) → reemplazar o evitar; Random (Spawner.cs 75, 103) → controlar con semilla, sin doble; tiempo (corrutinas de 0,4 s) → esperar por condición; física → WaitForFixedUpdate; estado estático (Game.instance) → fixture. El proyecto no tiene sistemas externos (red, archivos, tiendas): ese tema queda para una clase futura. Fuente: martinfowler.com/bliki/TestDouble.html.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de demo del problema + discusión. Conecta con la clase de plataformas: la misma separación de la entrada que permite portar a móvil permite testear la regla. No instalar el paquete Input System sin autorización. En el reporte de cobertura, Ship.cs 61–74 figura como no ejecutado.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+ 3 de demo abriendo el reporte. Datos verificados leyendo los archivos: Summary.md indica 'MultiReportParser (6x OpenCoverParser)', 18 archivos para 6 clases y 644 líneas coverables sobre 616 totales (inconsistente: el resumen suma corridas). Tests_TestSuite.html muestra ejecutadas solo las líneas de GameOverStopsSpawningAndDisablesShip. Recomendación: regenerar el reporte con la suite completa en una carpeta limpia antes de la clase. Paquete: Code Coverage de Unity (docs.unity3d.com/Packages/com.unity.testtools.codecoverage@1.2).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Un test de regresión que nunca se vio en rojo no demuestra que detecta el defecto: por eso primero se lo ve fallar.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 priorizar y organizar, no escribir código. Resultado esperado: una tabla de ≤12 tests con justificación. Discusión: ¿fusionar dos tests mejora o empeora el diagnóstico cuando uno falla? ¿Qué se corre en cada commit y qué de noche?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Suite final: 11 tests. Justificaciones: 03 simula un Game Over que el juego no produce y 08 lo cubre con el flujo real; 07 queda absorbido por 09, que verifica el puntaje y el texto (contra: si falla 09 hay que mirar el mensaje del Assert para saber cuál de los dos falló); 01 y 05 verifican el movimiento de un componente: pueden ir a una carpeta de tests por componente. 13 y 15 son hipótesis: si al ejecutarlos pasan, igual quedan como protección. Criterio de independencia: cada test debe poder correr solo y en cualquier orden.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Si sobra tiempo: ¿qué test de la suite actual les da menos confianza y por qué?</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Fichas completas (8 campos) de cada caso en la guía entregada junto con esta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Referencias verificadas: Unity Test Framework (docs.unity3d.com/Packages/com.unity.test-framework@1.4), Input System Testing (docs.unity3d.com/Packages/com.unity.inputsystem@1.11/manual/Testing.html), LogAssert (docs.unity3d.com/Packages/com.unity.test-framework@1.4/api/UnityEngine.TestTools.LogAssert.html), ObjectPool (docs.unity3d.com/ScriptReference/Pool.ObjectPool_1.html).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10332720" cy="457200"/>
          </a:xfrm>
          <a:prstGeom prst="rect">
            <a:avLst/>
          </a:prstGeom>
          <a:noFill/>
        </p:spPr>
        <p:txBody>
          <a:bodyPr wrap="square" anchor="t" lIns="0" rIns="0" tIns="0" bIns="0">
            <a:spAutoFit/>
          </a:bodyPr>
          <a:lstStyle/>
          <a:p>
            <a:pPr algn="l"/>
            <a:r>
              <a:rPr sz="2000" b="1" i="0">
                <a:solidFill>
                  <a:srgbClr val="9CC9C5"/>
                </a:solidFill>
                <a:latin typeface="Calibri"/>
              </a:rPr>
              <a:t>CONTINUACIÓN DE «TESTING DE INTEGRACIÓN»</a:t>
            </a:r>
          </a:p>
        </p:txBody>
      </p:sp>
      <p:sp>
        <p:nvSpPr>
          <p:cNvPr id="5" name="TextBox 4"/>
          <p:cNvSpPr txBox="1"/>
          <p:nvPr/>
        </p:nvSpPr>
        <p:spPr>
          <a:xfrm>
            <a:off x="914400" y="2240280"/>
            <a:ext cx="10332720" cy="1280160"/>
          </a:xfrm>
          <a:prstGeom prst="rect">
            <a:avLst/>
          </a:prstGeom>
          <a:noFill/>
        </p:spPr>
        <p:txBody>
          <a:bodyPr wrap="square" anchor="t" lIns="0" rIns="0" tIns="0" bIns="0">
            <a:spAutoFit/>
          </a:bodyPr>
          <a:lstStyle/>
          <a:p>
            <a:pPr algn="l"/>
            <a:r>
              <a:rPr sz="4200" b="1" i="0">
                <a:solidFill>
                  <a:srgbClr val="FFFFFF"/>
                </a:solidFill>
                <a:latin typeface="Calibri"/>
              </a:rPr>
              <a:t>Testing de integración II</a:t>
            </a:r>
          </a:p>
        </p:txBody>
      </p:sp>
      <p:sp>
        <p:nvSpPr>
          <p:cNvPr id="6" name="TextBox 5"/>
          <p:cNvSpPr txBox="1"/>
          <p:nvPr/>
        </p:nvSpPr>
        <p:spPr>
          <a:xfrm>
            <a:off x="914400" y="3520440"/>
            <a:ext cx="10332720" cy="548640"/>
          </a:xfrm>
          <a:prstGeom prst="rect">
            <a:avLst/>
          </a:prstGeom>
          <a:noFill/>
        </p:spPr>
        <p:txBody>
          <a:bodyPr wrap="square" anchor="t" lIns="0" rIns="0" tIns="0" bIns="0">
            <a:spAutoFit/>
          </a:bodyPr>
          <a:lstStyle/>
          <a:p>
            <a:pPr algn="l"/>
            <a:r>
              <a:rPr sz="2000" b="0" i="0">
                <a:solidFill>
                  <a:srgbClr val="D1D5DB"/>
                </a:solidFill>
                <a:latin typeface="Calibri"/>
              </a:rPr>
              <a:t>De 7 tests a una estrategia · Diseño según Plataformas de Juego · 120 min</a:t>
            </a:r>
          </a:p>
        </p:txBody>
      </p:sp>
      <p:sp>
        <p:nvSpPr>
          <p:cNvPr id="7" name="TextBox 6"/>
          <p:cNvSpPr txBox="1"/>
          <p:nvPr/>
        </p:nvSpPr>
        <p:spPr>
          <a:xfrm>
            <a:off x="914400" y="4389120"/>
            <a:ext cx="10332720" cy="457200"/>
          </a:xfrm>
          <a:prstGeom prst="rect">
            <a:avLst/>
          </a:prstGeom>
          <a:noFill/>
        </p:spPr>
        <p:txBody>
          <a:bodyPr wrap="square" anchor="t" lIns="0" rIns="0" tIns="0" bIns="0">
            <a:spAutoFit/>
          </a:bodyPr>
          <a:lstStyle/>
          <a:p>
            <a:pPr algn="l"/>
            <a:r>
              <a:rPr sz="1400" b="0" i="1">
                <a:solidFill>
                  <a:srgbClr val="9CC9C5"/>
                </a:solidFill>
                <a:latin typeface="Calibri"/>
              </a:rPr>
              <a:t>Ing. Elsa Daniela Ramírez · FI – UNJu · 2026</a:t>
            </a:r>
          </a:p>
        </p:txBody>
      </p:sp>
      <p:sp>
        <p:nvSpPr>
          <p:cNvPr id="8" name="TextBox 7"/>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9" name="TextBox 8"/>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DIAGNÓSTICO · CLASE ANTERIOR</a:t>
            </a:r>
          </a:p>
          <a:p>
            <a:r>
              <a:rPr sz="2600" b="1" i="0">
                <a:solidFill>
                  <a:srgbClr val="FFFFFF"/>
                </a:solidFill>
                <a:latin typeface="Calibri"/>
              </a:rPr>
              <a:t>Dónde quedamos: la suite actual</a:t>
            </a:r>
          </a:p>
        </p:txBody>
      </p:sp>
      <p:graphicFrame>
        <p:nvGraphicFramePr>
          <p:cNvPr id="6" name="Table 5"/>
          <p:cNvGraphicFramePr>
            <a:graphicFrameLocks noGrp="1"/>
          </p:cNvGraphicFramePr>
          <p:nvPr/>
        </p:nvGraphicFramePr>
        <p:xfrm>
          <a:off x="502920" y="1280160"/>
          <a:ext cx="11185853" cy="2633472"/>
        </p:xfrm>
        <a:graphic>
          <a:graphicData uri="http://schemas.openxmlformats.org/drawingml/2006/table">
            <a:tbl>
              <a:tblPr firstRow="1" bandRow="1">
                <a:tableStyleId>{5C22544A-7EE6-4342-B048-85BDC9FD1C3A}</a:tableStyleId>
              </a:tblPr>
              <a:tblGrid>
                <a:gridCol w="517863"/>
                <a:gridCol w="4350054"/>
                <a:gridCol w="4453627"/>
                <a:gridCol w="1864309"/>
              </a:tblGrid>
              <a:tr h="329184">
                <a:tc>
                  <a:txBody>
                    <a:bodyPr/>
                    <a:lstStyle/>
                    <a:p>
                      <a:r>
                        <a:rPr sz="1400" b="1" i="0">
                          <a:solidFill>
                            <a:srgbClr val="FFFFFF"/>
                          </a:solidFill>
                          <a:latin typeface="Calibri"/>
                        </a:rPr>
                        <a:t>#</a:t>
                      </a:r>
                    </a:p>
                  </a:txBody>
                  <a:tcPr>
                    <a:solidFill>
                      <a:srgbClr val="1F2A44"/>
                    </a:solidFill>
                  </a:tcPr>
                </a:tc>
                <a:tc>
                  <a:txBody>
                    <a:bodyPr/>
                    <a:lstStyle/>
                    <a:p>
                      <a:r>
                        <a:rPr sz="1400" b="1" i="0">
                          <a:solidFill>
                            <a:srgbClr val="FFFFFF"/>
                          </a:solidFill>
                          <a:latin typeface="Calibri"/>
                        </a:rPr>
                        <a:t>Test (TestSuite.cs)</a:t>
                      </a:r>
                    </a:p>
                  </a:txBody>
                  <a:tcPr>
                    <a:solidFill>
                      <a:srgbClr val="1F2A44"/>
                    </a:solidFill>
                  </a:tcPr>
                </a:tc>
                <a:tc>
                  <a:txBody>
                    <a:bodyPr/>
                    <a:lstStyle/>
                    <a:p>
                      <a:r>
                        <a:rPr sz="1400" b="1" i="0">
                          <a:solidFill>
                            <a:srgbClr val="FFFFFF"/>
                          </a:solidFill>
                          <a:latin typeface="Calibri"/>
                        </a:rPr>
                        <a:t>Flujo que cubre</a:t>
                      </a:r>
                    </a:p>
                  </a:txBody>
                  <a:tcPr>
                    <a:solidFill>
                      <a:srgbClr val="1F2A44"/>
                    </a:solidFill>
                  </a:tcPr>
                </a:tc>
                <a:tc>
                  <a:txBody>
                    <a:bodyPr/>
                    <a:lstStyle/>
                    <a:p>
                      <a:r>
                        <a:rPr sz="1400" b="1" i="0">
                          <a:solidFill>
                            <a:srgbClr val="FFFFFF"/>
                          </a:solidFill>
                          <a:latin typeface="Calibri"/>
                        </a:rPr>
                        <a:t>Tipo de caso</a:t>
                      </a:r>
                    </a:p>
                  </a:txBody>
                  <a:tcPr>
                    <a:solidFill>
                      <a:srgbClr val="1F2A44"/>
                    </a:solidFill>
                  </a:tcPr>
                </a:tc>
              </a:tr>
              <a:tr h="329184">
                <a:tc>
                  <a:txBody>
                    <a:bodyPr/>
                    <a:lstStyle/>
                    <a:p>
                      <a:r>
                        <a:rPr sz="1300" b="1" i="0">
                          <a:solidFill>
                            <a:srgbClr val="1F2937"/>
                          </a:solidFill>
                          <a:latin typeface="Calibri"/>
                        </a:rPr>
                        <a:t>01</a:t>
                      </a:r>
                    </a:p>
                  </a:txBody>
                  <a:tcPr marT="36576" marB="36576">
                    <a:solidFill>
                      <a:srgbClr val="FFFFFF"/>
                    </a:solidFill>
                  </a:tcPr>
                </a:tc>
                <a:tc>
                  <a:txBody>
                    <a:bodyPr/>
                    <a:lstStyle/>
                    <a:p>
                      <a:r>
                        <a:rPr sz="1300" b="0" i="0">
                          <a:solidFill>
                            <a:srgbClr val="1F2937"/>
                          </a:solidFill>
                          <a:latin typeface="Calibri"/>
                        </a:rPr>
                        <a:t>AsteroidsMoveDown</a:t>
                      </a:r>
                    </a:p>
                  </a:txBody>
                  <a:tcPr marT="36576" marB="36576">
                    <a:solidFill>
                      <a:srgbClr val="FFFFFF"/>
                    </a:solidFill>
                  </a:tcPr>
                </a:tc>
                <a:tc>
                  <a:txBody>
                    <a:bodyPr/>
                    <a:lstStyle/>
                    <a:p>
                      <a:r>
                        <a:rPr sz="1300" b="0" i="0">
                          <a:solidFill>
                            <a:srgbClr val="1F2937"/>
                          </a:solidFill>
                          <a:latin typeface="Calibri"/>
                        </a:rPr>
                        <a:t>El asteroide se desplaza</a:t>
                      </a:r>
                    </a:p>
                  </a:txBody>
                  <a:tcPr marT="36576" marB="36576">
                    <a:solidFill>
                      <a:srgbClr val="FFFFFF"/>
                    </a:solidFill>
                  </a:tcPr>
                </a:tc>
                <a:tc>
                  <a:txBody>
                    <a:bodyPr/>
                    <a:lstStyle/>
                    <a:p>
                      <a:r>
                        <a:rPr sz="1300" b="0" i="0">
                          <a:solidFill>
                            <a:srgbClr val="1F2937"/>
                          </a:solidFill>
                          <a:latin typeface="Calibri"/>
                        </a:rPr>
                        <a:t>Positivo</a:t>
                      </a:r>
                    </a:p>
                  </a:txBody>
                  <a:tcPr marT="36576" marB="36576">
                    <a:solidFill>
                      <a:srgbClr val="FFFFFF"/>
                    </a:solidFill>
                  </a:tcPr>
                </a:tc>
              </a:tr>
              <a:tr h="329184">
                <a:tc>
                  <a:txBody>
                    <a:bodyPr/>
                    <a:lstStyle/>
                    <a:p>
                      <a:r>
                        <a:rPr sz="1300" b="1" i="0">
                          <a:solidFill>
                            <a:srgbClr val="1F2937"/>
                          </a:solidFill>
                          <a:latin typeface="Calibri"/>
                        </a:rPr>
                        <a:t>02</a:t>
                      </a:r>
                    </a:p>
                  </a:txBody>
                  <a:tcPr marT="36576" marB="36576">
                    <a:solidFill>
                      <a:srgbClr val="F3F4F6"/>
                    </a:solidFill>
                  </a:tcPr>
                </a:tc>
                <a:tc>
                  <a:txBody>
                    <a:bodyPr/>
                    <a:lstStyle/>
                    <a:p>
                      <a:r>
                        <a:rPr sz="1300" b="0" i="0">
                          <a:solidFill>
                            <a:srgbClr val="1F2937"/>
                          </a:solidFill>
                          <a:latin typeface="Calibri"/>
                        </a:rPr>
                        <a:t>GameOverOccursOnAsteroidCollision</a:t>
                      </a:r>
                    </a:p>
                  </a:txBody>
                  <a:tcPr marT="36576" marB="36576">
                    <a:solidFill>
                      <a:srgbClr val="F3F4F6"/>
                    </a:solidFill>
                  </a:tcPr>
                </a:tc>
                <a:tc>
                  <a:txBody>
                    <a:bodyPr/>
                    <a:lstStyle/>
                    <a:p>
                      <a:r>
                        <a:rPr sz="1300" b="0" i="0">
                          <a:solidFill>
                            <a:srgbClr val="1F2937"/>
                          </a:solidFill>
                          <a:latin typeface="Calibri"/>
                        </a:rPr>
                        <a:t>Asteroide + nave → Game Over</a:t>
                      </a:r>
                    </a:p>
                  </a:txBody>
                  <a:tcPr marT="36576" marB="36576">
                    <a:solidFill>
                      <a:srgbClr val="F3F4F6"/>
                    </a:solidFill>
                  </a:tcPr>
                </a:tc>
                <a:tc>
                  <a:txBody>
                    <a:bodyPr/>
                    <a:lstStyle/>
                    <a:p>
                      <a:r>
                        <a:rPr sz="1300" b="0" i="0">
                          <a:solidFill>
                            <a:srgbClr val="1F2937"/>
                          </a:solidFill>
                          <a:latin typeface="Calibri"/>
                        </a:rPr>
                        <a:t>Positivo</a:t>
                      </a:r>
                    </a:p>
                  </a:txBody>
                  <a:tcPr marT="36576" marB="36576">
                    <a:solidFill>
                      <a:srgbClr val="F3F4F6"/>
                    </a:solidFill>
                  </a:tcPr>
                </a:tc>
              </a:tr>
              <a:tr h="329184">
                <a:tc>
                  <a:txBody>
                    <a:bodyPr/>
                    <a:lstStyle/>
                    <a:p>
                      <a:r>
                        <a:rPr sz="1300" b="1" i="0">
                          <a:solidFill>
                            <a:srgbClr val="1F2937"/>
                          </a:solidFill>
                          <a:latin typeface="Calibri"/>
                        </a:rPr>
                        <a:t>03</a:t>
                      </a:r>
                    </a:p>
                  </a:txBody>
                  <a:tcPr marT="36576" marB="36576">
                    <a:solidFill>
                      <a:srgbClr val="FFFFFF"/>
                    </a:solidFill>
                  </a:tcPr>
                </a:tc>
                <a:tc>
                  <a:txBody>
                    <a:bodyPr/>
                    <a:lstStyle/>
                    <a:p>
                      <a:r>
                        <a:rPr sz="1300" b="0" i="0">
                          <a:solidFill>
                            <a:srgbClr val="1F2937"/>
                          </a:solidFill>
                          <a:latin typeface="Calibri"/>
                        </a:rPr>
                        <a:t>NewGameRestartsGame</a:t>
                      </a:r>
                    </a:p>
                  </a:txBody>
                  <a:tcPr marT="36576" marB="36576">
                    <a:solidFill>
                      <a:srgbClr val="FFFFFF"/>
                    </a:solidFill>
                  </a:tcPr>
                </a:tc>
                <a:tc>
                  <a:txBody>
                    <a:bodyPr/>
                    <a:lstStyle/>
                    <a:p>
                      <a:r>
                        <a:rPr sz="1300" b="0" i="0">
                          <a:solidFill>
                            <a:srgbClr val="1F2937"/>
                          </a:solidFill>
                          <a:latin typeface="Calibri"/>
                        </a:rPr>
                        <a:t>Reinicio (Game Over simulado a mano)</a:t>
                      </a:r>
                    </a:p>
                  </a:txBody>
                  <a:tcPr marT="36576" marB="36576">
                    <a:solidFill>
                      <a:srgbClr val="FFFFFF"/>
                    </a:solidFill>
                  </a:tcPr>
                </a:tc>
                <a:tc>
                  <a:txBody>
                    <a:bodyPr/>
                    <a:lstStyle/>
                    <a:p>
                      <a:r>
                        <a:rPr sz="1300" b="0" i="0">
                          <a:solidFill>
                            <a:srgbClr val="1F2937"/>
                          </a:solidFill>
                          <a:latin typeface="Calibri"/>
                        </a:rPr>
                        <a:t>Positivo</a:t>
                      </a:r>
                    </a:p>
                  </a:txBody>
                  <a:tcPr marT="36576" marB="36576">
                    <a:solidFill>
                      <a:srgbClr val="FFFFFF"/>
                    </a:solidFill>
                  </a:tcPr>
                </a:tc>
              </a:tr>
              <a:tr h="329184">
                <a:tc>
                  <a:txBody>
                    <a:bodyPr/>
                    <a:lstStyle/>
                    <a:p>
                      <a:r>
                        <a:rPr sz="1300" b="1" i="0">
                          <a:solidFill>
                            <a:srgbClr val="1F2937"/>
                          </a:solidFill>
                          <a:latin typeface="Calibri"/>
                        </a:rPr>
                        <a:t>04</a:t>
                      </a:r>
                    </a:p>
                  </a:txBody>
                  <a:tcPr marT="36576" marB="36576">
                    <a:solidFill>
                      <a:srgbClr val="F3F4F6"/>
                    </a:solidFill>
                  </a:tcPr>
                </a:tc>
                <a:tc>
                  <a:txBody>
                    <a:bodyPr/>
                    <a:lstStyle/>
                    <a:p>
                      <a:r>
                        <a:rPr sz="1300" b="0" i="0">
                          <a:solidFill>
                            <a:srgbClr val="1F2937"/>
                          </a:solidFill>
                          <a:latin typeface="Calibri"/>
                        </a:rPr>
                        <a:t>GameOverStopsSpawningAndDisablesShip</a:t>
                      </a:r>
                    </a:p>
                  </a:txBody>
                  <a:tcPr marT="36576" marB="36576">
                    <a:solidFill>
                      <a:srgbClr val="F3F4F6"/>
                    </a:solidFill>
                  </a:tcPr>
                </a:tc>
                <a:tc>
                  <a:txBody>
                    <a:bodyPr/>
                    <a:lstStyle/>
                    <a:p>
                      <a:r>
                        <a:rPr sz="1300" b="0" i="0">
                          <a:solidFill>
                            <a:srgbClr val="1F2937"/>
                          </a:solidFill>
                          <a:latin typeface="Calibri"/>
                        </a:rPr>
                        <a:t>Game Over detiene spawner y nave</a:t>
                      </a:r>
                    </a:p>
                  </a:txBody>
                  <a:tcPr marT="36576" marB="36576">
                    <a:solidFill>
                      <a:srgbClr val="F3F4F6"/>
                    </a:solidFill>
                  </a:tcPr>
                </a:tc>
                <a:tc>
                  <a:txBody>
                    <a:bodyPr/>
                    <a:lstStyle/>
                    <a:p>
                      <a:r>
                        <a:rPr sz="1300" b="0" i="0">
                          <a:solidFill>
                            <a:srgbClr val="1F2937"/>
                          </a:solidFill>
                          <a:latin typeface="Calibri"/>
                        </a:rPr>
                        <a:t>Positivo</a:t>
                      </a:r>
                    </a:p>
                  </a:txBody>
                  <a:tcPr marT="36576" marB="36576">
                    <a:solidFill>
                      <a:srgbClr val="F3F4F6"/>
                    </a:solidFill>
                  </a:tcPr>
                </a:tc>
              </a:tr>
              <a:tr h="329184">
                <a:tc>
                  <a:txBody>
                    <a:bodyPr/>
                    <a:lstStyle/>
                    <a:p>
                      <a:r>
                        <a:rPr sz="1300" b="1" i="0">
                          <a:solidFill>
                            <a:srgbClr val="1F2937"/>
                          </a:solidFill>
                          <a:latin typeface="Calibri"/>
                        </a:rPr>
                        <a:t>05</a:t>
                      </a:r>
                    </a:p>
                  </a:txBody>
                  <a:tcPr marT="36576" marB="36576">
                    <a:solidFill>
                      <a:srgbClr val="FFFFFF"/>
                    </a:solidFill>
                  </a:tcPr>
                </a:tc>
                <a:tc>
                  <a:txBody>
                    <a:bodyPr/>
                    <a:lstStyle/>
                    <a:p>
                      <a:r>
                        <a:rPr sz="1300" b="0" i="0">
                          <a:solidFill>
                            <a:srgbClr val="1F2937"/>
                          </a:solidFill>
                          <a:latin typeface="Calibri"/>
                        </a:rPr>
                        <a:t>LaserMovesUp</a:t>
                      </a:r>
                    </a:p>
                  </a:txBody>
                  <a:tcPr marT="36576" marB="36576">
                    <a:solidFill>
                      <a:srgbClr val="FFFFFF"/>
                    </a:solidFill>
                  </a:tcPr>
                </a:tc>
                <a:tc>
                  <a:txBody>
                    <a:bodyPr/>
                    <a:lstStyle/>
                    <a:p>
                      <a:r>
                        <a:rPr sz="1300" b="0" i="0">
                          <a:solidFill>
                            <a:srgbClr val="1F2937"/>
                          </a:solidFill>
                          <a:latin typeface="Calibri"/>
                        </a:rPr>
                        <a:t>El láser se desplaza</a:t>
                      </a:r>
                    </a:p>
                  </a:txBody>
                  <a:tcPr marT="36576" marB="36576">
                    <a:solidFill>
                      <a:srgbClr val="FFFFFF"/>
                    </a:solidFill>
                  </a:tcPr>
                </a:tc>
                <a:tc>
                  <a:txBody>
                    <a:bodyPr/>
                    <a:lstStyle/>
                    <a:p>
                      <a:r>
                        <a:rPr sz="1300" b="0" i="0">
                          <a:solidFill>
                            <a:srgbClr val="1F2937"/>
                          </a:solidFill>
                          <a:latin typeface="Calibri"/>
                        </a:rPr>
                        <a:t>Positivo</a:t>
                      </a:r>
                    </a:p>
                  </a:txBody>
                  <a:tcPr marT="36576" marB="36576">
                    <a:solidFill>
                      <a:srgbClr val="FFFFFF"/>
                    </a:solidFill>
                  </a:tcPr>
                </a:tc>
              </a:tr>
              <a:tr h="329184">
                <a:tc>
                  <a:txBody>
                    <a:bodyPr/>
                    <a:lstStyle/>
                    <a:p>
                      <a:r>
                        <a:rPr sz="1300" b="1" i="0">
                          <a:solidFill>
                            <a:srgbClr val="1F2937"/>
                          </a:solidFill>
                          <a:latin typeface="Calibri"/>
                        </a:rPr>
                        <a:t>06</a:t>
                      </a:r>
                    </a:p>
                  </a:txBody>
                  <a:tcPr marT="36576" marB="36576">
                    <a:solidFill>
                      <a:srgbClr val="F3F4F6"/>
                    </a:solidFill>
                  </a:tcPr>
                </a:tc>
                <a:tc>
                  <a:txBody>
                    <a:bodyPr/>
                    <a:lstStyle/>
                    <a:p>
                      <a:r>
                        <a:rPr sz="1300" b="0" i="0">
                          <a:solidFill>
                            <a:srgbClr val="1F2937"/>
                          </a:solidFill>
                          <a:latin typeface="Calibri"/>
                        </a:rPr>
                        <a:t>LaserDestroysAsteroid</a:t>
                      </a:r>
                    </a:p>
                  </a:txBody>
                  <a:tcPr marT="36576" marB="36576">
                    <a:solidFill>
                      <a:srgbClr val="F3F4F6"/>
                    </a:solidFill>
                  </a:tcPr>
                </a:tc>
                <a:tc>
                  <a:txBody>
                    <a:bodyPr/>
                    <a:lstStyle/>
                    <a:p>
                      <a:r>
                        <a:rPr sz="1300" b="0" i="0">
                          <a:solidFill>
                            <a:srgbClr val="1F2937"/>
                          </a:solidFill>
                          <a:latin typeface="Calibri"/>
                        </a:rPr>
                        <a:t>Láser + asteroide → destrucción</a:t>
                      </a:r>
                    </a:p>
                  </a:txBody>
                  <a:tcPr marT="36576" marB="36576">
                    <a:solidFill>
                      <a:srgbClr val="F3F4F6"/>
                    </a:solidFill>
                  </a:tcPr>
                </a:tc>
                <a:tc>
                  <a:txBody>
                    <a:bodyPr/>
                    <a:lstStyle/>
                    <a:p>
                      <a:r>
                        <a:rPr sz="1300" b="0" i="0">
                          <a:solidFill>
                            <a:srgbClr val="1F2937"/>
                          </a:solidFill>
                          <a:latin typeface="Calibri"/>
                        </a:rPr>
                        <a:t>Positivo</a:t>
                      </a:r>
                    </a:p>
                  </a:txBody>
                  <a:tcPr marT="36576" marB="36576">
                    <a:solidFill>
                      <a:srgbClr val="F3F4F6"/>
                    </a:solidFill>
                  </a:tcPr>
                </a:tc>
              </a:tr>
              <a:tr h="329184">
                <a:tc>
                  <a:txBody>
                    <a:bodyPr/>
                    <a:lstStyle/>
                    <a:p>
                      <a:r>
                        <a:rPr sz="1300" b="1" i="0">
                          <a:solidFill>
                            <a:srgbClr val="1F2937"/>
                          </a:solidFill>
                          <a:latin typeface="Calibri"/>
                        </a:rPr>
                        <a:t>07</a:t>
                      </a:r>
                    </a:p>
                  </a:txBody>
                  <a:tcPr marT="36576" marB="36576">
                    <a:solidFill>
                      <a:srgbClr val="FFFFFF"/>
                    </a:solidFill>
                  </a:tcPr>
                </a:tc>
                <a:tc>
                  <a:txBody>
                    <a:bodyPr/>
                    <a:lstStyle/>
                    <a:p>
                      <a:r>
                        <a:rPr sz="1300" b="0" i="0">
                          <a:solidFill>
                            <a:srgbClr val="1F2937"/>
                          </a:solidFill>
                          <a:latin typeface="Calibri"/>
                        </a:rPr>
                        <a:t>DestroyedAsteroidRaisesScore</a:t>
                      </a:r>
                    </a:p>
                  </a:txBody>
                  <a:tcPr marT="36576" marB="36576">
                    <a:solidFill>
                      <a:srgbClr val="FFFFFF"/>
                    </a:solidFill>
                  </a:tcPr>
                </a:tc>
                <a:tc>
                  <a:txBody>
                    <a:bodyPr/>
                    <a:lstStyle/>
                    <a:p>
                      <a:r>
                        <a:rPr sz="1300" b="0" i="0">
                          <a:solidFill>
                            <a:srgbClr val="1F2937"/>
                          </a:solidFill>
                          <a:latin typeface="Calibri"/>
                        </a:rPr>
                        <a:t>Láser + asteroide → puntaje</a:t>
                      </a:r>
                    </a:p>
                  </a:txBody>
                  <a:tcPr marT="36576" marB="36576">
                    <a:solidFill>
                      <a:srgbClr val="FFFFFF"/>
                    </a:solidFill>
                  </a:tcPr>
                </a:tc>
                <a:tc>
                  <a:txBody>
                    <a:bodyPr/>
                    <a:lstStyle/>
                    <a:p>
                      <a:r>
                        <a:rPr sz="1300" b="0" i="0">
                          <a:solidFill>
                            <a:srgbClr val="1F2937"/>
                          </a:solidFill>
                          <a:latin typeface="Calibri"/>
                        </a:rPr>
                        <a:t>Positivo</a:t>
                      </a:r>
                    </a:p>
                  </a:txBody>
                  <a:tcPr marT="36576" marB="36576">
                    <a:solidFill>
                      <a:srgbClr val="FFFFFF"/>
                    </a:solidFill>
                  </a:tcPr>
                </a:tc>
              </a:tr>
            </a:tbl>
          </a:graphicData>
        </a:graphic>
      </p:graphicFrame>
      <p:sp>
        <p:nvSpPr>
          <p:cNvPr id="7" name="Rectangle 6"/>
          <p:cNvSpPr/>
          <p:nvPr/>
        </p:nvSpPr>
        <p:spPr>
          <a:xfrm>
            <a:off x="502920" y="5029200"/>
            <a:ext cx="11185855" cy="457200"/>
          </a:xfrm>
          <a:prstGeom prst="rect">
            <a:avLst/>
          </a:prstGeom>
          <a:solidFill>
            <a:srgbClr val="FE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029200"/>
            <a:ext cx="10911535" cy="457200"/>
          </a:xfrm>
          <a:prstGeom prst="rect">
            <a:avLst/>
          </a:prstGeom>
          <a:noFill/>
        </p:spPr>
        <p:txBody>
          <a:bodyPr wrap="square" anchor="ctr" lIns="0" rIns="0" tIns="0" bIns="0">
            <a:spAutoFit/>
          </a:bodyPr>
          <a:lstStyle/>
          <a:p>
            <a:r>
              <a:rPr sz="1200" b="1" i="0">
                <a:solidFill>
                  <a:srgbClr val="D97706"/>
                </a:solidFill>
                <a:latin typeface="Calibri"/>
              </a:rPr>
              <a:t>💻 Ver en el código:  </a:t>
            </a:r>
            <a:r>
              <a:rPr sz="1200" b="0" i="0">
                <a:solidFill>
                  <a:srgbClr val="1F2937"/>
                </a:solidFill>
                <a:latin typeface="Calibri"/>
              </a:rPr>
              <a:t>TestSuite.cs 53–149</a:t>
            </a:r>
          </a:p>
        </p:txBody>
      </p:sp>
      <p:sp>
        <p:nvSpPr>
          <p:cNvPr id="9" name="Rectangle 8"/>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Todos son casos positivos. Sin negativos, sin bordes, sin HUD, sin limpieza entre tests.</a:t>
            </a:r>
          </a:p>
        </p:txBody>
      </p:sp>
      <p:sp>
        <p:nvSpPr>
          <p:cNvPr id="11" name="TextBox 10"/>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2" name="TextBox 11"/>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3</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AL FINALIZAR PODRÁN</a:t>
            </a:r>
          </a:p>
          <a:p>
            <a:r>
              <a:rPr sz="2600" b="1" i="0">
                <a:solidFill>
                  <a:srgbClr val="FFFFFF"/>
                </a:solidFill>
                <a:latin typeface="Calibri"/>
              </a:rPr>
              <a:t>Objetivos de la clase</a:t>
            </a:r>
          </a:p>
        </p:txBody>
      </p:sp>
      <p:sp>
        <p:nvSpPr>
          <p:cNvPr id="6" name="TextBox 5"/>
          <p:cNvSpPr txBox="1"/>
          <p:nvPr/>
        </p:nvSpPr>
        <p:spPr>
          <a:xfrm>
            <a:off x="502920" y="1280160"/>
            <a:ext cx="7315200" cy="2707640"/>
          </a:xfrm>
          <a:prstGeom prst="rect">
            <a:avLst/>
          </a:prstGeom>
          <a:noFill/>
        </p:spPr>
        <p:txBody>
          <a:bodyPr wrap="square" anchor="t" lIns="0" rIns="0" tIns="0" bIns="0">
            <a:spAutoFit/>
          </a:bodyPr>
          <a:lstStyle/>
          <a:p>
            <a:pPr>
              <a:spcAft>
                <a:spcPts val="600"/>
              </a:spcAft>
            </a:pPr>
            <a:r>
              <a:rPr sz="1300" b="1" i="0">
                <a:solidFill>
                  <a:srgbClr val="0D9488"/>
                </a:solidFill>
                <a:latin typeface="Calibri"/>
              </a:rPr>
              <a:t>■  </a:t>
            </a:r>
            <a:r>
              <a:rPr sz="1700" b="0" i="0">
                <a:solidFill>
                  <a:srgbClr val="1F2937"/>
                </a:solidFill>
                <a:latin typeface="Calibri"/>
              </a:rPr>
              <a:t>Diseñar casos de integración positivos, negativos y de borde para un flujo de juego</a:t>
            </a:r>
          </a:p>
          <a:p>
            <a:pPr>
              <a:spcAft>
                <a:spcPts val="600"/>
              </a:spcAft>
            </a:pPr>
            <a:r>
              <a:rPr sz="1300" b="1" i="0">
                <a:solidFill>
                  <a:srgbClr val="0D9488"/>
                </a:solidFill>
                <a:latin typeface="Calibri"/>
              </a:rPr>
              <a:t>■  </a:t>
            </a:r>
            <a:r>
              <a:rPr sz="1700" b="0" i="0">
                <a:solidFill>
                  <a:srgbClr val="1F2937"/>
                </a:solidFill>
                <a:latin typeface="Calibri"/>
              </a:rPr>
              <a:t>Preparar fixtures y datos de prueba que aíslen cada test</a:t>
            </a:r>
          </a:p>
          <a:p>
            <a:pPr>
              <a:spcAft>
                <a:spcPts val="600"/>
              </a:spcAft>
            </a:pPr>
            <a:r>
              <a:rPr sz="1300" b="1" i="0">
                <a:solidFill>
                  <a:srgbClr val="0D9488"/>
                </a:solidFill>
                <a:latin typeface="Calibri"/>
              </a:rPr>
              <a:t>■  </a:t>
            </a:r>
            <a:r>
              <a:rPr sz="1700" b="0" i="0">
                <a:solidFill>
                  <a:srgbClr val="1F2937"/>
                </a:solidFill>
                <a:latin typeface="Calibri"/>
              </a:rPr>
              <a:t>Reconocer las causas de un test frágil (flaky) y corregirlas</a:t>
            </a:r>
          </a:p>
          <a:p>
            <a:pPr>
              <a:spcAft>
                <a:spcPts val="600"/>
              </a:spcAft>
            </a:pPr>
            <a:r>
              <a:rPr sz="1300" b="1" i="0">
                <a:solidFill>
                  <a:srgbClr val="0D9488"/>
                </a:solidFill>
                <a:latin typeface="Calibri"/>
              </a:rPr>
              <a:t>■  </a:t>
            </a:r>
            <a:r>
              <a:rPr sz="1700" b="0" i="0">
                <a:solidFill>
                  <a:srgbClr val="1F2937"/>
                </a:solidFill>
                <a:latin typeface="Calibri"/>
              </a:rPr>
              <a:t>Elegir qué dependencias usar reales y cuáles reemplazar por dobles de prueba</a:t>
            </a:r>
          </a:p>
          <a:p>
            <a:pPr>
              <a:spcAft>
                <a:spcPts val="600"/>
              </a:spcAft>
            </a:pPr>
            <a:r>
              <a:rPr sz="1300" b="1" i="0">
                <a:solidFill>
                  <a:srgbClr val="0D9488"/>
                </a:solidFill>
                <a:latin typeface="Calibri"/>
              </a:rPr>
              <a:t>■  </a:t>
            </a:r>
            <a:r>
              <a:rPr sz="1700" b="0" i="0">
                <a:solidFill>
                  <a:srgbClr val="1F2937"/>
                </a:solidFill>
                <a:latin typeface="Calibri"/>
              </a:rPr>
              <a:t>Interpretar un reporte de cobertura sin sobreestimarlo</a:t>
            </a:r>
          </a:p>
          <a:p>
            <a:pPr>
              <a:spcAft>
                <a:spcPts val="600"/>
              </a:spcAft>
            </a:pPr>
            <a:r>
              <a:rPr sz="1300" b="1" i="0">
                <a:solidFill>
                  <a:srgbClr val="0D9488"/>
                </a:solidFill>
                <a:latin typeface="Calibri"/>
              </a:rPr>
              <a:t>■  </a:t>
            </a:r>
            <a:r>
              <a:rPr sz="1700" b="0" i="0">
                <a:solidFill>
                  <a:srgbClr val="1F2937"/>
                </a:solidFill>
                <a:latin typeface="Calibri"/>
              </a:rPr>
              <a:t>Organizar una mini-suite de integración priorizada</a:t>
            </a:r>
          </a:p>
        </p:txBody>
      </p:sp>
      <p:sp>
        <p:nvSpPr>
          <p:cNvPr id="7" name="Rectangle 6"/>
          <p:cNvSpPr/>
          <p:nvPr/>
        </p:nvSpPr>
        <p:spPr>
          <a:xfrm>
            <a:off x="8092440" y="1280160"/>
            <a:ext cx="3593592" cy="4983480"/>
          </a:xfrm>
          <a:prstGeom prst="rect">
            <a:avLst/>
          </a:prstGeom>
          <a:solidFill>
            <a:srgbClr val="F8FAFC"/>
          </a:solidFill>
          <a:ln w="19050">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i="0">
                <a:solidFill>
                  <a:srgbClr val="6B7280"/>
                </a:solidFill>
                <a:latin typeface="Calibri"/>
              </a:rPr>
              <a:t>🖼  IMAGEN</a:t>
            </a:r>
          </a:p>
          <a:p>
            <a:pPr algn="ctr">
              <a:spcBef>
                <a:spcPts val="600"/>
              </a:spcBef>
            </a:pPr>
            <a:r>
              <a:rPr sz="1200" b="0" i="1">
                <a:solidFill>
                  <a:srgbClr val="6B7280"/>
                </a:solidFill>
                <a:latin typeface="Calibri"/>
              </a:rPr>
              <a:t>Diagrama de evolución: «7 tests positivos» → «suite con positivos, negativos, bordes y regresión» (dos columnas con flecha).</a:t>
            </a:r>
          </a:p>
        </p:txBody>
      </p:sp>
      <p:sp>
        <p:nvSpPr>
          <p:cNvPr id="8" name="TextBox 7"/>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9" name="TextBox 8"/>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3/27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4</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ORGANIZACIÓN</a:t>
            </a:r>
          </a:p>
          <a:p>
            <a:r>
              <a:rPr sz="2600" b="1" i="0">
                <a:solidFill>
                  <a:srgbClr val="FFFFFF"/>
                </a:solidFill>
                <a:latin typeface="Calibri"/>
              </a:rPr>
              <a:t>Agenda (120 min)</a:t>
            </a:r>
          </a:p>
        </p:txBody>
      </p:sp>
      <p:graphicFrame>
        <p:nvGraphicFramePr>
          <p:cNvPr id="6" name="Table 5"/>
          <p:cNvGraphicFramePr>
            <a:graphicFrameLocks noGrp="1"/>
          </p:cNvGraphicFramePr>
          <p:nvPr/>
        </p:nvGraphicFramePr>
        <p:xfrm>
          <a:off x="502920" y="1280160"/>
          <a:ext cx="11185852" cy="3950208"/>
        </p:xfrm>
        <a:graphic>
          <a:graphicData uri="http://schemas.openxmlformats.org/drawingml/2006/table">
            <a:tbl>
              <a:tblPr firstRow="1" bandRow="1">
                <a:tableStyleId>{5C22544A-7EE6-4342-B048-85BDC9FD1C3A}</a:tableStyleId>
              </a:tblPr>
              <a:tblGrid>
                <a:gridCol w="5250503"/>
                <a:gridCol w="913131"/>
                <a:gridCol w="1141413"/>
                <a:gridCol w="1141413"/>
                <a:gridCol w="1255555"/>
                <a:gridCol w="1483837"/>
              </a:tblGrid>
              <a:tr h="329184">
                <a:tc>
                  <a:txBody>
                    <a:bodyPr/>
                    <a:lstStyle/>
                    <a:p>
                      <a:r>
                        <a:rPr sz="1400" b="1" i="0">
                          <a:solidFill>
                            <a:srgbClr val="FFFFFF"/>
                          </a:solidFill>
                          <a:latin typeface="Calibri"/>
                        </a:rPr>
                        <a:t>Bloque</a:t>
                      </a:r>
                    </a:p>
                  </a:txBody>
                  <a:tcPr>
                    <a:solidFill>
                      <a:srgbClr val="1F2A44"/>
                    </a:solidFill>
                  </a:tcPr>
                </a:tc>
                <a:tc>
                  <a:txBody>
                    <a:bodyPr/>
                    <a:lstStyle/>
                    <a:p>
                      <a:r>
                        <a:rPr sz="1400" b="1" i="0">
                          <a:solidFill>
                            <a:srgbClr val="FFFFFF"/>
                          </a:solidFill>
                          <a:latin typeface="Calibri"/>
                        </a:rPr>
                        <a:t>Min</a:t>
                      </a:r>
                    </a:p>
                  </a:txBody>
                  <a:tcPr>
                    <a:solidFill>
                      <a:srgbClr val="1F2A44"/>
                    </a:solidFill>
                  </a:tcPr>
                </a:tc>
                <a:tc>
                  <a:txBody>
                    <a:bodyPr/>
                    <a:lstStyle/>
                    <a:p>
                      <a:r>
                        <a:rPr sz="1400" b="1" i="0">
                          <a:solidFill>
                            <a:srgbClr val="FFFFFF"/>
                          </a:solidFill>
                          <a:latin typeface="Calibri"/>
                        </a:rPr>
                        <a:t>Teoría</a:t>
                      </a:r>
                    </a:p>
                  </a:txBody>
                  <a:tcPr>
                    <a:solidFill>
                      <a:srgbClr val="1F2A44"/>
                    </a:solidFill>
                  </a:tcPr>
                </a:tc>
                <a:tc>
                  <a:txBody>
                    <a:bodyPr/>
                    <a:lstStyle/>
                    <a:p>
                      <a:r>
                        <a:rPr sz="1400" b="1" i="0">
                          <a:solidFill>
                            <a:srgbClr val="FFFFFF"/>
                          </a:solidFill>
                          <a:latin typeface="Calibri"/>
                        </a:rPr>
                        <a:t>Demo</a:t>
                      </a:r>
                    </a:p>
                  </a:txBody>
                  <a:tcPr>
                    <a:solidFill>
                      <a:srgbClr val="1F2A44"/>
                    </a:solidFill>
                  </a:tcPr>
                </a:tc>
                <a:tc>
                  <a:txBody>
                    <a:bodyPr/>
                    <a:lstStyle/>
                    <a:p>
                      <a:r>
                        <a:rPr sz="1400" b="1" i="0">
                          <a:solidFill>
                            <a:srgbClr val="FFFFFF"/>
                          </a:solidFill>
                          <a:latin typeface="Calibri"/>
                        </a:rPr>
                        <a:t>Práctica</a:t>
                      </a:r>
                    </a:p>
                  </a:txBody>
                  <a:tcPr>
                    <a:solidFill>
                      <a:srgbClr val="1F2A44"/>
                    </a:solidFill>
                  </a:tcPr>
                </a:tc>
                <a:tc>
                  <a:txBody>
                    <a:bodyPr/>
                    <a:lstStyle/>
                    <a:p>
                      <a:r>
                        <a:rPr sz="1400" b="1" i="0">
                          <a:solidFill>
                            <a:srgbClr val="FFFFFF"/>
                          </a:solidFill>
                          <a:latin typeface="Calibri"/>
                        </a:rPr>
                        <a:t>Resolución</a:t>
                      </a:r>
                    </a:p>
                  </a:txBody>
                  <a:tcPr>
                    <a:solidFill>
                      <a:srgbClr val="1F2A44"/>
                    </a:solidFill>
                  </a:tcPr>
                </a:tc>
              </a:tr>
              <a:tr h="329184">
                <a:tc>
                  <a:txBody>
                    <a:bodyPr/>
                    <a:lstStyle/>
                    <a:p>
                      <a:r>
                        <a:rPr sz="1300" b="1" i="0">
                          <a:solidFill>
                            <a:srgbClr val="1F2937"/>
                          </a:solidFill>
                          <a:latin typeface="Calibri"/>
                        </a:rPr>
                        <a:t>Apertura y diagnóstico</a:t>
                      </a:r>
                    </a:p>
                  </a:txBody>
                  <a:tcPr marT="36576" marB="36576">
                    <a:solidFill>
                      <a:srgbClr val="FFFFFF"/>
                    </a:solidFill>
                  </a:tcPr>
                </a:tc>
                <a:tc>
                  <a:txBody>
                    <a:bodyPr/>
                    <a:lstStyle/>
                    <a:p>
                      <a:r>
                        <a:rPr sz="1300" b="0" i="0">
                          <a:solidFill>
                            <a:srgbClr val="1F2937"/>
                          </a:solidFill>
                          <a:latin typeface="Calibri"/>
                        </a:rPr>
                        <a:t>8</a:t>
                      </a:r>
                    </a:p>
                  </a:txBody>
                  <a:tcPr marT="36576" marB="36576">
                    <a:solidFill>
                      <a:srgbClr val="FFFFFF"/>
                    </a:solidFill>
                  </a:tcPr>
                </a:tc>
                <a:tc>
                  <a:txBody>
                    <a:bodyPr/>
                    <a:lstStyle/>
                    <a:p>
                      <a:r>
                        <a:rPr sz="1300" b="0" i="0">
                          <a:solidFill>
                            <a:srgbClr val="1F2937"/>
                          </a:solidFill>
                          <a:latin typeface="Calibri"/>
                        </a:rPr>
                        <a:t>5</a:t>
                      </a:r>
                    </a:p>
                  </a:txBody>
                  <a:tcPr marT="36576" marB="36576">
                    <a:solidFill>
                      <a:srgbClr val="FFFFFF"/>
                    </a:solidFill>
                  </a:tcPr>
                </a:tc>
                <a:tc>
                  <a:txBody>
                    <a:bodyPr/>
                    <a:lstStyle/>
                    <a:p>
                      <a:r>
                        <a:rPr sz="1300" b="0" i="0">
                          <a:solidFill>
                            <a:srgbClr val="1F2937"/>
                          </a:solidFill>
                          <a:latin typeface="Calibri"/>
                        </a:rPr>
                        <a:t>3</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r>
              <a:tr h="329184">
                <a:tc>
                  <a:txBody>
                    <a:bodyPr/>
                    <a:lstStyle/>
                    <a:p>
                      <a:r>
                        <a:rPr sz="1300" b="1" i="0">
                          <a:solidFill>
                            <a:srgbClr val="1F2937"/>
                          </a:solidFill>
                          <a:latin typeface="Calibri"/>
                        </a:rPr>
                        <a:t>1. Positivos, negativos y borde</a:t>
                      </a:r>
                    </a:p>
                  </a:txBody>
                  <a:tcPr marT="36576" marB="36576">
                    <a:solidFill>
                      <a:srgbClr val="F3F4F6"/>
                    </a:solidFill>
                  </a:tcPr>
                </a:tc>
                <a:tc>
                  <a:txBody>
                    <a:bodyPr/>
                    <a:lstStyle/>
                    <a:p>
                      <a:r>
                        <a:rPr sz="1300" b="0" i="0">
                          <a:solidFill>
                            <a:srgbClr val="1F2937"/>
                          </a:solidFill>
                          <a:latin typeface="Calibri"/>
                        </a:rPr>
                        <a:t>12</a:t>
                      </a:r>
                    </a:p>
                  </a:txBody>
                  <a:tcPr marT="36576" marB="36576">
                    <a:solidFill>
                      <a:srgbClr val="F3F4F6"/>
                    </a:solidFill>
                  </a:tcPr>
                </a:tc>
                <a:tc>
                  <a:txBody>
                    <a:bodyPr/>
                    <a:lstStyle/>
                    <a:p>
                      <a:r>
                        <a:rPr sz="1300" b="0" i="0">
                          <a:solidFill>
                            <a:srgbClr val="1F2937"/>
                          </a:solidFill>
                          <a:latin typeface="Calibri"/>
                        </a:rPr>
                        <a:t>8</a:t>
                      </a:r>
                    </a:p>
                  </a:txBody>
                  <a:tcPr marT="36576" marB="36576">
                    <a:solidFill>
                      <a:srgbClr val="F3F4F6"/>
                    </a:solidFill>
                  </a:tcPr>
                </a:tc>
                <a:tc>
                  <a:txBody>
                    <a:bodyPr/>
                    <a:lstStyle/>
                    <a:p>
                      <a:r>
                        <a:rPr sz="1300" b="0" i="0">
                          <a:solidFill>
                            <a:srgbClr val="1F2937"/>
                          </a:solidFill>
                          <a:latin typeface="Calibri"/>
                        </a:rPr>
                        <a:t>4</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r>
              <a:tr h="329184">
                <a:tc>
                  <a:txBody>
                    <a:bodyPr/>
                    <a:lstStyle/>
                    <a:p>
                      <a:r>
                        <a:rPr sz="1300" b="1" i="0">
                          <a:solidFill>
                            <a:srgbClr val="1F2937"/>
                          </a:solidFill>
                          <a:latin typeface="Calibri"/>
                        </a:rPr>
                        <a:t>   Actividad 1 · diseñar casos</a:t>
                      </a:r>
                    </a:p>
                  </a:txBody>
                  <a:tcPr marT="36576" marB="36576">
                    <a:solidFill>
                      <a:srgbClr val="FFFFFF"/>
                    </a:solidFill>
                  </a:tcPr>
                </a:tc>
                <a:tc>
                  <a:txBody>
                    <a:bodyPr/>
                    <a:lstStyle/>
                    <a:p>
                      <a:r>
                        <a:rPr sz="1300" b="0" i="0">
                          <a:solidFill>
                            <a:srgbClr val="1F2937"/>
                          </a:solidFill>
                          <a:latin typeface="Calibri"/>
                        </a:rPr>
                        <a:t>17</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c>
                  <a:txBody>
                    <a:bodyPr/>
                    <a:lstStyle/>
                    <a:p>
                      <a:r>
                        <a:rPr sz="1300" b="0" i="0">
                          <a:solidFill>
                            <a:srgbClr val="1F2937"/>
                          </a:solidFill>
                          <a:latin typeface="Calibri"/>
                        </a:rPr>
                        <a:t>12</a:t>
                      </a:r>
                    </a:p>
                  </a:txBody>
                  <a:tcPr marT="36576" marB="36576">
                    <a:solidFill>
                      <a:srgbClr val="FFFFFF"/>
                    </a:solidFill>
                  </a:tcPr>
                </a:tc>
                <a:tc>
                  <a:txBody>
                    <a:bodyPr/>
                    <a:lstStyle/>
                    <a:p>
                      <a:r>
                        <a:rPr sz="1300" b="0" i="0">
                          <a:solidFill>
                            <a:srgbClr val="1F2937"/>
                          </a:solidFill>
                          <a:latin typeface="Calibri"/>
                        </a:rPr>
                        <a:t>5</a:t>
                      </a:r>
                    </a:p>
                  </a:txBody>
                  <a:tcPr marT="36576" marB="36576">
                    <a:solidFill>
                      <a:srgbClr val="FFFFFF"/>
                    </a:solidFill>
                  </a:tcPr>
                </a:tc>
              </a:tr>
              <a:tr h="329184">
                <a:tc>
                  <a:txBody>
                    <a:bodyPr/>
                    <a:lstStyle/>
                    <a:p>
                      <a:r>
                        <a:rPr sz="1300" b="1" i="0">
                          <a:solidFill>
                            <a:srgbClr val="1F2937"/>
                          </a:solidFill>
                          <a:latin typeface="Calibri"/>
                        </a:rPr>
                        <a:t>   Actividad 2 · casos borde</a:t>
                      </a:r>
                    </a:p>
                  </a:txBody>
                  <a:tcPr marT="36576" marB="36576">
                    <a:solidFill>
                      <a:srgbClr val="F3F4F6"/>
                    </a:solidFill>
                  </a:tcPr>
                </a:tc>
                <a:tc>
                  <a:txBody>
                    <a:bodyPr/>
                    <a:lstStyle/>
                    <a:p>
                      <a:r>
                        <a:rPr sz="1300" b="0" i="0">
                          <a:solidFill>
                            <a:srgbClr val="1F2937"/>
                          </a:solidFill>
                          <a:latin typeface="Calibri"/>
                        </a:rPr>
                        <a:t>15</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10</a:t>
                      </a:r>
                    </a:p>
                  </a:txBody>
                  <a:tcPr marT="36576" marB="36576">
                    <a:solidFill>
                      <a:srgbClr val="F3F4F6"/>
                    </a:solidFill>
                  </a:tcPr>
                </a:tc>
                <a:tc>
                  <a:txBody>
                    <a:bodyPr/>
                    <a:lstStyle/>
                    <a:p>
                      <a:r>
                        <a:rPr sz="1300" b="0" i="0">
                          <a:solidFill>
                            <a:srgbClr val="1F2937"/>
                          </a:solidFill>
                          <a:latin typeface="Calibri"/>
                        </a:rPr>
                        <a:t>5</a:t>
                      </a:r>
                    </a:p>
                  </a:txBody>
                  <a:tcPr marT="36576" marB="36576">
                    <a:solidFill>
                      <a:srgbClr val="F3F4F6"/>
                    </a:solidFill>
                  </a:tcPr>
                </a:tc>
              </a:tr>
              <a:tr h="329184">
                <a:tc>
                  <a:txBody>
                    <a:bodyPr/>
                    <a:lstStyle/>
                    <a:p>
                      <a:r>
                        <a:rPr sz="1300" b="1" i="0">
                          <a:solidFill>
                            <a:srgbClr val="1F2937"/>
                          </a:solidFill>
                          <a:latin typeface="Calibri"/>
                        </a:rPr>
                        <a:t>2. Fixtures, aislamiento y tests frágiles</a:t>
                      </a:r>
                    </a:p>
                  </a:txBody>
                  <a:tcPr marT="36576" marB="36576">
                    <a:solidFill>
                      <a:srgbClr val="FFFFFF"/>
                    </a:solidFill>
                  </a:tcPr>
                </a:tc>
                <a:tc>
                  <a:txBody>
                    <a:bodyPr/>
                    <a:lstStyle/>
                    <a:p>
                      <a:r>
                        <a:rPr sz="1300" b="0" i="0">
                          <a:solidFill>
                            <a:srgbClr val="1F2937"/>
                          </a:solidFill>
                          <a:latin typeface="Calibri"/>
                        </a:rPr>
                        <a:t>13</a:t>
                      </a:r>
                    </a:p>
                  </a:txBody>
                  <a:tcPr marT="36576" marB="36576">
                    <a:solidFill>
                      <a:srgbClr val="FFFFFF"/>
                    </a:solidFill>
                  </a:tcPr>
                </a:tc>
                <a:tc>
                  <a:txBody>
                    <a:bodyPr/>
                    <a:lstStyle/>
                    <a:p>
                      <a:r>
                        <a:rPr sz="1300" b="0" i="0">
                          <a:solidFill>
                            <a:srgbClr val="1F2937"/>
                          </a:solidFill>
                          <a:latin typeface="Calibri"/>
                        </a:rPr>
                        <a:t>8</a:t>
                      </a:r>
                    </a:p>
                  </a:txBody>
                  <a:tcPr marT="36576" marB="36576">
                    <a:solidFill>
                      <a:srgbClr val="FFFFFF"/>
                    </a:solidFill>
                  </a:tcPr>
                </a:tc>
                <a:tc>
                  <a:txBody>
                    <a:bodyPr/>
                    <a:lstStyle/>
                    <a:p>
                      <a:r>
                        <a:rPr sz="1300" b="0" i="0">
                          <a:solidFill>
                            <a:srgbClr val="1F2937"/>
                          </a:solidFill>
                          <a:latin typeface="Calibri"/>
                        </a:rPr>
                        <a:t>5</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r>
              <a:tr h="329184">
                <a:tc>
                  <a:txBody>
                    <a:bodyPr/>
                    <a:lstStyle/>
                    <a:p>
                      <a:r>
                        <a:rPr sz="1300" b="1" i="0">
                          <a:solidFill>
                            <a:srgbClr val="1F2937"/>
                          </a:solidFill>
                          <a:latin typeface="Calibri"/>
                        </a:rPr>
                        <a:t>   Actividad 3 · analizar un test fallido</a:t>
                      </a:r>
                    </a:p>
                  </a:txBody>
                  <a:tcPr marT="36576" marB="36576">
                    <a:solidFill>
                      <a:srgbClr val="F3F4F6"/>
                    </a:solidFill>
                  </a:tcPr>
                </a:tc>
                <a:tc>
                  <a:txBody>
                    <a:bodyPr/>
                    <a:lstStyle/>
                    <a:p>
                      <a:r>
                        <a:rPr sz="1300" b="0" i="0">
                          <a:solidFill>
                            <a:srgbClr val="1F2937"/>
                          </a:solidFill>
                          <a:latin typeface="Calibri"/>
                        </a:rPr>
                        <a:t>15</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10</a:t>
                      </a:r>
                    </a:p>
                  </a:txBody>
                  <a:tcPr marT="36576" marB="36576">
                    <a:solidFill>
                      <a:srgbClr val="F3F4F6"/>
                    </a:solidFill>
                  </a:tcPr>
                </a:tc>
                <a:tc>
                  <a:txBody>
                    <a:bodyPr/>
                    <a:lstStyle/>
                    <a:p>
                      <a:r>
                        <a:rPr sz="1300" b="0" i="0">
                          <a:solidFill>
                            <a:srgbClr val="1F2937"/>
                          </a:solidFill>
                          <a:latin typeface="Calibri"/>
                        </a:rPr>
                        <a:t>5</a:t>
                      </a:r>
                    </a:p>
                  </a:txBody>
                  <a:tcPr marT="36576" marB="36576">
                    <a:solidFill>
                      <a:srgbClr val="F3F4F6"/>
                    </a:solidFill>
                  </a:tcPr>
                </a:tc>
              </a:tr>
              <a:tr h="329184">
                <a:tc>
                  <a:txBody>
                    <a:bodyPr/>
                    <a:lstStyle/>
                    <a:p>
                      <a:r>
                        <a:rPr sz="1300" b="1" i="0">
                          <a:solidFill>
                            <a:srgbClr val="1F2937"/>
                          </a:solidFill>
                          <a:latin typeface="Calibri"/>
                        </a:rPr>
                        <a:t>3. Dependencias y dobles de prueba</a:t>
                      </a:r>
                    </a:p>
                  </a:txBody>
                  <a:tcPr marT="36576" marB="36576">
                    <a:solidFill>
                      <a:srgbClr val="FFFFFF"/>
                    </a:solidFill>
                  </a:tcPr>
                </a:tc>
                <a:tc>
                  <a:txBody>
                    <a:bodyPr/>
                    <a:lstStyle/>
                    <a:p>
                      <a:r>
                        <a:rPr sz="1300" b="0" i="0">
                          <a:solidFill>
                            <a:srgbClr val="1F2937"/>
                          </a:solidFill>
                          <a:latin typeface="Calibri"/>
                        </a:rPr>
                        <a:t>8</a:t>
                      </a:r>
                    </a:p>
                  </a:txBody>
                  <a:tcPr marT="36576" marB="36576">
                    <a:solidFill>
                      <a:srgbClr val="FFFFFF"/>
                    </a:solidFill>
                  </a:tcPr>
                </a:tc>
                <a:tc>
                  <a:txBody>
                    <a:bodyPr/>
                    <a:lstStyle/>
                    <a:p>
                      <a:r>
                        <a:rPr sz="1300" b="0" i="0">
                          <a:solidFill>
                            <a:srgbClr val="1F2937"/>
                          </a:solidFill>
                          <a:latin typeface="Calibri"/>
                        </a:rPr>
                        <a:t>6</a:t>
                      </a:r>
                    </a:p>
                  </a:txBody>
                  <a:tcPr marT="36576" marB="36576">
                    <a:solidFill>
                      <a:srgbClr val="FFFFFF"/>
                    </a:solidFill>
                  </a:tcPr>
                </a:tc>
                <a:tc>
                  <a:txBody>
                    <a:bodyPr/>
                    <a:lstStyle/>
                    <a:p>
                      <a:r>
                        <a:rPr sz="1300" b="0" i="0">
                          <a:solidFill>
                            <a:srgbClr val="1F2937"/>
                          </a:solidFill>
                          <a:latin typeface="Calibri"/>
                        </a:rPr>
                        <a:t>2</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r>
              <a:tr h="329184">
                <a:tc>
                  <a:txBody>
                    <a:bodyPr/>
                    <a:lstStyle/>
                    <a:p>
                      <a:r>
                        <a:rPr sz="1300" b="1" i="0">
                          <a:solidFill>
                            <a:srgbClr val="1F2937"/>
                          </a:solidFill>
                          <a:latin typeface="Calibri"/>
                        </a:rPr>
                        <a:t>4. Cobertura y regresión</a:t>
                      </a:r>
                    </a:p>
                  </a:txBody>
                  <a:tcPr marT="36576" marB="36576">
                    <a:solidFill>
                      <a:srgbClr val="F3F4F6"/>
                    </a:solidFill>
                  </a:tcPr>
                </a:tc>
                <a:tc>
                  <a:txBody>
                    <a:bodyPr/>
                    <a:lstStyle/>
                    <a:p>
                      <a:r>
                        <a:rPr sz="1300" b="0" i="0">
                          <a:solidFill>
                            <a:srgbClr val="1F2937"/>
                          </a:solidFill>
                          <a:latin typeface="Calibri"/>
                        </a:rPr>
                        <a:t>8</a:t>
                      </a:r>
                    </a:p>
                  </a:txBody>
                  <a:tcPr marT="36576" marB="36576">
                    <a:solidFill>
                      <a:srgbClr val="F3F4F6"/>
                    </a:solidFill>
                  </a:tcPr>
                </a:tc>
                <a:tc>
                  <a:txBody>
                    <a:bodyPr/>
                    <a:lstStyle/>
                    <a:p>
                      <a:r>
                        <a:rPr sz="1300" b="0" i="0">
                          <a:solidFill>
                            <a:srgbClr val="1F2937"/>
                          </a:solidFill>
                          <a:latin typeface="Calibri"/>
                        </a:rPr>
                        <a:t>5</a:t>
                      </a:r>
                    </a:p>
                  </a:txBody>
                  <a:tcPr marT="36576" marB="36576">
                    <a:solidFill>
                      <a:srgbClr val="F3F4F6"/>
                    </a:solidFill>
                  </a:tcPr>
                </a:tc>
                <a:tc>
                  <a:txBody>
                    <a:bodyPr/>
                    <a:lstStyle/>
                    <a:p>
                      <a:r>
                        <a:rPr sz="1300" b="0" i="0">
                          <a:solidFill>
                            <a:srgbClr val="1F2937"/>
                          </a:solidFill>
                          <a:latin typeface="Calibri"/>
                        </a:rPr>
                        <a:t>3</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r>
              <a:tr h="329184">
                <a:tc>
                  <a:txBody>
                    <a:bodyPr/>
                    <a:lstStyle/>
                    <a:p>
                      <a:r>
                        <a:rPr sz="1300" b="1" i="0">
                          <a:solidFill>
                            <a:srgbClr val="1F2937"/>
                          </a:solidFill>
                          <a:latin typeface="Calibri"/>
                        </a:rPr>
                        <a:t>   Actividad 4 · mini-suite</a:t>
                      </a:r>
                    </a:p>
                  </a:txBody>
                  <a:tcPr marT="36576" marB="36576">
                    <a:solidFill>
                      <a:srgbClr val="FFFFFF"/>
                    </a:solidFill>
                  </a:tcPr>
                </a:tc>
                <a:tc>
                  <a:txBody>
                    <a:bodyPr/>
                    <a:lstStyle/>
                    <a:p>
                      <a:r>
                        <a:rPr sz="1300" b="0" i="0">
                          <a:solidFill>
                            <a:srgbClr val="1F2937"/>
                          </a:solidFill>
                          <a:latin typeface="Calibri"/>
                        </a:rPr>
                        <a:t>19</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c>
                  <a:txBody>
                    <a:bodyPr/>
                    <a:lstStyle/>
                    <a:p>
                      <a:r>
                        <a:rPr sz="1300" b="0" i="0">
                          <a:solidFill>
                            <a:srgbClr val="1F2937"/>
                          </a:solidFill>
                          <a:latin typeface="Calibri"/>
                        </a:rPr>
                        <a:t>14</a:t>
                      </a:r>
                    </a:p>
                  </a:txBody>
                  <a:tcPr marT="36576" marB="36576">
                    <a:solidFill>
                      <a:srgbClr val="FFFFFF"/>
                    </a:solidFill>
                  </a:tcPr>
                </a:tc>
                <a:tc>
                  <a:txBody>
                    <a:bodyPr/>
                    <a:lstStyle/>
                    <a:p>
                      <a:r>
                        <a:rPr sz="1300" b="0" i="0">
                          <a:solidFill>
                            <a:srgbClr val="1F2937"/>
                          </a:solidFill>
                          <a:latin typeface="Calibri"/>
                        </a:rPr>
                        <a:t>5</a:t>
                      </a:r>
                    </a:p>
                  </a:txBody>
                  <a:tcPr marT="36576" marB="36576">
                    <a:solidFill>
                      <a:srgbClr val="FFFFFF"/>
                    </a:solidFill>
                  </a:tcPr>
                </a:tc>
              </a:tr>
              <a:tr h="329184">
                <a:tc>
                  <a:txBody>
                    <a:bodyPr/>
                    <a:lstStyle/>
                    <a:p>
                      <a:r>
                        <a:rPr sz="1300" b="1" i="0">
                          <a:solidFill>
                            <a:srgbClr val="1F2937"/>
                          </a:solidFill>
                          <a:latin typeface="Calibri"/>
                        </a:rPr>
                        <a:t>Cierre</a:t>
                      </a:r>
                    </a:p>
                  </a:txBody>
                  <a:tcPr marT="36576" marB="36576">
                    <a:solidFill>
                      <a:srgbClr val="F3F4F6"/>
                    </a:solidFill>
                  </a:tcPr>
                </a:tc>
                <a:tc>
                  <a:txBody>
                    <a:bodyPr/>
                    <a:lstStyle/>
                    <a:p>
                      <a:r>
                        <a:rPr sz="1300" b="0" i="0">
                          <a:solidFill>
                            <a:srgbClr val="1F2937"/>
                          </a:solidFill>
                          <a:latin typeface="Calibri"/>
                        </a:rPr>
                        <a:t>5</a:t>
                      </a:r>
                    </a:p>
                  </a:txBody>
                  <a:tcPr marT="36576" marB="36576">
                    <a:solidFill>
                      <a:srgbClr val="F3F4F6"/>
                    </a:solidFill>
                  </a:tcPr>
                </a:tc>
                <a:tc>
                  <a:txBody>
                    <a:bodyPr/>
                    <a:lstStyle/>
                    <a:p>
                      <a:r>
                        <a:rPr sz="1300" b="0" i="0">
                          <a:solidFill>
                            <a:srgbClr val="1F2937"/>
                          </a:solidFill>
                          <a:latin typeface="Calibri"/>
                        </a:rPr>
                        <a:t>5</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r>
              <a:tr h="329184">
                <a:tc>
                  <a:txBody>
                    <a:bodyPr/>
                    <a:lstStyle/>
                    <a:p>
                      <a:r>
                        <a:rPr sz="1300" b="1" i="0">
                          <a:solidFill>
                            <a:srgbClr val="1F2937"/>
                          </a:solidFill>
                          <a:latin typeface="Calibri"/>
                        </a:rPr>
                        <a:t>Total</a:t>
                      </a:r>
                    </a:p>
                  </a:txBody>
                  <a:tcPr marT="36576" marB="36576">
                    <a:solidFill>
                      <a:srgbClr val="FFFFFF"/>
                    </a:solidFill>
                  </a:tcPr>
                </a:tc>
                <a:tc>
                  <a:txBody>
                    <a:bodyPr/>
                    <a:lstStyle/>
                    <a:p>
                      <a:r>
                        <a:rPr sz="1300" b="0" i="0">
                          <a:solidFill>
                            <a:srgbClr val="1F2937"/>
                          </a:solidFill>
                          <a:latin typeface="Calibri"/>
                        </a:rPr>
                        <a:t>120</a:t>
                      </a:r>
                    </a:p>
                  </a:txBody>
                  <a:tcPr marT="36576" marB="36576">
                    <a:solidFill>
                      <a:srgbClr val="FFFFFF"/>
                    </a:solidFill>
                  </a:tcPr>
                </a:tc>
                <a:tc>
                  <a:txBody>
                    <a:bodyPr/>
                    <a:lstStyle/>
                    <a:p>
                      <a:r>
                        <a:rPr sz="1300" b="0" i="0">
                          <a:solidFill>
                            <a:srgbClr val="1F2937"/>
                          </a:solidFill>
                          <a:latin typeface="Calibri"/>
                        </a:rPr>
                        <a:t>37</a:t>
                      </a:r>
                    </a:p>
                  </a:txBody>
                  <a:tcPr marT="36576" marB="36576">
                    <a:solidFill>
                      <a:srgbClr val="FFFFFF"/>
                    </a:solidFill>
                  </a:tcPr>
                </a:tc>
                <a:tc>
                  <a:txBody>
                    <a:bodyPr/>
                    <a:lstStyle/>
                    <a:p>
                      <a:r>
                        <a:rPr sz="1300" b="0" i="0">
                          <a:solidFill>
                            <a:srgbClr val="1F2937"/>
                          </a:solidFill>
                          <a:latin typeface="Calibri"/>
                        </a:rPr>
                        <a:t>17</a:t>
                      </a:r>
                    </a:p>
                  </a:txBody>
                  <a:tcPr marT="36576" marB="36576">
                    <a:solidFill>
                      <a:srgbClr val="FFFFFF"/>
                    </a:solidFill>
                  </a:tcPr>
                </a:tc>
                <a:tc>
                  <a:txBody>
                    <a:bodyPr/>
                    <a:lstStyle/>
                    <a:p>
                      <a:r>
                        <a:rPr sz="1300" b="0" i="0">
                          <a:solidFill>
                            <a:srgbClr val="1F2937"/>
                          </a:solidFill>
                          <a:latin typeface="Calibri"/>
                        </a:rPr>
                        <a:t>46</a:t>
                      </a:r>
                    </a:p>
                  </a:txBody>
                  <a:tcPr marT="36576" marB="36576">
                    <a:solidFill>
                      <a:srgbClr val="FFFFFF"/>
                    </a:solidFill>
                  </a:tcPr>
                </a:tc>
                <a:tc>
                  <a:txBody>
                    <a:bodyPr/>
                    <a:lstStyle/>
                    <a:p>
                      <a:r>
                        <a:rPr sz="1300" b="0" i="0">
                          <a:solidFill>
                            <a:srgbClr val="1F2937"/>
                          </a:solidFill>
                          <a:latin typeface="Calibri"/>
                        </a:rPr>
                        <a:t>20</a:t>
                      </a:r>
                    </a:p>
                  </a:txBody>
                  <a:tcPr marT="36576" marB="36576">
                    <a:solidFill>
                      <a:srgbClr val="FFFFFF"/>
                    </a:solidFill>
                  </a:tcPr>
                </a:tc>
              </a:tr>
            </a:tbl>
          </a:graphicData>
        </a:graphic>
      </p:graphicFrame>
      <p:sp>
        <p:nvSpPr>
          <p:cNvPr id="7" name="TextBox 6"/>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8" name="TextBox 7"/>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4/27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5</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APERTURA</a:t>
            </a:r>
          </a:p>
          <a:p>
            <a:r>
              <a:rPr sz="2600" b="1" i="0">
                <a:solidFill>
                  <a:srgbClr val="FFFFFF"/>
                </a:solidFill>
                <a:latin typeface="Calibri"/>
              </a:rPr>
              <a:t>La suite pasa… ¿y el juego?</a:t>
            </a:r>
          </a:p>
        </p:txBody>
      </p:sp>
      <p:sp>
        <p:nvSpPr>
          <p:cNvPr id="6" name="TextBox 5"/>
          <p:cNvSpPr txBox="1"/>
          <p:nvPr/>
        </p:nvSpPr>
        <p:spPr>
          <a:xfrm>
            <a:off x="502920" y="1280160"/>
            <a:ext cx="7315200" cy="1985010"/>
          </a:xfrm>
          <a:prstGeom prst="rect">
            <a:avLst/>
          </a:prstGeom>
          <a:noFill/>
        </p:spPr>
        <p:txBody>
          <a:bodyPr wrap="square" anchor="t" lIns="0" rIns="0" tIns="0" bIns="0">
            <a:spAutoFit/>
          </a:bodyPr>
          <a:lstStyle/>
          <a:p>
            <a:pPr>
              <a:spcAft>
                <a:spcPts val="600"/>
              </a:spcAft>
            </a:pPr>
            <a:r>
              <a:rPr sz="1300" b="1" i="0">
                <a:solidFill>
                  <a:srgbClr val="0D9488"/>
                </a:solidFill>
                <a:latin typeface="Calibri"/>
              </a:rPr>
              <a:t>■  </a:t>
            </a:r>
            <a:r>
              <a:rPr sz="1700" b="0" i="0">
                <a:solidFill>
                  <a:srgbClr val="1F2937"/>
                </a:solidFill>
                <a:latin typeface="Calibri"/>
              </a:rPr>
              <a:t>¿Qué pasa si reinicio la partida con asteroides todavía en pantalla?</a:t>
            </a:r>
          </a:p>
          <a:p>
            <a:pPr>
              <a:spcAft>
                <a:spcPts val="600"/>
              </a:spcAft>
            </a:pPr>
            <a:r>
              <a:rPr sz="1300" b="1" i="0">
                <a:solidFill>
                  <a:srgbClr val="0D9488"/>
                </a:solidFill>
                <a:latin typeface="Calibri"/>
              </a:rPr>
              <a:t>■  </a:t>
            </a:r>
            <a:r>
              <a:rPr sz="1700" b="0" i="0">
                <a:solidFill>
                  <a:srgbClr val="1F2937"/>
                </a:solidFill>
                <a:latin typeface="Calibri"/>
              </a:rPr>
              <a:t>¿Y si dos láseres golpean el mismo asteroide en el mismo instante?</a:t>
            </a:r>
          </a:p>
          <a:p>
            <a:pPr>
              <a:spcAft>
                <a:spcPts val="600"/>
              </a:spcAft>
            </a:pPr>
            <a:r>
              <a:rPr sz="1300" b="1" i="0">
                <a:solidFill>
                  <a:srgbClr val="0D9488"/>
                </a:solidFill>
                <a:latin typeface="Calibri"/>
              </a:rPr>
              <a:t>■  </a:t>
            </a:r>
            <a:r>
              <a:rPr sz="1700" b="0" i="0">
                <a:solidFill>
                  <a:srgbClr val="1F2937"/>
                </a:solidFill>
                <a:latin typeface="Calibri"/>
              </a:rPr>
              <a:t>¿Qué pasa si un asteroide choca con otro asteroide?</a:t>
            </a:r>
          </a:p>
          <a:p>
            <a:pPr>
              <a:spcAft>
                <a:spcPts val="600"/>
              </a:spcAft>
            </a:pPr>
            <a:r>
              <a:rPr sz="1300" b="1" i="0">
                <a:solidFill>
                  <a:srgbClr val="0D9488"/>
                </a:solidFill>
                <a:latin typeface="Calibri"/>
              </a:rPr>
              <a:t>■  </a:t>
            </a:r>
            <a:r>
              <a:rPr sz="1700" b="0" i="0">
                <a:solidFill>
                  <a:srgbClr val="1F2937"/>
                </a:solidFill>
                <a:latin typeface="Calibri"/>
              </a:rPr>
              <a:t>El reporte de cobertura dice 65,5 %. ¿Qué tan protegidos estamos?</a:t>
            </a:r>
          </a:p>
        </p:txBody>
      </p:sp>
      <p:sp>
        <p:nvSpPr>
          <p:cNvPr id="7" name="Rectangle 6"/>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¿Cuál de estas preguntas responde hoy la suite? (Respuesta: ninguna)</a:t>
            </a:r>
          </a:p>
        </p:txBody>
      </p:sp>
      <p:sp>
        <p:nvSpPr>
          <p:cNvPr id="9" name="Rectangle 8"/>
          <p:cNvSpPr/>
          <p:nvPr/>
        </p:nvSpPr>
        <p:spPr>
          <a:xfrm>
            <a:off x="8092440" y="1280160"/>
            <a:ext cx="3593592" cy="4160520"/>
          </a:xfrm>
          <a:prstGeom prst="rect">
            <a:avLst/>
          </a:prstGeom>
          <a:solidFill>
            <a:srgbClr val="F8FAFC"/>
          </a:solidFill>
          <a:ln w="19050">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i="0">
                <a:solidFill>
                  <a:srgbClr val="6B7280"/>
                </a:solidFill>
                <a:latin typeface="Calibri"/>
              </a:rPr>
              <a:t>🖼  IMAGEN</a:t>
            </a:r>
          </a:p>
          <a:p>
            <a:pPr algn="ctr">
              <a:spcBef>
                <a:spcPts val="600"/>
              </a:spcBef>
            </a:pPr>
            <a:r>
              <a:rPr sz="1200" b="0" i="1">
                <a:solidFill>
                  <a:srgbClr val="6B7280"/>
                </a:solidFill>
                <a:latin typeface="Calibri"/>
              </a:rPr>
              <a:t>Captura del Test Runner con los 7 tests en verde junto al badge de cobertura «65,5 %» del reporte del proyecto.</a:t>
            </a:r>
          </a:p>
        </p:txBody>
      </p:sp>
      <p:sp>
        <p:nvSpPr>
          <p:cNvPr id="10" name="TextBox 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1" name="TextBox 1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5/27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6</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1 · TEORÍA</a:t>
            </a:r>
          </a:p>
          <a:p>
            <a:r>
              <a:rPr sz="2600" b="1" i="0">
                <a:solidFill>
                  <a:srgbClr val="FFFFFF"/>
                </a:solidFill>
                <a:latin typeface="Calibri"/>
              </a:rPr>
              <a:t>Positivos, negativos y borde</a:t>
            </a:r>
          </a:p>
        </p:txBody>
      </p:sp>
      <p:sp>
        <p:nvSpPr>
          <p:cNvPr id="6" name="Rounded Rectangle 5"/>
          <p:cNvSpPr/>
          <p:nvPr/>
        </p:nvSpPr>
        <p:spPr>
          <a:xfrm>
            <a:off x="502920" y="1280160"/>
            <a:ext cx="2930652" cy="310896"/>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9144" bIns="9144" wrap="none"/>
          <a:lstStyle/>
          <a:p>
            <a:pPr algn="ctr"/>
            <a:r>
              <a:rPr sz="1200" b="1" i="0">
                <a:solidFill>
                  <a:srgbClr val="FFFFFF"/>
                </a:solidFill>
                <a:latin typeface="Calibri"/>
              </a:rPr>
              <a:t>Ejemplo: una puerta con cerradura</a:t>
            </a:r>
          </a:p>
        </p:txBody>
      </p:sp>
      <p:graphicFrame>
        <p:nvGraphicFramePr>
          <p:cNvPr id="7" name="Table 6"/>
          <p:cNvGraphicFramePr>
            <a:graphicFrameLocks noGrp="1"/>
          </p:cNvGraphicFramePr>
          <p:nvPr/>
        </p:nvGraphicFramePr>
        <p:xfrm>
          <a:off x="502920" y="1755648"/>
          <a:ext cx="11185853" cy="1316736"/>
        </p:xfrm>
        <a:graphic>
          <a:graphicData uri="http://schemas.openxmlformats.org/drawingml/2006/table">
            <a:tbl>
              <a:tblPr firstRow="1" bandRow="1">
                <a:tableStyleId>{5C22544A-7EE6-4342-B048-85BDC9FD1C3A}</a:tableStyleId>
              </a:tblPr>
              <a:tblGrid>
                <a:gridCol w="1657163"/>
                <a:gridCol w="3107181"/>
                <a:gridCol w="2692891"/>
                <a:gridCol w="3728618"/>
              </a:tblGrid>
              <a:tr h="329184">
                <a:tc>
                  <a:txBody>
                    <a:bodyPr/>
                    <a:lstStyle/>
                    <a:p>
                      <a:r>
                        <a:rPr sz="1400" b="1" i="0">
                          <a:solidFill>
                            <a:srgbClr val="FFFFFF"/>
                          </a:solidFill>
                          <a:latin typeface="Calibri"/>
                        </a:rPr>
                        <a:t>Tipo de caso</a:t>
                      </a:r>
                    </a:p>
                  </a:txBody>
                  <a:tcPr>
                    <a:solidFill>
                      <a:srgbClr val="1F2A44"/>
                    </a:solidFill>
                  </a:tcPr>
                </a:tc>
                <a:tc>
                  <a:txBody>
                    <a:bodyPr/>
                    <a:lstStyle/>
                    <a:p>
                      <a:r>
                        <a:rPr sz="1400" b="1" i="0">
                          <a:solidFill>
                            <a:srgbClr val="FFFFFF"/>
                          </a:solidFill>
                          <a:latin typeface="Calibri"/>
                        </a:rPr>
                        <a:t>Qué pregunta</a:t>
                      </a:r>
                    </a:p>
                  </a:txBody>
                  <a:tcPr>
                    <a:solidFill>
                      <a:srgbClr val="1F2A44"/>
                    </a:solidFill>
                  </a:tcPr>
                </a:tc>
                <a:tc>
                  <a:txBody>
                    <a:bodyPr/>
                    <a:lstStyle/>
                    <a:p>
                      <a:r>
                        <a:rPr sz="1400" b="1" i="0">
                          <a:solidFill>
                            <a:srgbClr val="FFFFFF"/>
                          </a:solidFill>
                          <a:latin typeface="Calibri"/>
                        </a:rPr>
                        <a:t>Puerta</a:t>
                      </a:r>
                    </a:p>
                  </a:txBody>
                  <a:tcPr>
                    <a:solidFill>
                      <a:srgbClr val="1F2A44"/>
                    </a:solidFill>
                  </a:tcPr>
                </a:tc>
                <a:tc>
                  <a:txBody>
                    <a:bodyPr/>
                    <a:lstStyle/>
                    <a:p>
                      <a:r>
                        <a:rPr sz="1400" b="1" i="0">
                          <a:solidFill>
                            <a:srgbClr val="FFFFFF"/>
                          </a:solidFill>
                          <a:latin typeface="Calibri"/>
                        </a:rPr>
                        <a:t>Nave + asteroides</a:t>
                      </a:r>
                    </a:p>
                  </a:txBody>
                  <a:tcPr>
                    <a:solidFill>
                      <a:srgbClr val="1F2A44"/>
                    </a:solidFill>
                  </a:tcPr>
                </a:tc>
              </a:tr>
              <a:tr h="329184">
                <a:tc>
                  <a:txBody>
                    <a:bodyPr/>
                    <a:lstStyle/>
                    <a:p>
                      <a:r>
                        <a:rPr sz="1300" b="1" i="0">
                          <a:solidFill>
                            <a:srgbClr val="1F2937"/>
                          </a:solidFill>
                          <a:latin typeface="Calibri"/>
                        </a:rPr>
                        <a:t>Positivo</a:t>
                      </a:r>
                    </a:p>
                  </a:txBody>
                  <a:tcPr marT="36576" marB="36576">
                    <a:solidFill>
                      <a:srgbClr val="FFFFFF"/>
                    </a:solidFill>
                  </a:tcPr>
                </a:tc>
                <a:tc>
                  <a:txBody>
                    <a:bodyPr/>
                    <a:lstStyle/>
                    <a:p>
                      <a:r>
                        <a:rPr sz="1300" b="0" i="0">
                          <a:solidFill>
                            <a:srgbClr val="1F2937"/>
                          </a:solidFill>
                          <a:latin typeface="Calibri"/>
                        </a:rPr>
                        <a:t>¿Hace lo que debe con una entrada válida?</a:t>
                      </a:r>
                    </a:p>
                  </a:txBody>
                  <a:tcPr marT="36576" marB="36576">
                    <a:solidFill>
                      <a:srgbClr val="FFFFFF"/>
                    </a:solidFill>
                  </a:tcPr>
                </a:tc>
                <a:tc>
                  <a:txBody>
                    <a:bodyPr/>
                    <a:lstStyle/>
                    <a:p>
                      <a:r>
                        <a:rPr sz="1300" b="0" i="0">
                          <a:solidFill>
                            <a:srgbClr val="1F2937"/>
                          </a:solidFill>
                          <a:latin typeface="Calibri"/>
                        </a:rPr>
                        <a:t>La llave correcta abre</a:t>
                      </a:r>
                    </a:p>
                  </a:txBody>
                  <a:tcPr marT="36576" marB="36576">
                    <a:solidFill>
                      <a:srgbClr val="FFFFFF"/>
                    </a:solidFill>
                  </a:tcPr>
                </a:tc>
                <a:tc>
                  <a:txBody>
                    <a:bodyPr/>
                    <a:lstStyle/>
                    <a:p>
                      <a:r>
                        <a:rPr sz="1300" b="0" i="0">
                          <a:solidFill>
                            <a:srgbClr val="1F2937"/>
                          </a:solidFill>
                          <a:latin typeface="Calibri"/>
                        </a:rPr>
                        <a:t>El láser destruye el asteroide y suma 1</a:t>
                      </a:r>
                    </a:p>
                  </a:txBody>
                  <a:tcPr marT="36576" marB="36576">
                    <a:solidFill>
                      <a:srgbClr val="FFFFFF"/>
                    </a:solidFill>
                  </a:tcPr>
                </a:tc>
              </a:tr>
              <a:tr h="329184">
                <a:tc>
                  <a:txBody>
                    <a:bodyPr/>
                    <a:lstStyle/>
                    <a:p>
                      <a:r>
                        <a:rPr sz="1300" b="1" i="0">
                          <a:solidFill>
                            <a:srgbClr val="1F2937"/>
                          </a:solidFill>
                          <a:latin typeface="Calibri"/>
                        </a:rPr>
                        <a:t>Negativo</a:t>
                      </a:r>
                    </a:p>
                  </a:txBody>
                  <a:tcPr marT="36576" marB="36576">
                    <a:solidFill>
                      <a:srgbClr val="F3F4F6"/>
                    </a:solidFill>
                  </a:tcPr>
                </a:tc>
                <a:tc>
                  <a:txBody>
                    <a:bodyPr/>
                    <a:lstStyle/>
                    <a:p>
                      <a:r>
                        <a:rPr sz="1300" b="0" i="0">
                          <a:solidFill>
                            <a:srgbClr val="1F2937"/>
                          </a:solidFill>
                          <a:latin typeface="Calibri"/>
                        </a:rPr>
                        <a:t>¿Ignora o rechaza lo que no corresponde?</a:t>
                      </a:r>
                    </a:p>
                  </a:txBody>
                  <a:tcPr marT="36576" marB="36576">
                    <a:solidFill>
                      <a:srgbClr val="F3F4F6"/>
                    </a:solidFill>
                  </a:tcPr>
                </a:tc>
                <a:tc>
                  <a:txBody>
                    <a:bodyPr/>
                    <a:lstStyle/>
                    <a:p>
                      <a:r>
                        <a:rPr sz="1300" b="0" i="0">
                          <a:solidFill>
                            <a:srgbClr val="1F2937"/>
                          </a:solidFill>
                          <a:latin typeface="Calibri"/>
                        </a:rPr>
                        <a:t>Otra llave no abre</a:t>
                      </a:r>
                    </a:p>
                  </a:txBody>
                  <a:tcPr marT="36576" marB="36576">
                    <a:solidFill>
                      <a:srgbClr val="F3F4F6"/>
                    </a:solidFill>
                  </a:tcPr>
                </a:tc>
                <a:tc>
                  <a:txBody>
                    <a:bodyPr/>
                    <a:lstStyle/>
                    <a:p>
                      <a:r>
                        <a:rPr sz="1300" b="0" i="0">
                          <a:solidFill>
                            <a:srgbClr val="1F2937"/>
                          </a:solidFill>
                          <a:latin typeface="Calibri"/>
                        </a:rPr>
                        <a:t>Un asteroide que choca con otro NO da Game Over</a:t>
                      </a:r>
                    </a:p>
                  </a:txBody>
                  <a:tcPr marT="36576" marB="36576">
                    <a:solidFill>
                      <a:srgbClr val="F3F4F6"/>
                    </a:solidFill>
                  </a:tcPr>
                </a:tc>
              </a:tr>
              <a:tr h="329184">
                <a:tc>
                  <a:txBody>
                    <a:bodyPr/>
                    <a:lstStyle/>
                    <a:p>
                      <a:r>
                        <a:rPr sz="1300" b="1" i="0">
                          <a:solidFill>
                            <a:srgbClr val="1F2937"/>
                          </a:solidFill>
                          <a:latin typeface="Calibri"/>
                        </a:rPr>
                        <a:t>Borde</a:t>
                      </a:r>
                    </a:p>
                  </a:txBody>
                  <a:tcPr marT="36576" marB="36576">
                    <a:solidFill>
                      <a:srgbClr val="FFFFFF"/>
                    </a:solidFill>
                  </a:tcPr>
                </a:tc>
                <a:tc>
                  <a:txBody>
                    <a:bodyPr/>
                    <a:lstStyle/>
                    <a:p>
                      <a:r>
                        <a:rPr sz="1300" b="0" i="0">
                          <a:solidFill>
                            <a:srgbClr val="1F2937"/>
                          </a:solidFill>
                          <a:latin typeface="Calibri"/>
                        </a:rPr>
                        <a:t>¿Qué pasa justo en el límite?</a:t>
                      </a:r>
                    </a:p>
                  </a:txBody>
                  <a:tcPr marT="36576" marB="36576">
                    <a:solidFill>
                      <a:srgbClr val="FFFFFF"/>
                    </a:solidFill>
                  </a:tcPr>
                </a:tc>
                <a:tc>
                  <a:txBody>
                    <a:bodyPr/>
                    <a:lstStyle/>
                    <a:p>
                      <a:r>
                        <a:rPr sz="1300" b="0" i="0">
                          <a:solidFill>
                            <a:srgbClr val="1F2937"/>
                          </a:solidFill>
                          <a:latin typeface="Calibri"/>
                        </a:rPr>
                        <a:t>La llave a medio girar</a:t>
                      </a:r>
                    </a:p>
                  </a:txBody>
                  <a:tcPr marT="36576" marB="36576">
                    <a:solidFill>
                      <a:srgbClr val="FFFFFF"/>
                    </a:solidFill>
                  </a:tcPr>
                </a:tc>
                <a:tc>
                  <a:txBody>
                    <a:bodyPr/>
                    <a:lstStyle/>
                    <a:p>
                      <a:r>
                        <a:rPr sz="1300" b="0" i="0">
                          <a:solidFill>
                            <a:srgbClr val="1F2937"/>
                          </a:solidFill>
                          <a:latin typeface="Calibri"/>
                        </a:rPr>
                        <a:t>Un asteroide en y = −5,0 exacto: ¿se destruye?</a:t>
                      </a:r>
                    </a:p>
                  </a:txBody>
                  <a:tcPr marT="36576" marB="36576">
                    <a:solidFill>
                      <a:srgbClr val="FFFFFF"/>
                    </a:solidFill>
                  </a:tcPr>
                </a:tc>
              </a:tr>
            </a:tbl>
          </a:graphicData>
        </a:graphic>
      </p:graphicFrame>
      <p:sp>
        <p:nvSpPr>
          <p:cNvPr id="8" name="TextBox 7"/>
          <p:cNvSpPr txBox="1"/>
          <p:nvPr/>
        </p:nvSpPr>
        <p:spPr>
          <a:xfrm>
            <a:off x="502920" y="3806698"/>
            <a:ext cx="11185855" cy="690880"/>
          </a:xfrm>
          <a:prstGeom prst="rect">
            <a:avLst/>
          </a:prstGeom>
          <a:noFill/>
        </p:spPr>
        <p:txBody>
          <a:bodyPr wrap="square" anchor="t" lIns="0" rIns="0" tIns="0" bIns="0">
            <a:spAutoFit/>
          </a:bodyPr>
          <a:lstStyle/>
          <a:p>
            <a:pPr>
              <a:spcAft>
                <a:spcPts val="600"/>
              </a:spcAft>
            </a:pPr>
            <a:r>
              <a:rPr sz="1200" b="1" i="0">
                <a:solidFill>
                  <a:srgbClr val="0D9488"/>
                </a:solidFill>
                <a:latin typeface="Calibri"/>
              </a:rPr>
              <a:t>■  </a:t>
            </a:r>
            <a:r>
              <a:rPr sz="1600" b="0" i="0">
                <a:solidFill>
                  <a:srgbClr val="1F2937"/>
                </a:solidFill>
                <a:latin typeface="Calibri"/>
              </a:rPr>
              <a:t>Negativo ≠ test que falla: el test pasa si el sistema ignora correctamente la entrada</a:t>
            </a:r>
          </a:p>
          <a:p>
            <a:pPr>
              <a:spcAft>
                <a:spcPts val="600"/>
              </a:spcAft>
            </a:pPr>
            <a:r>
              <a:rPr sz="1200" b="1" i="0">
                <a:solidFill>
                  <a:srgbClr val="0D9488"/>
                </a:solidFill>
                <a:latin typeface="Calibri"/>
              </a:rPr>
              <a:t>■  </a:t>
            </a:r>
            <a:r>
              <a:rPr sz="1600" b="0" i="0">
                <a:solidFill>
                  <a:srgbClr val="1F2937"/>
                </a:solidFill>
                <a:latin typeface="Calibri"/>
              </a:rPr>
              <a:t>En integración, el borde no es solo un número: también tiempo, cantidad, repetición y orden</a:t>
            </a:r>
          </a:p>
        </p:txBody>
      </p:sp>
      <p:sp>
        <p:nvSpPr>
          <p:cNvPr id="9" name="TextBox 8"/>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0" name="TextBox 9"/>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6/27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7</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1 · TEORÍA</a:t>
            </a:r>
          </a:p>
          <a:p>
            <a:r>
              <a:rPr sz="2600" b="1" i="0">
                <a:solidFill>
                  <a:srgbClr val="FFFFFF"/>
                </a:solidFill>
                <a:latin typeface="Calibri"/>
              </a:rPr>
              <a:t>Cinco dimensiones del borde en integración</a:t>
            </a:r>
          </a:p>
        </p:txBody>
      </p:sp>
      <p:graphicFrame>
        <p:nvGraphicFramePr>
          <p:cNvPr id="6" name="Table 5"/>
          <p:cNvGraphicFramePr>
            <a:graphicFrameLocks noGrp="1"/>
          </p:cNvGraphicFramePr>
          <p:nvPr/>
        </p:nvGraphicFramePr>
        <p:xfrm>
          <a:off x="502920" y="1280160"/>
          <a:ext cx="11185854" cy="1975104"/>
        </p:xfrm>
        <a:graphic>
          <a:graphicData uri="http://schemas.openxmlformats.org/drawingml/2006/table">
            <a:tbl>
              <a:tblPr firstRow="1" bandRow="1">
                <a:tableStyleId>{5C22544A-7EE6-4342-B048-85BDC9FD1C3A}</a:tableStyleId>
              </a:tblPr>
              <a:tblGrid>
                <a:gridCol w="1864309"/>
                <a:gridCol w="3728618"/>
                <a:gridCol w="5592927"/>
              </a:tblGrid>
              <a:tr h="329184">
                <a:tc>
                  <a:txBody>
                    <a:bodyPr/>
                    <a:lstStyle/>
                    <a:p>
                      <a:r>
                        <a:rPr sz="1400" b="1" i="0">
                          <a:solidFill>
                            <a:srgbClr val="FFFFFF"/>
                          </a:solidFill>
                          <a:latin typeface="Calibri"/>
                        </a:rPr>
                        <a:t>Dimensión</a:t>
                      </a:r>
                    </a:p>
                  </a:txBody>
                  <a:tcPr>
                    <a:solidFill>
                      <a:srgbClr val="1F2A44"/>
                    </a:solidFill>
                  </a:tcPr>
                </a:tc>
                <a:tc>
                  <a:txBody>
                    <a:bodyPr/>
                    <a:lstStyle/>
                    <a:p>
                      <a:r>
                        <a:rPr sz="1400" b="1" i="0">
                          <a:solidFill>
                            <a:srgbClr val="FFFFFF"/>
                          </a:solidFill>
                          <a:latin typeface="Calibri"/>
                        </a:rPr>
                        <a:t>Pregunta</a:t>
                      </a:r>
                    </a:p>
                  </a:txBody>
                  <a:tcPr>
                    <a:solidFill>
                      <a:srgbClr val="1F2A44"/>
                    </a:solidFill>
                  </a:tcPr>
                </a:tc>
                <a:tc>
                  <a:txBody>
                    <a:bodyPr/>
                    <a:lstStyle/>
                    <a:p>
                      <a:r>
                        <a:rPr sz="1400" b="1" i="0">
                          <a:solidFill>
                            <a:srgbClr val="FFFFFF"/>
                          </a:solidFill>
                          <a:latin typeface="Calibri"/>
                        </a:rPr>
                        <a:t>En el juego</a:t>
                      </a:r>
                    </a:p>
                  </a:txBody>
                  <a:tcPr>
                    <a:solidFill>
                      <a:srgbClr val="1F2A44"/>
                    </a:solidFill>
                  </a:tcPr>
                </a:tc>
              </a:tr>
              <a:tr h="329184">
                <a:tc>
                  <a:txBody>
                    <a:bodyPr/>
                    <a:lstStyle/>
                    <a:p>
                      <a:r>
                        <a:rPr sz="1300" b="1" i="0">
                          <a:solidFill>
                            <a:srgbClr val="1F2937"/>
                          </a:solidFill>
                          <a:latin typeface="Calibri"/>
                        </a:rPr>
                        <a:t>Valor / posición</a:t>
                      </a:r>
                    </a:p>
                  </a:txBody>
                  <a:tcPr marT="36576" marB="36576">
                    <a:solidFill>
                      <a:srgbClr val="FFFFFF"/>
                    </a:solidFill>
                  </a:tcPr>
                </a:tc>
                <a:tc>
                  <a:txBody>
                    <a:bodyPr/>
                    <a:lstStyle/>
                    <a:p>
                      <a:r>
                        <a:rPr sz="1300" b="0" i="0">
                          <a:solidFill>
                            <a:srgbClr val="1F2937"/>
                          </a:solidFill>
                          <a:latin typeface="Calibri"/>
                        </a:rPr>
                        <a:t>¿Justo en el límite?</a:t>
                      </a:r>
                    </a:p>
                  </a:txBody>
                  <a:tcPr marT="36576" marB="36576">
                    <a:solidFill>
                      <a:srgbClr val="FFFFFF"/>
                    </a:solidFill>
                  </a:tcPr>
                </a:tc>
                <a:tc>
                  <a:txBody>
                    <a:bodyPr/>
                    <a:lstStyle/>
                    <a:p>
                      <a:r>
                        <a:rPr sz="1300" b="0" i="0">
                          <a:solidFill>
                            <a:srgbClr val="1F2937"/>
                          </a:solidFill>
                          <a:latin typeface="Calibri"/>
                        </a:rPr>
                        <a:t>Asteroide en y = −4,99 / −5,00 / −5,01</a:t>
                      </a:r>
                    </a:p>
                  </a:txBody>
                  <a:tcPr marT="36576" marB="36576">
                    <a:solidFill>
                      <a:srgbClr val="FFFFFF"/>
                    </a:solidFill>
                  </a:tcPr>
                </a:tc>
              </a:tr>
              <a:tr h="329184">
                <a:tc>
                  <a:txBody>
                    <a:bodyPr/>
                    <a:lstStyle/>
                    <a:p>
                      <a:r>
                        <a:rPr sz="1300" b="1" i="0">
                          <a:solidFill>
                            <a:srgbClr val="1F2937"/>
                          </a:solidFill>
                          <a:latin typeface="Calibri"/>
                        </a:rPr>
                        <a:t>Tiempo</a:t>
                      </a:r>
                    </a:p>
                  </a:txBody>
                  <a:tcPr marT="36576" marB="36576">
                    <a:solidFill>
                      <a:srgbClr val="F3F4F6"/>
                    </a:solidFill>
                  </a:tcPr>
                </a:tc>
                <a:tc>
                  <a:txBody>
                    <a:bodyPr/>
                    <a:lstStyle/>
                    <a:p>
                      <a:r>
                        <a:rPr sz="1300" b="0" i="0">
                          <a:solidFill>
                            <a:srgbClr val="1F2937"/>
                          </a:solidFill>
                          <a:latin typeface="Calibri"/>
                        </a:rPr>
                        <a:t>¿Justo antes o después de un intervalo?</a:t>
                      </a:r>
                    </a:p>
                  </a:txBody>
                  <a:tcPr marT="36576" marB="36576">
                    <a:solidFill>
                      <a:srgbClr val="F3F4F6"/>
                    </a:solidFill>
                  </a:tcPr>
                </a:tc>
                <a:tc>
                  <a:txBody>
                    <a:bodyPr/>
                    <a:lstStyle/>
                    <a:p>
                      <a:r>
                        <a:rPr sz="1300" b="0" i="0">
                          <a:solidFill>
                            <a:srgbClr val="1F2937"/>
                          </a:solidFill>
                          <a:latin typeface="Calibri"/>
                        </a:rPr>
                        <a:t>Disparo a 0,39 s y a 0,41 s del anterior (cooldown 0,4 s)</a:t>
                      </a:r>
                    </a:p>
                  </a:txBody>
                  <a:tcPr marT="36576" marB="36576">
                    <a:solidFill>
                      <a:srgbClr val="F3F4F6"/>
                    </a:solidFill>
                  </a:tcPr>
                </a:tc>
              </a:tr>
              <a:tr h="329184">
                <a:tc>
                  <a:txBody>
                    <a:bodyPr/>
                    <a:lstStyle/>
                    <a:p>
                      <a:r>
                        <a:rPr sz="1300" b="1" i="0">
                          <a:solidFill>
                            <a:srgbClr val="1F2937"/>
                          </a:solidFill>
                          <a:latin typeface="Calibri"/>
                        </a:rPr>
                        <a:t>Cantidad / simultaneidad</a:t>
                      </a:r>
                    </a:p>
                  </a:txBody>
                  <a:tcPr marT="36576" marB="36576">
                    <a:solidFill>
                      <a:srgbClr val="FFFFFF"/>
                    </a:solidFill>
                  </a:tcPr>
                </a:tc>
                <a:tc>
                  <a:txBody>
                    <a:bodyPr/>
                    <a:lstStyle/>
                    <a:p>
                      <a:r>
                        <a:rPr sz="1300" b="0" i="0">
                          <a:solidFill>
                            <a:srgbClr val="1F2937"/>
                          </a:solidFill>
                          <a:latin typeface="Calibri"/>
                        </a:rPr>
                        <a:t>¿0, 1 o 2 eventos a la vez?</a:t>
                      </a:r>
                    </a:p>
                  </a:txBody>
                  <a:tcPr marT="36576" marB="36576">
                    <a:solidFill>
                      <a:srgbClr val="FFFFFF"/>
                    </a:solidFill>
                  </a:tcPr>
                </a:tc>
                <a:tc>
                  <a:txBody>
                    <a:bodyPr/>
                    <a:lstStyle/>
                    <a:p>
                      <a:r>
                        <a:rPr sz="1300" b="0" i="0">
                          <a:solidFill>
                            <a:srgbClr val="1F2937"/>
                          </a:solidFill>
                          <a:latin typeface="Calibri"/>
                        </a:rPr>
                        <a:t>Dos láseres contra el mismo asteroide en el mismo paso de física</a:t>
                      </a:r>
                    </a:p>
                  </a:txBody>
                  <a:tcPr marT="36576" marB="36576">
                    <a:solidFill>
                      <a:srgbClr val="FFFFFF"/>
                    </a:solidFill>
                  </a:tcPr>
                </a:tc>
              </a:tr>
              <a:tr h="329184">
                <a:tc>
                  <a:txBody>
                    <a:bodyPr/>
                    <a:lstStyle/>
                    <a:p>
                      <a:r>
                        <a:rPr sz="1300" b="1" i="0">
                          <a:solidFill>
                            <a:srgbClr val="1F2937"/>
                          </a:solidFill>
                          <a:latin typeface="Calibri"/>
                        </a:rPr>
                        <a:t>Repetición</a:t>
                      </a:r>
                    </a:p>
                  </a:txBody>
                  <a:tcPr marT="36576" marB="36576">
                    <a:solidFill>
                      <a:srgbClr val="F3F4F6"/>
                    </a:solidFill>
                  </a:tcPr>
                </a:tc>
                <a:tc>
                  <a:txBody>
                    <a:bodyPr/>
                    <a:lstStyle/>
                    <a:p>
                      <a:r>
                        <a:rPr sz="1300" b="0" i="0">
                          <a:solidFill>
                            <a:srgbClr val="1F2937"/>
                          </a:solidFill>
                          <a:latin typeface="Calibri"/>
                        </a:rPr>
                        <a:t>¿Qué pasa si se llama dos veces?</a:t>
                      </a:r>
                    </a:p>
                  </a:txBody>
                  <a:tcPr marT="36576" marB="36576">
                    <a:solidFill>
                      <a:srgbClr val="F3F4F6"/>
                    </a:solidFill>
                  </a:tcPr>
                </a:tc>
                <a:tc>
                  <a:txBody>
                    <a:bodyPr/>
                    <a:lstStyle/>
                    <a:p>
                      <a:r>
                        <a:rPr sz="1300" b="0" i="0">
                          <a:solidFill>
                            <a:srgbClr val="1F2937"/>
                          </a:solidFill>
                          <a:latin typeface="Calibri"/>
                        </a:rPr>
                        <a:t>NewGame() dos veces seguidas</a:t>
                      </a:r>
                    </a:p>
                  </a:txBody>
                  <a:tcPr marT="36576" marB="36576">
                    <a:solidFill>
                      <a:srgbClr val="F3F4F6"/>
                    </a:solidFill>
                  </a:tcPr>
                </a:tc>
              </a:tr>
              <a:tr h="329184">
                <a:tc>
                  <a:txBody>
                    <a:bodyPr/>
                    <a:lstStyle/>
                    <a:p>
                      <a:r>
                        <a:rPr sz="1300" b="1" i="0">
                          <a:solidFill>
                            <a:srgbClr val="1F2937"/>
                          </a:solidFill>
                          <a:latin typeface="Calibri"/>
                        </a:rPr>
                        <a:t>Orden</a:t>
                      </a:r>
                    </a:p>
                  </a:txBody>
                  <a:tcPr marT="36576" marB="36576">
                    <a:solidFill>
                      <a:srgbClr val="FFFFFF"/>
                    </a:solidFill>
                  </a:tcPr>
                </a:tc>
                <a:tc>
                  <a:txBody>
                    <a:bodyPr/>
                    <a:lstStyle/>
                    <a:p>
                      <a:r>
                        <a:rPr sz="1300" b="0" i="0">
                          <a:solidFill>
                            <a:srgbClr val="1F2937"/>
                          </a:solidFill>
                          <a:latin typeface="Calibri"/>
                        </a:rPr>
                        <a:t>¿Y si los eventos llegan al revés?</a:t>
                      </a:r>
                    </a:p>
                  </a:txBody>
                  <a:tcPr marT="36576" marB="36576">
                    <a:solidFill>
                      <a:srgbClr val="FFFFFF"/>
                    </a:solidFill>
                  </a:tcPr>
                </a:tc>
                <a:tc>
                  <a:txBody>
                    <a:bodyPr/>
                    <a:lstStyle/>
                    <a:p>
                      <a:r>
                        <a:rPr sz="1300" b="0" i="0">
                          <a:solidFill>
                            <a:srgbClr val="1F2937"/>
                          </a:solidFill>
                          <a:latin typeface="Calibri"/>
                        </a:rPr>
                        <a:t>Un punto que se suma en el mismo frame del Game Over</a:t>
                      </a:r>
                    </a:p>
                  </a:txBody>
                  <a:tcPr marT="36576" marB="36576">
                    <a:solidFill>
                      <a:srgbClr val="FFFFFF"/>
                    </a:solidFill>
                  </a:tcPr>
                </a:tc>
              </a:tr>
            </a:tbl>
          </a:graphicData>
        </a:graphic>
      </p:graphicFrame>
      <p:sp>
        <p:nvSpPr>
          <p:cNvPr id="7" name="Rectangle 6"/>
          <p:cNvSpPr/>
          <p:nvPr/>
        </p:nvSpPr>
        <p:spPr>
          <a:xfrm>
            <a:off x="502920" y="5029200"/>
            <a:ext cx="11185855" cy="457200"/>
          </a:xfrm>
          <a:prstGeom prst="rect">
            <a:avLst/>
          </a:prstGeom>
          <a:solidFill>
            <a:srgbClr val="FE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029200"/>
            <a:ext cx="10911535" cy="457200"/>
          </a:xfrm>
          <a:prstGeom prst="rect">
            <a:avLst/>
          </a:prstGeom>
          <a:noFill/>
        </p:spPr>
        <p:txBody>
          <a:bodyPr wrap="square" anchor="ctr" lIns="0" rIns="0" tIns="0" bIns="0">
            <a:spAutoFit/>
          </a:bodyPr>
          <a:lstStyle/>
          <a:p>
            <a:r>
              <a:rPr sz="1200" b="1" i="0">
                <a:solidFill>
                  <a:srgbClr val="D97706"/>
                </a:solidFill>
                <a:latin typeface="Calibri"/>
              </a:rPr>
              <a:t>💻 Ver en el código:  </a:t>
            </a:r>
            <a:r>
              <a:rPr sz="1200" b="0" i="0">
                <a:solidFill>
                  <a:srgbClr val="1F2937"/>
                </a:solidFill>
                <a:latin typeface="Calibri"/>
              </a:rPr>
              <a:t>Asteroid.cs 43–50 (límite −5) · Ship.cs 82–90 (cooldown 0,4 s) · Laser.cs 46–55 · Game.cs 67–80</a:t>
            </a:r>
          </a:p>
        </p:txBody>
      </p:sp>
      <p:sp>
        <p:nvSpPr>
          <p:cNvPr id="9" name="Rectangle 8"/>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Algunos bordes no tienen un resultado esperado obvio: lo decide el diseño, no quien prueba.</a:t>
            </a:r>
          </a:p>
        </p:txBody>
      </p:sp>
      <p:sp>
        <p:nvSpPr>
          <p:cNvPr id="11" name="TextBox 10"/>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2" name="TextBox 11"/>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7/27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8</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1 · CASO MODELO</a:t>
            </a:r>
          </a:p>
          <a:p>
            <a:r>
              <a:rPr sz="2600" b="1" i="0">
                <a:solidFill>
                  <a:srgbClr val="FFFFFF"/>
                </a:solidFill>
                <a:latin typeface="Calibri"/>
              </a:rPr>
              <a:t>Formato de un caso de integración</a:t>
            </a:r>
          </a:p>
        </p:txBody>
      </p:sp>
      <p:graphicFrame>
        <p:nvGraphicFramePr>
          <p:cNvPr id="6" name="Table 5"/>
          <p:cNvGraphicFramePr>
            <a:graphicFrameLocks noGrp="1"/>
          </p:cNvGraphicFramePr>
          <p:nvPr/>
        </p:nvGraphicFramePr>
        <p:xfrm>
          <a:off x="502920" y="1280160"/>
          <a:ext cx="11185854" cy="2962656"/>
        </p:xfrm>
        <a:graphic>
          <a:graphicData uri="http://schemas.openxmlformats.org/drawingml/2006/table">
            <a:tbl>
              <a:tblPr firstRow="1" bandRow="1">
                <a:tableStyleId>{5C22544A-7EE6-4342-B048-85BDC9FD1C3A}</a:tableStyleId>
              </a:tblPr>
              <a:tblGrid>
                <a:gridCol w="2278600"/>
                <a:gridCol w="8907254"/>
              </a:tblGrid>
              <a:tr h="329184">
                <a:tc>
                  <a:txBody>
                    <a:bodyPr/>
                    <a:lstStyle/>
                    <a:p>
                      <a:r>
                        <a:rPr sz="1400" b="1" i="0">
                          <a:solidFill>
                            <a:srgbClr val="FFFFFF"/>
                          </a:solidFill>
                          <a:latin typeface="Calibri"/>
                        </a:rPr>
                        <a:t>Campo</a:t>
                      </a:r>
                    </a:p>
                  </a:txBody>
                  <a:tcPr>
                    <a:solidFill>
                      <a:srgbClr val="1F2A44"/>
                    </a:solidFill>
                  </a:tcPr>
                </a:tc>
                <a:tc>
                  <a:txBody>
                    <a:bodyPr/>
                    <a:lstStyle/>
                    <a:p>
                      <a:r>
                        <a:rPr sz="1400" b="1" i="0">
                          <a:solidFill>
                            <a:srgbClr val="FFFFFF"/>
                          </a:solidFill>
                          <a:latin typeface="Calibri"/>
                        </a:rPr>
                        <a:t>INT-AST-11 · Choque entre asteroides (negativo)</a:t>
                      </a:r>
                    </a:p>
                  </a:txBody>
                  <a:tcPr>
                    <a:solidFill>
                      <a:srgbClr val="1F2A44"/>
                    </a:solidFill>
                  </a:tcPr>
                </a:tc>
              </a:tr>
              <a:tr h="329184">
                <a:tc>
                  <a:txBody>
                    <a:bodyPr/>
                    <a:lstStyle/>
                    <a:p>
                      <a:r>
                        <a:rPr sz="1300" b="1" i="0">
                          <a:solidFill>
                            <a:srgbClr val="1F2937"/>
                          </a:solidFill>
                          <a:latin typeface="Calibri"/>
                        </a:rPr>
                        <a:t>Objetivo</a:t>
                      </a:r>
                    </a:p>
                  </a:txBody>
                  <a:tcPr marT="36576" marB="36576">
                    <a:solidFill>
                      <a:srgbClr val="FFFFFF"/>
                    </a:solidFill>
                  </a:tcPr>
                </a:tc>
                <a:tc>
                  <a:txBody>
                    <a:bodyPr/>
                    <a:lstStyle/>
                    <a:p>
                      <a:r>
                        <a:rPr sz="1300" b="0" i="0">
                          <a:solidFill>
                            <a:srgbClr val="1F2937"/>
                          </a:solidFill>
                          <a:latin typeface="Calibri"/>
                        </a:rPr>
                        <a:t>Un choque entre dos asteroides no provoca Game Over</a:t>
                      </a:r>
                    </a:p>
                  </a:txBody>
                  <a:tcPr marT="36576" marB="36576">
                    <a:solidFill>
                      <a:srgbClr val="FFFFFF"/>
                    </a:solidFill>
                  </a:tcPr>
                </a:tc>
              </a:tr>
              <a:tr h="329184">
                <a:tc>
                  <a:txBody>
                    <a:bodyPr/>
                    <a:lstStyle/>
                    <a:p>
                      <a:r>
                        <a:rPr sz="1300" b="1" i="0">
                          <a:solidFill>
                            <a:srgbClr val="1F2937"/>
                          </a:solidFill>
                          <a:latin typeface="Calibri"/>
                        </a:rPr>
                        <a:t>Componentes</a:t>
                      </a:r>
                    </a:p>
                  </a:txBody>
                  <a:tcPr marT="36576" marB="36576">
                    <a:solidFill>
                      <a:srgbClr val="F3F4F6"/>
                    </a:solidFill>
                  </a:tcPr>
                </a:tc>
                <a:tc>
                  <a:txBody>
                    <a:bodyPr/>
                    <a:lstStyle/>
                    <a:p>
                      <a:r>
                        <a:rPr sz="1300" b="0" i="0">
                          <a:solidFill>
                            <a:srgbClr val="1F2937"/>
                          </a:solidFill>
                          <a:latin typeface="Calibri"/>
                        </a:rPr>
                        <a:t>Asteroid ×2 · física · Game</a:t>
                      </a:r>
                    </a:p>
                  </a:txBody>
                  <a:tcPr marT="36576" marB="36576">
                    <a:solidFill>
                      <a:srgbClr val="F3F4F6"/>
                    </a:solidFill>
                  </a:tcPr>
                </a:tc>
              </a:tr>
              <a:tr h="329184">
                <a:tc>
                  <a:txBody>
                    <a:bodyPr/>
                    <a:lstStyle/>
                    <a:p>
                      <a:r>
                        <a:rPr sz="1300" b="1" i="0">
                          <a:solidFill>
                            <a:srgbClr val="1F2937"/>
                          </a:solidFill>
                          <a:latin typeface="Calibri"/>
                        </a:rPr>
                        <a:t>Entrada</a:t>
                      </a:r>
                    </a:p>
                  </a:txBody>
                  <a:tcPr marT="36576" marB="36576">
                    <a:solidFill>
                      <a:srgbClr val="FFFFFF"/>
                    </a:solidFill>
                  </a:tcPr>
                </a:tc>
                <a:tc>
                  <a:txBody>
                    <a:bodyPr/>
                    <a:lstStyle/>
                    <a:p>
                      <a:r>
                        <a:rPr sz="1300" b="0" i="0">
                          <a:solidFill>
                            <a:srgbClr val="1F2937"/>
                          </a:solidFill>
                          <a:latin typeface="Calibri"/>
                        </a:rPr>
                        <a:t>Dos asteroides superpuestos, lejos de la nave</a:t>
                      </a:r>
                    </a:p>
                  </a:txBody>
                  <a:tcPr marT="36576" marB="36576">
                    <a:solidFill>
                      <a:srgbClr val="FFFFFF"/>
                    </a:solidFill>
                  </a:tcPr>
                </a:tc>
              </a:tr>
              <a:tr h="329184">
                <a:tc>
                  <a:txBody>
                    <a:bodyPr/>
                    <a:lstStyle/>
                    <a:p>
                      <a:r>
                        <a:rPr sz="1300" b="1" i="0">
                          <a:solidFill>
                            <a:srgbClr val="1F2937"/>
                          </a:solidFill>
                          <a:latin typeface="Calibri"/>
                        </a:rPr>
                        <a:t>Precondiciones</a:t>
                      </a:r>
                    </a:p>
                  </a:txBody>
                  <a:tcPr marT="36576" marB="36576">
                    <a:solidFill>
                      <a:srgbClr val="F3F4F6"/>
                    </a:solidFill>
                  </a:tcPr>
                </a:tc>
                <a:tc>
                  <a:txBody>
                    <a:bodyPr/>
                    <a:lstStyle/>
                    <a:p>
                      <a:r>
                        <a:rPr sz="1300" b="0" i="0">
                          <a:solidFill>
                            <a:srgbClr val="1F2937"/>
                          </a:solidFill>
                          <a:latin typeface="Calibri"/>
                        </a:rPr>
                        <a:t>Prefab Game instanciado · 1 frame (Start ejecutado) · isGameOver = false</a:t>
                      </a:r>
                    </a:p>
                  </a:txBody>
                  <a:tcPr marT="36576" marB="36576">
                    <a:solidFill>
                      <a:srgbClr val="F3F4F6"/>
                    </a:solidFill>
                  </a:tcPr>
                </a:tc>
              </a:tr>
              <a:tr h="329184">
                <a:tc>
                  <a:txBody>
                    <a:bodyPr/>
                    <a:lstStyle/>
                    <a:p>
                      <a:r>
                        <a:rPr sz="1300" b="1" i="0">
                          <a:solidFill>
                            <a:srgbClr val="1F2937"/>
                          </a:solidFill>
                          <a:latin typeface="Calibri"/>
                        </a:rPr>
                        <a:t>Pasos</a:t>
                      </a:r>
                    </a:p>
                  </a:txBody>
                  <a:tcPr marT="36576" marB="36576">
                    <a:solidFill>
                      <a:srgbClr val="FFFFFF"/>
                    </a:solidFill>
                  </a:tcPr>
                </a:tc>
                <a:tc>
                  <a:txBody>
                    <a:bodyPr/>
                    <a:lstStyle/>
                    <a:p>
                      <a:r>
                        <a:rPr sz="1300" b="0" i="0">
                          <a:solidFill>
                            <a:srgbClr val="1F2937"/>
                          </a:solidFill>
                          <a:latin typeface="Calibri"/>
                        </a:rPr>
                        <a:t>1. SpawnAsteroid() ×2  2. Ubicar ambos en (6, 3)  3. Esperar 2 FixedUpdate</a:t>
                      </a:r>
                    </a:p>
                  </a:txBody>
                  <a:tcPr marT="36576" marB="36576">
                    <a:solidFill>
                      <a:srgbClr val="FFFFFF"/>
                    </a:solidFill>
                  </a:tcPr>
                </a:tc>
              </a:tr>
              <a:tr h="329184">
                <a:tc>
                  <a:txBody>
                    <a:bodyPr/>
                    <a:lstStyle/>
                    <a:p>
                      <a:r>
                        <a:rPr sz="1300" b="1" i="0">
                          <a:solidFill>
                            <a:srgbClr val="1F2937"/>
                          </a:solidFill>
                          <a:latin typeface="Calibri"/>
                        </a:rPr>
                        <a:t>Resultado esperado</a:t>
                      </a:r>
                    </a:p>
                  </a:txBody>
                  <a:tcPr marT="36576" marB="36576">
                    <a:solidFill>
                      <a:srgbClr val="F3F4F6"/>
                    </a:solidFill>
                  </a:tcPr>
                </a:tc>
                <a:tc>
                  <a:txBody>
                    <a:bodyPr/>
                    <a:lstStyle/>
                    <a:p>
                      <a:r>
                        <a:rPr sz="1300" b="0" i="0">
                          <a:solidFill>
                            <a:srgbClr val="1F2937"/>
                          </a:solidFill>
                          <a:latin typeface="Calibri"/>
                        </a:rPr>
                        <a:t>isGameOver = false · ambos asteroides siguen existiendo · score sin cambios</a:t>
                      </a:r>
                    </a:p>
                  </a:txBody>
                  <a:tcPr marT="36576" marB="36576">
                    <a:solidFill>
                      <a:srgbClr val="F3F4F6"/>
                    </a:solidFill>
                  </a:tcPr>
                </a:tc>
              </a:tr>
              <a:tr h="329184">
                <a:tc>
                  <a:txBody>
                    <a:bodyPr/>
                    <a:lstStyle/>
                    <a:p>
                      <a:r>
                        <a:rPr sz="1300" b="1" i="0">
                          <a:solidFill>
                            <a:srgbClr val="1F2937"/>
                          </a:solidFill>
                          <a:latin typeface="Calibri"/>
                        </a:rPr>
                        <a:t>Bug que detecta</a:t>
                      </a:r>
                    </a:p>
                  </a:txBody>
                  <a:tcPr marT="36576" marB="36576">
                    <a:solidFill>
                      <a:srgbClr val="FFFFFF"/>
                    </a:solidFill>
                  </a:tcPr>
                </a:tc>
                <a:tc>
                  <a:txBody>
                    <a:bodyPr/>
                    <a:lstStyle/>
                    <a:p>
                      <a:r>
                        <a:rPr sz="1300" b="0" i="0">
                          <a:solidFill>
                            <a:srgbClr val="1F2937"/>
                          </a:solidFill>
                          <a:latin typeface="Calibri"/>
                        </a:rPr>
                        <a:t>Alguien relaja la condición de Asteroid.cs 54 y cualquier choque termina la partida</a:t>
                      </a:r>
                    </a:p>
                  </a:txBody>
                  <a:tcPr marT="36576" marB="36576">
                    <a:solidFill>
                      <a:srgbClr val="FFFFFF"/>
                    </a:solidFill>
                  </a:tcPr>
                </a:tc>
              </a:tr>
              <a:tr h="329184">
                <a:tc>
                  <a:txBody>
                    <a:bodyPr/>
                    <a:lstStyle/>
                    <a:p>
                      <a:r>
                        <a:rPr sz="1300" b="1" i="0">
                          <a:solidFill>
                            <a:srgbClr val="1F2937"/>
                          </a:solidFill>
                          <a:latin typeface="Calibri"/>
                        </a:rPr>
                        <a:t>¿Por qué integración?</a:t>
                      </a:r>
                    </a:p>
                  </a:txBody>
                  <a:tcPr marT="36576" marB="36576">
                    <a:solidFill>
                      <a:srgbClr val="F3F4F6"/>
                    </a:solidFill>
                  </a:tcPr>
                </a:tc>
                <a:tc>
                  <a:txBody>
                    <a:bodyPr/>
                    <a:lstStyle/>
                    <a:p>
                      <a:r>
                        <a:rPr sz="1300" b="0" i="0">
                          <a:solidFill>
                            <a:srgbClr val="1F2937"/>
                          </a:solidFill>
                          <a:latin typeface="Calibri"/>
                        </a:rPr>
                        <a:t>Verifica el contrato por nombre entre Asteroid y Game a través de la física real</a:t>
                      </a:r>
                    </a:p>
                  </a:txBody>
                  <a:tcPr marT="36576" marB="36576">
                    <a:solidFill>
                      <a:srgbClr val="F3F4F6"/>
                    </a:solidFill>
                  </a:tcPr>
                </a:tc>
              </a:tr>
            </a:tbl>
          </a:graphicData>
        </a:graphic>
      </p:graphicFrame>
      <p:sp>
        <p:nvSpPr>
          <p:cNvPr id="7" name="TextBox 6"/>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8" name="TextBox 7"/>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8/27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9</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PRÁCTICA · EN GRUPOS</a:t>
            </a:r>
          </a:p>
          <a:p>
            <a:r>
              <a:rPr sz="2600" b="1" i="0">
                <a:solidFill>
                  <a:srgbClr val="FFFFFF"/>
                </a:solidFill>
                <a:latin typeface="Calibri"/>
              </a:rPr>
              <a:t>Actividad 1 · Diseñar casos nuevos (12 min)</a:t>
            </a:r>
          </a:p>
        </p:txBody>
      </p:sp>
      <p:sp>
        <p:nvSpPr>
          <p:cNvPr id="6" name="TextBox 5"/>
          <p:cNvSpPr txBox="1"/>
          <p:nvPr/>
        </p:nvSpPr>
        <p:spPr>
          <a:xfrm>
            <a:off x="502920" y="1280160"/>
            <a:ext cx="7315200" cy="1806575"/>
          </a:xfrm>
          <a:prstGeom prst="rect">
            <a:avLst/>
          </a:prstGeom>
          <a:noFill/>
        </p:spPr>
        <p:txBody>
          <a:bodyPr wrap="square" anchor="t" lIns="0" rIns="0" tIns="0" bIns="0">
            <a:spAutoFit/>
          </a:bodyPr>
          <a:lstStyle/>
          <a:p>
            <a:pPr>
              <a:spcAft>
                <a:spcPts val="600"/>
              </a:spcAft>
            </a:pPr>
            <a:r>
              <a:rPr sz="1300" b="1" i="0">
                <a:solidFill>
                  <a:srgbClr val="0D9488"/>
                </a:solidFill>
                <a:latin typeface="Calibri"/>
              </a:rPr>
              <a:t>■  </a:t>
            </a:r>
            <a:r>
              <a:rPr sz="1700" b="0" i="0">
                <a:solidFill>
                  <a:srgbClr val="1F2937"/>
                </a:solidFill>
                <a:latin typeface="Calibri"/>
              </a:rPr>
              <a:t>Flujo A: láser destruye asteroide → puntaje</a:t>
            </a:r>
          </a:p>
          <a:p>
            <a:pPr>
              <a:spcAft>
                <a:spcPts val="600"/>
              </a:spcAft>
            </a:pPr>
            <a:r>
              <a:rPr sz="1300" b="1" i="0">
                <a:solidFill>
                  <a:srgbClr val="0D9488"/>
                </a:solidFill>
                <a:latin typeface="Calibri"/>
              </a:rPr>
              <a:t>■  </a:t>
            </a:r>
            <a:r>
              <a:rPr sz="1700" b="0" i="0">
                <a:solidFill>
                  <a:srgbClr val="1F2937"/>
                </a:solidFill>
                <a:latin typeface="Calibri"/>
              </a:rPr>
              <a:t>Flujo B: asteroide choca la nave → Game Over</a:t>
            </a:r>
          </a:p>
          <a:p>
            <a:pPr>
              <a:spcAft>
                <a:spcPts val="600"/>
              </a:spcAft>
            </a:pPr>
            <a:r>
              <a:rPr sz="1300" b="1" i="0">
                <a:solidFill>
                  <a:srgbClr val="0D9488"/>
                </a:solidFill>
                <a:latin typeface="Calibri"/>
              </a:rPr>
              <a:t>■  </a:t>
            </a:r>
            <a:r>
              <a:rPr sz="1700" b="0" i="0">
                <a:solidFill>
                  <a:srgbClr val="1F2937"/>
                </a:solidFill>
                <a:latin typeface="Calibri"/>
              </a:rPr>
              <a:t>Flujo C: Game Over → nueva partida</a:t>
            </a:r>
          </a:p>
          <a:p>
            <a:pPr>
              <a:spcAft>
                <a:spcPts val="600"/>
              </a:spcAft>
            </a:pPr>
            <a:r>
              <a:rPr sz="1300" b="1" i="0">
                <a:solidFill>
                  <a:srgbClr val="0D9488"/>
                </a:solidFill>
                <a:latin typeface="Calibri"/>
              </a:rPr>
              <a:t>■  </a:t>
            </a:r>
            <a:r>
              <a:rPr sz="1700" b="0" i="0">
                <a:solidFill>
                  <a:srgbClr val="1F2937"/>
                </a:solidFill>
                <a:latin typeface="Calibri"/>
              </a:rPr>
              <a:t>Para cada flujo: un caso POSITIVO nuevo y un caso NEGATIVO</a:t>
            </a:r>
          </a:p>
          <a:p>
            <a:pPr>
              <a:spcAft>
                <a:spcPts val="600"/>
              </a:spcAft>
            </a:pPr>
            <a:r>
              <a:rPr sz="1300" b="1" i="0">
                <a:solidFill>
                  <a:srgbClr val="0D9488"/>
                </a:solidFill>
                <a:latin typeface="Calibri"/>
              </a:rPr>
              <a:t>■  </a:t>
            </a:r>
            <a:r>
              <a:rPr sz="1700" b="0" i="0">
                <a:solidFill>
                  <a:srgbClr val="1F2937"/>
                </a:solidFill>
                <a:latin typeface="Calibri"/>
              </a:rPr>
              <a:t>Usar la ficha de 8 campos · no repetir los tests 01–07</a:t>
            </a:r>
          </a:p>
        </p:txBody>
      </p:sp>
      <p:sp>
        <p:nvSpPr>
          <p:cNvPr id="7" name="Rectangle 6"/>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Actividad:  Entreguen 6 fichas (2 por flujo). Pista: ¿qué NO debería pasar en cada flujo?</a:t>
            </a:r>
          </a:p>
        </p:txBody>
      </p:sp>
      <p:sp>
        <p:nvSpPr>
          <p:cNvPr id="9" name="Rectangle 8"/>
          <p:cNvSpPr/>
          <p:nvPr/>
        </p:nvSpPr>
        <p:spPr>
          <a:xfrm>
            <a:off x="8092440" y="1280160"/>
            <a:ext cx="3593592" cy="4160520"/>
          </a:xfrm>
          <a:prstGeom prst="rect">
            <a:avLst/>
          </a:prstGeom>
          <a:solidFill>
            <a:srgbClr val="F8FAFC"/>
          </a:solidFill>
          <a:ln w="19050">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i="0">
                <a:solidFill>
                  <a:srgbClr val="6B7280"/>
                </a:solidFill>
                <a:latin typeface="Calibri"/>
              </a:rPr>
              <a:t>🖼  IMAGEN</a:t>
            </a:r>
          </a:p>
          <a:p>
            <a:pPr algn="ctr">
              <a:spcBef>
                <a:spcPts val="600"/>
              </a:spcBef>
            </a:pPr>
            <a:r>
              <a:rPr sz="1200" b="0" i="1">
                <a:solidFill>
                  <a:srgbClr val="6B7280"/>
                </a:solidFill>
                <a:latin typeface="Calibri"/>
              </a:rPr>
              <a:t>La ficha de 8 campos vacía (Objetivo · Componentes · Entrada · Precondiciones · Pasos · Resultado esperado · Bug que detecta · ¿Por qué integración?).</a:t>
            </a:r>
          </a:p>
        </p:txBody>
      </p:sp>
      <p:sp>
        <p:nvSpPr>
          <p:cNvPr id="10" name="TextBox 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1" name="TextBox 1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9/27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10</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RESOLUCIÓN DOCENTE</a:t>
            </a:r>
          </a:p>
          <a:p>
            <a:r>
              <a:rPr sz="2600" b="1" i="0">
                <a:solidFill>
                  <a:srgbClr val="FFFFFF"/>
                </a:solidFill>
                <a:latin typeface="Calibri"/>
              </a:rPr>
              <a:t>Actividad 1 · Resolución</a:t>
            </a:r>
          </a:p>
        </p:txBody>
      </p:sp>
      <p:graphicFrame>
        <p:nvGraphicFramePr>
          <p:cNvPr id="6" name="Table 5"/>
          <p:cNvGraphicFramePr>
            <a:graphicFrameLocks noGrp="1"/>
          </p:cNvGraphicFramePr>
          <p:nvPr/>
        </p:nvGraphicFramePr>
        <p:xfrm>
          <a:off x="502920" y="1280160"/>
          <a:ext cx="11185852" cy="2304288"/>
        </p:xfrm>
        <a:graphic>
          <a:graphicData uri="http://schemas.openxmlformats.org/drawingml/2006/table">
            <a:tbl>
              <a:tblPr firstRow="1" bandRow="1">
                <a:tableStyleId>{5C22544A-7EE6-4342-B048-85BDC9FD1C3A}</a:tableStyleId>
              </a:tblPr>
              <a:tblGrid>
                <a:gridCol w="798989"/>
                <a:gridCol w="3395705"/>
                <a:gridCol w="3595453"/>
                <a:gridCol w="3395705"/>
              </a:tblGrid>
              <a:tr h="329184">
                <a:tc>
                  <a:txBody>
                    <a:bodyPr/>
                    <a:lstStyle/>
                    <a:p>
                      <a:r>
                        <a:rPr sz="1300" b="1" i="0">
                          <a:solidFill>
                            <a:srgbClr val="FFFFFF"/>
                          </a:solidFill>
                          <a:latin typeface="Calibri"/>
                        </a:rPr>
                        <a:t>Flujo</a:t>
                      </a:r>
                    </a:p>
                  </a:txBody>
                  <a:tcPr>
                    <a:solidFill>
                      <a:srgbClr val="1F2A44"/>
                    </a:solidFill>
                  </a:tcPr>
                </a:tc>
                <a:tc>
                  <a:txBody>
                    <a:bodyPr/>
                    <a:lstStyle/>
                    <a:p>
                      <a:r>
                        <a:rPr sz="1300" b="1" i="0">
                          <a:solidFill>
                            <a:srgbClr val="FFFFFF"/>
                          </a:solidFill>
                          <a:latin typeface="Calibri"/>
                        </a:rPr>
                        <a:t>Caso</a:t>
                      </a:r>
                    </a:p>
                  </a:txBody>
                  <a:tcPr>
                    <a:solidFill>
                      <a:srgbClr val="1F2A44"/>
                    </a:solidFill>
                  </a:tcPr>
                </a:tc>
                <a:tc>
                  <a:txBody>
                    <a:bodyPr/>
                    <a:lstStyle/>
                    <a:p>
                      <a:r>
                        <a:rPr sz="1300" b="1" i="0">
                          <a:solidFill>
                            <a:srgbClr val="FFFFFF"/>
                          </a:solidFill>
                          <a:latin typeface="Calibri"/>
                        </a:rPr>
                        <a:t>Resultado esperado</a:t>
                      </a:r>
                    </a:p>
                  </a:txBody>
                  <a:tcPr>
                    <a:solidFill>
                      <a:srgbClr val="1F2A44"/>
                    </a:solidFill>
                  </a:tcPr>
                </a:tc>
                <a:tc>
                  <a:txBody>
                    <a:bodyPr/>
                    <a:lstStyle/>
                    <a:p>
                      <a:r>
                        <a:rPr sz="1300" b="1" i="0">
                          <a:solidFill>
                            <a:srgbClr val="FFFFFF"/>
                          </a:solidFill>
                          <a:latin typeface="Calibri"/>
                        </a:rPr>
                        <a:t>Bug que detecta</a:t>
                      </a:r>
                    </a:p>
                  </a:txBody>
                  <a:tcPr>
                    <a:solidFill>
                      <a:srgbClr val="1F2A44"/>
                    </a:solidFill>
                  </a:tcPr>
                </a:tc>
              </a:tr>
              <a:tr h="329184">
                <a:tc>
                  <a:txBody>
                    <a:bodyPr/>
                    <a:lstStyle/>
                    <a:p>
                      <a:r>
                        <a:rPr sz="1200" b="1" i="0">
                          <a:solidFill>
                            <a:srgbClr val="1F2937"/>
                          </a:solidFill>
                          <a:latin typeface="Calibri"/>
                        </a:rPr>
                        <a:t>A +</a:t>
                      </a:r>
                    </a:p>
                  </a:txBody>
                  <a:tcPr marT="36576" marB="36576">
                    <a:solidFill>
                      <a:srgbClr val="FFFFFF"/>
                    </a:solidFill>
                  </a:tcPr>
                </a:tc>
                <a:tc>
                  <a:txBody>
                    <a:bodyPr/>
                    <a:lstStyle/>
                    <a:p>
                      <a:r>
                        <a:rPr sz="1200" b="0" i="0">
                          <a:solidFill>
                            <a:srgbClr val="1F2937"/>
                          </a:solidFill>
                          <a:latin typeface="Calibri"/>
                        </a:rPr>
                        <a:t>INT-AST-09 · El HUD muestra el puntaje</a:t>
                      </a:r>
                    </a:p>
                  </a:txBody>
                  <a:tcPr marT="36576" marB="36576">
                    <a:solidFill>
                      <a:srgbClr val="FFFFFF"/>
                    </a:solidFill>
                  </a:tcPr>
                </a:tc>
                <a:tc>
                  <a:txBody>
                    <a:bodyPr/>
                    <a:lstStyle/>
                    <a:p>
                      <a:r>
                        <a:rPr sz="1200" b="0" i="0">
                          <a:solidFill>
                            <a:srgbClr val="1F2937"/>
                          </a:solidFill>
                          <a:latin typeface="Calibri"/>
                        </a:rPr>
                        <a:t>2 impactos → score = 2 y texto «Score: 2»</a:t>
                      </a:r>
                    </a:p>
                  </a:txBody>
                  <a:tcPr marT="36576" marB="36576">
                    <a:solidFill>
                      <a:srgbClr val="FFFFFF"/>
                    </a:solidFill>
                  </a:tcPr>
                </a:tc>
                <a:tc>
                  <a:txBody>
                    <a:bodyPr/>
                    <a:lstStyle/>
                    <a:p>
                      <a:r>
                        <a:rPr sz="1200" b="0" i="0">
                          <a:solidFill>
                            <a:srgbClr val="1F2937"/>
                          </a:solidFill>
                          <a:latin typeface="Calibri"/>
                        </a:rPr>
                        <a:t>Se borra la actualización del texto (Game.cs 85)</a:t>
                      </a:r>
                    </a:p>
                  </a:txBody>
                  <a:tcPr marT="36576" marB="36576">
                    <a:solidFill>
                      <a:srgbClr val="FFFFFF"/>
                    </a:solidFill>
                  </a:tcPr>
                </a:tc>
              </a:tr>
              <a:tr h="329184">
                <a:tc>
                  <a:txBody>
                    <a:bodyPr/>
                    <a:lstStyle/>
                    <a:p>
                      <a:r>
                        <a:rPr sz="1200" b="1" i="0">
                          <a:solidFill>
                            <a:srgbClr val="1F2937"/>
                          </a:solidFill>
                          <a:latin typeface="Calibri"/>
                        </a:rPr>
                        <a:t>A −</a:t>
                      </a:r>
                    </a:p>
                  </a:txBody>
                  <a:tcPr marT="36576" marB="36576">
                    <a:solidFill>
                      <a:srgbClr val="F3F4F6"/>
                    </a:solidFill>
                  </a:tcPr>
                </a:tc>
                <a:tc>
                  <a:txBody>
                    <a:bodyPr/>
                    <a:lstStyle/>
                    <a:p>
                      <a:r>
                        <a:rPr sz="1200" b="0" i="0">
                          <a:solidFill>
                            <a:srgbClr val="1F2937"/>
                          </a:solidFill>
                          <a:latin typeface="Calibri"/>
                        </a:rPr>
                        <a:t>INT-AST-10 · Láser contra objeto ajeno</a:t>
                      </a:r>
                    </a:p>
                  </a:txBody>
                  <a:tcPr marT="36576" marB="36576">
                    <a:solidFill>
                      <a:srgbClr val="F3F4F6"/>
                    </a:solidFill>
                  </a:tcPr>
                </a:tc>
                <a:tc>
                  <a:txBody>
                    <a:bodyPr/>
                    <a:lstStyle/>
                    <a:p>
                      <a:r>
                        <a:rPr sz="1200" b="0" i="0">
                          <a:solidFill>
                            <a:srgbClr val="1F2937"/>
                          </a:solidFill>
                          <a:latin typeface="Calibri"/>
                        </a:rPr>
                        <a:t>score = 0 · el objeto sigue intacto · sin excepción</a:t>
                      </a:r>
                    </a:p>
                  </a:txBody>
                  <a:tcPr marT="36576" marB="36576">
                    <a:solidFill>
                      <a:srgbClr val="F3F4F6"/>
                    </a:solidFill>
                  </a:tcPr>
                </a:tc>
                <a:tc>
                  <a:txBody>
                    <a:bodyPr/>
                    <a:lstStyle/>
                    <a:p>
                      <a:r>
                        <a:rPr sz="1200" b="0" i="0">
                          <a:solidFill>
                            <a:srgbClr val="1F2937"/>
                          </a:solidFill>
                          <a:latin typeface="Calibri"/>
                        </a:rPr>
                        <a:t>Se quita el filtro GetComponent&lt;Asteroid&gt;() (Laser.cs 48)</a:t>
                      </a:r>
                    </a:p>
                  </a:txBody>
                  <a:tcPr marT="36576" marB="36576">
                    <a:solidFill>
                      <a:srgbClr val="F3F4F6"/>
                    </a:solidFill>
                  </a:tcPr>
                </a:tc>
              </a:tr>
              <a:tr h="329184">
                <a:tc>
                  <a:txBody>
                    <a:bodyPr/>
                    <a:lstStyle/>
                    <a:p>
                      <a:r>
                        <a:rPr sz="1200" b="1" i="0">
                          <a:solidFill>
                            <a:srgbClr val="1F2937"/>
                          </a:solidFill>
                          <a:latin typeface="Calibri"/>
                        </a:rPr>
                        <a:t>B +</a:t>
                      </a:r>
                    </a:p>
                  </a:txBody>
                  <a:tcPr marT="36576" marB="36576">
                    <a:solidFill>
                      <a:srgbClr val="FFFFFF"/>
                    </a:solidFill>
                  </a:tcPr>
                </a:tc>
                <a:tc>
                  <a:txBody>
                    <a:bodyPr/>
                    <a:lstStyle/>
                    <a:p>
                      <a:r>
                        <a:rPr sz="1200" b="0" i="0">
                          <a:solidFill>
                            <a:srgbClr val="1F2937"/>
                          </a:solidFill>
                          <a:latin typeface="Calibri"/>
                        </a:rPr>
                        <a:t>(ya cubierto por 02 y 04)</a:t>
                      </a:r>
                    </a:p>
                  </a:txBody>
                  <a:tcPr marT="36576" marB="36576">
                    <a:solidFill>
                      <a:srgbClr val="FFFFFF"/>
                    </a:solidFill>
                  </a:tcPr>
                </a:tc>
                <a:tc>
                  <a:txBody>
                    <a:bodyPr/>
                    <a:lstStyle/>
                    <a:p>
                      <a:r>
                        <a:rPr sz="1200" b="0" i="0">
                          <a:solidFill>
                            <a:srgbClr val="1F2937"/>
                          </a:solidFill>
                          <a:latin typeface="Calibri"/>
                        </a:rPr>
                        <a:t>—</a:t>
                      </a:r>
                    </a:p>
                  </a:txBody>
                  <a:tcPr marT="36576" marB="36576">
                    <a:solidFill>
                      <a:srgbClr val="FFFFFF"/>
                    </a:solidFill>
                  </a:tcPr>
                </a:tc>
                <a:tc>
                  <a:txBody>
                    <a:bodyPr/>
                    <a:lstStyle/>
                    <a:p>
                      <a:r>
                        <a:rPr sz="1200" b="0" i="0">
                          <a:solidFill>
                            <a:srgbClr val="1F2937"/>
                          </a:solidFill>
                          <a:latin typeface="Calibri"/>
                        </a:rPr>
                        <a:t>—</a:t>
                      </a:r>
                    </a:p>
                  </a:txBody>
                  <a:tcPr marT="36576" marB="36576">
                    <a:solidFill>
                      <a:srgbClr val="FFFFFF"/>
                    </a:solidFill>
                  </a:tcPr>
                </a:tc>
              </a:tr>
              <a:tr h="329184">
                <a:tc>
                  <a:txBody>
                    <a:bodyPr/>
                    <a:lstStyle/>
                    <a:p>
                      <a:r>
                        <a:rPr sz="1200" b="1" i="0">
                          <a:solidFill>
                            <a:srgbClr val="1F2937"/>
                          </a:solidFill>
                          <a:latin typeface="Calibri"/>
                        </a:rPr>
                        <a:t>B −</a:t>
                      </a:r>
                    </a:p>
                  </a:txBody>
                  <a:tcPr marT="36576" marB="36576">
                    <a:solidFill>
                      <a:srgbClr val="F3F4F6"/>
                    </a:solidFill>
                  </a:tcPr>
                </a:tc>
                <a:tc>
                  <a:txBody>
                    <a:bodyPr/>
                    <a:lstStyle/>
                    <a:p>
                      <a:r>
                        <a:rPr sz="1200" b="0" i="0">
                          <a:solidFill>
                            <a:srgbClr val="1F2937"/>
                          </a:solidFill>
                          <a:latin typeface="Calibri"/>
                        </a:rPr>
                        <a:t>INT-AST-11 · Choque entre asteroides</a:t>
                      </a:r>
                    </a:p>
                  </a:txBody>
                  <a:tcPr marT="36576" marB="36576">
                    <a:solidFill>
                      <a:srgbClr val="F3F4F6"/>
                    </a:solidFill>
                  </a:tcPr>
                </a:tc>
                <a:tc>
                  <a:txBody>
                    <a:bodyPr/>
                    <a:lstStyle/>
                    <a:p>
                      <a:r>
                        <a:rPr sz="1200" b="0" i="0">
                          <a:solidFill>
                            <a:srgbClr val="1F2937"/>
                          </a:solidFill>
                          <a:latin typeface="Calibri"/>
                        </a:rPr>
                        <a:t>isGameOver = false</a:t>
                      </a:r>
                    </a:p>
                  </a:txBody>
                  <a:tcPr marT="36576" marB="36576">
                    <a:solidFill>
                      <a:srgbClr val="F3F4F6"/>
                    </a:solidFill>
                  </a:tcPr>
                </a:tc>
                <a:tc>
                  <a:txBody>
                    <a:bodyPr/>
                    <a:lstStyle/>
                    <a:p>
                      <a:r>
                        <a:rPr sz="1200" b="0" i="0">
                          <a:solidFill>
                            <a:srgbClr val="1F2937"/>
                          </a:solidFill>
                          <a:latin typeface="Calibri"/>
                        </a:rPr>
                        <a:t>Cualquier choque dispara Game Over</a:t>
                      </a:r>
                    </a:p>
                  </a:txBody>
                  <a:tcPr marT="36576" marB="36576">
                    <a:solidFill>
                      <a:srgbClr val="F3F4F6"/>
                    </a:solidFill>
                  </a:tcPr>
                </a:tc>
              </a:tr>
              <a:tr h="329184">
                <a:tc>
                  <a:txBody>
                    <a:bodyPr/>
                    <a:lstStyle/>
                    <a:p>
                      <a:r>
                        <a:rPr sz="1200" b="1" i="0">
                          <a:solidFill>
                            <a:srgbClr val="1F2937"/>
                          </a:solidFill>
                          <a:latin typeface="Calibri"/>
                        </a:rPr>
                        <a:t>C +</a:t>
                      </a:r>
                    </a:p>
                  </a:txBody>
                  <a:tcPr marT="36576" marB="36576">
                    <a:solidFill>
                      <a:srgbClr val="FFFFFF"/>
                    </a:solidFill>
                  </a:tcPr>
                </a:tc>
                <a:tc>
                  <a:txBody>
                    <a:bodyPr/>
                    <a:lstStyle/>
                    <a:p>
                      <a:r>
                        <a:rPr sz="1200" b="0" i="0">
                          <a:solidFill>
                            <a:srgbClr val="1F2937"/>
                          </a:solidFill>
                          <a:latin typeface="Calibri"/>
                        </a:rPr>
                        <a:t>INT-AST-08 · Reinicio tras Game Over real</a:t>
                      </a:r>
                    </a:p>
                  </a:txBody>
                  <a:tcPr marT="36576" marB="36576">
                    <a:solidFill>
                      <a:srgbClr val="FFFFFF"/>
                    </a:solidFill>
                  </a:tcPr>
                </a:tc>
                <a:tc>
                  <a:txBody>
                    <a:bodyPr/>
                    <a:lstStyle/>
                    <a:p>
                      <a:r>
                        <a:rPr sz="1200" b="0" i="0">
                          <a:solidFill>
                            <a:srgbClr val="1F2937"/>
                          </a:solidFill>
                          <a:latin typeface="Calibri"/>
                        </a:rPr>
                        <a:t>Nave viva en (0,0,0) · score 0 · spawner activo</a:t>
                      </a:r>
                    </a:p>
                  </a:txBody>
                  <a:tcPr marT="36576" marB="36576">
                    <a:solidFill>
                      <a:srgbClr val="FFFFFF"/>
                    </a:solidFill>
                  </a:tcPr>
                </a:tc>
                <a:tc>
                  <a:txBody>
                    <a:bodyPr/>
                    <a:lstStyle/>
                    <a:p>
                      <a:r>
                        <a:rPr sz="1200" b="0" i="0">
                          <a:solidFill>
                            <a:srgbClr val="1F2937"/>
                          </a:solidFill>
                          <a:latin typeface="Calibri"/>
                        </a:rPr>
                        <a:t>RepairShip o BeginSpawning omitidos</a:t>
                      </a:r>
                    </a:p>
                  </a:txBody>
                  <a:tcPr marT="36576" marB="36576">
                    <a:solidFill>
                      <a:srgbClr val="FFFFFF"/>
                    </a:solidFill>
                  </a:tcPr>
                </a:tc>
              </a:tr>
              <a:tr h="329184">
                <a:tc>
                  <a:txBody>
                    <a:bodyPr/>
                    <a:lstStyle/>
                    <a:p>
                      <a:r>
                        <a:rPr sz="1200" b="1" i="0">
                          <a:solidFill>
                            <a:srgbClr val="1F2937"/>
                          </a:solidFill>
                          <a:latin typeface="Calibri"/>
                        </a:rPr>
                        <a:t>C −</a:t>
                      </a:r>
                    </a:p>
                  </a:txBody>
                  <a:tcPr marT="36576" marB="36576">
                    <a:solidFill>
                      <a:srgbClr val="F3F4F6"/>
                    </a:solidFill>
                  </a:tcPr>
                </a:tc>
                <a:tc>
                  <a:txBody>
                    <a:bodyPr/>
                    <a:lstStyle/>
                    <a:p>
                      <a:r>
                        <a:rPr sz="1200" b="0" i="0">
                          <a:solidFill>
                            <a:srgbClr val="1F2937"/>
                          </a:solidFill>
                          <a:latin typeface="Calibri"/>
                        </a:rPr>
                        <a:t>NewGame con partida en curso</a:t>
                      </a:r>
                    </a:p>
                  </a:txBody>
                  <a:tcPr marT="36576" marB="36576">
                    <a:solidFill>
                      <a:srgbClr val="F3F4F6"/>
                    </a:solidFill>
                  </a:tcPr>
                </a:tc>
                <a:tc>
                  <a:txBody>
                    <a:bodyPr/>
                    <a:lstStyle/>
                    <a:p>
                      <a:r>
                        <a:rPr sz="1200" b="0" i="0">
                          <a:solidFill>
                            <a:srgbClr val="1F2937"/>
                          </a:solidFill>
                          <a:latin typeface="Calibri"/>
                        </a:rPr>
                        <a:t>Estado inicial, sin doble spawner</a:t>
                      </a:r>
                    </a:p>
                  </a:txBody>
                  <a:tcPr marT="36576" marB="36576">
                    <a:solidFill>
                      <a:srgbClr val="F3F4F6"/>
                    </a:solidFill>
                  </a:tcPr>
                </a:tc>
                <a:tc>
                  <a:txBody>
                    <a:bodyPr/>
                    <a:lstStyle/>
                    <a:p>
                      <a:r>
                        <a:rPr sz="1200" b="0" i="0">
                          <a:solidFill>
                            <a:srgbClr val="1F2937"/>
                          </a:solidFill>
                          <a:latin typeface="Calibri"/>
                        </a:rPr>
                        <a:t>Ver INT-AST-15 (repetición)</a:t>
                      </a:r>
                    </a:p>
                  </a:txBody>
                  <a:tcPr marT="36576" marB="36576">
                    <a:solidFill>
                      <a:srgbClr val="F3F4F6"/>
                    </a:solidFill>
                  </a:tcPr>
                </a:tc>
              </a:tr>
            </a:tbl>
          </a:graphicData>
        </a:graphic>
      </p:graphicFrame>
      <p:sp>
        <p:nvSpPr>
          <p:cNvPr id="7" name="Rectangle 6"/>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HUD: scoreText es privado → hay que ubicarlo por nombre en el prefab o exponer un getter (PROPUESTA).</a:t>
            </a:r>
          </a:p>
        </p:txBody>
      </p:sp>
      <p:sp>
        <p:nvSpPr>
          <p:cNvPr id="9" name="TextBox 8"/>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0" name="TextBox 9"/>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10/27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11</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PRÁCTICA · ANÁLISIS SIN CÓDIGO</a:t>
            </a:r>
          </a:p>
          <a:p>
            <a:r>
              <a:rPr sz="2600" b="1" i="0">
                <a:solidFill>
                  <a:srgbClr val="FFFFFF"/>
                </a:solidFill>
                <a:latin typeface="Calibri"/>
              </a:rPr>
              <a:t>Actividad 2 · Casos borde (10 min)</a:t>
            </a:r>
          </a:p>
        </p:txBody>
      </p:sp>
      <p:sp>
        <p:nvSpPr>
          <p:cNvPr id="6" name="TextBox 5"/>
          <p:cNvSpPr txBox="1"/>
          <p:nvPr/>
        </p:nvSpPr>
        <p:spPr>
          <a:xfrm>
            <a:off x="502920" y="1280160"/>
            <a:ext cx="11185855" cy="652780"/>
          </a:xfrm>
          <a:prstGeom prst="rect">
            <a:avLst/>
          </a:prstGeom>
          <a:noFill/>
        </p:spPr>
        <p:txBody>
          <a:bodyPr wrap="square" anchor="t" lIns="0" rIns="0" tIns="0" bIns="0">
            <a:spAutoFit/>
          </a:bodyPr>
          <a:lstStyle/>
          <a:p>
            <a:pPr algn="l"/>
            <a:r>
              <a:rPr sz="1700" b="1" i="1">
                <a:solidFill>
                  <a:srgbClr val="1F2A44"/>
                </a:solidFill>
                <a:latin typeface="Calibri"/>
              </a:rPr>
              <a:t>Una fila por dimensión, con valores concretos y resultado esperado. Marquen con ⚠ las filas cuyo resultado no pueden decidir ustedes.</a:t>
            </a:r>
          </a:p>
        </p:txBody>
      </p:sp>
      <p:graphicFrame>
        <p:nvGraphicFramePr>
          <p:cNvPr id="7" name="Table 6"/>
          <p:cNvGraphicFramePr>
            <a:graphicFrameLocks noGrp="1"/>
          </p:cNvGraphicFramePr>
          <p:nvPr/>
        </p:nvGraphicFramePr>
        <p:xfrm>
          <a:off x="502920" y="2070100"/>
          <a:ext cx="11185852" cy="1975104"/>
        </p:xfrm>
        <a:graphic>
          <a:graphicData uri="http://schemas.openxmlformats.org/drawingml/2006/table">
            <a:tbl>
              <a:tblPr firstRow="1" bandRow="1">
                <a:tableStyleId>{5C22544A-7EE6-4342-B048-85BDC9FD1C3A}</a:tableStyleId>
              </a:tblPr>
              <a:tblGrid>
                <a:gridCol w="2193304"/>
                <a:gridCol w="3947948"/>
                <a:gridCol w="4386609"/>
                <a:gridCol w="657991"/>
              </a:tblGrid>
              <a:tr h="329184">
                <a:tc>
                  <a:txBody>
                    <a:bodyPr/>
                    <a:lstStyle/>
                    <a:p>
                      <a:r>
                        <a:rPr sz="1400" b="1" i="0">
                          <a:solidFill>
                            <a:srgbClr val="FFFFFF"/>
                          </a:solidFill>
                          <a:latin typeface="Calibri"/>
                        </a:rPr>
                        <a:t>Dimensión</a:t>
                      </a:r>
                    </a:p>
                  </a:txBody>
                  <a:tcPr>
                    <a:solidFill>
                      <a:srgbClr val="1F2A44"/>
                    </a:solidFill>
                  </a:tcPr>
                </a:tc>
                <a:tc>
                  <a:txBody>
                    <a:bodyPr/>
                    <a:lstStyle/>
                    <a:p>
                      <a:r>
                        <a:rPr sz="1400" b="1" i="0">
                          <a:solidFill>
                            <a:srgbClr val="FFFFFF"/>
                          </a:solidFill>
                          <a:latin typeface="Calibri"/>
                        </a:rPr>
                        <a:t>Valores a probar</a:t>
                      </a:r>
                    </a:p>
                  </a:txBody>
                  <a:tcPr>
                    <a:solidFill>
                      <a:srgbClr val="1F2A44"/>
                    </a:solidFill>
                  </a:tcPr>
                </a:tc>
                <a:tc>
                  <a:txBody>
                    <a:bodyPr/>
                    <a:lstStyle/>
                    <a:p>
                      <a:r>
                        <a:rPr sz="1400" b="1" i="0">
                          <a:solidFill>
                            <a:srgbClr val="FFFFFF"/>
                          </a:solidFill>
                          <a:latin typeface="Calibri"/>
                        </a:rPr>
                        <a:t>Resultado esperado</a:t>
                      </a:r>
                    </a:p>
                  </a:txBody>
                  <a:tcPr>
                    <a:solidFill>
                      <a:srgbClr val="1F2A44"/>
                    </a:solidFill>
                  </a:tcPr>
                </a:tc>
                <a:tc>
                  <a:txBody>
                    <a:bodyPr/>
                    <a:lstStyle/>
                    <a:p>
                      <a:r>
                        <a:rPr sz="1400" b="1" i="0">
                          <a:solidFill>
                            <a:srgbClr val="FFFFFF"/>
                          </a:solidFill>
                          <a:latin typeface="Calibri"/>
                        </a:rPr>
                        <a:t>⚠</a:t>
                      </a:r>
                    </a:p>
                  </a:txBody>
                  <a:tcPr>
                    <a:solidFill>
                      <a:srgbClr val="1F2A44"/>
                    </a:solidFill>
                  </a:tcPr>
                </a:tc>
              </a:tr>
              <a:tr h="329184">
                <a:tc>
                  <a:txBody>
                    <a:bodyPr/>
                    <a:lstStyle/>
                    <a:p>
                      <a:r>
                        <a:rPr sz="1300" b="1" i="0">
                          <a:solidFill>
                            <a:srgbClr val="1F2937"/>
                          </a:solidFill>
                          <a:latin typeface="Calibri"/>
                        </a:rPr>
                        <a:t>Valor</a:t>
                      </a:r>
                    </a:p>
                  </a:txBody>
                  <a:tcPr marT="36576" marB="36576">
                    <a:solidFill>
                      <a:srgbClr val="FFFFFF"/>
                    </a:solidFill>
                  </a:tcPr>
                </a:tc>
                <a:tc>
                  <a:txBody>
                    <a:bodyPr/>
                    <a:lstStyle/>
                    <a:p/>
                  </a:txBody>
                  <a:tcPr marT="36576" marB="36576">
                    <a:solidFill>
                      <a:srgbClr val="FFFFFF"/>
                    </a:solidFill>
                  </a:tcPr>
                </a:tc>
                <a:tc>
                  <a:txBody>
                    <a:bodyPr/>
                    <a:lstStyle/>
                    <a:p/>
                  </a:txBody>
                  <a:tcPr marT="36576" marB="36576">
                    <a:solidFill>
                      <a:srgbClr val="FFFFFF"/>
                    </a:solidFill>
                  </a:tcPr>
                </a:tc>
                <a:tc>
                  <a:txBody>
                    <a:bodyPr/>
                    <a:lstStyle/>
                    <a:p/>
                  </a:txBody>
                  <a:tcPr marT="36576" marB="36576">
                    <a:solidFill>
                      <a:srgbClr val="FFFFFF"/>
                    </a:solidFill>
                  </a:tcPr>
                </a:tc>
              </a:tr>
              <a:tr h="329184">
                <a:tc>
                  <a:txBody>
                    <a:bodyPr/>
                    <a:lstStyle/>
                    <a:p>
                      <a:r>
                        <a:rPr sz="1300" b="1" i="0">
                          <a:solidFill>
                            <a:srgbClr val="1F2937"/>
                          </a:solidFill>
                          <a:latin typeface="Calibri"/>
                        </a:rPr>
                        <a:t>Tiempo</a:t>
                      </a:r>
                    </a:p>
                  </a:txBody>
                  <a:tcPr marT="36576" marB="36576">
                    <a:solidFill>
                      <a:srgbClr val="F3F4F6"/>
                    </a:solidFill>
                  </a:tcPr>
                </a:tc>
                <a:tc>
                  <a:txBody>
                    <a:bodyPr/>
                    <a:lstStyle/>
                    <a:p/>
                  </a:txBody>
                  <a:tcPr marT="36576" marB="36576">
                    <a:solidFill>
                      <a:srgbClr val="F3F4F6"/>
                    </a:solidFill>
                  </a:tcPr>
                </a:tc>
                <a:tc>
                  <a:txBody>
                    <a:bodyPr/>
                    <a:lstStyle/>
                    <a:p/>
                  </a:txBody>
                  <a:tcPr marT="36576" marB="36576">
                    <a:solidFill>
                      <a:srgbClr val="F3F4F6"/>
                    </a:solidFill>
                  </a:tcPr>
                </a:tc>
                <a:tc>
                  <a:txBody>
                    <a:bodyPr/>
                    <a:lstStyle/>
                    <a:p/>
                  </a:txBody>
                  <a:tcPr marT="36576" marB="36576">
                    <a:solidFill>
                      <a:srgbClr val="F3F4F6"/>
                    </a:solidFill>
                  </a:tcPr>
                </a:tc>
              </a:tr>
              <a:tr h="329184">
                <a:tc>
                  <a:txBody>
                    <a:bodyPr/>
                    <a:lstStyle/>
                    <a:p>
                      <a:r>
                        <a:rPr sz="1300" b="1" i="0">
                          <a:solidFill>
                            <a:srgbClr val="1F2937"/>
                          </a:solidFill>
                          <a:latin typeface="Calibri"/>
                        </a:rPr>
                        <a:t>Simultaneidad</a:t>
                      </a:r>
                    </a:p>
                  </a:txBody>
                  <a:tcPr marT="36576" marB="36576">
                    <a:solidFill>
                      <a:srgbClr val="FFFFFF"/>
                    </a:solidFill>
                  </a:tcPr>
                </a:tc>
                <a:tc>
                  <a:txBody>
                    <a:bodyPr/>
                    <a:lstStyle/>
                    <a:p/>
                  </a:txBody>
                  <a:tcPr marT="36576" marB="36576">
                    <a:solidFill>
                      <a:srgbClr val="FFFFFF"/>
                    </a:solidFill>
                  </a:tcPr>
                </a:tc>
                <a:tc>
                  <a:txBody>
                    <a:bodyPr/>
                    <a:lstStyle/>
                    <a:p/>
                  </a:txBody>
                  <a:tcPr marT="36576" marB="36576">
                    <a:solidFill>
                      <a:srgbClr val="FFFFFF"/>
                    </a:solidFill>
                  </a:tcPr>
                </a:tc>
                <a:tc>
                  <a:txBody>
                    <a:bodyPr/>
                    <a:lstStyle/>
                    <a:p/>
                  </a:txBody>
                  <a:tcPr marT="36576" marB="36576">
                    <a:solidFill>
                      <a:srgbClr val="FFFFFF"/>
                    </a:solidFill>
                  </a:tcPr>
                </a:tc>
              </a:tr>
              <a:tr h="329184">
                <a:tc>
                  <a:txBody>
                    <a:bodyPr/>
                    <a:lstStyle/>
                    <a:p>
                      <a:r>
                        <a:rPr sz="1300" b="1" i="0">
                          <a:solidFill>
                            <a:srgbClr val="1F2937"/>
                          </a:solidFill>
                          <a:latin typeface="Calibri"/>
                        </a:rPr>
                        <a:t>Repetición</a:t>
                      </a:r>
                    </a:p>
                  </a:txBody>
                  <a:tcPr marT="36576" marB="36576">
                    <a:solidFill>
                      <a:srgbClr val="F3F4F6"/>
                    </a:solidFill>
                  </a:tcPr>
                </a:tc>
                <a:tc>
                  <a:txBody>
                    <a:bodyPr/>
                    <a:lstStyle/>
                    <a:p/>
                  </a:txBody>
                  <a:tcPr marT="36576" marB="36576">
                    <a:solidFill>
                      <a:srgbClr val="F3F4F6"/>
                    </a:solidFill>
                  </a:tcPr>
                </a:tc>
                <a:tc>
                  <a:txBody>
                    <a:bodyPr/>
                    <a:lstStyle/>
                    <a:p/>
                  </a:txBody>
                  <a:tcPr marT="36576" marB="36576">
                    <a:solidFill>
                      <a:srgbClr val="F3F4F6"/>
                    </a:solidFill>
                  </a:tcPr>
                </a:tc>
                <a:tc>
                  <a:txBody>
                    <a:bodyPr/>
                    <a:lstStyle/>
                    <a:p/>
                  </a:txBody>
                  <a:tcPr marT="36576" marB="36576">
                    <a:solidFill>
                      <a:srgbClr val="F3F4F6"/>
                    </a:solidFill>
                  </a:tcPr>
                </a:tc>
              </a:tr>
              <a:tr h="329184">
                <a:tc>
                  <a:txBody>
                    <a:bodyPr/>
                    <a:lstStyle/>
                    <a:p>
                      <a:r>
                        <a:rPr sz="1300" b="1" i="0">
                          <a:solidFill>
                            <a:srgbClr val="1F2937"/>
                          </a:solidFill>
                          <a:latin typeface="Calibri"/>
                        </a:rPr>
                        <a:t>Orden</a:t>
                      </a:r>
                    </a:p>
                  </a:txBody>
                  <a:tcPr marT="36576" marB="36576">
                    <a:solidFill>
                      <a:srgbClr val="FFFFFF"/>
                    </a:solidFill>
                  </a:tcPr>
                </a:tc>
                <a:tc>
                  <a:txBody>
                    <a:bodyPr/>
                    <a:lstStyle/>
                    <a:p/>
                  </a:txBody>
                  <a:tcPr marT="36576" marB="36576">
                    <a:solidFill>
                      <a:srgbClr val="FFFFFF"/>
                    </a:solidFill>
                  </a:tcPr>
                </a:tc>
                <a:tc>
                  <a:txBody>
                    <a:bodyPr/>
                    <a:lstStyle/>
                    <a:p/>
                  </a:txBody>
                  <a:tcPr marT="36576" marB="36576">
                    <a:solidFill>
                      <a:srgbClr val="FFFFFF"/>
                    </a:solidFill>
                  </a:tcPr>
                </a:tc>
                <a:tc>
                  <a:txBody>
                    <a:bodyPr/>
                    <a:lstStyle/>
                    <a:p/>
                  </a:txBody>
                  <a:tcPr marT="36576" marB="36576">
                    <a:solidFill>
                      <a:srgbClr val="FFFFFF"/>
                    </a:solidFill>
                  </a:tcPr>
                </a:tc>
              </a:tr>
            </a:tbl>
          </a:graphicData>
        </a:graphic>
      </p:graphicFrame>
      <p:sp>
        <p:nvSpPr>
          <p:cNvPr id="8" name="Rectangle 7"/>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Actividad:  ¿Quién decide el resultado esperado de una fila marcada con ⚠?</a:t>
            </a:r>
          </a:p>
        </p:txBody>
      </p:sp>
      <p:sp>
        <p:nvSpPr>
          <p:cNvPr id="10" name="TextBox 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1" name="TextBox 1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11/27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12</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RESOLUCIÓN DOCENTE</a:t>
            </a:r>
          </a:p>
          <a:p>
            <a:r>
              <a:rPr sz="2600" b="1" i="0">
                <a:solidFill>
                  <a:srgbClr val="FFFFFF"/>
                </a:solidFill>
                <a:latin typeface="Calibri"/>
              </a:rPr>
              <a:t>Actividad 2 · Resolución</a:t>
            </a:r>
          </a:p>
        </p:txBody>
      </p:sp>
      <p:graphicFrame>
        <p:nvGraphicFramePr>
          <p:cNvPr id="6" name="Table 5"/>
          <p:cNvGraphicFramePr>
            <a:graphicFrameLocks noGrp="1"/>
          </p:cNvGraphicFramePr>
          <p:nvPr/>
        </p:nvGraphicFramePr>
        <p:xfrm>
          <a:off x="502920" y="1280160"/>
          <a:ext cx="11185853" cy="2304288"/>
        </p:xfrm>
        <a:graphic>
          <a:graphicData uri="http://schemas.openxmlformats.org/drawingml/2006/table">
            <a:tbl>
              <a:tblPr firstRow="1" bandRow="1">
                <a:tableStyleId>{5C22544A-7EE6-4342-B048-85BDC9FD1C3A}</a:tableStyleId>
              </a:tblPr>
              <a:tblGrid>
                <a:gridCol w="1828457"/>
                <a:gridCol w="3872026"/>
                <a:gridCol w="4947589"/>
                <a:gridCol w="537781"/>
              </a:tblGrid>
              <a:tr h="329184">
                <a:tc>
                  <a:txBody>
                    <a:bodyPr/>
                    <a:lstStyle/>
                    <a:p>
                      <a:r>
                        <a:rPr sz="1300" b="1" i="0">
                          <a:solidFill>
                            <a:srgbClr val="FFFFFF"/>
                          </a:solidFill>
                          <a:latin typeface="Calibri"/>
                        </a:rPr>
                        <a:t>Dimensión</a:t>
                      </a:r>
                    </a:p>
                  </a:txBody>
                  <a:tcPr>
                    <a:solidFill>
                      <a:srgbClr val="1F2A44"/>
                    </a:solidFill>
                  </a:tcPr>
                </a:tc>
                <a:tc>
                  <a:txBody>
                    <a:bodyPr/>
                    <a:lstStyle/>
                    <a:p>
                      <a:r>
                        <a:rPr sz="1300" b="1" i="0">
                          <a:solidFill>
                            <a:srgbClr val="FFFFFF"/>
                          </a:solidFill>
                          <a:latin typeface="Calibri"/>
                        </a:rPr>
                        <a:t>Valores</a:t>
                      </a:r>
                    </a:p>
                  </a:txBody>
                  <a:tcPr>
                    <a:solidFill>
                      <a:srgbClr val="1F2A44"/>
                    </a:solidFill>
                  </a:tcPr>
                </a:tc>
                <a:tc>
                  <a:txBody>
                    <a:bodyPr/>
                    <a:lstStyle/>
                    <a:p>
                      <a:r>
                        <a:rPr sz="1300" b="1" i="0">
                          <a:solidFill>
                            <a:srgbClr val="FFFFFF"/>
                          </a:solidFill>
                          <a:latin typeface="Calibri"/>
                        </a:rPr>
                        <a:t>Resultado esperado</a:t>
                      </a:r>
                    </a:p>
                  </a:txBody>
                  <a:tcPr>
                    <a:solidFill>
                      <a:srgbClr val="1F2A44"/>
                    </a:solidFill>
                  </a:tcPr>
                </a:tc>
                <a:tc>
                  <a:txBody>
                    <a:bodyPr/>
                    <a:lstStyle/>
                    <a:p>
                      <a:r>
                        <a:rPr sz="1300" b="1" i="0">
                          <a:solidFill>
                            <a:srgbClr val="FFFFFF"/>
                          </a:solidFill>
                          <a:latin typeface="Calibri"/>
                        </a:rPr>
                        <a:t>⚠</a:t>
                      </a:r>
                    </a:p>
                  </a:txBody>
                  <a:tcPr>
                    <a:solidFill>
                      <a:srgbClr val="1F2A44"/>
                    </a:solidFill>
                  </a:tcPr>
                </a:tc>
              </a:tr>
              <a:tr h="329184">
                <a:tc>
                  <a:txBody>
                    <a:bodyPr/>
                    <a:lstStyle/>
                    <a:p>
                      <a:r>
                        <a:rPr sz="1200" b="1" i="0">
                          <a:solidFill>
                            <a:srgbClr val="1F2937"/>
                          </a:solidFill>
                          <a:latin typeface="Calibri"/>
                        </a:rPr>
                        <a:t>Valor</a:t>
                      </a:r>
                    </a:p>
                  </a:txBody>
                  <a:tcPr marT="36576" marB="36576">
                    <a:solidFill>
                      <a:srgbClr val="FFFFFF"/>
                    </a:solidFill>
                  </a:tcPr>
                </a:tc>
                <a:tc>
                  <a:txBody>
                    <a:bodyPr/>
                    <a:lstStyle/>
                    <a:p>
                      <a:r>
                        <a:rPr sz="1200" b="0" i="0">
                          <a:solidFill>
                            <a:srgbClr val="1F2937"/>
                          </a:solidFill>
                          <a:latin typeface="Calibri"/>
                        </a:rPr>
                        <a:t>Asteroide en y = −4,99 · −5,00 · −5,01</a:t>
                      </a:r>
                    </a:p>
                  </a:txBody>
                  <a:tcPr marT="36576" marB="36576">
                    <a:solidFill>
                      <a:srgbClr val="FFFFFF"/>
                    </a:solidFill>
                  </a:tcPr>
                </a:tc>
                <a:tc>
                  <a:txBody>
                    <a:bodyPr/>
                    <a:lstStyle/>
                    <a:p>
                      <a:r>
                        <a:rPr sz="1200" b="0" i="0">
                          <a:solidFill>
                            <a:srgbClr val="1F2937"/>
                          </a:solidFill>
                          <a:latin typeface="Calibri"/>
                        </a:rPr>
                        <a:t>Vivo · vivo · destruido (condición estricta «&lt; −5») → INT-AST-12</a:t>
                      </a:r>
                    </a:p>
                  </a:txBody>
                  <a:tcPr marT="36576" marB="36576">
                    <a:solidFill>
                      <a:srgbClr val="FFFFFF"/>
                    </a:solidFill>
                  </a:tcPr>
                </a:tc>
                <a:tc>
                  <a:txBody>
                    <a:bodyPr/>
                    <a:lstStyle/>
                    <a:p/>
                  </a:txBody>
                  <a:tcPr marT="36576" marB="36576">
                    <a:solidFill>
                      <a:srgbClr val="FFFFFF"/>
                    </a:solidFill>
                  </a:tcPr>
                </a:tc>
              </a:tr>
              <a:tr h="329184">
                <a:tc>
                  <a:txBody>
                    <a:bodyPr/>
                    <a:lstStyle/>
                    <a:p>
                      <a:r>
                        <a:rPr sz="1200" b="1" i="0">
                          <a:solidFill>
                            <a:srgbClr val="1F2937"/>
                          </a:solidFill>
                          <a:latin typeface="Calibri"/>
                        </a:rPr>
                        <a:t>Tiempo</a:t>
                      </a:r>
                    </a:p>
                  </a:txBody>
                  <a:tcPr marT="36576" marB="36576">
                    <a:solidFill>
                      <a:srgbClr val="F3F4F6"/>
                    </a:solidFill>
                  </a:tcPr>
                </a:tc>
                <a:tc>
                  <a:txBody>
                    <a:bodyPr/>
                    <a:lstStyle/>
                    <a:p>
                      <a:r>
                        <a:rPr sz="1200" b="0" i="0">
                          <a:solidFill>
                            <a:srgbClr val="1F2937"/>
                          </a:solidFill>
                          <a:latin typeface="Calibri"/>
                        </a:rPr>
                        <a:t>Disparo a 0,39 s y 0,41 s del anterior</a:t>
                      </a:r>
                    </a:p>
                  </a:txBody>
                  <a:tcPr marT="36576" marB="36576">
                    <a:solidFill>
                      <a:srgbClr val="F3F4F6"/>
                    </a:solidFill>
                  </a:tcPr>
                </a:tc>
                <a:tc>
                  <a:txBody>
                    <a:bodyPr/>
                    <a:lstStyle/>
                    <a:p>
                      <a:r>
                        <a:rPr sz="1200" b="0" i="0">
                          <a:solidFill>
                            <a:srgbClr val="1F2937"/>
                          </a:solidFill>
                          <a:latin typeface="Calibri"/>
                        </a:rPr>
                        <a:t>No dispara · dispara → INT-AST-16 (hoy no se puede automatizar)</a:t>
                      </a:r>
                    </a:p>
                  </a:txBody>
                  <a:tcPr marT="36576" marB="36576">
                    <a:solidFill>
                      <a:srgbClr val="F3F4F6"/>
                    </a:solidFill>
                  </a:tcPr>
                </a:tc>
                <a:tc>
                  <a:txBody>
                    <a:bodyPr/>
                    <a:lstStyle/>
                    <a:p/>
                  </a:txBody>
                  <a:tcPr marT="36576" marB="36576">
                    <a:solidFill>
                      <a:srgbClr val="F3F4F6"/>
                    </a:solidFill>
                  </a:tcPr>
                </a:tc>
              </a:tr>
              <a:tr h="329184">
                <a:tc>
                  <a:txBody>
                    <a:bodyPr/>
                    <a:lstStyle/>
                    <a:p>
                      <a:r>
                        <a:rPr sz="1200" b="1" i="0">
                          <a:solidFill>
                            <a:srgbClr val="1F2937"/>
                          </a:solidFill>
                          <a:latin typeface="Calibri"/>
                        </a:rPr>
                        <a:t>Simultaneidad</a:t>
                      </a:r>
                    </a:p>
                  </a:txBody>
                  <a:tcPr marT="36576" marB="36576">
                    <a:solidFill>
                      <a:srgbClr val="FFFFFF"/>
                    </a:solidFill>
                  </a:tcPr>
                </a:tc>
                <a:tc>
                  <a:txBody>
                    <a:bodyPr/>
                    <a:lstStyle/>
                    <a:p>
                      <a:r>
                        <a:rPr sz="1200" b="0" i="0">
                          <a:solidFill>
                            <a:srgbClr val="1F2937"/>
                          </a:solidFill>
                          <a:latin typeface="Calibri"/>
                        </a:rPr>
                        <a:t>2 láseres → 1 asteroide, mismo paso</a:t>
                      </a:r>
                    </a:p>
                  </a:txBody>
                  <a:tcPr marT="36576" marB="36576">
                    <a:solidFill>
                      <a:srgbClr val="FFFFFF"/>
                    </a:solidFill>
                  </a:tcPr>
                </a:tc>
                <a:tc>
                  <a:txBody>
                    <a:bodyPr/>
                    <a:lstStyle/>
                    <a:p>
                      <a:r>
                        <a:rPr sz="1200" b="0" i="0">
                          <a:solidFill>
                            <a:srgbClr val="1F2937"/>
                          </a:solidFill>
                          <a:latin typeface="Calibri"/>
                        </a:rPr>
                        <a:t>score +1 y sin excepción → INT-AST-13 (HIPÓTESIS: hoy suma 2)</a:t>
                      </a:r>
                    </a:p>
                  </a:txBody>
                  <a:tcPr marT="36576" marB="36576">
                    <a:solidFill>
                      <a:srgbClr val="FFFFFF"/>
                    </a:solidFill>
                  </a:tcPr>
                </a:tc>
                <a:tc>
                  <a:txBody>
                    <a:bodyPr/>
                    <a:lstStyle/>
                    <a:p/>
                  </a:txBody>
                  <a:tcPr marT="36576" marB="36576">
                    <a:solidFill>
                      <a:srgbClr val="FFFFFF"/>
                    </a:solidFill>
                  </a:tcPr>
                </a:tc>
              </a:tr>
              <a:tr h="329184">
                <a:tc>
                  <a:txBody>
                    <a:bodyPr/>
                    <a:lstStyle/>
                    <a:p>
                      <a:r>
                        <a:rPr sz="1200" b="1" i="0">
                          <a:solidFill>
                            <a:srgbClr val="1F2937"/>
                          </a:solidFill>
                          <a:latin typeface="Calibri"/>
                        </a:rPr>
                        <a:t>Simultaneidad</a:t>
                      </a:r>
                    </a:p>
                  </a:txBody>
                  <a:tcPr marT="36576" marB="36576">
                    <a:solidFill>
                      <a:srgbClr val="F3F4F6"/>
                    </a:solidFill>
                  </a:tcPr>
                </a:tc>
                <a:tc>
                  <a:txBody>
                    <a:bodyPr/>
                    <a:lstStyle/>
                    <a:p>
                      <a:r>
                        <a:rPr sz="1200" b="0" i="0">
                          <a:solidFill>
                            <a:srgbClr val="1F2937"/>
                          </a:solidFill>
                          <a:latin typeface="Calibri"/>
                        </a:rPr>
                        <a:t>1 láser → 2 asteroides superpuestos</a:t>
                      </a:r>
                    </a:p>
                  </a:txBody>
                  <a:tcPr marT="36576" marB="36576">
                    <a:solidFill>
                      <a:srgbClr val="F3F4F6"/>
                    </a:solidFill>
                  </a:tcPr>
                </a:tc>
                <a:tc>
                  <a:txBody>
                    <a:bodyPr/>
                    <a:lstStyle/>
                    <a:p>
                      <a:r>
                        <a:rPr sz="1200" b="0" i="0">
                          <a:solidFill>
                            <a:srgbClr val="1F2937"/>
                          </a:solidFill>
                          <a:latin typeface="Calibri"/>
                        </a:rPr>
                        <a:t>¿+1 o +2? Decisión de diseño</a:t>
                      </a:r>
                    </a:p>
                  </a:txBody>
                  <a:tcPr marT="36576" marB="36576">
                    <a:solidFill>
                      <a:srgbClr val="F3F4F6"/>
                    </a:solidFill>
                  </a:tcPr>
                </a:tc>
                <a:tc>
                  <a:txBody>
                    <a:bodyPr/>
                    <a:lstStyle/>
                    <a:p>
                      <a:r>
                        <a:rPr sz="1200" b="0" i="0">
                          <a:solidFill>
                            <a:srgbClr val="1F2937"/>
                          </a:solidFill>
                          <a:latin typeface="Calibri"/>
                        </a:rPr>
                        <a:t>⚠</a:t>
                      </a:r>
                    </a:p>
                  </a:txBody>
                  <a:tcPr marT="36576" marB="36576">
                    <a:solidFill>
                      <a:srgbClr val="F3F4F6"/>
                    </a:solidFill>
                  </a:tcPr>
                </a:tc>
              </a:tr>
              <a:tr h="329184">
                <a:tc>
                  <a:txBody>
                    <a:bodyPr/>
                    <a:lstStyle/>
                    <a:p>
                      <a:r>
                        <a:rPr sz="1200" b="1" i="0">
                          <a:solidFill>
                            <a:srgbClr val="1F2937"/>
                          </a:solidFill>
                          <a:latin typeface="Calibri"/>
                        </a:rPr>
                        <a:t>Repetición</a:t>
                      </a:r>
                    </a:p>
                  </a:txBody>
                  <a:tcPr marT="36576" marB="36576">
                    <a:solidFill>
                      <a:srgbClr val="FFFFFF"/>
                    </a:solidFill>
                  </a:tcPr>
                </a:tc>
                <a:tc>
                  <a:txBody>
                    <a:bodyPr/>
                    <a:lstStyle/>
                    <a:p>
                      <a:r>
                        <a:rPr sz="1200" b="0" i="0">
                          <a:solidFill>
                            <a:srgbClr val="1F2937"/>
                          </a:solidFill>
                          <a:latin typeface="Calibri"/>
                        </a:rPr>
                        <a:t>NewGame() dos veces seguidas</a:t>
                      </a:r>
                    </a:p>
                  </a:txBody>
                  <a:tcPr marT="36576" marB="36576">
                    <a:solidFill>
                      <a:srgbClr val="FFFFFF"/>
                    </a:solidFill>
                  </a:tcPr>
                </a:tc>
                <a:tc>
                  <a:txBody>
                    <a:bodyPr/>
                    <a:lstStyle/>
                    <a:p>
                      <a:r>
                        <a:rPr sz="1200" b="0" i="0">
                          <a:solidFill>
                            <a:srgbClr val="1F2937"/>
                          </a:solidFill>
                          <a:latin typeface="Calibri"/>
                        </a:rPr>
                        <a:t>Una sola corrutina de spawn → INT-AST-15 (HIPÓTESIS)</a:t>
                      </a:r>
                    </a:p>
                  </a:txBody>
                  <a:tcPr marT="36576" marB="36576">
                    <a:solidFill>
                      <a:srgbClr val="FFFFFF"/>
                    </a:solidFill>
                  </a:tcPr>
                </a:tc>
                <a:tc>
                  <a:txBody>
                    <a:bodyPr/>
                    <a:lstStyle/>
                    <a:p/>
                  </a:txBody>
                  <a:tcPr marT="36576" marB="36576">
                    <a:solidFill>
                      <a:srgbClr val="FFFFFF"/>
                    </a:solidFill>
                  </a:tcPr>
                </a:tc>
              </a:tr>
              <a:tr h="329184">
                <a:tc>
                  <a:txBody>
                    <a:bodyPr/>
                    <a:lstStyle/>
                    <a:p>
                      <a:r>
                        <a:rPr sz="1200" b="1" i="0">
                          <a:solidFill>
                            <a:srgbClr val="1F2937"/>
                          </a:solidFill>
                          <a:latin typeface="Calibri"/>
                        </a:rPr>
                        <a:t>Orden</a:t>
                      </a:r>
                    </a:p>
                  </a:txBody>
                  <a:tcPr marT="36576" marB="36576">
                    <a:solidFill>
                      <a:srgbClr val="F3F4F6"/>
                    </a:solidFill>
                  </a:tcPr>
                </a:tc>
                <a:tc>
                  <a:txBody>
                    <a:bodyPr/>
                    <a:lstStyle/>
                    <a:p>
                      <a:r>
                        <a:rPr sz="1200" b="0" i="0">
                          <a:solidFill>
                            <a:srgbClr val="1F2937"/>
                          </a:solidFill>
                          <a:latin typeface="Calibri"/>
                        </a:rPr>
                        <a:t>Punto sumado en el frame del Game Over</a:t>
                      </a:r>
                    </a:p>
                  </a:txBody>
                  <a:tcPr marT="36576" marB="36576">
                    <a:solidFill>
                      <a:srgbClr val="F3F4F6"/>
                    </a:solidFill>
                  </a:tcPr>
                </a:tc>
                <a:tc>
                  <a:txBody>
                    <a:bodyPr/>
                    <a:lstStyle/>
                    <a:p>
                      <a:r>
                        <a:rPr sz="1200" b="0" i="0">
                          <a:solidFill>
                            <a:srgbClr val="1F2937"/>
                          </a:solidFill>
                          <a:latin typeface="Calibri"/>
                        </a:rPr>
                        <a:t>¿Cuenta o no? Decisión de diseño</a:t>
                      </a:r>
                    </a:p>
                  </a:txBody>
                  <a:tcPr marT="36576" marB="36576">
                    <a:solidFill>
                      <a:srgbClr val="F3F4F6"/>
                    </a:solidFill>
                  </a:tcPr>
                </a:tc>
                <a:tc>
                  <a:txBody>
                    <a:bodyPr/>
                    <a:lstStyle/>
                    <a:p>
                      <a:r>
                        <a:rPr sz="1200" b="0" i="0">
                          <a:solidFill>
                            <a:srgbClr val="1F2937"/>
                          </a:solidFill>
                          <a:latin typeface="Calibri"/>
                        </a:rPr>
                        <a:t>⚠</a:t>
                      </a:r>
                    </a:p>
                  </a:txBody>
                  <a:tcPr marT="36576" marB="36576">
                    <a:solidFill>
                      <a:srgbClr val="F3F4F6"/>
                    </a:solidFill>
                  </a:tcPr>
                </a:tc>
              </a:tr>
            </a:tbl>
          </a:graphicData>
        </a:graphic>
      </p:graphicFrame>
      <p:sp>
        <p:nvSpPr>
          <p:cNvPr id="7" name="TextBox 6"/>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8" name="TextBox 7"/>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12/27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13</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2 · TEORÍA</a:t>
            </a:r>
          </a:p>
          <a:p>
            <a:r>
              <a:rPr sz="2600" b="1" i="0">
                <a:solidFill>
                  <a:srgbClr val="FFFFFF"/>
                </a:solidFill>
                <a:latin typeface="Calibri"/>
              </a:rPr>
              <a:t>Fixtures y datos de prueba</a:t>
            </a:r>
          </a:p>
        </p:txBody>
      </p:sp>
      <p:sp>
        <p:nvSpPr>
          <p:cNvPr id="6" name="Rounded Rectangle 5"/>
          <p:cNvSpPr/>
          <p:nvPr/>
        </p:nvSpPr>
        <p:spPr>
          <a:xfrm>
            <a:off x="502920" y="1280160"/>
            <a:ext cx="2153412" cy="310896"/>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9144" bIns="9144" wrap="none"/>
          <a:lstStyle/>
          <a:p>
            <a:pPr algn="ctr"/>
            <a:r>
              <a:rPr sz="1200" b="1" i="0">
                <a:solidFill>
                  <a:srgbClr val="FFFFFF"/>
                </a:solidFill>
                <a:latin typeface="Calibri"/>
              </a:rPr>
              <a:t>Ejemplo: un laboratorio</a:t>
            </a:r>
          </a:p>
        </p:txBody>
      </p:sp>
      <p:sp>
        <p:nvSpPr>
          <p:cNvPr id="7" name="TextBox 6"/>
          <p:cNvSpPr txBox="1"/>
          <p:nvPr/>
        </p:nvSpPr>
        <p:spPr>
          <a:xfrm>
            <a:off x="502920" y="1755648"/>
            <a:ext cx="7315200" cy="2929890"/>
          </a:xfrm>
          <a:prstGeom prst="rect">
            <a:avLst/>
          </a:prstGeom>
          <a:noFill/>
        </p:spPr>
        <p:txBody>
          <a:bodyPr wrap="square" anchor="t" lIns="0" rIns="0" tIns="0" bIns="0">
            <a:spAutoFit/>
          </a:bodyPr>
          <a:lstStyle/>
          <a:p>
            <a:pPr>
              <a:spcAft>
                <a:spcPts val="600"/>
              </a:spcAft>
            </a:pPr>
            <a:r>
              <a:rPr sz="1100" b="1" i="0">
                <a:solidFill>
                  <a:srgbClr val="0D9488"/>
                </a:solidFill>
                <a:latin typeface="Calibri"/>
              </a:rPr>
              <a:t>■  </a:t>
            </a:r>
            <a:r>
              <a:rPr sz="1500" b="0" i="0">
                <a:solidFill>
                  <a:srgbClr val="1F2937"/>
                </a:solidFill>
                <a:latin typeface="Calibri"/>
              </a:rPr>
              <a:t>Fixture: el estado conocido del que parte cada test (SetUp) y la limpieza al terminar (TearDown)</a:t>
            </a:r>
          </a:p>
          <a:p>
            <a:pPr>
              <a:spcAft>
                <a:spcPts val="600"/>
              </a:spcAft>
            </a:pPr>
            <a:r>
              <a:rPr sz="1100" b="1" i="0">
                <a:solidFill>
                  <a:srgbClr val="0D9488"/>
                </a:solidFill>
                <a:latin typeface="Calibri"/>
              </a:rPr>
              <a:t>■  </a:t>
            </a:r>
            <a:r>
              <a:rPr sz="1500" b="0" i="0">
                <a:solidFill>
                  <a:srgbClr val="1F2937"/>
                </a:solidFill>
                <a:latin typeface="Calibri"/>
              </a:rPr>
              <a:t>Como un laboratorio: mesada limpia antes del experimento, limpieza al terminar</a:t>
            </a:r>
          </a:p>
          <a:p>
            <a:pPr>
              <a:spcAft>
                <a:spcPts val="600"/>
              </a:spcAft>
            </a:pPr>
            <a:r>
              <a:rPr sz="1100" b="1" i="0">
                <a:solidFill>
                  <a:srgbClr val="0D9488"/>
                </a:solidFill>
                <a:latin typeface="Calibri"/>
              </a:rPr>
              <a:t>■  </a:t>
            </a:r>
            <a:r>
              <a:rPr sz="1500" b="0" i="0">
                <a:solidFill>
                  <a:srgbClr val="1F2937"/>
                </a:solidFill>
                <a:latin typeface="Calibri"/>
              </a:rPr>
              <a:t>En la suite actual, TearDown destruye solo el prefab Game</a:t>
            </a:r>
          </a:p>
          <a:p>
            <a:pPr>
              <a:spcAft>
                <a:spcPts val="600"/>
              </a:spcAft>
            </a:pPr>
            <a:r>
              <a:rPr sz="1100" b="1" i="0">
                <a:solidFill>
                  <a:srgbClr val="0D9488"/>
                </a:solidFill>
                <a:latin typeface="Calibri"/>
              </a:rPr>
              <a:t>■  </a:t>
            </a:r>
            <a:r>
              <a:rPr sz="1500" b="0" i="0">
                <a:solidFill>
                  <a:srgbClr val="1F2937"/>
                </a:solidFill>
                <a:latin typeface="Calibri"/>
              </a:rPr>
              <a:t>Asteroides y láseres se crean como objetos raíz: sobreviven al test y «ensucian» el siguiente</a:t>
            </a:r>
          </a:p>
          <a:p>
            <a:pPr>
              <a:spcAft>
                <a:spcPts val="600"/>
              </a:spcAft>
            </a:pPr>
            <a:r>
              <a:rPr sz="1100" b="1" i="0">
                <a:solidFill>
                  <a:srgbClr val="0D9488"/>
                </a:solidFill>
                <a:latin typeface="Calibri"/>
              </a:rPr>
              <a:t>■  </a:t>
            </a:r>
            <a:r>
              <a:rPr sz="1500" b="0" i="0">
                <a:solidFill>
                  <a:srgbClr val="1F2937"/>
                </a:solidFill>
                <a:latin typeface="Calibri"/>
              </a:rPr>
              <a:t>Game.instance es estático: puede apuntar a un Game ya destruido hasta que corra el siguiente Start()</a:t>
            </a:r>
          </a:p>
          <a:p>
            <a:pPr>
              <a:spcAft>
                <a:spcPts val="600"/>
              </a:spcAft>
            </a:pPr>
            <a:r>
              <a:rPr sz="1100" b="1" i="0">
                <a:solidFill>
                  <a:srgbClr val="0D9488"/>
                </a:solidFill>
                <a:latin typeface="Calibri"/>
              </a:rPr>
              <a:t>■  </a:t>
            </a:r>
            <a:r>
              <a:rPr sz="1500" b="0" i="0">
                <a:solidFill>
                  <a:srgbClr val="1F2937"/>
                </a:solidFill>
                <a:latin typeface="Calibri"/>
              </a:rPr>
              <a:t>Spawner usa Random sin semilla: cada corrida genera posiciones distintas</a:t>
            </a:r>
          </a:p>
        </p:txBody>
      </p:sp>
      <p:sp>
        <p:nvSpPr>
          <p:cNvPr id="8" name="Rectangle 7"/>
          <p:cNvSpPr/>
          <p:nvPr/>
        </p:nvSpPr>
        <p:spPr>
          <a:xfrm>
            <a:off x="502920" y="5760720"/>
            <a:ext cx="11185855" cy="457200"/>
          </a:xfrm>
          <a:prstGeom prst="rect">
            <a:avLst/>
          </a:prstGeom>
          <a:solidFill>
            <a:srgbClr val="FE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760720"/>
            <a:ext cx="10911535" cy="457200"/>
          </a:xfrm>
          <a:prstGeom prst="rect">
            <a:avLst/>
          </a:prstGeom>
          <a:noFill/>
        </p:spPr>
        <p:txBody>
          <a:bodyPr wrap="square" anchor="ctr" lIns="0" rIns="0" tIns="0" bIns="0">
            <a:spAutoFit/>
          </a:bodyPr>
          <a:lstStyle/>
          <a:p>
            <a:r>
              <a:rPr sz="1200" b="1" i="0">
                <a:solidFill>
                  <a:srgbClr val="D97706"/>
                </a:solidFill>
                <a:latin typeface="Calibri"/>
              </a:rPr>
              <a:t>💻 Ver en el código:  </a:t>
            </a:r>
            <a:r>
              <a:rPr sz="1200" b="0" i="0">
                <a:solidFill>
                  <a:srgbClr val="1F2937"/>
                </a:solidFill>
                <a:latin typeface="Calibri"/>
              </a:rPr>
              <a:t>TestSuite.cs 40–51 · Spawner.cs 73–99 (Instantiate sin padre) y 103 (Random) · Game.cs 46 y 50 (instancia estática)</a:t>
            </a:r>
          </a:p>
        </p:txBody>
      </p:sp>
      <p:sp>
        <p:nvSpPr>
          <p:cNvPr id="10" name="Rectangle 9"/>
          <p:cNvSpPr/>
          <p:nvPr/>
        </p:nvSpPr>
        <p:spPr>
          <a:xfrm>
            <a:off x="8092440" y="1280160"/>
            <a:ext cx="3593592" cy="3611880"/>
          </a:xfrm>
          <a:prstGeom prst="rect">
            <a:avLst/>
          </a:prstGeom>
          <a:solidFill>
            <a:srgbClr val="F8FAFC"/>
          </a:solidFill>
          <a:ln w="19050">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i="0">
                <a:solidFill>
                  <a:srgbClr val="6B7280"/>
                </a:solidFill>
                <a:latin typeface="Calibri"/>
              </a:rPr>
              <a:t>🖼  IMAGEN</a:t>
            </a:r>
          </a:p>
          <a:p>
            <a:pPr algn="ctr">
              <a:spcBef>
                <a:spcPts val="600"/>
              </a:spcBef>
            </a:pPr>
            <a:r>
              <a:rPr sz="1200" b="0" i="1">
                <a:solidFill>
                  <a:srgbClr val="6B7280"/>
                </a:solidFill>
                <a:latin typeface="Calibri"/>
              </a:rPr>
              <a:t>Esquema de dos tests consecutivos: los asteroides del Test A siguen en escena cuando empieza el Test B (flecha roja entre ambos).</a:t>
            </a:r>
          </a:p>
        </p:txBody>
      </p:sp>
      <p:sp>
        <p:nvSpPr>
          <p:cNvPr id="11" name="TextBox 10"/>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2" name="TextBox 11"/>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13/27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14</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2 · DEMO</a:t>
            </a:r>
          </a:p>
          <a:p>
            <a:r>
              <a:rPr sz="2600" b="1" i="0">
                <a:solidFill>
                  <a:srgbClr val="FFFFFF"/>
                </a:solidFill>
                <a:latin typeface="Calibri"/>
              </a:rPr>
              <a:t>Fixture mejorada (PROPUESTA)</a:t>
            </a:r>
          </a:p>
        </p:txBody>
      </p:sp>
      <p:sp>
        <p:nvSpPr>
          <p:cNvPr id="6" name="Rectangle 5"/>
          <p:cNvSpPr/>
          <p:nvPr/>
        </p:nvSpPr>
        <p:spPr>
          <a:xfrm>
            <a:off x="502920" y="1280160"/>
            <a:ext cx="7223760" cy="42062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6766560" cy="3931920"/>
          </a:xfrm>
          <a:prstGeom prst="rect">
            <a:avLst/>
          </a:prstGeom>
          <a:noFill/>
        </p:spPr>
        <p:txBody>
          <a:bodyPr wrap="square" anchor="t" lIns="0" rIns="0" tIns="0" bIns="0">
            <a:spAutoFit/>
          </a:bodyPr>
          <a:lstStyle/>
          <a:p>
            <a:r>
              <a:rPr sz="1150" b="0" i="0">
                <a:solidFill>
                  <a:srgbClr val="E2E8F0"/>
                </a:solidFill>
                <a:latin typeface="Consolas"/>
              </a:rPr>
              <a:t>[UnitySetUp]</a:t>
            </a:r>
          </a:p>
          <a:p>
            <a:r>
              <a:rPr sz="1150" b="0" i="0">
                <a:solidFill>
                  <a:srgbClr val="E2E8F0"/>
                </a:solidFill>
                <a:latin typeface="Consolas"/>
              </a:rPr>
              <a:t>public IEnumerator SetUp()</a:t>
            </a:r>
          </a:p>
          <a:p>
            <a:r>
              <a:rPr sz="1150" b="0" i="0">
                <a:solidFill>
                  <a:srgbClr val="E2E8F0"/>
                </a:solidFill>
                <a:latin typeface="Consolas"/>
              </a:rPr>
              <a:t>{</a:t>
            </a:r>
          </a:p>
          <a:p>
            <a:r>
              <a:rPr sz="1150" b="0" i="0">
                <a:solidFill>
                  <a:srgbClr val="E2E8F0"/>
                </a:solidFill>
                <a:latin typeface="Consolas"/>
              </a:rPr>
              <a:t>    Random.InitState(12345);        // datos reproducibles</a:t>
            </a:r>
          </a:p>
          <a:p>
            <a:r>
              <a:rPr sz="1150" b="0" i="0">
                <a:solidFill>
                  <a:srgbClr val="E2E8F0"/>
                </a:solidFill>
                <a:latin typeface="Consolas"/>
              </a:rPr>
              <a:t>    var prefab = Resources.Load&lt;GameObject&gt;("Prefabs/Game");</a:t>
            </a:r>
          </a:p>
          <a:p>
            <a:r>
              <a:rPr sz="1150" b="0" i="0">
                <a:solidFill>
                  <a:srgbClr val="E2E8F0"/>
                </a:solidFill>
                <a:latin typeface="Consolas"/>
              </a:rPr>
              <a:t>    game = Object.Instantiate(prefab).GetComponent&lt;Game&gt;();</a:t>
            </a:r>
          </a:p>
          <a:p>
            <a:r>
              <a:rPr sz="1150" b="0" i="0">
                <a:solidFill>
                  <a:srgbClr val="E2E8F0"/>
                </a:solidFill>
                <a:latin typeface="Consolas"/>
              </a:rPr>
              <a:t>    yield return null;              // corre Start(): instance listo</a:t>
            </a:r>
          </a:p>
          <a:p>
            <a:r>
              <a:rPr sz="1150" b="0" i="0">
                <a:solidFill>
                  <a:srgbClr val="E2E8F0"/>
                </a:solidFill>
                <a:latin typeface="Consolas"/>
              </a:rPr>
              <a:t>}</a:t>
            </a:r>
          </a:p>
          <a:p>
            <a:r>
              <a:rPr sz="1150" b="0" i="0">
                <a:solidFill>
                  <a:srgbClr val="E2E8F0"/>
                </a:solidFill>
                <a:latin typeface="Consolas"/>
              </a:rPr>
              <a:t> </a:t>
            </a:r>
          </a:p>
          <a:p>
            <a:r>
              <a:rPr sz="1150" b="0" i="0">
                <a:solidFill>
                  <a:srgbClr val="E2E8F0"/>
                </a:solidFill>
                <a:latin typeface="Consolas"/>
              </a:rPr>
              <a:t>[UnityTearDown]</a:t>
            </a:r>
          </a:p>
          <a:p>
            <a:r>
              <a:rPr sz="1150" b="0" i="0">
                <a:solidFill>
                  <a:srgbClr val="E2E8F0"/>
                </a:solidFill>
                <a:latin typeface="Consolas"/>
              </a:rPr>
              <a:t>public IEnumerator TearDown()</a:t>
            </a:r>
          </a:p>
          <a:p>
            <a:r>
              <a:rPr sz="1150" b="0" i="0">
                <a:solidFill>
                  <a:srgbClr val="E2E8F0"/>
                </a:solidFill>
                <a:latin typeface="Consolas"/>
              </a:rPr>
              <a:t>{</a:t>
            </a:r>
          </a:p>
          <a:p>
            <a:r>
              <a:rPr sz="1150" b="0" i="0">
                <a:solidFill>
                  <a:srgbClr val="E2E8F0"/>
                </a:solidFill>
                <a:latin typeface="Consolas"/>
              </a:rPr>
              <a:t>    Object.Destroy(game.gameObject);</a:t>
            </a:r>
          </a:p>
          <a:p>
            <a:r>
              <a:rPr sz="1150" b="0" i="0">
                <a:solidFill>
                  <a:srgbClr val="E2E8F0"/>
                </a:solidFill>
                <a:latin typeface="Consolas"/>
              </a:rPr>
              <a:t>    var none = FindObjectsSortMode.None;</a:t>
            </a:r>
          </a:p>
          <a:p>
            <a:r>
              <a:rPr sz="1150" b="0" i="0">
                <a:solidFill>
                  <a:srgbClr val="E2E8F0"/>
                </a:solidFill>
                <a:latin typeface="Consolas"/>
              </a:rPr>
              <a:t>    foreach (var a in Object.FindObjectsByType&lt;Asteroid&gt;(none))</a:t>
            </a:r>
          </a:p>
          <a:p>
            <a:r>
              <a:rPr sz="1150" b="0" i="0">
                <a:solidFill>
                  <a:srgbClr val="E2E8F0"/>
                </a:solidFill>
                <a:latin typeface="Consolas"/>
              </a:rPr>
              <a:t>        Object.Destroy(a.gameObject);   // lo que el test dejó</a:t>
            </a:r>
          </a:p>
          <a:p>
            <a:r>
              <a:rPr sz="1150" b="0" i="0">
                <a:solidFill>
                  <a:srgbClr val="E2E8F0"/>
                </a:solidFill>
                <a:latin typeface="Consolas"/>
              </a:rPr>
              <a:t>    foreach (var l in Object.FindObjectsByType&lt;Laser&gt;(none))</a:t>
            </a:r>
          </a:p>
          <a:p>
            <a:r>
              <a:rPr sz="1150" b="0" i="0">
                <a:solidFill>
                  <a:srgbClr val="E2E8F0"/>
                </a:solidFill>
                <a:latin typeface="Consolas"/>
              </a:rPr>
              <a:t>        Object.Destroy(l.gameObject);</a:t>
            </a:r>
          </a:p>
          <a:p>
            <a:r>
              <a:rPr sz="1150" b="0" i="0">
                <a:solidFill>
                  <a:srgbClr val="E2E8F0"/>
                </a:solidFill>
                <a:latin typeface="Consolas"/>
              </a:rPr>
              <a:t>    yield return null;              // Destroy termina al final del frame</a:t>
            </a:r>
          </a:p>
          <a:p>
            <a:r>
              <a:rPr sz="1150" b="0" i="0">
                <a:solidFill>
                  <a:srgbClr val="E2E8F0"/>
                </a:solidFill>
                <a:latin typeface="Consolas"/>
              </a:rPr>
              <a:t>}</a:t>
            </a:r>
          </a:p>
        </p:txBody>
      </p:sp>
      <p:sp>
        <p:nvSpPr>
          <p:cNvPr id="8" name="Rectangle 7"/>
          <p:cNvSpPr/>
          <p:nvPr/>
        </p:nvSpPr>
        <p:spPr>
          <a:xfrm>
            <a:off x="8001000" y="1280160"/>
            <a:ext cx="3687775" cy="4114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280160"/>
            <a:ext cx="3504895" cy="411480"/>
          </a:xfrm>
          <a:prstGeom prst="rect">
            <a:avLst/>
          </a:prstGeom>
          <a:noFill/>
        </p:spPr>
        <p:txBody>
          <a:bodyPr wrap="square" anchor="ctr" lIns="0" rIns="0" tIns="0" bIns="0">
            <a:spAutoFit/>
          </a:bodyPr>
          <a:lstStyle/>
          <a:p>
            <a:r>
              <a:rPr sz="1400" b="1" i="0">
                <a:solidFill>
                  <a:srgbClr val="FFFFFF"/>
                </a:solidFill>
                <a:latin typeface="Calibri"/>
              </a:rPr>
              <a:t>Qué cambia</a:t>
            </a:r>
          </a:p>
        </p:txBody>
      </p:sp>
      <p:sp>
        <p:nvSpPr>
          <p:cNvPr id="10" name="TextBox 9"/>
          <p:cNvSpPr txBox="1"/>
          <p:nvPr/>
        </p:nvSpPr>
        <p:spPr>
          <a:xfrm>
            <a:off x="8001000" y="1828800"/>
            <a:ext cx="3687775" cy="1477010"/>
          </a:xfrm>
          <a:prstGeom prst="rect">
            <a:avLst/>
          </a:prstGeom>
          <a:noFill/>
        </p:spPr>
        <p:txBody>
          <a:bodyPr wrap="square" anchor="t" lIns="0" rIns="0" tIns="0" bIns="0">
            <a:spAutoFit/>
          </a:bodyPr>
          <a:lstStyle/>
          <a:p>
            <a:pPr>
              <a:spcAft>
                <a:spcPts val="600"/>
              </a:spcAft>
            </a:pPr>
            <a:r>
              <a:rPr sz="1000" b="1" i="0">
                <a:solidFill>
                  <a:srgbClr val="0D9488"/>
                </a:solidFill>
                <a:latin typeface="Calibri"/>
              </a:rPr>
              <a:t>■  </a:t>
            </a:r>
            <a:r>
              <a:rPr sz="1400" b="0" i="0">
                <a:solidFill>
                  <a:srgbClr val="1F2937"/>
                </a:solidFill>
                <a:latin typeface="Calibri"/>
              </a:rPr>
              <a:t>Semilla fija: datos reproducibles</a:t>
            </a:r>
          </a:p>
          <a:p>
            <a:pPr>
              <a:spcAft>
                <a:spcPts val="600"/>
              </a:spcAft>
            </a:pPr>
            <a:r>
              <a:rPr sz="1000" b="1" i="0">
                <a:solidFill>
                  <a:srgbClr val="0D9488"/>
                </a:solidFill>
                <a:latin typeface="Calibri"/>
              </a:rPr>
              <a:t>■  </a:t>
            </a:r>
            <a:r>
              <a:rPr sz="1400" b="0" i="0">
                <a:solidFill>
                  <a:srgbClr val="1F2937"/>
                </a:solidFill>
                <a:latin typeface="Calibri"/>
              </a:rPr>
              <a:t>Un frame de espera: Start() ya corrió</a:t>
            </a:r>
          </a:p>
          <a:p>
            <a:pPr>
              <a:spcAft>
                <a:spcPts val="600"/>
              </a:spcAft>
            </a:pPr>
            <a:r>
              <a:rPr sz="1000" b="1" i="0">
                <a:solidFill>
                  <a:srgbClr val="0D9488"/>
                </a:solidFill>
                <a:latin typeface="Calibri"/>
              </a:rPr>
              <a:t>■  </a:t>
            </a:r>
            <a:r>
              <a:rPr sz="1400" b="0" i="0">
                <a:solidFill>
                  <a:srgbClr val="1F2937"/>
                </a:solidFill>
                <a:latin typeface="Calibri"/>
              </a:rPr>
              <a:t>Limpieza total, no solo del prefab</a:t>
            </a:r>
          </a:p>
          <a:p>
            <a:pPr>
              <a:spcAft>
                <a:spcPts val="600"/>
              </a:spcAft>
            </a:pPr>
            <a:r>
              <a:rPr sz="1000" b="1" i="0">
                <a:solidFill>
                  <a:srgbClr val="0D9488"/>
                </a:solidFill>
                <a:latin typeface="Calibri"/>
              </a:rPr>
              <a:t>■  </a:t>
            </a:r>
            <a:r>
              <a:rPr sz="1400" b="0" i="0">
                <a:solidFill>
                  <a:srgbClr val="1F2937"/>
                </a:solidFill>
                <a:latin typeface="Calibri"/>
              </a:rPr>
              <a:t>Otro frame: el próximo test empieza limpio</a:t>
            </a:r>
          </a:p>
        </p:txBody>
      </p:sp>
      <p:sp>
        <p:nvSpPr>
          <p:cNvPr id="11" name="Rectangle 10"/>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Código propio de la cátedra (PROPUESTA), no incluido en el proyecto. No se probó todavía en Unity.</a:t>
            </a:r>
          </a:p>
        </p:txBody>
      </p:sp>
      <p:sp>
        <p:nvSpPr>
          <p:cNvPr id="13" name="TextBox 12"/>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4" name="TextBox 13"/>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14/27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15</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2 · TEORÍA</a:t>
            </a:r>
          </a:p>
          <a:p>
            <a:r>
              <a:rPr sz="2600" b="1" i="0">
                <a:solidFill>
                  <a:srgbClr val="FFFFFF"/>
                </a:solidFill>
                <a:latin typeface="Calibri"/>
              </a:rPr>
              <a:t>Tests frágiles (flaky)</a:t>
            </a:r>
          </a:p>
        </p:txBody>
      </p:sp>
      <p:sp>
        <p:nvSpPr>
          <p:cNvPr id="6" name="Rounded Rectangle 5"/>
          <p:cNvSpPr/>
          <p:nvPr/>
        </p:nvSpPr>
        <p:spPr>
          <a:xfrm>
            <a:off x="502920" y="1280160"/>
            <a:ext cx="5262372" cy="310896"/>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9144" bIns="9144" wrap="none"/>
          <a:lstStyle/>
          <a:p>
            <a:pPr algn="ctr"/>
            <a:r>
              <a:rPr sz="1200" b="1" i="0">
                <a:solidFill>
                  <a:srgbClr val="FFFFFF"/>
                </a:solidFill>
                <a:latin typeface="Calibri"/>
              </a:rPr>
              <a:t>Ejemplo: Martin Fowler · «Eradicating Non-Determinism in Tests»</a:t>
            </a:r>
          </a:p>
        </p:txBody>
      </p:sp>
      <p:graphicFrame>
        <p:nvGraphicFramePr>
          <p:cNvPr id="7" name="Table 6"/>
          <p:cNvGraphicFramePr>
            <a:graphicFrameLocks noGrp="1"/>
          </p:cNvGraphicFramePr>
          <p:nvPr/>
        </p:nvGraphicFramePr>
        <p:xfrm>
          <a:off x="502920" y="1755648"/>
          <a:ext cx="11185854" cy="1975104"/>
        </p:xfrm>
        <a:graphic>
          <a:graphicData uri="http://schemas.openxmlformats.org/drawingml/2006/table">
            <a:tbl>
              <a:tblPr firstRow="1" bandRow="1">
                <a:tableStyleId>{5C22544A-7EE6-4342-B048-85BDC9FD1C3A}</a:tableStyleId>
              </a:tblPr>
              <a:tblGrid>
                <a:gridCol w="2071454"/>
                <a:gridCol w="5385782"/>
                <a:gridCol w="3728618"/>
              </a:tblGrid>
              <a:tr h="329184">
                <a:tc>
                  <a:txBody>
                    <a:bodyPr/>
                    <a:lstStyle/>
                    <a:p>
                      <a:r>
                        <a:rPr sz="1300" b="1" i="0">
                          <a:solidFill>
                            <a:srgbClr val="FFFFFF"/>
                          </a:solidFill>
                          <a:latin typeface="Calibri"/>
                        </a:rPr>
                        <a:t>Causa</a:t>
                      </a:r>
                    </a:p>
                  </a:txBody>
                  <a:tcPr>
                    <a:solidFill>
                      <a:srgbClr val="1F2A44"/>
                    </a:solidFill>
                  </a:tcPr>
                </a:tc>
                <a:tc>
                  <a:txBody>
                    <a:bodyPr/>
                    <a:lstStyle/>
                    <a:p>
                      <a:r>
                        <a:rPr sz="1300" b="1" i="0">
                          <a:solidFill>
                            <a:srgbClr val="FFFFFF"/>
                          </a:solidFill>
                          <a:latin typeface="Calibri"/>
                        </a:rPr>
                        <a:t>En la suite actual</a:t>
                      </a:r>
                    </a:p>
                  </a:txBody>
                  <a:tcPr>
                    <a:solidFill>
                      <a:srgbClr val="1F2A44"/>
                    </a:solidFill>
                  </a:tcPr>
                </a:tc>
                <a:tc>
                  <a:txBody>
                    <a:bodyPr/>
                    <a:lstStyle/>
                    <a:p>
                      <a:r>
                        <a:rPr sz="1300" b="1" i="0">
                          <a:solidFill>
                            <a:srgbClr val="FFFFFF"/>
                          </a:solidFill>
                          <a:latin typeface="Calibri"/>
                        </a:rPr>
                        <a:t>Remedio</a:t>
                      </a:r>
                    </a:p>
                  </a:txBody>
                  <a:tcPr>
                    <a:solidFill>
                      <a:srgbClr val="1F2A44"/>
                    </a:solidFill>
                  </a:tcPr>
                </a:tc>
              </a:tr>
              <a:tr h="329184">
                <a:tc>
                  <a:txBody>
                    <a:bodyPr/>
                    <a:lstStyle/>
                    <a:p>
                      <a:r>
                        <a:rPr sz="1200" b="1" i="0">
                          <a:solidFill>
                            <a:srgbClr val="1F2937"/>
                          </a:solidFill>
                          <a:latin typeface="Calibri"/>
                        </a:rPr>
                        <a:t>Tiempo fijo</a:t>
                      </a:r>
                    </a:p>
                  </a:txBody>
                  <a:tcPr marT="36576" marB="36576">
                    <a:solidFill>
                      <a:srgbClr val="FFFFFF"/>
                    </a:solidFill>
                  </a:tcPr>
                </a:tc>
                <a:tc>
                  <a:txBody>
                    <a:bodyPr/>
                    <a:lstStyle/>
                    <a:p>
                      <a:r>
                        <a:rPr sz="1200" b="0" i="0">
                          <a:solidFill>
                            <a:srgbClr val="1F2937"/>
                          </a:solidFill>
                          <a:latin typeface="Calibri"/>
                        </a:rPr>
                        <a:t>WaitForSeconds(0,1) depende de la máquina y de la física</a:t>
                      </a:r>
                    </a:p>
                  </a:txBody>
                  <a:tcPr marT="36576" marB="36576">
                    <a:solidFill>
                      <a:srgbClr val="FFFFFF"/>
                    </a:solidFill>
                  </a:tcPr>
                </a:tc>
                <a:tc>
                  <a:txBody>
                    <a:bodyPr/>
                    <a:lstStyle/>
                    <a:p>
                      <a:r>
                        <a:rPr sz="1200" b="0" i="0">
                          <a:solidFill>
                            <a:srgbClr val="1F2937"/>
                          </a:solidFill>
                          <a:latin typeface="Calibri"/>
                        </a:rPr>
                        <a:t>Esperar por condición, con tiempo máximo</a:t>
                      </a:r>
                    </a:p>
                  </a:txBody>
                  <a:tcPr marT="36576" marB="36576">
                    <a:solidFill>
                      <a:srgbClr val="FFFFFF"/>
                    </a:solidFill>
                  </a:tcPr>
                </a:tc>
              </a:tr>
              <a:tr h="329184">
                <a:tc>
                  <a:txBody>
                    <a:bodyPr/>
                    <a:lstStyle/>
                    <a:p>
                      <a:r>
                        <a:rPr sz="1200" b="1" i="0">
                          <a:solidFill>
                            <a:srgbClr val="1F2937"/>
                          </a:solidFill>
                          <a:latin typeface="Calibri"/>
                        </a:rPr>
                        <a:t>Estado compartido</a:t>
                      </a:r>
                    </a:p>
                  </a:txBody>
                  <a:tcPr marT="36576" marB="36576">
                    <a:solidFill>
                      <a:srgbClr val="F3F4F6"/>
                    </a:solidFill>
                  </a:tcPr>
                </a:tc>
                <a:tc>
                  <a:txBody>
                    <a:bodyPr/>
                    <a:lstStyle/>
                    <a:p>
                      <a:r>
                        <a:rPr sz="1200" b="0" i="0">
                          <a:solidFill>
                            <a:srgbClr val="1F2937"/>
                          </a:solidFill>
                          <a:latin typeface="Calibri"/>
                        </a:rPr>
                        <a:t>Asteroides de tests anteriores siguen en escena</a:t>
                      </a:r>
                    </a:p>
                  </a:txBody>
                  <a:tcPr marT="36576" marB="36576">
                    <a:solidFill>
                      <a:srgbClr val="F3F4F6"/>
                    </a:solidFill>
                  </a:tcPr>
                </a:tc>
                <a:tc>
                  <a:txBody>
                    <a:bodyPr/>
                    <a:lstStyle/>
                    <a:p>
                      <a:r>
                        <a:rPr sz="1200" b="0" i="0">
                          <a:solidFill>
                            <a:srgbClr val="1F2937"/>
                          </a:solidFill>
                          <a:latin typeface="Calibri"/>
                        </a:rPr>
                        <a:t>TearDown que limpia todo</a:t>
                      </a:r>
                    </a:p>
                  </a:txBody>
                  <a:tcPr marT="36576" marB="36576">
                    <a:solidFill>
                      <a:srgbClr val="F3F4F6"/>
                    </a:solidFill>
                  </a:tcPr>
                </a:tc>
              </a:tr>
              <a:tr h="329184">
                <a:tc>
                  <a:txBody>
                    <a:bodyPr/>
                    <a:lstStyle/>
                    <a:p>
                      <a:r>
                        <a:rPr sz="1200" b="1" i="0">
                          <a:solidFill>
                            <a:srgbClr val="1F2937"/>
                          </a:solidFill>
                          <a:latin typeface="Calibri"/>
                        </a:rPr>
                        <a:t>Orden</a:t>
                      </a:r>
                    </a:p>
                  </a:txBody>
                  <a:tcPr marT="36576" marB="36576">
                    <a:solidFill>
                      <a:srgbClr val="FFFFFF"/>
                    </a:solidFill>
                  </a:tcPr>
                </a:tc>
                <a:tc>
                  <a:txBody>
                    <a:bodyPr/>
                    <a:lstStyle/>
                    <a:p>
                      <a:r>
                        <a:rPr sz="1200" b="0" i="0">
                          <a:solidFill>
                            <a:srgbClr val="1F2937"/>
                          </a:solidFill>
                          <a:latin typeface="Calibri"/>
                        </a:rPr>
                        <a:t>04 cuenta TODOS los asteroides de la escena</a:t>
                      </a:r>
                    </a:p>
                  </a:txBody>
                  <a:tcPr marT="36576" marB="36576">
                    <a:solidFill>
                      <a:srgbClr val="FFFFFF"/>
                    </a:solidFill>
                  </a:tcPr>
                </a:tc>
                <a:tc>
                  <a:txBody>
                    <a:bodyPr/>
                    <a:lstStyle/>
                    <a:p>
                      <a:r>
                        <a:rPr sz="1200" b="0" i="0">
                          <a:solidFill>
                            <a:srgbClr val="1F2937"/>
                          </a:solidFill>
                          <a:latin typeface="Calibri"/>
                        </a:rPr>
                        <a:t>Contar solo lo que creó el test</a:t>
                      </a:r>
                    </a:p>
                  </a:txBody>
                  <a:tcPr marT="36576" marB="36576">
                    <a:solidFill>
                      <a:srgbClr val="FFFFFF"/>
                    </a:solidFill>
                  </a:tcPr>
                </a:tc>
              </a:tr>
              <a:tr h="329184">
                <a:tc>
                  <a:txBody>
                    <a:bodyPr/>
                    <a:lstStyle/>
                    <a:p>
                      <a:r>
                        <a:rPr sz="1200" b="1" i="0">
                          <a:solidFill>
                            <a:srgbClr val="1F2937"/>
                          </a:solidFill>
                          <a:latin typeface="Calibri"/>
                        </a:rPr>
                        <a:t>Azar</a:t>
                      </a:r>
                    </a:p>
                  </a:txBody>
                  <a:tcPr marT="36576" marB="36576">
                    <a:solidFill>
                      <a:srgbClr val="F3F4F6"/>
                    </a:solidFill>
                  </a:tcPr>
                </a:tc>
                <a:tc>
                  <a:txBody>
                    <a:bodyPr/>
                    <a:lstStyle/>
                    <a:p>
                      <a:r>
                        <a:rPr sz="1200" b="0" i="0">
                          <a:solidFill>
                            <a:srgbClr val="1F2937"/>
                          </a:solidFill>
                          <a:latin typeface="Calibri"/>
                        </a:rPr>
                        <a:t>Posición X aleatoria del spawner</a:t>
                      </a:r>
                    </a:p>
                  </a:txBody>
                  <a:tcPr marT="36576" marB="36576">
                    <a:solidFill>
                      <a:srgbClr val="F3F4F6"/>
                    </a:solidFill>
                  </a:tcPr>
                </a:tc>
                <a:tc>
                  <a:txBody>
                    <a:bodyPr/>
                    <a:lstStyle/>
                    <a:p>
                      <a:r>
                        <a:rPr sz="1200" b="0" i="0">
                          <a:solidFill>
                            <a:srgbClr val="1F2937"/>
                          </a:solidFill>
                          <a:latin typeface="Calibri"/>
                        </a:rPr>
                        <a:t>Random.InitState(semilla)</a:t>
                      </a:r>
                    </a:p>
                  </a:txBody>
                  <a:tcPr marT="36576" marB="36576">
                    <a:solidFill>
                      <a:srgbClr val="F3F4F6"/>
                    </a:solidFill>
                  </a:tcPr>
                </a:tc>
              </a:tr>
              <a:tr h="329184">
                <a:tc>
                  <a:txBody>
                    <a:bodyPr/>
                    <a:lstStyle/>
                    <a:p>
                      <a:r>
                        <a:rPr sz="1200" b="1" i="0">
                          <a:solidFill>
                            <a:srgbClr val="1F2937"/>
                          </a:solidFill>
                          <a:latin typeface="Calibri"/>
                        </a:rPr>
                        <a:t>Física</a:t>
                      </a:r>
                    </a:p>
                  </a:txBody>
                  <a:tcPr marT="36576" marB="36576">
                    <a:solidFill>
                      <a:srgbClr val="FFFFFF"/>
                    </a:solidFill>
                  </a:tcPr>
                </a:tc>
                <a:tc>
                  <a:txBody>
                    <a:bodyPr/>
                    <a:lstStyle/>
                    <a:p>
                      <a:r>
                        <a:rPr sz="1200" b="0" i="0">
                          <a:solidFill>
                            <a:srgbClr val="1F2937"/>
                          </a:solidFill>
                          <a:latin typeface="Calibri"/>
                        </a:rPr>
                        <a:t>Las colisiones ocurren en FixedUpdate</a:t>
                      </a:r>
                    </a:p>
                  </a:txBody>
                  <a:tcPr marT="36576" marB="36576">
                    <a:solidFill>
                      <a:srgbClr val="FFFFFF"/>
                    </a:solidFill>
                  </a:tcPr>
                </a:tc>
                <a:tc>
                  <a:txBody>
                    <a:bodyPr/>
                    <a:lstStyle/>
                    <a:p>
                      <a:r>
                        <a:rPr sz="1200" b="0" i="0">
                          <a:solidFill>
                            <a:srgbClr val="1F2937"/>
                          </a:solidFill>
                          <a:latin typeface="Calibri"/>
                        </a:rPr>
                        <a:t>yield return new WaitForFixedUpdate()</a:t>
                      </a:r>
                    </a:p>
                  </a:txBody>
                  <a:tcPr marT="36576" marB="36576">
                    <a:solidFill>
                      <a:srgbClr val="FFFFFF"/>
                    </a:solidFill>
                  </a:tcPr>
                </a:tc>
              </a:tr>
            </a:tbl>
          </a:graphicData>
        </a:graphic>
      </p:graphicFrame>
      <p:sp>
        <p:nvSpPr>
          <p:cNvPr id="8" name="Rectangle 7"/>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Flaky: pasa o falla sin que cambie el código. Destruye la confianza en toda la suite.</a:t>
            </a:r>
          </a:p>
        </p:txBody>
      </p:sp>
      <p:sp>
        <p:nvSpPr>
          <p:cNvPr id="10" name="TextBox 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1" name="TextBox 1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15/27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16</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2 · DEMO</a:t>
            </a:r>
          </a:p>
          <a:p>
            <a:r>
              <a:rPr sz="2600" b="1" i="0">
                <a:solidFill>
                  <a:srgbClr val="FFFFFF"/>
                </a:solidFill>
                <a:latin typeface="Calibri"/>
              </a:rPr>
              <a:t>Esperar por condición, no por tiempo fijo (PROPUESTA)</a:t>
            </a:r>
          </a:p>
        </p:txBody>
      </p:sp>
      <p:sp>
        <p:nvSpPr>
          <p:cNvPr id="6" name="Rectangle 5"/>
          <p:cNvSpPr/>
          <p:nvPr/>
        </p:nvSpPr>
        <p:spPr>
          <a:xfrm>
            <a:off x="502920" y="1280160"/>
            <a:ext cx="7223760" cy="42062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6766560" cy="3931920"/>
          </a:xfrm>
          <a:prstGeom prst="rect">
            <a:avLst/>
          </a:prstGeom>
          <a:noFill/>
        </p:spPr>
        <p:txBody>
          <a:bodyPr wrap="square" anchor="t" lIns="0" rIns="0" tIns="0" bIns="0">
            <a:spAutoFit/>
          </a:bodyPr>
          <a:lstStyle/>
          <a:p>
            <a:r>
              <a:rPr sz="1250" b="0" i="0">
                <a:solidFill>
                  <a:srgbClr val="94A3B8"/>
                </a:solidFill>
                <a:latin typeface="Consolas"/>
              </a:rPr>
              <a:t>// Antes: espera fija (TestSuite.cs 134)</a:t>
            </a:r>
          </a:p>
          <a:p>
            <a:r>
              <a:rPr sz="1250" b="0" i="0">
                <a:solidFill>
                  <a:srgbClr val="E2E8F0"/>
                </a:solidFill>
                <a:latin typeface="Consolas"/>
              </a:rPr>
              <a:t>yield return new WaitForSeconds(0.1f);</a:t>
            </a:r>
          </a:p>
          <a:p>
            <a:r>
              <a:rPr sz="1250" b="0" i="0">
                <a:solidFill>
                  <a:srgbClr val="E2E8F0"/>
                </a:solidFill>
                <a:latin typeface="Consolas"/>
              </a:rPr>
              <a:t> </a:t>
            </a:r>
          </a:p>
          <a:p>
            <a:r>
              <a:rPr sz="1250" b="0" i="0">
                <a:solidFill>
                  <a:srgbClr val="94A3B8"/>
                </a:solidFill>
                <a:latin typeface="Consolas"/>
              </a:rPr>
              <a:t>// Después: espera hasta que se cumpla la condición o se agote el tiempo</a:t>
            </a:r>
          </a:p>
          <a:p>
            <a:r>
              <a:rPr sz="1250" b="0" i="0">
                <a:solidFill>
                  <a:srgbClr val="E2E8F0"/>
                </a:solidFill>
                <a:latin typeface="Consolas"/>
              </a:rPr>
              <a:t>float timeout = 2f;</a:t>
            </a:r>
          </a:p>
          <a:p>
            <a:r>
              <a:rPr sz="1250" b="0" i="0">
                <a:solidFill>
                  <a:srgbClr val="E2E8F0"/>
                </a:solidFill>
                <a:latin typeface="Consolas"/>
              </a:rPr>
              <a:t>while (asteroid != null &amp;&amp; timeout &gt; 0f)</a:t>
            </a:r>
          </a:p>
          <a:p>
            <a:r>
              <a:rPr sz="1250" b="0" i="0">
                <a:solidFill>
                  <a:srgbClr val="E2E8F0"/>
                </a:solidFill>
                <a:latin typeface="Consolas"/>
              </a:rPr>
              <a:t>{</a:t>
            </a:r>
          </a:p>
          <a:p>
            <a:r>
              <a:rPr sz="1250" b="0" i="0">
                <a:solidFill>
                  <a:srgbClr val="E2E8F0"/>
                </a:solidFill>
                <a:latin typeface="Consolas"/>
              </a:rPr>
              <a:t>    timeout -= Time.deltaTime;</a:t>
            </a:r>
          </a:p>
          <a:p>
            <a:r>
              <a:rPr sz="1250" b="0" i="0">
                <a:solidFill>
                  <a:srgbClr val="E2E8F0"/>
                </a:solidFill>
                <a:latin typeface="Consolas"/>
              </a:rPr>
              <a:t>    yield return null;</a:t>
            </a:r>
          </a:p>
          <a:p>
            <a:r>
              <a:rPr sz="1250" b="0" i="0">
                <a:solidFill>
                  <a:srgbClr val="E2E8F0"/>
                </a:solidFill>
                <a:latin typeface="Consolas"/>
              </a:rPr>
              <a:t>}</a:t>
            </a:r>
          </a:p>
          <a:p>
            <a:r>
              <a:rPr sz="1250" b="0" i="0">
                <a:solidFill>
                  <a:srgbClr val="E2E8F0"/>
                </a:solidFill>
                <a:latin typeface="Consolas"/>
              </a:rPr>
              <a:t>Assert.IsTrue(asteroid == null,</a:t>
            </a:r>
          </a:p>
          <a:p>
            <a:r>
              <a:rPr sz="1250" b="0" i="0">
                <a:solidFill>
                  <a:srgbClr val="E2E8F0"/>
                </a:solidFill>
                <a:latin typeface="Consolas"/>
              </a:rPr>
              <a:t>    "El asteroide debería destruirse al recibir el láser");</a:t>
            </a:r>
          </a:p>
        </p:txBody>
      </p:sp>
      <p:sp>
        <p:nvSpPr>
          <p:cNvPr id="8" name="Rectangle 7"/>
          <p:cNvSpPr/>
          <p:nvPr/>
        </p:nvSpPr>
        <p:spPr>
          <a:xfrm>
            <a:off x="8001000" y="1280160"/>
            <a:ext cx="3687775" cy="4114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280160"/>
            <a:ext cx="3504895" cy="411480"/>
          </a:xfrm>
          <a:prstGeom prst="rect">
            <a:avLst/>
          </a:prstGeom>
          <a:noFill/>
        </p:spPr>
        <p:txBody>
          <a:bodyPr wrap="square" anchor="ctr" lIns="0" rIns="0" tIns="0" bIns="0">
            <a:spAutoFit/>
          </a:bodyPr>
          <a:lstStyle/>
          <a:p>
            <a:r>
              <a:rPr sz="1400" b="1" i="0">
                <a:solidFill>
                  <a:srgbClr val="FFFFFF"/>
                </a:solidFill>
                <a:latin typeface="Calibri"/>
              </a:rPr>
              <a:t>Por qué</a:t>
            </a:r>
          </a:p>
        </p:txBody>
      </p:sp>
      <p:sp>
        <p:nvSpPr>
          <p:cNvPr id="10" name="TextBox 9"/>
          <p:cNvSpPr txBox="1"/>
          <p:nvPr/>
        </p:nvSpPr>
        <p:spPr>
          <a:xfrm>
            <a:off x="8001000" y="1828800"/>
            <a:ext cx="3687775" cy="1477010"/>
          </a:xfrm>
          <a:prstGeom prst="rect">
            <a:avLst/>
          </a:prstGeom>
          <a:noFill/>
        </p:spPr>
        <p:txBody>
          <a:bodyPr wrap="square" anchor="t" lIns="0" rIns="0" tIns="0" bIns="0">
            <a:spAutoFit/>
          </a:bodyPr>
          <a:lstStyle/>
          <a:p>
            <a:pPr>
              <a:spcAft>
                <a:spcPts val="600"/>
              </a:spcAft>
            </a:pPr>
            <a:r>
              <a:rPr sz="1000" b="1" i="0">
                <a:solidFill>
                  <a:srgbClr val="0D9488"/>
                </a:solidFill>
                <a:latin typeface="Calibri"/>
              </a:rPr>
              <a:t>■  </a:t>
            </a:r>
            <a:r>
              <a:rPr sz="1400" b="0" i="0">
                <a:solidFill>
                  <a:srgbClr val="1F2937"/>
                </a:solidFill>
                <a:latin typeface="Calibri"/>
              </a:rPr>
              <a:t>Pasa apenas se cumple: más rápido</a:t>
            </a:r>
          </a:p>
          <a:p>
            <a:pPr>
              <a:spcAft>
                <a:spcPts val="600"/>
              </a:spcAft>
            </a:pPr>
            <a:r>
              <a:rPr sz="1000" b="1" i="0">
                <a:solidFill>
                  <a:srgbClr val="0D9488"/>
                </a:solidFill>
                <a:latin typeface="Calibri"/>
              </a:rPr>
              <a:t>■  </a:t>
            </a:r>
            <a:r>
              <a:rPr sz="1400" b="0" i="0">
                <a:solidFill>
                  <a:srgbClr val="1F2937"/>
                </a:solidFill>
                <a:latin typeface="Calibri"/>
              </a:rPr>
              <a:t>Tolera máquinas lentas</a:t>
            </a:r>
          </a:p>
          <a:p>
            <a:pPr>
              <a:spcAft>
                <a:spcPts val="600"/>
              </a:spcAft>
            </a:pPr>
            <a:r>
              <a:rPr sz="1000" b="1" i="0">
                <a:solidFill>
                  <a:srgbClr val="0D9488"/>
                </a:solidFill>
                <a:latin typeface="Calibri"/>
              </a:rPr>
              <a:t>■  </a:t>
            </a:r>
            <a:r>
              <a:rPr sz="1400" b="0" i="0">
                <a:solidFill>
                  <a:srgbClr val="1F2937"/>
                </a:solidFill>
                <a:latin typeface="Calibri"/>
              </a:rPr>
              <a:t>El timeout evita esperas infinitas</a:t>
            </a:r>
          </a:p>
          <a:p>
            <a:pPr>
              <a:spcAft>
                <a:spcPts val="600"/>
              </a:spcAft>
            </a:pPr>
            <a:r>
              <a:rPr sz="1000" b="1" i="0">
                <a:solidFill>
                  <a:srgbClr val="0D9488"/>
                </a:solidFill>
                <a:latin typeface="Calibri"/>
              </a:rPr>
              <a:t>■  </a:t>
            </a:r>
            <a:r>
              <a:rPr sz="1400" b="0" i="0">
                <a:solidFill>
                  <a:srgbClr val="1F2937"/>
                </a:solidFill>
                <a:latin typeface="Calibri"/>
              </a:rPr>
              <a:t>«asteroid == null» usa la comparación de Unity para objetos destruidos</a:t>
            </a:r>
          </a:p>
        </p:txBody>
      </p:sp>
      <p:sp>
        <p:nvSpPr>
          <p:cNvPr id="11" name="Rectangle 10"/>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Código propio (PROPUESTA). El mensaje del Assert explica QUÉ se esperaba: ayuda a diagnosticar.</a:t>
            </a:r>
          </a:p>
        </p:txBody>
      </p:sp>
      <p:sp>
        <p:nvSpPr>
          <p:cNvPr id="13" name="TextBox 12"/>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4" name="TextBox 13"/>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16/27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17</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PRÁCTICA · ANÁLISIS</a:t>
            </a:r>
          </a:p>
          <a:p>
            <a:r>
              <a:rPr sz="2600" b="1" i="0">
                <a:solidFill>
                  <a:srgbClr val="FFFFFF"/>
                </a:solidFill>
                <a:latin typeface="Calibri"/>
              </a:rPr>
              <a:t>Actividad 3 · Un test que falla (10 min)</a:t>
            </a:r>
          </a:p>
        </p:txBody>
      </p:sp>
      <p:sp>
        <p:nvSpPr>
          <p:cNvPr id="6" name="Rectangle 5"/>
          <p:cNvSpPr/>
          <p:nvPr/>
        </p:nvSpPr>
        <p:spPr>
          <a:xfrm>
            <a:off x="502920" y="1280160"/>
            <a:ext cx="11185855" cy="42062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10728655" cy="3931920"/>
          </a:xfrm>
          <a:prstGeom prst="rect">
            <a:avLst/>
          </a:prstGeom>
          <a:noFill/>
        </p:spPr>
        <p:txBody>
          <a:bodyPr wrap="square" anchor="t" lIns="0" rIns="0" tIns="0" bIns="0">
            <a:spAutoFit/>
          </a:bodyPr>
          <a:lstStyle/>
          <a:p>
            <a:r>
              <a:rPr sz="1200" b="0" i="0">
                <a:solidFill>
                  <a:srgbClr val="E2E8F0"/>
                </a:solidFill>
                <a:latin typeface="Consolas"/>
              </a:rPr>
              <a:t>[UnityTest]  // INT-AST-14 (PROPUESTA)</a:t>
            </a:r>
          </a:p>
          <a:p>
            <a:r>
              <a:rPr sz="1200" b="0" i="0">
                <a:solidFill>
                  <a:srgbClr val="E2E8F0"/>
                </a:solidFill>
                <a:latin typeface="Consolas"/>
              </a:rPr>
              <a:t>public IEnumerator NewGame_RemovesLeftoverAsteroids()</a:t>
            </a:r>
          </a:p>
          <a:p>
            <a:r>
              <a:rPr sz="1200" b="0" i="0">
                <a:solidFill>
                  <a:srgbClr val="E2E8F0"/>
                </a:solidFill>
                <a:latin typeface="Consolas"/>
              </a:rPr>
              <a:t>{</a:t>
            </a:r>
          </a:p>
          <a:p>
            <a:r>
              <a:rPr sz="1200" b="0" i="0">
                <a:solidFill>
                  <a:srgbClr val="E2E8F0"/>
                </a:solidFill>
                <a:latin typeface="Consolas"/>
              </a:rPr>
              <a:t>    game.NewGame();</a:t>
            </a:r>
          </a:p>
          <a:p>
            <a:r>
              <a:rPr sz="1200" b="0" i="0">
                <a:solidFill>
                  <a:srgbClr val="E2E8F0"/>
                </a:solidFill>
                <a:latin typeface="Consolas"/>
              </a:rPr>
              <a:t>    GameObject leftover = game.GetSpawner().SpawnAsteroid();</a:t>
            </a:r>
          </a:p>
          <a:p>
            <a:r>
              <a:rPr sz="1200" b="0" i="0">
                <a:solidFill>
                  <a:srgbClr val="E2E8F0"/>
                </a:solidFill>
                <a:latin typeface="Consolas"/>
              </a:rPr>
              <a:t>    leftover.transform.position = new Vector3(6f, 3f, leftover.transform.position.z);</a:t>
            </a:r>
          </a:p>
          <a:p>
            <a:r>
              <a:rPr sz="1200" b="0" i="0">
                <a:solidFill>
                  <a:srgbClr val="E2E8F0"/>
                </a:solidFill>
                <a:latin typeface="Consolas"/>
              </a:rPr>
              <a:t>    Game.GameOver();</a:t>
            </a:r>
          </a:p>
          <a:p>
            <a:r>
              <a:rPr sz="1200" b="0" i="0">
                <a:solidFill>
                  <a:srgbClr val="E2E8F0"/>
                </a:solidFill>
                <a:latin typeface="Consolas"/>
              </a:rPr>
              <a:t>    yield return null;</a:t>
            </a:r>
          </a:p>
          <a:p>
            <a:r>
              <a:rPr sz="1200" b="0" i="0">
                <a:solidFill>
                  <a:srgbClr val="E2E8F0"/>
                </a:solidFill>
                <a:latin typeface="Consolas"/>
              </a:rPr>
              <a:t> </a:t>
            </a:r>
          </a:p>
          <a:p>
            <a:r>
              <a:rPr sz="1200" b="0" i="0">
                <a:solidFill>
                  <a:srgbClr val="E2E8F0"/>
                </a:solidFill>
                <a:latin typeface="Consolas"/>
              </a:rPr>
              <a:t>    game.NewGame();                        // el jugador reinicia</a:t>
            </a:r>
          </a:p>
          <a:p>
            <a:r>
              <a:rPr sz="1200" b="0" i="0">
                <a:solidFill>
                  <a:srgbClr val="E2E8F0"/>
                </a:solidFill>
                <a:latin typeface="Consolas"/>
              </a:rPr>
              <a:t>    yield return null;</a:t>
            </a:r>
          </a:p>
          <a:p>
            <a:r>
              <a:rPr sz="1200" b="0" i="0">
                <a:solidFill>
                  <a:srgbClr val="E2E8F0"/>
                </a:solidFill>
                <a:latin typeface="Consolas"/>
              </a:rPr>
              <a:t> </a:t>
            </a:r>
          </a:p>
          <a:p>
            <a:r>
              <a:rPr sz="1200" b="0" i="0">
                <a:solidFill>
                  <a:srgbClr val="E2E8F0"/>
                </a:solidFill>
                <a:latin typeface="Consolas"/>
              </a:rPr>
              <a:t>    Assert.IsTrue(leftover == null, "NewGame debería eliminar los asteroides previos");</a:t>
            </a:r>
          </a:p>
          <a:p>
            <a:r>
              <a:rPr sz="1200" b="0" i="0">
                <a:solidFill>
                  <a:srgbClr val="E2E8F0"/>
                </a:solidFill>
                <a:latin typeface="Consolas"/>
              </a:rPr>
              <a:t>}</a:t>
            </a:r>
          </a:p>
          <a:p>
            <a:r>
              <a:rPr sz="1200" b="0" i="0">
                <a:solidFill>
                  <a:srgbClr val="E2E8F0"/>
                </a:solidFill>
                <a:latin typeface="Consolas"/>
              </a:rPr>
              <a:t> </a:t>
            </a:r>
          </a:p>
          <a:p>
            <a:r>
              <a:rPr sz="1200" b="0" i="0">
                <a:solidFill>
                  <a:srgbClr val="FCA5A5"/>
                </a:solidFill>
                <a:latin typeface="Consolas"/>
              </a:rPr>
              <a:t>✗ NewGame_RemovesLeftoverAsteroids — NewGame debería eliminar los asteroides previos</a:t>
            </a:r>
          </a:p>
          <a:p>
            <a:r>
              <a:rPr sz="1200" b="0" i="0">
                <a:solidFill>
                  <a:srgbClr val="FCA5A5"/>
                </a:solidFill>
                <a:latin typeface="Consolas"/>
              </a:rPr>
              <a:t>  Expected: True   But was: False</a:t>
            </a:r>
          </a:p>
        </p:txBody>
      </p:sp>
      <p:sp>
        <p:nvSpPr>
          <p:cNvPr id="8" name="Rectangle 7"/>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Actividad:  1) ¿Falla el juego o el test?  2) Causa en el código  3) Impacto para el jugador  4) Ticket  5) ¿Y después del arreglo?</a:t>
            </a:r>
          </a:p>
        </p:txBody>
      </p:sp>
      <p:sp>
        <p:nvSpPr>
          <p:cNvPr id="10" name="TextBox 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1" name="TextBox 1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17/27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18</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RESOLUCIÓN DOCENTE</a:t>
            </a:r>
          </a:p>
          <a:p>
            <a:r>
              <a:rPr sz="2600" b="1" i="0">
                <a:solidFill>
                  <a:srgbClr val="FFFFFF"/>
                </a:solidFill>
                <a:latin typeface="Calibri"/>
              </a:rPr>
              <a:t>Actividad 3 · Resolución</a:t>
            </a:r>
          </a:p>
        </p:txBody>
      </p:sp>
      <p:sp>
        <p:nvSpPr>
          <p:cNvPr id="6" name="Rectangle 5"/>
          <p:cNvSpPr/>
          <p:nvPr/>
        </p:nvSpPr>
        <p:spPr>
          <a:xfrm>
            <a:off x="502920" y="1280160"/>
            <a:ext cx="11185855" cy="475488"/>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8016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SpawnAsteroid() crea con Instantiate y nunca pasa por el pool</a:t>
            </a:r>
          </a:p>
        </p:txBody>
      </p:sp>
      <p:sp>
        <p:nvSpPr>
          <p:cNvPr id="8" name="TextBox 7"/>
          <p:cNvSpPr txBox="1"/>
          <p:nvPr/>
        </p:nvSpPr>
        <p:spPr>
          <a:xfrm>
            <a:off x="502920" y="1755648"/>
            <a:ext cx="11185855" cy="256032"/>
          </a:xfrm>
          <a:prstGeom prst="rect">
            <a:avLst/>
          </a:prstGeom>
          <a:noFill/>
        </p:spPr>
        <p:txBody>
          <a:bodyPr wrap="square" anchor="ctr" lIns="0" rIns="0" tIns="0" bIns="0">
            <a:spAutoFit/>
          </a:bodyPr>
          <a:lstStyle/>
          <a:p>
            <a:pPr algn="ctr"/>
            <a:r>
              <a:rPr sz="1600" b="1" i="0">
                <a:solidFill>
                  <a:srgbClr val="0D9488"/>
                </a:solidFill>
                <a:latin typeface="Calibri"/>
              </a:rPr>
              <a:t>↓</a:t>
            </a:r>
          </a:p>
        </p:txBody>
      </p:sp>
      <p:sp>
        <p:nvSpPr>
          <p:cNvPr id="9" name="Rectangle 8"/>
          <p:cNvSpPr/>
          <p:nvPr/>
        </p:nvSpPr>
        <p:spPr>
          <a:xfrm>
            <a:off x="502920" y="2011680"/>
            <a:ext cx="11185855" cy="475488"/>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1168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NewGame() → ClearAsteroids() → asteroids.Dispose()</a:t>
            </a:r>
          </a:p>
        </p:txBody>
      </p:sp>
      <p:sp>
        <p:nvSpPr>
          <p:cNvPr id="11" name="TextBox 10"/>
          <p:cNvSpPr txBox="1"/>
          <p:nvPr/>
        </p:nvSpPr>
        <p:spPr>
          <a:xfrm>
            <a:off x="502920" y="2487168"/>
            <a:ext cx="11185855" cy="256032"/>
          </a:xfrm>
          <a:prstGeom prst="rect">
            <a:avLst/>
          </a:prstGeom>
          <a:noFill/>
        </p:spPr>
        <p:txBody>
          <a:bodyPr wrap="square" anchor="ctr" lIns="0" rIns="0" tIns="0" bIns="0">
            <a:spAutoFit/>
          </a:bodyPr>
          <a:lstStyle/>
          <a:p>
            <a:pPr algn="ctr"/>
            <a:r>
              <a:rPr sz="1600" b="1" i="0">
                <a:solidFill>
                  <a:srgbClr val="0D9488"/>
                </a:solidFill>
                <a:latin typeface="Calibri"/>
              </a:rPr>
              <a:t>↓</a:t>
            </a:r>
          </a:p>
        </p:txBody>
      </p:sp>
      <p:sp>
        <p:nvSpPr>
          <p:cNvPr id="12" name="Rectangle 11"/>
          <p:cNvSpPr/>
          <p:nvPr/>
        </p:nvSpPr>
        <p:spPr>
          <a:xfrm>
            <a:off x="502920" y="2743200"/>
            <a:ext cx="11185855" cy="475488"/>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74320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Dispose() vacía el pool… que no contiene los asteroides en pantalla</a:t>
            </a:r>
          </a:p>
        </p:txBody>
      </p:sp>
      <p:sp>
        <p:nvSpPr>
          <p:cNvPr id="14" name="TextBox 13"/>
          <p:cNvSpPr txBox="1"/>
          <p:nvPr/>
        </p:nvSpPr>
        <p:spPr>
          <a:xfrm>
            <a:off x="502920" y="3218688"/>
            <a:ext cx="11185855" cy="256032"/>
          </a:xfrm>
          <a:prstGeom prst="rect">
            <a:avLst/>
          </a:prstGeom>
          <a:noFill/>
        </p:spPr>
        <p:txBody>
          <a:bodyPr wrap="square" anchor="ctr" lIns="0" rIns="0" tIns="0" bIns="0">
            <a:spAutoFit/>
          </a:bodyPr>
          <a:lstStyle/>
          <a:p>
            <a:pPr algn="ctr"/>
            <a:r>
              <a:rPr sz="1600" b="1" i="0">
                <a:solidFill>
                  <a:srgbClr val="0D9488"/>
                </a:solidFill>
                <a:latin typeface="Calibri"/>
              </a:rPr>
              <a:t>↓</a:t>
            </a:r>
          </a:p>
        </p:txBody>
      </p:sp>
      <p:sp>
        <p:nvSpPr>
          <p:cNvPr id="15" name="Rectangle 14"/>
          <p:cNvSpPr/>
          <p:nvPr/>
        </p:nvSpPr>
        <p:spPr>
          <a:xfrm>
            <a:off x="502920" y="3474720"/>
            <a:ext cx="11185855" cy="475488"/>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7472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El asteroide viejo sobrevive y puede chocar la nave recién reparada</a:t>
            </a:r>
          </a:p>
        </p:txBody>
      </p:sp>
      <p:sp>
        <p:nvSpPr>
          <p:cNvPr id="17" name="TextBox 16"/>
          <p:cNvSpPr txBox="1"/>
          <p:nvPr/>
        </p:nvSpPr>
        <p:spPr>
          <a:xfrm>
            <a:off x="502920" y="4087368"/>
            <a:ext cx="11185855" cy="1254760"/>
          </a:xfrm>
          <a:prstGeom prst="rect">
            <a:avLst/>
          </a:prstGeom>
          <a:noFill/>
        </p:spPr>
        <p:txBody>
          <a:bodyPr wrap="square" anchor="t" lIns="0" rIns="0" tIns="0" bIns="0">
            <a:spAutoFit/>
          </a:bodyPr>
          <a:lstStyle/>
          <a:p>
            <a:pPr>
              <a:spcAft>
                <a:spcPts val="600"/>
              </a:spcAft>
            </a:pPr>
            <a:r>
              <a:rPr sz="1000" b="1" i="0">
                <a:solidFill>
                  <a:srgbClr val="0D9488"/>
                </a:solidFill>
                <a:latin typeface="Calibri"/>
              </a:rPr>
              <a:t>■  </a:t>
            </a:r>
            <a:r>
              <a:rPr sz="1400" b="0" i="0">
                <a:solidFill>
                  <a:srgbClr val="1F2937"/>
                </a:solidFill>
                <a:latin typeface="Calibri"/>
              </a:rPr>
              <a:t>Falla el juego si el diseño exige limpiar; confirmarlo antes de levantar el ticket</a:t>
            </a:r>
          </a:p>
          <a:p>
            <a:pPr>
              <a:spcAft>
                <a:spcPts val="600"/>
              </a:spcAft>
            </a:pPr>
            <a:r>
              <a:rPr sz="1000" b="1" i="0">
                <a:solidFill>
                  <a:srgbClr val="0D9488"/>
                </a:solidFill>
                <a:latin typeface="Calibri"/>
              </a:rPr>
              <a:t>■  </a:t>
            </a:r>
            <a:r>
              <a:rPr sz="1400" b="0" i="0">
                <a:solidFill>
                  <a:srgbClr val="1F2937"/>
                </a:solidFill>
                <a:latin typeface="Calibri"/>
              </a:rPr>
              <a:t>Ticket: «Reiniciar no elimina asteroides previos: posible Game Over inmediato» · Severidad Media · Prioridad Alta</a:t>
            </a:r>
          </a:p>
          <a:p>
            <a:pPr>
              <a:spcAft>
                <a:spcPts val="600"/>
              </a:spcAft>
            </a:pPr>
            <a:r>
              <a:rPr sz="1000" b="1" i="0">
                <a:solidFill>
                  <a:srgbClr val="0D9488"/>
                </a:solidFill>
                <a:latin typeface="Calibri"/>
              </a:rPr>
              <a:t>■  </a:t>
            </a:r>
            <a:r>
              <a:rPr sz="1400" b="0" i="0">
                <a:solidFill>
                  <a:srgbClr val="1F2937"/>
                </a:solidFill>
                <a:latin typeface="Calibri"/>
              </a:rPr>
              <a:t>Arreglo: usar el pool de forma consistente (Get/Release) o destruir los Asteroid en ClearAsteroids</a:t>
            </a:r>
          </a:p>
          <a:p>
            <a:pPr>
              <a:spcAft>
                <a:spcPts val="600"/>
              </a:spcAft>
            </a:pPr>
            <a:r>
              <a:rPr sz="1000" b="1" i="0">
                <a:solidFill>
                  <a:srgbClr val="0D9488"/>
                </a:solidFill>
                <a:latin typeface="Calibri"/>
              </a:rPr>
              <a:t>■  </a:t>
            </a:r>
            <a:r>
              <a:rPr sz="1400" b="0" i="0">
                <a:solidFill>
                  <a:srgbClr val="1F2937"/>
                </a:solidFill>
                <a:latin typeface="Calibri"/>
              </a:rPr>
              <a:t>Después del arreglo, el test se queda en la suite como test de regresión</a:t>
            </a:r>
          </a:p>
        </p:txBody>
      </p:sp>
      <p:sp>
        <p:nvSpPr>
          <p:cNvPr id="18" name="Rectangle 17"/>
          <p:cNvSpPr/>
          <p:nvPr/>
        </p:nvSpPr>
        <p:spPr>
          <a:xfrm>
            <a:off x="502920" y="5760720"/>
            <a:ext cx="11185855" cy="457200"/>
          </a:xfrm>
          <a:prstGeom prst="rect">
            <a:avLst/>
          </a:prstGeom>
          <a:solidFill>
            <a:srgbClr val="FE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760720"/>
            <a:ext cx="10911535" cy="457200"/>
          </a:xfrm>
          <a:prstGeom prst="rect">
            <a:avLst/>
          </a:prstGeom>
          <a:noFill/>
        </p:spPr>
        <p:txBody>
          <a:bodyPr wrap="square" anchor="ctr" lIns="0" rIns="0" tIns="0" bIns="0">
            <a:spAutoFit/>
          </a:bodyPr>
          <a:lstStyle/>
          <a:p>
            <a:r>
              <a:rPr sz="1200" b="1" i="0">
                <a:solidFill>
                  <a:srgbClr val="D97706"/>
                </a:solidFill>
                <a:latin typeface="Calibri"/>
              </a:rPr>
              <a:t>💻 Ver en el código:  </a:t>
            </a:r>
            <a:r>
              <a:rPr sz="1200" b="0" i="0">
                <a:solidFill>
                  <a:srgbClr val="1F2937"/>
                </a:solidFill>
                <a:latin typeface="Calibri"/>
              </a:rPr>
              <a:t>Spawner.cs 73–99 (Instantiate) y 115–117 (Dispose) · Game.cs 78 (ClearAsteroids) · Spawner.cs 52–53 (creación del pool)</a:t>
            </a:r>
          </a:p>
        </p:txBody>
      </p:sp>
      <p:sp>
        <p:nvSpPr>
          <p:cNvPr id="20" name="TextBox 1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21" name="TextBox 2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18/27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19</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3 · TEORÍA</a:t>
            </a:r>
          </a:p>
          <a:p>
            <a:r>
              <a:rPr sz="2600" b="1" i="0">
                <a:solidFill>
                  <a:srgbClr val="FFFFFF"/>
                </a:solidFill>
                <a:latin typeface="Calibri"/>
              </a:rPr>
              <a:t>Dependencias y dobles de prueba</a:t>
            </a:r>
          </a:p>
        </p:txBody>
      </p:sp>
      <p:sp>
        <p:nvSpPr>
          <p:cNvPr id="6" name="Rounded Rectangle 5"/>
          <p:cNvSpPr/>
          <p:nvPr/>
        </p:nvSpPr>
        <p:spPr>
          <a:xfrm>
            <a:off x="502920" y="1280160"/>
            <a:ext cx="5650992" cy="310896"/>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9144" bIns="9144" wrap="none"/>
          <a:lstStyle/>
          <a:p>
            <a:pPr algn="ctr"/>
            <a:r>
              <a:rPr sz="1200" b="1" i="0">
                <a:solidFill>
                  <a:srgbClr val="FFFFFF"/>
                </a:solidFill>
                <a:latin typeface="Calibri"/>
              </a:rPr>
              <a:t>Ejemplo: Martin Fowler · «TestDouble» (taxonomía de Gerard Meszaros)</a:t>
            </a:r>
          </a:p>
        </p:txBody>
      </p:sp>
      <p:graphicFrame>
        <p:nvGraphicFramePr>
          <p:cNvPr id="7" name="Table 6"/>
          <p:cNvGraphicFramePr>
            <a:graphicFrameLocks noGrp="1"/>
          </p:cNvGraphicFramePr>
          <p:nvPr/>
        </p:nvGraphicFramePr>
        <p:xfrm>
          <a:off x="502920" y="1755648"/>
          <a:ext cx="11185852" cy="1975104"/>
        </p:xfrm>
        <a:graphic>
          <a:graphicData uri="http://schemas.openxmlformats.org/drawingml/2006/table">
            <a:tbl>
              <a:tblPr firstRow="1" bandRow="1">
                <a:tableStyleId>{5C22544A-7EE6-4342-B048-85BDC9FD1C3A}</a:tableStyleId>
              </a:tblPr>
              <a:tblGrid>
                <a:gridCol w="1242872"/>
                <a:gridCol w="3107181"/>
                <a:gridCol w="3107181"/>
                <a:gridCol w="3728618"/>
              </a:tblGrid>
              <a:tr h="329184">
                <a:tc>
                  <a:txBody>
                    <a:bodyPr/>
                    <a:lstStyle/>
                    <a:p>
                      <a:r>
                        <a:rPr sz="1300" b="1" i="0">
                          <a:solidFill>
                            <a:srgbClr val="FFFFFF"/>
                          </a:solidFill>
                          <a:latin typeface="Calibri"/>
                        </a:rPr>
                        <a:t>Doble</a:t>
                      </a:r>
                    </a:p>
                  </a:txBody>
                  <a:tcPr>
                    <a:solidFill>
                      <a:srgbClr val="1F2A44"/>
                    </a:solidFill>
                  </a:tcPr>
                </a:tc>
                <a:tc>
                  <a:txBody>
                    <a:bodyPr/>
                    <a:lstStyle/>
                    <a:p>
                      <a:r>
                        <a:rPr sz="1300" b="1" i="0">
                          <a:solidFill>
                            <a:srgbClr val="FFFFFF"/>
                          </a:solidFill>
                          <a:latin typeface="Calibri"/>
                        </a:rPr>
                        <a:t>Qué hace</a:t>
                      </a:r>
                    </a:p>
                  </a:txBody>
                  <a:tcPr>
                    <a:solidFill>
                      <a:srgbClr val="1F2A44"/>
                    </a:solidFill>
                  </a:tcPr>
                </a:tc>
                <a:tc>
                  <a:txBody>
                    <a:bodyPr/>
                    <a:lstStyle/>
                    <a:p>
                      <a:r>
                        <a:rPr sz="1300" b="1" i="0">
                          <a:solidFill>
                            <a:srgbClr val="FFFFFF"/>
                          </a:solidFill>
                          <a:latin typeface="Calibri"/>
                        </a:rPr>
                        <a:t>Ejemplo simple</a:t>
                      </a:r>
                    </a:p>
                  </a:txBody>
                  <a:tcPr>
                    <a:solidFill>
                      <a:srgbClr val="1F2A44"/>
                    </a:solidFill>
                  </a:tcPr>
                </a:tc>
                <a:tc>
                  <a:txBody>
                    <a:bodyPr/>
                    <a:lstStyle/>
                    <a:p>
                      <a:r>
                        <a:rPr sz="1300" b="1" i="0">
                          <a:solidFill>
                            <a:srgbClr val="FFFFFF"/>
                          </a:solidFill>
                          <a:latin typeface="Calibri"/>
                        </a:rPr>
                        <a:t>En el juego</a:t>
                      </a:r>
                    </a:p>
                  </a:txBody>
                  <a:tcPr>
                    <a:solidFill>
                      <a:srgbClr val="1F2A44"/>
                    </a:solidFill>
                  </a:tcPr>
                </a:tc>
              </a:tr>
              <a:tr h="329184">
                <a:tc>
                  <a:txBody>
                    <a:bodyPr/>
                    <a:lstStyle/>
                    <a:p>
                      <a:r>
                        <a:rPr sz="1200" b="1" i="0">
                          <a:solidFill>
                            <a:srgbClr val="1F2937"/>
                          </a:solidFill>
                          <a:latin typeface="Calibri"/>
                        </a:rPr>
                        <a:t>Dummy</a:t>
                      </a:r>
                    </a:p>
                  </a:txBody>
                  <a:tcPr marT="36576" marB="36576">
                    <a:solidFill>
                      <a:srgbClr val="FFFFFF"/>
                    </a:solidFill>
                  </a:tcPr>
                </a:tc>
                <a:tc>
                  <a:txBody>
                    <a:bodyPr/>
                    <a:lstStyle/>
                    <a:p>
                      <a:r>
                        <a:rPr sz="1200" b="0" i="0">
                          <a:solidFill>
                            <a:srgbClr val="1F2937"/>
                          </a:solidFill>
                          <a:latin typeface="Calibri"/>
                        </a:rPr>
                        <a:t>Solo ocupa un lugar</a:t>
                      </a:r>
                    </a:p>
                  </a:txBody>
                  <a:tcPr marT="36576" marB="36576">
                    <a:solidFill>
                      <a:srgbClr val="FFFFFF"/>
                    </a:solidFill>
                  </a:tcPr>
                </a:tc>
                <a:tc>
                  <a:txBody>
                    <a:bodyPr/>
                    <a:lstStyle/>
                    <a:p>
                      <a:r>
                        <a:rPr sz="1200" b="0" i="0">
                          <a:solidFill>
                            <a:srgbClr val="1F2937"/>
                          </a:solidFill>
                          <a:latin typeface="Calibri"/>
                        </a:rPr>
                        <a:t>Un DNI de muestra para llenar un formulario</a:t>
                      </a:r>
                    </a:p>
                  </a:txBody>
                  <a:tcPr marT="36576" marB="36576">
                    <a:solidFill>
                      <a:srgbClr val="FFFFFF"/>
                    </a:solidFill>
                  </a:tcPr>
                </a:tc>
                <a:tc>
                  <a:txBody>
                    <a:bodyPr/>
                    <a:lstStyle/>
                    <a:p>
                      <a:r>
                        <a:rPr sz="1200" b="0" i="0">
                          <a:solidFill>
                            <a:srgbClr val="1F2937"/>
                          </a:solidFill>
                          <a:latin typeface="Calibri"/>
                        </a:rPr>
                        <a:t>Cubo con collider en INT-AST-10</a:t>
                      </a:r>
                    </a:p>
                  </a:txBody>
                  <a:tcPr marT="36576" marB="36576">
                    <a:solidFill>
                      <a:srgbClr val="FFFFFF"/>
                    </a:solidFill>
                  </a:tcPr>
                </a:tc>
              </a:tr>
              <a:tr h="329184">
                <a:tc>
                  <a:txBody>
                    <a:bodyPr/>
                    <a:lstStyle/>
                    <a:p>
                      <a:r>
                        <a:rPr sz="1200" b="1" i="0">
                          <a:solidFill>
                            <a:srgbClr val="1F2937"/>
                          </a:solidFill>
                          <a:latin typeface="Calibri"/>
                        </a:rPr>
                        <a:t>Stub</a:t>
                      </a:r>
                    </a:p>
                  </a:txBody>
                  <a:tcPr marT="36576" marB="36576">
                    <a:solidFill>
                      <a:srgbClr val="F3F4F6"/>
                    </a:solidFill>
                  </a:tcPr>
                </a:tc>
                <a:tc>
                  <a:txBody>
                    <a:bodyPr/>
                    <a:lstStyle/>
                    <a:p>
                      <a:r>
                        <a:rPr sz="1200" b="0" i="0">
                          <a:solidFill>
                            <a:srgbClr val="1F2937"/>
                          </a:solidFill>
                          <a:latin typeface="Calibri"/>
                        </a:rPr>
                        <a:t>Devuelve respuestas fijas</a:t>
                      </a:r>
                    </a:p>
                  </a:txBody>
                  <a:tcPr marT="36576" marB="36576">
                    <a:solidFill>
                      <a:srgbClr val="F3F4F6"/>
                    </a:solidFill>
                  </a:tcPr>
                </a:tc>
                <a:tc>
                  <a:txBody>
                    <a:bodyPr/>
                    <a:lstStyle/>
                    <a:p>
                      <a:r>
                        <a:rPr sz="1200" b="0" i="0">
                          <a:solidFill>
                            <a:srgbClr val="1F2937"/>
                          </a:solidFill>
                          <a:latin typeface="Calibri"/>
                        </a:rPr>
                        <a:t>Un reloj que siempre dice 7:00</a:t>
                      </a:r>
                    </a:p>
                  </a:txBody>
                  <a:tcPr marT="36576" marB="36576">
                    <a:solidFill>
                      <a:srgbClr val="F3F4F6"/>
                    </a:solidFill>
                  </a:tcPr>
                </a:tc>
                <a:tc>
                  <a:txBody>
                    <a:bodyPr/>
                    <a:lstStyle/>
                    <a:p>
                      <a:r>
                        <a:rPr sz="1200" b="0" i="0">
                          <a:solidFill>
                            <a:srgbClr val="1F2937"/>
                          </a:solidFill>
                          <a:latin typeface="Calibri"/>
                        </a:rPr>
                        <a:t>Entrada que siempre dice «Espacio presionado» (PROPUESTA)</a:t>
                      </a:r>
                    </a:p>
                  </a:txBody>
                  <a:tcPr marT="36576" marB="36576">
                    <a:solidFill>
                      <a:srgbClr val="F3F4F6"/>
                    </a:solidFill>
                  </a:tcPr>
                </a:tc>
              </a:tr>
              <a:tr h="329184">
                <a:tc>
                  <a:txBody>
                    <a:bodyPr/>
                    <a:lstStyle/>
                    <a:p>
                      <a:r>
                        <a:rPr sz="1200" b="1" i="0">
                          <a:solidFill>
                            <a:srgbClr val="1F2937"/>
                          </a:solidFill>
                          <a:latin typeface="Calibri"/>
                        </a:rPr>
                        <a:t>Spy</a:t>
                      </a:r>
                    </a:p>
                  </a:txBody>
                  <a:tcPr marT="36576" marB="36576">
                    <a:solidFill>
                      <a:srgbClr val="FFFFFF"/>
                    </a:solidFill>
                  </a:tcPr>
                </a:tc>
                <a:tc>
                  <a:txBody>
                    <a:bodyPr/>
                    <a:lstStyle/>
                    <a:p>
                      <a:r>
                        <a:rPr sz="1200" b="0" i="0">
                          <a:solidFill>
                            <a:srgbClr val="1F2937"/>
                          </a:solidFill>
                          <a:latin typeface="Calibri"/>
                        </a:rPr>
                        <a:t>Registra llamadas para revisarlas después</a:t>
                      </a:r>
                    </a:p>
                  </a:txBody>
                  <a:tcPr marT="36576" marB="36576">
                    <a:solidFill>
                      <a:srgbClr val="FFFFFF"/>
                    </a:solidFill>
                  </a:tcPr>
                </a:tc>
                <a:tc>
                  <a:txBody>
                    <a:bodyPr/>
                    <a:lstStyle/>
                    <a:p>
                      <a:r>
                        <a:rPr sz="1200" b="0" i="0">
                          <a:solidFill>
                            <a:srgbClr val="1F2937"/>
                          </a:solidFill>
                          <a:latin typeface="Calibri"/>
                        </a:rPr>
                        <a:t>Un contador de timbres</a:t>
                      </a:r>
                    </a:p>
                  </a:txBody>
                  <a:tcPr marT="36576" marB="36576">
                    <a:solidFill>
                      <a:srgbClr val="FFFFFF"/>
                    </a:solidFill>
                  </a:tcPr>
                </a:tc>
                <a:tc>
                  <a:txBody>
                    <a:bodyPr/>
                    <a:lstStyle/>
                    <a:p>
                      <a:r>
                        <a:rPr sz="1200" b="0" i="0">
                          <a:solidFill>
                            <a:srgbClr val="1F2937"/>
                          </a:solidFill>
                          <a:latin typeface="Calibri"/>
                        </a:rPr>
                        <a:t>Contar llamadas a AsteroidDestroyed (PROPUESTA)</a:t>
                      </a:r>
                    </a:p>
                  </a:txBody>
                  <a:tcPr marT="36576" marB="36576">
                    <a:solidFill>
                      <a:srgbClr val="FFFFFF"/>
                    </a:solidFill>
                  </a:tcPr>
                </a:tc>
              </a:tr>
              <a:tr h="329184">
                <a:tc>
                  <a:txBody>
                    <a:bodyPr/>
                    <a:lstStyle/>
                    <a:p>
                      <a:r>
                        <a:rPr sz="1200" b="1" i="0">
                          <a:solidFill>
                            <a:srgbClr val="1F2937"/>
                          </a:solidFill>
                          <a:latin typeface="Calibri"/>
                        </a:rPr>
                        <a:t>Mock</a:t>
                      </a:r>
                    </a:p>
                  </a:txBody>
                  <a:tcPr marT="36576" marB="36576">
                    <a:solidFill>
                      <a:srgbClr val="F3F4F6"/>
                    </a:solidFill>
                  </a:tcPr>
                </a:tc>
                <a:tc>
                  <a:txBody>
                    <a:bodyPr/>
                    <a:lstStyle/>
                    <a:p>
                      <a:r>
                        <a:rPr sz="1200" b="0" i="0">
                          <a:solidFill>
                            <a:srgbClr val="1F2937"/>
                          </a:solidFill>
                          <a:latin typeface="Calibri"/>
                        </a:rPr>
                        <a:t>Espera llamadas concretas y falla si no llegan</a:t>
                      </a:r>
                    </a:p>
                  </a:txBody>
                  <a:tcPr marT="36576" marB="36576">
                    <a:solidFill>
                      <a:srgbClr val="F3F4F6"/>
                    </a:solidFill>
                  </a:tcPr>
                </a:tc>
                <a:tc>
                  <a:txBody>
                    <a:bodyPr/>
                    <a:lstStyle/>
                    <a:p>
                      <a:r>
                        <a:rPr sz="1200" b="0" i="0">
                          <a:solidFill>
                            <a:srgbClr val="1F2937"/>
                          </a:solidFill>
                          <a:latin typeface="Calibri"/>
                        </a:rPr>
                        <a:t>«El timbre debe sonar una vez»</a:t>
                      </a:r>
                    </a:p>
                  </a:txBody>
                  <a:tcPr marT="36576" marB="36576">
                    <a:solidFill>
                      <a:srgbClr val="F3F4F6"/>
                    </a:solidFill>
                  </a:tcPr>
                </a:tc>
                <a:tc>
                  <a:txBody>
                    <a:bodyPr/>
                    <a:lstStyle/>
                    <a:p>
                      <a:r>
                        <a:rPr sz="1200" b="0" i="0">
                          <a:solidFill>
                            <a:srgbClr val="1F2937"/>
                          </a:solidFill>
                          <a:latin typeface="Calibri"/>
                        </a:rPr>
                        <a:t>GameOver llama a StopSpawning exactamente una vez (PROPUESTA)</a:t>
                      </a:r>
                    </a:p>
                  </a:txBody>
                  <a:tcPr marT="36576" marB="36576">
                    <a:solidFill>
                      <a:srgbClr val="F3F4F6"/>
                    </a:solidFill>
                  </a:tcPr>
                </a:tc>
              </a:tr>
              <a:tr h="329184">
                <a:tc>
                  <a:txBody>
                    <a:bodyPr/>
                    <a:lstStyle/>
                    <a:p>
                      <a:r>
                        <a:rPr sz="1200" b="1" i="0">
                          <a:solidFill>
                            <a:srgbClr val="1F2937"/>
                          </a:solidFill>
                          <a:latin typeface="Calibri"/>
                        </a:rPr>
                        <a:t>Fake</a:t>
                      </a:r>
                    </a:p>
                  </a:txBody>
                  <a:tcPr marT="36576" marB="36576">
                    <a:solidFill>
                      <a:srgbClr val="FFFFFF"/>
                    </a:solidFill>
                  </a:tcPr>
                </a:tc>
                <a:tc>
                  <a:txBody>
                    <a:bodyPr/>
                    <a:lstStyle/>
                    <a:p>
                      <a:r>
                        <a:rPr sz="1200" b="0" i="0">
                          <a:solidFill>
                            <a:srgbClr val="1F2937"/>
                          </a:solidFill>
                          <a:latin typeface="Calibri"/>
                        </a:rPr>
                        <a:t>Implementación simple que funciona</a:t>
                      </a:r>
                    </a:p>
                  </a:txBody>
                  <a:tcPr marT="36576" marB="36576">
                    <a:solidFill>
                      <a:srgbClr val="FFFFFF"/>
                    </a:solidFill>
                  </a:tcPr>
                </a:tc>
                <a:tc>
                  <a:txBody>
                    <a:bodyPr/>
                    <a:lstStyle/>
                    <a:p>
                      <a:r>
                        <a:rPr sz="1200" b="0" i="0">
                          <a:solidFill>
                            <a:srgbClr val="1F2937"/>
                          </a:solidFill>
                          <a:latin typeface="Calibri"/>
                        </a:rPr>
                        <a:t>Una agenda en papel en vez de la app</a:t>
                      </a:r>
                    </a:p>
                  </a:txBody>
                  <a:tcPr marT="36576" marB="36576">
                    <a:solidFill>
                      <a:srgbClr val="FFFFFF"/>
                    </a:solidFill>
                  </a:tcPr>
                </a:tc>
                <a:tc>
                  <a:txBody>
                    <a:bodyPr/>
                    <a:lstStyle/>
                    <a:p>
                      <a:r>
                        <a:rPr sz="1200" b="0" i="0">
                          <a:solidFill>
                            <a:srgbClr val="1F2937"/>
                          </a:solidFill>
                          <a:latin typeface="Calibri"/>
                        </a:rPr>
                        <a:t>Récord guardado en memoria en vez de un archivo (PROPUESTA)</a:t>
                      </a:r>
                    </a:p>
                  </a:txBody>
                  <a:tcPr marT="36576" marB="36576">
                    <a:solidFill>
                      <a:srgbClr val="FFFFFF"/>
                    </a:solidFill>
                  </a:tcPr>
                </a:tc>
              </a:tr>
            </a:tbl>
          </a:graphicData>
        </a:graphic>
      </p:graphicFrame>
      <p:sp>
        <p:nvSpPr>
          <p:cNvPr id="8" name="Rectangle 7"/>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En integración, lo que está en la costura bajo prueba va REAL; se reemplaza lo no determinista o lo que queda fuera de alcance.</a:t>
            </a:r>
          </a:p>
        </p:txBody>
      </p:sp>
      <p:sp>
        <p:nvSpPr>
          <p:cNvPr id="10" name="TextBox 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1" name="TextBox 1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19/27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20</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3 · APLICACIÓN</a:t>
            </a:r>
          </a:p>
          <a:p>
            <a:r>
              <a:rPr sz="2600" b="1" i="0">
                <a:solidFill>
                  <a:srgbClr val="FFFFFF"/>
                </a:solidFill>
                <a:latin typeface="Calibri"/>
              </a:rPr>
              <a:t>Caso: la regla del cooldown vive junto al teclado</a:t>
            </a:r>
          </a:p>
        </p:txBody>
      </p:sp>
      <p:sp>
        <p:nvSpPr>
          <p:cNvPr id="6" name="Rounded Rectangle 5"/>
          <p:cNvSpPr/>
          <p:nvPr/>
        </p:nvSpPr>
        <p:spPr>
          <a:xfrm>
            <a:off x="502920" y="1280160"/>
            <a:ext cx="2775204" cy="310896"/>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9144" bIns="9144" wrap="none"/>
          <a:lstStyle/>
          <a:p>
            <a:pPr algn="ctr"/>
            <a:r>
              <a:rPr sz="1200" b="1" i="0">
                <a:solidFill>
                  <a:srgbClr val="FFFFFF"/>
                </a:solidFill>
                <a:latin typeface="Calibri"/>
              </a:rPr>
              <a:t>Ejemplo: INT-AST-16 (PROPUESTA)</a:t>
            </a:r>
          </a:p>
        </p:txBody>
      </p:sp>
      <p:sp>
        <p:nvSpPr>
          <p:cNvPr id="7" name="TextBox 6"/>
          <p:cNvSpPr txBox="1"/>
          <p:nvPr/>
        </p:nvSpPr>
        <p:spPr>
          <a:xfrm>
            <a:off x="502920" y="1755648"/>
            <a:ext cx="7315200" cy="2691765"/>
          </a:xfrm>
          <a:prstGeom prst="rect">
            <a:avLst/>
          </a:prstGeom>
          <a:noFill/>
        </p:spPr>
        <p:txBody>
          <a:bodyPr wrap="square" anchor="t" lIns="0" rIns="0" tIns="0" bIns="0">
            <a:spAutoFit/>
          </a:bodyPr>
          <a:lstStyle/>
          <a:p>
            <a:pPr>
              <a:spcAft>
                <a:spcPts val="600"/>
              </a:spcAft>
            </a:pPr>
            <a:r>
              <a:rPr sz="1100" b="1" i="0">
                <a:solidFill>
                  <a:srgbClr val="0D9488"/>
                </a:solidFill>
                <a:latin typeface="Calibri"/>
              </a:rPr>
              <a:t>■  </a:t>
            </a:r>
            <a:r>
              <a:rPr sz="1500" b="0" i="0">
                <a:solidFill>
                  <a:srgbClr val="1F2937"/>
                </a:solidFill>
                <a:latin typeface="Calibri"/>
              </a:rPr>
              <a:t>Regla de juego: como máximo un láser cada 0,4 s aunque se mantenga Espacio</a:t>
            </a:r>
          </a:p>
          <a:p>
            <a:pPr>
              <a:spcAft>
                <a:spcPts val="600"/>
              </a:spcAft>
            </a:pPr>
            <a:r>
              <a:rPr sz="1100" b="1" i="0">
                <a:solidFill>
                  <a:srgbClr val="0D9488"/>
                </a:solidFill>
                <a:latin typeface="Calibri"/>
              </a:rPr>
              <a:t>■  </a:t>
            </a:r>
            <a:r>
              <a:rPr sz="1500" b="0" i="0">
                <a:solidFill>
                  <a:srgbClr val="1F2937"/>
                </a:solidFill>
                <a:latin typeface="Calibri"/>
              </a:rPr>
              <a:t>El chequeo de canShoot está en Update(), junto a Input.GetKey(Space)</a:t>
            </a:r>
          </a:p>
          <a:p>
            <a:pPr>
              <a:spcAft>
                <a:spcPts val="600"/>
              </a:spcAft>
            </a:pPr>
            <a:r>
              <a:rPr sz="1100" b="1" i="0">
                <a:solidFill>
                  <a:srgbClr val="0D9488"/>
                </a:solidFill>
                <a:latin typeface="Calibri"/>
              </a:rPr>
              <a:t>■  </a:t>
            </a:r>
            <a:r>
              <a:rPr sz="1500" b="0" i="0">
                <a:solidFill>
                  <a:srgbClr val="1F2937"/>
                </a:solidFill>
                <a:latin typeface="Calibri"/>
              </a:rPr>
              <a:t>ShootLaser() no respeta la regla: dos llamadas seguidas crean dos láseres</a:t>
            </a:r>
          </a:p>
          <a:p>
            <a:pPr>
              <a:spcAft>
                <a:spcPts val="600"/>
              </a:spcAft>
            </a:pPr>
            <a:r>
              <a:rPr sz="1100" b="1" i="0">
                <a:solidFill>
                  <a:srgbClr val="0D9488"/>
                </a:solidFill>
                <a:latin typeface="Calibri"/>
              </a:rPr>
              <a:t>■  </a:t>
            </a:r>
            <a:r>
              <a:rPr sz="1500" b="0" i="0">
                <a:solidFill>
                  <a:srgbClr val="1F2937"/>
                </a:solidFill>
                <a:latin typeface="Calibri"/>
              </a:rPr>
              <a:t>Sin simular el teclado, la regla no se puede probar</a:t>
            </a:r>
          </a:p>
          <a:p>
            <a:pPr>
              <a:spcAft>
                <a:spcPts val="600"/>
              </a:spcAft>
            </a:pPr>
            <a:r>
              <a:rPr sz="1100" b="1" i="0">
                <a:solidFill>
                  <a:srgbClr val="0D9488"/>
                </a:solidFill>
                <a:latin typeface="Calibri"/>
              </a:rPr>
              <a:t>■  </a:t>
            </a:r>
            <a:r>
              <a:rPr sz="1500" b="0" i="0">
                <a:solidFill>
                  <a:srgbClr val="1F2937"/>
                </a:solidFill>
                <a:latin typeface="Calibri"/>
              </a:rPr>
              <a:t>Opción A: Input System + InputTestFixture (requiere un paquete no confirmado en el proyecto)</a:t>
            </a:r>
          </a:p>
          <a:p>
            <a:pPr>
              <a:spcAft>
                <a:spcPts val="600"/>
              </a:spcAft>
            </a:pPr>
            <a:r>
              <a:rPr sz="1100" b="1" i="0">
                <a:solidFill>
                  <a:srgbClr val="0D9488"/>
                </a:solidFill>
                <a:latin typeface="Calibri"/>
              </a:rPr>
              <a:t>■  </a:t>
            </a:r>
            <a:r>
              <a:rPr sz="1500" b="0" i="0">
                <a:solidFill>
                  <a:srgbClr val="1F2937"/>
                </a:solidFill>
                <a:latin typeface="Calibri"/>
              </a:rPr>
              <a:t>Opción B: separar la lectura de entrada detrás de una interfaz y usar un stub (refactor)</a:t>
            </a:r>
          </a:p>
        </p:txBody>
      </p:sp>
      <p:sp>
        <p:nvSpPr>
          <p:cNvPr id="8" name="Rectangle 7"/>
          <p:cNvSpPr/>
          <p:nvPr/>
        </p:nvSpPr>
        <p:spPr>
          <a:xfrm>
            <a:off x="502920" y="5029200"/>
            <a:ext cx="11185855" cy="457200"/>
          </a:xfrm>
          <a:prstGeom prst="rect">
            <a:avLst/>
          </a:prstGeom>
          <a:solidFill>
            <a:srgbClr val="FE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029200"/>
            <a:ext cx="10911535" cy="457200"/>
          </a:xfrm>
          <a:prstGeom prst="rect">
            <a:avLst/>
          </a:prstGeom>
          <a:noFill/>
        </p:spPr>
        <p:txBody>
          <a:bodyPr wrap="square" anchor="ctr" lIns="0" rIns="0" tIns="0" bIns="0">
            <a:spAutoFit/>
          </a:bodyPr>
          <a:lstStyle/>
          <a:p>
            <a:r>
              <a:rPr sz="1200" b="1" i="0">
                <a:solidFill>
                  <a:srgbClr val="D97706"/>
                </a:solidFill>
                <a:latin typeface="Calibri"/>
              </a:rPr>
              <a:t>💻 Ver en el código:  </a:t>
            </a:r>
            <a:r>
              <a:rPr sz="1200" b="0" i="0">
                <a:solidFill>
                  <a:srgbClr val="1F2937"/>
                </a:solidFill>
                <a:latin typeface="Calibri"/>
              </a:rPr>
              <a:t>Ship.cs 61–64 (regla + tecla) · Ship.cs 77–80 (ShootLaser sin chequeo) · Ship.cs 82–90 (cooldown)</a:t>
            </a:r>
          </a:p>
        </p:txBody>
      </p:sp>
      <p:sp>
        <p:nvSpPr>
          <p:cNvPr id="10" name="Rectangle 9"/>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Esperado con Espacio mantenido 1 s: ¿cuántos láseres? (Respuesta: 3, en t = 0; 0,4; 0,8)</a:t>
            </a:r>
          </a:p>
        </p:txBody>
      </p:sp>
      <p:sp>
        <p:nvSpPr>
          <p:cNvPr id="12" name="Rectangle 11"/>
          <p:cNvSpPr/>
          <p:nvPr/>
        </p:nvSpPr>
        <p:spPr>
          <a:xfrm>
            <a:off x="8092440" y="1280160"/>
            <a:ext cx="3593592" cy="3611880"/>
          </a:xfrm>
          <a:prstGeom prst="rect">
            <a:avLst/>
          </a:prstGeom>
          <a:solidFill>
            <a:srgbClr val="F8FAFC"/>
          </a:solidFill>
          <a:ln w="19050">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i="0">
                <a:solidFill>
                  <a:srgbClr val="6B7280"/>
                </a:solidFill>
                <a:latin typeface="Calibri"/>
              </a:rPr>
              <a:t>🖼  IMAGEN</a:t>
            </a:r>
          </a:p>
          <a:p>
            <a:pPr algn="ctr">
              <a:spcBef>
                <a:spcPts val="600"/>
              </a:spcBef>
            </a:pPr>
            <a:r>
              <a:rPr sz="1200" b="0" i="1">
                <a:solidFill>
                  <a:srgbClr val="6B7280"/>
                </a:solidFill>
                <a:latin typeface="Calibri"/>
              </a:rPr>
              <a:t>Diagrama: hoy «Teclado → Ship.Update (regla + movimiento)»; propuesta «Teclado / Stub → Entrada → Ship (regla)», con el stub resaltado.</a:t>
            </a:r>
          </a:p>
        </p:txBody>
      </p:sp>
      <p:sp>
        <p:nvSpPr>
          <p:cNvPr id="13" name="TextBox 12"/>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4" name="TextBox 13"/>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20/27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21</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4 · CASO REAL DEL PROYECTO</a:t>
            </a:r>
          </a:p>
          <a:p>
            <a:r>
              <a:rPr sz="2600" b="1" i="0">
                <a:solidFill>
                  <a:srgbClr val="FFFFFF"/>
                </a:solidFill>
                <a:latin typeface="Calibri"/>
              </a:rPr>
              <a:t>Cobertura: qué mide y qué no</a:t>
            </a:r>
          </a:p>
        </p:txBody>
      </p:sp>
      <p:sp>
        <p:nvSpPr>
          <p:cNvPr id="6" name="Rounded Rectangle 5"/>
          <p:cNvSpPr/>
          <p:nvPr/>
        </p:nvSpPr>
        <p:spPr>
          <a:xfrm>
            <a:off x="502920" y="1280160"/>
            <a:ext cx="4951476" cy="310896"/>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9144" bIns="9144" wrap="none"/>
          <a:lstStyle/>
          <a:p>
            <a:pPr algn="ctr"/>
            <a:r>
              <a:rPr sz="1200" b="1" i="0">
                <a:solidFill>
                  <a:srgbClr val="FFFFFF"/>
                </a:solidFill>
                <a:latin typeface="Calibri"/>
              </a:rPr>
              <a:t>Ejemplo: CodeCoverage/Report del proyecto nave + asteroides</a:t>
            </a:r>
          </a:p>
        </p:txBody>
      </p:sp>
      <p:sp>
        <p:nvSpPr>
          <p:cNvPr id="7" name="TextBox 6"/>
          <p:cNvSpPr txBox="1"/>
          <p:nvPr/>
        </p:nvSpPr>
        <p:spPr>
          <a:xfrm>
            <a:off x="502920" y="1755648"/>
            <a:ext cx="7315200" cy="2362199"/>
          </a:xfrm>
          <a:prstGeom prst="rect">
            <a:avLst/>
          </a:prstGeom>
          <a:noFill/>
        </p:spPr>
        <p:txBody>
          <a:bodyPr wrap="square" anchor="t" lIns="0" rIns="0" tIns="0" bIns="0">
            <a:spAutoFit/>
          </a:bodyPr>
          <a:lstStyle/>
          <a:p>
            <a:pPr>
              <a:spcAft>
                <a:spcPts val="600"/>
              </a:spcAft>
            </a:pPr>
            <a:r>
              <a:rPr sz="1100" b="1" i="0">
                <a:solidFill>
                  <a:srgbClr val="0D9488"/>
                </a:solidFill>
                <a:latin typeface="Calibri"/>
              </a:rPr>
              <a:t>■  </a:t>
            </a:r>
            <a:r>
              <a:rPr sz="1500" b="0" i="0">
                <a:solidFill>
                  <a:srgbClr val="1F2937"/>
                </a:solidFill>
                <a:latin typeface="Calibri"/>
              </a:rPr>
              <a:t>El resumen dice 65,5 % de líneas… pero mezcla 6 archivos de corridas distintas (15/09 y 18/09)</a:t>
            </a:r>
          </a:p>
          <a:p>
            <a:pPr>
              <a:spcAft>
                <a:spcPts val="600"/>
              </a:spcAft>
            </a:pPr>
            <a:r>
              <a:rPr sz="1100" b="1" i="0">
                <a:solidFill>
                  <a:srgbClr val="0D9488"/>
                </a:solidFill>
                <a:latin typeface="Calibri"/>
              </a:rPr>
              <a:t>■  </a:t>
            </a:r>
            <a:r>
              <a:rPr sz="1500" b="0" i="0">
                <a:solidFill>
                  <a:srgbClr val="1F2937"/>
                </a:solidFill>
                <a:latin typeface="Calibri"/>
              </a:rPr>
              <a:t>El detalle línea por línea viene de una corrida donde se ejecutó solo 1 de los 7 tests</a:t>
            </a:r>
          </a:p>
          <a:p>
            <a:pPr>
              <a:spcAft>
                <a:spcPts val="600"/>
              </a:spcAft>
            </a:pPr>
            <a:r>
              <a:rPr sz="1100" b="1" i="0">
                <a:solidFill>
                  <a:srgbClr val="0D9488"/>
                </a:solidFill>
                <a:latin typeface="Calibri"/>
              </a:rPr>
              <a:t>■  </a:t>
            </a:r>
            <a:r>
              <a:rPr sz="1500" b="0" i="0">
                <a:solidFill>
                  <a:srgbClr val="1F2937"/>
                </a:solidFill>
                <a:latin typeface="Calibri"/>
              </a:rPr>
              <a:t>Cobertura de ramas: 0 de 0 → no se midió</a:t>
            </a:r>
          </a:p>
          <a:p>
            <a:pPr>
              <a:spcAft>
                <a:spcPts val="600"/>
              </a:spcAft>
            </a:pPr>
            <a:r>
              <a:rPr sz="1100" b="1" i="0">
                <a:solidFill>
                  <a:srgbClr val="0D9488"/>
                </a:solidFill>
                <a:latin typeface="Calibri"/>
              </a:rPr>
              <a:t>■  </a:t>
            </a:r>
            <a:r>
              <a:rPr sz="1500" b="0" i="0">
                <a:solidFill>
                  <a:srgbClr val="1F2937"/>
                </a:solidFill>
                <a:latin typeface="Calibri"/>
              </a:rPr>
              <a:t>Ship.Update (entrada del jugador) no aparece ejecutado en ningún test</a:t>
            </a:r>
          </a:p>
          <a:p>
            <a:pPr>
              <a:spcAft>
                <a:spcPts val="600"/>
              </a:spcAft>
            </a:pPr>
            <a:r>
              <a:rPr sz="1100" b="1" i="0">
                <a:solidFill>
                  <a:srgbClr val="0D9488"/>
                </a:solidFill>
                <a:latin typeface="Calibri"/>
              </a:rPr>
              <a:t>■  </a:t>
            </a:r>
            <a:r>
              <a:rPr sz="1500" b="0" i="0">
                <a:solidFill>
                  <a:srgbClr val="1F2937"/>
                </a:solidFill>
                <a:latin typeface="Calibri"/>
              </a:rPr>
              <a:t>Cobertura = código EJECUTADO, no VERIFICADO: el test 07 recorre la línea del HUD sin comprobarla</a:t>
            </a:r>
          </a:p>
        </p:txBody>
      </p:sp>
      <p:sp>
        <p:nvSpPr>
          <p:cNvPr id="8" name="Rectangle 7"/>
          <p:cNvSpPr/>
          <p:nvPr/>
        </p:nvSpPr>
        <p:spPr>
          <a:xfrm>
            <a:off x="502920" y="5029200"/>
            <a:ext cx="11185855" cy="457200"/>
          </a:xfrm>
          <a:prstGeom prst="rect">
            <a:avLst/>
          </a:prstGeom>
          <a:solidFill>
            <a:srgbClr val="FE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029200"/>
            <a:ext cx="10911535" cy="457200"/>
          </a:xfrm>
          <a:prstGeom prst="rect">
            <a:avLst/>
          </a:prstGeom>
          <a:noFill/>
        </p:spPr>
        <p:txBody>
          <a:bodyPr wrap="square" anchor="ctr" lIns="0" rIns="0" tIns="0" bIns="0">
            <a:spAutoFit/>
          </a:bodyPr>
          <a:lstStyle/>
          <a:p>
            <a:r>
              <a:rPr sz="1200" b="1" i="0">
                <a:solidFill>
                  <a:srgbClr val="D97706"/>
                </a:solidFill>
                <a:latin typeface="Calibri"/>
              </a:rPr>
              <a:t>💻 Ver en el código:  </a:t>
            </a:r>
            <a:r>
              <a:rPr sz="1200" b="0" i="0">
                <a:solidFill>
                  <a:srgbClr val="1F2937"/>
                </a:solidFill>
                <a:latin typeface="Calibri"/>
              </a:rPr>
              <a:t>CodeCoverage/Report/Summary.md · Tests_TestSuite.html (solo 88–115 ejecutadas) · GameAssembly_Ship.html (61–74)</a:t>
            </a:r>
          </a:p>
        </p:txBody>
      </p:sp>
      <p:sp>
        <p:nvSpPr>
          <p:cNvPr id="10" name="Rectangle 9"/>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¿Qué significa realmente el 65,5 %? ¿Lo usarían para decidir si el juego está listo?</a:t>
            </a:r>
          </a:p>
        </p:txBody>
      </p:sp>
      <p:sp>
        <p:nvSpPr>
          <p:cNvPr id="12" name="Rectangle 11"/>
          <p:cNvSpPr/>
          <p:nvPr/>
        </p:nvSpPr>
        <p:spPr>
          <a:xfrm>
            <a:off x="8092440" y="1280160"/>
            <a:ext cx="3593592" cy="3611880"/>
          </a:xfrm>
          <a:prstGeom prst="rect">
            <a:avLst/>
          </a:prstGeom>
          <a:solidFill>
            <a:srgbClr val="F8FAFC"/>
          </a:solidFill>
          <a:ln w="19050">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i="0">
                <a:solidFill>
                  <a:srgbClr val="6B7280"/>
                </a:solidFill>
                <a:latin typeface="Calibri"/>
              </a:rPr>
              <a:t>🖼  IMAGEN</a:t>
            </a:r>
          </a:p>
          <a:p>
            <a:pPr algn="ctr">
              <a:spcBef>
                <a:spcPts val="600"/>
              </a:spcBef>
            </a:pPr>
            <a:r>
              <a:rPr sz="1200" b="0" i="1">
                <a:solidFill>
                  <a:srgbClr val="6B7280"/>
                </a:solidFill>
                <a:latin typeface="Calibri"/>
              </a:rPr>
              <a:t>Captura de Summary.md del reporte (65,5 %, 6x OpenCoverParser, branches 0/0) junto a la vista línea por línea de Laser.cs en rojo.</a:t>
            </a:r>
          </a:p>
        </p:txBody>
      </p:sp>
      <p:sp>
        <p:nvSpPr>
          <p:cNvPr id="13" name="TextBox 12"/>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4" name="TextBox 13"/>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21/27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22</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4 · TEORÍA</a:t>
            </a:r>
          </a:p>
          <a:p>
            <a:r>
              <a:rPr sz="2600" b="1" i="0">
                <a:solidFill>
                  <a:srgbClr val="FFFFFF"/>
                </a:solidFill>
                <a:latin typeface="Calibri"/>
              </a:rPr>
              <a:t>Regresión: del bug al test que lo vigila</a:t>
            </a:r>
          </a:p>
        </p:txBody>
      </p:sp>
      <p:sp>
        <p:nvSpPr>
          <p:cNvPr id="6" name="Rectangle 5"/>
          <p:cNvSpPr/>
          <p:nvPr/>
        </p:nvSpPr>
        <p:spPr>
          <a:xfrm>
            <a:off x="502920" y="1280160"/>
            <a:ext cx="11185855" cy="475488"/>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8016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Se detecta el defecto (Actividad 3: asteroides que sobreviven al reinicio)</a:t>
            </a:r>
          </a:p>
        </p:txBody>
      </p:sp>
      <p:sp>
        <p:nvSpPr>
          <p:cNvPr id="8" name="TextBox 7"/>
          <p:cNvSpPr txBox="1"/>
          <p:nvPr/>
        </p:nvSpPr>
        <p:spPr>
          <a:xfrm>
            <a:off x="502920" y="1755648"/>
            <a:ext cx="11185855" cy="256032"/>
          </a:xfrm>
          <a:prstGeom prst="rect">
            <a:avLst/>
          </a:prstGeom>
          <a:noFill/>
        </p:spPr>
        <p:txBody>
          <a:bodyPr wrap="square" anchor="ctr" lIns="0" rIns="0" tIns="0" bIns="0">
            <a:spAutoFit/>
          </a:bodyPr>
          <a:lstStyle/>
          <a:p>
            <a:pPr algn="ctr"/>
            <a:r>
              <a:rPr sz="1600" b="1" i="0">
                <a:solidFill>
                  <a:srgbClr val="0D9488"/>
                </a:solidFill>
                <a:latin typeface="Calibri"/>
              </a:rPr>
              <a:t>↓</a:t>
            </a:r>
          </a:p>
        </p:txBody>
      </p:sp>
      <p:sp>
        <p:nvSpPr>
          <p:cNvPr id="9" name="Rectangle 8"/>
          <p:cNvSpPr/>
          <p:nvPr/>
        </p:nvSpPr>
        <p:spPr>
          <a:xfrm>
            <a:off x="502920" y="2011680"/>
            <a:ext cx="11185855" cy="475488"/>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1168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Se escribe el test y se ve en ROJO: prueba que el defecto existe</a:t>
            </a:r>
          </a:p>
        </p:txBody>
      </p:sp>
      <p:sp>
        <p:nvSpPr>
          <p:cNvPr id="11" name="TextBox 10"/>
          <p:cNvSpPr txBox="1"/>
          <p:nvPr/>
        </p:nvSpPr>
        <p:spPr>
          <a:xfrm>
            <a:off x="502920" y="2487168"/>
            <a:ext cx="11185855" cy="256032"/>
          </a:xfrm>
          <a:prstGeom prst="rect">
            <a:avLst/>
          </a:prstGeom>
          <a:noFill/>
        </p:spPr>
        <p:txBody>
          <a:bodyPr wrap="square" anchor="ctr" lIns="0" rIns="0" tIns="0" bIns="0">
            <a:spAutoFit/>
          </a:bodyPr>
          <a:lstStyle/>
          <a:p>
            <a:pPr algn="ctr"/>
            <a:r>
              <a:rPr sz="1600" b="1" i="0">
                <a:solidFill>
                  <a:srgbClr val="0D9488"/>
                </a:solidFill>
                <a:latin typeface="Calibri"/>
              </a:rPr>
              <a:t>↓</a:t>
            </a:r>
          </a:p>
        </p:txBody>
      </p:sp>
      <p:sp>
        <p:nvSpPr>
          <p:cNvPr id="12" name="Rectangle 11"/>
          <p:cNvSpPr/>
          <p:nvPr/>
        </p:nvSpPr>
        <p:spPr>
          <a:xfrm>
            <a:off x="502920" y="2743200"/>
            <a:ext cx="11185855" cy="475488"/>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74320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Se arregla el código y el test pasa a VERDE</a:t>
            </a:r>
          </a:p>
        </p:txBody>
      </p:sp>
      <p:sp>
        <p:nvSpPr>
          <p:cNvPr id="14" name="TextBox 13"/>
          <p:cNvSpPr txBox="1"/>
          <p:nvPr/>
        </p:nvSpPr>
        <p:spPr>
          <a:xfrm>
            <a:off x="502920" y="3218688"/>
            <a:ext cx="11185855" cy="256032"/>
          </a:xfrm>
          <a:prstGeom prst="rect">
            <a:avLst/>
          </a:prstGeom>
          <a:noFill/>
        </p:spPr>
        <p:txBody>
          <a:bodyPr wrap="square" anchor="ctr" lIns="0" rIns="0" tIns="0" bIns="0">
            <a:spAutoFit/>
          </a:bodyPr>
          <a:lstStyle/>
          <a:p>
            <a:pPr algn="ctr"/>
            <a:r>
              <a:rPr sz="1600" b="1" i="0">
                <a:solidFill>
                  <a:srgbClr val="0D9488"/>
                </a:solidFill>
                <a:latin typeface="Calibri"/>
              </a:rPr>
              <a:t>↓</a:t>
            </a:r>
          </a:p>
        </p:txBody>
      </p:sp>
      <p:sp>
        <p:nvSpPr>
          <p:cNvPr id="15" name="Rectangle 14"/>
          <p:cNvSpPr/>
          <p:nvPr/>
        </p:nvSpPr>
        <p:spPr>
          <a:xfrm>
            <a:off x="502920" y="3474720"/>
            <a:ext cx="11185855" cy="47548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7472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El test queda en la suite: si el defecto vuelve, se entera la suite antes que el jugador</a:t>
            </a:r>
          </a:p>
        </p:txBody>
      </p:sp>
      <p:sp>
        <p:nvSpPr>
          <p:cNvPr id="17" name="Rectangle 16"/>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Retesting = volver a probar ESE arreglo. Regresión = volver a probar TODO lo que ya andaba (Unidad II).</a:t>
            </a:r>
          </a:p>
        </p:txBody>
      </p:sp>
      <p:sp>
        <p:nvSpPr>
          <p:cNvPr id="19" name="TextBox 18"/>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20" name="TextBox 19"/>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22/27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23</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PRÁCTICA · EN GRUPOS</a:t>
            </a:r>
          </a:p>
          <a:p>
            <a:r>
              <a:rPr sz="2600" b="1" i="0">
                <a:solidFill>
                  <a:srgbClr val="FFFFFF"/>
                </a:solidFill>
                <a:latin typeface="Calibri"/>
              </a:rPr>
              <a:t>Actividad 4 · Diseñar una mini-suite (14 min)</a:t>
            </a:r>
          </a:p>
        </p:txBody>
      </p:sp>
      <p:sp>
        <p:nvSpPr>
          <p:cNvPr id="6" name="TextBox 5"/>
          <p:cNvSpPr txBox="1"/>
          <p:nvPr/>
        </p:nvSpPr>
        <p:spPr>
          <a:xfrm>
            <a:off x="502920" y="1280160"/>
            <a:ext cx="7315200" cy="2076450"/>
          </a:xfrm>
          <a:prstGeom prst="rect">
            <a:avLst/>
          </a:prstGeom>
          <a:noFill/>
        </p:spPr>
        <p:txBody>
          <a:bodyPr wrap="square" anchor="t" lIns="0" rIns="0" tIns="0" bIns="0">
            <a:spAutoFit/>
          </a:bodyPr>
          <a:lstStyle/>
          <a:p>
            <a:pPr>
              <a:spcAft>
                <a:spcPts val="600"/>
              </a:spcAft>
            </a:pPr>
            <a:r>
              <a:rPr sz="1300" b="1" i="0">
                <a:solidFill>
                  <a:srgbClr val="0D9488"/>
                </a:solidFill>
                <a:latin typeface="Calibri"/>
              </a:rPr>
              <a:t>■  </a:t>
            </a:r>
            <a:r>
              <a:rPr sz="1700" b="0" i="0">
                <a:solidFill>
                  <a:srgbClr val="1F2937"/>
                </a:solidFill>
                <a:latin typeface="Calibri"/>
              </a:rPr>
              <a:t>Tienen los 7 tests actuales + los casos nuevos de la clase</a:t>
            </a:r>
          </a:p>
          <a:p>
            <a:pPr>
              <a:spcAft>
                <a:spcPts val="600"/>
              </a:spcAft>
            </a:pPr>
            <a:r>
              <a:rPr sz="1300" b="1" i="0">
                <a:solidFill>
                  <a:srgbClr val="0D9488"/>
                </a:solidFill>
                <a:latin typeface="Calibri"/>
              </a:rPr>
              <a:t>■  </a:t>
            </a:r>
            <a:r>
              <a:rPr sz="1700" b="0" i="0">
                <a:solidFill>
                  <a:srgbClr val="1F2937"/>
                </a:solidFill>
                <a:latin typeface="Calibri"/>
              </a:rPr>
              <a:t>Máximo 12 tests en la suite de integración</a:t>
            </a:r>
          </a:p>
          <a:p>
            <a:pPr>
              <a:spcAft>
                <a:spcPts val="600"/>
              </a:spcAft>
            </a:pPr>
            <a:r>
              <a:rPr sz="1300" b="1" i="0">
                <a:solidFill>
                  <a:srgbClr val="0D9488"/>
                </a:solidFill>
                <a:latin typeface="Calibri"/>
              </a:rPr>
              <a:t>■  </a:t>
            </a:r>
            <a:r>
              <a:rPr sz="1700" b="0" i="0">
                <a:solidFill>
                  <a:srgbClr val="1F2937"/>
                </a:solidFill>
                <a:latin typeface="Calibri"/>
              </a:rPr>
              <a:t>Categorías: Smoke (cada cambio) · Integración · Borde · Regresión</a:t>
            </a:r>
          </a:p>
          <a:p>
            <a:pPr>
              <a:spcAft>
                <a:spcPts val="600"/>
              </a:spcAft>
            </a:pPr>
            <a:r>
              <a:rPr sz="1300" b="1" i="0">
                <a:solidFill>
                  <a:srgbClr val="0D9488"/>
                </a:solidFill>
                <a:latin typeface="Calibri"/>
              </a:rPr>
              <a:t>■  </a:t>
            </a:r>
            <a:r>
              <a:rPr sz="1700" b="0" i="0">
                <a:solidFill>
                  <a:srgbClr val="1F2937"/>
                </a:solidFill>
                <a:latin typeface="Calibri"/>
              </a:rPr>
              <a:t>Definan la fixture común y una convención de nombres</a:t>
            </a:r>
          </a:p>
          <a:p>
            <a:pPr>
              <a:spcAft>
                <a:spcPts val="600"/>
              </a:spcAft>
            </a:pPr>
            <a:r>
              <a:rPr sz="1300" b="1" i="0">
                <a:solidFill>
                  <a:srgbClr val="0D9488"/>
                </a:solidFill>
                <a:latin typeface="Calibri"/>
              </a:rPr>
              <a:t>■  </a:t>
            </a:r>
            <a:r>
              <a:rPr sz="1700" b="0" i="0">
                <a:solidFill>
                  <a:srgbClr val="1F2937"/>
                </a:solidFill>
                <a:latin typeface="Calibri"/>
              </a:rPr>
              <a:t>Decidan qué tests existentes se quedan, se reescriben, se fusionan o salen</a:t>
            </a:r>
          </a:p>
        </p:txBody>
      </p:sp>
      <p:sp>
        <p:nvSpPr>
          <p:cNvPr id="7" name="Rectangle 6"/>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Actividad:  Entreguen la suite en una tabla: test · categoría · cuándo corre · decisión (queda / reescribir / fusionar / sale).</a:t>
            </a:r>
          </a:p>
        </p:txBody>
      </p:sp>
      <p:sp>
        <p:nvSpPr>
          <p:cNvPr id="9" name="Rectangle 8"/>
          <p:cNvSpPr/>
          <p:nvPr/>
        </p:nvSpPr>
        <p:spPr>
          <a:xfrm>
            <a:off x="8092440" y="1280160"/>
            <a:ext cx="3593592" cy="4160520"/>
          </a:xfrm>
          <a:prstGeom prst="rect">
            <a:avLst/>
          </a:prstGeom>
          <a:solidFill>
            <a:srgbClr val="F8FAFC"/>
          </a:solidFill>
          <a:ln w="19050">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i="0">
                <a:solidFill>
                  <a:srgbClr val="6B7280"/>
                </a:solidFill>
                <a:latin typeface="Calibri"/>
              </a:rPr>
              <a:t>🖼  IMAGEN</a:t>
            </a:r>
          </a:p>
          <a:p>
            <a:pPr algn="ctr">
              <a:spcBef>
                <a:spcPts val="600"/>
              </a:spcBef>
            </a:pPr>
            <a:r>
              <a:rPr sz="1200" b="0" i="1">
                <a:solidFill>
                  <a:srgbClr val="6B7280"/>
                </a:solidFill>
                <a:latin typeface="Calibri"/>
              </a:rPr>
              <a:t>Tablero de cuatro columnas (Smoke · Integración · Borde · Regresión) con tarjetas de los tests para ubicar.</a:t>
            </a:r>
          </a:p>
        </p:txBody>
      </p:sp>
      <p:sp>
        <p:nvSpPr>
          <p:cNvPr id="10" name="TextBox 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1" name="TextBox 1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23/27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24</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RESOLUCIÓN DOCENTE</a:t>
            </a:r>
          </a:p>
          <a:p>
            <a:r>
              <a:rPr sz="2600" b="1" i="0">
                <a:solidFill>
                  <a:srgbClr val="FFFFFF"/>
                </a:solidFill>
                <a:latin typeface="Calibri"/>
              </a:rPr>
              <a:t>Actividad 4 · Resolución</a:t>
            </a:r>
          </a:p>
        </p:txBody>
      </p:sp>
      <p:graphicFrame>
        <p:nvGraphicFramePr>
          <p:cNvPr id="6" name="Table 5"/>
          <p:cNvGraphicFramePr>
            <a:graphicFrameLocks noGrp="1"/>
          </p:cNvGraphicFramePr>
          <p:nvPr/>
        </p:nvGraphicFramePr>
        <p:xfrm>
          <a:off x="502920" y="1280160"/>
          <a:ext cx="11185854" cy="1975104"/>
        </p:xfrm>
        <a:graphic>
          <a:graphicData uri="http://schemas.openxmlformats.org/drawingml/2006/table">
            <a:tbl>
              <a:tblPr firstRow="1" bandRow="1">
                <a:tableStyleId>{5C22544A-7EE6-4342-B048-85BDC9FD1C3A}</a:tableStyleId>
              </a:tblPr>
              <a:tblGrid>
                <a:gridCol w="1864309"/>
                <a:gridCol w="6835800"/>
                <a:gridCol w="2485745"/>
              </a:tblGrid>
              <a:tr h="329184">
                <a:tc>
                  <a:txBody>
                    <a:bodyPr/>
                    <a:lstStyle/>
                    <a:p>
                      <a:r>
                        <a:rPr sz="1300" b="1" i="0">
                          <a:solidFill>
                            <a:srgbClr val="FFFFFF"/>
                          </a:solidFill>
                          <a:latin typeface="Calibri"/>
                        </a:rPr>
                        <a:t>Categoría</a:t>
                      </a:r>
                    </a:p>
                  </a:txBody>
                  <a:tcPr>
                    <a:solidFill>
                      <a:srgbClr val="1F2A44"/>
                    </a:solidFill>
                  </a:tcPr>
                </a:tc>
                <a:tc>
                  <a:txBody>
                    <a:bodyPr/>
                    <a:lstStyle/>
                    <a:p>
                      <a:r>
                        <a:rPr sz="1300" b="1" i="0">
                          <a:solidFill>
                            <a:srgbClr val="FFFFFF"/>
                          </a:solidFill>
                          <a:latin typeface="Calibri"/>
                        </a:rPr>
                        <a:t>Tests</a:t>
                      </a:r>
                    </a:p>
                  </a:txBody>
                  <a:tcPr>
                    <a:solidFill>
                      <a:srgbClr val="1F2A44"/>
                    </a:solidFill>
                  </a:tcPr>
                </a:tc>
                <a:tc>
                  <a:txBody>
                    <a:bodyPr/>
                    <a:lstStyle/>
                    <a:p>
                      <a:r>
                        <a:rPr sz="1300" b="1" i="0">
                          <a:solidFill>
                            <a:srgbClr val="FFFFFF"/>
                          </a:solidFill>
                          <a:latin typeface="Calibri"/>
                        </a:rPr>
                        <a:t>Cuándo corre</a:t>
                      </a:r>
                    </a:p>
                  </a:txBody>
                  <a:tcPr>
                    <a:solidFill>
                      <a:srgbClr val="1F2A44"/>
                    </a:solidFill>
                  </a:tcPr>
                </a:tc>
              </a:tr>
              <a:tr h="329184">
                <a:tc>
                  <a:txBody>
                    <a:bodyPr/>
                    <a:lstStyle/>
                    <a:p>
                      <a:r>
                        <a:rPr sz="1200" b="1" i="0">
                          <a:solidFill>
                            <a:srgbClr val="1F2937"/>
                          </a:solidFill>
                          <a:latin typeface="Calibri"/>
                        </a:rPr>
                        <a:t>Smoke</a:t>
                      </a:r>
                    </a:p>
                  </a:txBody>
                  <a:tcPr marT="36576" marB="36576">
                    <a:solidFill>
                      <a:srgbClr val="FFFFFF"/>
                    </a:solidFill>
                  </a:tcPr>
                </a:tc>
                <a:tc>
                  <a:txBody>
                    <a:bodyPr/>
                    <a:lstStyle/>
                    <a:p>
                      <a:r>
                        <a:rPr sz="1200" b="0" i="0">
                          <a:solidFill>
                            <a:srgbClr val="1F2937"/>
                          </a:solidFill>
                          <a:latin typeface="Calibri"/>
                        </a:rPr>
                        <a:t>02 Game Over por choque · 06 Láser destruye asteroide · 08 Reinicio tras Game Over</a:t>
                      </a:r>
                    </a:p>
                  </a:txBody>
                  <a:tcPr marT="36576" marB="36576">
                    <a:solidFill>
                      <a:srgbClr val="FFFFFF"/>
                    </a:solidFill>
                  </a:tcPr>
                </a:tc>
                <a:tc>
                  <a:txBody>
                    <a:bodyPr/>
                    <a:lstStyle/>
                    <a:p>
                      <a:r>
                        <a:rPr sz="1200" b="0" i="0">
                          <a:solidFill>
                            <a:srgbClr val="1F2937"/>
                          </a:solidFill>
                          <a:latin typeface="Calibri"/>
                        </a:rPr>
                        <a:t>Cada cambio (segundos)</a:t>
                      </a:r>
                    </a:p>
                  </a:txBody>
                  <a:tcPr marT="36576" marB="36576">
                    <a:solidFill>
                      <a:srgbClr val="FFFFFF"/>
                    </a:solidFill>
                  </a:tcPr>
                </a:tc>
              </a:tr>
              <a:tr h="329184">
                <a:tc>
                  <a:txBody>
                    <a:bodyPr/>
                    <a:lstStyle/>
                    <a:p>
                      <a:r>
                        <a:rPr sz="1200" b="1" i="0">
                          <a:solidFill>
                            <a:srgbClr val="1F2937"/>
                          </a:solidFill>
                          <a:latin typeface="Calibri"/>
                        </a:rPr>
                        <a:t>Integración</a:t>
                      </a:r>
                    </a:p>
                  </a:txBody>
                  <a:tcPr marT="36576" marB="36576">
                    <a:solidFill>
                      <a:srgbClr val="F3F4F6"/>
                    </a:solidFill>
                  </a:tcPr>
                </a:tc>
                <a:tc>
                  <a:txBody>
                    <a:bodyPr/>
                    <a:lstStyle/>
                    <a:p>
                      <a:r>
                        <a:rPr sz="1200" b="0" i="0">
                          <a:solidFill>
                            <a:srgbClr val="1F2937"/>
                          </a:solidFill>
                          <a:latin typeface="Calibri"/>
                        </a:rPr>
                        <a:t>04 reescrito (limpieza + conteo propio) · 09 HUD (absorbe 07) · 10 Láser vs. objeto ajeno · 11 Asteroide vs. asteroide</a:t>
                      </a:r>
                    </a:p>
                  </a:txBody>
                  <a:tcPr marT="36576" marB="36576">
                    <a:solidFill>
                      <a:srgbClr val="F3F4F6"/>
                    </a:solidFill>
                  </a:tcPr>
                </a:tc>
                <a:tc>
                  <a:txBody>
                    <a:bodyPr/>
                    <a:lstStyle/>
                    <a:p>
                      <a:r>
                        <a:rPr sz="1200" b="0" i="0">
                          <a:solidFill>
                            <a:srgbClr val="1F2937"/>
                          </a:solidFill>
                          <a:latin typeface="Calibri"/>
                        </a:rPr>
                        <a:t>Cada commit</a:t>
                      </a:r>
                    </a:p>
                  </a:txBody>
                  <a:tcPr marT="36576" marB="36576">
                    <a:solidFill>
                      <a:srgbClr val="F3F4F6"/>
                    </a:solidFill>
                  </a:tcPr>
                </a:tc>
              </a:tr>
              <a:tr h="329184">
                <a:tc>
                  <a:txBody>
                    <a:bodyPr/>
                    <a:lstStyle/>
                    <a:p>
                      <a:r>
                        <a:rPr sz="1200" b="1" i="0">
                          <a:solidFill>
                            <a:srgbClr val="1F2937"/>
                          </a:solidFill>
                          <a:latin typeface="Calibri"/>
                        </a:rPr>
                        <a:t>Borde</a:t>
                      </a:r>
                    </a:p>
                  </a:txBody>
                  <a:tcPr marT="36576" marB="36576">
                    <a:solidFill>
                      <a:srgbClr val="FFFFFF"/>
                    </a:solidFill>
                  </a:tcPr>
                </a:tc>
                <a:tc>
                  <a:txBody>
                    <a:bodyPr/>
                    <a:lstStyle/>
                    <a:p>
                      <a:r>
                        <a:rPr sz="1200" b="0" i="0">
                          <a:solidFill>
                            <a:srgbClr val="1F2937"/>
                          </a:solidFill>
                          <a:latin typeface="Calibri"/>
                        </a:rPr>
                        <a:t>12 Límite y = −5 · 13 Doble impacto · 15 Doble NewGame</a:t>
                      </a:r>
                    </a:p>
                  </a:txBody>
                  <a:tcPr marT="36576" marB="36576">
                    <a:solidFill>
                      <a:srgbClr val="FFFFFF"/>
                    </a:solidFill>
                  </a:tcPr>
                </a:tc>
                <a:tc>
                  <a:txBody>
                    <a:bodyPr/>
                    <a:lstStyle/>
                    <a:p>
                      <a:r>
                        <a:rPr sz="1200" b="0" i="0">
                          <a:solidFill>
                            <a:srgbClr val="1F2937"/>
                          </a:solidFill>
                          <a:latin typeface="Calibri"/>
                        </a:rPr>
                        <a:t>Cada commit</a:t>
                      </a:r>
                    </a:p>
                  </a:txBody>
                  <a:tcPr marT="36576" marB="36576">
                    <a:solidFill>
                      <a:srgbClr val="FFFFFF"/>
                    </a:solidFill>
                  </a:tcPr>
                </a:tc>
              </a:tr>
              <a:tr h="329184">
                <a:tc>
                  <a:txBody>
                    <a:bodyPr/>
                    <a:lstStyle/>
                    <a:p>
                      <a:r>
                        <a:rPr sz="1200" b="1" i="0">
                          <a:solidFill>
                            <a:srgbClr val="1F2937"/>
                          </a:solidFill>
                          <a:latin typeface="Calibri"/>
                        </a:rPr>
                        <a:t>Regresión</a:t>
                      </a:r>
                    </a:p>
                  </a:txBody>
                  <a:tcPr marT="36576" marB="36576">
                    <a:solidFill>
                      <a:srgbClr val="F3F4F6"/>
                    </a:solidFill>
                  </a:tcPr>
                </a:tc>
                <a:tc>
                  <a:txBody>
                    <a:bodyPr/>
                    <a:lstStyle/>
                    <a:p>
                      <a:r>
                        <a:rPr sz="1200" b="0" i="0">
                          <a:solidFill>
                            <a:srgbClr val="1F2937"/>
                          </a:solidFill>
                          <a:latin typeface="Calibri"/>
                        </a:rPr>
                        <a:t>14 Reinicio limpia asteroides (en rojo hasta el arreglo)</a:t>
                      </a:r>
                    </a:p>
                  </a:txBody>
                  <a:tcPr marT="36576" marB="36576">
                    <a:solidFill>
                      <a:srgbClr val="F3F4F6"/>
                    </a:solidFill>
                  </a:tcPr>
                </a:tc>
                <a:tc>
                  <a:txBody>
                    <a:bodyPr/>
                    <a:lstStyle/>
                    <a:p>
                      <a:r>
                        <a:rPr sz="1200" b="0" i="0">
                          <a:solidFill>
                            <a:srgbClr val="1F2937"/>
                          </a:solidFill>
                          <a:latin typeface="Calibri"/>
                        </a:rPr>
                        <a:t>Cada commit</a:t>
                      </a:r>
                    </a:p>
                  </a:txBody>
                  <a:tcPr marT="36576" marB="36576">
                    <a:solidFill>
                      <a:srgbClr val="F3F4F6"/>
                    </a:solidFill>
                  </a:tcPr>
                </a:tc>
              </a:tr>
              <a:tr h="329184">
                <a:tc>
                  <a:txBody>
                    <a:bodyPr/>
                    <a:lstStyle/>
                    <a:p>
                      <a:r>
                        <a:rPr sz="1200" b="1" i="0">
                          <a:solidFill>
                            <a:srgbClr val="1F2937"/>
                          </a:solidFill>
                          <a:latin typeface="Calibri"/>
                        </a:rPr>
                        <a:t>Fuera de esta suite</a:t>
                      </a:r>
                    </a:p>
                  </a:txBody>
                  <a:tcPr marT="36576" marB="36576">
                    <a:solidFill>
                      <a:srgbClr val="FFFFFF"/>
                    </a:solidFill>
                  </a:tcPr>
                </a:tc>
                <a:tc>
                  <a:txBody>
                    <a:bodyPr/>
                    <a:lstStyle/>
                    <a:p>
                      <a:r>
                        <a:rPr sz="1200" b="0" i="0">
                          <a:solidFill>
                            <a:srgbClr val="1F2937"/>
                          </a:solidFill>
                          <a:latin typeface="Calibri"/>
                        </a:rPr>
                        <a:t>01 y 05 → movimiento de un solo componente · 03 → reemplazado por 08 · 16 → pendiente del refactor de entrada</a:t>
                      </a:r>
                    </a:p>
                  </a:txBody>
                  <a:tcPr marT="36576" marB="36576">
                    <a:solidFill>
                      <a:srgbClr val="FFFFFF"/>
                    </a:solidFill>
                  </a:tcPr>
                </a:tc>
                <a:tc>
                  <a:txBody>
                    <a:bodyPr/>
                    <a:lstStyle/>
                    <a:p>
                      <a:r>
                        <a:rPr sz="1200" b="0" i="0">
                          <a:solidFill>
                            <a:srgbClr val="1F2937"/>
                          </a:solidFill>
                          <a:latin typeface="Calibri"/>
                        </a:rPr>
                        <a:t>—</a:t>
                      </a:r>
                    </a:p>
                  </a:txBody>
                  <a:tcPr marT="36576" marB="36576">
                    <a:solidFill>
                      <a:srgbClr val="FFFFFF"/>
                    </a:solidFill>
                  </a:tcPr>
                </a:tc>
              </a:tr>
            </a:tbl>
          </a:graphicData>
        </a:graphic>
      </p:graphicFrame>
      <p:sp>
        <p:nvSpPr>
          <p:cNvPr id="7" name="Rectangle 6"/>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Fixture común: semilla fija + limpieza total · Nombres: Flujo_Condición_Resultado · [Category("Smoke")]</a:t>
            </a:r>
          </a:p>
        </p:txBody>
      </p:sp>
      <p:sp>
        <p:nvSpPr>
          <p:cNvPr id="9" name="TextBox 8"/>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0" name="TextBox 9"/>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24/27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25</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IDEAS PARA LLEVARSE</a:t>
            </a:r>
          </a:p>
          <a:p>
            <a:r>
              <a:rPr sz="2600" b="1" i="0">
                <a:solidFill>
                  <a:srgbClr val="FFFFFF"/>
                </a:solidFill>
                <a:latin typeface="Calibri"/>
              </a:rPr>
              <a:t>Cierre</a:t>
            </a:r>
          </a:p>
        </p:txBody>
      </p:sp>
      <p:sp>
        <p:nvSpPr>
          <p:cNvPr id="6" name="TextBox 5"/>
          <p:cNvSpPr txBox="1"/>
          <p:nvPr/>
        </p:nvSpPr>
        <p:spPr>
          <a:xfrm>
            <a:off x="502920" y="1280160"/>
            <a:ext cx="11185855" cy="1885950"/>
          </a:xfrm>
          <a:prstGeom prst="rect">
            <a:avLst/>
          </a:prstGeom>
          <a:noFill/>
        </p:spPr>
        <p:txBody>
          <a:bodyPr wrap="square" anchor="t" lIns="0" rIns="0" tIns="0" bIns="0">
            <a:spAutoFit/>
          </a:bodyPr>
          <a:lstStyle/>
          <a:p>
            <a:pPr>
              <a:spcAft>
                <a:spcPts val="600"/>
              </a:spcAft>
            </a:pPr>
            <a:r>
              <a:rPr sz="1400" b="1" i="0">
                <a:solidFill>
                  <a:srgbClr val="0D9488"/>
                </a:solidFill>
                <a:latin typeface="Calibri"/>
              </a:rPr>
              <a:t>■  </a:t>
            </a:r>
            <a:r>
              <a:rPr sz="1800" b="0" i="0">
                <a:solidFill>
                  <a:srgbClr val="1F2937"/>
                </a:solidFill>
                <a:latin typeface="Calibri"/>
              </a:rPr>
              <a:t>Una suite solo de casos positivos deja sin probar lo que el juego NO debe hacer</a:t>
            </a:r>
          </a:p>
          <a:p>
            <a:pPr>
              <a:spcAft>
                <a:spcPts val="600"/>
              </a:spcAft>
            </a:pPr>
            <a:r>
              <a:rPr sz="1400" b="1" i="0">
                <a:solidFill>
                  <a:srgbClr val="0D9488"/>
                </a:solidFill>
                <a:latin typeface="Calibri"/>
              </a:rPr>
              <a:t>■  </a:t>
            </a:r>
            <a:r>
              <a:rPr sz="1800" b="0" i="0">
                <a:solidFill>
                  <a:srgbClr val="1F2937"/>
                </a:solidFill>
                <a:latin typeface="Calibri"/>
              </a:rPr>
              <a:t>El borde en integración también es tiempo, cantidad, repetición y orden</a:t>
            </a:r>
          </a:p>
          <a:p>
            <a:pPr>
              <a:spcAft>
                <a:spcPts val="600"/>
              </a:spcAft>
            </a:pPr>
            <a:r>
              <a:rPr sz="1400" b="1" i="0">
                <a:solidFill>
                  <a:srgbClr val="0D9488"/>
                </a:solidFill>
                <a:latin typeface="Calibri"/>
              </a:rPr>
              <a:t>■  </a:t>
            </a:r>
            <a:r>
              <a:rPr sz="1800" b="0" i="0">
                <a:solidFill>
                  <a:srgbClr val="1F2937"/>
                </a:solidFill>
                <a:latin typeface="Calibri"/>
              </a:rPr>
              <a:t>Sin fixtures que limpien, los tests se contaminan entre sí y se vuelven frágiles</a:t>
            </a:r>
          </a:p>
          <a:p>
            <a:pPr>
              <a:spcAft>
                <a:spcPts val="600"/>
              </a:spcAft>
            </a:pPr>
            <a:r>
              <a:rPr sz="1400" b="1" i="0">
                <a:solidFill>
                  <a:srgbClr val="0D9488"/>
                </a:solidFill>
                <a:latin typeface="Calibri"/>
              </a:rPr>
              <a:t>■  </a:t>
            </a:r>
            <a:r>
              <a:rPr sz="1800" b="0" i="0">
                <a:solidFill>
                  <a:srgbClr val="1F2937"/>
                </a:solidFill>
                <a:latin typeface="Calibri"/>
              </a:rPr>
              <a:t>Un doble de prueba se usa para lo que no está bajo prueba, no para todo</a:t>
            </a:r>
          </a:p>
          <a:p>
            <a:pPr>
              <a:spcAft>
                <a:spcPts val="600"/>
              </a:spcAft>
            </a:pPr>
            <a:r>
              <a:rPr sz="1400" b="1" i="0">
                <a:solidFill>
                  <a:srgbClr val="0D9488"/>
                </a:solidFill>
                <a:latin typeface="Calibri"/>
              </a:rPr>
              <a:t>■  </a:t>
            </a:r>
            <a:r>
              <a:rPr sz="1800" b="0" i="0">
                <a:solidFill>
                  <a:srgbClr val="1F2937"/>
                </a:solidFill>
                <a:latin typeface="Calibri"/>
              </a:rPr>
              <a:t>La cobertura dice qué se ejecutó, no qué se verificó</a:t>
            </a:r>
          </a:p>
        </p:txBody>
      </p:sp>
      <p:sp>
        <p:nvSpPr>
          <p:cNvPr id="7" name="Rectangle 6"/>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Actividad:  Ticket de salida: un caso negativo y un caso borde para un juego propio.</a:t>
            </a:r>
          </a:p>
        </p:txBody>
      </p:sp>
      <p:sp>
        <p:nvSpPr>
          <p:cNvPr id="9" name="TextBox 8"/>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0" name="TextBox 9"/>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25/27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26</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REFERENCIA</a:t>
            </a:r>
          </a:p>
          <a:p>
            <a:r>
              <a:rPr sz="2600" b="1" i="0">
                <a:solidFill>
                  <a:srgbClr val="FFFFFF"/>
                </a:solidFill>
                <a:latin typeface="Calibri"/>
              </a:rPr>
              <a:t>Anexo · Catálogo de casos nuevos</a:t>
            </a:r>
          </a:p>
        </p:txBody>
      </p:sp>
      <p:graphicFrame>
        <p:nvGraphicFramePr>
          <p:cNvPr id="6" name="Table 5"/>
          <p:cNvGraphicFramePr>
            <a:graphicFrameLocks noGrp="1"/>
          </p:cNvGraphicFramePr>
          <p:nvPr/>
        </p:nvGraphicFramePr>
        <p:xfrm>
          <a:off x="502920" y="1280160"/>
          <a:ext cx="11185853" cy="3291840"/>
        </p:xfrm>
        <a:graphic>
          <a:graphicData uri="http://schemas.openxmlformats.org/drawingml/2006/table">
            <a:tbl>
              <a:tblPr firstRow="1" bandRow="1">
                <a:tableStyleId>{5C22544A-7EE6-4342-B048-85BDC9FD1C3A}</a:tableStyleId>
              </a:tblPr>
              <a:tblGrid>
                <a:gridCol w="1423654"/>
                <a:gridCol w="5897996"/>
                <a:gridCol w="2033791"/>
                <a:gridCol w="1830412"/>
              </a:tblGrid>
              <a:tr h="329184">
                <a:tc>
                  <a:txBody>
                    <a:bodyPr/>
                    <a:lstStyle/>
                    <a:p>
                      <a:r>
                        <a:rPr sz="1300" b="1" i="0">
                          <a:solidFill>
                            <a:srgbClr val="FFFFFF"/>
                          </a:solidFill>
                          <a:latin typeface="Calibri"/>
                        </a:rPr>
                        <a:t>ID</a:t>
                      </a:r>
                    </a:p>
                  </a:txBody>
                  <a:tcPr>
                    <a:solidFill>
                      <a:srgbClr val="1F2A44"/>
                    </a:solidFill>
                  </a:tcPr>
                </a:tc>
                <a:tc>
                  <a:txBody>
                    <a:bodyPr/>
                    <a:lstStyle/>
                    <a:p>
                      <a:r>
                        <a:rPr sz="1300" b="1" i="0">
                          <a:solidFill>
                            <a:srgbClr val="FFFFFF"/>
                          </a:solidFill>
                          <a:latin typeface="Calibri"/>
                        </a:rPr>
                        <a:t>Caso</a:t>
                      </a:r>
                    </a:p>
                  </a:txBody>
                  <a:tcPr>
                    <a:solidFill>
                      <a:srgbClr val="1F2A44"/>
                    </a:solidFill>
                  </a:tcPr>
                </a:tc>
                <a:tc>
                  <a:txBody>
                    <a:bodyPr/>
                    <a:lstStyle/>
                    <a:p>
                      <a:r>
                        <a:rPr sz="1300" b="1" i="0">
                          <a:solidFill>
                            <a:srgbClr val="FFFFFF"/>
                          </a:solidFill>
                          <a:latin typeface="Calibri"/>
                        </a:rPr>
                        <a:t>Tipo</a:t>
                      </a:r>
                    </a:p>
                  </a:txBody>
                  <a:tcPr>
                    <a:solidFill>
                      <a:srgbClr val="1F2A44"/>
                    </a:solidFill>
                  </a:tcPr>
                </a:tc>
                <a:tc>
                  <a:txBody>
                    <a:bodyPr/>
                    <a:lstStyle/>
                    <a:p>
                      <a:r>
                        <a:rPr sz="1300" b="1" i="0">
                          <a:solidFill>
                            <a:srgbClr val="FFFFFF"/>
                          </a:solidFill>
                          <a:latin typeface="Calibri"/>
                        </a:rPr>
                        <a:t>Estado</a:t>
                      </a:r>
                    </a:p>
                  </a:txBody>
                  <a:tcPr>
                    <a:solidFill>
                      <a:srgbClr val="1F2A44"/>
                    </a:solidFill>
                  </a:tcPr>
                </a:tc>
              </a:tr>
              <a:tr h="329184">
                <a:tc>
                  <a:txBody>
                    <a:bodyPr/>
                    <a:lstStyle/>
                    <a:p>
                      <a:r>
                        <a:rPr sz="1200" b="1" i="0">
                          <a:solidFill>
                            <a:srgbClr val="1F2937"/>
                          </a:solidFill>
                          <a:latin typeface="Calibri"/>
                        </a:rPr>
                        <a:t>INT-AST-08</a:t>
                      </a:r>
                    </a:p>
                  </a:txBody>
                  <a:tcPr marT="36576" marB="36576">
                    <a:solidFill>
                      <a:srgbClr val="FFFFFF"/>
                    </a:solidFill>
                  </a:tcPr>
                </a:tc>
                <a:tc>
                  <a:txBody>
                    <a:bodyPr/>
                    <a:lstStyle/>
                    <a:p>
                      <a:r>
                        <a:rPr sz="1200" b="0" i="0">
                          <a:solidFill>
                            <a:srgbClr val="1F2937"/>
                          </a:solidFill>
                          <a:latin typeface="Calibri"/>
                        </a:rPr>
                        <a:t>Reinicio completo tras un Game Over real</a:t>
                      </a:r>
                    </a:p>
                  </a:txBody>
                  <a:tcPr marT="36576" marB="36576">
                    <a:solidFill>
                      <a:srgbClr val="FFFFFF"/>
                    </a:solidFill>
                  </a:tcPr>
                </a:tc>
                <a:tc>
                  <a:txBody>
                    <a:bodyPr/>
                    <a:lstStyle/>
                    <a:p>
                      <a:r>
                        <a:rPr sz="1200" b="0" i="0">
                          <a:solidFill>
                            <a:srgbClr val="1F2937"/>
                          </a:solidFill>
                          <a:latin typeface="Calibri"/>
                        </a:rPr>
                        <a:t>Positivo · flujo</a:t>
                      </a:r>
                    </a:p>
                  </a:txBody>
                  <a:tcPr marT="36576" marB="36576">
                    <a:solidFill>
                      <a:srgbClr val="FFFFFF"/>
                    </a:solidFill>
                  </a:tcPr>
                </a:tc>
                <a:tc>
                  <a:txBody>
                    <a:bodyPr/>
                    <a:lstStyle/>
                    <a:p>
                      <a:r>
                        <a:rPr sz="1200" b="0" i="0">
                          <a:solidFill>
                            <a:srgbClr val="1F2937"/>
                          </a:solidFill>
                          <a:latin typeface="Calibri"/>
                        </a:rPr>
                        <a:t>PROPUESTA</a:t>
                      </a:r>
                    </a:p>
                  </a:txBody>
                  <a:tcPr marT="36576" marB="36576">
                    <a:solidFill>
                      <a:srgbClr val="FFFFFF"/>
                    </a:solidFill>
                  </a:tcPr>
                </a:tc>
              </a:tr>
              <a:tr h="329184">
                <a:tc>
                  <a:txBody>
                    <a:bodyPr/>
                    <a:lstStyle/>
                    <a:p>
                      <a:r>
                        <a:rPr sz="1200" b="1" i="0">
                          <a:solidFill>
                            <a:srgbClr val="1F2937"/>
                          </a:solidFill>
                          <a:latin typeface="Calibri"/>
                        </a:rPr>
                        <a:t>INT-AST-09</a:t>
                      </a:r>
                    </a:p>
                  </a:txBody>
                  <a:tcPr marT="36576" marB="36576">
                    <a:solidFill>
                      <a:srgbClr val="F3F4F6"/>
                    </a:solidFill>
                  </a:tcPr>
                </a:tc>
                <a:tc>
                  <a:txBody>
                    <a:bodyPr/>
                    <a:lstStyle/>
                    <a:p>
                      <a:r>
                        <a:rPr sz="1200" b="0" i="0">
                          <a:solidFill>
                            <a:srgbClr val="1F2937"/>
                          </a:solidFill>
                          <a:latin typeface="Calibri"/>
                        </a:rPr>
                        <a:t>El HUD muestra el puntaje</a:t>
                      </a:r>
                    </a:p>
                  </a:txBody>
                  <a:tcPr marT="36576" marB="36576">
                    <a:solidFill>
                      <a:srgbClr val="F3F4F6"/>
                    </a:solidFill>
                  </a:tcPr>
                </a:tc>
                <a:tc>
                  <a:txBody>
                    <a:bodyPr/>
                    <a:lstStyle/>
                    <a:p>
                      <a:r>
                        <a:rPr sz="1200" b="0" i="0">
                          <a:solidFill>
                            <a:srgbClr val="1F2937"/>
                          </a:solidFill>
                          <a:latin typeface="Calibri"/>
                        </a:rPr>
                        <a:t>Positivo · regresión</a:t>
                      </a:r>
                    </a:p>
                  </a:txBody>
                  <a:tcPr marT="36576" marB="36576">
                    <a:solidFill>
                      <a:srgbClr val="F3F4F6"/>
                    </a:solidFill>
                  </a:tcPr>
                </a:tc>
                <a:tc>
                  <a:txBody>
                    <a:bodyPr/>
                    <a:lstStyle/>
                    <a:p>
                      <a:r>
                        <a:rPr sz="1200" b="0" i="0">
                          <a:solidFill>
                            <a:srgbClr val="1F2937"/>
                          </a:solidFill>
                          <a:latin typeface="Calibri"/>
                        </a:rPr>
                        <a:t>PROPUESTA</a:t>
                      </a:r>
                    </a:p>
                  </a:txBody>
                  <a:tcPr marT="36576" marB="36576">
                    <a:solidFill>
                      <a:srgbClr val="F3F4F6"/>
                    </a:solidFill>
                  </a:tcPr>
                </a:tc>
              </a:tr>
              <a:tr h="329184">
                <a:tc>
                  <a:txBody>
                    <a:bodyPr/>
                    <a:lstStyle/>
                    <a:p>
                      <a:r>
                        <a:rPr sz="1200" b="1" i="0">
                          <a:solidFill>
                            <a:srgbClr val="1F2937"/>
                          </a:solidFill>
                          <a:latin typeface="Calibri"/>
                        </a:rPr>
                        <a:t>INT-AST-10</a:t>
                      </a:r>
                    </a:p>
                  </a:txBody>
                  <a:tcPr marT="36576" marB="36576">
                    <a:solidFill>
                      <a:srgbClr val="FFFFFF"/>
                    </a:solidFill>
                  </a:tcPr>
                </a:tc>
                <a:tc>
                  <a:txBody>
                    <a:bodyPr/>
                    <a:lstStyle/>
                    <a:p>
                      <a:r>
                        <a:rPr sz="1200" b="0" i="0">
                          <a:solidFill>
                            <a:srgbClr val="1F2937"/>
                          </a:solidFill>
                          <a:latin typeface="Calibri"/>
                        </a:rPr>
                        <a:t>Láser contra un objeto que no es asteroide</a:t>
                      </a:r>
                    </a:p>
                  </a:txBody>
                  <a:tcPr marT="36576" marB="36576">
                    <a:solidFill>
                      <a:srgbClr val="FFFFFF"/>
                    </a:solidFill>
                  </a:tcPr>
                </a:tc>
                <a:tc>
                  <a:txBody>
                    <a:bodyPr/>
                    <a:lstStyle/>
                    <a:p>
                      <a:r>
                        <a:rPr sz="1200" b="0" i="0">
                          <a:solidFill>
                            <a:srgbClr val="1F2937"/>
                          </a:solidFill>
                          <a:latin typeface="Calibri"/>
                        </a:rPr>
                        <a:t>Negativo</a:t>
                      </a:r>
                    </a:p>
                  </a:txBody>
                  <a:tcPr marT="36576" marB="36576">
                    <a:solidFill>
                      <a:srgbClr val="FFFFFF"/>
                    </a:solidFill>
                  </a:tcPr>
                </a:tc>
                <a:tc>
                  <a:txBody>
                    <a:bodyPr/>
                    <a:lstStyle/>
                    <a:p>
                      <a:r>
                        <a:rPr sz="1200" b="0" i="0">
                          <a:solidFill>
                            <a:srgbClr val="1F2937"/>
                          </a:solidFill>
                          <a:latin typeface="Calibri"/>
                        </a:rPr>
                        <a:t>PROPUESTA</a:t>
                      </a:r>
                    </a:p>
                  </a:txBody>
                  <a:tcPr marT="36576" marB="36576">
                    <a:solidFill>
                      <a:srgbClr val="FFFFFF"/>
                    </a:solidFill>
                  </a:tcPr>
                </a:tc>
              </a:tr>
              <a:tr h="329184">
                <a:tc>
                  <a:txBody>
                    <a:bodyPr/>
                    <a:lstStyle/>
                    <a:p>
                      <a:r>
                        <a:rPr sz="1200" b="1" i="0">
                          <a:solidFill>
                            <a:srgbClr val="1F2937"/>
                          </a:solidFill>
                          <a:latin typeface="Calibri"/>
                        </a:rPr>
                        <a:t>INT-AST-11</a:t>
                      </a:r>
                    </a:p>
                  </a:txBody>
                  <a:tcPr marT="36576" marB="36576">
                    <a:solidFill>
                      <a:srgbClr val="F3F4F6"/>
                    </a:solidFill>
                  </a:tcPr>
                </a:tc>
                <a:tc>
                  <a:txBody>
                    <a:bodyPr/>
                    <a:lstStyle/>
                    <a:p>
                      <a:r>
                        <a:rPr sz="1200" b="0" i="0">
                          <a:solidFill>
                            <a:srgbClr val="1F2937"/>
                          </a:solidFill>
                          <a:latin typeface="Calibri"/>
                        </a:rPr>
                        <a:t>Choque entre asteroides no da Game Over</a:t>
                      </a:r>
                    </a:p>
                  </a:txBody>
                  <a:tcPr marT="36576" marB="36576">
                    <a:solidFill>
                      <a:srgbClr val="F3F4F6"/>
                    </a:solidFill>
                  </a:tcPr>
                </a:tc>
                <a:tc>
                  <a:txBody>
                    <a:bodyPr/>
                    <a:lstStyle/>
                    <a:p>
                      <a:r>
                        <a:rPr sz="1200" b="0" i="0">
                          <a:solidFill>
                            <a:srgbClr val="1F2937"/>
                          </a:solidFill>
                          <a:latin typeface="Calibri"/>
                        </a:rPr>
                        <a:t>Negativo</a:t>
                      </a:r>
                    </a:p>
                  </a:txBody>
                  <a:tcPr marT="36576" marB="36576">
                    <a:solidFill>
                      <a:srgbClr val="F3F4F6"/>
                    </a:solidFill>
                  </a:tcPr>
                </a:tc>
                <a:tc>
                  <a:txBody>
                    <a:bodyPr/>
                    <a:lstStyle/>
                    <a:p>
                      <a:r>
                        <a:rPr sz="1200" b="0" i="0">
                          <a:solidFill>
                            <a:srgbClr val="1F2937"/>
                          </a:solidFill>
                          <a:latin typeface="Calibri"/>
                        </a:rPr>
                        <a:t>PROPUESTA</a:t>
                      </a:r>
                    </a:p>
                  </a:txBody>
                  <a:tcPr marT="36576" marB="36576">
                    <a:solidFill>
                      <a:srgbClr val="F3F4F6"/>
                    </a:solidFill>
                  </a:tcPr>
                </a:tc>
              </a:tr>
              <a:tr h="329184">
                <a:tc>
                  <a:txBody>
                    <a:bodyPr/>
                    <a:lstStyle/>
                    <a:p>
                      <a:r>
                        <a:rPr sz="1200" b="1" i="0">
                          <a:solidFill>
                            <a:srgbClr val="1F2937"/>
                          </a:solidFill>
                          <a:latin typeface="Calibri"/>
                        </a:rPr>
                        <a:t>INT-AST-12</a:t>
                      </a:r>
                    </a:p>
                  </a:txBody>
                  <a:tcPr marT="36576" marB="36576">
                    <a:solidFill>
                      <a:srgbClr val="FFFFFF"/>
                    </a:solidFill>
                  </a:tcPr>
                </a:tc>
                <a:tc>
                  <a:txBody>
                    <a:bodyPr/>
                    <a:lstStyle/>
                    <a:p>
                      <a:r>
                        <a:rPr sz="1200" b="0" i="0">
                          <a:solidFill>
                            <a:srgbClr val="1F2937"/>
                          </a:solidFill>
                          <a:latin typeface="Calibri"/>
                        </a:rPr>
                        <a:t>Asteroide que cruza y = −5</a:t>
                      </a:r>
                    </a:p>
                  </a:txBody>
                  <a:tcPr marT="36576" marB="36576">
                    <a:solidFill>
                      <a:srgbClr val="FFFFFF"/>
                    </a:solidFill>
                  </a:tcPr>
                </a:tc>
                <a:tc>
                  <a:txBody>
                    <a:bodyPr/>
                    <a:lstStyle/>
                    <a:p>
                      <a:r>
                        <a:rPr sz="1200" b="0" i="0">
                          <a:solidFill>
                            <a:srgbClr val="1F2937"/>
                          </a:solidFill>
                          <a:latin typeface="Calibri"/>
                        </a:rPr>
                        <a:t>Borde · valor</a:t>
                      </a:r>
                    </a:p>
                  </a:txBody>
                  <a:tcPr marT="36576" marB="36576">
                    <a:solidFill>
                      <a:srgbClr val="FFFFFF"/>
                    </a:solidFill>
                  </a:tcPr>
                </a:tc>
                <a:tc>
                  <a:txBody>
                    <a:bodyPr/>
                    <a:lstStyle/>
                    <a:p>
                      <a:r>
                        <a:rPr sz="1200" b="0" i="0">
                          <a:solidFill>
                            <a:srgbClr val="1F2937"/>
                          </a:solidFill>
                          <a:latin typeface="Calibri"/>
                        </a:rPr>
                        <a:t>PROPUESTA</a:t>
                      </a:r>
                    </a:p>
                  </a:txBody>
                  <a:tcPr marT="36576" marB="36576">
                    <a:solidFill>
                      <a:srgbClr val="FFFFFF"/>
                    </a:solidFill>
                  </a:tcPr>
                </a:tc>
              </a:tr>
              <a:tr h="329184">
                <a:tc>
                  <a:txBody>
                    <a:bodyPr/>
                    <a:lstStyle/>
                    <a:p>
                      <a:r>
                        <a:rPr sz="1200" b="1" i="0">
                          <a:solidFill>
                            <a:srgbClr val="1F2937"/>
                          </a:solidFill>
                          <a:latin typeface="Calibri"/>
                        </a:rPr>
                        <a:t>INT-AST-13</a:t>
                      </a:r>
                    </a:p>
                  </a:txBody>
                  <a:tcPr marT="36576" marB="36576">
                    <a:solidFill>
                      <a:srgbClr val="F3F4F6"/>
                    </a:solidFill>
                  </a:tcPr>
                </a:tc>
                <a:tc>
                  <a:txBody>
                    <a:bodyPr/>
                    <a:lstStyle/>
                    <a:p>
                      <a:r>
                        <a:rPr sz="1200" b="0" i="0">
                          <a:solidFill>
                            <a:srgbClr val="1F2937"/>
                          </a:solidFill>
                          <a:latin typeface="Calibri"/>
                        </a:rPr>
                        <a:t>Dos láseres contra el mismo asteroide</a:t>
                      </a:r>
                    </a:p>
                  </a:txBody>
                  <a:tcPr marT="36576" marB="36576">
                    <a:solidFill>
                      <a:srgbClr val="F3F4F6"/>
                    </a:solidFill>
                  </a:tcPr>
                </a:tc>
                <a:tc>
                  <a:txBody>
                    <a:bodyPr/>
                    <a:lstStyle/>
                    <a:p>
                      <a:r>
                        <a:rPr sz="1200" b="0" i="0">
                          <a:solidFill>
                            <a:srgbClr val="1F2937"/>
                          </a:solidFill>
                          <a:latin typeface="Calibri"/>
                        </a:rPr>
                        <a:t>Borde · simultaneidad</a:t>
                      </a:r>
                    </a:p>
                  </a:txBody>
                  <a:tcPr marT="36576" marB="36576">
                    <a:solidFill>
                      <a:srgbClr val="F3F4F6"/>
                    </a:solidFill>
                  </a:tcPr>
                </a:tc>
                <a:tc>
                  <a:txBody>
                    <a:bodyPr/>
                    <a:lstStyle/>
                    <a:p>
                      <a:r>
                        <a:rPr sz="1200" b="0" i="0">
                          <a:solidFill>
                            <a:srgbClr val="1F2937"/>
                          </a:solidFill>
                          <a:latin typeface="Calibri"/>
                        </a:rPr>
                        <a:t>HIPÓTESIS</a:t>
                      </a:r>
                    </a:p>
                  </a:txBody>
                  <a:tcPr marT="36576" marB="36576">
                    <a:solidFill>
                      <a:srgbClr val="F3F4F6"/>
                    </a:solidFill>
                  </a:tcPr>
                </a:tc>
              </a:tr>
              <a:tr h="329184">
                <a:tc>
                  <a:txBody>
                    <a:bodyPr/>
                    <a:lstStyle/>
                    <a:p>
                      <a:r>
                        <a:rPr sz="1200" b="1" i="0">
                          <a:solidFill>
                            <a:srgbClr val="1F2937"/>
                          </a:solidFill>
                          <a:latin typeface="Calibri"/>
                        </a:rPr>
                        <a:t>INT-AST-14</a:t>
                      </a:r>
                    </a:p>
                  </a:txBody>
                  <a:tcPr marT="36576" marB="36576">
                    <a:solidFill>
                      <a:srgbClr val="FFFFFF"/>
                    </a:solidFill>
                  </a:tcPr>
                </a:tc>
                <a:tc>
                  <a:txBody>
                    <a:bodyPr/>
                    <a:lstStyle/>
                    <a:p>
                      <a:r>
                        <a:rPr sz="1200" b="0" i="0">
                          <a:solidFill>
                            <a:srgbClr val="1F2937"/>
                          </a:solidFill>
                          <a:latin typeface="Calibri"/>
                        </a:rPr>
                        <a:t>NewGame elimina los asteroides previos</a:t>
                      </a:r>
                    </a:p>
                  </a:txBody>
                  <a:tcPr marT="36576" marB="36576">
                    <a:solidFill>
                      <a:srgbClr val="FFFFFF"/>
                    </a:solidFill>
                  </a:tcPr>
                </a:tc>
                <a:tc>
                  <a:txBody>
                    <a:bodyPr/>
                    <a:lstStyle/>
                    <a:p>
                      <a:r>
                        <a:rPr sz="1200" b="0" i="0">
                          <a:solidFill>
                            <a:srgbClr val="1F2937"/>
                          </a:solidFill>
                          <a:latin typeface="Calibri"/>
                        </a:rPr>
                        <a:t>Regresión</a:t>
                      </a:r>
                    </a:p>
                  </a:txBody>
                  <a:tcPr marT="36576" marB="36576">
                    <a:solidFill>
                      <a:srgbClr val="FFFFFF"/>
                    </a:solidFill>
                  </a:tcPr>
                </a:tc>
                <a:tc>
                  <a:txBody>
                    <a:bodyPr/>
                    <a:lstStyle/>
                    <a:p>
                      <a:r>
                        <a:rPr sz="1200" b="0" i="0">
                          <a:solidFill>
                            <a:srgbClr val="1F2937"/>
                          </a:solidFill>
                          <a:latin typeface="Calibri"/>
                        </a:rPr>
                        <a:t>HIPÓTESIS de fallo</a:t>
                      </a:r>
                    </a:p>
                  </a:txBody>
                  <a:tcPr marT="36576" marB="36576">
                    <a:solidFill>
                      <a:srgbClr val="FFFFFF"/>
                    </a:solidFill>
                  </a:tcPr>
                </a:tc>
              </a:tr>
              <a:tr h="329184">
                <a:tc>
                  <a:txBody>
                    <a:bodyPr/>
                    <a:lstStyle/>
                    <a:p>
                      <a:r>
                        <a:rPr sz="1200" b="1" i="0">
                          <a:solidFill>
                            <a:srgbClr val="1F2937"/>
                          </a:solidFill>
                          <a:latin typeface="Calibri"/>
                        </a:rPr>
                        <a:t>INT-AST-15</a:t>
                      </a:r>
                    </a:p>
                  </a:txBody>
                  <a:tcPr marT="36576" marB="36576">
                    <a:solidFill>
                      <a:srgbClr val="F3F4F6"/>
                    </a:solidFill>
                  </a:tcPr>
                </a:tc>
                <a:tc>
                  <a:txBody>
                    <a:bodyPr/>
                    <a:lstStyle/>
                    <a:p>
                      <a:r>
                        <a:rPr sz="1200" b="0" i="0">
                          <a:solidFill>
                            <a:srgbClr val="1F2937"/>
                          </a:solidFill>
                          <a:latin typeface="Calibri"/>
                        </a:rPr>
                        <a:t>NewGame dos veces seguidas</a:t>
                      </a:r>
                    </a:p>
                  </a:txBody>
                  <a:tcPr marT="36576" marB="36576">
                    <a:solidFill>
                      <a:srgbClr val="F3F4F6"/>
                    </a:solidFill>
                  </a:tcPr>
                </a:tc>
                <a:tc>
                  <a:txBody>
                    <a:bodyPr/>
                    <a:lstStyle/>
                    <a:p>
                      <a:r>
                        <a:rPr sz="1200" b="0" i="0">
                          <a:solidFill>
                            <a:srgbClr val="1F2937"/>
                          </a:solidFill>
                          <a:latin typeface="Calibri"/>
                        </a:rPr>
                        <a:t>Borde · repetición</a:t>
                      </a:r>
                    </a:p>
                  </a:txBody>
                  <a:tcPr marT="36576" marB="36576">
                    <a:solidFill>
                      <a:srgbClr val="F3F4F6"/>
                    </a:solidFill>
                  </a:tcPr>
                </a:tc>
                <a:tc>
                  <a:txBody>
                    <a:bodyPr/>
                    <a:lstStyle/>
                    <a:p>
                      <a:r>
                        <a:rPr sz="1200" b="0" i="0">
                          <a:solidFill>
                            <a:srgbClr val="1F2937"/>
                          </a:solidFill>
                          <a:latin typeface="Calibri"/>
                        </a:rPr>
                        <a:t>HIPÓTESIS</a:t>
                      </a:r>
                    </a:p>
                  </a:txBody>
                  <a:tcPr marT="36576" marB="36576">
                    <a:solidFill>
                      <a:srgbClr val="F3F4F6"/>
                    </a:solidFill>
                  </a:tcPr>
                </a:tc>
              </a:tr>
              <a:tr h="329184">
                <a:tc>
                  <a:txBody>
                    <a:bodyPr/>
                    <a:lstStyle/>
                    <a:p>
                      <a:r>
                        <a:rPr sz="1200" b="1" i="0">
                          <a:solidFill>
                            <a:srgbClr val="1F2937"/>
                          </a:solidFill>
                          <a:latin typeface="Calibri"/>
                        </a:rPr>
                        <a:t>INT-AST-16</a:t>
                      </a:r>
                    </a:p>
                  </a:txBody>
                  <a:tcPr marT="36576" marB="36576">
                    <a:solidFill>
                      <a:srgbClr val="FFFFFF"/>
                    </a:solidFill>
                  </a:tcPr>
                </a:tc>
                <a:tc>
                  <a:txBody>
                    <a:bodyPr/>
                    <a:lstStyle/>
                    <a:p>
                      <a:r>
                        <a:rPr sz="1200" b="0" i="0">
                          <a:solidFill>
                            <a:srgbClr val="1F2937"/>
                          </a:solidFill>
                          <a:latin typeface="Calibri"/>
                        </a:rPr>
                        <a:t>Cooldown de disparo con tecla mantenida</a:t>
                      </a:r>
                    </a:p>
                  </a:txBody>
                  <a:tcPr marT="36576" marB="36576">
                    <a:solidFill>
                      <a:srgbClr val="FFFFFF"/>
                    </a:solidFill>
                  </a:tcPr>
                </a:tc>
                <a:tc>
                  <a:txBody>
                    <a:bodyPr/>
                    <a:lstStyle/>
                    <a:p>
                      <a:r>
                        <a:rPr sz="1200" b="0" i="0">
                          <a:solidFill>
                            <a:srgbClr val="1F2937"/>
                          </a:solidFill>
                          <a:latin typeface="Calibri"/>
                        </a:rPr>
                        <a:t>Dependencia de entrada</a:t>
                      </a:r>
                    </a:p>
                  </a:txBody>
                  <a:tcPr marT="36576" marB="36576">
                    <a:solidFill>
                      <a:srgbClr val="FFFFFF"/>
                    </a:solidFill>
                  </a:tcPr>
                </a:tc>
                <a:tc>
                  <a:txBody>
                    <a:bodyPr/>
                    <a:lstStyle/>
                    <a:p>
                      <a:r>
                        <a:rPr sz="1200" b="0" i="0">
                          <a:solidFill>
                            <a:srgbClr val="1F2937"/>
                          </a:solidFill>
                          <a:latin typeface="Calibri"/>
                        </a:rPr>
                        <a:t>PROPUESTA (refactor)</a:t>
                      </a:r>
                    </a:p>
                  </a:txBody>
                  <a:tcPr marT="36576" marB="36576">
                    <a:solidFill>
                      <a:srgbClr val="FFFFFF"/>
                    </a:solidFill>
                  </a:tcPr>
                </a:tc>
              </a:tr>
            </a:tbl>
          </a:graphicData>
        </a:graphic>
      </p:graphicFrame>
      <p:sp>
        <p:nvSpPr>
          <p:cNvPr id="7" name="Rectangle 6"/>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PROPUESTA: no existe en el proyecto. HIPÓTESIS: resultado predicho leyendo el código, sin ejecutar.</a:t>
            </a:r>
          </a:p>
        </p:txBody>
      </p:sp>
      <p:sp>
        <p:nvSpPr>
          <p:cNvPr id="9" name="TextBox 8"/>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0" name="TextBox 9"/>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26/27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27</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CONTENIDO RESERVADO</a:t>
            </a:r>
          </a:p>
          <a:p>
            <a:r>
              <a:rPr sz="2600" b="1" i="0">
                <a:solidFill>
                  <a:srgbClr val="FFFFFF"/>
                </a:solidFill>
                <a:latin typeface="Calibri"/>
              </a:rPr>
              <a:t>Anexo · Para una clase futura</a:t>
            </a:r>
          </a:p>
        </p:txBody>
      </p:sp>
      <p:sp>
        <p:nvSpPr>
          <p:cNvPr id="6" name="Rectangle 5"/>
          <p:cNvSpPr/>
          <p:nvPr/>
        </p:nvSpPr>
        <p:spPr>
          <a:xfrm>
            <a:off x="502920" y="1280160"/>
            <a:ext cx="5432907" cy="457200"/>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80160"/>
            <a:ext cx="5432907" cy="457200"/>
          </a:xfrm>
          <a:prstGeom prst="rect">
            <a:avLst/>
          </a:prstGeom>
          <a:noFill/>
        </p:spPr>
        <p:txBody>
          <a:bodyPr wrap="square" anchor="ctr" lIns="0" rIns="0" tIns="0" bIns="0">
            <a:spAutoFit/>
          </a:bodyPr>
          <a:lstStyle/>
          <a:p>
            <a:pPr algn="ctr"/>
            <a:r>
              <a:rPr sz="1600" b="1" i="0">
                <a:solidFill>
                  <a:srgbClr val="FFFFFF"/>
                </a:solidFill>
                <a:latin typeface="Calibri"/>
              </a:rPr>
              <a:t>Técnicas</a:t>
            </a:r>
          </a:p>
        </p:txBody>
      </p:sp>
      <p:sp>
        <p:nvSpPr>
          <p:cNvPr id="8" name="TextBox 7"/>
          <p:cNvSpPr txBox="1"/>
          <p:nvPr/>
        </p:nvSpPr>
        <p:spPr>
          <a:xfrm>
            <a:off x="502920" y="1874520"/>
            <a:ext cx="5432907" cy="2032635"/>
          </a:xfrm>
          <a:prstGeom prst="rect">
            <a:avLst/>
          </a:prstGeom>
          <a:noFill/>
        </p:spPr>
        <p:txBody>
          <a:bodyPr wrap="square" anchor="t" lIns="0" rIns="0" tIns="0" bIns="0">
            <a:spAutoFit/>
          </a:bodyPr>
          <a:lstStyle/>
          <a:p>
            <a:pPr>
              <a:spcAft>
                <a:spcPts val="600"/>
              </a:spcAft>
            </a:pPr>
            <a:r>
              <a:rPr sz="1100" b="1" i="0">
                <a:solidFill>
                  <a:srgbClr val="0D9488"/>
                </a:solidFill>
                <a:latin typeface="Calibri"/>
              </a:rPr>
              <a:t>■  </a:t>
            </a:r>
            <a:r>
              <a:rPr sz="1500" b="0" i="0">
                <a:solidFill>
                  <a:srgbClr val="1F2937"/>
                </a:solidFill>
                <a:latin typeface="Calibri"/>
              </a:rPr>
              <a:t>Integración con sistemas externos: guardado del récord, tabla online</a:t>
            </a:r>
          </a:p>
          <a:p>
            <a:pPr>
              <a:spcAft>
                <a:spcPts val="600"/>
              </a:spcAft>
            </a:pPr>
            <a:r>
              <a:rPr sz="1100" b="1" i="0">
                <a:solidFill>
                  <a:srgbClr val="0D9488"/>
                </a:solidFill>
                <a:latin typeface="Calibri"/>
              </a:rPr>
              <a:t>■  </a:t>
            </a:r>
            <a:r>
              <a:rPr sz="1500" b="0" i="0">
                <a:solidFill>
                  <a:srgbClr val="1F2937"/>
                </a:solidFill>
                <a:latin typeface="Calibri"/>
              </a:rPr>
              <a:t>Input System + InputTestFixture para simular teclado y táctil</a:t>
            </a:r>
          </a:p>
          <a:p>
            <a:pPr>
              <a:spcAft>
                <a:spcPts val="600"/>
              </a:spcAft>
            </a:pPr>
            <a:r>
              <a:rPr sz="1100" b="1" i="0">
                <a:solidFill>
                  <a:srgbClr val="0D9488"/>
                </a:solidFill>
                <a:latin typeface="Calibri"/>
              </a:rPr>
              <a:t>■  </a:t>
            </a:r>
            <a:r>
              <a:rPr sz="1500" b="0" i="0">
                <a:solidFill>
                  <a:srgbClr val="1F2937"/>
                </a:solidFill>
                <a:latin typeface="Calibri"/>
              </a:rPr>
              <a:t>Tests parametrizados ([TestCase], [ValueSource]) para bordes</a:t>
            </a:r>
          </a:p>
          <a:p>
            <a:pPr>
              <a:spcAft>
                <a:spcPts val="600"/>
              </a:spcAft>
            </a:pPr>
            <a:r>
              <a:rPr sz="1100" b="1" i="0">
                <a:solidFill>
                  <a:srgbClr val="0D9488"/>
                </a:solidFill>
                <a:latin typeface="Calibri"/>
              </a:rPr>
              <a:t>■  </a:t>
            </a:r>
            <a:r>
              <a:rPr sz="1500" b="0" i="0">
                <a:solidFill>
                  <a:srgbClr val="1F2937"/>
                </a:solidFill>
                <a:latin typeface="Calibri"/>
              </a:rPr>
              <a:t>LogAssert para esperar o prohibir mensajes en el log</a:t>
            </a:r>
          </a:p>
        </p:txBody>
      </p:sp>
      <p:sp>
        <p:nvSpPr>
          <p:cNvPr id="9" name="Rectangle 8"/>
          <p:cNvSpPr/>
          <p:nvPr/>
        </p:nvSpPr>
        <p:spPr>
          <a:xfrm>
            <a:off x="6255867" y="1280160"/>
            <a:ext cx="5432907"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55867" y="1280160"/>
            <a:ext cx="5432907" cy="457200"/>
          </a:xfrm>
          <a:prstGeom prst="rect">
            <a:avLst/>
          </a:prstGeom>
          <a:noFill/>
        </p:spPr>
        <p:txBody>
          <a:bodyPr wrap="square" anchor="ctr" lIns="0" rIns="0" tIns="0" bIns="0">
            <a:spAutoFit/>
          </a:bodyPr>
          <a:lstStyle/>
          <a:p>
            <a:pPr algn="ctr"/>
            <a:r>
              <a:rPr sz="1600" b="1" i="0">
                <a:solidFill>
                  <a:srgbClr val="FFFFFF"/>
                </a:solidFill>
                <a:latin typeface="Calibri"/>
              </a:rPr>
              <a:t>Proceso</a:t>
            </a:r>
          </a:p>
        </p:txBody>
      </p:sp>
      <p:sp>
        <p:nvSpPr>
          <p:cNvPr id="11" name="TextBox 10"/>
          <p:cNvSpPr txBox="1"/>
          <p:nvPr/>
        </p:nvSpPr>
        <p:spPr>
          <a:xfrm>
            <a:off x="6255867" y="1874520"/>
            <a:ext cx="5432907" cy="1556385"/>
          </a:xfrm>
          <a:prstGeom prst="rect">
            <a:avLst/>
          </a:prstGeom>
          <a:noFill/>
        </p:spPr>
        <p:txBody>
          <a:bodyPr wrap="square" anchor="t" lIns="0" rIns="0" tIns="0" bIns="0">
            <a:spAutoFit/>
          </a:bodyPr>
          <a:lstStyle/>
          <a:p>
            <a:pPr>
              <a:spcAft>
                <a:spcPts val="600"/>
              </a:spcAft>
            </a:pPr>
            <a:r>
              <a:rPr sz="1100" b="1" i="0">
                <a:solidFill>
                  <a:srgbClr val="0D9488"/>
                </a:solidFill>
                <a:latin typeface="Calibri"/>
              </a:rPr>
              <a:t>■  </a:t>
            </a:r>
            <a:r>
              <a:rPr sz="1500" b="0" i="0">
                <a:solidFill>
                  <a:srgbClr val="1F2937"/>
                </a:solidFill>
                <a:latin typeface="Calibri"/>
              </a:rPr>
              <a:t>Ejecución en batchmode y CI (tests en cada push)</a:t>
            </a:r>
          </a:p>
          <a:p>
            <a:pPr>
              <a:spcAft>
                <a:spcPts val="600"/>
              </a:spcAft>
            </a:pPr>
            <a:r>
              <a:rPr sz="1100" b="1" i="0">
                <a:solidFill>
                  <a:srgbClr val="0D9488"/>
                </a:solidFill>
                <a:latin typeface="Calibri"/>
              </a:rPr>
              <a:t>■  </a:t>
            </a:r>
            <a:r>
              <a:rPr sz="1500" b="0" i="0">
                <a:solidFill>
                  <a:srgbClr val="1F2937"/>
                </a:solidFill>
                <a:latin typeface="Calibri"/>
              </a:rPr>
              <a:t>Cobertura de ramas y umbrales mínimos</a:t>
            </a:r>
          </a:p>
          <a:p>
            <a:pPr>
              <a:spcAft>
                <a:spcPts val="600"/>
              </a:spcAft>
            </a:pPr>
            <a:r>
              <a:rPr sz="1100" b="1" i="0">
                <a:solidFill>
                  <a:srgbClr val="0D9488"/>
                </a:solidFill>
                <a:latin typeface="Calibri"/>
              </a:rPr>
              <a:t>■  </a:t>
            </a:r>
            <a:r>
              <a:rPr sz="1500" b="0" i="0">
                <a:solidFill>
                  <a:srgbClr val="1F2937"/>
                </a:solidFill>
                <a:latin typeface="Calibri"/>
              </a:rPr>
              <a:t>Tests de rendimiento (Performance Testing)</a:t>
            </a:r>
          </a:p>
          <a:p>
            <a:pPr>
              <a:spcAft>
                <a:spcPts val="600"/>
              </a:spcAft>
            </a:pPr>
            <a:r>
              <a:rPr sz="1100" b="1" i="0">
                <a:solidFill>
                  <a:srgbClr val="0D9488"/>
                </a:solidFill>
                <a:latin typeface="Calibri"/>
              </a:rPr>
              <a:t>■  </a:t>
            </a:r>
            <a:r>
              <a:rPr sz="1500" b="0" i="0">
                <a:solidFill>
                  <a:srgbClr val="1F2937"/>
                </a:solidFill>
                <a:latin typeface="Calibri"/>
              </a:rPr>
              <a:t>Relación con la plataforma: la misma suite en PC y en móvil</a:t>
            </a:r>
          </a:p>
        </p:txBody>
      </p:sp>
      <p:sp>
        <p:nvSpPr>
          <p:cNvPr id="12" name="TextBox 11"/>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3" name="TextBox 12"/>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