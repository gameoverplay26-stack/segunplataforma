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Portada. Misma base que la clase anterior: el proyecto nave + asteroides y su TestSuite de 7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min. Ya se trabajó en la clase anterior: niveles vs. tipos, Play Mode ≠ integración, clasificación de estos 7 tests, el hueco del HUD (score vs. scoreText) y las esperas fijas. NO repetir: se usa como punto de partida. Huecos que abre esta clase: (1) no hay negativos ni bordes; (2) 03 parte de un Game Over falso (isGameOver = true a mano); (3) los tests no limpian asteroides ni láseres; (4) nada ejercita la entrada del jugador.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objetivos siguen el orden de los cuatro bloques de la clase.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Proporción: ~31 % teoría, ~14 % demostración, ~38 % práctica, ~17 % resolución. Las resoluciones se hacen en plenario inmediatamente después de cada actividad.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min. Las cuatro preguntas son el mapa de la clase: 1 → Actividad 3 (INT-AST-14); 2 → Actividad 2 (INT-AST-13); 3 → Actividad 1 (INT-AST-11); 4 → Bloque 4 (cobertura). Datos reales: la suite de 7 tests se ejecutó en batchmode el 28/09/2026 (7/7 PASS) con cobertura en una carpeta limpia.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 min. Retoma partición de equivalencia y valores frontera (Unidad I) pero aplicados a interacciones entre componentes, no a un método aislado. Aclarar el error frecuente: 'caso negativo' no significa 'test que tiene que fallar'.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 min + demo. Demo sugerida (4 min): en el Editor, pausar y avanzar frame a frame (Step) mientras dos láseres llegan a un asteroide, para mostrar que ambos OnCollisionEnter ocurren antes de que Destroy se haga efectivo al final del frame.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es el formato de ficha que usarán en las actividades (8 campos). En el juego real los asteroides aparecen en x aleatoria entre −8 y 8 (Spawner.cs 101–107), así que el choque entre asteroides es posible. Verificado en los prefabs (rama activity-r-player-health): Asteroid, Asteroid2, Asteroid3 y Asteroid4 tienen Rigidbody dinámico sin gravedad y BoxCollider que no es trigger, así que el choque entre asteroides genera OnCollisionEnter.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Objetivo: diseñar casos positivos y negativos sin duplicar la suite. Resultado esperado: 6 fichas completas. Discusión: ¿un caso negativo necesita datos de prueba especiales? ¿qué positivo nuevo aporta más que otro assert en un test existente? Resolución en la diapositiva siguiente.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min. Puntos de discusión: (1) el flujo B ya tiene positivos (02 y 04): aceptar que un grupo proponga 'GameOver muestra el texto de Game Over' (gameOverText, Game.cs 64) como positivo válido; (2) INT-AST-08 reemplaza con ventaja a 03, que simula el Game Over poniendo isGameOver = true a mano: un estado que el juego nunca produce así; (3) INT-AST-10 necesita un objeto de prueba (un cubo con collider) que no existe en el juego: primer ejemplo de dato de prueba artificial. Verificado: el prefab Laser tiene Rigidbody dinámico y BoxCollider, así que un cubo con solo un collider alcanza para que ocurra OnCollisionEnter.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Objetivo: aplicar valores frontera a interacciones. Resultado esperado: 5 filas con valores concretos y al menos 2 filas marcadas ⚠. Discusión: diferencia entre un borde con respuesta en el código (y = −5) y uno que requiere decisión de diseño (un láser contra dos asteroides).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min. Las filas ⚠ no se resuelven por inferencia: se registran como pregunta al diseño y el caso queda pendiente hasta tener respuesta. Resultados reales (Unity 6000.3.11f1, batchmode, 28/09/2026, Assets/Tests/IntegrationHypothesesTests.cs). INT-AST-13: FAIL con «Unhandled log message: InvalidOperationException: Trying to release an object that has already been released to the pool», lanzada en Laser.cs:52; en una corrida de diagnóstico que ignoraba ese error, el score quedó en 2. Causa: los dos OnCollisionEnter corren antes de que Destroy se haga efectivo. INT-AST-15: con una llamada a NewGame aparecen 5 asteroides en 2,1 s; con dos llamadas seguidas, 8 (nave alejada para evitar un Game Over que detendría el spawner). Causa: StartCoroutine sobre el mismo IEnumerator (Spawner.cs 49–62).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 min. Idea clave: aislamiento = cada test puede correr solo y en cualquier orden con el mismo resultado. Los tres problemas son reales en el código; su efecto concreto depende del orden de ejecución (ver la diapositiva de tests frágiles).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de 5 min comparando con TestSuite.cs 40–51. [UnitySetUp] y [UnityTearDown] son atributos del Unity Test Framework que permiten usar yield. FindObjectsByType por defecto ignora objetos inactivos: la plantilla inactiva del láser, si está dentro del prefab, no se toca. Evidencia: una limpieza equivalente se usa en Assets/Tests/IntegrationHypothesesTests.cs y corrió en batchmode el 28/09/2026. La parte de Random.InitState no se ejecutó: su estado es UNKNOWN.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 min. Ejemplo concreto (depende del orden, no confirmado ejecutando): el test 04 (TestSuite.cs 88–115) compara la cantidad de asteroides antes y después de esperar 0,5 s. Si un asteroide sobrante de un test anterior cae por debajo de y = −5 durante esa espera, el conteo baja y el test FALLA aunque el spawner se haya detenido → falso positivo. Al revés: si el spawner NO se detuvo pero en ese lapso uno sobrante se autodestruye, los conteos pueden coincidir y el test PASA → falso negativo. Fuente: martinfowler.com/articles/nonDeterminism.html.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Detalle Unity: un GameObject destruido no es null de C#, pero «== null» devuelve true por la sobrecarga de UnityEngine.Object. NUnit Assert.IsNull(obj) puede no detectarlo; por eso Assert.IsTrue(obj == null).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salida es REAL: Unity 6000.3.11f1 en batchmode, 28/09/2026, test en Assets/Tests/IntegrationHypothesesTests.cs. La primera línea (yield return null) es necesaria: sin ella, Game.GameOver() se ejecuta antes de que Start() asigne Game.instance. Objetivo: practicar el análisis de causa raíz de un fallo de integración. Resultado esperado: una cadena causal con archivo y líneas, más un ticket. Discusión: ¿cómo sabemos que el resultado esperado es correcto? (ver resolución).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min. Confirmado ejecutando (FAIL, Expected True / But was False). (1) ¿Juego o test? El test está bien construido: el asteroide está lejos de la nave, el spawner automático recién crea uno nuevo a los 0,4 s y se espera 1 frame. El nombre ClearAsteroids sugiere la intención, pero NO inferir el requisito: confirmarlo con diseño. Si el diseño dijera que los asteroides deben seguir cayendo, el que está mal es el test. (2) Causa: el pool se construye con SpawnAsteroid como función de creación (Spawner.cs 52–53) pero nunca se llama a Get(); SpawnAsteroid se usa directo. Laser.cs 52 hace Release de objetos que nunca se pidieron al pool. (3) Impacto: con un reinicio rápido, un asteroide viejo puede chocar la nave en (0,0,0) → Game Over inmediato. (4) Ticket con pasos, esperado/actual y evidencia (salida del test). (5) Regresión: el test queda en rojo hasta el arreglo y luego protege contra la reaparición del defecto.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 min. Advertencia: con demasiados dobles, el test deja de ser de integración y se vuelve unitario. Dependencias reales del proyecto y su estrategia: Input (Ship.cs 61–71) → reemplazar o evitar; Random (Spawner.cs 75, 103) → controlar con semilla, sin doble; tiempo (corrutinas de 0,4 s) → esperar por condición; física → WaitForFixedUpdate; estado estático (Game.instance) → fixture. El proyecto no tiene sistemas externos (red, archivos, tiendas): ese tema queda para una clase futura. Fuente: martinfowler.com/bliki/TestDouble.html.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min de demo del problema + discusión. Conecta con la clase de plataformas: la misma separación de la entrada que permite portar a móvil permite testear la regla. Verificado en Packages/manifest.json: el proyecto NO tiene el paquete Input System. No instalarlo sin autorización. En el reporte regenerado, Ship.cs 61–74 no se ejecuta: durante los frames de los tests la nave está «muerta» (isDead empieza en true y solo RepairShip lo cambia), así que Update sale en la línea 57.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min + 3 de demo abriendo el reporte. Reporte VIEJO (Asteroides/asteroide-final/CodeCoverage): 'MultiReportParser (6x OpenCoverParser)', 3 carpetas de resultados (cada corrida genera 2 XML), incluye el assembly de tests y reporta 644 líneas coverables sobre 616 totales; su vista línea por línea corresponde a una corrida con un solo test. Reporte REGENERADO (Unity 6000.3.11f1, batchmode, 28/09/2026, -testFilter TestSuite, assemblyFilters:+GameAssembly, carpeta limpia fuera del repo): 7/7 PASS; 137 de 186 líneas (73,6 %); 27 de 31 métodos (87 %); Asteroid 84,2 %, Game 100 %, Laser 81,2 %, Ship 43 %, Spawner 86,9 %. Sin cubrir: Ship 61–74 (la nave está muerta durante los frames de los tests), Ship 99–115 (MoveLeft/MoveRight), Asteroid 48 (destrucción bajo y = −5), Spawner 69 (spawn automático), Laser 42 (láser fuera de pantalla). Game.cs 85 figura cubierta (2 visitas, tests 06 y 07) aunque ningún assert la verifica. Paquete: Code Coverage 1.3 (docs.unity3d.com/Packages/com.unity.testtools.codecoverage@1.3).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min. Un test de regresión que nunca se vio en rojo no demuestra que detecta el defecto: por eso primero se lo ve fallar.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Objetivo: priorizar y organizar, no escribir código. Resultado esperado: una tabla de ≤12 tests con justificación. Discusión: ¿fusionar dos tests mejora o empeora el diagnóstico cuando uno falla? ¿Qué se corre en cada commit y qué de noche?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min. Suite final: 11 tests. Justificaciones: 03 simula un Game Over que el juego no produce y 08 lo cubre con el flujo real; 07 queda absorbido por 09, que verifica el puntaje y el texto (contra: si falla 09 hay que mirar el mensaje del Assert para saber cuál de los dos falló); 01 y 05 verifican el movimiento de un componente: pueden ir a una carpeta de tests por componente. 13, 14 y 15 ya se ejecutaron y FALLAN: quedan en rojo como tests de regresión hasta que se corrijan los defectos. Criterio de independencia: cada test debe poder correr solo y en cualquier orden.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min. Si sobra tiempo: ¿qué test de la suite actual les da menos confianza y por qué?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Resultados de 13–15: 13 → excepción en Laser.cs:52 y score 2; 14 → el asteroide previo sobrevive; 15 → 8 asteroides con doble NewGame contra 5 con uno.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Referencias verificadas (versiones del proyecto: Test Framework 1.6.0, Code Coverage 1.3.0): Unity Test Framework (docs.unity3d.com/Packages/com.unity.test-framework@1.6), Input System Testing (docs.unity3d.com/Packages/com.unity.inputsystem@1.11/manual/Testing.html), LogAssert (docs.unity3d.com/Packages/com.unity.test-framework@1.4/api/UnityEngine.TestTools.LogAssert.html), ObjectPool (docs.unity3d.com/ScriptReference/Pool.ObjectPool_1.html).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381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9CC9C5"/>
                </a:solidFill>
                <a:latin typeface="Calibri"/>
              </a:rPr>
              <a:t>CONTINUACIÓN DE «TESTING DE INTEGRACIÓN»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40280"/>
            <a:ext cx="10332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Testing de integración 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2044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D1D5DB"/>
                </a:solidFill>
                <a:latin typeface="Calibri"/>
              </a:rPr>
              <a:t>De 7 tests a una estrategia · Diseño según Plataformas de Juego · 120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38912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9CC9C5"/>
                </a:solidFill>
                <a:latin typeface="Calibri"/>
              </a:rPr>
              <a:t>Ing. Elsa Daniela Ramírez · FI – UNJu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Diseño según Plataformas de Juego · Testing de integración II · Hilo conductor: nave + asteroides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1/27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219456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09728"/>
            <a:ext cx="88696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1" i="0">
                <a:solidFill>
                  <a:srgbClr val="9CC9C5"/>
                </a:solidFill>
                <a:latin typeface="Calibri"/>
              </a:rPr>
              <a:t>DIAGNÓSTICO · CLASE ANTERIOR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Dónde quedamos: la suite actual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185853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7863"/>
                <a:gridCol w="4350054"/>
                <a:gridCol w="4453627"/>
                <a:gridCol w="1864309"/>
              </a:tblGrid>
              <a:tr h="329184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Test (TestSuite.cs)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Flujo que cubre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Tipo de caso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F2937"/>
                          </a:solidFill>
                          <a:latin typeface="Calibri"/>
                        </a:rPr>
                        <a:t>01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AsteroidsMoveDown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El asteroide se desplaza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Positivo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F2937"/>
                          </a:solidFill>
                          <a:latin typeface="Calibri"/>
                        </a:rPr>
                        <a:t>02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GameOverOccursOnAsteroidCollision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Asteroide + nave → Game Over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Positivo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F2937"/>
                          </a:solidFill>
                          <a:latin typeface="Calibri"/>
                        </a:rPr>
                        <a:t>03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NewGameRestartsGame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Reinicio (Game Over simulado a mano)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Positivo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F2937"/>
                          </a:solidFill>
                          <a:latin typeface="Calibri"/>
                        </a:rPr>
                        <a:t>04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GameOverStopsSpawningAndDisablesShip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Game Over detiene spawner y nave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Positivo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F2937"/>
                          </a:solidFill>
                          <a:latin typeface="Calibri"/>
                        </a:rPr>
                        <a:t>05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LaserMovesUp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El láser se desplaza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Positivo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F2937"/>
                          </a:solidFill>
                          <a:latin typeface="Calibri"/>
                        </a:rPr>
                        <a:t>06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LaserDestroysAsteroid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Láser + asteroide → destrucción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Positivo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F2937"/>
                          </a:solidFill>
                          <a:latin typeface="Calibri"/>
                        </a:rPr>
                        <a:t>07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DestroyedAsteroidRaisesScore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Láser + asteroide → puntaje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Positivo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029200"/>
            <a:ext cx="11185855" cy="457200"/>
          </a:xfrm>
          <a:prstGeom prst="rect">
            <a:avLst/>
          </a:prstGeom>
          <a:solidFill>
            <a:srgbClr val="FEF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029200"/>
            <a:ext cx="109115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1" i="0">
                <a:solidFill>
                  <a:srgbClr val="D97706"/>
                </a:solidFill>
                <a:latin typeface="Calibri"/>
              </a:rPr>
              <a:t>💻 Ver en el código:  </a:t>
            </a:r>
            <a:r>
              <a:rPr sz="1200" b="0" i="0">
                <a:solidFill>
                  <a:srgbClr val="1F2937"/>
                </a:solidFill>
                <a:latin typeface="Calibri"/>
              </a:rPr>
              <a:t>TestSuite.cs 53–149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5623560"/>
            <a:ext cx="11185855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623560"/>
            <a:ext cx="1082009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1">
                <a:solidFill>
                  <a:srgbClr val="6B7280"/>
                </a:solidFill>
                <a:latin typeface="Calibri"/>
              </a:rPr>
              <a:t>ℹ  Todos son casos positivos. Sin negativos, sin bordes, sin HUD, sin limpieza entre tests.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Diseño según Plataformas de Juego · Testing de integración II · Hilo conductor: nave + asteroides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2/27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219456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09728"/>
            <a:ext cx="88696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1" i="0">
                <a:solidFill>
                  <a:srgbClr val="9CC9C5"/>
                </a:solidFill>
                <a:latin typeface="Calibri"/>
              </a:rPr>
              <a:t>AL FINALIZAR PODRÁN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7315200" cy="2707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700" b="0" i="0">
                <a:solidFill>
                  <a:srgbClr val="1F2937"/>
                </a:solidFill>
                <a:latin typeface="Calibri"/>
              </a:rPr>
              <a:t>Diseñar casos de integración positivos, negativos y de borde para un flujo de juego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700" b="0" i="0">
                <a:solidFill>
                  <a:srgbClr val="1F2937"/>
                </a:solidFill>
                <a:latin typeface="Calibri"/>
              </a:rPr>
              <a:t>Preparar fixtures y datos de prueba que aíslen cada test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700" b="0" i="0">
                <a:solidFill>
                  <a:srgbClr val="1F2937"/>
                </a:solidFill>
                <a:latin typeface="Calibri"/>
              </a:rPr>
              <a:t>Reconocer las causas de un test frágil (flaky) y corregirlas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700" b="0" i="0">
                <a:solidFill>
                  <a:srgbClr val="1F2937"/>
                </a:solidFill>
                <a:latin typeface="Calibri"/>
              </a:rPr>
              <a:t>Elegir qué dependencias usar reales y cuáles reemplazar por dobles de prueba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700" b="0" i="0">
                <a:solidFill>
                  <a:srgbClr val="1F2937"/>
                </a:solidFill>
                <a:latin typeface="Calibri"/>
              </a:rPr>
              <a:t>Interpretar un reporte de cobertura sin sobreestimarlo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700" b="0" i="0">
                <a:solidFill>
                  <a:srgbClr val="1F2937"/>
                </a:solidFill>
                <a:latin typeface="Calibri"/>
              </a:rPr>
              <a:t>Organizar una mini-suite de integración priorizada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8092440" y="1280160"/>
            <a:ext cx="3593592" cy="4983480"/>
          </a:xfrm>
          <a:prstGeom prst="rect">
            <a:avLst/>
          </a:prstGeom>
          <a:solidFill>
            <a:srgbClr val="F8FAFC"/>
          </a:solidFill>
          <a:ln w="19050">
            <a:solidFill>
              <a:srgbClr val="94A3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400" b="1" i="0">
                <a:solidFill>
                  <a:srgbClr val="6B7280"/>
                </a:solidFill>
                <a:latin typeface="Calibri"/>
              </a:rPr>
              <a:t>🖼  IMAGEN</a:t>
            </a:r>
          </a:p>
          <a:p>
            <a:pPr algn="ctr">
              <a:spcBef>
                <a:spcPts val="600"/>
              </a:spcBef>
            </a:pPr>
            <a:r>
              <a:rPr sz="1200" b="0" i="1">
                <a:solidFill>
                  <a:srgbClr val="6B7280"/>
                </a:solidFill>
                <a:latin typeface="Calibri"/>
              </a:rPr>
              <a:t>Diagrama de evolución: «7 tests positivos» → «suite con positivos, negativos, bordes y regresión» (dos columnas con flecha).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Diseño según Plataformas de Juego · Testing de integración II · Hilo conductor: nave + asteroides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3/27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219456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09728"/>
            <a:ext cx="88696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1" i="0">
                <a:solidFill>
                  <a:srgbClr val="9CC9C5"/>
                </a:solidFill>
                <a:latin typeface="Calibri"/>
              </a:rPr>
              <a:t>ORGANIZACIÓN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(120 min)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185852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0503"/>
                <a:gridCol w="913131"/>
                <a:gridCol w="1141413"/>
                <a:gridCol w="1141413"/>
                <a:gridCol w="1255555"/>
                <a:gridCol w="1483837"/>
              </a:tblGrid>
              <a:tr h="329184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Min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Teoría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Demo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Práctica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Resolución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F2937"/>
                          </a:solidFill>
                          <a:latin typeface="Calibri"/>
                        </a:rPr>
                        <a:t>Apertura y diagnóstico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F2937"/>
                          </a:solidFill>
                          <a:latin typeface="Calibri"/>
                        </a:rPr>
                        <a:t>1. Positivos, negativos y borde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F2937"/>
                          </a:solidFill>
                          <a:latin typeface="Calibri"/>
                        </a:rPr>
                        <a:t>   Actividad 1 · diseñar casos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F2937"/>
                          </a:solidFill>
                          <a:latin typeface="Calibri"/>
                        </a:rPr>
                        <a:t>   Actividad 2 · casos borde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F2937"/>
                          </a:solidFill>
                          <a:latin typeface="Calibri"/>
                        </a:rPr>
                        <a:t>2. Fixtures, aislamiento y tests frágiles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F2937"/>
                          </a:solidFill>
                          <a:latin typeface="Calibri"/>
                        </a:rPr>
                        <a:t>   Actividad 3 · analizar un test fallido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F2937"/>
                          </a:solidFill>
                          <a:latin typeface="Calibri"/>
                        </a:rPr>
                        <a:t>3. Dependencias y dobles de prueba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F2937"/>
                          </a:solidFill>
                          <a:latin typeface="Calibri"/>
                        </a:rPr>
                        <a:t>4. Cobertura y regresión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F2937"/>
                          </a:solidFill>
                          <a:latin typeface="Calibri"/>
                        </a:rPr>
                        <a:t>   Actividad 4 · mini-suite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F2937"/>
                          </a:solidFill>
                          <a:latin typeface="Calibri"/>
                        </a:rPr>
                        <a:t>Cierre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F2937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120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46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Diseño según Plataformas de Juego · Testing de integración II · Hilo conductor: nave + asteroides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4/27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219456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09728"/>
            <a:ext cx="88696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1" i="0">
                <a:solidFill>
                  <a:srgbClr val="9CC9C5"/>
                </a:solidFill>
                <a:latin typeface="Calibri"/>
              </a:rPr>
              <a:t>APERTURA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La suite pasa… ¿y el juego?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7315200" cy="22548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700" b="0" i="0">
                <a:solidFill>
                  <a:srgbClr val="1F2937"/>
                </a:solidFill>
                <a:latin typeface="Calibri"/>
              </a:rPr>
              <a:t>¿Qué pasa si reinicio la partida con asteroides todavía en pantalla?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700" b="0" i="0">
                <a:solidFill>
                  <a:srgbClr val="1F2937"/>
                </a:solidFill>
                <a:latin typeface="Calibri"/>
              </a:rPr>
              <a:t>¿Y si dos láseres golpean el mismo asteroide en el mismo instante?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700" b="0" i="0">
                <a:solidFill>
                  <a:srgbClr val="1F2937"/>
                </a:solidFill>
                <a:latin typeface="Calibri"/>
              </a:rPr>
              <a:t>¿Qué pasa si un asteroide choca con otro asteroide?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700" b="0" i="0">
                <a:solidFill>
                  <a:srgbClr val="1F2937"/>
                </a:solidFill>
                <a:latin typeface="Calibri"/>
              </a:rPr>
              <a:t>El reporte de cobertura dice 73,6 %, y Game.cs tiene 100 %. ¿Qué tan protegidos estamos?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623560"/>
            <a:ext cx="11185855" cy="658368"/>
          </a:xfrm>
          <a:prstGeom prst="rect">
            <a:avLst/>
          </a:prstGeom>
          <a:solidFill>
            <a:srgbClr val="EA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623560"/>
            <a:ext cx="1082009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1">
                <a:solidFill>
                  <a:srgbClr val="1F2A44"/>
                </a:solidFill>
                <a:latin typeface="Calibri"/>
              </a:rPr>
              <a:t>❓  ¿Cuál de estas preguntas responde hoy la suite? (Respuesta: ninguna)</a:t>
            </a:r>
          </a:p>
        </p:txBody>
      </p:sp>
      <p:sp>
        <p:nvSpPr>
          <p:cNvPr id="9" name="Rectangle 8"/>
          <p:cNvSpPr/>
          <p:nvPr/>
        </p:nvSpPr>
        <p:spPr>
          <a:xfrm>
            <a:off x="8092440" y="1280160"/>
            <a:ext cx="3593592" cy="4160520"/>
          </a:xfrm>
          <a:prstGeom prst="rect">
            <a:avLst/>
          </a:prstGeom>
          <a:solidFill>
            <a:srgbClr val="F8FAFC"/>
          </a:solidFill>
          <a:ln w="19050">
            <a:solidFill>
              <a:srgbClr val="94A3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400" b="1" i="0">
                <a:solidFill>
                  <a:srgbClr val="6B7280"/>
                </a:solidFill>
                <a:latin typeface="Calibri"/>
              </a:rPr>
              <a:t>🖼  IMAGEN</a:t>
            </a:r>
          </a:p>
          <a:p>
            <a:pPr algn="ctr">
              <a:spcBef>
                <a:spcPts val="600"/>
              </a:spcBef>
            </a:pPr>
            <a:r>
              <a:rPr sz="1200" b="0" i="1">
                <a:solidFill>
                  <a:srgbClr val="6B7280"/>
                </a:solidFill>
                <a:latin typeface="Calibri"/>
              </a:rPr>
              <a:t>Captura del Test Runner con los 7 tests en verde junto al resumen del reporte de cobertura regenerado (73,6 % de líneas).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Diseño según Plataformas de Juego · Testing de integración II · Hilo conductor: nave + asteroides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5/27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219456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09728"/>
            <a:ext cx="88696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1" i="0">
                <a:solidFill>
                  <a:srgbClr val="9CC9C5"/>
                </a:solidFill>
                <a:latin typeface="Calibri"/>
              </a:rPr>
              <a:t>BLOQUE 1 · TEORÍA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Positivos, negativos y borde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2930652" cy="310896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9144" bIns="9144" wrap="non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Ejemplo: una puerta con cerradura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755648"/>
          <a:ext cx="11185853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7163"/>
                <a:gridCol w="3107181"/>
                <a:gridCol w="2692891"/>
                <a:gridCol w="3728618"/>
              </a:tblGrid>
              <a:tr h="329184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Tipo de caso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Qué pregunta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Puerta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Nave + asteroides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F2937"/>
                          </a:solidFill>
                          <a:latin typeface="Calibri"/>
                        </a:rPr>
                        <a:t>Positivo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¿Hace lo que debe con una entrada válida?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La llave correcta abre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El láser destruye el asteroide y suma 1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F2937"/>
                          </a:solidFill>
                          <a:latin typeface="Calibri"/>
                        </a:rPr>
                        <a:t>Negativo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¿Ignora o rechaza lo que no corresponde?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Otra llave no abre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Un asteroide que choca con otro NO da Game Over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F2937"/>
                          </a:solidFill>
                          <a:latin typeface="Calibri"/>
                        </a:rPr>
                        <a:t>Borde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¿Qué pasa justo en el límite?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La llave a medio girar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Un asteroide en y = −5,0 exacto: ¿se destruye?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3806698"/>
            <a:ext cx="11185855" cy="690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600" b="0" i="0">
                <a:solidFill>
                  <a:srgbClr val="1F2937"/>
                </a:solidFill>
                <a:latin typeface="Calibri"/>
              </a:rPr>
              <a:t>Negativo ≠ test que falla: el test pasa si el sistema ignora correctamente la entrada</a:t>
            </a:r>
          </a:p>
          <a:p>
            <a:pPr>
              <a:spcAft>
                <a:spcPts val="600"/>
              </a:spcAft>
            </a:pPr>
            <a:r>
              <a:rPr sz="12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600" b="0" i="0">
                <a:solidFill>
                  <a:srgbClr val="1F2937"/>
                </a:solidFill>
                <a:latin typeface="Calibri"/>
              </a:rPr>
              <a:t>En integración, el borde no es solo un número: también tiempo, cantidad, repetición y orden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Diseño según Plataformas de Juego · Testing de integración II · Hilo conductor: nave + asteroides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6/27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219456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09728"/>
            <a:ext cx="88696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1" i="0">
                <a:solidFill>
                  <a:srgbClr val="9CC9C5"/>
                </a:solidFill>
                <a:latin typeface="Calibri"/>
              </a:rPr>
              <a:t>BLOQUE 1 · TEORÍA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Cinco dimensiones del borde en integración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185854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4309"/>
                <a:gridCol w="3728618"/>
                <a:gridCol w="5592927"/>
              </a:tblGrid>
              <a:tr h="329184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Dimensión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Pregunta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En el juego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F2937"/>
                          </a:solidFill>
                          <a:latin typeface="Calibri"/>
                        </a:rPr>
                        <a:t>Valor / posición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¿Justo en el límite?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Asteroide en y = −4,99 / −5,00 / −5,01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F2937"/>
                          </a:solidFill>
                          <a:latin typeface="Calibri"/>
                        </a:rPr>
                        <a:t>Tiempo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¿Justo antes o después de un intervalo?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Disparo a 0,39 s y a 0,41 s del anterior (cooldown 0,4 s)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F2937"/>
                          </a:solidFill>
                          <a:latin typeface="Calibri"/>
                        </a:rPr>
                        <a:t>Cantidad / simultaneidad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¿0, 1 o 2 eventos a la vez?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Dos láseres contra el mismo asteroide en el mismo paso de física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F2937"/>
                          </a:solidFill>
                          <a:latin typeface="Calibri"/>
                        </a:rPr>
                        <a:t>Repetición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¿Qué pasa si se llama dos veces?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NewGame() dos veces seguidas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F2937"/>
                          </a:solidFill>
                          <a:latin typeface="Calibri"/>
                        </a:rPr>
                        <a:t>Orden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¿Y si los eventos llegan al revés?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Un punto que se suma en el mismo frame del Game Over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029200"/>
            <a:ext cx="11185855" cy="457200"/>
          </a:xfrm>
          <a:prstGeom prst="rect">
            <a:avLst/>
          </a:prstGeom>
          <a:solidFill>
            <a:srgbClr val="FEF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029200"/>
            <a:ext cx="109115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1" i="0">
                <a:solidFill>
                  <a:srgbClr val="D97706"/>
                </a:solidFill>
                <a:latin typeface="Calibri"/>
              </a:rPr>
              <a:t>💻 Ver en el código:  </a:t>
            </a:r>
            <a:r>
              <a:rPr sz="1200" b="0" i="0">
                <a:solidFill>
                  <a:srgbClr val="1F2937"/>
                </a:solidFill>
                <a:latin typeface="Calibri"/>
              </a:rPr>
              <a:t>Asteroid.cs 43–50 (límite −5) · Ship.cs 82–90 (cooldown 0,4 s) · Laser.cs 46–55 · Game.cs 67–80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5623560"/>
            <a:ext cx="11185855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623560"/>
            <a:ext cx="1082009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1">
                <a:solidFill>
                  <a:srgbClr val="6B7280"/>
                </a:solidFill>
                <a:latin typeface="Calibri"/>
              </a:rPr>
              <a:t>ℹ  Algunos bordes no tienen un resultado esperado obvio: lo decide el diseño, no quien prueba.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Diseño según Plataformas de Juego · Testing de integración II · Hilo conductor: nave + asteroides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7/27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219456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09728"/>
            <a:ext cx="88696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1" i="0">
                <a:solidFill>
                  <a:srgbClr val="9CC9C5"/>
                </a:solidFill>
                <a:latin typeface="Calibri"/>
              </a:rPr>
              <a:t>BLOQUE 1 · CASO MODELO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Formato de un caso de integración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185854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8600"/>
                <a:gridCol w="8907254"/>
              </a:tblGrid>
              <a:tr h="329184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Campo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INT-AST-11 · Choque entre asteroides (negativo)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F2937"/>
                          </a:solidFill>
                          <a:latin typeface="Calibri"/>
                        </a:rPr>
                        <a:t>Objetivo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Un choque entre dos asteroides no provoca Game Over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F2937"/>
                          </a:solidFill>
                          <a:latin typeface="Calibri"/>
                        </a:rPr>
                        <a:t>Componentes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Asteroid ×2 · física · Game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F2937"/>
                          </a:solidFill>
                          <a:latin typeface="Calibri"/>
                        </a:rPr>
                        <a:t>Entrada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Dos asteroides superpuestos, lejos de la nave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F2937"/>
                          </a:solidFill>
                          <a:latin typeface="Calibri"/>
                        </a:rPr>
                        <a:t>Precondiciones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Prefab Game instanciado · 1 frame (Start ejecutado) · isGameOver = false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F2937"/>
                          </a:solidFill>
                          <a:latin typeface="Calibri"/>
                        </a:rPr>
                        <a:t>Pasos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1. SpawnAsteroid() ×2  2. Ubicar ambos en (6, 3)  3. Esperar 2 FixedUpdate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F2937"/>
                          </a:solidFill>
                          <a:latin typeface="Calibri"/>
                        </a:rPr>
                        <a:t>Resultado esperado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isGameOver = false · ambos asteroides siguen existiendo · score sin cambios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F2937"/>
                          </a:solidFill>
                          <a:latin typeface="Calibri"/>
                        </a:rPr>
                        <a:t>Bug que detecta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Alguien relaja la condición de Asteroid.cs 54 y cualquier choque termina la partida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F2937"/>
                          </a:solidFill>
                          <a:latin typeface="Calibri"/>
                        </a:rPr>
                        <a:t>¿Por qué integración?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Verifica el contrato por nombre entre Asteroid y Game a través de la física real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Diseño según Plataformas de Juego · Testing de integración II · Hilo conductor: nave + asteroides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8/27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219456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09728"/>
            <a:ext cx="88696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1" i="0">
                <a:solidFill>
                  <a:srgbClr val="9CC9C5"/>
                </a:solidFill>
                <a:latin typeface="Calibri"/>
              </a:rPr>
              <a:t>PRÁCTICA · EN GRUPOS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1 · Diseñar casos nuevos (12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7315200" cy="18065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700" b="0" i="0">
                <a:solidFill>
                  <a:srgbClr val="1F2937"/>
                </a:solidFill>
                <a:latin typeface="Calibri"/>
              </a:rPr>
              <a:t>Flujo A: láser destruye asteroide → puntaje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700" b="0" i="0">
                <a:solidFill>
                  <a:srgbClr val="1F2937"/>
                </a:solidFill>
                <a:latin typeface="Calibri"/>
              </a:rPr>
              <a:t>Flujo B: asteroide choca la nave → Game Over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700" b="0" i="0">
                <a:solidFill>
                  <a:srgbClr val="1F2937"/>
                </a:solidFill>
                <a:latin typeface="Calibri"/>
              </a:rPr>
              <a:t>Flujo C: Game Over → nueva partida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700" b="0" i="0">
                <a:solidFill>
                  <a:srgbClr val="1F2937"/>
                </a:solidFill>
                <a:latin typeface="Calibri"/>
              </a:rPr>
              <a:t>Para cada flujo: un caso POSITIVO nuevo y un caso NEGATIVO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700" b="0" i="0">
                <a:solidFill>
                  <a:srgbClr val="1F2937"/>
                </a:solidFill>
                <a:latin typeface="Calibri"/>
              </a:rPr>
              <a:t>Usar la ficha de 8 campos · no repetir los tests 01–07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623560"/>
            <a:ext cx="11185855" cy="658368"/>
          </a:xfrm>
          <a:prstGeom prst="rect">
            <a:avLst/>
          </a:prstGeom>
          <a:solidFill>
            <a:srgbClr val="EA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623560"/>
            <a:ext cx="1082009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1">
                <a:solidFill>
                  <a:srgbClr val="1F2A44"/>
                </a:solidFill>
                <a:latin typeface="Calibri"/>
              </a:rPr>
              <a:t>✍ Actividad:  Entreguen 6 fichas (2 por flujo). Pista: ¿qué NO debería pasar en cada flujo?</a:t>
            </a:r>
          </a:p>
        </p:txBody>
      </p:sp>
      <p:sp>
        <p:nvSpPr>
          <p:cNvPr id="9" name="Rectangle 8"/>
          <p:cNvSpPr/>
          <p:nvPr/>
        </p:nvSpPr>
        <p:spPr>
          <a:xfrm>
            <a:off x="8092440" y="1280160"/>
            <a:ext cx="3593592" cy="4160520"/>
          </a:xfrm>
          <a:prstGeom prst="rect">
            <a:avLst/>
          </a:prstGeom>
          <a:solidFill>
            <a:srgbClr val="F8FAFC"/>
          </a:solidFill>
          <a:ln w="19050">
            <a:solidFill>
              <a:srgbClr val="94A3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400" b="1" i="0">
                <a:solidFill>
                  <a:srgbClr val="6B7280"/>
                </a:solidFill>
                <a:latin typeface="Calibri"/>
              </a:rPr>
              <a:t>🖼  IMAGEN</a:t>
            </a:r>
          </a:p>
          <a:p>
            <a:pPr algn="ctr">
              <a:spcBef>
                <a:spcPts val="600"/>
              </a:spcBef>
            </a:pPr>
            <a:r>
              <a:rPr sz="1200" b="0" i="1">
                <a:solidFill>
                  <a:srgbClr val="6B7280"/>
                </a:solidFill>
                <a:latin typeface="Calibri"/>
              </a:rPr>
              <a:t>La ficha de 8 campos vacía (Objetivo · Componentes · Entrada · Precondiciones · Pasos · Resultado esperado · Bug que detecta · ¿Por qué integración?).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Diseño según Plataformas de Juego · Testing de integración II · Hilo conductor: nave + asteroides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9/27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219456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09728"/>
            <a:ext cx="88696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1" i="0">
                <a:solidFill>
                  <a:srgbClr val="9CC9C5"/>
                </a:solidFill>
                <a:latin typeface="Calibri"/>
              </a:rPr>
              <a:t>RESOLUCIÓN DOCENTE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1 · Resolución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1858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8989"/>
                <a:gridCol w="3395705"/>
                <a:gridCol w="3595453"/>
                <a:gridCol w="3395705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Flujo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Caso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Resultado esperado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Bug que detecta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2937"/>
                          </a:solidFill>
                          <a:latin typeface="Calibri"/>
                        </a:rPr>
                        <a:t>A +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INT-AST-09 · El HUD muestra el puntaje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 impactos → score = 2 y texto «Score: 2»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Se borra la actualización del texto (Game.cs 85)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2937"/>
                          </a:solidFill>
                          <a:latin typeface="Calibri"/>
                        </a:rPr>
                        <a:t>A −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INT-AST-10 · Láser contra objeto ajeno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score = 0 · el objeto sigue intacto · sin excepción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Se quita el filtro GetComponent&lt;Asteroid&gt;() (Laser.cs 48)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2937"/>
                          </a:solidFill>
                          <a:latin typeface="Calibri"/>
                        </a:rPr>
                        <a:t>B +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(ya cubierto por 02 y 04)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2937"/>
                          </a:solidFill>
                          <a:latin typeface="Calibri"/>
                        </a:rPr>
                        <a:t>B −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INT-AST-11 · Choque entre asteroides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isGameOver = false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Cualquier choque dispara Game Over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2937"/>
                          </a:solidFill>
                          <a:latin typeface="Calibri"/>
                        </a:rPr>
                        <a:t>C +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INT-AST-08 · Reinicio tras Game Over real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Nave viva en (0,0,0) · score 0 · spawner activo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RepairShip o BeginSpawning omitidos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2937"/>
                          </a:solidFill>
                          <a:latin typeface="Calibri"/>
                        </a:rPr>
                        <a:t>C −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NewGame con partida en curso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Estado inicial, sin doble spawner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Ver INT-AST-15 (repetición)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623560"/>
            <a:ext cx="11185855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623560"/>
            <a:ext cx="1082009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1">
                <a:solidFill>
                  <a:srgbClr val="6B7280"/>
                </a:solidFill>
                <a:latin typeface="Calibri"/>
              </a:rPr>
              <a:t>ℹ  HUD: scoreText es privado, pero está dentro del prefab Game (UICanvas/ScoreText): el test puede encontrarlo con GetComponentsInChildren&lt;Text&gt;().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Diseño según Plataformas de Juego · Testing de integración II · Hilo conductor: nave + asteroides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10/27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219456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09728"/>
            <a:ext cx="88696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1" i="0">
                <a:solidFill>
                  <a:srgbClr val="9CC9C5"/>
                </a:solidFill>
                <a:latin typeface="Calibri"/>
              </a:rPr>
              <a:t>PRÁCTICA · ANÁLISIS SIN CÓDIGO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2 · Casos borde (10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11185855" cy="652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1">
                <a:solidFill>
                  <a:srgbClr val="1F2A44"/>
                </a:solidFill>
                <a:latin typeface="Calibri"/>
              </a:rPr>
              <a:t>Una fila por dimensión, con valores concretos y resultado esperado. Marquen con ⚠ las filas cuyo resultado no pueden decidir ustedes.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2070100"/>
          <a:ext cx="11185852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3304"/>
                <a:gridCol w="3947948"/>
                <a:gridCol w="4386609"/>
                <a:gridCol w="657991"/>
              </a:tblGrid>
              <a:tr h="329184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Dimensión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Valores a probar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Resultado esperado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⚠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F2937"/>
                          </a:solidFill>
                          <a:latin typeface="Calibri"/>
                        </a:rPr>
                        <a:t>Valor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F2937"/>
                          </a:solidFill>
                          <a:latin typeface="Calibri"/>
                        </a:rPr>
                        <a:t>Tiempo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36576" marB="36576">
                    <a:solidFill>
                      <a:srgbClr val="F3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F2937"/>
                          </a:solidFill>
                          <a:latin typeface="Calibri"/>
                        </a:rPr>
                        <a:t>Simultaneidad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F2937"/>
                          </a:solidFill>
                          <a:latin typeface="Calibri"/>
                        </a:rPr>
                        <a:t>Repetición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36576" marB="36576">
                    <a:solidFill>
                      <a:srgbClr val="F3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F2937"/>
                          </a:solidFill>
                          <a:latin typeface="Calibri"/>
                        </a:rPr>
                        <a:t>Orden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02920" y="5623560"/>
            <a:ext cx="11185855" cy="658368"/>
          </a:xfrm>
          <a:prstGeom prst="rect">
            <a:avLst/>
          </a:prstGeom>
          <a:solidFill>
            <a:srgbClr val="EA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623560"/>
            <a:ext cx="1082009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1">
                <a:solidFill>
                  <a:srgbClr val="1F2A44"/>
                </a:solidFill>
                <a:latin typeface="Calibri"/>
              </a:rPr>
              <a:t>✍ Actividad:  ¿Quién decide el resultado esperado de una fila marcada con ⚠?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Diseño según Plataformas de Juego · Testing de integración II · Hilo conductor: nave + asteroides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11/27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219456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09728"/>
            <a:ext cx="88696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1" i="0">
                <a:solidFill>
                  <a:srgbClr val="9CC9C5"/>
                </a:solidFill>
                <a:latin typeface="Calibri"/>
              </a:rPr>
              <a:t>RESOLUCIÓN DOCENTE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2 · Resolución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185853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457"/>
                <a:gridCol w="3872026"/>
                <a:gridCol w="4947589"/>
                <a:gridCol w="537781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Dimensión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Valores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Resultado esperado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⚠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2937"/>
                          </a:solidFill>
                          <a:latin typeface="Calibri"/>
                        </a:rPr>
                        <a:t>Valor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Asteroide en y = −4,99 · −5,00 · −5,01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Vivo · vivo · destruido (condición estricta «&lt; −5») → INT-AST-12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2937"/>
                          </a:solidFill>
                          <a:latin typeface="Calibri"/>
                        </a:rPr>
                        <a:t>Tiempo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Disparo a 0,39 s y 0,41 s del anterior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No dispara · dispara → INT-AST-16 (hoy no se puede automatizar)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36576" marB="36576">
                    <a:solidFill>
                      <a:srgbClr val="F3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2937"/>
                          </a:solidFill>
                          <a:latin typeface="Calibri"/>
                        </a:rPr>
                        <a:t>Simultaneidad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 láseres → 1 asteroide, mismo paso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score +1 y sin excepción → INT-AST-13 (EJECUTADO: suma 2 y lanza excepción)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2937"/>
                          </a:solidFill>
                          <a:latin typeface="Calibri"/>
                        </a:rPr>
                        <a:t>Simultaneidad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 láser → 2 asteroides superpuestos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¿+1 o +2? Decisión de diseño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⚠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2937"/>
                          </a:solidFill>
                          <a:latin typeface="Calibri"/>
                        </a:rPr>
                        <a:t>Repetición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NewGame() dos veces seguidas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Misma tasa de aparición → INT-AST-15 (EJECUTADO: 8 asteroides vs. 5)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2937"/>
                          </a:solidFill>
                          <a:latin typeface="Calibri"/>
                        </a:rPr>
                        <a:t>Orden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Punto sumado en el frame del Game Over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¿Cuenta o no? Decisión de diseño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⚠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Diseño según Plataformas de Juego · Testing de integración II · Hilo conductor: nave + asteroides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12/27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219456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09728"/>
            <a:ext cx="88696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1" i="0">
                <a:solidFill>
                  <a:srgbClr val="9CC9C5"/>
                </a:solidFill>
                <a:latin typeface="Calibri"/>
              </a:rPr>
              <a:t>BLOQUE 2 · TEORÍA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Fixtures y datos de prueba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2153412" cy="310896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9144" bIns="9144" wrap="non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Ejemplo: un laboratorio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7315200" cy="29298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500" b="0" i="0">
                <a:solidFill>
                  <a:srgbClr val="1F2937"/>
                </a:solidFill>
                <a:latin typeface="Calibri"/>
              </a:rPr>
              <a:t>Fixture: el estado conocido del que parte cada test (SetUp) y la limpieza al terminar (TearDown)</a:t>
            </a:r>
          </a:p>
          <a:p>
            <a:pPr>
              <a:spcAft>
                <a:spcPts val="600"/>
              </a:spcAft>
            </a:pPr>
            <a:r>
              <a:rPr sz="11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500" b="0" i="0">
                <a:solidFill>
                  <a:srgbClr val="1F2937"/>
                </a:solidFill>
                <a:latin typeface="Calibri"/>
              </a:rPr>
              <a:t>Como un laboratorio: mesada limpia antes del experimento, limpieza al terminar</a:t>
            </a:r>
          </a:p>
          <a:p>
            <a:pPr>
              <a:spcAft>
                <a:spcPts val="600"/>
              </a:spcAft>
            </a:pPr>
            <a:r>
              <a:rPr sz="11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500" b="0" i="0">
                <a:solidFill>
                  <a:srgbClr val="1F2937"/>
                </a:solidFill>
                <a:latin typeface="Calibri"/>
              </a:rPr>
              <a:t>En la suite actual, TearDown destruye solo el prefab Game</a:t>
            </a:r>
          </a:p>
          <a:p>
            <a:pPr>
              <a:spcAft>
                <a:spcPts val="600"/>
              </a:spcAft>
            </a:pPr>
            <a:r>
              <a:rPr sz="11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500" b="0" i="0">
                <a:solidFill>
                  <a:srgbClr val="1F2937"/>
                </a:solidFill>
                <a:latin typeface="Calibri"/>
              </a:rPr>
              <a:t>Asteroides y láseres se crean como objetos raíz: sobreviven al test y «ensucian» el siguiente</a:t>
            </a:r>
          </a:p>
          <a:p>
            <a:pPr>
              <a:spcAft>
                <a:spcPts val="600"/>
              </a:spcAft>
            </a:pPr>
            <a:r>
              <a:rPr sz="11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500" b="0" i="0">
                <a:solidFill>
                  <a:srgbClr val="1F2937"/>
                </a:solidFill>
                <a:latin typeface="Calibri"/>
              </a:rPr>
              <a:t>Game.instance es estático: puede apuntar a un Game ya destruido hasta que corra el siguiente Start()</a:t>
            </a:r>
          </a:p>
          <a:p>
            <a:pPr>
              <a:spcAft>
                <a:spcPts val="600"/>
              </a:spcAft>
            </a:pPr>
            <a:r>
              <a:rPr sz="11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500" b="0" i="0">
                <a:solidFill>
                  <a:srgbClr val="1F2937"/>
                </a:solidFill>
                <a:latin typeface="Calibri"/>
              </a:rPr>
              <a:t>Spawner usa Random sin semilla: cada corrida genera posiciones distintas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5760720"/>
            <a:ext cx="11185855" cy="457200"/>
          </a:xfrm>
          <a:prstGeom prst="rect">
            <a:avLst/>
          </a:prstGeom>
          <a:solidFill>
            <a:srgbClr val="FEF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760720"/>
            <a:ext cx="109115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1" i="0">
                <a:solidFill>
                  <a:srgbClr val="D97706"/>
                </a:solidFill>
                <a:latin typeface="Calibri"/>
              </a:rPr>
              <a:t>💻 Ver en el código:  </a:t>
            </a:r>
            <a:r>
              <a:rPr sz="1200" b="0" i="0">
                <a:solidFill>
                  <a:srgbClr val="1F2937"/>
                </a:solidFill>
                <a:latin typeface="Calibri"/>
              </a:rPr>
              <a:t>TestSuite.cs 40–51 · Spawner.cs 73–99 (Instantiate sin padre) y 103 (Random) · Game.cs 46 y 50 (instancia estática)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92440" y="1280160"/>
            <a:ext cx="3593592" cy="3611880"/>
          </a:xfrm>
          <a:prstGeom prst="rect">
            <a:avLst/>
          </a:prstGeom>
          <a:solidFill>
            <a:srgbClr val="F8FAFC"/>
          </a:solidFill>
          <a:ln w="19050">
            <a:solidFill>
              <a:srgbClr val="94A3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400" b="1" i="0">
                <a:solidFill>
                  <a:srgbClr val="6B7280"/>
                </a:solidFill>
                <a:latin typeface="Calibri"/>
              </a:rPr>
              <a:t>🖼  IMAGEN</a:t>
            </a:r>
          </a:p>
          <a:p>
            <a:pPr algn="ctr">
              <a:spcBef>
                <a:spcPts val="600"/>
              </a:spcBef>
            </a:pPr>
            <a:r>
              <a:rPr sz="1200" b="0" i="1">
                <a:solidFill>
                  <a:srgbClr val="6B7280"/>
                </a:solidFill>
                <a:latin typeface="Calibri"/>
              </a:rPr>
              <a:t>Esquema de dos tests consecutivos: los asteroides del Test A siguen en escena cuando empieza el Test B (flecha roja entre ambos).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Diseño según Plataformas de Juego · Testing de integración II · Hilo conductor: nave + asteroides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13/27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219456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09728"/>
            <a:ext cx="88696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1" i="0">
                <a:solidFill>
                  <a:srgbClr val="9CC9C5"/>
                </a:solidFill>
                <a:latin typeface="Calibri"/>
              </a:rPr>
              <a:t>BLOQUE 2 · DEMO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Fixture mejorada (PROPUESTA)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7223760" cy="42062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17320"/>
            <a:ext cx="67665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0" i="0">
                <a:solidFill>
                  <a:srgbClr val="E2E8F0"/>
                </a:solidFill>
                <a:latin typeface="Consolas"/>
              </a:rPr>
              <a:t>[UnitySetUp]</a:t>
            </a:r>
          </a:p>
          <a:p>
            <a:r>
              <a:rPr sz="1150" b="0" i="0">
                <a:solidFill>
                  <a:srgbClr val="E2E8F0"/>
                </a:solidFill>
                <a:latin typeface="Consolas"/>
              </a:rPr>
              <a:t>public IEnumerator SetUp()</a:t>
            </a:r>
          </a:p>
          <a:p>
            <a:r>
              <a:rPr sz="1150" b="0" i="0">
                <a:solidFill>
                  <a:srgbClr val="E2E8F0"/>
                </a:solidFill>
                <a:latin typeface="Consolas"/>
              </a:rPr>
              <a:t>{</a:t>
            </a:r>
          </a:p>
          <a:p>
            <a:r>
              <a:rPr sz="1150" b="0" i="0">
                <a:solidFill>
                  <a:srgbClr val="E2E8F0"/>
                </a:solidFill>
                <a:latin typeface="Consolas"/>
              </a:rPr>
              <a:t>    Random.InitState(12345);        // datos reproducibles</a:t>
            </a:r>
          </a:p>
          <a:p>
            <a:r>
              <a:rPr sz="1150" b="0" i="0">
                <a:solidFill>
                  <a:srgbClr val="E2E8F0"/>
                </a:solidFill>
                <a:latin typeface="Consolas"/>
              </a:rPr>
              <a:t>    var prefab = Resources.Load&lt;GameObject&gt;("Prefabs/Game");</a:t>
            </a:r>
          </a:p>
          <a:p>
            <a:r>
              <a:rPr sz="1150" b="0" i="0">
                <a:solidFill>
                  <a:srgbClr val="E2E8F0"/>
                </a:solidFill>
                <a:latin typeface="Consolas"/>
              </a:rPr>
              <a:t>    game = Object.Instantiate(prefab).GetComponent&lt;Game&gt;();</a:t>
            </a:r>
          </a:p>
          <a:p>
            <a:r>
              <a:rPr sz="1150" b="0" i="0">
                <a:solidFill>
                  <a:srgbClr val="E2E8F0"/>
                </a:solidFill>
                <a:latin typeface="Consolas"/>
              </a:rPr>
              <a:t>    yield return null;              // corre Start(): instance listo</a:t>
            </a:r>
          </a:p>
          <a:p>
            <a:r>
              <a:rPr sz="1150" b="0" i="0">
                <a:solidFill>
                  <a:srgbClr val="E2E8F0"/>
                </a:solidFill>
                <a:latin typeface="Consolas"/>
              </a:rPr>
              <a:t>}</a:t>
            </a:r>
          </a:p>
          <a:p>
            <a:r>
              <a:rPr sz="1150" b="0" i="0">
                <a:solidFill>
                  <a:srgbClr val="E2E8F0"/>
                </a:solidFill>
                <a:latin typeface="Consolas"/>
              </a:rPr>
              <a:t> </a:t>
            </a:r>
          </a:p>
          <a:p>
            <a:r>
              <a:rPr sz="1150" b="0" i="0">
                <a:solidFill>
                  <a:srgbClr val="E2E8F0"/>
                </a:solidFill>
                <a:latin typeface="Consolas"/>
              </a:rPr>
              <a:t>[UnityTearDown]</a:t>
            </a:r>
          </a:p>
          <a:p>
            <a:r>
              <a:rPr sz="1150" b="0" i="0">
                <a:solidFill>
                  <a:srgbClr val="E2E8F0"/>
                </a:solidFill>
                <a:latin typeface="Consolas"/>
              </a:rPr>
              <a:t>public IEnumerator TearDown()</a:t>
            </a:r>
          </a:p>
          <a:p>
            <a:r>
              <a:rPr sz="1150" b="0" i="0">
                <a:solidFill>
                  <a:srgbClr val="E2E8F0"/>
                </a:solidFill>
                <a:latin typeface="Consolas"/>
              </a:rPr>
              <a:t>{</a:t>
            </a:r>
          </a:p>
          <a:p>
            <a:r>
              <a:rPr sz="1150" b="0" i="0">
                <a:solidFill>
                  <a:srgbClr val="E2E8F0"/>
                </a:solidFill>
                <a:latin typeface="Consolas"/>
              </a:rPr>
              <a:t>    Object.Destroy(game.gameObject);</a:t>
            </a:r>
          </a:p>
          <a:p>
            <a:r>
              <a:rPr sz="1150" b="0" i="0">
                <a:solidFill>
                  <a:srgbClr val="E2E8F0"/>
                </a:solidFill>
                <a:latin typeface="Consolas"/>
              </a:rPr>
              <a:t>    var none = FindObjectsSortMode.None;</a:t>
            </a:r>
          </a:p>
          <a:p>
            <a:r>
              <a:rPr sz="1150" b="0" i="0">
                <a:solidFill>
                  <a:srgbClr val="E2E8F0"/>
                </a:solidFill>
                <a:latin typeface="Consolas"/>
              </a:rPr>
              <a:t>    foreach (var a in Object.FindObjectsByType&lt;Asteroid&gt;(none))</a:t>
            </a:r>
          </a:p>
          <a:p>
            <a:r>
              <a:rPr sz="1150" b="0" i="0">
                <a:solidFill>
                  <a:srgbClr val="E2E8F0"/>
                </a:solidFill>
                <a:latin typeface="Consolas"/>
              </a:rPr>
              <a:t>        Object.Destroy(a.gameObject);   // lo que el test dejó</a:t>
            </a:r>
          </a:p>
          <a:p>
            <a:r>
              <a:rPr sz="1150" b="0" i="0">
                <a:solidFill>
                  <a:srgbClr val="E2E8F0"/>
                </a:solidFill>
                <a:latin typeface="Consolas"/>
              </a:rPr>
              <a:t>    foreach (var l in Object.FindObjectsByType&lt;Laser&gt;(none))</a:t>
            </a:r>
          </a:p>
          <a:p>
            <a:r>
              <a:rPr sz="1150" b="0" i="0">
                <a:solidFill>
                  <a:srgbClr val="E2E8F0"/>
                </a:solidFill>
                <a:latin typeface="Consolas"/>
              </a:rPr>
              <a:t>        Object.Destroy(l.gameObject);</a:t>
            </a:r>
          </a:p>
          <a:p>
            <a:r>
              <a:rPr sz="1150" b="0" i="0">
                <a:solidFill>
                  <a:srgbClr val="E2E8F0"/>
                </a:solidFill>
                <a:latin typeface="Consolas"/>
              </a:rPr>
              <a:t>    yield return null;              // Destroy termina al final del frame</a:t>
            </a:r>
          </a:p>
          <a:p>
            <a:r>
              <a:rPr sz="1150" b="0" i="0">
                <a:solidFill>
                  <a:srgbClr val="E2E8F0"/>
                </a:solidFill>
                <a:latin typeface="Consolas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1280160"/>
            <a:ext cx="3687775" cy="41148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92440" y="1280160"/>
            <a:ext cx="3504895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Calibri"/>
              </a:rPr>
              <a:t>Qué cambia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1828800"/>
            <a:ext cx="3687775" cy="14770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400" b="0" i="0">
                <a:solidFill>
                  <a:srgbClr val="1F2937"/>
                </a:solidFill>
                <a:latin typeface="Calibri"/>
              </a:rPr>
              <a:t>Semilla fija: datos reproducibles</a:t>
            </a:r>
          </a:p>
          <a:p>
            <a:pPr>
              <a:spcAft>
                <a:spcPts val="600"/>
              </a:spcAft>
            </a:pPr>
            <a:r>
              <a:rPr sz="10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400" b="0" i="0">
                <a:solidFill>
                  <a:srgbClr val="1F2937"/>
                </a:solidFill>
                <a:latin typeface="Calibri"/>
              </a:rPr>
              <a:t>Un frame de espera: Start() ya corrió</a:t>
            </a:r>
          </a:p>
          <a:p>
            <a:pPr>
              <a:spcAft>
                <a:spcPts val="600"/>
              </a:spcAft>
            </a:pPr>
            <a:r>
              <a:rPr sz="10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400" b="0" i="0">
                <a:solidFill>
                  <a:srgbClr val="1F2937"/>
                </a:solidFill>
                <a:latin typeface="Calibri"/>
              </a:rPr>
              <a:t>Limpieza total, no solo del prefab</a:t>
            </a:r>
          </a:p>
          <a:p>
            <a:pPr>
              <a:spcAft>
                <a:spcPts val="600"/>
              </a:spcAft>
            </a:pPr>
            <a:r>
              <a:rPr sz="10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400" b="0" i="0">
                <a:solidFill>
                  <a:srgbClr val="1F2937"/>
                </a:solidFill>
                <a:latin typeface="Calibri"/>
              </a:rPr>
              <a:t>Otro frame: el próximo test empieza limpio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623560"/>
            <a:ext cx="11185855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5623560"/>
            <a:ext cx="1082009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1">
                <a:solidFill>
                  <a:srgbClr val="6B7280"/>
                </a:solidFill>
                <a:latin typeface="Calibri"/>
              </a:rPr>
              <a:t>ℹ  Código propio de la cátedra. La limpieza (UnityTearDown) ya corre en IntegrationHypothesesTests.cs; la semilla no se probó.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Diseño según Plataformas de Juego · Testing de integración II · Hilo conductor: nave + asteroides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6424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14/27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219456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09728"/>
            <a:ext cx="88696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1" i="0">
                <a:solidFill>
                  <a:srgbClr val="9CC9C5"/>
                </a:solidFill>
                <a:latin typeface="Calibri"/>
              </a:rPr>
              <a:t>BLOQUE 2 · TEORÍA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Tests frágiles (flaky)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5262372" cy="310896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9144" bIns="9144" wrap="non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Ejemplo: Martin Fowler · «Eradicating Non-Determinism in Tests»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755648"/>
          <a:ext cx="11185854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1454"/>
                <a:gridCol w="5385782"/>
                <a:gridCol w="3728618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Causa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 la suite actual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Remedio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2937"/>
                          </a:solidFill>
                          <a:latin typeface="Calibri"/>
                        </a:rPr>
                        <a:t>Tiempo fijo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WaitForSeconds(0,1) depende de la máquina y de la física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Esperar por condición, con tiempo máximo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2937"/>
                          </a:solidFill>
                          <a:latin typeface="Calibri"/>
                        </a:rPr>
                        <a:t>Estado compartido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Asteroides de tests anteriores siguen en escena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TearDown que limpia todo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2937"/>
                          </a:solidFill>
                          <a:latin typeface="Calibri"/>
                        </a:rPr>
                        <a:t>Orden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04 cuenta TODOS los asteroides de la escena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Contar solo lo que creó el test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2937"/>
                          </a:solidFill>
                          <a:latin typeface="Calibri"/>
                        </a:rPr>
                        <a:t>Azar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Posición X aleatoria del spawner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Random.InitState(semilla)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2937"/>
                          </a:solidFill>
                          <a:latin typeface="Calibri"/>
                        </a:rPr>
                        <a:t>Física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Las colisiones ocurren en FixedUpdate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yield return new WaitForFixedUpdate()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02920" y="5623560"/>
            <a:ext cx="11185855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623560"/>
            <a:ext cx="1082009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1">
                <a:solidFill>
                  <a:srgbClr val="6B7280"/>
                </a:solidFill>
                <a:latin typeface="Calibri"/>
              </a:rPr>
              <a:t>ℹ  Flaky: pasa o falla sin que cambie el código. Destruye la confianza en toda la suite.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Diseño según Plataformas de Juego · Testing de integración II · Hilo conductor: nave + asteroides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15/27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219456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09728"/>
            <a:ext cx="88696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1" i="0">
                <a:solidFill>
                  <a:srgbClr val="9CC9C5"/>
                </a:solidFill>
                <a:latin typeface="Calibri"/>
              </a:rPr>
              <a:t>BLOQUE 2 · DEMO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Esperar por condición, no por tiempo fijo (PROPUESTA)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7223760" cy="42062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17320"/>
            <a:ext cx="67665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94A3B8"/>
                </a:solidFill>
                <a:latin typeface="Consolas"/>
              </a:rPr>
              <a:t>// Antes: espera fija (TestSuite.cs 134)</a:t>
            </a:r>
          </a:p>
          <a:p>
            <a:r>
              <a:rPr sz="1250" b="0" i="0">
                <a:solidFill>
                  <a:srgbClr val="E2E8F0"/>
                </a:solidFill>
                <a:latin typeface="Consolas"/>
              </a:rPr>
              <a:t>yield return new WaitForSeconds(0.1f);</a:t>
            </a:r>
          </a:p>
          <a:p>
            <a:r>
              <a:rPr sz="1250" b="0" i="0">
                <a:solidFill>
                  <a:srgbClr val="E2E8F0"/>
                </a:solidFill>
                <a:latin typeface="Consolas"/>
              </a:rPr>
              <a:t> </a:t>
            </a:r>
          </a:p>
          <a:p>
            <a:r>
              <a:rPr sz="1250" b="0" i="0">
                <a:solidFill>
                  <a:srgbClr val="94A3B8"/>
                </a:solidFill>
                <a:latin typeface="Consolas"/>
              </a:rPr>
              <a:t>// Después: espera hasta que se cumpla la condición o se agote el tiempo</a:t>
            </a:r>
          </a:p>
          <a:p>
            <a:r>
              <a:rPr sz="1250" b="0" i="0">
                <a:solidFill>
                  <a:srgbClr val="E2E8F0"/>
                </a:solidFill>
                <a:latin typeface="Consolas"/>
              </a:rPr>
              <a:t>float timeout = 2f;</a:t>
            </a:r>
          </a:p>
          <a:p>
            <a:r>
              <a:rPr sz="1250" b="0" i="0">
                <a:solidFill>
                  <a:srgbClr val="E2E8F0"/>
                </a:solidFill>
                <a:latin typeface="Consolas"/>
              </a:rPr>
              <a:t>while (asteroid != null &amp;&amp; timeout &gt; 0f)</a:t>
            </a:r>
          </a:p>
          <a:p>
            <a:r>
              <a:rPr sz="1250" b="0" i="0">
                <a:solidFill>
                  <a:srgbClr val="E2E8F0"/>
                </a:solidFill>
                <a:latin typeface="Consolas"/>
              </a:rPr>
              <a:t>{</a:t>
            </a:r>
          </a:p>
          <a:p>
            <a:r>
              <a:rPr sz="1250" b="0" i="0">
                <a:solidFill>
                  <a:srgbClr val="E2E8F0"/>
                </a:solidFill>
                <a:latin typeface="Consolas"/>
              </a:rPr>
              <a:t>    timeout -= Time.deltaTime;</a:t>
            </a:r>
          </a:p>
          <a:p>
            <a:r>
              <a:rPr sz="1250" b="0" i="0">
                <a:solidFill>
                  <a:srgbClr val="E2E8F0"/>
                </a:solidFill>
                <a:latin typeface="Consolas"/>
              </a:rPr>
              <a:t>    yield return null;</a:t>
            </a:r>
          </a:p>
          <a:p>
            <a:r>
              <a:rPr sz="1250" b="0" i="0">
                <a:solidFill>
                  <a:srgbClr val="E2E8F0"/>
                </a:solidFill>
                <a:latin typeface="Consolas"/>
              </a:rPr>
              <a:t>}</a:t>
            </a:r>
          </a:p>
          <a:p>
            <a:r>
              <a:rPr sz="1250" b="0" i="0">
                <a:solidFill>
                  <a:srgbClr val="E2E8F0"/>
                </a:solidFill>
                <a:latin typeface="Consolas"/>
              </a:rPr>
              <a:t>Assert.IsTrue(asteroid == null,</a:t>
            </a:r>
          </a:p>
          <a:p>
            <a:r>
              <a:rPr sz="1250" b="0" i="0">
                <a:solidFill>
                  <a:srgbClr val="E2E8F0"/>
                </a:solidFill>
                <a:latin typeface="Consolas"/>
              </a:rPr>
              <a:t>    "El asteroide debería destruirse al recibir el láser");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1280160"/>
            <a:ext cx="3687775" cy="41148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92440" y="1280160"/>
            <a:ext cx="3504895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Calibri"/>
              </a:rPr>
              <a:t>Por qué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1828800"/>
            <a:ext cx="3687775" cy="14770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400" b="0" i="0">
                <a:solidFill>
                  <a:srgbClr val="1F2937"/>
                </a:solidFill>
                <a:latin typeface="Calibri"/>
              </a:rPr>
              <a:t>Pasa apenas se cumple: más rápido</a:t>
            </a:r>
          </a:p>
          <a:p>
            <a:pPr>
              <a:spcAft>
                <a:spcPts val="600"/>
              </a:spcAft>
            </a:pPr>
            <a:r>
              <a:rPr sz="10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400" b="0" i="0">
                <a:solidFill>
                  <a:srgbClr val="1F2937"/>
                </a:solidFill>
                <a:latin typeface="Calibri"/>
              </a:rPr>
              <a:t>Tolera máquinas lentas</a:t>
            </a:r>
          </a:p>
          <a:p>
            <a:pPr>
              <a:spcAft>
                <a:spcPts val="600"/>
              </a:spcAft>
            </a:pPr>
            <a:r>
              <a:rPr sz="10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400" b="0" i="0">
                <a:solidFill>
                  <a:srgbClr val="1F2937"/>
                </a:solidFill>
                <a:latin typeface="Calibri"/>
              </a:rPr>
              <a:t>El timeout evita esperas infinitas</a:t>
            </a:r>
          </a:p>
          <a:p>
            <a:pPr>
              <a:spcAft>
                <a:spcPts val="600"/>
              </a:spcAft>
            </a:pPr>
            <a:r>
              <a:rPr sz="10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400" b="0" i="0">
                <a:solidFill>
                  <a:srgbClr val="1F2937"/>
                </a:solidFill>
                <a:latin typeface="Calibri"/>
              </a:rPr>
              <a:t>«asteroid == null» usa la comparación de Unity para objetos destruidos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623560"/>
            <a:ext cx="11185855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5623560"/>
            <a:ext cx="1082009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1">
                <a:solidFill>
                  <a:srgbClr val="6B7280"/>
                </a:solidFill>
                <a:latin typeface="Calibri"/>
              </a:rPr>
              <a:t>ℹ  Código propio (PROPUESTA). El mensaje del Assert explica QUÉ se esperaba: ayuda a diagnosticar.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Diseño según Plataformas de Juego · Testing de integración II · Hilo conductor: nave + asteroides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6424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16/27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219456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09728"/>
            <a:ext cx="88696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1" i="0">
                <a:solidFill>
                  <a:srgbClr val="9CC9C5"/>
                </a:solidFill>
                <a:latin typeface="Calibri"/>
              </a:rPr>
              <a:t>PRÁCTICA · ANÁLISIS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3 · Un test que falla (10 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11185855" cy="42062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17320"/>
            <a:ext cx="10728655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0" i="0">
                <a:solidFill>
                  <a:srgbClr val="E2E8F0"/>
                </a:solidFill>
                <a:latin typeface="Consolas"/>
              </a:rPr>
              <a:t>[UnityTest]  // INT-AST-14 · IntegrationHypothesesTests.cs</a:t>
            </a:r>
          </a:p>
          <a:p>
            <a:r>
              <a:rPr sz="1150" b="0" i="0">
                <a:solidFill>
                  <a:srgbClr val="E2E8F0"/>
                </a:solidFill>
                <a:latin typeface="Consolas"/>
              </a:rPr>
              <a:t>public IEnumerator NewGame_RemovesLeftoverAsteroids()</a:t>
            </a:r>
          </a:p>
          <a:p>
            <a:r>
              <a:rPr sz="1150" b="0" i="0">
                <a:solidFill>
                  <a:srgbClr val="E2E8F0"/>
                </a:solidFill>
                <a:latin typeface="Consolas"/>
              </a:rPr>
              <a:t>{</a:t>
            </a:r>
          </a:p>
          <a:p>
            <a:r>
              <a:rPr sz="1150" b="0" i="0">
                <a:solidFill>
                  <a:srgbClr val="E2E8F0"/>
                </a:solidFill>
                <a:latin typeface="Consolas"/>
              </a:rPr>
              <a:t>    yield return null;                     // Start() asigna Game.instance</a:t>
            </a:r>
          </a:p>
          <a:p>
            <a:r>
              <a:rPr sz="1150" b="0" i="0">
                <a:solidFill>
                  <a:srgbClr val="E2E8F0"/>
                </a:solidFill>
                <a:latin typeface="Consolas"/>
              </a:rPr>
              <a:t>    game.NewGame();</a:t>
            </a:r>
          </a:p>
          <a:p>
            <a:r>
              <a:rPr sz="1150" b="0" i="0">
                <a:solidFill>
                  <a:srgbClr val="E2E8F0"/>
                </a:solidFill>
                <a:latin typeface="Consolas"/>
              </a:rPr>
              <a:t>    GameObject leftover = game.GetSpawner().SpawnAsteroid();</a:t>
            </a:r>
          </a:p>
          <a:p>
            <a:r>
              <a:rPr sz="1150" b="0" i="0">
                <a:solidFill>
                  <a:srgbClr val="E2E8F0"/>
                </a:solidFill>
                <a:latin typeface="Consolas"/>
              </a:rPr>
              <a:t>    leftover.transform.position = new Vector3(6f, 3f, leftover.transform.position.z);</a:t>
            </a:r>
          </a:p>
          <a:p>
            <a:r>
              <a:rPr sz="1150" b="0" i="0">
                <a:solidFill>
                  <a:srgbClr val="E2E8F0"/>
                </a:solidFill>
                <a:latin typeface="Consolas"/>
              </a:rPr>
              <a:t>    Game.GameOver();</a:t>
            </a:r>
          </a:p>
          <a:p>
            <a:r>
              <a:rPr sz="1150" b="0" i="0">
                <a:solidFill>
                  <a:srgbClr val="E2E8F0"/>
                </a:solidFill>
                <a:latin typeface="Consolas"/>
              </a:rPr>
              <a:t>    yield return null;</a:t>
            </a:r>
          </a:p>
          <a:p>
            <a:r>
              <a:rPr sz="1150" b="0" i="0">
                <a:solidFill>
                  <a:srgbClr val="E2E8F0"/>
                </a:solidFill>
                <a:latin typeface="Consolas"/>
              </a:rPr>
              <a:t> </a:t>
            </a:r>
          </a:p>
          <a:p>
            <a:r>
              <a:rPr sz="1150" b="0" i="0">
                <a:solidFill>
                  <a:srgbClr val="E2E8F0"/>
                </a:solidFill>
                <a:latin typeface="Consolas"/>
              </a:rPr>
              <a:t>    game.NewGame();                        // el jugador reinicia</a:t>
            </a:r>
          </a:p>
          <a:p>
            <a:r>
              <a:rPr sz="1150" b="0" i="0">
                <a:solidFill>
                  <a:srgbClr val="E2E8F0"/>
                </a:solidFill>
                <a:latin typeface="Consolas"/>
              </a:rPr>
              <a:t>    yield return null;</a:t>
            </a:r>
          </a:p>
          <a:p>
            <a:r>
              <a:rPr sz="1150" b="0" i="0">
                <a:solidFill>
                  <a:srgbClr val="E2E8F0"/>
                </a:solidFill>
                <a:latin typeface="Consolas"/>
              </a:rPr>
              <a:t> </a:t>
            </a:r>
          </a:p>
          <a:p>
            <a:r>
              <a:rPr sz="1150" b="0" i="0">
                <a:solidFill>
                  <a:srgbClr val="E2E8F0"/>
                </a:solidFill>
                <a:latin typeface="Consolas"/>
              </a:rPr>
              <a:t>    Assert.IsTrue(leftover == null, "NewGame debería eliminar los asteroides previos");</a:t>
            </a:r>
          </a:p>
          <a:p>
            <a:r>
              <a:rPr sz="1150" b="0" i="0">
                <a:solidFill>
                  <a:srgbClr val="E2E8F0"/>
                </a:solidFill>
                <a:latin typeface="Consolas"/>
              </a:rPr>
              <a:t>}</a:t>
            </a:r>
          </a:p>
          <a:p>
            <a:r>
              <a:rPr sz="1150" b="0" i="0">
                <a:solidFill>
                  <a:srgbClr val="E2E8F0"/>
                </a:solidFill>
                <a:latin typeface="Consolas"/>
              </a:rPr>
              <a:t> </a:t>
            </a:r>
          </a:p>
          <a:p>
            <a:r>
              <a:rPr sz="1150" b="0" i="0">
                <a:solidFill>
                  <a:srgbClr val="FCA5A5"/>
                </a:solidFill>
                <a:latin typeface="Consolas"/>
              </a:rPr>
              <a:t>✗ FAIL (batchmode 28/09/2026) — NewGame debería eliminar los asteroides previos</a:t>
            </a:r>
          </a:p>
          <a:p>
            <a:r>
              <a:rPr sz="1150" b="0" i="0">
                <a:solidFill>
                  <a:srgbClr val="FCA5A5"/>
                </a:solidFill>
                <a:latin typeface="Consolas"/>
              </a:rPr>
              <a:t>  Expected: True   But was: False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5623560"/>
            <a:ext cx="11185855" cy="658368"/>
          </a:xfrm>
          <a:prstGeom prst="rect">
            <a:avLst/>
          </a:prstGeom>
          <a:solidFill>
            <a:srgbClr val="EA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623560"/>
            <a:ext cx="1082009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1">
                <a:solidFill>
                  <a:srgbClr val="1F2A44"/>
                </a:solidFill>
                <a:latin typeface="Calibri"/>
              </a:rPr>
              <a:t>✍ Actividad:  1) ¿Falla el juego o el test?  2) Causa en el código  3) Impacto para el jugador  4) Ticket  5) ¿Y después del arreglo?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Diseño según Plataformas de Juego · Testing de integración II · Hilo conductor: nave + asteroides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17/27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219456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09728"/>
            <a:ext cx="88696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1" i="0">
                <a:solidFill>
                  <a:srgbClr val="9CC9C5"/>
                </a:solidFill>
                <a:latin typeface="Calibri"/>
              </a:rPr>
              <a:t>RESOLUCIÓN DOCENTE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3 · Resolución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11185855" cy="475488"/>
          </a:xfrm>
          <a:prstGeom prst="rect">
            <a:avLst/>
          </a:prstGeom>
          <a:solidFill>
            <a:srgbClr val="3341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280160"/>
            <a:ext cx="1082009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SpawnAsteroid() crea con Instantiate y nunca pasa por el pool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55648"/>
            <a:ext cx="11185855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0D9488"/>
                </a:solidFill>
                <a:latin typeface="Calibri"/>
              </a:rPr>
              <a:t>↓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011680"/>
            <a:ext cx="11185855" cy="475488"/>
          </a:xfrm>
          <a:prstGeom prst="rect">
            <a:avLst/>
          </a:prstGeom>
          <a:solidFill>
            <a:srgbClr val="3341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11680"/>
            <a:ext cx="1082009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NewGame() → ClearAsteroids() → asteroids.Dispose()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487168"/>
            <a:ext cx="11185855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0D9488"/>
                </a:solidFill>
                <a:latin typeface="Calibri"/>
              </a:rPr>
              <a:t>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743200"/>
            <a:ext cx="11185855" cy="475488"/>
          </a:xfrm>
          <a:prstGeom prst="rect">
            <a:avLst/>
          </a:prstGeom>
          <a:solidFill>
            <a:srgbClr val="3341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743200"/>
            <a:ext cx="1082009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Dispose() vacía el pool… que no contiene los asteroides en pantalla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218688"/>
            <a:ext cx="11185855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0D9488"/>
                </a:solidFill>
                <a:latin typeface="Calibri"/>
              </a:rPr>
              <a:t>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474720"/>
            <a:ext cx="11185855" cy="475488"/>
          </a:xfrm>
          <a:prstGeom prst="rect">
            <a:avLst/>
          </a:prstGeom>
          <a:solidFill>
            <a:srgbClr val="3341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474720"/>
            <a:ext cx="1082009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El asteroide viejo sobrevive y puede chocar la nave recién reparada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087368"/>
            <a:ext cx="11185855" cy="1254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400" b="0" i="0">
                <a:solidFill>
                  <a:srgbClr val="1F2937"/>
                </a:solidFill>
                <a:latin typeface="Calibri"/>
              </a:rPr>
              <a:t>Falla el juego si el diseño exige limpiar; confirmarlo antes de levantar el ticket</a:t>
            </a:r>
          </a:p>
          <a:p>
            <a:pPr>
              <a:spcAft>
                <a:spcPts val="600"/>
              </a:spcAft>
            </a:pPr>
            <a:r>
              <a:rPr sz="10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400" b="0" i="0">
                <a:solidFill>
                  <a:srgbClr val="1F2937"/>
                </a:solidFill>
                <a:latin typeface="Calibri"/>
              </a:rPr>
              <a:t>Ticket: «Reiniciar no elimina asteroides previos: posible Game Over inmediato» · Severidad Media · Prioridad Alta</a:t>
            </a:r>
          </a:p>
          <a:p>
            <a:pPr>
              <a:spcAft>
                <a:spcPts val="600"/>
              </a:spcAft>
            </a:pPr>
            <a:r>
              <a:rPr sz="10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400" b="0" i="0">
                <a:solidFill>
                  <a:srgbClr val="1F2937"/>
                </a:solidFill>
                <a:latin typeface="Calibri"/>
              </a:rPr>
              <a:t>Arreglo: usar el pool de forma consistente (Get/Release) o destruir los Asteroid en ClearAsteroids</a:t>
            </a:r>
          </a:p>
          <a:p>
            <a:pPr>
              <a:spcAft>
                <a:spcPts val="600"/>
              </a:spcAft>
            </a:pPr>
            <a:r>
              <a:rPr sz="10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400" b="0" i="0">
                <a:solidFill>
                  <a:srgbClr val="1F2937"/>
                </a:solidFill>
                <a:latin typeface="Calibri"/>
              </a:rPr>
              <a:t>Después del arreglo, el test se queda en la suite como test de regresión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760720"/>
            <a:ext cx="11185855" cy="457200"/>
          </a:xfrm>
          <a:prstGeom prst="rect">
            <a:avLst/>
          </a:prstGeom>
          <a:solidFill>
            <a:srgbClr val="FEF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760720"/>
            <a:ext cx="109115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1" i="0">
                <a:solidFill>
                  <a:srgbClr val="D97706"/>
                </a:solidFill>
                <a:latin typeface="Calibri"/>
              </a:rPr>
              <a:t>💻 Ver en el código:  </a:t>
            </a:r>
            <a:r>
              <a:rPr sz="1200" b="0" i="0">
                <a:solidFill>
                  <a:srgbClr val="1F2937"/>
                </a:solidFill>
                <a:latin typeface="Calibri"/>
              </a:rPr>
              <a:t>Spawner.cs 73–99 (Instantiate) y 115–117 (Dispose) · Game.cs 78 (ClearAsteroids) · Spawner.cs 52–53 (creación del pool)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Diseño según Plataformas de Juego · Testing de integración II · Hilo conductor: nave + asteroides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6424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18/27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219456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09728"/>
            <a:ext cx="88696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1" i="0">
                <a:solidFill>
                  <a:srgbClr val="9CC9C5"/>
                </a:solidFill>
                <a:latin typeface="Calibri"/>
              </a:rPr>
              <a:t>BLOQUE 3 · TEORÍA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Dependencias y dobles de prueba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5650992" cy="310896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9144" bIns="9144" wrap="non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Ejemplo: Martin Fowler · «TestDouble» (taxonomía de Gerard Meszaros)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755648"/>
          <a:ext cx="11185852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2872"/>
                <a:gridCol w="3107181"/>
                <a:gridCol w="3107181"/>
                <a:gridCol w="3728618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Doble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hace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Ejemplo simple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 el juego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2937"/>
                          </a:solidFill>
                          <a:latin typeface="Calibri"/>
                        </a:rPr>
                        <a:t>Dummy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Solo ocupa un lugar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Un DNI de muestra para llenar un formulario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Cubo con collider en INT-AST-10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2937"/>
                          </a:solidFill>
                          <a:latin typeface="Calibri"/>
                        </a:rPr>
                        <a:t>Stub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Devuelve respuestas fijas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Un reloj que siempre dice 7:00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Entrada que siempre dice «Espacio presionado» (PROPUESTA)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2937"/>
                          </a:solidFill>
                          <a:latin typeface="Calibri"/>
                        </a:rPr>
                        <a:t>Spy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Registra llamadas para revisarlas después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Un contador de timbres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Contar llamadas a AsteroidDestroyed (PROPUESTA)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2937"/>
                          </a:solidFill>
                          <a:latin typeface="Calibri"/>
                        </a:rPr>
                        <a:t>Mock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Espera llamadas concretas y falla si no llegan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«El timbre debe sonar una vez»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GameOver llama a StopSpawning exactamente una vez (PROPUESTA)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2937"/>
                          </a:solidFill>
                          <a:latin typeface="Calibri"/>
                        </a:rPr>
                        <a:t>Fake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Implementación simple que funciona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Una agenda en papel en vez de la app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Récord guardado en memoria en vez de un archivo (PROPUESTA)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02920" y="5623560"/>
            <a:ext cx="11185855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623560"/>
            <a:ext cx="1082009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1">
                <a:solidFill>
                  <a:srgbClr val="6B7280"/>
                </a:solidFill>
                <a:latin typeface="Calibri"/>
              </a:rPr>
              <a:t>ℹ  En integración, lo que está en la costura bajo prueba va REAL; se reemplaza lo no determinista o lo que queda fuera de alcance.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Diseño según Plataformas de Juego · Testing de integración II · Hilo conductor: nave + asteroides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19/27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219456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09728"/>
            <a:ext cx="88696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1" i="0">
                <a:solidFill>
                  <a:srgbClr val="9CC9C5"/>
                </a:solidFill>
                <a:latin typeface="Calibri"/>
              </a:rPr>
              <a:t>BLOQUE 3 · APLICACIÓN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Caso: la regla del cooldown vive junto al teclado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2775204" cy="310896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9144" bIns="9144" wrap="non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Ejemplo: INT-AST-16 (PROPUESTA)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7315200" cy="26917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500" b="0" i="0">
                <a:solidFill>
                  <a:srgbClr val="1F2937"/>
                </a:solidFill>
                <a:latin typeface="Calibri"/>
              </a:rPr>
              <a:t>Regla de juego: como máximo un láser cada 0,4 s aunque se mantenga Espacio</a:t>
            </a:r>
          </a:p>
          <a:p>
            <a:pPr>
              <a:spcAft>
                <a:spcPts val="600"/>
              </a:spcAft>
            </a:pPr>
            <a:r>
              <a:rPr sz="11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500" b="0" i="0">
                <a:solidFill>
                  <a:srgbClr val="1F2937"/>
                </a:solidFill>
                <a:latin typeface="Calibri"/>
              </a:rPr>
              <a:t>El chequeo de canShoot está en Update(), junto a Input.GetKey(Space)</a:t>
            </a:r>
          </a:p>
          <a:p>
            <a:pPr>
              <a:spcAft>
                <a:spcPts val="600"/>
              </a:spcAft>
            </a:pPr>
            <a:r>
              <a:rPr sz="11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500" b="0" i="0">
                <a:solidFill>
                  <a:srgbClr val="1F2937"/>
                </a:solidFill>
                <a:latin typeface="Calibri"/>
              </a:rPr>
              <a:t>ShootLaser() no respeta la regla: dos llamadas seguidas crean dos láseres</a:t>
            </a:r>
          </a:p>
          <a:p>
            <a:pPr>
              <a:spcAft>
                <a:spcPts val="600"/>
              </a:spcAft>
            </a:pPr>
            <a:r>
              <a:rPr sz="11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500" b="0" i="0">
                <a:solidFill>
                  <a:srgbClr val="1F2937"/>
                </a:solidFill>
                <a:latin typeface="Calibri"/>
              </a:rPr>
              <a:t>Sin simular el teclado, la regla no se puede probar</a:t>
            </a:r>
          </a:p>
          <a:p>
            <a:pPr>
              <a:spcAft>
                <a:spcPts val="600"/>
              </a:spcAft>
            </a:pPr>
            <a:r>
              <a:rPr sz="11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500" b="0" i="0">
                <a:solidFill>
                  <a:srgbClr val="1F2937"/>
                </a:solidFill>
                <a:latin typeface="Calibri"/>
              </a:rPr>
              <a:t>Opción A: Input System + InputTestFixture (requiere un paquete no confirmado en el proyecto)</a:t>
            </a:r>
          </a:p>
          <a:p>
            <a:pPr>
              <a:spcAft>
                <a:spcPts val="600"/>
              </a:spcAft>
            </a:pPr>
            <a:r>
              <a:rPr sz="11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500" b="0" i="0">
                <a:solidFill>
                  <a:srgbClr val="1F2937"/>
                </a:solidFill>
                <a:latin typeface="Calibri"/>
              </a:rPr>
              <a:t>Opción B: separar la lectura de entrada detrás de una interfaz y usar un stub (refactor)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5029200"/>
            <a:ext cx="11185855" cy="457200"/>
          </a:xfrm>
          <a:prstGeom prst="rect">
            <a:avLst/>
          </a:prstGeom>
          <a:solidFill>
            <a:srgbClr val="FEF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029200"/>
            <a:ext cx="109115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1" i="0">
                <a:solidFill>
                  <a:srgbClr val="D97706"/>
                </a:solidFill>
                <a:latin typeface="Calibri"/>
              </a:rPr>
              <a:t>💻 Ver en el código:  </a:t>
            </a:r>
            <a:r>
              <a:rPr sz="1200" b="0" i="0">
                <a:solidFill>
                  <a:srgbClr val="1F2937"/>
                </a:solidFill>
                <a:latin typeface="Calibri"/>
              </a:rPr>
              <a:t>Ship.cs 61–64 (regla + tecla) · Ship.cs 77–80 (ShootLaser sin chequeo) · Ship.cs 82–90 (cooldown)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623560"/>
            <a:ext cx="11185855" cy="658368"/>
          </a:xfrm>
          <a:prstGeom prst="rect">
            <a:avLst/>
          </a:prstGeom>
          <a:solidFill>
            <a:srgbClr val="EA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623560"/>
            <a:ext cx="1082009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1">
                <a:solidFill>
                  <a:srgbClr val="1F2A44"/>
                </a:solidFill>
                <a:latin typeface="Calibri"/>
              </a:rPr>
              <a:t>❓  Esperado con Espacio mantenido 1 s: ¿cuántos láseres? (Respuesta: 3, en t = 0; 0,4; 0,8)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92440" y="1280160"/>
            <a:ext cx="3593592" cy="3611880"/>
          </a:xfrm>
          <a:prstGeom prst="rect">
            <a:avLst/>
          </a:prstGeom>
          <a:solidFill>
            <a:srgbClr val="F8FAFC"/>
          </a:solidFill>
          <a:ln w="19050">
            <a:solidFill>
              <a:srgbClr val="94A3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400" b="1" i="0">
                <a:solidFill>
                  <a:srgbClr val="6B7280"/>
                </a:solidFill>
                <a:latin typeface="Calibri"/>
              </a:rPr>
              <a:t>🖼  IMAGEN</a:t>
            </a:r>
          </a:p>
          <a:p>
            <a:pPr algn="ctr">
              <a:spcBef>
                <a:spcPts val="600"/>
              </a:spcBef>
            </a:pPr>
            <a:r>
              <a:rPr sz="1200" b="0" i="1">
                <a:solidFill>
                  <a:srgbClr val="6B7280"/>
                </a:solidFill>
                <a:latin typeface="Calibri"/>
              </a:rPr>
              <a:t>Diagrama: hoy «Teclado → Ship.Update (regla + movimiento)»; propuesta «Teclado / Stub → Entrada → Ship (regla)», con el stub resaltado.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Diseño según Plataformas de Juego · Testing de integración II · Hilo conductor: nave + asteroides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6424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20/27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219456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09728"/>
            <a:ext cx="88696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1" i="0">
                <a:solidFill>
                  <a:srgbClr val="9CC9C5"/>
                </a:solidFill>
                <a:latin typeface="Calibri"/>
              </a:rPr>
              <a:t>BLOQUE 4 · CASO REAL DEL PROYECTO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Cobertura: qué mide y qué no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5340096" cy="310896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9144" bIns="9144" wrap="non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Ejemplo: Reporte regenerado: 7 tests, carpeta limpia, 28/09/2026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7315200" cy="26003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500" b="0" i="0">
                <a:solidFill>
                  <a:srgbClr val="1F2937"/>
                </a:solidFill>
                <a:latin typeface="Calibri"/>
              </a:rPr>
              <a:t>Reporte viejo del repo: 65,5 %, mezclando 3 corridas (15/09 y 18/09) y el código de los tests</a:t>
            </a:r>
          </a:p>
          <a:p>
            <a:pPr>
              <a:spcAft>
                <a:spcPts val="600"/>
              </a:spcAft>
            </a:pPr>
            <a:r>
              <a:rPr sz="11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500" b="0" i="0">
                <a:solidFill>
                  <a:srgbClr val="1F2937"/>
                </a:solidFill>
                <a:latin typeface="Calibri"/>
              </a:rPr>
              <a:t>Regenerado: 73,6 % de líneas y 87 % de métodos de GameAssembly · Game.cs 100 % · Ship.cs 43 %</a:t>
            </a:r>
          </a:p>
          <a:p>
            <a:pPr>
              <a:spcAft>
                <a:spcPts val="600"/>
              </a:spcAft>
            </a:pPr>
            <a:r>
              <a:rPr sz="11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500" b="0" i="0">
                <a:solidFill>
                  <a:srgbClr val="1F2937"/>
                </a:solidFill>
                <a:latin typeface="Calibri"/>
              </a:rPr>
              <a:t>Game.cs 100 %… pero la línea del HUD (85) se ejecuta sin que ningún test la compruebe</a:t>
            </a:r>
          </a:p>
          <a:p>
            <a:pPr>
              <a:spcAft>
                <a:spcPts val="600"/>
              </a:spcAft>
            </a:pPr>
            <a:r>
              <a:rPr sz="11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500" b="0" i="0">
                <a:solidFill>
                  <a:srgbClr val="1F2937"/>
                </a:solidFill>
                <a:latin typeface="Calibri"/>
              </a:rPr>
              <a:t>Nunca ejecutado: entrada del jugador, movimiento lateral, asteroide que sale de pantalla, spawn automático</a:t>
            </a:r>
          </a:p>
          <a:p>
            <a:pPr>
              <a:spcAft>
                <a:spcPts val="600"/>
              </a:spcAft>
            </a:pPr>
            <a:r>
              <a:rPr sz="11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500" b="0" i="0">
                <a:solidFill>
                  <a:srgbClr val="1F2937"/>
                </a:solidFill>
                <a:latin typeface="Calibri"/>
              </a:rPr>
              <a:t>Cobertura de ramas: 0 de 0 → no se midió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5029200"/>
            <a:ext cx="11185855" cy="457200"/>
          </a:xfrm>
          <a:prstGeom prst="rect">
            <a:avLst/>
          </a:prstGeom>
          <a:solidFill>
            <a:srgbClr val="FEF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029200"/>
            <a:ext cx="109115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1" i="0">
                <a:solidFill>
                  <a:srgbClr val="D97706"/>
                </a:solidFill>
                <a:latin typeface="Calibri"/>
              </a:rPr>
              <a:t>💻 Ver en el código:  </a:t>
            </a:r>
            <a:r>
              <a:rPr sz="1200" b="0" i="0">
                <a:solidFill>
                  <a:srgbClr val="1F2937"/>
                </a:solidFill>
                <a:latin typeface="Calibri"/>
              </a:rPr>
              <a:t>Sin cubrir: Ship.cs 61–74 y 99–115 · Asteroid.cs 48 · Spawner.cs 69 · Laser.cs 42 — Ejecutada sin verificar: Game.cs 85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623560"/>
            <a:ext cx="11185855" cy="658368"/>
          </a:xfrm>
          <a:prstGeom prst="rect">
            <a:avLst/>
          </a:prstGeom>
          <a:solidFill>
            <a:srgbClr val="EA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623560"/>
            <a:ext cx="1082009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1">
                <a:solidFill>
                  <a:srgbClr val="1F2A44"/>
                </a:solidFill>
                <a:latin typeface="Calibri"/>
              </a:rPr>
              <a:t>❓  Game.cs tiene 100 % de cobertura: ¿está bien probado? ¿Usarían ese número para decidir si el juego está listo?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92440" y="1280160"/>
            <a:ext cx="3593592" cy="3611880"/>
          </a:xfrm>
          <a:prstGeom prst="rect">
            <a:avLst/>
          </a:prstGeom>
          <a:solidFill>
            <a:srgbClr val="F8FAFC"/>
          </a:solidFill>
          <a:ln w="19050">
            <a:solidFill>
              <a:srgbClr val="94A3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400" b="1" i="0">
                <a:solidFill>
                  <a:srgbClr val="6B7280"/>
                </a:solidFill>
                <a:latin typeface="Calibri"/>
              </a:rPr>
              <a:t>🖼  IMAGEN</a:t>
            </a:r>
          </a:p>
          <a:p>
            <a:pPr algn="ctr">
              <a:spcBef>
                <a:spcPts val="600"/>
              </a:spcBef>
            </a:pPr>
            <a:r>
              <a:rPr sz="1200" b="0" i="1">
                <a:solidFill>
                  <a:srgbClr val="6B7280"/>
                </a:solidFill>
                <a:latin typeface="Calibri"/>
              </a:rPr>
              <a:t>Captura del reporte regenerado: resumen por clase (Game 100 %, Ship 43 %) y la vista línea por línea de Ship.cs con las líneas 61–74 en rojo.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Diseño según Plataformas de Juego · Testing de integración II · Hilo conductor: nave + asteroides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6424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21/27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219456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09728"/>
            <a:ext cx="88696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1" i="0">
                <a:solidFill>
                  <a:srgbClr val="9CC9C5"/>
                </a:solidFill>
                <a:latin typeface="Calibri"/>
              </a:rPr>
              <a:t>BLOQUE 4 · TEORÍA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Regresión: del bug al test que lo vigila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11185855" cy="475488"/>
          </a:xfrm>
          <a:prstGeom prst="rect">
            <a:avLst/>
          </a:prstGeom>
          <a:solidFill>
            <a:srgbClr val="3341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280160"/>
            <a:ext cx="1082009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Se detecta el defecto (Actividad 3: asteroides que sobreviven al reinicio)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55648"/>
            <a:ext cx="11185855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0D9488"/>
                </a:solidFill>
                <a:latin typeface="Calibri"/>
              </a:rPr>
              <a:t>↓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011680"/>
            <a:ext cx="11185855" cy="475488"/>
          </a:xfrm>
          <a:prstGeom prst="rect">
            <a:avLst/>
          </a:prstGeom>
          <a:solidFill>
            <a:srgbClr val="3341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11680"/>
            <a:ext cx="1082009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Se escribe el test y se ve en ROJO: prueba que el defecto existe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487168"/>
            <a:ext cx="11185855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0D9488"/>
                </a:solidFill>
                <a:latin typeface="Calibri"/>
              </a:rPr>
              <a:t>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743200"/>
            <a:ext cx="11185855" cy="475488"/>
          </a:xfrm>
          <a:prstGeom prst="rect">
            <a:avLst/>
          </a:prstGeom>
          <a:solidFill>
            <a:srgbClr val="3341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743200"/>
            <a:ext cx="1082009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Se arregla el código y el test pasa a VERDE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218688"/>
            <a:ext cx="11185855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0D9488"/>
                </a:solidFill>
                <a:latin typeface="Calibri"/>
              </a:rPr>
              <a:t>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474720"/>
            <a:ext cx="11185855" cy="47548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474720"/>
            <a:ext cx="1082009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El test queda en la suite: si el defecto vuelve, se entera la suite antes que el jugador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623560"/>
            <a:ext cx="11185855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623560"/>
            <a:ext cx="1082009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1">
                <a:solidFill>
                  <a:srgbClr val="6B7280"/>
                </a:solidFill>
                <a:latin typeface="Calibri"/>
              </a:rPr>
              <a:t>ℹ  Retesting = volver a probar ESE arreglo. Regresión = volver a probar TODO lo que ya andaba (Unidad II).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Diseño según Plataformas de Juego · Testing de integración II · Hilo conductor: nave + asteroides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6424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22/27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219456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09728"/>
            <a:ext cx="88696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1" i="0">
                <a:solidFill>
                  <a:srgbClr val="9CC9C5"/>
                </a:solidFill>
                <a:latin typeface="Calibri"/>
              </a:rPr>
              <a:t>PRÁCTICA · EN GRUPOS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4 · Diseñar una mini-suite (14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7315200" cy="2076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700" b="0" i="0">
                <a:solidFill>
                  <a:srgbClr val="1F2937"/>
                </a:solidFill>
                <a:latin typeface="Calibri"/>
              </a:rPr>
              <a:t>Tienen los 7 tests actuales + los casos nuevos de la clase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700" b="0" i="0">
                <a:solidFill>
                  <a:srgbClr val="1F2937"/>
                </a:solidFill>
                <a:latin typeface="Calibri"/>
              </a:rPr>
              <a:t>Máximo 12 tests en la suite de integración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700" b="0" i="0">
                <a:solidFill>
                  <a:srgbClr val="1F2937"/>
                </a:solidFill>
                <a:latin typeface="Calibri"/>
              </a:rPr>
              <a:t>Categorías: Smoke (cada cambio) · Integración · Borde · Regresión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700" b="0" i="0">
                <a:solidFill>
                  <a:srgbClr val="1F2937"/>
                </a:solidFill>
                <a:latin typeface="Calibri"/>
              </a:rPr>
              <a:t>Definan la fixture común y una convención de nombres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700" b="0" i="0">
                <a:solidFill>
                  <a:srgbClr val="1F2937"/>
                </a:solidFill>
                <a:latin typeface="Calibri"/>
              </a:rPr>
              <a:t>Decidan qué tests existentes se quedan, se reescriben, se fusionan o salen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623560"/>
            <a:ext cx="11185855" cy="658368"/>
          </a:xfrm>
          <a:prstGeom prst="rect">
            <a:avLst/>
          </a:prstGeom>
          <a:solidFill>
            <a:srgbClr val="EA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623560"/>
            <a:ext cx="1082009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1">
                <a:solidFill>
                  <a:srgbClr val="1F2A44"/>
                </a:solidFill>
                <a:latin typeface="Calibri"/>
              </a:rPr>
              <a:t>✍ Actividad:  Entreguen la suite en una tabla: test · categoría · cuándo corre · decisión (queda / reescribir / fusionar / sale).</a:t>
            </a:r>
          </a:p>
        </p:txBody>
      </p:sp>
      <p:sp>
        <p:nvSpPr>
          <p:cNvPr id="9" name="Rectangle 8"/>
          <p:cNvSpPr/>
          <p:nvPr/>
        </p:nvSpPr>
        <p:spPr>
          <a:xfrm>
            <a:off x="8092440" y="1280160"/>
            <a:ext cx="3593592" cy="4160520"/>
          </a:xfrm>
          <a:prstGeom prst="rect">
            <a:avLst/>
          </a:prstGeom>
          <a:solidFill>
            <a:srgbClr val="F8FAFC"/>
          </a:solidFill>
          <a:ln w="19050">
            <a:solidFill>
              <a:srgbClr val="94A3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400" b="1" i="0">
                <a:solidFill>
                  <a:srgbClr val="6B7280"/>
                </a:solidFill>
                <a:latin typeface="Calibri"/>
              </a:rPr>
              <a:t>🖼  IMAGEN</a:t>
            </a:r>
          </a:p>
          <a:p>
            <a:pPr algn="ctr">
              <a:spcBef>
                <a:spcPts val="600"/>
              </a:spcBef>
            </a:pPr>
            <a:r>
              <a:rPr sz="1200" b="0" i="1">
                <a:solidFill>
                  <a:srgbClr val="6B7280"/>
                </a:solidFill>
                <a:latin typeface="Calibri"/>
              </a:rPr>
              <a:t>Tablero de cuatro columnas (Smoke · Integración · Borde · Regresión) con tarjetas de los tests para ubicar.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Diseño según Plataformas de Juego · Testing de integración II · Hilo conductor: nave + asteroides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23/27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219456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09728"/>
            <a:ext cx="88696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1" i="0">
                <a:solidFill>
                  <a:srgbClr val="9CC9C5"/>
                </a:solidFill>
                <a:latin typeface="Calibri"/>
              </a:rPr>
              <a:t>RESOLUCIÓN DOCENTE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4 · Resolución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185854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4309"/>
                <a:gridCol w="6835800"/>
                <a:gridCol w="2485745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Categoría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Tests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Cuándo corre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2937"/>
                          </a:solidFill>
                          <a:latin typeface="Calibri"/>
                        </a:rPr>
                        <a:t>Smoke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02 Game Over por choque · 06 Láser destruye asteroide · 08 Reinicio tras Game Over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Cada cambio (segundos)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2937"/>
                          </a:solidFill>
                          <a:latin typeface="Calibri"/>
                        </a:rPr>
                        <a:t>Integración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04 reescrito (limpieza + conteo propio) · 09 HUD (absorbe 07) · 10 Láser vs. objeto ajeno · 11 Asteroide vs. asteroide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Cada commit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2937"/>
                          </a:solidFill>
                          <a:latin typeface="Calibri"/>
                        </a:rPr>
                        <a:t>Borde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12 Límite y = −5 · 13 Doble impacto · 15 Doble NewGame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Cada commit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2937"/>
                          </a:solidFill>
                          <a:latin typeface="Calibri"/>
                        </a:rPr>
                        <a:t>Regresión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14 Reinicio limpia asteroides (en rojo hasta el arreglo)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Cada commit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2937"/>
                          </a:solidFill>
                          <a:latin typeface="Calibri"/>
                        </a:rPr>
                        <a:t>Fuera de esta suite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01 y 05 → movimiento de un solo componente · 03 → reemplazado por 08 · 16 → pendiente del refactor de entrada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623560"/>
            <a:ext cx="11185855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623560"/>
            <a:ext cx="1082009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1">
                <a:solidFill>
                  <a:srgbClr val="6B7280"/>
                </a:solidFill>
                <a:latin typeface="Calibri"/>
              </a:rPr>
              <a:t>ℹ  Fixture común: semilla fija + limpieza total · Nombres: Flujo_Condición_Resultado · [Category("Smoke")]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Diseño según Plataformas de Juego · Testing de integración II · Hilo conductor: nave + asteroides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24/27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219456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09728"/>
            <a:ext cx="88696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1" i="0">
                <a:solidFill>
                  <a:srgbClr val="9CC9C5"/>
                </a:solidFill>
                <a:latin typeface="Calibri"/>
              </a:rPr>
              <a:t>IDEAS PARA LLEVARSE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Cierre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11185855" cy="1885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800" b="0" i="0">
                <a:solidFill>
                  <a:srgbClr val="1F2937"/>
                </a:solidFill>
                <a:latin typeface="Calibri"/>
              </a:rPr>
              <a:t>Una suite solo de casos positivos deja sin probar lo que el juego NO debe hacer</a:t>
            </a:r>
          </a:p>
          <a:p>
            <a:pPr>
              <a:spcAft>
                <a:spcPts val="6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800" b="0" i="0">
                <a:solidFill>
                  <a:srgbClr val="1F2937"/>
                </a:solidFill>
                <a:latin typeface="Calibri"/>
              </a:rPr>
              <a:t>El borde en integración también es tiempo, cantidad, repetición y orden</a:t>
            </a:r>
          </a:p>
          <a:p>
            <a:pPr>
              <a:spcAft>
                <a:spcPts val="6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800" b="0" i="0">
                <a:solidFill>
                  <a:srgbClr val="1F2937"/>
                </a:solidFill>
                <a:latin typeface="Calibri"/>
              </a:rPr>
              <a:t>Sin fixtures que limpien, los tests se contaminan entre sí y se vuelven frágiles</a:t>
            </a:r>
          </a:p>
          <a:p>
            <a:pPr>
              <a:spcAft>
                <a:spcPts val="6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800" b="0" i="0">
                <a:solidFill>
                  <a:srgbClr val="1F2937"/>
                </a:solidFill>
                <a:latin typeface="Calibri"/>
              </a:rPr>
              <a:t>Un doble de prueba se usa para lo que no está bajo prueba, no para todo</a:t>
            </a:r>
          </a:p>
          <a:p>
            <a:pPr>
              <a:spcAft>
                <a:spcPts val="6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800" b="0" i="0">
                <a:solidFill>
                  <a:srgbClr val="1F2937"/>
                </a:solidFill>
                <a:latin typeface="Calibri"/>
              </a:rPr>
              <a:t>La cobertura dice qué se ejecutó, no qué se verificó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623560"/>
            <a:ext cx="11185855" cy="658368"/>
          </a:xfrm>
          <a:prstGeom prst="rect">
            <a:avLst/>
          </a:prstGeom>
          <a:solidFill>
            <a:srgbClr val="EA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623560"/>
            <a:ext cx="1082009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1">
                <a:solidFill>
                  <a:srgbClr val="1F2A44"/>
                </a:solidFill>
                <a:latin typeface="Calibri"/>
              </a:rPr>
              <a:t>✍ Actividad:  Ticket de salida: un caso negativo y un caso borde para un juego propio.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Diseño según Plataformas de Juego · Testing de integración II · Hilo conductor: nave + asteroides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25/27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219456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09728"/>
            <a:ext cx="88696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1" i="0">
                <a:solidFill>
                  <a:srgbClr val="9CC9C5"/>
                </a:solidFill>
                <a:latin typeface="Calibri"/>
              </a:rPr>
              <a:t>REFERENCIA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Anexo · Catálogo de casos nuevos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185853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3654"/>
                <a:gridCol w="5897996"/>
                <a:gridCol w="2033791"/>
                <a:gridCol w="1830412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Caso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2937"/>
                          </a:solidFill>
                          <a:latin typeface="Calibri"/>
                        </a:rPr>
                        <a:t>INT-AST-08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Reinicio completo tras un Game Over real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Positivo · flujo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PROPUESTA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2937"/>
                          </a:solidFill>
                          <a:latin typeface="Calibri"/>
                        </a:rPr>
                        <a:t>INT-AST-09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El HUD muestra el puntaje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Positivo · regresión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PROPUESTA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2937"/>
                          </a:solidFill>
                          <a:latin typeface="Calibri"/>
                        </a:rPr>
                        <a:t>INT-AST-10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Láser contra un objeto que no es asteroide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Negativo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PROPUESTA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2937"/>
                          </a:solidFill>
                          <a:latin typeface="Calibri"/>
                        </a:rPr>
                        <a:t>INT-AST-11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Choque entre asteroides no da Game Over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Negativo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PROPUESTA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2937"/>
                          </a:solidFill>
                          <a:latin typeface="Calibri"/>
                        </a:rPr>
                        <a:t>INT-AST-12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Asteroide que cruza y = −5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Borde · valor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PROPUESTA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2937"/>
                          </a:solidFill>
                          <a:latin typeface="Calibri"/>
                        </a:rPr>
                        <a:t>INT-AST-13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Dos láseres contra el mismo asteroide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Borde · simultaneidad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EJECUTADO · FAIL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2937"/>
                          </a:solidFill>
                          <a:latin typeface="Calibri"/>
                        </a:rPr>
                        <a:t>INT-AST-14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NewGame elimina los asteroides previos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Regresión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EJECUTADO · FAIL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2937"/>
                          </a:solidFill>
                          <a:latin typeface="Calibri"/>
                        </a:rPr>
                        <a:t>INT-AST-15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NewGame dos veces seguidas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Borde · repetición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EJECUTADO · FAIL</a:t>
                      </a:r>
                    </a:p>
                  </a:txBody>
                  <a:tcPr marT="36576" marB="36576">
                    <a:solidFill>
                      <a:srgbClr val="F3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F2937"/>
                          </a:solidFill>
                          <a:latin typeface="Calibri"/>
                        </a:rPr>
                        <a:t>INT-AST-16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Cooldown de disparo con tecla mantenida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Dependencia de entrada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PROPUESTA (refactor)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623560"/>
            <a:ext cx="11185855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623560"/>
            <a:ext cx="1082009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1">
                <a:solidFill>
                  <a:srgbClr val="6B7280"/>
                </a:solidFill>
                <a:latin typeface="Calibri"/>
              </a:rPr>
              <a:t>ℹ  PROPUESTA: todavía no existe en el proyecto. EJECUTADO: en Assets/Tests/IntegrationHypothesesTests.cs (batchmode, 28/09/2026).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Diseño según Plataformas de Juego · Testing de integración II · Hilo conductor: nave + asteroides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26/27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219456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09728"/>
            <a:ext cx="88696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1" i="0">
                <a:solidFill>
                  <a:srgbClr val="9CC9C5"/>
                </a:solidFill>
                <a:latin typeface="Calibri"/>
              </a:rPr>
              <a:t>CONTENIDO RESERVADO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Anexo · Para una clase futura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5432907" cy="457200"/>
          </a:xfrm>
          <a:prstGeom prst="rect">
            <a:avLst/>
          </a:prstGeom>
          <a:solidFill>
            <a:srgbClr val="3341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80160"/>
            <a:ext cx="543290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Técnicas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874520"/>
            <a:ext cx="5432907" cy="2032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500" b="0" i="0">
                <a:solidFill>
                  <a:srgbClr val="1F2937"/>
                </a:solidFill>
                <a:latin typeface="Calibri"/>
              </a:rPr>
              <a:t>Integración con sistemas externos: guardado del récord, tabla online</a:t>
            </a:r>
          </a:p>
          <a:p>
            <a:pPr>
              <a:spcAft>
                <a:spcPts val="600"/>
              </a:spcAft>
            </a:pPr>
            <a:r>
              <a:rPr sz="11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500" b="0" i="0">
                <a:solidFill>
                  <a:srgbClr val="1F2937"/>
                </a:solidFill>
                <a:latin typeface="Calibri"/>
              </a:rPr>
              <a:t>Input System + InputTestFixture para simular teclado y táctil</a:t>
            </a:r>
          </a:p>
          <a:p>
            <a:pPr>
              <a:spcAft>
                <a:spcPts val="600"/>
              </a:spcAft>
            </a:pPr>
            <a:r>
              <a:rPr sz="11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500" b="0" i="0">
                <a:solidFill>
                  <a:srgbClr val="1F2937"/>
                </a:solidFill>
                <a:latin typeface="Calibri"/>
              </a:rPr>
              <a:t>Tests parametrizados ([TestCase], [ValueSource]) para bordes</a:t>
            </a:r>
          </a:p>
          <a:p>
            <a:pPr>
              <a:spcAft>
                <a:spcPts val="600"/>
              </a:spcAft>
            </a:pPr>
            <a:r>
              <a:rPr sz="11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500" b="0" i="0">
                <a:solidFill>
                  <a:srgbClr val="1F2937"/>
                </a:solidFill>
                <a:latin typeface="Calibri"/>
              </a:rPr>
              <a:t>LogAssert para esperar o prohibir mensajes en el log</a:t>
            </a:r>
          </a:p>
        </p:txBody>
      </p:sp>
      <p:sp>
        <p:nvSpPr>
          <p:cNvPr id="9" name="Rectangle 8"/>
          <p:cNvSpPr/>
          <p:nvPr/>
        </p:nvSpPr>
        <p:spPr>
          <a:xfrm>
            <a:off x="6255867" y="1280160"/>
            <a:ext cx="5432907" cy="4572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55867" y="1280160"/>
            <a:ext cx="543290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Proceso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55867" y="1874520"/>
            <a:ext cx="5432907" cy="15563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500" b="0" i="0">
                <a:solidFill>
                  <a:srgbClr val="1F2937"/>
                </a:solidFill>
                <a:latin typeface="Calibri"/>
              </a:rPr>
              <a:t>Ejecución en batchmode y CI (tests en cada push)</a:t>
            </a:r>
          </a:p>
          <a:p>
            <a:pPr>
              <a:spcAft>
                <a:spcPts val="600"/>
              </a:spcAft>
            </a:pPr>
            <a:r>
              <a:rPr sz="11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500" b="0" i="0">
                <a:solidFill>
                  <a:srgbClr val="1F2937"/>
                </a:solidFill>
                <a:latin typeface="Calibri"/>
              </a:rPr>
              <a:t>Cobertura de ramas y umbrales mínimos</a:t>
            </a:r>
          </a:p>
          <a:p>
            <a:pPr>
              <a:spcAft>
                <a:spcPts val="600"/>
              </a:spcAft>
            </a:pPr>
            <a:r>
              <a:rPr sz="11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500" b="0" i="0">
                <a:solidFill>
                  <a:srgbClr val="1F2937"/>
                </a:solidFill>
                <a:latin typeface="Calibri"/>
              </a:rPr>
              <a:t>Tests de rendimiento (Performance Testing)</a:t>
            </a:r>
          </a:p>
          <a:p>
            <a:pPr>
              <a:spcAft>
                <a:spcPts val="600"/>
              </a:spcAft>
            </a:pPr>
            <a:r>
              <a:rPr sz="1100" b="1" i="0">
                <a:solidFill>
                  <a:srgbClr val="0D9488"/>
                </a:solidFill>
                <a:latin typeface="Calibri"/>
              </a:rPr>
              <a:t>■  </a:t>
            </a:r>
            <a:r>
              <a:rPr sz="1500" b="0" i="0">
                <a:solidFill>
                  <a:srgbClr val="1F2937"/>
                </a:solidFill>
                <a:latin typeface="Calibri"/>
              </a:rPr>
              <a:t>Relación con la plataforma: la misma suite en PC y en móvil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Diseño según Plataformas de Juego · Testing de integración II · Hilo conductor: nave + asteroides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27/27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