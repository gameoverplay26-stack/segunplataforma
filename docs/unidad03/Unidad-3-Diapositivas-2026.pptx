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Portada. Antes de empezar, recordar el hilo: seguimos con Cryptbound, no cambiamos de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los 10 objetivos específicos completos en 01-analisis-programa-y-objetivos.md, Sección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Instalar el problema real antes de cualquier definición. No nombrar todavía la palabra 'test'.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Evitar personalizar el error en 'el programador' — el foco es el proceso, no la culpa. Nombrar el concepto: REGRESIÓN.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segundos, no una clase nueva. Solo anclar vocabulario ya visto.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Definición formal y comprensible. Distinguir de inmediato unidad vs. juego completo.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Mismos campos que un test case de Unidad 2 (precondición / pasos / resultado esperado) — decirlo explícitamente.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Señalar 'using NUnit.Framework;' y el atributo [Test], sin profundizar todavía en Test Runner (eso viene en el bloque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Remarcar con fuerza la última línea antes de pasar al ejercicio.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Practicar la clasificación de la tabla anterior antes de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verifican jugando, no con Assert.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literal a decir: 'reducen el riesgo de determinados defectos y permiten detectar regresiones temprano' — nunca 'eliminan los bugs'.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Recordar también la queja 'el combate se siente lento' (Unidad 2) — opinión de diseño, no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Automatizar pruebas no significa eliminar las pruebas manuales.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Afirmación textual del material 2024, sigue vigente. Fuente oficial verificada en 06-investigacion-recursos.md.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Mencionar brevemente la diferencia de empaquetado si la cátedra usa Unity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la ventana acoplada junto al Inspector.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eso el test puede usar 'using NUnit.Framework;' sin configurar nada más.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es un trámite: es el motivo técnico detrás del paso.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 estructura de carpetas completa en 02-caso-practico-testing-videojuego.md, Sección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Concepto central de la unidad. La pregunta que decide el modo: '¿mi código depende de la escena corriendo?'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Separar la lógica de reglas del código dependiente del motor es, en sí mismo, una buena práctica.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Demostración pedagógica central — no acelerar este tramo.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Anticipar en voz alta qué se espera ver antes de correr el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Avisar explícitamente: 'ahora voy a romper el código a propósito', antes de ejecutar.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rápido — detalle completo en 02-caso-practico-testing-videojuego.md, Secciones D y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test que a veces pasa y a veces falla sin que el código cambie es un test frágil.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ancla: TDD no es 'hacer tests' — es una estrategia donde las pruebas guían la implementación.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Mostrar el fallo de COMPILACIÓN de la primera vuelta como RED válido, no solo un Assert fallido.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TDD donde aporte valor, no convertirlo en dogma.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Mencionar en una frase que esto puede escalar a CI (Git → build → tests automáticos) sin desarrollarlo.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CRYPT-201 como ejemplo. Repasar 3-4 errores conceptuales. Lanzar la consigna del TP N°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77639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9CC9C5"/>
                </a:solidFill>
                <a:latin typeface="Calibri"/>
              </a:rPr>
              <a:t>UNIDAD 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316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Pruebas Unitarias con 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1D5DB"/>
                </a:solidFill>
                <a:latin typeface="Calibri"/>
              </a:rPr>
              <a:t>Unidad III · Diseño según Plataformas de Juego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605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CC9C5"/>
                </a:solidFill>
                <a:latin typeface="Calibri"/>
              </a:rPr>
              <a:t>Ing. Elsa Daniela Ramírez · Cryptbound, build 0.4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❌ FAIL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477316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80060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✅ 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1/36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Objetivos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5855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Explicar por qué automatizar pruebas en un videojuego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Diferenciar unit test de integration, functional, playtest y QA manual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Elegir Edit Mode o Play Mode con criterio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Crear y ejecutar un test con Arrange-Act-Assert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Aplicar el ciclo Red-Green-Refactor (TDD)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Reconocer qué NO se resuelve con pruebas unitarias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i="1" b="1">
                <a:solidFill>
                  <a:srgbClr val="1F2A44"/>
                </a:solidFill>
                <a:latin typeface="Calibri"/>
              </a:rPr>
              <a:t>❓  ¿Alguna vez rompieron, sin querer, algo que ya andaba?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El problema: build 0.4, un golpe raro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593592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Ejemplo: Cryptbound build 0.4 — sistema Combat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F2A44"/>
                </a:solidFill>
                <a:latin typeface="Calibri"/>
              </a:rPr>
              <a:t>«A veces el mismo golpe le saca el doble de vida al enemigo... no siempre.»  — Marisol, QA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i="1" b="1">
                <a:solidFill>
                  <a:srgbClr val="1F2A44"/>
                </a:solidFill>
                <a:latin typeface="Calibri"/>
              </a:rPr>
              <a:t>❓  ¿Esto suena a un bug nuevo, o a algo que dejó de funcionar?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Regresión: cuando algo que andaba deja de andar</a:t>
            </a:r>
          </a:p>
        </p:txBody>
      </p:sp>
      <p:sp>
        <p:nvSpPr>
          <p:cNvPr id="6" name="Rectangle 5"/>
          <p:cNvSpPr/>
          <p:nvPr/>
        </p:nvSpPr>
        <p:spPr>
          <a:xfrm>
            <a:off x="1569567" y="1371600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8167" y="1371600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Player.TakeDamage() — build 0.3  ✅  funciona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9567" y="1938528"/>
            <a:ext cx="90525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9567" y="3145536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98167" y="3145536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Se modifica CombatSystem (golpe crítico)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9567" y="3712464"/>
            <a:ext cx="90525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9567" y="4919472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8167" y="4919472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Player.TakeDamage() — build 0.4  ❌  ya no funciona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Repaso relámpago: Unidad I → II → III</a:t>
            </a:r>
          </a:p>
        </p:txBody>
      </p:sp>
      <p:sp>
        <p:nvSpPr>
          <p:cNvPr id="6" name="Rectangle 5"/>
          <p:cNvSpPr/>
          <p:nvPr/>
        </p:nvSpPr>
        <p:spPr>
          <a:xfrm>
            <a:off x="1569567" y="1371600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8167" y="1371600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Unidad I — error, defecto, fallo, causa raíz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9567" y="1938528"/>
            <a:ext cx="90525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9567" y="3145536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98167" y="3145536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Unidad II — test case, severidad, regression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9567" y="3712464"/>
            <a:ext cx="90525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9567" y="4919472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8167" y="4919472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Unidad III — ese mismo test case, ejecutado como código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¿Qué es una prueba unitaria?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F2A44"/>
                </a:solidFill>
                <a:latin typeface="Calibri"/>
              </a:rPr>
              <a:t>Verifica automáticamente UN comportamiento específico de una unidad de código, bajo condiciones determinadas.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77440"/>
            <a:ext cx="111858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'Unidad' ≠ el juego completo — por lo general, un único método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Arrange / Act / Assert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569567" y="1371600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8167" y="1371600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ARRANGE — preparar el escenario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9567" y="1938528"/>
            <a:ext cx="90525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9567" y="3145536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98167" y="3145536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ACT — ejecutar el comportamiento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9567" y="3712464"/>
            <a:ext cx="90525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9567" y="4919472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8167" y="4919472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ASSERT — comprobar el resultado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AAA aplicado a Cryptbound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569567" y="1371600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8167" y="1371600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ARRANGE: Player con 100 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9567" y="1938528"/>
            <a:ext cx="90525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9567" y="3145536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98167" y="3145536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ACT: recibe 25 de daño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9567" y="3712464"/>
            <a:ext cx="905256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9567" y="4919472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8167" y="4919472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ASSERT: HP == 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El mismo ejemplo, en C# con NUnit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85855" cy="4206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28655" cy="387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>
                <a:solidFill>
                  <a:srgbClr val="E2E8F0"/>
                </a:solidFill>
                <a:latin typeface="Consolas"/>
              </a:rPr>
              <a:t>using NUnit.Framework;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public class PlayerHealthTests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{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[Test]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public void TakeDamage_ReducesHealthByAmount()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{</a:t>
            </a:r>
          </a:p>
          <a:p>
            <a:r>
              <a:rPr sz="1450">
                <a:solidFill>
                  <a:srgbClr val="4ADE80"/>
                </a:solidFill>
                <a:latin typeface="Consolas"/>
              </a:rPr>
              <a:t>        // Arrange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    var health = new PlayerHealth(maxHealth: 100);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450">
                <a:solidFill>
                  <a:srgbClr val="4ADE80"/>
                </a:solidFill>
                <a:latin typeface="Consolas"/>
              </a:rPr>
              <a:t>        // Act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    health.TakeDamage(25);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450">
                <a:solidFill>
                  <a:srgbClr val="4ADE80"/>
                </a:solidFill>
                <a:latin typeface="Consolas"/>
              </a:rPr>
              <a:t>        // Assert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    Assert.AreEqual(75, health.CurrentHealth);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}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No confundir: tipos de testing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6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Qué prueba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Automatizable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Ejemplo en Cryptbound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Unit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Una unidad aislada de código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PlayerHealth.TakeDamage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Integration Test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Interacción entre componentes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Sí (más esfuerzo)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CombatSystem → PlayerHealth (Play Mode)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Functional 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Una funcionalidad completa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Parcial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Animación de derrota del jefe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Playtest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Una persona juega y evalúa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Sesión de 90 min, backlog de Unidad 2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QA 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Verificación humana con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Ejecutar TC-A01 / TC-R01 / TC-E01 a mano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Automated Test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Cualquier prueba corrida por una máquina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Por definición, sí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Toda la suite de Assets/Tests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62356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B7280"/>
                </a:solidFill>
                <a:latin typeface="Calibri"/>
              </a:rPr>
              <a:t>Playtest y QA manual NO son inferiores — son insustituibles para lo que un Assert no puede evaluar.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Ejercicio rápido en vivo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5855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Clasificar 4 casos sueltos del backlog de Cryptbound, entre todos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5 minutos · votación a mano alzada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Buenos candidatos para unit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745736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Ejemplo: Inventory.AddItem · PlayerExperience.GainExperience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Cálculo de daño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Puntuación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Inventario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Reglas y cooldown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Conversión de estadísticas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Validaciones y estados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Casos más complejos para unit testing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922776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Ejemplo: Animación de derrota del jefe — CRYPT-108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Físicas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Animaciones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Iluminación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Rendering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UX / sensación del gameplay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Timing visual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Diversión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Beneficios de las pruebas unitarias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5855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Detección temprana de errores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Prevención de regresiones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Feedback rápido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Refactoring más seguro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Documentación ejecutable del comportamiento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Confianza para modificar código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14/36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¿Qué NO solucionan las pruebas unitarias?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169663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Ejemplo: CRYPT-111 — caída de FPS en la sala del jefe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Bugs visuales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Problemas de UX y de diseño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Gameplay poco divertido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Problemas de balance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Rendimiento no capturado por esos tests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Problemas de integración, assets, iluminación, animación, físicas complejas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15/36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Estrategia de calidad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569567" y="1371600"/>
            <a:ext cx="9052560" cy="52120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8167" y="1371600"/>
            <a:ext cx="8595360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Unit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9567" y="1892808"/>
            <a:ext cx="9052560" cy="1975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9567" y="2090318"/>
            <a:ext cx="9052560" cy="52120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98167" y="2090318"/>
            <a:ext cx="8595360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 Integration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9567" y="2611526"/>
            <a:ext cx="9052560" cy="1975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9567" y="2809036"/>
            <a:ext cx="9052560" cy="52120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8167" y="2809036"/>
            <a:ext cx="8595360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 Automated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9567" y="3330244"/>
            <a:ext cx="9052560" cy="1975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9567" y="3527754"/>
            <a:ext cx="9052560" cy="52120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8167" y="3527754"/>
            <a:ext cx="8595360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 Manual QA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9567" y="4048962"/>
            <a:ext cx="9052560" cy="1975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69567" y="4246472"/>
            <a:ext cx="9052560" cy="52120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98167" y="4246472"/>
            <a:ext cx="8595360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 Playtest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69567" y="4767680"/>
            <a:ext cx="9052560" cy="1975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69567" y="4965190"/>
            <a:ext cx="9052560" cy="52120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798167" y="4965190"/>
            <a:ext cx="8595360" cy="5212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= ESTRATEGIA DE CALIDAD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16/36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Unity Test Framework: qué 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21240" y="33832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RECICLADO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F2A44"/>
                </a:solidFill>
                <a:latin typeface="Calibri"/>
              </a:rPr>
              <a:t>La función de pruebas unitarias que ofrece Unity — por dentro utiliza NUnit.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17/36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Verificar el paquete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21240" y="33832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RECICLADO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F2A44"/>
                </a:solidFill>
                <a:latin typeface="Calibri"/>
              </a:rPr>
              <a:t>Window ▸ Package Manager ▸ Unity Registry ▸ Test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58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En Unity 6: paquete 'core', fijo a la versión del Editor — no se administra por separado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18/36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Abrir Test Runner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21240" y="33832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RECICLADO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F2A44"/>
                </a:solidFill>
                <a:latin typeface="Calibri"/>
              </a:rPr>
              <a:t>Window ▸ General ▸ Test Runner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19/36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Crear la carpeta de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21240" y="33832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RECICLADO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F2A44"/>
                </a:solidFill>
                <a:latin typeface="Calibri"/>
              </a:rPr>
              <a:t>Botón 'Create Test Assembly Folder' → carpeta Tests + Tests.asmdef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58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Referencias automáticas: nunit.framework.dll, UnityEngine.TestRunner, UnityEditor.TestRunner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20/36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Crear GameAssembly y referenciarlo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21240" y="33832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RECICLADO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F2A44"/>
                </a:solidFill>
                <a:latin typeface="Calibri"/>
              </a:rPr>
              <a:t>Assets/Scripts ▸ Create ▸ Assembly Definition → nombrarlo GameAssembly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5855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Agregarlo como referencia del asmdef de Tests — si no, el test no ve las clases del juego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21/36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Qué es un Test 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21240" y="338328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RECICLADO 2024 · adaptado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4992623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Ejemplo: PlayerHealthTests · InventoryTests · CombatSystemTests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2880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F2A44"/>
                </a:solidFill>
                <a:latin typeface="Calibri"/>
              </a:rPr>
              <a:t>Un archivo de clase con pruebas unitarias = Test Suite. Se organiza por agrupación lógica.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22/36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Edit Mode vs. Play Mode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858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9"/>
              </a:tblGrid>
              <a:tr h="587828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Característica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Edit Mode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Play Mode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Ejecuta escena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Requiere runtime / GameObject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Soporta corrutinas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Sí, vía [UnityTest] + IEnumerator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Velocidad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Rápido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Más lento (instancia escena, avanza frames)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Uso recomendado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Lógica pura: cálculos, reglas, inventario, daño, XP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MonoBehaviour, interacción entre componentes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Ejemplo en Cryptbound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PlayerHealthTests, InventoryTests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CombatSystemTests, EnemyArcherTests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23/36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Cuándo usar Edit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87368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Ejemplo: PlayerHealth · Inventory · PlayerExperience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Clases C# puras, sin heredar de MonoBehaviour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24/36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Cuándo usar Play Mode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2688336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Ejemplo: CombatSystem · EnemyArcher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MonoBehaviour — dependen de posición, Time.time, frames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i="1" b="1">
                <a:solidFill>
                  <a:srgbClr val="1F2A44"/>
                </a:solidFill>
                <a:latin typeface="Calibri"/>
              </a:rPr>
              <a:t>❓  Inventory.AddItem no toca ninguna escena — ¿Edit Mode o Play Mode?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25/36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Primer test: el código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85855" cy="4206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28655" cy="387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>
                <a:solidFill>
                  <a:srgbClr val="E2E8F0"/>
                </a:solidFill>
                <a:latin typeface="Consolas"/>
              </a:rPr>
              <a:t>using NUnit.Framework;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public class PlayerHealthTests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{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[Test]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public void TakeDamage_ReducesHealthByAmount()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{</a:t>
            </a:r>
          </a:p>
          <a:p>
            <a:r>
              <a:rPr sz="1450">
                <a:solidFill>
                  <a:srgbClr val="4ADE80"/>
                </a:solidFill>
                <a:latin typeface="Consolas"/>
              </a:rPr>
              <a:t>        // Arrange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    var health = new PlayerHealth(maxHealth: 100);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450">
                <a:solidFill>
                  <a:srgbClr val="4ADE80"/>
                </a:solidFill>
                <a:latin typeface="Consolas"/>
              </a:rPr>
              <a:t>        // Act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    health.TakeDamage(25);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450">
                <a:solidFill>
                  <a:srgbClr val="4ADE80"/>
                </a:solidFill>
                <a:latin typeface="Consolas"/>
              </a:rPr>
              <a:t>        // Assert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    Assert.AreEqual(75, health.CurrentHealth);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}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26/36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Ejecutar: PASS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1">
                <a:solidFill>
                  <a:srgbClr val="1F2A44"/>
                </a:solidFill>
                <a:latin typeface="Calibri"/>
              </a:rPr>
              <a:t>✅  Test Runner — AsteroidsMoveDown... digo, TakeDamage_ReducesHealthByAmount: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27/36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Provocar el fallo a propósito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85855" cy="42062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28655" cy="387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>
                <a:solidFill>
                  <a:srgbClr val="4ADE80"/>
                </a:solidFill>
                <a:latin typeface="Consolas"/>
              </a:rPr>
              <a:t>// Antes (build 0.3) — funciona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CurrentHealth = Mathf.Max(0, CurrentHealth - amount);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450">
                <a:solidFill>
                  <a:srgbClr val="4ADE80"/>
                </a:solidFill>
                <a:latin typeface="Consolas"/>
              </a:rPr>
              <a:t>// Se quita el clamp a propósito (bug provocado)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CurrentHealth = CurrentHealth - amount;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450">
                <a:solidFill>
                  <a:srgbClr val="4ADE80"/>
                </a:solidFill>
                <a:latin typeface="Consolas"/>
              </a:rPr>
              <a:t>// Nuevo test que lo detecta: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[Test]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public void TakeDamage_NeverGoesBelowZero()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{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var health = new PlayerHealth(100);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health.TakeDamage(150);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 Assert.AreEqual(0, health.CurrentHealth);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28/36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FAIL ❌, corrección, PASS de nuevo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11185855" cy="35204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44752"/>
            <a:ext cx="10728655" cy="3191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50">
                <a:solidFill>
                  <a:srgbClr val="4ADE80"/>
                </a:solidFill>
                <a:latin typeface="Consolas"/>
              </a:rPr>
              <a:t>// Resultado del Test Runner: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❌ FAIL — TakeDamage_NeverGoesBelowZero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Expected: 0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  But was: -50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450">
                <a:solidFill>
                  <a:srgbClr val="4ADE80"/>
                </a:solidFill>
                <a:latin typeface="Consolas"/>
              </a:rPr>
              <a:t>// Corrección: se restaura el clamp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CurrentHealth = Mathf.Max(0, CurrentHealth - amount);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 </a:t>
            </a:r>
          </a:p>
          <a:p>
            <a:r>
              <a:rPr sz="1450">
                <a:solidFill>
                  <a:srgbClr val="E2E8F0"/>
                </a:solidFill>
                <a:latin typeface="Consolas"/>
              </a:rPr>
              <a:t>✅ PASS — todos los tests en verde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i="1" b="1">
                <a:solidFill>
                  <a:srgbClr val="1F2A44"/>
                </a:solidFill>
                <a:latin typeface="Calibri"/>
              </a:rPr>
              <a:t>❓  ¿Qué hubiera pasado si este bug llegaba al playtest en vez de acá?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29/36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Ejemplos progresivos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25880"/>
            <a:ext cx="11185855" cy="4160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Heal_IncreasesHealthByAmount — curación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Heal_DoesNotExceedMaxHealth — no supera el máximo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TakeDamage_SetsIsDead_WhenHealthReachesZero — muerte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AddItem_PotionIsInInventory — inventario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Cooldown de ataque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30/36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Buenas prácticas al escribir tests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005072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9144" bIns="9144" wrap="non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Ejemplo: Random.value en CombatSystem — test frágil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118585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Un comportamiento por test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Nombres descriptivos: Método_Escenario_ResultadoEsperado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Tests deterministas — cuidado con Random sin controlar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Aislar unidades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No depender del orden de ejecución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AAA siempre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1F2937"/>
                </a:solidFill>
                <a:latin typeface="Calibri"/>
              </a:rPr>
              <a:t>■  Probar comportamiento, no implementación interna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31/36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TDD: el ciclo Red-Green-Refactor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569567" y="1371600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8167" y="1371600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RED — escribir un test que falla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9567" y="1938528"/>
            <a:ext cx="9052560" cy="6156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9567" y="2554224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98167" y="2554224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GREEN — implementar lo mínimo para pasar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9567" y="3121152"/>
            <a:ext cx="9052560" cy="6156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9567" y="3736848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8167" y="3736848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REFACTOR — mejorar sin romper los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9567" y="4303776"/>
            <a:ext cx="9052560" cy="6156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9567" y="4919472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8167" y="4919472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Repetir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32/36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TDD en Cryptbound: PlayerExperience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1569567" y="1371600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8167" y="1371600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RED: GainExperience_IncreasesTotalExperience (no compila)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9567" y="1938528"/>
            <a:ext cx="9052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9567" y="2258568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98167" y="2258568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GREEN: CurrentExperience += amount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9567" y="2825496"/>
            <a:ext cx="9052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9567" y="3145536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8167" y="3145536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RED 2: GainExperience_LevelsUp_WhenThresholdReached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9567" y="3712464"/>
            <a:ext cx="9052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9567" y="4032504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8167" y="4032504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GREEN 2: se agrega Level y el umbral de 100 XP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9567" y="4599432"/>
            <a:ext cx="9052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69567" y="4919472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98167" y="4919472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REFACTOR: ¿y si se ganan 250 XP de una vez?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33/36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TDD: cuándo sí, cuándo no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10047" cy="502920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100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Buenos candidatos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41004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Lógica de dominio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Reglas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Cálculos deterministas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Inventario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Combate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Scoring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371600"/>
            <a:ext cx="5410047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371600"/>
            <a:ext cx="54100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Menos conveniente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057400"/>
            <a:ext cx="541004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Prototipado visual rápido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Shaders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Animación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Diseño de niveles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Exploración de gameplay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34/36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Pruebas manuales vs. automatizadas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410047" cy="502920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100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Manual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57400"/>
            <a:ext cx="541004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+ Exploración y percepción humana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+ UX y descubrimiento inesperado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− Lento y repetitivo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− Costoso a escala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8727" y="1371600"/>
            <a:ext cx="5410047" cy="502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727" y="1371600"/>
            <a:ext cx="5410047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Automatizada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057400"/>
            <a:ext cx="5410047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+ Velocidad y repetibilidad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+ Ideal para regresión, ejecución frecuente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− Costo inicial y mantenimiento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■  − No sustituye el juicio humano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35/36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28016"/>
            <a:ext cx="8778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Cierre: conexión con Unidad 2 y lanzamiento del TP N° 2</a:t>
            </a:r>
          </a:p>
        </p:txBody>
      </p:sp>
      <p:sp>
        <p:nvSpPr>
          <p:cNvPr id="6" name="Rectangle 5"/>
          <p:cNvSpPr/>
          <p:nvPr/>
        </p:nvSpPr>
        <p:spPr>
          <a:xfrm>
            <a:off x="1569567" y="1371600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98167" y="1371600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BUG (playtest)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69567" y="1938528"/>
            <a:ext cx="90525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9" name="Rectangle 8"/>
          <p:cNvSpPr/>
          <p:nvPr/>
        </p:nvSpPr>
        <p:spPr>
          <a:xfrm>
            <a:off x="1569567" y="2247138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98167" y="2247138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JIRA (ticket)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69567" y="2814066"/>
            <a:ext cx="90525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9567" y="3122676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8167" y="3122676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69567" y="3689604"/>
            <a:ext cx="90525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9567" y="3998214"/>
            <a:ext cx="9052560" cy="56692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8167" y="3998214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UNIT TEST DE REGRESIÓN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9567" y="4565142"/>
            <a:ext cx="90525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69567" y="4873752"/>
            <a:ext cx="9052560" cy="5669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98167" y="4873752"/>
            <a:ext cx="8595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PROTEGIDO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i="1" b="1">
                <a:solidFill>
                  <a:srgbClr val="1F2A44"/>
                </a:solidFill>
                <a:latin typeface="Calibri"/>
              </a:rPr>
              <a:t>❓  ¿Qué sistema de un juego propio se beneficiaría hoy de un test como los que vimos?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Unidad III — Pruebas Unitarias con Unity · Cryptbound build 0.4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7395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36/36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