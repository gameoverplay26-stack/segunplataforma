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Presentar la clase como un MAPA: cada plataforma se desarrolla en su propia unidad (IV móvil, V consolas, VI PC, VII emergentes).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Resultados de aprendizaje vinculados: RA01 y RA02 (competencias CGT03 y CGT04).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borrador original sumaba 140 min. Se recortaron teoría (−5), ficha (−5), práctica (−5) y presentaciones (−5).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Anotar en el pizarrón las pistas que usan: esas pistas son, sin saberlo, los criterios de diseño según plataforma. Respuestas: A móvil, B PC, C Switch (sobremesa y portátil), D VR.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Stardew Valley: el mismo juego con otra entrada y otra interfaz, no otro juego.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Ejemplo adicional: Elden Ring salió en PC con la tasa de cuadros limitada a 60 FPS y sin soporte nativo de ultrawide.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[VERIFICAR antes de proyectar el detalle de BG3: Larian atribuyó la demora de la versión de Xbox a la pantalla dividida en Series S; Microsoft terminó flexibilizando el requisito de paridad.] Terminología: 'gamepad' o 'mando' (el programa dice gamepads); 'joystick' es la palanca analógica.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'Sesiones cortas' es una tendencia: Genshin Impact tiene sesiones largas en móvil. Vampire Survivors se adapta bien porque el ataque es automático.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Respuesta: la política de autoplay de los navegadores bloquea el audio hasta la primera interacción. [VERIFICAR si se menciona: Vampire Survivors nació en HTML5 (Phaser) y luego migró a Unity.]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Mencionar en una frase el cloud gaming (Unidad VII): el juego corre en un servidor y la latencia pasa a ser un problema de diseño.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DOOM en Switch: el port usa resolución dinámica y 30 FPS para entrar en el hardware.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Solo la idea, sin dar implementación. Respuesta: movimiento, disparo, límites y colisiones son jugabilidad común; lo que cambia es de dónde viene la orden.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agregaron las columnas Web y VR: en el borrador, los grupos que elegían esas plataformas en la práctica no tenían con qué comparar.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Usar un juego base común hace comparables las presentaciones (en el borrador, cada grupo elegía un género distinto).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redujo de 10 aspectos a 5 obligatorios y de 8 pruebas a 5: con 40 minutos no alcanza para más con calidad.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min. Steam Deck Verified evalúa entrada, continuidad (sin launchers que exijan mouse, etc.), pantalla (legibilidad del texto) y soporte del sistema. Conecta con 'criterios de aceptación' de la Unidad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Pedir una pregunta concreta por presentación.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min. Ejemplo de respuesta: no se prueba igual un menú con mouse que uno táctil o con gamepad; en móvil hay que sumar la interrupción por llamada al flujo de daño → vida → barra.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9CC9C5"/>
                </a:solidFill>
                <a:latin typeface="Calibri"/>
              </a:rPr>
              <a:t>PANORAMA · UNIDADES IV A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Introducción a las plataformas de videojuegos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204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D1D5DB"/>
                </a:solidFill>
                <a:latin typeface="Calibri"/>
              </a:rPr>
              <a:t>Diseño según Plataformas de Juego · Clase teórico-práctica (120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CC9C5"/>
                </a:solidFill>
                <a:latin typeface="Calibri"/>
              </a:rPr>
              <a:t>Ing. Elsa Daniela Ramírez · FI – UNJu ·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1/18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AL FINALIZAR PODRÁN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Objetivos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1885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Reconocer las principales plataformas y sus condiciones de uso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Comparar sus características técnicas y de interacción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Explicar cómo la plataforma condiciona controles, interfaz, ritmo y rendimiento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Proponer la adaptación de un mismo juego a otra plataforma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Formular pruebas con criterios medibles para una plataforma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2/18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ORGANIZACIÓN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Agenda (120 min)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5854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6211"/>
                <a:gridCol w="1198484"/>
                <a:gridCol w="6991159"/>
              </a:tblGrid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Bloque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Minutos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Qué hacemos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1. Apertura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¿Para qué plataforma fue diseñado?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2. Teoría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Plataforma · PC · consolas · móvil · web · VR/AR · port y crossplay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3. Ficha comparativa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Su plataforma + una de contraste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Práctica principal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Adaptar el juego base (nave + asteroides)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4. De la plataforma al testing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Criterios medibles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5. Presentaciones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2–3 min por grupo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6. Cierre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Pregunta integradora con la Clase 1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3/18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APERTURA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¿Para qué plataforma fue diseñado?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7315200" cy="1806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Observen cuatro juegos, sin nombres ni logos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¿Qué controles se adivinan?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¿Qué tamaño tienen los textos y los botones?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¿Cómo está orientada la pantalla?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¿Cuánta información muestra la interfaz a la vez?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¿En qué se fijaron para decidir? ¿Un mismo juego puede funcionar igual en todas?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Mosaico 2×2 SIN logos ni títulos: A) Monument Valley (móvil, vertical, táctil) · B) Civilization VI (PC, interfaz densa para mouse) · C) Mario Kart 8 Deluxe (Switch) · D) Beat Saber (VR).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4/18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DEFINICIÓN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¿Qué es una plataforma?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78561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Stardew Valley · PC, Switch y móvil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652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1">
                <a:solidFill>
                  <a:srgbClr val="1F2A44"/>
                </a:solidFill>
                <a:latin typeface="Calibri"/>
              </a:rPr>
              <a:t>Diseñar según plataforma = decidir controles, interfaz, ritmo y rendimiento a partir de esas condiciones.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45588"/>
            <a:ext cx="7315200" cy="1806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Hardware: procesador, gráficos, memoria, batería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Sistema operativo y reglas del fabricante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Dispositivos de entrada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Contexto de uso: dónde, cuánto tiempo, a qué distancia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Distribución: tienda, certificación, modelo de negocio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280160"/>
            <a:ext cx="3593592" cy="498348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La misma escena de Stardew Valley en PC, Switch y móvil, lado a lado (mismo juego, distinto control e interfaz).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5/18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TEORÍA · UNIDAD VI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24154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Batman: Arkham Knight (2015)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19850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Hardware muy variado: de notebooks básicas a equipos de gama alta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Teclado + mouse, y también gamepad (configuraciones híbridas)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jugador espera opciones gráficas, reasignar teclas y varias resoluciones y relaciones de aspecto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Riesgo: un port que no escala. Arkham Knight fue retirado de la venta en PC en 2015 por su rendimiento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opciones no pueden faltar en el menú gráfico de un juego de PC?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 un menú de opciones gráficas de PC con presets (Bajo / Medio / Alto / Ultra) y opciones de resolución.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6/18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TEORÍA · UNIDAD V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Consolas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47472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Baldur's Gate 3 · Xbox Series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261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Hardware más uniforme que en PC, pero no único: PS5 / PS5 Pro, Xbox Series X / 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Sobremesa (TV a ~3 m) vs. portátil (Switch, pantalla en la mano)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Gamepad como entrada principal: todo debe navegarse sin mouse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Certificación del fabricante antes de publicar (ej.: manejar la desconexión del mando)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BG3: la pantalla dividida en Series S demoró su lanzamiento en Xbox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cambia en la interfaz si el jugador está a 3 metros de la pantalla?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Esquema: sofá a ~3 m de una TV frente a una Switch en modo portátil en las manos del jugador.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7/18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TEORÍA · UNIDAD IV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Dispositivos móviles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425196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Fortnite / CoD Mobile · Vampire Survivors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2326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Táctil: sin respuesta física del botón; los dedos tapan la pantalla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Pantallas muy variadas; muescas y bordes → zonas seguras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Batería y temperatura: si el equipo se calienta, baja el rendimiento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Interrupciones: llamadas, notificaciones, cambio de app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Sesiones que suelen ser más cortas (tendencia, no regla)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HUD reubicable (Fortnite, CoD Mobile) · Vampire Survivors solo pide moverse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zonas de la pantalla tapan los pulgares?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 un HUD táctil (Fortnite o CoD Mobile) con las zonas de los pulgares superpuestas en semitransparente.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8/18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TEORÍA · UNIDAD VII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Juegos web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1531620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Wordle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18065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Se juega desde el navegador, sin instalación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tiempo de carga es parte de la experiencia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Distintos navegadores y dispositivos: teclado, mouse o táctil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El navegador no reproduce audio hasta que el jugador interactúa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Memoria y rendimiento más limitados que en una build nativa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¿Por qué tantos juegos web empiezan con «Click to start»?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Un juego corriendo en una pestaña del navegador con la barra de carga y el botón «Click to start».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9/18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TEORÍA · UNIDAD VII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Realidad virtual y aumentada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3241548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Half-Life: Alyx · Pokémon GO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755648"/>
            <a:ext cx="7315200" cy="2489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VR · Visor + controles de movimiento: interacción espacial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VR · Tasa de cuadros alta y estable: las caídas producen malestar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VR · La cámara la mueve la cabeza del jugador: el juego no debe moverla por él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VR · Opciones de confort: teletransporte, desplazamiento continuo, giro por pasos (Alyx)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600" b="0" i="0">
                <a:solidFill>
                  <a:srgbClr val="1F2937"/>
                </a:solidFill>
                <a:latin typeface="Calibri"/>
              </a:rPr>
              <a:t>AR · Cámara, GPS y sensores: el entorno real es parte del juego (Pokémon GO AR+)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mecánica de un juego de PC sería incómoda en VR?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del menú de opciones de locomoción / confort de Half-Life: Alyx.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10/18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CONCEPTOS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Port, multiplataforma, crossplay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5854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9895"/>
                <a:gridCol w="5227035"/>
                <a:gridCol w="3658924"/>
              </a:tblGrid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Término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Qué significa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Port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Llevar un juego existente a otra plataforma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DOOM (2016) en Switch (Panic Button)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Multiplataforma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Un mismo juego publicado en varias plataformas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Stardew Valley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Crossplay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Jugadores de distintas plataformas en la misma partida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Fortnite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Progresión cruzada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El progreso se comparte entre plataformas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i="0">
                          <a:solidFill>
                            <a:srgbClr val="1F2937"/>
                          </a:solidFill>
                          <a:latin typeface="Calibri"/>
                        </a:rPr>
                        <a:t>Fortnite (cuenta Epic)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6B7280"/>
                </a:solidFill>
                <a:latin typeface="Calibri"/>
              </a:rPr>
              <a:t>ℹ  La jugabilidad no se duplica por plataforma: se adaptan la entrada y la interfaz.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11/18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DEL CONCEPTO AL CÓDIGO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Entrada acoplada al gameplay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4174236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Proyecto nave + asteroides (repositorio)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55648"/>
            <a:ext cx="7315200" cy="47548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55648"/>
            <a:ext cx="6949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Teclado  ·  Táctil  ·  Gamepad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23113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7315200" cy="47548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87168"/>
            <a:ext cx="6949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Intención del jugador: mover · disparar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62656"/>
            <a:ext cx="73152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D9488"/>
                </a:solidFill>
                <a:latin typeface="Calibri"/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18688"/>
            <a:ext cx="7315200" cy="475488"/>
          </a:xfrm>
          <a:prstGeom prst="rect">
            <a:avLst/>
          </a:prstGeom>
          <a:solidFill>
            <a:srgbClr val="334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18688"/>
            <a:ext cx="6949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Nave: movimiento, disparo, límites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831336"/>
            <a:ext cx="7315200" cy="108394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Hoy la nave lee directamente Espacio y flechas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Para llevarla a móvil habría que modificar la clase de la nave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Idea: separar QUÉ quiere hacer el jugador de CÓMO lo pide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029200"/>
            <a:ext cx="11185855" cy="45720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97706"/>
                </a:solidFill>
                <a:latin typeface="Calibri"/>
              </a:rPr>
              <a:t>💻 Ver en el código: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Ship.cs 54–75 (lectura de teclas en 61, 66 y 71)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partes de la nave NO deberían cambiar al pasar a móvil?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280160"/>
            <a:ext cx="3593592" cy="361188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Diagrama en tres capas: dispositivos de entrada arriba → capa de «intención» (mover, disparar) → la nave. Tachar la conexión directa teclado → nave.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12/18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ACTIVIDAD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Ficha comparativa (15 min)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1118585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700"/>
                <a:gridCol w="1688430"/>
                <a:gridCol w="1688430"/>
                <a:gridCol w="1688430"/>
                <a:gridCol w="1688430"/>
                <a:gridCol w="1688430"/>
              </a:tblGrid>
              <a:tr h="329184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Aspecto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PC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Consola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Móvil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Web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Calibri"/>
                        </a:rPr>
                        <a:t>VR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Control principal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Pantalla / distancia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Sesión típica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Interfaz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Rendimiento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Accesibilidad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600" b="1" i="0">
                          <a:solidFill>
                            <a:srgbClr val="1F2937"/>
                          </a:solidFill>
                          <a:latin typeface="Calibri"/>
                        </a:rPr>
                        <a:t>Riesgos de diseño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Cada grupo completa SU plataforma + una de contraste.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13/18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PRÁCTICA PRINCIPAL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Juego base: nave + asteroides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7315200" cy="171513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Control: Espacio para disparar, flechas para moverse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Límites laterales fijos (±40 unidades), sin mirar la relación de aspecto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La partida se inicia con un botón pensado para clic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Partida continua, sin pausa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029200"/>
            <a:ext cx="11185855" cy="457200"/>
          </a:xfrm>
          <a:prstGeom prst="rect">
            <a:avLst/>
          </a:prstGeom>
          <a:solidFill>
            <a:srgbClr val="FE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91153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200" b="1" i="0">
                <a:solidFill>
                  <a:srgbClr val="D97706"/>
                </a:solidFill>
                <a:latin typeface="Calibri"/>
              </a:rPr>
              <a:t>💻 Ver en el código:  </a:t>
            </a:r>
            <a:r>
              <a:rPr sz="1200" b="0" i="0">
                <a:solidFill>
                  <a:srgbClr val="1F2937"/>
                </a:solidFill>
                <a:latin typeface="Calibri"/>
              </a:rPr>
              <a:t>Ship.cs 46–47 y 99–115 (límites) · Ship.cs 61–71 (teclas) · Game.cs 54 y 67–80 (inicio)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¿Qué pasa con los límites en un celular en vertical? ¿Se puede empezar sin mouse en consola?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1280160"/>
            <a:ext cx="3593592" cy="361188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Captura del juego con anotaciones: los límites laterales de la nave, el botón de inicio y las teclas usadas.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14/18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PRÁCTICA PRINCIPAL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Consigna: adaptar a una plataforma (40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7315200" cy="21678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1. Control: ¿cómo se mueve y dispara?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2. Interfaz: botones, textos, zonas seguras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3. Sesión: duración, pausa, interrupciones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4. Rendimiento: FPS objetivo y dispositivo de referencia</a:t>
            </a:r>
          </a:p>
          <a:p>
            <a:pPr>
              <a:spcAft>
                <a:spcPts val="600"/>
              </a:spcAft>
            </a:pPr>
            <a:r>
              <a:rPr sz="13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700" b="0" i="0">
                <a:solidFill>
                  <a:srgbClr val="1F2937"/>
                </a:solidFill>
                <a:latin typeface="Calibri"/>
              </a:rPr>
              <a:t>5. Pruebas: 5 casos con criterio medible</a:t>
            </a:r>
          </a:p>
          <a:p>
            <a:pPr>
              <a:spcAft>
                <a:spcPts val="6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      –  Opcionales: accesibilidad, guardado, distribución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 i="1">
                <a:solidFill>
                  <a:srgbClr val="6B7280"/>
                </a:solidFill>
                <a:latin typeface="Calibri"/>
              </a:rPr>
              <a:t>ℹ  Entrega: ficha · propuesta de adaptación · 5 pruebas medibles · 1 ticket de bug posible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Ícono o foto de cada plataforma posible (PC, consola, móvil, web, VR) para que cada grupo elija la suya.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UNIDAD II → PLATAFORMAS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De la plataforma al testing: criterios medibles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280160"/>
            <a:ext cx="2542032" cy="310896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9144" bIns="9144" wrap="none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Ejemplo: Steam Deck Verified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55648"/>
          <a:ext cx="731520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389120"/>
              </a:tblGrid>
              <a:tr h="329184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Vago (no se puede verificar)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Medible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El rendimiento es estable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≥ 30 FPS durante 10 min en [dispositivo de referencia]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La batería no se consume de más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≤ N % de batería en 30 min de juego en [dispositivo]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El texto es legible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Texto ≥ N px a 1080p, según la guía de la plataforma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Se puede pausar en una llamada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Al pasar a segundo plano, el juego se pausa y conserva el estado</a:t>
                      </a:r>
                    </a:p>
                  </a:txBody>
                  <a:tcPr marT="36576" marB="36576">
                    <a:solidFill>
                      <a:srgbClr val="F3F4F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r>
                        <a:rPr sz="1400" b="1" i="0">
                          <a:solidFill>
                            <a:srgbClr val="1F2937"/>
                          </a:solidFill>
                          <a:latin typeface="Calibri"/>
                        </a:rPr>
                        <a:t>Los menús funcionan con mando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i="0">
                          <a:solidFill>
                            <a:srgbClr val="1F2937"/>
                          </a:solidFill>
                          <a:latin typeface="Calibri"/>
                        </a:rPr>
                        <a:t>Todas las pantallas se recorren y confirman solo con el gamepad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✍ Actividad:  Reescriban 2 pruebas vagas de su lista como pruebas medibles.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Insignia «Steam Deck Verified» junto a sus cuatro criterios: entrada, continuidad, pantalla y soporte del sistema.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2–3 MIN POR GRUPO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Presentaciones (15 min)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85855" cy="18859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Plataforma elegida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Cambios principales al juego base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Riesgos de diseño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Pruebas con criterio medible</a:t>
            </a:r>
          </a:p>
          <a:p>
            <a:pPr>
              <a:spcAft>
                <a:spcPts val="600"/>
              </a:spcAft>
            </a:pPr>
            <a:r>
              <a:rPr sz="1400" b="1" i="0">
                <a:solidFill>
                  <a:srgbClr val="0D9488"/>
                </a:solidFill>
                <a:latin typeface="Calibri"/>
              </a:rPr>
              <a:t>■  </a:t>
            </a:r>
            <a:r>
              <a:rPr sz="1800" b="0" i="0">
                <a:solidFill>
                  <a:srgbClr val="1F2937"/>
                </a:solidFill>
                <a:latin typeface="Calibri"/>
              </a:rPr>
              <a:t>Un bug posible propio de esa plataforma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Los demás grupos: ¿qué riesgo no se consideró?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81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" y="219456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9728"/>
            <a:ext cx="88696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100" b="1" i="0">
                <a:solidFill>
                  <a:srgbClr val="9CC9C5"/>
                </a:solidFill>
                <a:latin typeface="Calibri"/>
              </a:rPr>
              <a:t>IDEA CENTRAL</a:t>
            </a:r>
          </a:p>
          <a:p>
            <a:r>
              <a:rPr sz="2600" b="1" i="0">
                <a:solidFill>
                  <a:srgbClr val="FFFFFF"/>
                </a:solidFill>
                <a:latin typeface="Calibri"/>
              </a:rPr>
              <a:t>Cierre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7315200" cy="1082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1">
                <a:solidFill>
                  <a:srgbClr val="1F2A44"/>
                </a:solidFill>
                <a:latin typeface="Calibri"/>
              </a:rPr>
              <a:t>La plataforma no es solo el lugar donde se ejecuta un juego: condiciona sus controles, su interfaz, su ritmo, su accesibilidad, su rendimiento y las pruebas necesarias.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623560"/>
            <a:ext cx="11185855" cy="658368"/>
          </a:xfrm>
          <a:prstGeom prst="rect">
            <a:avLst/>
          </a:prstGeom>
          <a:solidFill>
            <a:srgbClr val="EA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623560"/>
            <a:ext cx="10820095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1">
                <a:solidFill>
                  <a:srgbClr val="1F2A44"/>
                </a:solidFill>
                <a:latin typeface="Calibri"/>
              </a:rPr>
              <a:t>❓  ¿Cómo cambiaría la prueba de integración de la Clase 1 en PC, consola o móvil?</a:t>
            </a:r>
          </a:p>
        </p:txBody>
      </p:sp>
      <p:sp>
        <p:nvSpPr>
          <p:cNvPr id="9" name="Rectangle 8"/>
          <p:cNvSpPr/>
          <p:nvPr/>
        </p:nvSpPr>
        <p:spPr>
          <a:xfrm>
            <a:off x="8092440" y="1280160"/>
            <a:ext cx="3593592" cy="4160520"/>
          </a:xfrm>
          <a:prstGeom prst="rect">
            <a:avLst/>
          </a:prstGeom>
          <a:solidFill>
            <a:srgbClr val="F8FAFC"/>
          </a:solidFill>
          <a:ln w="1905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ctr"/>
            <a:r>
              <a:rPr sz="1400" b="1" i="0">
                <a:solidFill>
                  <a:srgbClr val="6B7280"/>
                </a:solidFill>
                <a:latin typeface="Calibri"/>
              </a:rPr>
              <a:t>🖼  IMAGEN</a:t>
            </a:r>
          </a:p>
          <a:p>
            <a:pPr algn="ctr">
              <a:spcBef>
                <a:spcPts val="600"/>
              </a:spcBef>
            </a:pPr>
            <a:r>
              <a:rPr sz="1200" b="0" i="1">
                <a:solidFill>
                  <a:srgbClr val="6B7280"/>
                </a:solidFill>
                <a:latin typeface="Calibri"/>
              </a:rPr>
              <a:t>El diagrama de flujo de la Clase 1 (daño → vida → barra) con íconos de PC, consola y móvil sobre las costuras.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Diseño según Plataformas de Juego · Clase 28/09/2026 · Introducción a las plataformas (panorama U-IV a U-VII)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73952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